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187" autoAdjust="0"/>
  </p:normalViewPr>
  <p:slideViewPr>
    <p:cSldViewPr>
      <p:cViewPr varScale="1">
        <p:scale>
          <a:sx n="71" d="100"/>
          <a:sy n="71" d="100"/>
        </p:scale>
        <p:origin x="52" y="2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5A8EB-9981-427B-8F42-9AA92EB04FB7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0D60E-8450-4B13-BA2C-5A97E033E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161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0D60E-8450-4B13-BA2C-5A97E033EF0D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65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 u="sng">
                <a:solidFill>
                  <a:srgbClr val="A15100"/>
                </a:solidFill>
                <a:latin typeface="华文新魏"/>
                <a:cs typeface="华文新魏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FF99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 u="sng">
                <a:solidFill>
                  <a:srgbClr val="A15100"/>
                </a:solidFill>
                <a:latin typeface="华文新魏"/>
                <a:cs typeface="华文新魏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 u="sng">
                <a:solidFill>
                  <a:srgbClr val="A15100"/>
                </a:solidFill>
                <a:latin typeface="华文新魏"/>
                <a:cs typeface="华文新魏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68323" y="11378"/>
            <a:ext cx="6007353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sng">
                <a:solidFill>
                  <a:srgbClr val="A15100"/>
                </a:solidFill>
                <a:latin typeface="华文新魏"/>
                <a:cs typeface="华文新魏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4040" y="2868574"/>
            <a:ext cx="4308475" cy="2073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FF99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11057" y="6697989"/>
            <a:ext cx="73787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9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9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6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image" Target="../media/image20.png"/><Relationship Id="rId4" Type="http://schemas.openxmlformats.org/officeDocument/2006/relationships/image" Target="../media/image33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98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" Target="slide9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slide" Target="slide107.xml"/><Relationship Id="rId3" Type="http://schemas.openxmlformats.org/officeDocument/2006/relationships/image" Target="../media/image34.png"/><Relationship Id="rId7" Type="http://schemas.openxmlformats.org/officeDocument/2006/relationships/slide" Target="slide10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0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slide" Target="slide109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4" Type="http://schemas.openxmlformats.org/officeDocument/2006/relationships/slide" Target="slide10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102.xml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" Target="slide10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102.xml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46504" y="232790"/>
            <a:ext cx="525018" cy="5519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34411" y="19811"/>
            <a:ext cx="495300" cy="571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28104" y="5847791"/>
            <a:ext cx="577342" cy="5757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91628" y="5277611"/>
            <a:ext cx="495300" cy="495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97926" y="5203825"/>
            <a:ext cx="674624" cy="78814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1388" y="276606"/>
            <a:ext cx="866432" cy="9204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871727"/>
            <a:ext cx="9144000" cy="5986780"/>
          </a:xfrm>
          <a:custGeom>
            <a:avLst/>
            <a:gdLst/>
            <a:ahLst/>
            <a:cxnLst/>
            <a:rect l="l" t="t" r="r" b="b"/>
            <a:pathLst>
              <a:path w="9144000" h="5986780">
                <a:moveTo>
                  <a:pt x="9144000" y="5986268"/>
                </a:moveTo>
                <a:lnTo>
                  <a:pt x="9144000" y="0"/>
                </a:lnTo>
                <a:lnTo>
                  <a:pt x="0" y="0"/>
                </a:lnTo>
                <a:lnTo>
                  <a:pt x="0" y="5986268"/>
                </a:lnTo>
                <a:lnTo>
                  <a:pt x="9144000" y="5986268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38527" y="0"/>
            <a:ext cx="1750314" cy="13693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87623" y="0"/>
            <a:ext cx="1750314" cy="13693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36720" y="0"/>
            <a:ext cx="1750314" cy="13693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85815" y="0"/>
            <a:ext cx="1750314" cy="13693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394966" y="0"/>
            <a:ext cx="42354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none" spc="-25" dirty="0">
                <a:solidFill>
                  <a:srgbClr val="FF5D5D"/>
                </a:solidFill>
                <a:latin typeface="隶书"/>
                <a:cs typeface="隶书"/>
              </a:rPr>
              <a:t>课 程 内</a:t>
            </a:r>
            <a:r>
              <a:rPr sz="6000" u="none" spc="25" dirty="0">
                <a:solidFill>
                  <a:srgbClr val="FF5D5D"/>
                </a:solidFill>
                <a:latin typeface="隶书"/>
                <a:cs typeface="隶书"/>
              </a:rPr>
              <a:t> </a:t>
            </a:r>
            <a:r>
              <a:rPr sz="6000" u="none" spc="-25" dirty="0">
                <a:solidFill>
                  <a:srgbClr val="FF5D5D"/>
                </a:solidFill>
                <a:latin typeface="隶书"/>
                <a:cs typeface="隶书"/>
              </a:rPr>
              <a:t>容</a:t>
            </a:r>
            <a:endParaRPr sz="6000">
              <a:latin typeface="隶书"/>
              <a:cs typeface="隶书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777240"/>
            <a:ext cx="9144000" cy="13411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29564" y="1233954"/>
            <a:ext cx="5485765" cy="49764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sz="2800" b="1" spc="-69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编</a:t>
            </a:r>
            <a:r>
              <a:rPr sz="2800" b="1" spc="-70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译</a:t>
            </a:r>
            <a:r>
              <a:rPr sz="2800" b="1" spc="-70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引</a:t>
            </a:r>
            <a:r>
              <a:rPr sz="2800" b="1" spc="-69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论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sz="2800" b="1" spc="-70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 形式语言与自动机基础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sz="2800" b="1" spc="-70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3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词法分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析</a:t>
            </a:r>
            <a:r>
              <a:rPr sz="2800" b="1" spc="-68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(Lexical</a:t>
            </a:r>
            <a:r>
              <a:rPr sz="2800" b="1" spc="-17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Analysis)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014470" algn="l"/>
              </a:tabLst>
            </a:pP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sz="2800" b="1" spc="-68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sz="28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sz="2800" b="1" spc="1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语法分析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(Syntax	Analysis)</a:t>
            </a:r>
            <a:endParaRPr sz="2800">
              <a:latin typeface="Times New Roman"/>
              <a:cs typeface="Times New Roman"/>
            </a:endParaRPr>
          </a:p>
          <a:p>
            <a:pPr marL="1701164">
              <a:lnSpc>
                <a:spcPct val="100000"/>
              </a:lnSpc>
              <a:spcBef>
                <a:spcPts val="5"/>
              </a:spcBef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——</a:t>
            </a: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自上而下分析法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014470" algn="l"/>
              </a:tabLst>
            </a:pP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sz="2800" b="1" spc="-68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sz="28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sz="2800" b="1" spc="1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语法分析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(Syntax	Analysis)</a:t>
            </a:r>
            <a:endParaRPr sz="2800">
              <a:latin typeface="Times New Roman"/>
              <a:cs typeface="Times New Roman"/>
            </a:endParaRPr>
          </a:p>
          <a:p>
            <a:pPr marL="1701164">
              <a:lnSpc>
                <a:spcPct val="100000"/>
              </a:lnSpc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——</a:t>
            </a: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自下而上分析法</a:t>
            </a:r>
            <a:endParaRPr sz="2800">
              <a:latin typeface="宋体"/>
              <a:cs typeface="宋体"/>
            </a:endParaRPr>
          </a:p>
          <a:p>
            <a:pPr marL="12700" marR="293370">
              <a:lnSpc>
                <a:spcPct val="120000"/>
              </a:lnSpc>
              <a:spcBef>
                <a:spcPts val="5"/>
              </a:spcBef>
            </a:pP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sz="2800" b="1" spc="-71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sz="2800" b="1" spc="-2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sz="2800" b="1" spc="-4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语义分析与中间代码生成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sz="2800" b="1" spc="-69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7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运</a:t>
            </a:r>
            <a:r>
              <a:rPr sz="2800" b="1" spc="-71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行</a:t>
            </a:r>
            <a:r>
              <a:rPr sz="2800" b="1" spc="-69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环</a:t>
            </a:r>
            <a:r>
              <a:rPr sz="2800" b="1" spc="-69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境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b="1" spc="-15" dirty="0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sz="2800" b="1" spc="-705" dirty="0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8 </a:t>
            </a:r>
            <a:r>
              <a:rPr sz="2800" b="1" spc="-15" dirty="0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sz="2800" b="1" spc="-10" dirty="0">
                <a:solidFill>
                  <a:srgbClr val="FFFF99"/>
                </a:solidFill>
                <a:latin typeface="宋体"/>
                <a:cs typeface="宋体"/>
              </a:rPr>
              <a:t> 代码优化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（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optimization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12179" y="5533644"/>
            <a:ext cx="2194560" cy="722630"/>
          </a:xfrm>
          <a:custGeom>
            <a:avLst/>
            <a:gdLst/>
            <a:ahLst/>
            <a:cxnLst/>
            <a:rect l="l" t="t" r="r" b="b"/>
            <a:pathLst>
              <a:path w="2194559" h="722629">
                <a:moveTo>
                  <a:pt x="548894" y="0"/>
                </a:moveTo>
                <a:lnTo>
                  <a:pt x="0" y="361187"/>
                </a:lnTo>
                <a:lnTo>
                  <a:pt x="548894" y="722375"/>
                </a:lnTo>
                <a:lnTo>
                  <a:pt x="548894" y="541781"/>
                </a:lnTo>
                <a:lnTo>
                  <a:pt x="2194560" y="541781"/>
                </a:lnTo>
                <a:lnTo>
                  <a:pt x="2194560" y="180593"/>
                </a:lnTo>
                <a:lnTo>
                  <a:pt x="548894" y="180593"/>
                </a:lnTo>
                <a:lnTo>
                  <a:pt x="54889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12179" y="5533644"/>
            <a:ext cx="2194560" cy="722630"/>
          </a:xfrm>
          <a:custGeom>
            <a:avLst/>
            <a:gdLst/>
            <a:ahLst/>
            <a:cxnLst/>
            <a:rect l="l" t="t" r="r" b="b"/>
            <a:pathLst>
              <a:path w="2194559" h="722629">
                <a:moveTo>
                  <a:pt x="0" y="361187"/>
                </a:moveTo>
                <a:lnTo>
                  <a:pt x="548894" y="0"/>
                </a:lnTo>
                <a:lnTo>
                  <a:pt x="548894" y="180593"/>
                </a:lnTo>
                <a:lnTo>
                  <a:pt x="2194560" y="180593"/>
                </a:lnTo>
                <a:lnTo>
                  <a:pt x="2194560" y="541781"/>
                </a:lnTo>
                <a:lnTo>
                  <a:pt x="548894" y="541781"/>
                </a:lnTo>
                <a:lnTo>
                  <a:pt x="548894" y="722375"/>
                </a:lnTo>
                <a:lnTo>
                  <a:pt x="0" y="361187"/>
                </a:lnTo>
                <a:close/>
              </a:path>
            </a:pathLst>
          </a:custGeom>
          <a:ln w="9524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2043" y="858393"/>
            <a:ext cx="734504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u="none" spc="-15" dirty="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sz="3800" u="none" spc="-965" dirty="0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sz="3800" u="none" dirty="0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sz="3800" u="none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800" u="none" spc="-15" dirty="0">
                <a:solidFill>
                  <a:srgbClr val="FFFF00"/>
                </a:solidFill>
                <a:latin typeface="黑体"/>
                <a:cs typeface="黑体"/>
              </a:rPr>
              <a:t>章</a:t>
            </a:r>
            <a:r>
              <a:rPr sz="3800" u="none" spc="935" dirty="0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sz="3800" u="none" dirty="0">
                <a:solidFill>
                  <a:srgbClr val="FFFF00"/>
                </a:solidFill>
                <a:latin typeface="黑体"/>
                <a:cs typeface="黑体"/>
              </a:rPr>
              <a:t>代码</a:t>
            </a:r>
            <a:r>
              <a:rPr sz="3800" u="none" spc="-10" dirty="0">
                <a:solidFill>
                  <a:srgbClr val="FFFF00"/>
                </a:solidFill>
                <a:latin typeface="黑体"/>
                <a:cs typeface="黑体"/>
              </a:rPr>
              <a:t>优</a:t>
            </a:r>
            <a:r>
              <a:rPr sz="3800" u="none" spc="-15" dirty="0">
                <a:solidFill>
                  <a:srgbClr val="FFFF00"/>
                </a:solidFill>
                <a:latin typeface="黑体"/>
                <a:cs typeface="黑体"/>
              </a:rPr>
              <a:t>化</a:t>
            </a:r>
            <a:r>
              <a:rPr sz="3800" u="none" spc="-5" dirty="0">
                <a:solidFill>
                  <a:srgbClr val="FFFF00"/>
                </a:solidFill>
                <a:latin typeface="黑体"/>
                <a:cs typeface="黑体"/>
              </a:rPr>
              <a:t>（</a:t>
            </a:r>
            <a:r>
              <a:rPr sz="3800" u="none" spc="-5" dirty="0">
                <a:solidFill>
                  <a:srgbClr val="FFFF00"/>
                </a:solidFill>
                <a:latin typeface="Times New Roman"/>
                <a:cs typeface="Times New Roman"/>
              </a:rPr>
              <a:t>optimization</a:t>
            </a:r>
            <a:r>
              <a:rPr sz="3800" u="none" spc="-5" dirty="0">
                <a:solidFill>
                  <a:srgbClr val="FFFF00"/>
                </a:solidFill>
                <a:latin typeface="黑体"/>
                <a:cs typeface="黑体"/>
              </a:rPr>
              <a:t>）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644" y="1985207"/>
            <a:ext cx="5718175" cy="3904615"/>
          </a:xfrm>
          <a:prstGeom prst="rect">
            <a:avLst/>
          </a:prstGeom>
        </p:spPr>
        <p:txBody>
          <a:bodyPr vert="horz" wrap="square" lIns="0" tIns="245745" rIns="0" bIns="0" rtlCol="0">
            <a:spAutoFit/>
          </a:bodyPr>
          <a:lstStyle/>
          <a:p>
            <a:pPr marL="1257935" lvl="1" indent="-1233805">
              <a:lnSpc>
                <a:spcPct val="100000"/>
              </a:lnSpc>
              <a:spcBef>
                <a:spcPts val="1935"/>
              </a:spcBef>
              <a:buSzPct val="102857"/>
              <a:buFont typeface="Times New Roman"/>
              <a:buAutoNum type="arabicPeriod"/>
              <a:tabLst>
                <a:tab pos="1257935" algn="l"/>
                <a:tab pos="1258570" algn="l"/>
              </a:tabLst>
            </a:pPr>
            <a:r>
              <a:rPr sz="3500" b="1" spc="-5" dirty="0">
                <a:solidFill>
                  <a:srgbClr val="FFFFFF"/>
                </a:solidFill>
                <a:latin typeface="宋体"/>
                <a:cs typeface="宋体"/>
              </a:rPr>
              <a:t>代码优化综述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914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FF"/>
                </a:solidFill>
                <a:latin typeface="宋体"/>
                <a:cs typeface="宋体"/>
              </a:rPr>
              <a:t>局部优化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885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FF"/>
                </a:solidFill>
                <a:latin typeface="宋体"/>
                <a:cs typeface="宋体"/>
              </a:rPr>
              <a:t>控制流分析与循环查找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895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FF"/>
                </a:solidFill>
                <a:latin typeface="宋体"/>
                <a:cs typeface="宋体"/>
              </a:rPr>
              <a:t>数据流分析基础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890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FF"/>
                </a:solidFill>
                <a:latin typeface="宋体"/>
                <a:cs typeface="宋体"/>
              </a:rPr>
              <a:t>循环优化的实施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43934" y="26923"/>
            <a:ext cx="1692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55564" y="2133600"/>
            <a:ext cx="2196465" cy="722630"/>
          </a:xfrm>
          <a:custGeom>
            <a:avLst/>
            <a:gdLst/>
            <a:ahLst/>
            <a:cxnLst/>
            <a:rect l="l" t="t" r="r" b="b"/>
            <a:pathLst>
              <a:path w="2196465" h="722630">
                <a:moveTo>
                  <a:pt x="548894" y="0"/>
                </a:moveTo>
                <a:lnTo>
                  <a:pt x="0" y="361188"/>
                </a:lnTo>
                <a:lnTo>
                  <a:pt x="548894" y="722376"/>
                </a:lnTo>
                <a:lnTo>
                  <a:pt x="548894" y="541782"/>
                </a:lnTo>
                <a:lnTo>
                  <a:pt x="2196084" y="541782"/>
                </a:lnTo>
                <a:lnTo>
                  <a:pt x="2196084" y="180594"/>
                </a:lnTo>
                <a:lnTo>
                  <a:pt x="548894" y="180594"/>
                </a:lnTo>
                <a:lnTo>
                  <a:pt x="54889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5564" y="2133600"/>
            <a:ext cx="2196465" cy="722630"/>
          </a:xfrm>
          <a:custGeom>
            <a:avLst/>
            <a:gdLst/>
            <a:ahLst/>
            <a:cxnLst/>
            <a:rect l="l" t="t" r="r" b="b"/>
            <a:pathLst>
              <a:path w="2196465" h="722630">
                <a:moveTo>
                  <a:pt x="0" y="361188"/>
                </a:moveTo>
                <a:lnTo>
                  <a:pt x="548894" y="0"/>
                </a:lnTo>
                <a:lnTo>
                  <a:pt x="548894" y="180594"/>
                </a:lnTo>
                <a:lnTo>
                  <a:pt x="2196084" y="180594"/>
                </a:lnTo>
                <a:lnTo>
                  <a:pt x="2196084" y="541782"/>
                </a:lnTo>
                <a:lnTo>
                  <a:pt x="548894" y="541782"/>
                </a:lnTo>
                <a:lnTo>
                  <a:pt x="548894" y="722376"/>
                </a:lnTo>
                <a:lnTo>
                  <a:pt x="0" y="361188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6485" y="974851"/>
            <a:ext cx="45078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29665" algn="l"/>
              </a:tabLst>
            </a:pPr>
            <a:r>
              <a:rPr sz="4400" u="none" dirty="0">
                <a:solidFill>
                  <a:srgbClr val="FFFF00"/>
                </a:solidFill>
                <a:latin typeface="Times New Roman"/>
                <a:cs typeface="Times New Roman"/>
              </a:rPr>
              <a:t>8.1	</a:t>
            </a:r>
            <a:r>
              <a:rPr sz="4400" u="none" spc="-5" dirty="0">
                <a:solidFill>
                  <a:srgbClr val="FFFF00"/>
                </a:solidFill>
                <a:latin typeface="宋体"/>
                <a:cs typeface="宋体"/>
              </a:rPr>
              <a:t>代码优化综述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5289" y="2657347"/>
            <a:ext cx="644652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0" lvl="2" indent="-137223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1384300" algn="l"/>
                <a:tab pos="1384935" algn="l"/>
              </a:tabLst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代码优化概述</a:t>
            </a:r>
            <a:endParaRPr sz="3600">
              <a:latin typeface="宋体"/>
              <a:cs typeface="宋体"/>
            </a:endParaRPr>
          </a:p>
          <a:p>
            <a:pPr marL="1387475" lvl="2" indent="-1375410">
              <a:lnSpc>
                <a:spcPct val="100000"/>
              </a:lnSpc>
              <a:spcBef>
                <a:spcPts val="3240"/>
              </a:spcBef>
              <a:buFont typeface="Times New Roman"/>
              <a:buAutoNum type="arabicPeriod"/>
              <a:tabLst>
                <a:tab pos="1387475" algn="l"/>
                <a:tab pos="1388110" algn="l"/>
              </a:tabLst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优化技术分类</a:t>
            </a:r>
            <a:endParaRPr sz="3600">
              <a:latin typeface="宋体"/>
              <a:cs typeface="宋体"/>
            </a:endParaRPr>
          </a:p>
          <a:p>
            <a:pPr marL="1387475" lvl="2" indent="-1375410">
              <a:lnSpc>
                <a:spcPct val="100000"/>
              </a:lnSpc>
              <a:spcBef>
                <a:spcPts val="3240"/>
              </a:spcBef>
              <a:buFont typeface="Times New Roman"/>
              <a:buAutoNum type="arabicPeriod"/>
              <a:tabLst>
                <a:tab pos="1387475" algn="l"/>
                <a:tab pos="1388110" algn="l"/>
              </a:tabLst>
            </a:pPr>
            <a:r>
              <a:rPr sz="3600" b="1" spc="-10" dirty="0">
                <a:solidFill>
                  <a:srgbClr val="FFFFFF"/>
                </a:solidFill>
                <a:latin typeface="宋体"/>
                <a:cs typeface="宋体"/>
              </a:rPr>
              <a:t>具优化功能编译器的组织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73857" y="26923"/>
            <a:ext cx="1692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37835" y="26923"/>
            <a:ext cx="206946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26479" y="2667000"/>
            <a:ext cx="2194560" cy="722630"/>
          </a:xfrm>
          <a:custGeom>
            <a:avLst/>
            <a:gdLst/>
            <a:ahLst/>
            <a:cxnLst/>
            <a:rect l="l" t="t" r="r" b="b"/>
            <a:pathLst>
              <a:path w="2194559" h="722629">
                <a:moveTo>
                  <a:pt x="548894" y="0"/>
                </a:moveTo>
                <a:lnTo>
                  <a:pt x="0" y="361188"/>
                </a:lnTo>
                <a:lnTo>
                  <a:pt x="548894" y="722376"/>
                </a:lnTo>
                <a:lnTo>
                  <a:pt x="548894" y="541782"/>
                </a:lnTo>
                <a:lnTo>
                  <a:pt x="2194560" y="541782"/>
                </a:lnTo>
                <a:lnTo>
                  <a:pt x="2194560" y="180594"/>
                </a:lnTo>
                <a:lnTo>
                  <a:pt x="548894" y="180594"/>
                </a:lnTo>
                <a:lnTo>
                  <a:pt x="54889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26479" y="2667000"/>
            <a:ext cx="2194560" cy="722630"/>
          </a:xfrm>
          <a:custGeom>
            <a:avLst/>
            <a:gdLst/>
            <a:ahLst/>
            <a:cxnLst/>
            <a:rect l="l" t="t" r="r" b="b"/>
            <a:pathLst>
              <a:path w="2194559" h="722629">
                <a:moveTo>
                  <a:pt x="0" y="361188"/>
                </a:moveTo>
                <a:lnTo>
                  <a:pt x="548894" y="0"/>
                </a:lnTo>
                <a:lnTo>
                  <a:pt x="548894" y="180594"/>
                </a:lnTo>
                <a:lnTo>
                  <a:pt x="2194560" y="180594"/>
                </a:lnTo>
                <a:lnTo>
                  <a:pt x="2194560" y="541782"/>
                </a:lnTo>
                <a:lnTo>
                  <a:pt x="548894" y="541782"/>
                </a:lnTo>
                <a:lnTo>
                  <a:pt x="548894" y="722376"/>
                </a:lnTo>
                <a:lnTo>
                  <a:pt x="0" y="361188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2988" y="4269740"/>
            <a:ext cx="27832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00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优化整体过程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29761" y="3848861"/>
            <a:ext cx="325120" cy="1277620"/>
          </a:xfrm>
          <a:custGeom>
            <a:avLst/>
            <a:gdLst/>
            <a:ahLst/>
            <a:cxnLst/>
            <a:rect l="l" t="t" r="r" b="b"/>
            <a:pathLst>
              <a:path w="325120" h="1277620">
                <a:moveTo>
                  <a:pt x="324612" y="1277112"/>
                </a:moveTo>
                <a:lnTo>
                  <a:pt x="273301" y="1271675"/>
                </a:lnTo>
                <a:lnTo>
                  <a:pt x="228746" y="1256540"/>
                </a:lnTo>
                <a:lnTo>
                  <a:pt x="193615" y="1233467"/>
                </a:lnTo>
                <a:lnTo>
                  <a:pt x="162305" y="1170558"/>
                </a:lnTo>
                <a:lnTo>
                  <a:pt x="162305" y="745108"/>
                </a:lnTo>
                <a:lnTo>
                  <a:pt x="154033" y="711447"/>
                </a:lnTo>
                <a:lnTo>
                  <a:pt x="130996" y="682200"/>
                </a:lnTo>
                <a:lnTo>
                  <a:pt x="95865" y="659127"/>
                </a:lnTo>
                <a:lnTo>
                  <a:pt x="51310" y="643992"/>
                </a:lnTo>
                <a:lnTo>
                  <a:pt x="0" y="638556"/>
                </a:lnTo>
                <a:lnTo>
                  <a:pt x="51310" y="633119"/>
                </a:lnTo>
                <a:lnTo>
                  <a:pt x="95865" y="617984"/>
                </a:lnTo>
                <a:lnTo>
                  <a:pt x="130996" y="594911"/>
                </a:lnTo>
                <a:lnTo>
                  <a:pt x="154033" y="565664"/>
                </a:lnTo>
                <a:lnTo>
                  <a:pt x="162305" y="532002"/>
                </a:lnTo>
                <a:lnTo>
                  <a:pt x="162305" y="106552"/>
                </a:lnTo>
                <a:lnTo>
                  <a:pt x="170578" y="72891"/>
                </a:lnTo>
                <a:lnTo>
                  <a:pt x="193615" y="43644"/>
                </a:lnTo>
                <a:lnTo>
                  <a:pt x="228746" y="20571"/>
                </a:lnTo>
                <a:lnTo>
                  <a:pt x="273301" y="5436"/>
                </a:lnTo>
                <a:lnTo>
                  <a:pt x="32461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2988" y="26923"/>
            <a:ext cx="8774430" cy="4147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3375">
              <a:lnSpc>
                <a:spcPct val="100000"/>
              </a:lnSpc>
              <a:spcBef>
                <a:spcPts val="100"/>
              </a:spcBef>
              <a:tabLst>
                <a:tab pos="977265" algn="l"/>
                <a:tab pos="2698115" algn="l"/>
                <a:tab pos="3205480" algn="l"/>
                <a:tab pos="5247005" algn="l"/>
                <a:tab pos="6072505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述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8.1.1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代码优化概述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750">
              <a:latin typeface="宋体"/>
              <a:cs typeface="宋体"/>
            </a:endParaRPr>
          </a:p>
          <a:p>
            <a:pPr marL="431800" indent="-419734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431800" algn="l"/>
                <a:tab pos="432434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代码优化</a:t>
            </a:r>
            <a:endParaRPr sz="3200">
              <a:latin typeface="宋体"/>
              <a:cs typeface="宋体"/>
            </a:endParaRPr>
          </a:p>
          <a:p>
            <a:pPr marL="12700" marR="584835" indent="819785" algn="just">
              <a:lnSpc>
                <a:spcPct val="127899"/>
              </a:lnSpc>
              <a:spcBef>
                <a:spcPts val="85"/>
              </a:spcBef>
            </a:pP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在不改变程序运行效果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前提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，对被编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译的程序进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等价变</a:t>
            </a:r>
            <a:r>
              <a:rPr sz="3200" b="1" spc="5" dirty="0">
                <a:solidFill>
                  <a:srgbClr val="FFFF00"/>
                </a:solidFill>
                <a:latin typeface="宋体"/>
                <a:cs typeface="宋体"/>
              </a:rPr>
              <a:t>换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，使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之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能生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更加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高效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的目标代码。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100">
              <a:latin typeface="宋体"/>
              <a:cs typeface="宋体"/>
            </a:endParaRPr>
          </a:p>
          <a:p>
            <a:pPr marL="345186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等价：不改变程序执行效果；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2352" y="4551426"/>
            <a:ext cx="4926965" cy="1293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1900" marR="5080" indent="-1219200">
              <a:lnSpc>
                <a:spcPct val="130000"/>
              </a:lnSpc>
              <a:spcBef>
                <a:spcPts val="9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变换：引起程序形式上的变 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34361" y="5011673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01061" y="5011673"/>
            <a:ext cx="0" cy="723900"/>
          </a:xfrm>
          <a:custGeom>
            <a:avLst/>
            <a:gdLst/>
            <a:ahLst/>
            <a:cxnLst/>
            <a:rect l="l" t="t" r="r" b="b"/>
            <a:pathLst>
              <a:path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01061" y="5678423"/>
            <a:ext cx="401320" cy="114300"/>
          </a:xfrm>
          <a:custGeom>
            <a:avLst/>
            <a:gdLst/>
            <a:ahLst/>
            <a:cxnLst/>
            <a:rect l="l" t="t" r="r" b="b"/>
            <a:pathLst>
              <a:path w="401319" h="114300">
                <a:moveTo>
                  <a:pt x="286512" y="0"/>
                </a:moveTo>
                <a:lnTo>
                  <a:pt x="286512" y="114300"/>
                </a:lnTo>
                <a:lnTo>
                  <a:pt x="362712" y="76200"/>
                </a:lnTo>
                <a:lnTo>
                  <a:pt x="305562" y="76200"/>
                </a:lnTo>
                <a:lnTo>
                  <a:pt x="305562" y="38100"/>
                </a:lnTo>
                <a:lnTo>
                  <a:pt x="362712" y="38100"/>
                </a:lnTo>
                <a:lnTo>
                  <a:pt x="286512" y="0"/>
                </a:lnTo>
                <a:close/>
              </a:path>
              <a:path w="401319" h="114300">
                <a:moveTo>
                  <a:pt x="2865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86512" y="76200"/>
                </a:lnTo>
                <a:lnTo>
                  <a:pt x="286512" y="38100"/>
                </a:lnTo>
                <a:close/>
              </a:path>
              <a:path w="401319" h="114300">
                <a:moveTo>
                  <a:pt x="362712" y="38100"/>
                </a:moveTo>
                <a:lnTo>
                  <a:pt x="305562" y="38100"/>
                </a:lnTo>
                <a:lnTo>
                  <a:pt x="305562" y="76200"/>
                </a:lnTo>
                <a:lnTo>
                  <a:pt x="362712" y="76200"/>
                </a:lnTo>
                <a:lnTo>
                  <a:pt x="400812" y="57150"/>
                </a:lnTo>
                <a:lnTo>
                  <a:pt x="362712" y="3810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96361" y="5258561"/>
            <a:ext cx="342900" cy="1028700"/>
          </a:xfrm>
          <a:custGeom>
            <a:avLst/>
            <a:gdLst/>
            <a:ahLst/>
            <a:cxnLst/>
            <a:rect l="l" t="t" r="r" b="b"/>
            <a:pathLst>
              <a:path w="342900" h="1028700">
                <a:moveTo>
                  <a:pt x="342900" y="1028700"/>
                </a:moveTo>
                <a:lnTo>
                  <a:pt x="276141" y="1021963"/>
                </a:lnTo>
                <a:lnTo>
                  <a:pt x="221646" y="1003592"/>
                </a:lnTo>
                <a:lnTo>
                  <a:pt x="184915" y="976343"/>
                </a:lnTo>
                <a:lnTo>
                  <a:pt x="171450" y="942975"/>
                </a:lnTo>
                <a:lnTo>
                  <a:pt x="171450" y="600075"/>
                </a:lnTo>
                <a:lnTo>
                  <a:pt x="157984" y="566706"/>
                </a:lnTo>
                <a:lnTo>
                  <a:pt x="121253" y="539457"/>
                </a:lnTo>
                <a:lnTo>
                  <a:pt x="66758" y="521086"/>
                </a:lnTo>
                <a:lnTo>
                  <a:pt x="0" y="514350"/>
                </a:lnTo>
                <a:lnTo>
                  <a:pt x="66758" y="507613"/>
                </a:lnTo>
                <a:lnTo>
                  <a:pt x="121253" y="489242"/>
                </a:lnTo>
                <a:lnTo>
                  <a:pt x="157984" y="461993"/>
                </a:lnTo>
                <a:lnTo>
                  <a:pt x="171450" y="428625"/>
                </a:lnTo>
                <a:lnTo>
                  <a:pt x="171450" y="85725"/>
                </a:lnTo>
                <a:lnTo>
                  <a:pt x="184915" y="52345"/>
                </a:lnTo>
                <a:lnTo>
                  <a:pt x="221646" y="25098"/>
                </a:lnTo>
                <a:lnTo>
                  <a:pt x="276141" y="6732"/>
                </a:lnTo>
                <a:lnTo>
                  <a:pt x="3429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7840" y="0"/>
            <a:ext cx="8552815" cy="644271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855"/>
              </a:spcBef>
              <a:tabLst>
                <a:tab pos="871855" algn="l"/>
                <a:tab pos="2593340" algn="l"/>
                <a:tab pos="3100705" algn="l"/>
                <a:tab pos="5142230" algn="l"/>
                <a:tab pos="596773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述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8.1.1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代码优化概述</a:t>
            </a:r>
            <a:endParaRPr sz="2000">
              <a:latin typeface="宋体"/>
              <a:cs typeface="宋体"/>
            </a:endParaRPr>
          </a:p>
          <a:p>
            <a:pPr marL="590550" indent="-419734">
              <a:lnSpc>
                <a:spcPct val="100000"/>
              </a:lnSpc>
              <a:spcBef>
                <a:spcPts val="1870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589915" algn="l"/>
                <a:tab pos="591185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改进、提高程序途径</a:t>
            </a:r>
            <a:endParaRPr sz="3200">
              <a:latin typeface="宋体"/>
              <a:cs typeface="宋体"/>
            </a:endParaRPr>
          </a:p>
          <a:p>
            <a:pPr marL="1602740" lvl="1" indent="-817880">
              <a:lnSpc>
                <a:spcPct val="100000"/>
              </a:lnSpc>
              <a:spcBef>
                <a:spcPts val="985"/>
              </a:spcBef>
              <a:buFont typeface="Times New Roman"/>
              <a:buAutoNum type="arabicPlain"/>
              <a:tabLst>
                <a:tab pos="1603375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改进算法；</a:t>
            </a:r>
            <a:endParaRPr sz="3200">
              <a:latin typeface="宋体"/>
              <a:cs typeface="宋体"/>
            </a:endParaRPr>
          </a:p>
          <a:p>
            <a:pPr marL="1602740" lvl="1" indent="-817880">
              <a:lnSpc>
                <a:spcPct val="100000"/>
              </a:lnSpc>
              <a:spcBef>
                <a:spcPts val="1155"/>
              </a:spcBef>
              <a:buFont typeface="Times New Roman"/>
              <a:buAutoNum type="arabicPlain"/>
              <a:tabLst>
                <a:tab pos="1603375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在源程序级上等价变换；</a:t>
            </a:r>
            <a:endParaRPr sz="3200">
              <a:latin typeface="宋体"/>
              <a:cs typeface="宋体"/>
            </a:endParaRPr>
          </a:p>
          <a:p>
            <a:pPr marL="1602740" lvl="1" indent="-817880">
              <a:lnSpc>
                <a:spcPct val="100000"/>
              </a:lnSpc>
              <a:spcBef>
                <a:spcPts val="1150"/>
              </a:spcBef>
              <a:buFont typeface="Times New Roman"/>
              <a:buAutoNum type="arabicPlain"/>
              <a:tabLst>
                <a:tab pos="1603375" algn="l"/>
              </a:tabLst>
            </a:pP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充分利用系统提供的程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库；</a:t>
            </a:r>
            <a:endParaRPr sz="3200">
              <a:latin typeface="宋体"/>
              <a:cs typeface="宋体"/>
            </a:endParaRPr>
          </a:p>
          <a:p>
            <a:pPr marL="1602740" lvl="1" indent="-817880">
              <a:lnSpc>
                <a:spcPct val="100000"/>
              </a:lnSpc>
              <a:spcBef>
                <a:spcPts val="1155"/>
              </a:spcBef>
              <a:buFont typeface="Times New Roman"/>
              <a:buAutoNum type="arabicPlain"/>
              <a:tabLst>
                <a:tab pos="1603375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编译时优化等。</a:t>
            </a:r>
            <a:endParaRPr sz="3200">
              <a:latin typeface="宋体"/>
              <a:cs typeface="宋体"/>
            </a:endParaRPr>
          </a:p>
          <a:p>
            <a:pPr marL="431800" indent="-419734">
              <a:lnSpc>
                <a:spcPct val="100000"/>
              </a:lnSpc>
              <a:spcBef>
                <a:spcPts val="2100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31800" algn="l"/>
                <a:tab pos="432434" algn="l"/>
              </a:tabLst>
            </a:pP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优化目的</a:t>
            </a:r>
            <a:endParaRPr sz="3200">
              <a:latin typeface="宋体"/>
              <a:cs typeface="宋体"/>
            </a:endParaRPr>
          </a:p>
          <a:p>
            <a:pPr marL="832485">
              <a:lnSpc>
                <a:spcPct val="100000"/>
              </a:lnSpc>
              <a:spcBef>
                <a:spcPts val="98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产生高效的目标代码。</a:t>
            </a:r>
            <a:endParaRPr sz="3200">
              <a:latin typeface="宋体"/>
              <a:cs typeface="宋体"/>
            </a:endParaRPr>
          </a:p>
          <a:p>
            <a:pPr marL="2839085">
              <a:lnSpc>
                <a:spcPct val="100000"/>
              </a:lnSpc>
              <a:spcBef>
                <a:spcPts val="944"/>
              </a:spcBef>
            </a:pP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时间：源程序运行时间尽可能</a:t>
            </a:r>
            <a:r>
              <a:rPr sz="2800" b="1" spc="-15" dirty="0">
                <a:solidFill>
                  <a:srgbClr val="66FFFF"/>
                </a:solidFill>
                <a:latin typeface="宋体"/>
                <a:cs typeface="宋体"/>
              </a:rPr>
              <a:t>短</a:t>
            </a:r>
            <a:r>
              <a:rPr sz="2800" b="1" spc="-670" dirty="0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66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50">
              <a:latin typeface="宋体"/>
              <a:cs typeface="宋体"/>
            </a:endParaRPr>
          </a:p>
          <a:p>
            <a:pPr marL="2832735">
              <a:lnSpc>
                <a:spcPct val="100000"/>
              </a:lnSpc>
            </a:pP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空间：程序及数据所占空间尽</a:t>
            </a:r>
            <a:r>
              <a:rPr sz="2800" b="1" dirty="0">
                <a:solidFill>
                  <a:srgbClr val="66FFFF"/>
                </a:solidFill>
                <a:latin typeface="宋体"/>
                <a:cs typeface="宋体"/>
              </a:rPr>
              <a:t>可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能少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627623" y="26923"/>
            <a:ext cx="2388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75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 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代码优化概述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9740" y="26923"/>
            <a:ext cx="4808855" cy="122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  <a:tabLst>
                <a:tab pos="909955" algn="l"/>
                <a:tab pos="2631440" algn="l"/>
                <a:tab pos="3138805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述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4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329565" indent="-317500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为什么要实施优化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6341" y="1310901"/>
            <a:ext cx="8472805" cy="4823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3565" marR="413384" indent="-508000">
              <a:lnSpc>
                <a:spcPct val="130000"/>
              </a:lnSpc>
              <a:spcBef>
                <a:spcPts val="95"/>
              </a:spcBef>
              <a:buClr>
                <a:srgbClr val="FF66FF"/>
              </a:buClr>
              <a:buFont typeface="Wingdings"/>
              <a:buChar char=""/>
              <a:tabLst>
                <a:tab pos="702310" algn="l"/>
                <a:tab pos="702945" algn="l"/>
              </a:tabLst>
            </a:pPr>
            <a:r>
              <a:rPr dirty="0"/>
              <a:t>	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优化程度是编译器的一个重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技术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质量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目标；</a:t>
            </a:r>
            <a:endParaRPr sz="3200">
              <a:latin typeface="宋体"/>
              <a:cs typeface="宋体"/>
            </a:endParaRPr>
          </a:p>
          <a:p>
            <a:pPr marL="685800" marR="5080" indent="-610235">
              <a:lnSpc>
                <a:spcPct val="130100"/>
              </a:lnSpc>
              <a:spcBef>
                <a:spcPts val="1265"/>
              </a:spcBef>
              <a:buClr>
                <a:srgbClr val="FF66FF"/>
              </a:buClr>
              <a:buFont typeface="Wingdings"/>
              <a:buChar char=""/>
              <a:tabLst>
                <a:tab pos="702310" algn="l"/>
                <a:tab pos="702945" algn="l"/>
              </a:tabLst>
            </a:pP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无法苛求用户对源语言的掌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握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，编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技巧， 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编写源程序的优化；</a:t>
            </a:r>
            <a:endParaRPr sz="3200">
              <a:latin typeface="宋体"/>
              <a:cs typeface="宋体"/>
            </a:endParaRPr>
          </a:p>
          <a:p>
            <a:pPr marL="622300" marR="476884" indent="-609600" algn="just">
              <a:lnSpc>
                <a:spcPct val="130000"/>
              </a:lnSpc>
              <a:spcBef>
                <a:spcPts val="1565"/>
              </a:spcBef>
              <a:buClr>
                <a:srgbClr val="FF66FF"/>
              </a:buClr>
              <a:buFont typeface="Wingdings"/>
              <a:buChar char=""/>
              <a:tabLst>
                <a:tab pos="639445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编译程序固有的缺陷：不是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面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对一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或一 类具体问题的程序，而是统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处理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该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语言 的各种源程序，无法尽善尽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美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9162" y="4227512"/>
          <a:ext cx="3543300" cy="1803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1599"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800" b="1" spc="-5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计算</a:t>
                      </a:r>
                      <a:r>
                        <a:rPr sz="32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a[i][j]</a:t>
                      </a:r>
                      <a:r>
                        <a:rPr sz="3200" b="1" spc="-6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b="1" spc="5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的</a:t>
                      </a:r>
                      <a:r>
                        <a:rPr sz="32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addr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201"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800" b="1" spc="-10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计</a:t>
                      </a:r>
                      <a:r>
                        <a:rPr sz="2800" b="1" spc="-5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算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32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[i][j]</a:t>
                      </a:r>
                      <a:r>
                        <a:rPr sz="3200" b="1" spc="-4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b="1" spc="-5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的</a:t>
                      </a:r>
                      <a:r>
                        <a:rPr sz="32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addr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800" b="1" spc="-15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赋</a:t>
                      </a:r>
                      <a:r>
                        <a:rPr sz="2800" b="1" spc="140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sz="2800" b="1" spc="-15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7747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478273" y="4242053"/>
            <a:ext cx="475615" cy="1202690"/>
          </a:xfrm>
          <a:custGeom>
            <a:avLst/>
            <a:gdLst/>
            <a:ahLst/>
            <a:cxnLst/>
            <a:rect l="l" t="t" r="r" b="b"/>
            <a:pathLst>
              <a:path w="475614" h="1202689">
                <a:moveTo>
                  <a:pt x="0" y="0"/>
                </a:moveTo>
                <a:lnTo>
                  <a:pt x="63207" y="3567"/>
                </a:lnTo>
                <a:lnTo>
                  <a:pt x="120000" y="13636"/>
                </a:lnTo>
                <a:lnTo>
                  <a:pt x="168116" y="29257"/>
                </a:lnTo>
                <a:lnTo>
                  <a:pt x="205288" y="49482"/>
                </a:lnTo>
                <a:lnTo>
                  <a:pt x="237743" y="99949"/>
                </a:lnTo>
                <a:lnTo>
                  <a:pt x="237743" y="502031"/>
                </a:lnTo>
                <a:lnTo>
                  <a:pt x="246235" y="528616"/>
                </a:lnTo>
                <a:lnTo>
                  <a:pt x="307371" y="572722"/>
                </a:lnTo>
                <a:lnTo>
                  <a:pt x="355487" y="588343"/>
                </a:lnTo>
                <a:lnTo>
                  <a:pt x="412280" y="598412"/>
                </a:lnTo>
                <a:lnTo>
                  <a:pt x="475488" y="601980"/>
                </a:lnTo>
                <a:lnTo>
                  <a:pt x="412280" y="605555"/>
                </a:lnTo>
                <a:lnTo>
                  <a:pt x="355487" y="615644"/>
                </a:lnTo>
                <a:lnTo>
                  <a:pt x="307371" y="631285"/>
                </a:lnTo>
                <a:lnTo>
                  <a:pt x="270199" y="651519"/>
                </a:lnTo>
                <a:lnTo>
                  <a:pt x="237743" y="701929"/>
                </a:lnTo>
                <a:lnTo>
                  <a:pt x="237743" y="1102487"/>
                </a:lnTo>
                <a:lnTo>
                  <a:pt x="229252" y="1129072"/>
                </a:lnTo>
                <a:lnTo>
                  <a:pt x="205288" y="1152953"/>
                </a:lnTo>
                <a:lnTo>
                  <a:pt x="168116" y="1173178"/>
                </a:lnTo>
                <a:lnTo>
                  <a:pt x="120000" y="1188799"/>
                </a:lnTo>
                <a:lnTo>
                  <a:pt x="63207" y="1198868"/>
                </a:lnTo>
                <a:lnTo>
                  <a:pt x="0" y="1202436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14248" y="26923"/>
            <a:ext cx="7636509" cy="534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376805" algn="l"/>
                <a:tab pos="2884170" algn="l"/>
                <a:tab pos="4925695" algn="l"/>
                <a:tab pos="5751195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述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8.1.1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代码优化概述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latin typeface="宋体"/>
              <a:cs typeface="宋体"/>
            </a:endParaRPr>
          </a:p>
          <a:p>
            <a:pPr marL="24765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例如，</a:t>
            </a:r>
            <a:endParaRPr sz="3200">
              <a:latin typeface="宋体"/>
              <a:cs typeface="宋体"/>
            </a:endParaRPr>
          </a:p>
          <a:p>
            <a:pPr marL="836930">
              <a:lnSpc>
                <a:spcPct val="100000"/>
              </a:lnSpc>
              <a:spcBef>
                <a:spcPts val="35"/>
              </a:spcBef>
              <a:tabLst>
                <a:tab pos="1513840" algn="l"/>
              </a:tabLst>
            </a:pPr>
            <a:r>
              <a:rPr sz="3200" b="1" dirty="0">
                <a:solidFill>
                  <a:srgbClr val="FFFF99"/>
                </a:solidFill>
                <a:latin typeface="Times New Roman"/>
                <a:cs typeface="Times New Roman"/>
              </a:rPr>
              <a:t>int	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a[25][25] ,</a:t>
            </a:r>
            <a:r>
              <a:rPr sz="32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b[25][25];</a:t>
            </a:r>
            <a:endParaRPr sz="3200">
              <a:latin typeface="Times New Roman"/>
              <a:cs typeface="Times New Roman"/>
            </a:endParaRPr>
          </a:p>
          <a:p>
            <a:pPr marL="1041400">
              <a:lnSpc>
                <a:spcPct val="100000"/>
              </a:lnSpc>
            </a:pP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  <a:p>
            <a:pPr marL="836930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a[i][j] =</a:t>
            </a:r>
            <a:r>
              <a:rPr sz="32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b[i][j];</a:t>
            </a:r>
            <a:endParaRPr sz="3200">
              <a:latin typeface="Times New Roman"/>
              <a:cs typeface="Times New Roman"/>
            </a:endParaRPr>
          </a:p>
          <a:p>
            <a:pPr marL="10414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1355"/>
              </a:spcBef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a[i][j]</a:t>
            </a:r>
            <a:r>
              <a:rPr sz="3200" b="1" spc="-5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b[i][j]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翻译的目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标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代码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4356100" marR="5080">
              <a:lnSpc>
                <a:spcPct val="130100"/>
              </a:lnSpc>
              <a:spcBef>
                <a:spcPts val="2455"/>
              </a:spcBef>
            </a:pP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重复计算了地址的 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变化部分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22653" y="3243833"/>
            <a:ext cx="2481580" cy="690880"/>
          </a:xfrm>
          <a:custGeom>
            <a:avLst/>
            <a:gdLst/>
            <a:ahLst/>
            <a:cxnLst/>
            <a:rect l="l" t="t" r="r" b="b"/>
            <a:pathLst>
              <a:path w="2481579" h="690879">
                <a:moveTo>
                  <a:pt x="0" y="690371"/>
                </a:moveTo>
                <a:lnTo>
                  <a:pt x="2481072" y="690371"/>
                </a:lnTo>
                <a:lnTo>
                  <a:pt x="2481072" y="0"/>
                </a:lnTo>
                <a:lnTo>
                  <a:pt x="0" y="0"/>
                </a:lnTo>
                <a:lnTo>
                  <a:pt x="0" y="690371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6485" y="974851"/>
            <a:ext cx="45078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29665" algn="l"/>
              </a:tabLst>
            </a:pPr>
            <a:r>
              <a:rPr sz="4400" u="none" dirty="0">
                <a:solidFill>
                  <a:srgbClr val="FFFF00"/>
                </a:solidFill>
                <a:latin typeface="Times New Roman"/>
                <a:cs typeface="Times New Roman"/>
              </a:rPr>
              <a:t>8.1	</a:t>
            </a:r>
            <a:r>
              <a:rPr sz="4400" u="none" spc="-5" dirty="0">
                <a:solidFill>
                  <a:srgbClr val="FFFF00"/>
                </a:solidFill>
                <a:latin typeface="宋体"/>
                <a:cs typeface="宋体"/>
              </a:rPr>
              <a:t>代码优化综述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3439" y="2657347"/>
            <a:ext cx="644652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0" lvl="2" indent="-137223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1384300" algn="l"/>
                <a:tab pos="1384935" algn="l"/>
              </a:tabLst>
            </a:pPr>
            <a:r>
              <a:rPr sz="3600" b="1" spc="-5" dirty="0">
                <a:solidFill>
                  <a:srgbClr val="FFFF00"/>
                </a:solidFill>
                <a:latin typeface="宋体"/>
                <a:cs typeface="宋体"/>
              </a:rPr>
              <a:t>代码优化概述</a:t>
            </a:r>
            <a:endParaRPr sz="3600">
              <a:latin typeface="宋体"/>
              <a:cs typeface="宋体"/>
            </a:endParaRPr>
          </a:p>
          <a:p>
            <a:pPr marL="1387475" lvl="2" indent="-1375410">
              <a:lnSpc>
                <a:spcPct val="100000"/>
              </a:lnSpc>
              <a:spcBef>
                <a:spcPts val="3240"/>
              </a:spcBef>
              <a:buFont typeface="Times New Roman"/>
              <a:buAutoNum type="arabicPeriod"/>
              <a:tabLst>
                <a:tab pos="1387475" algn="l"/>
                <a:tab pos="1388110" algn="l"/>
              </a:tabLst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优化技术分类</a:t>
            </a:r>
            <a:endParaRPr sz="3600">
              <a:latin typeface="宋体"/>
              <a:cs typeface="宋体"/>
            </a:endParaRPr>
          </a:p>
          <a:p>
            <a:pPr marL="1387475" lvl="2" indent="-1375410">
              <a:lnSpc>
                <a:spcPct val="100000"/>
              </a:lnSpc>
              <a:spcBef>
                <a:spcPts val="3240"/>
              </a:spcBef>
              <a:buFont typeface="Times New Roman"/>
              <a:buAutoNum type="arabicPeriod"/>
              <a:tabLst>
                <a:tab pos="1387475" algn="l"/>
                <a:tab pos="1388110" algn="l"/>
              </a:tabLst>
            </a:pPr>
            <a:r>
              <a:rPr sz="3600" b="1" spc="-10" dirty="0">
                <a:solidFill>
                  <a:srgbClr val="FFFFFF"/>
                </a:solidFill>
                <a:latin typeface="宋体"/>
                <a:cs typeface="宋体"/>
              </a:rPr>
              <a:t>具优化功能编译器的组织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73857" y="26923"/>
            <a:ext cx="1692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37835" y="26923"/>
            <a:ext cx="206946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14415" y="3581400"/>
            <a:ext cx="2196465" cy="722630"/>
          </a:xfrm>
          <a:custGeom>
            <a:avLst/>
            <a:gdLst/>
            <a:ahLst/>
            <a:cxnLst/>
            <a:rect l="l" t="t" r="r" b="b"/>
            <a:pathLst>
              <a:path w="2196465" h="722629">
                <a:moveTo>
                  <a:pt x="548894" y="0"/>
                </a:moveTo>
                <a:lnTo>
                  <a:pt x="0" y="361188"/>
                </a:lnTo>
                <a:lnTo>
                  <a:pt x="548894" y="722376"/>
                </a:lnTo>
                <a:lnTo>
                  <a:pt x="548894" y="541782"/>
                </a:lnTo>
                <a:lnTo>
                  <a:pt x="2196084" y="541782"/>
                </a:lnTo>
                <a:lnTo>
                  <a:pt x="2196084" y="180594"/>
                </a:lnTo>
                <a:lnTo>
                  <a:pt x="548894" y="180594"/>
                </a:lnTo>
                <a:lnTo>
                  <a:pt x="54889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14415" y="3581400"/>
            <a:ext cx="2196465" cy="722630"/>
          </a:xfrm>
          <a:custGeom>
            <a:avLst/>
            <a:gdLst/>
            <a:ahLst/>
            <a:cxnLst/>
            <a:rect l="l" t="t" r="r" b="b"/>
            <a:pathLst>
              <a:path w="2196465" h="722629">
                <a:moveTo>
                  <a:pt x="0" y="361188"/>
                </a:moveTo>
                <a:lnTo>
                  <a:pt x="548894" y="0"/>
                </a:lnTo>
                <a:lnTo>
                  <a:pt x="548894" y="180594"/>
                </a:lnTo>
                <a:lnTo>
                  <a:pt x="2196084" y="180594"/>
                </a:lnTo>
                <a:lnTo>
                  <a:pt x="2196084" y="541782"/>
                </a:lnTo>
                <a:lnTo>
                  <a:pt x="548894" y="541782"/>
                </a:lnTo>
                <a:lnTo>
                  <a:pt x="548894" y="722376"/>
                </a:lnTo>
                <a:lnTo>
                  <a:pt x="0" y="361188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4248" y="26923"/>
            <a:ext cx="7302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376805" algn="l"/>
                <a:tab pos="2884170" algn="l"/>
                <a:tab pos="4925695" algn="l"/>
                <a:tab pos="575119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述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4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 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优化技术分类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1640" y="737743"/>
            <a:ext cx="5744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一</a:t>
            </a:r>
            <a:r>
              <a:rPr sz="3200" u="none" spc="5" dirty="0">
                <a:solidFill>
                  <a:srgbClr val="FFFF00"/>
                </a:solidFill>
                <a:latin typeface="宋体"/>
                <a:cs typeface="宋体"/>
              </a:rPr>
              <a:t>.</a:t>
            </a:r>
            <a:r>
              <a:rPr sz="3200" u="none" spc="-9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优化所涉及的源程序的范围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9774" y="1556766"/>
            <a:ext cx="257810" cy="1496695"/>
          </a:xfrm>
          <a:custGeom>
            <a:avLst/>
            <a:gdLst/>
            <a:ahLst/>
            <a:cxnLst/>
            <a:rect l="l" t="t" r="r" b="b"/>
            <a:pathLst>
              <a:path w="257809" h="1496695">
                <a:moveTo>
                  <a:pt x="257556" y="1496568"/>
                </a:moveTo>
                <a:lnTo>
                  <a:pt x="207430" y="1486804"/>
                </a:lnTo>
                <a:lnTo>
                  <a:pt x="166497" y="1460182"/>
                </a:lnTo>
                <a:lnTo>
                  <a:pt x="138898" y="1420701"/>
                </a:lnTo>
                <a:lnTo>
                  <a:pt x="128778" y="1372362"/>
                </a:lnTo>
                <a:lnTo>
                  <a:pt x="128778" y="872489"/>
                </a:lnTo>
                <a:lnTo>
                  <a:pt x="118657" y="824150"/>
                </a:lnTo>
                <a:lnTo>
                  <a:pt x="91059" y="784669"/>
                </a:lnTo>
                <a:lnTo>
                  <a:pt x="50125" y="758047"/>
                </a:lnTo>
                <a:lnTo>
                  <a:pt x="0" y="748284"/>
                </a:lnTo>
                <a:lnTo>
                  <a:pt x="50125" y="738520"/>
                </a:lnTo>
                <a:lnTo>
                  <a:pt x="91058" y="711898"/>
                </a:lnTo>
                <a:lnTo>
                  <a:pt x="118657" y="672417"/>
                </a:lnTo>
                <a:lnTo>
                  <a:pt x="128778" y="624078"/>
                </a:lnTo>
                <a:lnTo>
                  <a:pt x="128778" y="124206"/>
                </a:lnTo>
                <a:lnTo>
                  <a:pt x="138898" y="75866"/>
                </a:lnTo>
                <a:lnTo>
                  <a:pt x="166497" y="36385"/>
                </a:lnTo>
                <a:lnTo>
                  <a:pt x="207430" y="9763"/>
                </a:lnTo>
                <a:lnTo>
                  <a:pt x="257556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1640" y="1277241"/>
            <a:ext cx="8601710" cy="445262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42695">
              <a:lnSpc>
                <a:spcPct val="100000"/>
              </a:lnSpc>
              <a:spcBef>
                <a:spcPts val="1255"/>
              </a:spcBef>
              <a:tabLst>
                <a:tab pos="3690620" algn="l"/>
              </a:tabLst>
            </a:pP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局部优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化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—	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基本块内优化；</a:t>
            </a:r>
            <a:endParaRPr sz="3200">
              <a:latin typeface="宋体"/>
              <a:cs typeface="宋体"/>
            </a:endParaRPr>
          </a:p>
          <a:p>
            <a:pPr marL="1242695" marR="5080">
              <a:lnSpc>
                <a:spcPct val="130000"/>
              </a:lnSpc>
              <a:tabLst>
                <a:tab pos="3687445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循环优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化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—	</a:t>
            </a:r>
            <a:r>
              <a:rPr sz="3200" b="1" spc="-7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隐式、显式循环体内优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化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；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全局优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化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—	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一个源程序范围内优化；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3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二</a:t>
            </a:r>
            <a:r>
              <a:rPr sz="3200" b="1" spc="5" dirty="0">
                <a:solidFill>
                  <a:srgbClr val="FFFF00"/>
                </a:solidFill>
                <a:latin typeface="宋体"/>
                <a:cs typeface="宋体"/>
              </a:rPr>
              <a:t>.</a:t>
            </a:r>
            <a:r>
              <a:rPr sz="3200" b="1" spc="-3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优化相对于编译逻辑功能实现</a:t>
            </a:r>
            <a:r>
              <a:rPr sz="3200" b="1" spc="-15" dirty="0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阶段</a:t>
            </a:r>
            <a:endParaRPr sz="3200">
              <a:latin typeface="宋体"/>
              <a:cs typeface="宋体"/>
            </a:endParaRPr>
          </a:p>
          <a:p>
            <a:pPr marL="1036955" marR="203835">
              <a:lnSpc>
                <a:spcPct val="150000"/>
              </a:lnSpc>
              <a:spcBef>
                <a:spcPts val="195"/>
              </a:spcBef>
              <a:tabLst>
                <a:tab pos="3893185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中间代码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级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—	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目标代码生成前的优化；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目标代码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级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目标代码生成后的优化。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39774" y="4780026"/>
            <a:ext cx="257810" cy="822960"/>
          </a:xfrm>
          <a:custGeom>
            <a:avLst/>
            <a:gdLst/>
            <a:ahLst/>
            <a:cxnLst/>
            <a:rect l="l" t="t" r="r" b="b"/>
            <a:pathLst>
              <a:path w="257809" h="822960">
                <a:moveTo>
                  <a:pt x="257556" y="822960"/>
                </a:moveTo>
                <a:lnTo>
                  <a:pt x="207430" y="817608"/>
                </a:lnTo>
                <a:lnTo>
                  <a:pt x="166497" y="803005"/>
                </a:lnTo>
                <a:lnTo>
                  <a:pt x="138898" y="781329"/>
                </a:lnTo>
                <a:lnTo>
                  <a:pt x="128778" y="754761"/>
                </a:lnTo>
                <a:lnTo>
                  <a:pt x="128778" y="479679"/>
                </a:lnTo>
                <a:lnTo>
                  <a:pt x="118657" y="453110"/>
                </a:lnTo>
                <a:lnTo>
                  <a:pt x="91059" y="431434"/>
                </a:lnTo>
                <a:lnTo>
                  <a:pt x="50125" y="416831"/>
                </a:lnTo>
                <a:lnTo>
                  <a:pt x="0" y="411480"/>
                </a:lnTo>
                <a:lnTo>
                  <a:pt x="50125" y="406128"/>
                </a:lnTo>
                <a:lnTo>
                  <a:pt x="91058" y="391525"/>
                </a:lnTo>
                <a:lnTo>
                  <a:pt x="118657" y="369849"/>
                </a:lnTo>
                <a:lnTo>
                  <a:pt x="128778" y="343281"/>
                </a:lnTo>
                <a:lnTo>
                  <a:pt x="128778" y="68199"/>
                </a:lnTo>
                <a:lnTo>
                  <a:pt x="138898" y="41630"/>
                </a:lnTo>
                <a:lnTo>
                  <a:pt x="166497" y="19954"/>
                </a:lnTo>
                <a:lnTo>
                  <a:pt x="207430" y="5351"/>
                </a:lnTo>
                <a:lnTo>
                  <a:pt x="257556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4248" y="26923"/>
            <a:ext cx="1692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8607" y="26923"/>
            <a:ext cx="21901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述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4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27623" y="26923"/>
            <a:ext cx="2388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75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 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优化技术分类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742" y="858393"/>
            <a:ext cx="53352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三.</a:t>
            </a:r>
            <a:r>
              <a:rPr sz="3200" b="1" spc="-9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优化具体实现技术的角度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1134" y="1849387"/>
            <a:ext cx="3969385" cy="2811145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常量合并、传播</a:t>
            </a:r>
            <a:endParaRPr sz="3200">
              <a:latin typeface="宋体"/>
              <a:cs typeface="宋体"/>
            </a:endParaRPr>
          </a:p>
          <a:p>
            <a:pPr marL="1509395" marR="5080" indent="-553085">
              <a:lnSpc>
                <a:spcPct val="125000"/>
              </a:lnSpc>
              <a:spcBef>
                <a:spcPts val="540"/>
              </a:spcBef>
            </a:pPr>
            <a:r>
              <a:rPr sz="2800" b="1" u="heavy" spc="-1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Before</a:t>
            </a:r>
            <a:r>
              <a:rPr sz="2800" b="1" u="heavy" spc="-7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X =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2;</a:t>
            </a:r>
            <a:endParaRPr sz="2800">
              <a:latin typeface="Times New Roman"/>
              <a:cs typeface="Times New Roman"/>
            </a:endParaRPr>
          </a:p>
          <a:p>
            <a:pPr marL="1521460" marR="700405">
              <a:lnSpc>
                <a:spcPct val="101200"/>
              </a:lnSpc>
              <a:spcBef>
                <a:spcPts val="76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Y =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X +</a:t>
            </a:r>
            <a:r>
              <a:rPr sz="2800" b="1" spc="-16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10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; 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Z =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2 *</a:t>
            </a:r>
            <a:r>
              <a:rPr sz="2800" b="1" spc="-14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Y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64989" y="2567888"/>
            <a:ext cx="2830195" cy="2130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5650" marR="5080" indent="-743585">
              <a:lnSpc>
                <a:spcPct val="134300"/>
              </a:lnSpc>
              <a:spcBef>
                <a:spcPts val="95"/>
              </a:spcBef>
            </a:pP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After</a:t>
            </a:r>
            <a:r>
              <a:rPr sz="2800" b="1" u="heavy" spc="-110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X = 2;</a:t>
            </a:r>
            <a:endParaRPr sz="2800">
              <a:latin typeface="Times New Roman"/>
              <a:cs typeface="Times New Roman"/>
            </a:endParaRPr>
          </a:p>
          <a:p>
            <a:pPr marL="755650">
              <a:lnSpc>
                <a:spcPct val="100000"/>
              </a:lnSpc>
              <a:spcBef>
                <a:spcPts val="49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Y =</a:t>
            </a:r>
            <a:r>
              <a:rPr sz="2800" b="1" spc="-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12;</a:t>
            </a:r>
            <a:endParaRPr sz="2800">
              <a:latin typeface="Times New Roman"/>
              <a:cs typeface="Times New Roman"/>
            </a:endParaRPr>
          </a:p>
          <a:p>
            <a:pPr marL="755650">
              <a:lnSpc>
                <a:spcPct val="100000"/>
              </a:lnSpc>
              <a:spcBef>
                <a:spcPts val="34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Z =</a:t>
            </a:r>
            <a:r>
              <a:rPr sz="28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24;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72034" y="1939289"/>
            <a:ext cx="8740140" cy="2982595"/>
          </a:xfrm>
          <a:custGeom>
            <a:avLst/>
            <a:gdLst/>
            <a:ahLst/>
            <a:cxnLst/>
            <a:rect l="l" t="t" r="r" b="b"/>
            <a:pathLst>
              <a:path w="8740140" h="2982595">
                <a:moveTo>
                  <a:pt x="0" y="2982468"/>
                </a:moveTo>
                <a:lnTo>
                  <a:pt x="8740140" y="2982468"/>
                </a:lnTo>
                <a:lnTo>
                  <a:pt x="8740140" y="0"/>
                </a:lnTo>
                <a:lnTo>
                  <a:pt x="0" y="0"/>
                </a:lnTo>
                <a:lnTo>
                  <a:pt x="0" y="2982468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23922" y="3658361"/>
            <a:ext cx="1469390" cy="1164590"/>
          </a:xfrm>
          <a:custGeom>
            <a:avLst/>
            <a:gdLst/>
            <a:ahLst/>
            <a:cxnLst/>
            <a:rect l="l" t="t" r="r" b="b"/>
            <a:pathLst>
              <a:path w="1469389" h="1164589">
                <a:moveTo>
                  <a:pt x="0" y="582168"/>
                </a:moveTo>
                <a:lnTo>
                  <a:pt x="1844" y="540586"/>
                </a:lnTo>
                <a:lnTo>
                  <a:pt x="7295" y="499795"/>
                </a:lnTo>
                <a:lnTo>
                  <a:pt x="16228" y="459893"/>
                </a:lnTo>
                <a:lnTo>
                  <a:pt x="28519" y="420976"/>
                </a:lnTo>
                <a:lnTo>
                  <a:pt x="44043" y="383146"/>
                </a:lnTo>
                <a:lnTo>
                  <a:pt x="62676" y="346499"/>
                </a:lnTo>
                <a:lnTo>
                  <a:pt x="84293" y="311133"/>
                </a:lnTo>
                <a:lnTo>
                  <a:pt x="108771" y="277149"/>
                </a:lnTo>
                <a:lnTo>
                  <a:pt x="135984" y="244644"/>
                </a:lnTo>
                <a:lnTo>
                  <a:pt x="165808" y="213716"/>
                </a:lnTo>
                <a:lnTo>
                  <a:pt x="198120" y="184464"/>
                </a:lnTo>
                <a:lnTo>
                  <a:pt x="232794" y="156986"/>
                </a:lnTo>
                <a:lnTo>
                  <a:pt x="269706" y="131381"/>
                </a:lnTo>
                <a:lnTo>
                  <a:pt x="308732" y="107748"/>
                </a:lnTo>
                <a:lnTo>
                  <a:pt x="349748" y="86184"/>
                </a:lnTo>
                <a:lnTo>
                  <a:pt x="392629" y="66789"/>
                </a:lnTo>
                <a:lnTo>
                  <a:pt x="437250" y="49660"/>
                </a:lnTo>
                <a:lnTo>
                  <a:pt x="483488" y="34896"/>
                </a:lnTo>
                <a:lnTo>
                  <a:pt x="531217" y="22596"/>
                </a:lnTo>
                <a:lnTo>
                  <a:pt x="580314" y="12858"/>
                </a:lnTo>
                <a:lnTo>
                  <a:pt x="630655" y="5780"/>
                </a:lnTo>
                <a:lnTo>
                  <a:pt x="682114" y="1461"/>
                </a:lnTo>
                <a:lnTo>
                  <a:pt x="734567" y="0"/>
                </a:lnTo>
                <a:lnTo>
                  <a:pt x="787021" y="1461"/>
                </a:lnTo>
                <a:lnTo>
                  <a:pt x="838480" y="5780"/>
                </a:lnTo>
                <a:lnTo>
                  <a:pt x="888821" y="12858"/>
                </a:lnTo>
                <a:lnTo>
                  <a:pt x="937918" y="22596"/>
                </a:lnTo>
                <a:lnTo>
                  <a:pt x="985647" y="34896"/>
                </a:lnTo>
                <a:lnTo>
                  <a:pt x="1031885" y="49660"/>
                </a:lnTo>
                <a:lnTo>
                  <a:pt x="1076506" y="66789"/>
                </a:lnTo>
                <a:lnTo>
                  <a:pt x="1119387" y="86184"/>
                </a:lnTo>
                <a:lnTo>
                  <a:pt x="1160403" y="107748"/>
                </a:lnTo>
                <a:lnTo>
                  <a:pt x="1199429" y="131381"/>
                </a:lnTo>
                <a:lnTo>
                  <a:pt x="1236341" y="156986"/>
                </a:lnTo>
                <a:lnTo>
                  <a:pt x="1271015" y="184464"/>
                </a:lnTo>
                <a:lnTo>
                  <a:pt x="1303327" y="213716"/>
                </a:lnTo>
                <a:lnTo>
                  <a:pt x="1333151" y="244644"/>
                </a:lnTo>
                <a:lnTo>
                  <a:pt x="1360364" y="277149"/>
                </a:lnTo>
                <a:lnTo>
                  <a:pt x="1384842" y="311133"/>
                </a:lnTo>
                <a:lnTo>
                  <a:pt x="1406459" y="346499"/>
                </a:lnTo>
                <a:lnTo>
                  <a:pt x="1425092" y="383146"/>
                </a:lnTo>
                <a:lnTo>
                  <a:pt x="1440616" y="420976"/>
                </a:lnTo>
                <a:lnTo>
                  <a:pt x="1452907" y="459893"/>
                </a:lnTo>
                <a:lnTo>
                  <a:pt x="1461840" y="499795"/>
                </a:lnTo>
                <a:lnTo>
                  <a:pt x="1467291" y="540586"/>
                </a:lnTo>
                <a:lnTo>
                  <a:pt x="1469136" y="582168"/>
                </a:lnTo>
                <a:lnTo>
                  <a:pt x="1467291" y="623749"/>
                </a:lnTo>
                <a:lnTo>
                  <a:pt x="1461840" y="664540"/>
                </a:lnTo>
                <a:lnTo>
                  <a:pt x="1452907" y="704442"/>
                </a:lnTo>
                <a:lnTo>
                  <a:pt x="1440616" y="743359"/>
                </a:lnTo>
                <a:lnTo>
                  <a:pt x="1425092" y="781189"/>
                </a:lnTo>
                <a:lnTo>
                  <a:pt x="1406459" y="817836"/>
                </a:lnTo>
                <a:lnTo>
                  <a:pt x="1384842" y="853202"/>
                </a:lnTo>
                <a:lnTo>
                  <a:pt x="1360364" y="887186"/>
                </a:lnTo>
                <a:lnTo>
                  <a:pt x="1333151" y="919691"/>
                </a:lnTo>
                <a:lnTo>
                  <a:pt x="1303327" y="950619"/>
                </a:lnTo>
                <a:lnTo>
                  <a:pt x="1271015" y="979871"/>
                </a:lnTo>
                <a:lnTo>
                  <a:pt x="1236341" y="1007349"/>
                </a:lnTo>
                <a:lnTo>
                  <a:pt x="1199429" y="1032954"/>
                </a:lnTo>
                <a:lnTo>
                  <a:pt x="1160403" y="1056587"/>
                </a:lnTo>
                <a:lnTo>
                  <a:pt x="1119387" y="1078151"/>
                </a:lnTo>
                <a:lnTo>
                  <a:pt x="1076506" y="1097546"/>
                </a:lnTo>
                <a:lnTo>
                  <a:pt x="1031885" y="1114675"/>
                </a:lnTo>
                <a:lnTo>
                  <a:pt x="985647" y="1129439"/>
                </a:lnTo>
                <a:lnTo>
                  <a:pt x="937918" y="1141739"/>
                </a:lnTo>
                <a:lnTo>
                  <a:pt x="888821" y="1151477"/>
                </a:lnTo>
                <a:lnTo>
                  <a:pt x="838480" y="1158555"/>
                </a:lnTo>
                <a:lnTo>
                  <a:pt x="787021" y="1162874"/>
                </a:lnTo>
                <a:lnTo>
                  <a:pt x="734567" y="1164336"/>
                </a:lnTo>
                <a:lnTo>
                  <a:pt x="682114" y="1162874"/>
                </a:lnTo>
                <a:lnTo>
                  <a:pt x="630655" y="1158555"/>
                </a:lnTo>
                <a:lnTo>
                  <a:pt x="580314" y="1151477"/>
                </a:lnTo>
                <a:lnTo>
                  <a:pt x="531217" y="1141739"/>
                </a:lnTo>
                <a:lnTo>
                  <a:pt x="483488" y="1129439"/>
                </a:lnTo>
                <a:lnTo>
                  <a:pt x="437250" y="1114675"/>
                </a:lnTo>
                <a:lnTo>
                  <a:pt x="392629" y="1097546"/>
                </a:lnTo>
                <a:lnTo>
                  <a:pt x="349748" y="1078151"/>
                </a:lnTo>
                <a:lnTo>
                  <a:pt x="308732" y="1056587"/>
                </a:lnTo>
                <a:lnTo>
                  <a:pt x="269706" y="1032954"/>
                </a:lnTo>
                <a:lnTo>
                  <a:pt x="232794" y="1007349"/>
                </a:lnTo>
                <a:lnTo>
                  <a:pt x="198120" y="979871"/>
                </a:lnTo>
                <a:lnTo>
                  <a:pt x="165808" y="950619"/>
                </a:lnTo>
                <a:lnTo>
                  <a:pt x="135984" y="919691"/>
                </a:lnTo>
                <a:lnTo>
                  <a:pt x="108771" y="887186"/>
                </a:lnTo>
                <a:lnTo>
                  <a:pt x="84293" y="853202"/>
                </a:lnTo>
                <a:lnTo>
                  <a:pt x="62676" y="817836"/>
                </a:lnTo>
                <a:lnTo>
                  <a:pt x="44043" y="781189"/>
                </a:lnTo>
                <a:lnTo>
                  <a:pt x="28519" y="743359"/>
                </a:lnTo>
                <a:lnTo>
                  <a:pt x="16228" y="704442"/>
                </a:lnTo>
                <a:lnTo>
                  <a:pt x="7295" y="664540"/>
                </a:lnTo>
                <a:lnTo>
                  <a:pt x="1844" y="623749"/>
                </a:lnTo>
                <a:lnTo>
                  <a:pt x="0" y="582168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93714" y="3699509"/>
            <a:ext cx="734695" cy="1164590"/>
          </a:xfrm>
          <a:custGeom>
            <a:avLst/>
            <a:gdLst/>
            <a:ahLst/>
            <a:cxnLst/>
            <a:rect l="l" t="t" r="r" b="b"/>
            <a:pathLst>
              <a:path w="734695" h="1164589">
                <a:moveTo>
                  <a:pt x="0" y="582167"/>
                </a:moveTo>
                <a:lnTo>
                  <a:pt x="1896" y="522637"/>
                </a:lnTo>
                <a:lnTo>
                  <a:pt x="7462" y="464828"/>
                </a:lnTo>
                <a:lnTo>
                  <a:pt x="16514" y="409033"/>
                </a:lnTo>
                <a:lnTo>
                  <a:pt x="28866" y="355544"/>
                </a:lnTo>
                <a:lnTo>
                  <a:pt x="44334" y="304653"/>
                </a:lnTo>
                <a:lnTo>
                  <a:pt x="62733" y="256654"/>
                </a:lnTo>
                <a:lnTo>
                  <a:pt x="83878" y="211837"/>
                </a:lnTo>
                <a:lnTo>
                  <a:pt x="107584" y="170497"/>
                </a:lnTo>
                <a:lnTo>
                  <a:pt x="133668" y="132925"/>
                </a:lnTo>
                <a:lnTo>
                  <a:pt x="161943" y="99414"/>
                </a:lnTo>
                <a:lnTo>
                  <a:pt x="192226" y="70256"/>
                </a:lnTo>
                <a:lnTo>
                  <a:pt x="224331" y="45743"/>
                </a:lnTo>
                <a:lnTo>
                  <a:pt x="258074" y="26169"/>
                </a:lnTo>
                <a:lnTo>
                  <a:pt x="329735" y="3005"/>
                </a:lnTo>
                <a:lnTo>
                  <a:pt x="367284" y="0"/>
                </a:lnTo>
                <a:lnTo>
                  <a:pt x="404832" y="3005"/>
                </a:lnTo>
                <a:lnTo>
                  <a:pt x="476493" y="26169"/>
                </a:lnTo>
                <a:lnTo>
                  <a:pt x="510236" y="45743"/>
                </a:lnTo>
                <a:lnTo>
                  <a:pt x="542341" y="70256"/>
                </a:lnTo>
                <a:lnTo>
                  <a:pt x="572624" y="99414"/>
                </a:lnTo>
                <a:lnTo>
                  <a:pt x="600899" y="132925"/>
                </a:lnTo>
                <a:lnTo>
                  <a:pt x="626983" y="170497"/>
                </a:lnTo>
                <a:lnTo>
                  <a:pt x="650689" y="211837"/>
                </a:lnTo>
                <a:lnTo>
                  <a:pt x="671834" y="256654"/>
                </a:lnTo>
                <a:lnTo>
                  <a:pt x="690233" y="304653"/>
                </a:lnTo>
                <a:lnTo>
                  <a:pt x="705701" y="355544"/>
                </a:lnTo>
                <a:lnTo>
                  <a:pt x="718053" y="409033"/>
                </a:lnTo>
                <a:lnTo>
                  <a:pt x="727105" y="464828"/>
                </a:lnTo>
                <a:lnTo>
                  <a:pt x="732671" y="522637"/>
                </a:lnTo>
                <a:lnTo>
                  <a:pt x="734567" y="582167"/>
                </a:lnTo>
                <a:lnTo>
                  <a:pt x="732671" y="641698"/>
                </a:lnTo>
                <a:lnTo>
                  <a:pt x="727105" y="699507"/>
                </a:lnTo>
                <a:lnTo>
                  <a:pt x="718053" y="755302"/>
                </a:lnTo>
                <a:lnTo>
                  <a:pt x="705701" y="808791"/>
                </a:lnTo>
                <a:lnTo>
                  <a:pt x="690233" y="859682"/>
                </a:lnTo>
                <a:lnTo>
                  <a:pt x="671834" y="907681"/>
                </a:lnTo>
                <a:lnTo>
                  <a:pt x="650689" y="952498"/>
                </a:lnTo>
                <a:lnTo>
                  <a:pt x="626983" y="993838"/>
                </a:lnTo>
                <a:lnTo>
                  <a:pt x="600899" y="1031410"/>
                </a:lnTo>
                <a:lnTo>
                  <a:pt x="572624" y="1064921"/>
                </a:lnTo>
                <a:lnTo>
                  <a:pt x="542341" y="1094079"/>
                </a:lnTo>
                <a:lnTo>
                  <a:pt x="510236" y="1118592"/>
                </a:lnTo>
                <a:lnTo>
                  <a:pt x="476493" y="1138166"/>
                </a:lnTo>
                <a:lnTo>
                  <a:pt x="404832" y="1161330"/>
                </a:lnTo>
                <a:lnTo>
                  <a:pt x="367284" y="1164335"/>
                </a:lnTo>
                <a:lnTo>
                  <a:pt x="329735" y="1161330"/>
                </a:lnTo>
                <a:lnTo>
                  <a:pt x="258074" y="1138166"/>
                </a:lnTo>
                <a:lnTo>
                  <a:pt x="224331" y="1118592"/>
                </a:lnTo>
                <a:lnTo>
                  <a:pt x="192226" y="1094079"/>
                </a:lnTo>
                <a:lnTo>
                  <a:pt x="161943" y="1064921"/>
                </a:lnTo>
                <a:lnTo>
                  <a:pt x="133668" y="1031410"/>
                </a:lnTo>
                <a:lnTo>
                  <a:pt x="107584" y="993838"/>
                </a:lnTo>
                <a:lnTo>
                  <a:pt x="83878" y="952498"/>
                </a:lnTo>
                <a:lnTo>
                  <a:pt x="62733" y="907681"/>
                </a:lnTo>
                <a:lnTo>
                  <a:pt x="44334" y="859682"/>
                </a:lnTo>
                <a:lnTo>
                  <a:pt x="28866" y="808791"/>
                </a:lnTo>
                <a:lnTo>
                  <a:pt x="16514" y="755302"/>
                </a:lnTo>
                <a:lnTo>
                  <a:pt x="7462" y="699507"/>
                </a:lnTo>
                <a:lnTo>
                  <a:pt x="1896" y="641698"/>
                </a:lnTo>
                <a:lnTo>
                  <a:pt x="0" y="582167"/>
                </a:lnTo>
                <a:close/>
              </a:path>
            </a:pathLst>
          </a:custGeom>
          <a:ln w="38099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4248" y="26923"/>
            <a:ext cx="45542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376805" algn="l"/>
                <a:tab pos="288417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述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4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27623" y="26923"/>
            <a:ext cx="2388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75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 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优化技术分类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8002" y="720928"/>
            <a:ext cx="39027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1665" algn="l"/>
              </a:tabLst>
            </a:pP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2 .	</a:t>
            </a:r>
            <a:r>
              <a:rPr sz="3200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公共子表达式删除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6125" y="1144228"/>
            <a:ext cx="3030855" cy="1842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125" marR="5080" indent="-226060">
              <a:lnSpc>
                <a:spcPct val="147400"/>
              </a:lnSpc>
              <a:spcBef>
                <a:spcPts val="100"/>
              </a:spcBef>
            </a:pPr>
            <a:r>
              <a:rPr sz="2800" b="1" u="heavy" spc="-10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Before</a:t>
            </a:r>
            <a:r>
              <a:rPr sz="2800" b="1" u="heavy" spc="-50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 =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e + f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g;</a:t>
            </a:r>
            <a:endParaRPr sz="2800">
              <a:latin typeface="Times New Roman"/>
              <a:cs typeface="Times New Roman"/>
            </a:endParaRPr>
          </a:p>
          <a:p>
            <a:pPr marL="238125">
              <a:lnSpc>
                <a:spcPct val="100000"/>
              </a:lnSpc>
              <a:spcBef>
                <a:spcPts val="104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y =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e + f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z;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63490" y="1166774"/>
            <a:ext cx="2830195" cy="200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025" marR="5080" indent="-441325">
              <a:lnSpc>
                <a:spcPct val="135800"/>
              </a:lnSpc>
              <a:spcBef>
                <a:spcPts val="100"/>
              </a:spcBef>
            </a:pP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After</a:t>
            </a:r>
            <a:r>
              <a:rPr sz="2800" b="1" u="heavy" spc="-110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 x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= e + f</a:t>
            </a:r>
            <a:r>
              <a:rPr sz="2800" b="1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454025">
              <a:lnSpc>
                <a:spcPts val="3320"/>
              </a:lnSpc>
              <a:spcBef>
                <a:spcPts val="9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 = x +</a:t>
            </a:r>
            <a:r>
              <a:rPr sz="28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g;</a:t>
            </a:r>
            <a:endParaRPr sz="2800">
              <a:latin typeface="Times New Roman"/>
              <a:cs typeface="Times New Roman"/>
            </a:endParaRPr>
          </a:p>
          <a:p>
            <a:pPr marL="492125">
              <a:lnSpc>
                <a:spcPts val="3080"/>
              </a:lnSpc>
            </a:pP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y = x +</a:t>
            </a:r>
            <a:r>
              <a:rPr sz="26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z;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58745" y="1892045"/>
            <a:ext cx="1009015" cy="1163320"/>
          </a:xfrm>
          <a:custGeom>
            <a:avLst/>
            <a:gdLst/>
            <a:ahLst/>
            <a:cxnLst/>
            <a:rect l="l" t="t" r="r" b="b"/>
            <a:pathLst>
              <a:path w="1009014" h="1163320">
                <a:moveTo>
                  <a:pt x="0" y="581405"/>
                </a:moveTo>
                <a:lnTo>
                  <a:pt x="1851" y="531246"/>
                </a:lnTo>
                <a:lnTo>
                  <a:pt x="7304" y="482270"/>
                </a:lnTo>
                <a:lnTo>
                  <a:pt x="16207" y="434653"/>
                </a:lnTo>
                <a:lnTo>
                  <a:pt x="28410" y="388568"/>
                </a:lnTo>
                <a:lnTo>
                  <a:pt x="43760" y="344191"/>
                </a:lnTo>
                <a:lnTo>
                  <a:pt x="62106" y="301696"/>
                </a:lnTo>
                <a:lnTo>
                  <a:pt x="83298" y="261257"/>
                </a:lnTo>
                <a:lnTo>
                  <a:pt x="107184" y="223051"/>
                </a:lnTo>
                <a:lnTo>
                  <a:pt x="133612" y="187250"/>
                </a:lnTo>
                <a:lnTo>
                  <a:pt x="162431" y="154030"/>
                </a:lnTo>
                <a:lnTo>
                  <a:pt x="193491" y="123565"/>
                </a:lnTo>
                <a:lnTo>
                  <a:pt x="226638" y="96031"/>
                </a:lnTo>
                <a:lnTo>
                  <a:pt x="261724" y="71601"/>
                </a:lnTo>
                <a:lnTo>
                  <a:pt x="298595" y="50450"/>
                </a:lnTo>
                <a:lnTo>
                  <a:pt x="337100" y="32754"/>
                </a:lnTo>
                <a:lnTo>
                  <a:pt x="377089" y="18686"/>
                </a:lnTo>
                <a:lnTo>
                  <a:pt x="418410" y="8421"/>
                </a:lnTo>
                <a:lnTo>
                  <a:pt x="460912" y="2134"/>
                </a:lnTo>
                <a:lnTo>
                  <a:pt x="504444" y="0"/>
                </a:lnTo>
                <a:lnTo>
                  <a:pt x="547975" y="2134"/>
                </a:lnTo>
                <a:lnTo>
                  <a:pt x="590477" y="8421"/>
                </a:lnTo>
                <a:lnTo>
                  <a:pt x="631798" y="18686"/>
                </a:lnTo>
                <a:lnTo>
                  <a:pt x="671787" y="32754"/>
                </a:lnTo>
                <a:lnTo>
                  <a:pt x="710292" y="50450"/>
                </a:lnTo>
                <a:lnTo>
                  <a:pt x="747163" y="71601"/>
                </a:lnTo>
                <a:lnTo>
                  <a:pt x="782249" y="96031"/>
                </a:lnTo>
                <a:lnTo>
                  <a:pt x="815396" y="123565"/>
                </a:lnTo>
                <a:lnTo>
                  <a:pt x="846456" y="154030"/>
                </a:lnTo>
                <a:lnTo>
                  <a:pt x="875275" y="187250"/>
                </a:lnTo>
                <a:lnTo>
                  <a:pt x="901703" y="223051"/>
                </a:lnTo>
                <a:lnTo>
                  <a:pt x="925589" y="261257"/>
                </a:lnTo>
                <a:lnTo>
                  <a:pt x="946781" y="301696"/>
                </a:lnTo>
                <a:lnTo>
                  <a:pt x="965127" y="344191"/>
                </a:lnTo>
                <a:lnTo>
                  <a:pt x="980477" y="388568"/>
                </a:lnTo>
                <a:lnTo>
                  <a:pt x="992680" y="434653"/>
                </a:lnTo>
                <a:lnTo>
                  <a:pt x="1001583" y="482270"/>
                </a:lnTo>
                <a:lnTo>
                  <a:pt x="1007036" y="531246"/>
                </a:lnTo>
                <a:lnTo>
                  <a:pt x="1008888" y="581405"/>
                </a:lnTo>
                <a:lnTo>
                  <a:pt x="1007036" y="631565"/>
                </a:lnTo>
                <a:lnTo>
                  <a:pt x="1001583" y="680541"/>
                </a:lnTo>
                <a:lnTo>
                  <a:pt x="992680" y="728158"/>
                </a:lnTo>
                <a:lnTo>
                  <a:pt x="980477" y="774243"/>
                </a:lnTo>
                <a:lnTo>
                  <a:pt x="965127" y="818620"/>
                </a:lnTo>
                <a:lnTo>
                  <a:pt x="946781" y="861115"/>
                </a:lnTo>
                <a:lnTo>
                  <a:pt x="925589" y="901554"/>
                </a:lnTo>
                <a:lnTo>
                  <a:pt x="901703" y="939760"/>
                </a:lnTo>
                <a:lnTo>
                  <a:pt x="875275" y="975561"/>
                </a:lnTo>
                <a:lnTo>
                  <a:pt x="846456" y="1008781"/>
                </a:lnTo>
                <a:lnTo>
                  <a:pt x="815396" y="1039246"/>
                </a:lnTo>
                <a:lnTo>
                  <a:pt x="782249" y="1066780"/>
                </a:lnTo>
                <a:lnTo>
                  <a:pt x="747163" y="1091210"/>
                </a:lnTo>
                <a:lnTo>
                  <a:pt x="710292" y="1112361"/>
                </a:lnTo>
                <a:lnTo>
                  <a:pt x="671787" y="1130057"/>
                </a:lnTo>
                <a:lnTo>
                  <a:pt x="631798" y="1144125"/>
                </a:lnTo>
                <a:lnTo>
                  <a:pt x="590477" y="1154390"/>
                </a:lnTo>
                <a:lnTo>
                  <a:pt x="547975" y="1160677"/>
                </a:lnTo>
                <a:lnTo>
                  <a:pt x="504444" y="1162812"/>
                </a:lnTo>
                <a:lnTo>
                  <a:pt x="460912" y="1160677"/>
                </a:lnTo>
                <a:lnTo>
                  <a:pt x="418410" y="1154390"/>
                </a:lnTo>
                <a:lnTo>
                  <a:pt x="377089" y="1144125"/>
                </a:lnTo>
                <a:lnTo>
                  <a:pt x="337100" y="1130057"/>
                </a:lnTo>
                <a:lnTo>
                  <a:pt x="298595" y="1112361"/>
                </a:lnTo>
                <a:lnTo>
                  <a:pt x="261724" y="1091210"/>
                </a:lnTo>
                <a:lnTo>
                  <a:pt x="226638" y="1066780"/>
                </a:lnTo>
                <a:lnTo>
                  <a:pt x="193491" y="1039246"/>
                </a:lnTo>
                <a:lnTo>
                  <a:pt x="162431" y="1008781"/>
                </a:lnTo>
                <a:lnTo>
                  <a:pt x="133612" y="975561"/>
                </a:lnTo>
                <a:lnTo>
                  <a:pt x="107184" y="939760"/>
                </a:lnTo>
                <a:lnTo>
                  <a:pt x="83298" y="901554"/>
                </a:lnTo>
                <a:lnTo>
                  <a:pt x="62106" y="861115"/>
                </a:lnTo>
                <a:lnTo>
                  <a:pt x="43760" y="818620"/>
                </a:lnTo>
                <a:lnTo>
                  <a:pt x="28410" y="774243"/>
                </a:lnTo>
                <a:lnTo>
                  <a:pt x="16207" y="728158"/>
                </a:lnTo>
                <a:lnTo>
                  <a:pt x="7304" y="680541"/>
                </a:lnTo>
                <a:lnTo>
                  <a:pt x="1851" y="631565"/>
                </a:lnTo>
                <a:lnTo>
                  <a:pt x="0" y="581405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37226" y="1881377"/>
            <a:ext cx="1927860" cy="504825"/>
          </a:xfrm>
          <a:custGeom>
            <a:avLst/>
            <a:gdLst/>
            <a:ahLst/>
            <a:cxnLst/>
            <a:rect l="l" t="t" r="r" b="b"/>
            <a:pathLst>
              <a:path w="1927859" h="504825">
                <a:moveTo>
                  <a:pt x="0" y="252222"/>
                </a:moveTo>
                <a:lnTo>
                  <a:pt x="10451" y="214945"/>
                </a:lnTo>
                <a:lnTo>
                  <a:pt x="40810" y="179369"/>
                </a:lnTo>
                <a:lnTo>
                  <a:pt x="89586" y="145882"/>
                </a:lnTo>
                <a:lnTo>
                  <a:pt x="155289" y="114875"/>
                </a:lnTo>
                <a:lnTo>
                  <a:pt x="194023" y="100423"/>
                </a:lnTo>
                <a:lnTo>
                  <a:pt x="236428" y="86737"/>
                </a:lnTo>
                <a:lnTo>
                  <a:pt x="282321" y="73866"/>
                </a:lnTo>
                <a:lnTo>
                  <a:pt x="331512" y="61858"/>
                </a:lnTo>
                <a:lnTo>
                  <a:pt x="383818" y="50763"/>
                </a:lnTo>
                <a:lnTo>
                  <a:pt x="439051" y="40629"/>
                </a:lnTo>
                <a:lnTo>
                  <a:pt x="497024" y="31504"/>
                </a:lnTo>
                <a:lnTo>
                  <a:pt x="557552" y="23438"/>
                </a:lnTo>
                <a:lnTo>
                  <a:pt x="620448" y="16480"/>
                </a:lnTo>
                <a:lnTo>
                  <a:pt x="685526" y="10677"/>
                </a:lnTo>
                <a:lnTo>
                  <a:pt x="752600" y="6079"/>
                </a:lnTo>
                <a:lnTo>
                  <a:pt x="821482" y="2734"/>
                </a:lnTo>
                <a:lnTo>
                  <a:pt x="891988" y="691"/>
                </a:lnTo>
                <a:lnTo>
                  <a:pt x="963929" y="0"/>
                </a:lnTo>
                <a:lnTo>
                  <a:pt x="1035871" y="691"/>
                </a:lnTo>
                <a:lnTo>
                  <a:pt x="1106377" y="2734"/>
                </a:lnTo>
                <a:lnTo>
                  <a:pt x="1175259" y="6079"/>
                </a:lnTo>
                <a:lnTo>
                  <a:pt x="1242333" y="10677"/>
                </a:lnTo>
                <a:lnTo>
                  <a:pt x="1307411" y="16480"/>
                </a:lnTo>
                <a:lnTo>
                  <a:pt x="1370307" y="23438"/>
                </a:lnTo>
                <a:lnTo>
                  <a:pt x="1430835" y="31504"/>
                </a:lnTo>
                <a:lnTo>
                  <a:pt x="1488808" y="40629"/>
                </a:lnTo>
                <a:lnTo>
                  <a:pt x="1544041" y="50763"/>
                </a:lnTo>
                <a:lnTo>
                  <a:pt x="1596347" y="61858"/>
                </a:lnTo>
                <a:lnTo>
                  <a:pt x="1645539" y="73866"/>
                </a:lnTo>
                <a:lnTo>
                  <a:pt x="1691431" y="86737"/>
                </a:lnTo>
                <a:lnTo>
                  <a:pt x="1733836" y="100423"/>
                </a:lnTo>
                <a:lnTo>
                  <a:pt x="1772570" y="114875"/>
                </a:lnTo>
                <a:lnTo>
                  <a:pt x="1838273" y="145882"/>
                </a:lnTo>
                <a:lnTo>
                  <a:pt x="1887049" y="179369"/>
                </a:lnTo>
                <a:lnTo>
                  <a:pt x="1917408" y="214945"/>
                </a:lnTo>
                <a:lnTo>
                  <a:pt x="1927859" y="252222"/>
                </a:lnTo>
                <a:lnTo>
                  <a:pt x="1925216" y="271048"/>
                </a:lnTo>
                <a:lnTo>
                  <a:pt x="1904624" y="307523"/>
                </a:lnTo>
                <a:lnTo>
                  <a:pt x="1864870" y="342103"/>
                </a:lnTo>
                <a:lnTo>
                  <a:pt x="1807444" y="374399"/>
                </a:lnTo>
                <a:lnTo>
                  <a:pt x="1733836" y="404020"/>
                </a:lnTo>
                <a:lnTo>
                  <a:pt x="1691431" y="417706"/>
                </a:lnTo>
                <a:lnTo>
                  <a:pt x="1645538" y="430577"/>
                </a:lnTo>
                <a:lnTo>
                  <a:pt x="1596347" y="442585"/>
                </a:lnTo>
                <a:lnTo>
                  <a:pt x="1544041" y="453680"/>
                </a:lnTo>
                <a:lnTo>
                  <a:pt x="1488808" y="463814"/>
                </a:lnTo>
                <a:lnTo>
                  <a:pt x="1430835" y="472939"/>
                </a:lnTo>
                <a:lnTo>
                  <a:pt x="1370307" y="481005"/>
                </a:lnTo>
                <a:lnTo>
                  <a:pt x="1307411" y="487963"/>
                </a:lnTo>
                <a:lnTo>
                  <a:pt x="1242333" y="493766"/>
                </a:lnTo>
                <a:lnTo>
                  <a:pt x="1175259" y="498364"/>
                </a:lnTo>
                <a:lnTo>
                  <a:pt x="1106377" y="501709"/>
                </a:lnTo>
                <a:lnTo>
                  <a:pt x="1035871" y="503752"/>
                </a:lnTo>
                <a:lnTo>
                  <a:pt x="963929" y="504444"/>
                </a:lnTo>
                <a:lnTo>
                  <a:pt x="891988" y="503752"/>
                </a:lnTo>
                <a:lnTo>
                  <a:pt x="821482" y="501709"/>
                </a:lnTo>
                <a:lnTo>
                  <a:pt x="752600" y="498364"/>
                </a:lnTo>
                <a:lnTo>
                  <a:pt x="685526" y="493766"/>
                </a:lnTo>
                <a:lnTo>
                  <a:pt x="620448" y="487963"/>
                </a:lnTo>
                <a:lnTo>
                  <a:pt x="557552" y="481005"/>
                </a:lnTo>
                <a:lnTo>
                  <a:pt x="497024" y="472939"/>
                </a:lnTo>
                <a:lnTo>
                  <a:pt x="439051" y="463814"/>
                </a:lnTo>
                <a:lnTo>
                  <a:pt x="383818" y="453680"/>
                </a:lnTo>
                <a:lnTo>
                  <a:pt x="331512" y="442585"/>
                </a:lnTo>
                <a:lnTo>
                  <a:pt x="282321" y="430577"/>
                </a:lnTo>
                <a:lnTo>
                  <a:pt x="236428" y="417706"/>
                </a:lnTo>
                <a:lnTo>
                  <a:pt x="194023" y="404020"/>
                </a:lnTo>
                <a:lnTo>
                  <a:pt x="155289" y="389568"/>
                </a:lnTo>
                <a:lnTo>
                  <a:pt x="89586" y="358561"/>
                </a:lnTo>
                <a:lnTo>
                  <a:pt x="40810" y="325074"/>
                </a:lnTo>
                <a:lnTo>
                  <a:pt x="10451" y="289498"/>
                </a:lnTo>
                <a:lnTo>
                  <a:pt x="0" y="252222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09670" y="5163184"/>
            <a:ext cx="1704339" cy="822960"/>
          </a:xfrm>
          <a:custGeom>
            <a:avLst/>
            <a:gdLst/>
            <a:ahLst/>
            <a:cxnLst/>
            <a:rect l="l" t="t" r="r" b="b"/>
            <a:pathLst>
              <a:path w="1704339" h="822960">
                <a:moveTo>
                  <a:pt x="1523589" y="64542"/>
                </a:moveTo>
                <a:lnTo>
                  <a:pt x="0" y="787958"/>
                </a:lnTo>
                <a:lnTo>
                  <a:pt x="16255" y="822375"/>
                </a:lnTo>
                <a:lnTo>
                  <a:pt x="1539937" y="98975"/>
                </a:lnTo>
                <a:lnTo>
                  <a:pt x="1523589" y="64542"/>
                </a:lnTo>
                <a:close/>
              </a:path>
              <a:path w="1704339" h="822960">
                <a:moveTo>
                  <a:pt x="1641429" y="56387"/>
                </a:moveTo>
                <a:lnTo>
                  <a:pt x="1540764" y="56387"/>
                </a:lnTo>
                <a:lnTo>
                  <a:pt x="1557146" y="90804"/>
                </a:lnTo>
                <a:lnTo>
                  <a:pt x="1539937" y="98975"/>
                </a:lnTo>
                <a:lnTo>
                  <a:pt x="1556257" y="133349"/>
                </a:lnTo>
                <a:lnTo>
                  <a:pt x="1641429" y="56387"/>
                </a:lnTo>
                <a:close/>
              </a:path>
              <a:path w="1704339" h="822960">
                <a:moveTo>
                  <a:pt x="1540764" y="56387"/>
                </a:moveTo>
                <a:lnTo>
                  <a:pt x="1523589" y="64542"/>
                </a:lnTo>
                <a:lnTo>
                  <a:pt x="1539937" y="98975"/>
                </a:lnTo>
                <a:lnTo>
                  <a:pt x="1557146" y="90804"/>
                </a:lnTo>
                <a:lnTo>
                  <a:pt x="1540764" y="56387"/>
                </a:lnTo>
                <a:close/>
              </a:path>
              <a:path w="1704339" h="822960">
                <a:moveTo>
                  <a:pt x="1703831" y="0"/>
                </a:moveTo>
                <a:lnTo>
                  <a:pt x="1507235" y="30098"/>
                </a:lnTo>
                <a:lnTo>
                  <a:pt x="1523589" y="64542"/>
                </a:lnTo>
                <a:lnTo>
                  <a:pt x="1540764" y="56387"/>
                </a:lnTo>
                <a:lnTo>
                  <a:pt x="1641429" y="56387"/>
                </a:lnTo>
                <a:lnTo>
                  <a:pt x="1703831" y="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73100" y="3392170"/>
            <a:ext cx="54343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1334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3.	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循环不变量或不变代</a:t>
            </a:r>
            <a:r>
              <a:rPr sz="3200" b="1" u="heavy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码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外提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78025" y="4114241"/>
            <a:ext cx="3158490" cy="18542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133350">
              <a:lnSpc>
                <a:spcPts val="3470"/>
              </a:lnSpc>
              <a:spcBef>
                <a:spcPts val="120"/>
              </a:spcBef>
            </a:pPr>
            <a:r>
              <a:rPr sz="2800" b="1" u="heavy" spc="-1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Before</a:t>
            </a:r>
            <a:r>
              <a:rPr sz="2800" b="1" u="heavy" spc="-6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 =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for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(i=0; i&lt;3;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i++)</a:t>
            </a:r>
            <a:endParaRPr sz="2800">
              <a:latin typeface="Times New Roman"/>
              <a:cs typeface="Times New Roman"/>
            </a:endParaRPr>
          </a:p>
          <a:p>
            <a:pPr marL="367665">
              <a:lnSpc>
                <a:spcPct val="100000"/>
              </a:lnSpc>
              <a:spcBef>
                <a:spcPts val="484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d[i]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b="1" u="heavy" spc="-5" dirty="0">
                <a:solidFill>
                  <a:srgbClr val="FFFF00"/>
                </a:solidFill>
                <a:uFill>
                  <a:solidFill>
                    <a:srgbClr val="FF66FF"/>
                  </a:solidFill>
                </a:uFill>
                <a:latin typeface="Times New Roman"/>
                <a:cs typeface="Times New Roman"/>
              </a:rPr>
              <a:t> 2 * b +</a:t>
            </a:r>
            <a:r>
              <a:rPr sz="2800" b="1" u="heavy" spc="-15" dirty="0">
                <a:solidFill>
                  <a:srgbClr val="FFFF00"/>
                </a:solidFill>
                <a:uFill>
                  <a:solidFill>
                    <a:srgbClr val="FF66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solidFill>
                  <a:srgbClr val="FFFF00"/>
                </a:solidFill>
                <a:uFill>
                  <a:solidFill>
                    <a:srgbClr val="FF66FF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800" b="1" u="heavy" dirty="0">
                <a:solidFill>
                  <a:srgbClr val="FFFFFF"/>
                </a:solidFill>
                <a:uFill>
                  <a:solidFill>
                    <a:srgbClr val="FF66FF"/>
                  </a:solidFill>
                </a:u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82361" y="4144467"/>
            <a:ext cx="2835275" cy="21482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39395" marR="5080" indent="-227329">
              <a:lnSpc>
                <a:spcPts val="3300"/>
              </a:lnSpc>
              <a:spcBef>
                <a:spcPts val="254"/>
              </a:spcBef>
            </a:pPr>
            <a:r>
              <a:rPr sz="2800" b="1" u="heavy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After</a:t>
            </a:r>
            <a:r>
              <a:rPr sz="2800" b="1" u="heavy" spc="-100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 =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c;</a:t>
            </a:r>
            <a:endParaRPr sz="2800">
              <a:latin typeface="Times New Roman"/>
              <a:cs typeface="Times New Roman"/>
            </a:endParaRPr>
          </a:p>
          <a:p>
            <a:pPr marL="244475">
              <a:lnSpc>
                <a:spcPts val="2800"/>
              </a:lnSpc>
            </a:pPr>
            <a:r>
              <a:rPr sz="2800" b="1" spc="-20" dirty="0">
                <a:solidFill>
                  <a:srgbClr val="66FFFF"/>
                </a:solidFill>
                <a:latin typeface="Times New Roman"/>
                <a:cs typeface="Times New Roman"/>
              </a:rPr>
              <a:t>z</a:t>
            </a:r>
            <a:r>
              <a:rPr sz="2800" b="1" spc="-20" dirty="0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2 * b +</a:t>
            </a:r>
            <a:r>
              <a:rPr sz="2800" b="1" spc="2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1;</a:t>
            </a:r>
            <a:endParaRPr sz="280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  <a:spcBef>
                <a:spcPts val="40"/>
              </a:spcBef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for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(i=0;</a:t>
            </a:r>
            <a:r>
              <a:rPr sz="2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i&lt;3;i++)</a:t>
            </a:r>
            <a:endParaRPr sz="2800">
              <a:latin typeface="Times New Roman"/>
              <a:cs typeface="Times New Roman"/>
            </a:endParaRPr>
          </a:p>
          <a:p>
            <a:pPr marL="659130">
              <a:lnSpc>
                <a:spcPct val="100000"/>
              </a:lnSpc>
              <a:spcBef>
                <a:spcPts val="3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d[i] = z</a:t>
            </a:r>
            <a:r>
              <a:rPr sz="2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3756" y="3301746"/>
            <a:ext cx="8418830" cy="0"/>
          </a:xfrm>
          <a:custGeom>
            <a:avLst/>
            <a:gdLst/>
            <a:ahLst/>
            <a:cxnLst/>
            <a:rect l="l" t="t" r="r" b="b"/>
            <a:pathLst>
              <a:path w="8418830">
                <a:moveTo>
                  <a:pt x="0" y="0"/>
                </a:moveTo>
                <a:lnTo>
                  <a:pt x="8418576" y="0"/>
                </a:lnTo>
              </a:path>
            </a:pathLst>
          </a:custGeom>
          <a:ln w="34289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3756" y="3336035"/>
            <a:ext cx="8418830" cy="0"/>
          </a:xfrm>
          <a:custGeom>
            <a:avLst/>
            <a:gdLst/>
            <a:ahLst/>
            <a:cxnLst/>
            <a:rect l="l" t="t" r="r" b="b"/>
            <a:pathLst>
              <a:path w="8418830">
                <a:moveTo>
                  <a:pt x="0" y="0"/>
                </a:moveTo>
                <a:lnTo>
                  <a:pt x="8418576" y="0"/>
                </a:lnTo>
              </a:path>
            </a:pathLst>
          </a:custGeom>
          <a:ln w="11429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5800" y="5967984"/>
            <a:ext cx="635635" cy="274320"/>
          </a:xfrm>
          <a:custGeom>
            <a:avLst/>
            <a:gdLst/>
            <a:ahLst/>
            <a:cxnLst/>
            <a:rect l="l" t="t" r="r" b="b"/>
            <a:pathLst>
              <a:path w="635635" h="274320">
                <a:moveTo>
                  <a:pt x="635508" y="0"/>
                </a:moveTo>
                <a:lnTo>
                  <a:pt x="0" y="0"/>
                </a:lnTo>
                <a:lnTo>
                  <a:pt x="0" y="274319"/>
                </a:lnTo>
                <a:lnTo>
                  <a:pt x="635508" y="274319"/>
                </a:lnTo>
                <a:lnTo>
                  <a:pt x="635508" y="240029"/>
                </a:lnTo>
                <a:lnTo>
                  <a:pt x="214884" y="240029"/>
                </a:lnTo>
                <a:lnTo>
                  <a:pt x="214884" y="34289"/>
                </a:lnTo>
                <a:lnTo>
                  <a:pt x="635508" y="34289"/>
                </a:lnTo>
                <a:lnTo>
                  <a:pt x="635508" y="0"/>
                </a:lnTo>
                <a:close/>
              </a:path>
              <a:path w="635635" h="274320">
                <a:moveTo>
                  <a:pt x="635508" y="34289"/>
                </a:moveTo>
                <a:lnTo>
                  <a:pt x="214884" y="34289"/>
                </a:lnTo>
                <a:lnTo>
                  <a:pt x="420624" y="137159"/>
                </a:lnTo>
                <a:lnTo>
                  <a:pt x="214884" y="240029"/>
                </a:lnTo>
                <a:lnTo>
                  <a:pt x="635508" y="240029"/>
                </a:lnTo>
                <a:lnTo>
                  <a:pt x="635508" y="34289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00683" y="6002273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39">
                <a:moveTo>
                  <a:pt x="0" y="0"/>
                </a:moveTo>
                <a:lnTo>
                  <a:pt x="0" y="205739"/>
                </a:lnTo>
                <a:lnTo>
                  <a:pt x="205740" y="102869"/>
                </a:lnTo>
                <a:lnTo>
                  <a:pt x="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22782" y="5996432"/>
            <a:ext cx="5651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5" dirty="0">
                <a:latin typeface="宋体"/>
                <a:cs typeface="宋体"/>
                <a:hlinkClick r:id="rId3" action="ppaction://hlinksldjump"/>
              </a:rPr>
              <a:t>下一例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11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4248" y="26923"/>
            <a:ext cx="45542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376805" algn="l"/>
                <a:tab pos="288417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述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4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27623" y="26923"/>
            <a:ext cx="2388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75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 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优化技术分类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94791" y="644728"/>
            <a:ext cx="29857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1334" algn="l"/>
              </a:tabLst>
            </a:pP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4.	</a:t>
            </a:r>
            <a:r>
              <a:rPr sz="3200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无用赋值删除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5625" y="1308557"/>
            <a:ext cx="30251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heavy" spc="-1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Before</a:t>
            </a:r>
            <a:r>
              <a:rPr sz="2800" b="1" u="heavy" spc="-5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70557" y="1995042"/>
            <a:ext cx="8801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=</a:t>
            </a:r>
            <a:r>
              <a:rPr sz="28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5;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70557" y="2223642"/>
            <a:ext cx="880110" cy="777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>
              <a:lnSpc>
                <a:spcPts val="296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2960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=</a:t>
            </a:r>
            <a:r>
              <a:rPr sz="28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7;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58485" y="1124556"/>
            <a:ext cx="2830830" cy="1322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4545" marR="5080" indent="-792480">
              <a:lnSpc>
                <a:spcPct val="151900"/>
              </a:lnSpc>
              <a:spcBef>
                <a:spcPts val="100"/>
              </a:spcBef>
            </a:pP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After</a:t>
            </a:r>
            <a:r>
              <a:rPr sz="2800" b="1" u="heavy" spc="-100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= 7;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3474" y="668273"/>
            <a:ext cx="8435340" cy="2705100"/>
          </a:xfrm>
          <a:custGeom>
            <a:avLst/>
            <a:gdLst/>
            <a:ahLst/>
            <a:cxnLst/>
            <a:rect l="l" t="t" r="r" b="b"/>
            <a:pathLst>
              <a:path w="8435340" h="2705100">
                <a:moveTo>
                  <a:pt x="0" y="2705100"/>
                </a:moveTo>
                <a:lnTo>
                  <a:pt x="8435340" y="2705100"/>
                </a:lnTo>
                <a:lnTo>
                  <a:pt x="8435340" y="0"/>
                </a:lnTo>
                <a:lnTo>
                  <a:pt x="0" y="0"/>
                </a:lnTo>
                <a:lnTo>
                  <a:pt x="0" y="27051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8378" y="3417301"/>
            <a:ext cx="3802379" cy="285813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5"/>
              </a:spcBef>
              <a:tabLst>
                <a:tab pos="521334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5.	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无用转移语句删除</a:t>
            </a:r>
            <a:endParaRPr sz="3200">
              <a:latin typeface="宋体"/>
              <a:cs typeface="宋体"/>
            </a:endParaRPr>
          </a:p>
          <a:p>
            <a:pPr marL="1550670" marR="91440" indent="-847725">
              <a:lnSpc>
                <a:spcPts val="3960"/>
              </a:lnSpc>
              <a:spcBef>
                <a:spcPts val="710"/>
              </a:spcBef>
            </a:pPr>
            <a:r>
              <a:rPr sz="2800" b="1" u="heavy" spc="-1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Before</a:t>
            </a:r>
            <a:r>
              <a:rPr sz="2800" b="1" u="heavy" spc="-7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if(x)</a:t>
            </a:r>
            <a:endParaRPr sz="2800">
              <a:latin typeface="Times New Roman"/>
              <a:cs typeface="Times New Roman"/>
            </a:endParaRPr>
          </a:p>
          <a:p>
            <a:pPr marL="1644014">
              <a:lnSpc>
                <a:spcPts val="1939"/>
              </a:lnSpc>
            </a:pP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endParaRPr sz="2800">
              <a:latin typeface="Times New Roman"/>
              <a:cs typeface="Times New Roman"/>
            </a:endParaRPr>
          </a:p>
          <a:p>
            <a:pPr marL="1560195">
              <a:lnSpc>
                <a:spcPts val="3229"/>
              </a:lnSpc>
            </a:pPr>
            <a:r>
              <a:rPr sz="2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else</a:t>
            </a:r>
            <a:r>
              <a:rPr sz="2800" b="1" u="heavy" spc="-25" dirty="0">
                <a:solidFill>
                  <a:srgbClr val="66FFFF"/>
                </a:solidFill>
                <a:uFill>
                  <a:solidFill>
                    <a:srgbClr val="FF66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FF66FF"/>
                  </a:solidFill>
                </a:uFill>
                <a:latin typeface="Times New Roman"/>
                <a:cs typeface="Times New Roman"/>
              </a:rPr>
              <a:t>goto</a:t>
            </a:r>
            <a:r>
              <a:rPr sz="2800" b="1" u="heavy" spc="60" dirty="0">
                <a:solidFill>
                  <a:srgbClr val="66FFFF"/>
                </a:solidFill>
                <a:uFill>
                  <a:solidFill>
                    <a:srgbClr val="FF66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solidFill>
                  <a:srgbClr val="66FFFF"/>
                </a:solidFill>
                <a:uFill>
                  <a:solidFill>
                    <a:srgbClr val="FF66FF"/>
                  </a:solidFill>
                </a:uFill>
                <a:latin typeface="Times New Roman"/>
                <a:cs typeface="Times New Roman"/>
              </a:rPr>
              <a:t>J1</a:t>
            </a:r>
            <a:r>
              <a:rPr sz="2800" b="1" u="heavy" dirty="0">
                <a:solidFill>
                  <a:srgbClr val="FFFFFF"/>
                </a:solidFill>
                <a:uFill>
                  <a:solidFill>
                    <a:srgbClr val="FF66FF"/>
                  </a:solidFill>
                </a:u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848994">
              <a:lnSpc>
                <a:spcPct val="100000"/>
              </a:lnSpc>
              <a:spcBef>
                <a:spcPts val="50"/>
              </a:spcBef>
              <a:tabLst>
                <a:tab pos="1547495" algn="l"/>
              </a:tabLst>
            </a:pPr>
            <a:r>
              <a:rPr sz="4200" b="1" spc="-7" baseline="-2976" dirty="0">
                <a:solidFill>
                  <a:srgbClr val="66FFFF"/>
                </a:solidFill>
                <a:latin typeface="Times New Roman"/>
                <a:cs typeface="Times New Roman"/>
              </a:rPr>
              <a:t>J1:	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goto</a:t>
            </a:r>
            <a:r>
              <a:rPr sz="2800" b="1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J2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1658" y="3595876"/>
            <a:ext cx="8559165" cy="3150235"/>
          </a:xfrm>
          <a:custGeom>
            <a:avLst/>
            <a:gdLst/>
            <a:ahLst/>
            <a:cxnLst/>
            <a:rect l="l" t="t" r="r" b="b"/>
            <a:pathLst>
              <a:path w="8559165" h="3150234">
                <a:moveTo>
                  <a:pt x="0" y="3150108"/>
                </a:moveTo>
                <a:lnTo>
                  <a:pt x="8558784" y="3150108"/>
                </a:lnTo>
                <a:lnTo>
                  <a:pt x="8558784" y="0"/>
                </a:lnTo>
                <a:lnTo>
                  <a:pt x="0" y="0"/>
                </a:lnTo>
                <a:lnTo>
                  <a:pt x="0" y="315010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20436" y="4181083"/>
            <a:ext cx="2830195" cy="1800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6260" marR="5080" indent="-544195">
              <a:lnSpc>
                <a:spcPct val="112500"/>
              </a:lnSpc>
              <a:spcBef>
                <a:spcPts val="100"/>
              </a:spcBef>
            </a:pP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After</a:t>
            </a:r>
            <a:r>
              <a:rPr sz="2800" b="1" u="heavy" spc="-10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if(x)</a:t>
            </a:r>
            <a:endParaRPr sz="2800">
              <a:latin typeface="Times New Roman"/>
              <a:cs typeface="Times New Roman"/>
            </a:endParaRPr>
          </a:p>
          <a:p>
            <a:pPr marL="822960">
              <a:lnSpc>
                <a:spcPts val="3025"/>
              </a:lnSpc>
            </a:pP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endParaRPr sz="2800">
              <a:latin typeface="Times New Roman"/>
              <a:cs typeface="Times New Roman"/>
            </a:endParaRPr>
          </a:p>
          <a:p>
            <a:pPr marL="784860">
              <a:lnSpc>
                <a:spcPct val="100000"/>
              </a:lnSpc>
              <a:spcBef>
                <a:spcPts val="2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else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goto</a:t>
            </a:r>
            <a:r>
              <a:rPr sz="2800" b="1" spc="-4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J2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87602" y="6322314"/>
            <a:ext cx="1915795" cy="0"/>
          </a:xfrm>
          <a:custGeom>
            <a:avLst/>
            <a:gdLst/>
            <a:ahLst/>
            <a:cxnLst/>
            <a:rect l="l" t="t" r="r" b="b"/>
            <a:pathLst>
              <a:path w="1915795">
                <a:moveTo>
                  <a:pt x="0" y="0"/>
                </a:moveTo>
                <a:lnTo>
                  <a:pt x="1915668" y="0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12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4248" y="26923"/>
            <a:ext cx="1692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8607" y="26923"/>
            <a:ext cx="21901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述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4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27623" y="26923"/>
            <a:ext cx="2388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75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 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优化技术分类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3702" y="1099820"/>
            <a:ext cx="25768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1334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6.	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死代码删除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0403" y="1897913"/>
            <a:ext cx="3025140" cy="99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0" marR="5080" indent="-629285">
              <a:lnSpc>
                <a:spcPct val="113799"/>
              </a:lnSpc>
              <a:spcBef>
                <a:spcPts val="100"/>
              </a:spcBef>
            </a:pPr>
            <a:r>
              <a:rPr sz="2800" b="1" u="heavy" spc="-1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Before</a:t>
            </a:r>
            <a:r>
              <a:rPr sz="2800" b="1" u="heavy" spc="-7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char</a:t>
            </a:r>
            <a:r>
              <a:rPr sz="28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09413" y="1765960"/>
            <a:ext cx="2830195" cy="1264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7550" marR="5080" indent="-705485">
              <a:lnSpc>
                <a:spcPct val="145100"/>
              </a:lnSpc>
              <a:spcBef>
                <a:spcPts val="100"/>
              </a:spcBef>
            </a:pP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After</a:t>
            </a:r>
            <a:r>
              <a:rPr sz="2800" b="1" u="heavy" spc="-110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= 2;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3474" y="1026413"/>
            <a:ext cx="8435340" cy="3883660"/>
          </a:xfrm>
          <a:custGeom>
            <a:avLst/>
            <a:gdLst/>
            <a:ahLst/>
            <a:cxnLst/>
            <a:rect l="l" t="t" r="r" b="b"/>
            <a:pathLst>
              <a:path w="8435340" h="3883660">
                <a:moveTo>
                  <a:pt x="0" y="3883152"/>
                </a:moveTo>
                <a:lnTo>
                  <a:pt x="8435340" y="3883152"/>
                </a:lnTo>
                <a:lnTo>
                  <a:pt x="8435340" y="0"/>
                </a:lnTo>
                <a:lnTo>
                  <a:pt x="0" y="0"/>
                </a:lnTo>
                <a:lnTo>
                  <a:pt x="0" y="388315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43861" y="2882645"/>
            <a:ext cx="1981200" cy="661670"/>
          </a:xfrm>
          <a:custGeom>
            <a:avLst/>
            <a:gdLst/>
            <a:ahLst/>
            <a:cxnLst/>
            <a:rect l="l" t="t" r="r" b="b"/>
            <a:pathLst>
              <a:path w="1981200" h="661670">
                <a:moveTo>
                  <a:pt x="0" y="330707"/>
                </a:moveTo>
                <a:lnTo>
                  <a:pt x="9042" y="285836"/>
                </a:lnTo>
                <a:lnTo>
                  <a:pt x="35383" y="242799"/>
                </a:lnTo>
                <a:lnTo>
                  <a:pt x="77843" y="201989"/>
                </a:lnTo>
                <a:lnTo>
                  <a:pt x="135240" y="163801"/>
                </a:lnTo>
                <a:lnTo>
                  <a:pt x="169172" y="145814"/>
                </a:lnTo>
                <a:lnTo>
                  <a:pt x="206397" y="128630"/>
                </a:lnTo>
                <a:lnTo>
                  <a:pt x="246765" y="112298"/>
                </a:lnTo>
                <a:lnTo>
                  <a:pt x="290131" y="96869"/>
                </a:lnTo>
                <a:lnTo>
                  <a:pt x="336346" y="82390"/>
                </a:lnTo>
                <a:lnTo>
                  <a:pt x="385264" y="68912"/>
                </a:lnTo>
                <a:lnTo>
                  <a:pt x="436736" y="56484"/>
                </a:lnTo>
                <a:lnTo>
                  <a:pt x="490615" y="45155"/>
                </a:lnTo>
                <a:lnTo>
                  <a:pt x="546753" y="34974"/>
                </a:lnTo>
                <a:lnTo>
                  <a:pt x="605004" y="25991"/>
                </a:lnTo>
                <a:lnTo>
                  <a:pt x="665219" y="18254"/>
                </a:lnTo>
                <a:lnTo>
                  <a:pt x="727251" y="11814"/>
                </a:lnTo>
                <a:lnTo>
                  <a:pt x="790953" y="6719"/>
                </a:lnTo>
                <a:lnTo>
                  <a:pt x="856176" y="3019"/>
                </a:lnTo>
                <a:lnTo>
                  <a:pt x="922774" y="763"/>
                </a:lnTo>
                <a:lnTo>
                  <a:pt x="990600" y="0"/>
                </a:lnTo>
                <a:lnTo>
                  <a:pt x="1058425" y="763"/>
                </a:lnTo>
                <a:lnTo>
                  <a:pt x="1125023" y="3019"/>
                </a:lnTo>
                <a:lnTo>
                  <a:pt x="1190246" y="6719"/>
                </a:lnTo>
                <a:lnTo>
                  <a:pt x="1253948" y="11814"/>
                </a:lnTo>
                <a:lnTo>
                  <a:pt x="1315980" y="18254"/>
                </a:lnTo>
                <a:lnTo>
                  <a:pt x="1376195" y="25991"/>
                </a:lnTo>
                <a:lnTo>
                  <a:pt x="1434446" y="34974"/>
                </a:lnTo>
                <a:lnTo>
                  <a:pt x="1490584" y="45155"/>
                </a:lnTo>
                <a:lnTo>
                  <a:pt x="1544463" y="56484"/>
                </a:lnTo>
                <a:lnTo>
                  <a:pt x="1595935" y="68912"/>
                </a:lnTo>
                <a:lnTo>
                  <a:pt x="1644853" y="82390"/>
                </a:lnTo>
                <a:lnTo>
                  <a:pt x="1691068" y="96869"/>
                </a:lnTo>
                <a:lnTo>
                  <a:pt x="1734434" y="112298"/>
                </a:lnTo>
                <a:lnTo>
                  <a:pt x="1774802" y="128630"/>
                </a:lnTo>
                <a:lnTo>
                  <a:pt x="1812027" y="145814"/>
                </a:lnTo>
                <a:lnTo>
                  <a:pt x="1845959" y="163801"/>
                </a:lnTo>
                <a:lnTo>
                  <a:pt x="1903356" y="201989"/>
                </a:lnTo>
                <a:lnTo>
                  <a:pt x="1945816" y="242799"/>
                </a:lnTo>
                <a:lnTo>
                  <a:pt x="1972157" y="285836"/>
                </a:lnTo>
                <a:lnTo>
                  <a:pt x="1981200" y="330707"/>
                </a:lnTo>
                <a:lnTo>
                  <a:pt x="1978914" y="353348"/>
                </a:lnTo>
                <a:lnTo>
                  <a:pt x="1961075" y="397351"/>
                </a:lnTo>
                <a:lnTo>
                  <a:pt x="1926527" y="439324"/>
                </a:lnTo>
                <a:lnTo>
                  <a:pt x="1876451" y="478872"/>
                </a:lnTo>
                <a:lnTo>
                  <a:pt x="1812027" y="515601"/>
                </a:lnTo>
                <a:lnTo>
                  <a:pt x="1774802" y="532785"/>
                </a:lnTo>
                <a:lnTo>
                  <a:pt x="1734434" y="549117"/>
                </a:lnTo>
                <a:lnTo>
                  <a:pt x="1691068" y="564546"/>
                </a:lnTo>
                <a:lnTo>
                  <a:pt x="1644853" y="579025"/>
                </a:lnTo>
                <a:lnTo>
                  <a:pt x="1595935" y="592503"/>
                </a:lnTo>
                <a:lnTo>
                  <a:pt x="1544463" y="604931"/>
                </a:lnTo>
                <a:lnTo>
                  <a:pt x="1490584" y="616260"/>
                </a:lnTo>
                <a:lnTo>
                  <a:pt x="1434446" y="626441"/>
                </a:lnTo>
                <a:lnTo>
                  <a:pt x="1376195" y="635424"/>
                </a:lnTo>
                <a:lnTo>
                  <a:pt x="1315980" y="643161"/>
                </a:lnTo>
                <a:lnTo>
                  <a:pt x="1253948" y="649601"/>
                </a:lnTo>
                <a:lnTo>
                  <a:pt x="1190246" y="654696"/>
                </a:lnTo>
                <a:lnTo>
                  <a:pt x="1125023" y="658396"/>
                </a:lnTo>
                <a:lnTo>
                  <a:pt x="1058425" y="660652"/>
                </a:lnTo>
                <a:lnTo>
                  <a:pt x="990600" y="661415"/>
                </a:lnTo>
                <a:lnTo>
                  <a:pt x="922774" y="660652"/>
                </a:lnTo>
                <a:lnTo>
                  <a:pt x="856176" y="658396"/>
                </a:lnTo>
                <a:lnTo>
                  <a:pt x="790953" y="654696"/>
                </a:lnTo>
                <a:lnTo>
                  <a:pt x="727251" y="649601"/>
                </a:lnTo>
                <a:lnTo>
                  <a:pt x="665219" y="643161"/>
                </a:lnTo>
                <a:lnTo>
                  <a:pt x="605004" y="635424"/>
                </a:lnTo>
                <a:lnTo>
                  <a:pt x="546753" y="626441"/>
                </a:lnTo>
                <a:lnTo>
                  <a:pt x="490615" y="616260"/>
                </a:lnTo>
                <a:lnTo>
                  <a:pt x="436736" y="604931"/>
                </a:lnTo>
                <a:lnTo>
                  <a:pt x="385264" y="592503"/>
                </a:lnTo>
                <a:lnTo>
                  <a:pt x="336346" y="579025"/>
                </a:lnTo>
                <a:lnTo>
                  <a:pt x="290131" y="564546"/>
                </a:lnTo>
                <a:lnTo>
                  <a:pt x="246765" y="549117"/>
                </a:lnTo>
                <a:lnTo>
                  <a:pt x="206397" y="532785"/>
                </a:lnTo>
                <a:lnTo>
                  <a:pt x="169172" y="515601"/>
                </a:lnTo>
                <a:lnTo>
                  <a:pt x="135240" y="497614"/>
                </a:lnTo>
                <a:lnTo>
                  <a:pt x="77843" y="459426"/>
                </a:lnTo>
                <a:lnTo>
                  <a:pt x="35383" y="418616"/>
                </a:lnTo>
                <a:lnTo>
                  <a:pt x="9042" y="375579"/>
                </a:lnTo>
                <a:lnTo>
                  <a:pt x="0" y="330707"/>
                </a:lnTo>
                <a:close/>
              </a:path>
            </a:pathLst>
          </a:custGeom>
          <a:ln w="38100">
            <a:solidFill>
              <a:srgbClr val="FF7B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40023" y="4576445"/>
            <a:ext cx="1300480" cy="1365885"/>
          </a:xfrm>
          <a:custGeom>
            <a:avLst/>
            <a:gdLst/>
            <a:ahLst/>
            <a:cxnLst/>
            <a:rect l="l" t="t" r="r" b="b"/>
            <a:pathLst>
              <a:path w="1300479" h="1365885">
                <a:moveTo>
                  <a:pt x="433324" y="334771"/>
                </a:moveTo>
                <a:lnTo>
                  <a:pt x="0" y="901953"/>
                </a:lnTo>
                <a:lnTo>
                  <a:pt x="433324" y="1365872"/>
                </a:lnTo>
                <a:lnTo>
                  <a:pt x="433324" y="1108100"/>
                </a:lnTo>
                <a:lnTo>
                  <a:pt x="488568" y="1093578"/>
                </a:lnTo>
                <a:lnTo>
                  <a:pt x="542328" y="1077502"/>
                </a:lnTo>
                <a:lnTo>
                  <a:pt x="594566" y="1059923"/>
                </a:lnTo>
                <a:lnTo>
                  <a:pt x="645248" y="1040889"/>
                </a:lnTo>
                <a:lnTo>
                  <a:pt x="694337" y="1020451"/>
                </a:lnTo>
                <a:lnTo>
                  <a:pt x="741795" y="998658"/>
                </a:lnTo>
                <a:lnTo>
                  <a:pt x="787587" y="975559"/>
                </a:lnTo>
                <a:lnTo>
                  <a:pt x="831677" y="951205"/>
                </a:lnTo>
                <a:lnTo>
                  <a:pt x="874028" y="925644"/>
                </a:lnTo>
                <a:lnTo>
                  <a:pt x="914604" y="898926"/>
                </a:lnTo>
                <a:lnTo>
                  <a:pt x="953368" y="871101"/>
                </a:lnTo>
                <a:lnTo>
                  <a:pt x="990284" y="842219"/>
                </a:lnTo>
                <a:lnTo>
                  <a:pt x="1025316" y="812328"/>
                </a:lnTo>
                <a:lnTo>
                  <a:pt x="1058428" y="781479"/>
                </a:lnTo>
                <a:lnTo>
                  <a:pt x="1089582" y="749720"/>
                </a:lnTo>
                <a:lnTo>
                  <a:pt x="1118743" y="717103"/>
                </a:lnTo>
                <a:lnTo>
                  <a:pt x="1145875" y="683675"/>
                </a:lnTo>
                <a:lnTo>
                  <a:pt x="1170940" y="649487"/>
                </a:lnTo>
                <a:lnTo>
                  <a:pt x="1193904" y="614589"/>
                </a:lnTo>
                <a:lnTo>
                  <a:pt x="1206792" y="592581"/>
                </a:lnTo>
                <a:lnTo>
                  <a:pt x="433324" y="592581"/>
                </a:lnTo>
                <a:lnTo>
                  <a:pt x="433324" y="334771"/>
                </a:lnTo>
                <a:close/>
              </a:path>
              <a:path w="1300479" h="1365885">
                <a:moveTo>
                  <a:pt x="1245742" y="0"/>
                </a:moveTo>
                <a:lnTo>
                  <a:pt x="1227543" y="39072"/>
                </a:lnTo>
                <a:lnTo>
                  <a:pt x="1206913" y="77338"/>
                </a:lnTo>
                <a:lnTo>
                  <a:pt x="1183911" y="114754"/>
                </a:lnTo>
                <a:lnTo>
                  <a:pt x="1158599" y="151276"/>
                </a:lnTo>
                <a:lnTo>
                  <a:pt x="1131038" y="186859"/>
                </a:lnTo>
                <a:lnTo>
                  <a:pt x="1101286" y="221460"/>
                </a:lnTo>
                <a:lnTo>
                  <a:pt x="1069405" y="255034"/>
                </a:lnTo>
                <a:lnTo>
                  <a:pt x="1035456" y="287538"/>
                </a:lnTo>
                <a:lnTo>
                  <a:pt x="999498" y="318926"/>
                </a:lnTo>
                <a:lnTo>
                  <a:pt x="961591" y="349156"/>
                </a:lnTo>
                <a:lnTo>
                  <a:pt x="921798" y="378183"/>
                </a:lnTo>
                <a:lnTo>
                  <a:pt x="880177" y="405963"/>
                </a:lnTo>
                <a:lnTo>
                  <a:pt x="836788" y="432451"/>
                </a:lnTo>
                <a:lnTo>
                  <a:pt x="791694" y="457604"/>
                </a:lnTo>
                <a:lnTo>
                  <a:pt x="744953" y="481378"/>
                </a:lnTo>
                <a:lnTo>
                  <a:pt x="696627" y="503728"/>
                </a:lnTo>
                <a:lnTo>
                  <a:pt x="646775" y="524610"/>
                </a:lnTo>
                <a:lnTo>
                  <a:pt x="595459" y="543981"/>
                </a:lnTo>
                <a:lnTo>
                  <a:pt x="542738" y="561796"/>
                </a:lnTo>
                <a:lnTo>
                  <a:pt x="488672" y="578011"/>
                </a:lnTo>
                <a:lnTo>
                  <a:pt x="433324" y="592581"/>
                </a:lnTo>
                <a:lnTo>
                  <a:pt x="1206792" y="592581"/>
                </a:lnTo>
                <a:lnTo>
                  <a:pt x="1233378" y="542858"/>
                </a:lnTo>
                <a:lnTo>
                  <a:pt x="1249816" y="506125"/>
                </a:lnTo>
                <a:lnTo>
                  <a:pt x="1264007" y="468879"/>
                </a:lnTo>
                <a:lnTo>
                  <a:pt x="1275913" y="431170"/>
                </a:lnTo>
                <a:lnTo>
                  <a:pt x="1285499" y="393048"/>
                </a:lnTo>
                <a:lnTo>
                  <a:pt x="1292728" y="354563"/>
                </a:lnTo>
                <a:lnTo>
                  <a:pt x="1297565" y="315763"/>
                </a:lnTo>
                <a:lnTo>
                  <a:pt x="1299971" y="276698"/>
                </a:lnTo>
                <a:lnTo>
                  <a:pt x="1299913" y="237418"/>
                </a:lnTo>
                <a:lnTo>
                  <a:pt x="1297352" y="197973"/>
                </a:lnTo>
                <a:lnTo>
                  <a:pt x="1292252" y="158412"/>
                </a:lnTo>
                <a:lnTo>
                  <a:pt x="1284578" y="118785"/>
                </a:lnTo>
                <a:lnTo>
                  <a:pt x="1274292" y="79140"/>
                </a:lnTo>
                <a:lnTo>
                  <a:pt x="1261359" y="39529"/>
                </a:lnTo>
                <a:lnTo>
                  <a:pt x="1245742" y="0"/>
                </a:lnTo>
                <a:close/>
              </a:path>
            </a:pathLst>
          </a:custGeom>
          <a:solidFill>
            <a:srgbClr val="FFFF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40023" y="3416808"/>
            <a:ext cx="1300480" cy="1417955"/>
          </a:xfrm>
          <a:custGeom>
            <a:avLst/>
            <a:gdLst/>
            <a:ahLst/>
            <a:cxnLst/>
            <a:rect l="l" t="t" r="r" b="b"/>
            <a:pathLst>
              <a:path w="1300479" h="1417954">
                <a:moveTo>
                  <a:pt x="0" y="0"/>
                </a:moveTo>
                <a:lnTo>
                  <a:pt x="0" y="515492"/>
                </a:lnTo>
                <a:lnTo>
                  <a:pt x="56388" y="516326"/>
                </a:lnTo>
                <a:lnTo>
                  <a:pt x="112163" y="518804"/>
                </a:lnTo>
                <a:lnTo>
                  <a:pt x="167275" y="522892"/>
                </a:lnTo>
                <a:lnTo>
                  <a:pt x="221677" y="528556"/>
                </a:lnTo>
                <a:lnTo>
                  <a:pt x="275319" y="535763"/>
                </a:lnTo>
                <a:lnTo>
                  <a:pt x="328152" y="544479"/>
                </a:lnTo>
                <a:lnTo>
                  <a:pt x="380128" y="554670"/>
                </a:lnTo>
                <a:lnTo>
                  <a:pt x="431198" y="566302"/>
                </a:lnTo>
                <a:lnTo>
                  <a:pt x="481313" y="579342"/>
                </a:lnTo>
                <a:lnTo>
                  <a:pt x="530424" y="593754"/>
                </a:lnTo>
                <a:lnTo>
                  <a:pt x="578483" y="609506"/>
                </a:lnTo>
                <a:lnTo>
                  <a:pt x="625441" y="626564"/>
                </a:lnTo>
                <a:lnTo>
                  <a:pt x="671248" y="644894"/>
                </a:lnTo>
                <a:lnTo>
                  <a:pt x="715857" y="664462"/>
                </a:lnTo>
                <a:lnTo>
                  <a:pt x="759218" y="685233"/>
                </a:lnTo>
                <a:lnTo>
                  <a:pt x="801282" y="707175"/>
                </a:lnTo>
                <a:lnTo>
                  <a:pt x="842002" y="730254"/>
                </a:lnTo>
                <a:lnTo>
                  <a:pt x="881327" y="754435"/>
                </a:lnTo>
                <a:lnTo>
                  <a:pt x="919210" y="779684"/>
                </a:lnTo>
                <a:lnTo>
                  <a:pt x="955601" y="805969"/>
                </a:lnTo>
                <a:lnTo>
                  <a:pt x="990451" y="833254"/>
                </a:lnTo>
                <a:lnTo>
                  <a:pt x="1023713" y="861507"/>
                </a:lnTo>
                <a:lnTo>
                  <a:pt x="1055337" y="890692"/>
                </a:lnTo>
                <a:lnTo>
                  <a:pt x="1085274" y="920777"/>
                </a:lnTo>
                <a:lnTo>
                  <a:pt x="1113476" y="951728"/>
                </a:lnTo>
                <a:lnTo>
                  <a:pt x="1139893" y="983510"/>
                </a:lnTo>
                <a:lnTo>
                  <a:pt x="1164477" y="1016091"/>
                </a:lnTo>
                <a:lnTo>
                  <a:pt x="1187180" y="1049435"/>
                </a:lnTo>
                <a:lnTo>
                  <a:pt x="1207951" y="1083509"/>
                </a:lnTo>
                <a:lnTo>
                  <a:pt x="1226744" y="1118280"/>
                </a:lnTo>
                <a:lnTo>
                  <a:pt x="1243508" y="1153713"/>
                </a:lnTo>
                <a:lnTo>
                  <a:pt x="1258196" y="1189774"/>
                </a:lnTo>
                <a:lnTo>
                  <a:pt x="1270757" y="1226430"/>
                </a:lnTo>
                <a:lnTo>
                  <a:pt x="1281144" y="1263647"/>
                </a:lnTo>
                <a:lnTo>
                  <a:pt x="1289308" y="1301391"/>
                </a:lnTo>
                <a:lnTo>
                  <a:pt x="1295200" y="1339628"/>
                </a:lnTo>
                <a:lnTo>
                  <a:pt x="1298770" y="1378325"/>
                </a:lnTo>
                <a:lnTo>
                  <a:pt x="1299972" y="1417446"/>
                </a:lnTo>
                <a:lnTo>
                  <a:pt x="1299972" y="901826"/>
                </a:lnTo>
                <a:lnTo>
                  <a:pt x="1298770" y="862705"/>
                </a:lnTo>
                <a:lnTo>
                  <a:pt x="1295200" y="824009"/>
                </a:lnTo>
                <a:lnTo>
                  <a:pt x="1289308" y="785773"/>
                </a:lnTo>
                <a:lnTo>
                  <a:pt x="1281144" y="748031"/>
                </a:lnTo>
                <a:lnTo>
                  <a:pt x="1270757" y="710816"/>
                </a:lnTo>
                <a:lnTo>
                  <a:pt x="1258196" y="674163"/>
                </a:lnTo>
                <a:lnTo>
                  <a:pt x="1243508" y="638104"/>
                </a:lnTo>
                <a:lnTo>
                  <a:pt x="1226744" y="602674"/>
                </a:lnTo>
                <a:lnTo>
                  <a:pt x="1207951" y="567907"/>
                </a:lnTo>
                <a:lnTo>
                  <a:pt x="1187180" y="533837"/>
                </a:lnTo>
                <a:lnTo>
                  <a:pt x="1164477" y="500496"/>
                </a:lnTo>
                <a:lnTo>
                  <a:pt x="1139893" y="467920"/>
                </a:lnTo>
                <a:lnTo>
                  <a:pt x="1113476" y="436143"/>
                </a:lnTo>
                <a:lnTo>
                  <a:pt x="1085274" y="405196"/>
                </a:lnTo>
                <a:lnTo>
                  <a:pt x="1055337" y="375116"/>
                </a:lnTo>
                <a:lnTo>
                  <a:pt x="1023713" y="345935"/>
                </a:lnTo>
                <a:lnTo>
                  <a:pt x="990451" y="317688"/>
                </a:lnTo>
                <a:lnTo>
                  <a:pt x="955601" y="290407"/>
                </a:lnTo>
                <a:lnTo>
                  <a:pt x="919210" y="264128"/>
                </a:lnTo>
                <a:lnTo>
                  <a:pt x="881327" y="238883"/>
                </a:lnTo>
                <a:lnTo>
                  <a:pt x="842002" y="214707"/>
                </a:lnTo>
                <a:lnTo>
                  <a:pt x="801282" y="191634"/>
                </a:lnTo>
                <a:lnTo>
                  <a:pt x="759218" y="169697"/>
                </a:lnTo>
                <a:lnTo>
                  <a:pt x="715857" y="148930"/>
                </a:lnTo>
                <a:lnTo>
                  <a:pt x="671248" y="129367"/>
                </a:lnTo>
                <a:lnTo>
                  <a:pt x="625441" y="111041"/>
                </a:lnTo>
                <a:lnTo>
                  <a:pt x="578483" y="93988"/>
                </a:lnTo>
                <a:lnTo>
                  <a:pt x="530424" y="78239"/>
                </a:lnTo>
                <a:lnTo>
                  <a:pt x="481313" y="63831"/>
                </a:lnTo>
                <a:lnTo>
                  <a:pt x="431198" y="50795"/>
                </a:lnTo>
                <a:lnTo>
                  <a:pt x="380128" y="39166"/>
                </a:lnTo>
                <a:lnTo>
                  <a:pt x="328152" y="28978"/>
                </a:lnTo>
                <a:lnTo>
                  <a:pt x="275319" y="20264"/>
                </a:lnTo>
                <a:lnTo>
                  <a:pt x="221677" y="13059"/>
                </a:lnTo>
                <a:lnTo>
                  <a:pt x="167275" y="7396"/>
                </a:lnTo>
                <a:lnTo>
                  <a:pt x="112163" y="3310"/>
                </a:lnTo>
                <a:lnTo>
                  <a:pt x="56388" y="833"/>
                </a:lnTo>
                <a:lnTo>
                  <a:pt x="0" y="0"/>
                </a:lnTo>
                <a:close/>
              </a:path>
            </a:pathLst>
          </a:custGeom>
          <a:solidFill>
            <a:srgbClr val="CDCD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92554" y="2954527"/>
            <a:ext cx="2659380" cy="2742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ts val="3490"/>
              </a:lnSpc>
              <a:spcBef>
                <a:spcPts val="100"/>
              </a:spcBef>
              <a:tabLst>
                <a:tab pos="407034" algn="l"/>
              </a:tabLst>
            </a:pPr>
            <a:r>
              <a:rPr sz="4200" b="1" spc="-7" baseline="1984" dirty="0">
                <a:solidFill>
                  <a:srgbClr val="FFFFFF"/>
                </a:solidFill>
                <a:latin typeface="Times New Roman"/>
                <a:cs typeface="Times New Roman"/>
              </a:rPr>
              <a:t>if	</a:t>
            </a:r>
            <a:r>
              <a:rPr sz="4200" b="1" spc="-7" baseline="1984" dirty="0">
                <a:solidFill>
                  <a:srgbClr val="FFFF00"/>
                </a:solidFill>
                <a:latin typeface="Times New Roman"/>
                <a:cs typeface="Times New Roman"/>
              </a:rPr>
              <a:t>(c &gt; 300)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=</a:t>
            </a:r>
            <a:r>
              <a:rPr sz="2800" b="1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1;  else</a:t>
            </a:r>
            <a:endParaRPr sz="2800">
              <a:latin typeface="Times New Roman"/>
              <a:cs typeface="Times New Roman"/>
            </a:endParaRPr>
          </a:p>
          <a:p>
            <a:pPr marL="367665">
              <a:lnSpc>
                <a:spcPct val="100000"/>
              </a:lnSpc>
              <a:spcBef>
                <a:spcPts val="83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= 2 ;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0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永假式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13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4248" y="26923"/>
            <a:ext cx="45542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376805" algn="l"/>
                <a:tab pos="288417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述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4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27623" y="26923"/>
            <a:ext cx="2388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75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 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优化技术分类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3702" y="759028"/>
            <a:ext cx="21685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1334" algn="l"/>
              </a:tabLst>
            </a:pP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7.	</a:t>
            </a:r>
            <a:r>
              <a:rPr sz="3200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函数内嵌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2803" y="1489963"/>
            <a:ext cx="30251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heavy" spc="-1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Before</a:t>
            </a:r>
            <a:r>
              <a:rPr sz="2800" b="1" u="heavy" spc="-6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09413" y="1496313"/>
            <a:ext cx="2830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After</a:t>
            </a:r>
            <a:r>
              <a:rPr sz="2800" b="1" u="heavy" spc="-10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3474" y="747522"/>
            <a:ext cx="8435340" cy="5692140"/>
          </a:xfrm>
          <a:custGeom>
            <a:avLst/>
            <a:gdLst/>
            <a:ahLst/>
            <a:cxnLst/>
            <a:rect l="l" t="t" r="r" b="b"/>
            <a:pathLst>
              <a:path w="8435340" h="5692140">
                <a:moveTo>
                  <a:pt x="0" y="5692140"/>
                </a:moveTo>
                <a:lnTo>
                  <a:pt x="8435340" y="5692140"/>
                </a:lnTo>
                <a:lnTo>
                  <a:pt x="843534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04366" y="2047392"/>
            <a:ext cx="2775585" cy="92201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int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Check(int</a:t>
            </a:r>
            <a:r>
              <a:rPr sz="2800" b="1" spc="-4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x)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279400">
              <a:lnSpc>
                <a:spcPct val="100000"/>
              </a:lnSpc>
              <a:spcBef>
                <a:spcPts val="170"/>
              </a:spcBef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8122" y="2965145"/>
            <a:ext cx="25152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70305" algn="l"/>
              </a:tabLst>
            </a:pPr>
            <a:r>
              <a:rPr sz="2800" b="1" spc="-60" dirty="0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eturn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sz="28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&gt;1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0)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82649" y="3391941"/>
            <a:ext cx="1774825" cy="92201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265"/>
              </a:spcBef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void</a:t>
            </a:r>
            <a:r>
              <a:rPr sz="28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main()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71422" y="4309694"/>
            <a:ext cx="165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71422" y="4736363"/>
            <a:ext cx="2294890" cy="1369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4365" marR="5080" indent="-177165">
              <a:lnSpc>
                <a:spcPct val="105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8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check(y)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  a=5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00853" y="2115890"/>
            <a:ext cx="2106295" cy="269430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void</a:t>
            </a:r>
            <a:r>
              <a:rPr sz="2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main()</a:t>
            </a:r>
            <a:endParaRPr sz="280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84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991235" marR="5080" indent="-179070">
              <a:lnSpc>
                <a:spcPts val="4240"/>
              </a:lnSpc>
              <a:spcBef>
                <a:spcPts val="24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(y&gt;10) 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a=5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457200">
              <a:lnSpc>
                <a:spcPct val="100000"/>
              </a:lnSpc>
              <a:spcBef>
                <a:spcPts val="51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26997" y="2113026"/>
            <a:ext cx="3025140" cy="1821180"/>
          </a:xfrm>
          <a:custGeom>
            <a:avLst/>
            <a:gdLst/>
            <a:ahLst/>
            <a:cxnLst/>
            <a:rect l="l" t="t" r="r" b="b"/>
            <a:pathLst>
              <a:path w="3025140" h="1821179">
                <a:moveTo>
                  <a:pt x="0" y="1821180"/>
                </a:moveTo>
                <a:lnTo>
                  <a:pt x="3025140" y="1821180"/>
                </a:lnTo>
                <a:lnTo>
                  <a:pt x="3025140" y="0"/>
                </a:lnTo>
                <a:lnTo>
                  <a:pt x="0" y="0"/>
                </a:lnTo>
                <a:lnTo>
                  <a:pt x="0" y="1821180"/>
                </a:lnTo>
                <a:close/>
              </a:path>
            </a:pathLst>
          </a:custGeom>
          <a:ln w="38100">
            <a:solidFill>
              <a:srgbClr val="FF7B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82696" y="3934205"/>
            <a:ext cx="114300" cy="828040"/>
          </a:xfrm>
          <a:custGeom>
            <a:avLst/>
            <a:gdLst/>
            <a:ahLst/>
            <a:cxnLst/>
            <a:rect l="l" t="t" r="r" b="b"/>
            <a:pathLst>
              <a:path w="114300" h="828039">
                <a:moveTo>
                  <a:pt x="38100" y="637032"/>
                </a:moveTo>
                <a:lnTo>
                  <a:pt x="0" y="637032"/>
                </a:lnTo>
                <a:lnTo>
                  <a:pt x="57150" y="827532"/>
                </a:lnTo>
                <a:lnTo>
                  <a:pt x="108585" y="656082"/>
                </a:lnTo>
                <a:lnTo>
                  <a:pt x="38100" y="656082"/>
                </a:lnTo>
                <a:lnTo>
                  <a:pt x="38100" y="637032"/>
                </a:lnTo>
                <a:close/>
              </a:path>
              <a:path w="114300" h="828039">
                <a:moveTo>
                  <a:pt x="76200" y="0"/>
                </a:moveTo>
                <a:lnTo>
                  <a:pt x="38100" y="0"/>
                </a:lnTo>
                <a:lnTo>
                  <a:pt x="38100" y="656082"/>
                </a:lnTo>
                <a:lnTo>
                  <a:pt x="76200" y="656082"/>
                </a:lnTo>
                <a:lnTo>
                  <a:pt x="76200" y="0"/>
                </a:lnTo>
                <a:close/>
              </a:path>
              <a:path w="114300" h="828039">
                <a:moveTo>
                  <a:pt x="114300" y="637032"/>
                </a:moveTo>
                <a:lnTo>
                  <a:pt x="76200" y="637032"/>
                </a:lnTo>
                <a:lnTo>
                  <a:pt x="76200" y="656082"/>
                </a:lnTo>
                <a:lnTo>
                  <a:pt x="108585" y="656082"/>
                </a:lnTo>
                <a:lnTo>
                  <a:pt x="114300" y="637032"/>
                </a:lnTo>
                <a:close/>
              </a:path>
            </a:pathLst>
          </a:custGeom>
          <a:solidFill>
            <a:srgbClr val="FF7B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4248" y="26923"/>
            <a:ext cx="7302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376805" algn="l"/>
                <a:tab pos="2884170" algn="l"/>
                <a:tab pos="4925695" algn="l"/>
                <a:tab pos="575119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述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4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 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优化技术分类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5894" y="606628"/>
            <a:ext cx="54330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1334" algn="l"/>
              </a:tabLst>
            </a:pP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8.	</a:t>
            </a:r>
            <a:r>
              <a:rPr sz="3200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简单循环内的运算强度</a:t>
            </a:r>
            <a:r>
              <a:rPr sz="3200" u="heavy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削</a:t>
            </a:r>
            <a:r>
              <a:rPr sz="3200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弱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9774" y="1116330"/>
            <a:ext cx="3973195" cy="2289175"/>
          </a:xfrm>
          <a:prstGeom prst="rect">
            <a:avLst/>
          </a:prstGeom>
          <a:ln w="38100">
            <a:solidFill>
              <a:srgbClr val="FF7B8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238125" marR="1581150" algn="just">
              <a:lnSpc>
                <a:spcPct val="96200"/>
              </a:lnSpc>
              <a:spcBef>
                <a:spcPts val="675"/>
              </a:spcBef>
            </a:pP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C </a:t>
            </a:r>
            <a:r>
              <a:rPr sz="2800" b="1" u="heavy" spc="-10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source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code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int</a:t>
            </a:r>
            <a:r>
              <a:rPr sz="28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table[100]; 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step =</a:t>
            </a:r>
            <a:r>
              <a:rPr sz="2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1;</a:t>
            </a:r>
            <a:endParaRPr sz="2800">
              <a:latin typeface="Times New Roman"/>
              <a:cs typeface="Times New Roman"/>
            </a:endParaRPr>
          </a:p>
          <a:p>
            <a:pPr marL="238125" marR="191135" algn="just">
              <a:lnSpc>
                <a:spcPts val="2800"/>
              </a:lnSpc>
              <a:spcBef>
                <a:spcPts val="25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for(i=0;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i&lt;100;</a:t>
            </a:r>
            <a:r>
              <a:rPr sz="28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i+=step)  table[i] =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0;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7679" y="3469588"/>
            <a:ext cx="29870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heavy" spc="-10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before</a:t>
            </a:r>
            <a:r>
              <a:rPr sz="2800" b="1" u="heavy" spc="-7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3777" y="4079875"/>
            <a:ext cx="801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 =</a:t>
            </a:r>
            <a:r>
              <a:rPr sz="28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0;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153" y="4416831"/>
            <a:ext cx="3268979" cy="17532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49300" marR="5080" indent="-737235">
              <a:lnSpc>
                <a:spcPct val="99000"/>
              </a:lnSpc>
              <a:spcBef>
                <a:spcPts val="400"/>
              </a:spcBef>
              <a:tabLst>
                <a:tab pos="723265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L1:	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if(i&gt;100)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sz="28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L2 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t1 = i * 4; 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table[t1] =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0; 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i++; goto</a:t>
            </a: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L1;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1574" y="4475226"/>
            <a:ext cx="3473450" cy="1702435"/>
          </a:xfrm>
          <a:custGeom>
            <a:avLst/>
            <a:gdLst/>
            <a:ahLst/>
            <a:cxnLst/>
            <a:rect l="l" t="t" r="r" b="b"/>
            <a:pathLst>
              <a:path w="3473450" h="1702435">
                <a:moveTo>
                  <a:pt x="0" y="1702308"/>
                </a:moveTo>
                <a:lnTo>
                  <a:pt x="3473196" y="1702308"/>
                </a:lnTo>
                <a:lnTo>
                  <a:pt x="3473196" y="0"/>
                </a:lnTo>
                <a:lnTo>
                  <a:pt x="0" y="0"/>
                </a:lnTo>
                <a:lnTo>
                  <a:pt x="0" y="1702308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28317" y="6150965"/>
            <a:ext cx="8153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66FF"/>
                </a:solidFill>
                <a:latin typeface="Times New Roman"/>
                <a:cs typeface="Times New Roman"/>
              </a:rPr>
              <a:t>Loop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96300" y="5311140"/>
            <a:ext cx="489584" cy="276225"/>
          </a:xfrm>
          <a:custGeom>
            <a:avLst/>
            <a:gdLst/>
            <a:ahLst/>
            <a:cxnLst/>
            <a:rect l="l" t="t" r="r" b="b"/>
            <a:pathLst>
              <a:path w="489584" h="276225">
                <a:moveTo>
                  <a:pt x="489203" y="0"/>
                </a:moveTo>
                <a:lnTo>
                  <a:pt x="0" y="0"/>
                </a:lnTo>
                <a:lnTo>
                  <a:pt x="0" y="275844"/>
                </a:lnTo>
                <a:lnTo>
                  <a:pt x="489203" y="275844"/>
                </a:lnTo>
                <a:lnTo>
                  <a:pt x="489203" y="241427"/>
                </a:lnTo>
                <a:lnTo>
                  <a:pt x="141097" y="241427"/>
                </a:lnTo>
                <a:lnTo>
                  <a:pt x="141097" y="34544"/>
                </a:lnTo>
                <a:lnTo>
                  <a:pt x="489203" y="34544"/>
                </a:lnTo>
                <a:lnTo>
                  <a:pt x="489203" y="0"/>
                </a:lnTo>
                <a:close/>
              </a:path>
              <a:path w="489584" h="276225">
                <a:moveTo>
                  <a:pt x="489203" y="34544"/>
                </a:moveTo>
                <a:lnTo>
                  <a:pt x="141097" y="34544"/>
                </a:lnTo>
                <a:lnTo>
                  <a:pt x="347979" y="137922"/>
                </a:lnTo>
                <a:lnTo>
                  <a:pt x="141097" y="241427"/>
                </a:lnTo>
                <a:lnTo>
                  <a:pt x="489203" y="241427"/>
                </a:lnTo>
                <a:lnTo>
                  <a:pt x="489203" y="34544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37396" y="5345684"/>
            <a:ext cx="207010" cy="207010"/>
          </a:xfrm>
          <a:custGeom>
            <a:avLst/>
            <a:gdLst/>
            <a:ahLst/>
            <a:cxnLst/>
            <a:rect l="l" t="t" r="r" b="b"/>
            <a:pathLst>
              <a:path w="207009" h="207010">
                <a:moveTo>
                  <a:pt x="0" y="0"/>
                </a:moveTo>
                <a:lnTo>
                  <a:pt x="0" y="206882"/>
                </a:lnTo>
                <a:lnTo>
                  <a:pt x="206882" y="103377"/>
                </a:lnTo>
                <a:lnTo>
                  <a:pt x="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549767" y="5341111"/>
            <a:ext cx="3854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5" dirty="0">
                <a:latin typeface="宋体"/>
                <a:cs typeface="宋体"/>
                <a:hlinkClick r:id="rId3" action="ppaction://hlinksldjump"/>
              </a:rPr>
              <a:t>返回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10616" y="6324091"/>
            <a:ext cx="558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L2: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07660" y="3326216"/>
            <a:ext cx="3093085" cy="33197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7695" marR="180340" indent="-429259">
              <a:lnSpc>
                <a:spcPct val="129900"/>
              </a:lnSpc>
              <a:spcBef>
                <a:spcPts val="95"/>
              </a:spcBef>
            </a:pPr>
            <a:r>
              <a:rPr sz="2800" b="1" u="heavy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after</a:t>
            </a:r>
            <a:r>
              <a:rPr sz="2800" b="1" u="heavy" spc="-130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 =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0;</a:t>
            </a:r>
            <a:endParaRPr sz="2800">
              <a:latin typeface="Times New Roman"/>
              <a:cs typeface="Times New Roman"/>
            </a:endParaRPr>
          </a:p>
          <a:p>
            <a:pPr marL="549275">
              <a:lnSpc>
                <a:spcPts val="2465"/>
              </a:lnSpc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t1 = i * 4;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25"/>
              </a:lnSpc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L1:if(i&gt;100)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sz="2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L2</a:t>
            </a:r>
            <a:endParaRPr sz="2800">
              <a:latin typeface="Times New Roman"/>
              <a:cs typeface="Times New Roman"/>
            </a:endParaRPr>
          </a:p>
          <a:p>
            <a:pPr marL="556895" marR="523875" indent="-47625">
              <a:lnSpc>
                <a:spcPts val="2960"/>
              </a:lnSpc>
              <a:spcBef>
                <a:spcPts val="52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table[t1] = 0</a:t>
            </a:r>
            <a:r>
              <a:rPr sz="2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; 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t1 =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t1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sz="2800" b="1" spc="-2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4;</a:t>
            </a:r>
            <a:endParaRPr sz="2800">
              <a:latin typeface="Times New Roman"/>
              <a:cs typeface="Times New Roman"/>
            </a:endParaRPr>
          </a:p>
          <a:p>
            <a:pPr marL="556895">
              <a:lnSpc>
                <a:spcPts val="2095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i++;goto L1;</a:t>
            </a:r>
            <a:endParaRPr sz="2800">
              <a:latin typeface="Times New Roman"/>
              <a:cs typeface="Times New Roman"/>
            </a:endParaRPr>
          </a:p>
          <a:p>
            <a:pPr marL="26034">
              <a:lnSpc>
                <a:spcPts val="2985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L2: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4248" y="26923"/>
            <a:ext cx="7302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376805" algn="l"/>
                <a:tab pos="2884170" algn="l"/>
                <a:tab pos="4925695" algn="l"/>
                <a:tab pos="575119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述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4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 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优化技术分类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9422" y="549909"/>
            <a:ext cx="53975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86409" algn="l"/>
              </a:tabLst>
            </a:pP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9.	</a:t>
            </a:r>
            <a:r>
              <a:rPr sz="3200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动态循环内的运算强度</a:t>
            </a:r>
            <a:r>
              <a:rPr sz="3200" u="heavy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削</a:t>
            </a:r>
            <a:r>
              <a:rPr sz="3200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弱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862" y="1116330"/>
            <a:ext cx="4497705" cy="1927860"/>
          </a:xfrm>
          <a:prstGeom prst="rect">
            <a:avLst/>
          </a:prstGeom>
          <a:ln w="38100">
            <a:solidFill>
              <a:srgbClr val="FF7B8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C </a:t>
            </a:r>
            <a:r>
              <a:rPr sz="2800" b="1" u="heavy" spc="-10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source</a:t>
            </a:r>
            <a:r>
              <a:rPr sz="2800" b="1" u="heavy" spc="-10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code</a:t>
            </a:r>
            <a:endParaRPr sz="2800">
              <a:latin typeface="Times New Roman"/>
              <a:cs typeface="Times New Roman"/>
            </a:endParaRPr>
          </a:p>
          <a:p>
            <a:pPr marL="529590" marR="106680" indent="10795">
              <a:lnSpc>
                <a:spcPct val="103099"/>
              </a:lnSpc>
              <a:spcBef>
                <a:spcPts val="96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step =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step_table[1]; 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for(i=0; i&lt;MAX; i+=step)  table[i] =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0;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9002" y="2932328"/>
            <a:ext cx="3427095" cy="148780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46075" marR="5080" indent="-334010">
              <a:lnSpc>
                <a:spcPct val="111200"/>
              </a:lnSpc>
              <a:spcBef>
                <a:spcPts val="400"/>
              </a:spcBef>
            </a:pPr>
            <a:r>
              <a:rPr sz="2800" b="1" u="heavy" spc="-1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before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step =</a:t>
            </a:r>
            <a:r>
              <a:rPr sz="28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step_table[1]; 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 = 0;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9673" y="4420361"/>
            <a:ext cx="3937000" cy="1953895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vert="horz" wrap="square" lIns="0" tIns="185420" rIns="0" bIns="0" rtlCol="0">
            <a:spAutoFit/>
          </a:bodyPr>
          <a:lstStyle/>
          <a:p>
            <a:pPr marL="795655" marR="458470" indent="-797560">
              <a:lnSpc>
                <a:spcPct val="103800"/>
              </a:lnSpc>
              <a:spcBef>
                <a:spcPts val="146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L1: if(i&gt;MAX) goto L2 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t1 = i *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; 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table[t1] =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0;</a:t>
            </a:r>
            <a:endParaRPr sz="2800">
              <a:latin typeface="Times New Roman"/>
              <a:cs typeface="Times New Roman"/>
            </a:endParaRPr>
          </a:p>
          <a:p>
            <a:pPr marL="795655">
              <a:lnSpc>
                <a:spcPct val="100000"/>
              </a:lnSpc>
              <a:spcBef>
                <a:spcPts val="5"/>
              </a:spcBef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i = i +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step;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sz="2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L1;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06490" y="1277874"/>
            <a:ext cx="2786380" cy="1440180"/>
          </a:xfrm>
          <a:custGeom>
            <a:avLst/>
            <a:gdLst/>
            <a:ahLst/>
            <a:cxnLst/>
            <a:rect l="l" t="t" r="r" b="b"/>
            <a:pathLst>
              <a:path w="2786379" h="1440180">
                <a:moveTo>
                  <a:pt x="0" y="1440179"/>
                </a:moveTo>
                <a:lnTo>
                  <a:pt x="2785871" y="1440179"/>
                </a:lnTo>
                <a:lnTo>
                  <a:pt x="2785871" y="0"/>
                </a:lnTo>
                <a:lnTo>
                  <a:pt x="0" y="0"/>
                </a:lnTo>
                <a:lnTo>
                  <a:pt x="0" y="1440179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6490" y="1277874"/>
            <a:ext cx="2786380" cy="1440180"/>
          </a:xfrm>
          <a:custGeom>
            <a:avLst/>
            <a:gdLst/>
            <a:ahLst/>
            <a:cxnLst/>
            <a:rect l="l" t="t" r="r" b="b"/>
            <a:pathLst>
              <a:path w="2786379" h="1440180">
                <a:moveTo>
                  <a:pt x="0" y="1440179"/>
                </a:moveTo>
                <a:lnTo>
                  <a:pt x="2785871" y="1440179"/>
                </a:lnTo>
                <a:lnTo>
                  <a:pt x="2785871" y="0"/>
                </a:lnTo>
                <a:lnTo>
                  <a:pt x="0" y="0"/>
                </a:lnTo>
                <a:lnTo>
                  <a:pt x="0" y="1440179"/>
                </a:lnTo>
                <a:close/>
              </a:path>
            </a:pathLst>
          </a:custGeom>
          <a:ln w="38099">
            <a:solidFill>
              <a:srgbClr val="FFFF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85357" y="1217656"/>
            <a:ext cx="2120265" cy="149923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610"/>
              </a:spcBef>
            </a:pPr>
            <a:r>
              <a:rPr sz="2800" b="1" spc="-5" dirty="0">
                <a:latin typeface="Times New Roman"/>
                <a:cs typeface="Times New Roman"/>
              </a:rPr>
              <a:t>(i +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step)*4</a:t>
            </a:r>
            <a:endParaRPr sz="2800">
              <a:latin typeface="Times New Roman"/>
              <a:cs typeface="Times New Roman"/>
            </a:endParaRPr>
          </a:p>
          <a:p>
            <a:pPr marL="367665" marR="5080" indent="-355600">
              <a:lnSpc>
                <a:spcPct val="114999"/>
              </a:lnSpc>
              <a:tabLst>
                <a:tab pos="1552575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= </a:t>
            </a:r>
            <a:r>
              <a:rPr sz="2800" b="1" dirty="0">
                <a:latin typeface="Times New Roman"/>
                <a:cs typeface="Times New Roman"/>
              </a:rPr>
              <a:t>i*4 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step*4  </a:t>
            </a:r>
            <a:r>
              <a:rPr sz="2800" b="1" spc="-5" dirty="0">
                <a:solidFill>
                  <a:srgbClr val="336699"/>
                </a:solidFill>
                <a:latin typeface="Times New Roman"/>
                <a:cs typeface="Times New Roman"/>
              </a:rPr>
              <a:t>t1	t2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74714" y="2265426"/>
            <a:ext cx="646430" cy="0"/>
          </a:xfrm>
          <a:custGeom>
            <a:avLst/>
            <a:gdLst/>
            <a:ahLst/>
            <a:cxnLst/>
            <a:rect l="l" t="t" r="r" b="b"/>
            <a:pathLst>
              <a:path w="646429">
                <a:moveTo>
                  <a:pt x="0" y="0"/>
                </a:moveTo>
                <a:lnTo>
                  <a:pt x="646176" y="0"/>
                </a:lnTo>
              </a:path>
            </a:pathLst>
          </a:custGeom>
          <a:ln w="38100">
            <a:solidFill>
              <a:srgbClr val="FF7B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83018" y="2247138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38100">
            <a:solidFill>
              <a:srgbClr val="FF7B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0616" y="6324091"/>
            <a:ext cx="558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L2: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16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701285" y="3019170"/>
            <a:ext cx="3499485" cy="3891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7345">
              <a:lnSpc>
                <a:spcPts val="3329"/>
              </a:lnSpc>
              <a:spcBef>
                <a:spcPts val="95"/>
              </a:spcBef>
            </a:pP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after</a:t>
            </a:r>
            <a:r>
              <a:rPr sz="2800" b="1" u="heavy" spc="-6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</a:t>
            </a:r>
            <a:endParaRPr sz="2800">
              <a:latin typeface="Times New Roman"/>
              <a:cs typeface="Times New Roman"/>
            </a:endParaRPr>
          </a:p>
          <a:p>
            <a:pPr marL="623570">
              <a:lnSpc>
                <a:spcPts val="2850"/>
              </a:lnSpc>
            </a:pP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i =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0;</a:t>
            </a:r>
            <a:endParaRPr sz="2600">
              <a:latin typeface="Times New Roman"/>
              <a:cs typeface="Times New Roman"/>
            </a:endParaRPr>
          </a:p>
          <a:p>
            <a:pPr marL="623570">
              <a:lnSpc>
                <a:spcPts val="2885"/>
              </a:lnSpc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step 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step_table[1];</a:t>
            </a:r>
            <a:endParaRPr sz="2600">
              <a:latin typeface="Times New Roman"/>
              <a:cs typeface="Times New Roman"/>
            </a:endParaRPr>
          </a:p>
          <a:p>
            <a:pPr marL="664845">
              <a:lnSpc>
                <a:spcPts val="3110"/>
              </a:lnSpc>
              <a:spcBef>
                <a:spcPts val="145"/>
              </a:spcBef>
            </a:pP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t1 = i *</a:t>
            </a:r>
            <a:r>
              <a:rPr sz="2600" b="1" spc="-2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4;</a:t>
            </a:r>
            <a:endParaRPr sz="2600">
              <a:latin typeface="Times New Roman"/>
              <a:cs typeface="Times New Roman"/>
            </a:endParaRPr>
          </a:p>
          <a:p>
            <a:pPr marL="664845">
              <a:lnSpc>
                <a:spcPts val="2960"/>
              </a:lnSpc>
            </a:pP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t2 = </a:t>
            </a:r>
            <a:r>
              <a:rPr sz="26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step </a:t>
            </a: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sz="2600" b="1" spc="-3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4;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3210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L1: if(i&gt;MAX)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L2</a:t>
            </a:r>
            <a:endParaRPr sz="2800">
              <a:latin typeface="Times New Roman"/>
              <a:cs typeface="Times New Roman"/>
            </a:endParaRPr>
          </a:p>
          <a:p>
            <a:pPr marL="607695" marR="1096010" indent="-33655">
              <a:lnSpc>
                <a:spcPct val="100000"/>
              </a:lnSpc>
              <a:spcBef>
                <a:spcPts val="10"/>
              </a:spcBef>
            </a:pP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table[t1] =</a:t>
            </a:r>
            <a:r>
              <a:rPr sz="26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0;  </a:t>
            </a: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t1 = t1 +</a:t>
            </a:r>
            <a:r>
              <a:rPr sz="2600" b="1" spc="-7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t2;</a:t>
            </a:r>
            <a:endParaRPr sz="2600">
              <a:latin typeface="Times New Roman"/>
              <a:cs typeface="Times New Roman"/>
            </a:endParaRPr>
          </a:p>
          <a:p>
            <a:pPr marL="610870">
              <a:lnSpc>
                <a:spcPts val="2605"/>
              </a:lnSpc>
            </a:pP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i = i + step;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sz="26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L1</a:t>
            </a:r>
            <a:endParaRPr sz="2600">
              <a:latin typeface="Times New Roman"/>
              <a:cs typeface="Times New Roman"/>
            </a:endParaRPr>
          </a:p>
          <a:p>
            <a:pPr marL="20955">
              <a:lnSpc>
                <a:spcPts val="3100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L2: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4248" y="26923"/>
            <a:ext cx="7302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376805" algn="l"/>
                <a:tab pos="2884170" algn="l"/>
                <a:tab pos="4925695" algn="l"/>
                <a:tab pos="575119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述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4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 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优化技术分类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9648" y="547471"/>
            <a:ext cx="4514215" cy="106426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  <a:tabLst>
                <a:tab pos="824865" algn="l"/>
              </a:tabLst>
            </a:pP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3200" u="none" spc="1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.	</a:t>
            </a:r>
            <a:r>
              <a:rPr sz="3200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复合变量循环的转换</a:t>
            </a:r>
            <a:endParaRPr sz="3200">
              <a:latin typeface="宋体"/>
              <a:cs typeface="宋体"/>
            </a:endParaRPr>
          </a:p>
          <a:p>
            <a:pPr marL="727075" algn="ctr">
              <a:lnSpc>
                <a:spcPct val="100000"/>
              </a:lnSpc>
              <a:spcBef>
                <a:spcPts val="250"/>
              </a:spcBef>
            </a:pPr>
            <a:r>
              <a:rPr sz="3200" u="heavy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C </a:t>
            </a:r>
            <a:r>
              <a:rPr sz="3200" u="heavy" spc="-10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source</a:t>
            </a:r>
            <a:r>
              <a:rPr sz="3200" u="heavy" spc="-1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heavy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code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41854" y="3795521"/>
            <a:ext cx="4223385" cy="2313940"/>
          </a:xfrm>
          <a:custGeom>
            <a:avLst/>
            <a:gdLst/>
            <a:ahLst/>
            <a:cxnLst/>
            <a:rect l="l" t="t" r="r" b="b"/>
            <a:pathLst>
              <a:path w="4223384" h="2313940">
                <a:moveTo>
                  <a:pt x="0" y="2313432"/>
                </a:moveTo>
                <a:lnTo>
                  <a:pt x="4223004" y="2313432"/>
                </a:lnTo>
                <a:lnTo>
                  <a:pt x="4223004" y="0"/>
                </a:lnTo>
                <a:lnTo>
                  <a:pt x="0" y="0"/>
                </a:lnTo>
                <a:lnTo>
                  <a:pt x="0" y="2313432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41854" y="3795521"/>
            <a:ext cx="4223385" cy="2313940"/>
          </a:xfrm>
          <a:custGeom>
            <a:avLst/>
            <a:gdLst/>
            <a:ahLst/>
            <a:cxnLst/>
            <a:rect l="l" t="t" r="r" b="b"/>
            <a:pathLst>
              <a:path w="4223384" h="2313940">
                <a:moveTo>
                  <a:pt x="0" y="2313432"/>
                </a:moveTo>
                <a:lnTo>
                  <a:pt x="4223004" y="2313432"/>
                </a:lnTo>
                <a:lnTo>
                  <a:pt x="4223004" y="0"/>
                </a:lnTo>
                <a:lnTo>
                  <a:pt x="0" y="0"/>
                </a:lnTo>
                <a:lnTo>
                  <a:pt x="0" y="2313432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22982" y="1570126"/>
            <a:ext cx="4084320" cy="45059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605790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int	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table[100];</a:t>
            </a:r>
            <a:endParaRPr sz="2800">
              <a:latin typeface="Times New Roman"/>
              <a:cs typeface="Times New Roman"/>
            </a:endParaRPr>
          </a:p>
          <a:p>
            <a:pPr marL="530860" marR="5080" indent="-518795">
              <a:lnSpc>
                <a:spcPts val="4700"/>
              </a:lnSpc>
              <a:spcBef>
                <a:spcPts val="4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for(i=0,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j=0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;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j&lt;10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;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i++,j++) 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table[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10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* i + j ] = i</a:t>
            </a:r>
            <a:r>
              <a:rPr sz="2800" b="1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Times New Roman"/>
              <a:cs typeface="Times New Roman"/>
            </a:endParaRPr>
          </a:p>
          <a:p>
            <a:pPr marL="655320">
              <a:lnSpc>
                <a:spcPct val="100000"/>
              </a:lnSpc>
              <a:tabLst>
                <a:tab pos="2176780" algn="l"/>
              </a:tabLst>
            </a:pPr>
            <a:r>
              <a:rPr sz="2800" b="1" dirty="0">
                <a:latin typeface="Times New Roman"/>
                <a:cs typeface="Times New Roman"/>
              </a:rPr>
              <a:t>table[ </a:t>
            </a:r>
            <a:r>
              <a:rPr sz="2800" b="1" spc="-5" dirty="0">
                <a:latin typeface="Times New Roman"/>
                <a:cs typeface="Times New Roman"/>
              </a:rPr>
              <a:t>0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]	=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655320">
              <a:lnSpc>
                <a:spcPct val="100000"/>
              </a:lnSpc>
              <a:spcBef>
                <a:spcPts val="840"/>
              </a:spcBef>
            </a:pPr>
            <a:r>
              <a:rPr sz="2800" b="1" dirty="0">
                <a:latin typeface="Times New Roman"/>
                <a:cs typeface="Times New Roman"/>
              </a:rPr>
              <a:t>table[ </a:t>
            </a:r>
            <a:r>
              <a:rPr sz="2800" b="1" spc="-80" dirty="0">
                <a:latin typeface="Times New Roman"/>
                <a:cs typeface="Times New Roman"/>
              </a:rPr>
              <a:t>11 </a:t>
            </a:r>
            <a:r>
              <a:rPr sz="2800" b="1" spc="-5" dirty="0">
                <a:latin typeface="Times New Roman"/>
                <a:cs typeface="Times New Roman"/>
              </a:rPr>
              <a:t>] =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655320">
              <a:lnSpc>
                <a:spcPct val="100000"/>
              </a:lnSpc>
              <a:spcBef>
                <a:spcPts val="840"/>
              </a:spcBef>
            </a:pPr>
            <a:r>
              <a:rPr sz="2800" b="1" dirty="0">
                <a:latin typeface="Times New Roman"/>
                <a:cs typeface="Times New Roman"/>
              </a:rPr>
              <a:t>table[ </a:t>
            </a:r>
            <a:r>
              <a:rPr sz="2800" b="1" spc="-5" dirty="0">
                <a:latin typeface="Times New Roman"/>
                <a:cs typeface="Times New Roman"/>
              </a:rPr>
              <a:t>22 ] =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655320" marR="1339215" indent="621665">
              <a:lnSpc>
                <a:spcPct val="100000"/>
              </a:lnSpc>
              <a:spcBef>
                <a:spcPts val="5"/>
              </a:spcBef>
            </a:pPr>
            <a:r>
              <a:rPr sz="2800" b="1" spc="-5" dirty="0">
                <a:latin typeface="Times New Roman"/>
                <a:cs typeface="Times New Roman"/>
              </a:rPr>
              <a:t>……  </a:t>
            </a:r>
            <a:r>
              <a:rPr sz="2800" b="1" dirty="0">
                <a:latin typeface="Times New Roman"/>
                <a:cs typeface="Times New Roman"/>
              </a:rPr>
              <a:t>table[ </a:t>
            </a:r>
            <a:r>
              <a:rPr sz="2800" b="1" spc="-5" dirty="0">
                <a:latin typeface="Times New Roman"/>
                <a:cs typeface="Times New Roman"/>
              </a:rPr>
              <a:t>99 ] =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17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r>
              <a:rPr sz="14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4248" y="26923"/>
            <a:ext cx="45542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376805" algn="l"/>
                <a:tab pos="288417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述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4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27623" y="26923"/>
            <a:ext cx="2388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75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 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优化技术分类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30402" y="800861"/>
            <a:ext cx="2987040" cy="1158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heavy" spc="-1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before</a:t>
            </a:r>
            <a:r>
              <a:rPr sz="2800" u="heavy" spc="-5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</a:t>
            </a:r>
            <a:endParaRPr sz="2800">
              <a:latin typeface="Times New Roman"/>
              <a:cs typeface="Times New Roman"/>
            </a:endParaRPr>
          </a:p>
          <a:p>
            <a:pPr marL="264795">
              <a:lnSpc>
                <a:spcPct val="100000"/>
              </a:lnSpc>
              <a:spcBef>
                <a:spcPts val="2205"/>
              </a:spcBef>
              <a:tabLst>
                <a:tab pos="1198245" algn="l"/>
              </a:tabLst>
            </a:pPr>
            <a:r>
              <a:rPr sz="2800" u="none" spc="-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spc="-5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u="none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0;	</a:t>
            </a:r>
            <a:r>
              <a:rPr sz="2800" u="none" spc="-5" dirty="0">
                <a:solidFill>
                  <a:srgbClr val="FFFFFF"/>
                </a:solidFill>
                <a:latin typeface="Times New Roman"/>
                <a:cs typeface="Times New Roman"/>
              </a:rPr>
              <a:t>j = 0;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8100" y="3671697"/>
            <a:ext cx="16516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t3 = 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t2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*</a:t>
            </a:r>
            <a:r>
              <a:rPr sz="2800" b="1" spc="-70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4;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1154" y="3696080"/>
            <a:ext cx="178244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/* </a:t>
            </a:r>
            <a:r>
              <a:rPr sz="26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address</a:t>
            </a:r>
            <a:r>
              <a:rPr sz="2600" b="1" spc="-8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1477" y="2058948"/>
            <a:ext cx="3202940" cy="1578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9120" marR="5080" indent="-567055">
              <a:lnSpc>
                <a:spcPct val="131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L1: 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if(j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&gt; 10) 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goto</a:t>
            </a:r>
            <a:r>
              <a:rPr sz="2800" b="1" spc="-50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L2  t1 = i * 10;</a:t>
            </a:r>
            <a:endParaRPr sz="2800">
              <a:latin typeface="Times New Roman"/>
              <a:cs typeface="Times New Roman"/>
            </a:endParaRPr>
          </a:p>
          <a:p>
            <a:pPr marL="542925">
              <a:lnSpc>
                <a:spcPct val="100000"/>
              </a:lnSpc>
              <a:spcBef>
                <a:spcPts val="65"/>
              </a:spcBef>
            </a:pPr>
            <a:r>
              <a:rPr sz="2800" b="1" u="heavy" spc="-185" dirty="0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t2 = </a:t>
            </a:r>
            <a:r>
              <a:rPr sz="2800" b="1" u="heavy" dirty="0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t1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+</a:t>
            </a:r>
            <a:r>
              <a:rPr sz="2800" b="1" u="heavy" spc="-60" dirty="0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j;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85613" y="821562"/>
            <a:ext cx="3749040" cy="267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after</a:t>
            </a:r>
            <a:r>
              <a:rPr sz="2800" b="1" u="heavy" spc="-60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optimization</a:t>
            </a:r>
            <a:endParaRPr sz="2800">
              <a:latin typeface="Times New Roman"/>
              <a:cs typeface="Times New Roman"/>
            </a:endParaRPr>
          </a:p>
          <a:p>
            <a:pPr marL="342900">
              <a:lnSpc>
                <a:spcPct val="100000"/>
              </a:lnSpc>
              <a:spcBef>
                <a:spcPts val="218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 = 0; j =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0;</a:t>
            </a:r>
            <a:endParaRPr sz="2800">
              <a:latin typeface="Times New Roman"/>
              <a:cs typeface="Times New Roman"/>
            </a:endParaRPr>
          </a:p>
          <a:p>
            <a:pPr marL="342900" marR="1791335">
              <a:lnSpc>
                <a:spcPts val="3890"/>
              </a:lnSpc>
              <a:spcBef>
                <a:spcPts val="5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t1 = i *</a:t>
            </a:r>
            <a:r>
              <a:rPr sz="28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10;  t2 =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t1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28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j;</a:t>
            </a:r>
            <a:endParaRPr sz="2800">
              <a:latin typeface="Times New Roman"/>
              <a:cs typeface="Times New Roman"/>
            </a:endParaRPr>
          </a:p>
          <a:p>
            <a:pPr marL="342900">
              <a:lnSpc>
                <a:spcPct val="100000"/>
              </a:lnSpc>
              <a:spcBef>
                <a:spcPts val="750"/>
              </a:spcBef>
              <a:tabLst>
                <a:tab pos="2503805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t3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2 *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4;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/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=0</a:t>
            </a:r>
            <a:r>
              <a:rPr sz="28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/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58000" y="6659880"/>
            <a:ext cx="273050" cy="198120"/>
          </a:xfrm>
          <a:custGeom>
            <a:avLst/>
            <a:gdLst/>
            <a:ahLst/>
            <a:cxnLst/>
            <a:rect l="l" t="t" r="r" b="b"/>
            <a:pathLst>
              <a:path w="273050" h="198120">
                <a:moveTo>
                  <a:pt x="272796" y="0"/>
                </a:moveTo>
                <a:lnTo>
                  <a:pt x="0" y="0"/>
                </a:lnTo>
                <a:lnTo>
                  <a:pt x="0" y="198119"/>
                </a:lnTo>
                <a:lnTo>
                  <a:pt x="272796" y="198119"/>
                </a:lnTo>
                <a:lnTo>
                  <a:pt x="272796" y="173355"/>
                </a:lnTo>
                <a:lnTo>
                  <a:pt x="62102" y="173355"/>
                </a:lnTo>
                <a:lnTo>
                  <a:pt x="62102" y="24765"/>
                </a:lnTo>
                <a:lnTo>
                  <a:pt x="272796" y="24765"/>
                </a:lnTo>
                <a:lnTo>
                  <a:pt x="272796" y="0"/>
                </a:lnTo>
                <a:close/>
              </a:path>
              <a:path w="273050" h="198120">
                <a:moveTo>
                  <a:pt x="210693" y="24765"/>
                </a:moveTo>
                <a:lnTo>
                  <a:pt x="80645" y="24765"/>
                </a:lnTo>
                <a:lnTo>
                  <a:pt x="80645" y="173355"/>
                </a:lnTo>
                <a:lnTo>
                  <a:pt x="210693" y="173355"/>
                </a:lnTo>
                <a:lnTo>
                  <a:pt x="99186" y="99060"/>
                </a:lnTo>
                <a:lnTo>
                  <a:pt x="210693" y="24765"/>
                </a:lnTo>
                <a:close/>
              </a:path>
              <a:path w="273050" h="198120">
                <a:moveTo>
                  <a:pt x="272796" y="24765"/>
                </a:moveTo>
                <a:lnTo>
                  <a:pt x="210693" y="24765"/>
                </a:lnTo>
                <a:lnTo>
                  <a:pt x="210693" y="173355"/>
                </a:lnTo>
                <a:lnTo>
                  <a:pt x="272796" y="173355"/>
                </a:lnTo>
                <a:lnTo>
                  <a:pt x="272796" y="2476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20103" y="6684644"/>
            <a:ext cx="148590" cy="1485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76971" y="6659880"/>
            <a:ext cx="257810" cy="198120"/>
          </a:xfrm>
          <a:custGeom>
            <a:avLst/>
            <a:gdLst/>
            <a:ahLst/>
            <a:cxnLst/>
            <a:rect l="l" t="t" r="r" b="b"/>
            <a:pathLst>
              <a:path w="257809" h="198120">
                <a:moveTo>
                  <a:pt x="257555" y="0"/>
                </a:moveTo>
                <a:lnTo>
                  <a:pt x="0" y="0"/>
                </a:lnTo>
                <a:lnTo>
                  <a:pt x="0" y="198119"/>
                </a:lnTo>
                <a:lnTo>
                  <a:pt x="257555" y="198119"/>
                </a:lnTo>
                <a:lnTo>
                  <a:pt x="257555" y="173355"/>
                </a:lnTo>
                <a:lnTo>
                  <a:pt x="54482" y="173355"/>
                </a:lnTo>
                <a:lnTo>
                  <a:pt x="54482" y="24765"/>
                </a:lnTo>
                <a:lnTo>
                  <a:pt x="257555" y="24765"/>
                </a:lnTo>
                <a:lnTo>
                  <a:pt x="257555" y="0"/>
                </a:lnTo>
                <a:close/>
              </a:path>
              <a:path w="257809" h="198120">
                <a:moveTo>
                  <a:pt x="257555" y="24765"/>
                </a:moveTo>
                <a:lnTo>
                  <a:pt x="54482" y="24765"/>
                </a:lnTo>
                <a:lnTo>
                  <a:pt x="203073" y="99060"/>
                </a:lnTo>
                <a:lnTo>
                  <a:pt x="54482" y="173355"/>
                </a:lnTo>
                <a:lnTo>
                  <a:pt x="257555" y="173355"/>
                </a:lnTo>
                <a:lnTo>
                  <a:pt x="257555" y="24765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831455" y="6684644"/>
            <a:ext cx="148590" cy="148590"/>
          </a:xfrm>
          <a:custGeom>
            <a:avLst/>
            <a:gdLst/>
            <a:ahLst/>
            <a:cxnLst/>
            <a:rect l="l" t="t" r="r" b="b"/>
            <a:pathLst>
              <a:path w="148590" h="148590">
                <a:moveTo>
                  <a:pt x="0" y="0"/>
                </a:moveTo>
                <a:lnTo>
                  <a:pt x="0" y="148589"/>
                </a:lnTo>
                <a:lnTo>
                  <a:pt x="148590" y="74294"/>
                </a:lnTo>
                <a:lnTo>
                  <a:pt x="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742046" y="6553606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  <a:hlinkClick r:id="rId5" action="ppaction://hlinksldjump"/>
              </a:rPr>
              <a:t>92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21258" y="4184141"/>
            <a:ext cx="1731645" cy="0"/>
          </a:xfrm>
          <a:custGeom>
            <a:avLst/>
            <a:gdLst/>
            <a:ahLst/>
            <a:cxnLst/>
            <a:rect l="l" t="t" r="r" b="b"/>
            <a:pathLst>
              <a:path w="1731645">
                <a:moveTo>
                  <a:pt x="0" y="0"/>
                </a:moveTo>
                <a:lnTo>
                  <a:pt x="173126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6689" y="2061210"/>
            <a:ext cx="3533140" cy="4057015"/>
          </a:xfrm>
          <a:custGeom>
            <a:avLst/>
            <a:gdLst/>
            <a:ahLst/>
            <a:cxnLst/>
            <a:rect l="l" t="t" r="r" b="b"/>
            <a:pathLst>
              <a:path w="3533140" h="4057015">
                <a:moveTo>
                  <a:pt x="0" y="4056888"/>
                </a:moveTo>
                <a:lnTo>
                  <a:pt x="3532632" y="4056888"/>
                </a:lnTo>
                <a:lnTo>
                  <a:pt x="3532632" y="0"/>
                </a:lnTo>
                <a:lnTo>
                  <a:pt x="0" y="0"/>
                </a:lnTo>
                <a:lnTo>
                  <a:pt x="0" y="4056888"/>
                </a:lnTo>
                <a:close/>
              </a:path>
            </a:pathLst>
          </a:custGeom>
          <a:ln w="38100">
            <a:solidFill>
              <a:srgbClr val="FF7B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44676" y="4187697"/>
            <a:ext cx="1908810" cy="167258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55244" marR="5080" indent="-43180">
              <a:lnSpc>
                <a:spcPts val="3160"/>
              </a:lnSpc>
              <a:spcBef>
                <a:spcPts val="365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table[t3] =</a:t>
            </a:r>
            <a:r>
              <a:rPr sz="2800" b="1" spc="-50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i; 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i = i +</a:t>
            </a:r>
            <a:r>
              <a:rPr sz="2800" b="1" spc="-30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1;</a:t>
            </a:r>
            <a:endParaRPr sz="2800">
              <a:latin typeface="Times New Roman"/>
              <a:cs typeface="Times New Roman"/>
            </a:endParaRPr>
          </a:p>
          <a:p>
            <a:pPr marL="55244">
              <a:lnSpc>
                <a:spcPts val="2895"/>
              </a:lnSpc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j = j +</a:t>
            </a:r>
            <a:r>
              <a:rPr sz="28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1;</a:t>
            </a:r>
            <a:endParaRPr sz="28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30"/>
              </a:spcBef>
              <a:tabLst>
                <a:tab pos="932180" algn="l"/>
              </a:tabLst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goto	L1;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8851" y="6171082"/>
            <a:ext cx="558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L2: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17338" y="3612591"/>
            <a:ext cx="2628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54929" y="3589782"/>
            <a:ext cx="3194685" cy="2034539"/>
          </a:xfrm>
          <a:prstGeom prst="rect">
            <a:avLst/>
          </a:prstGeom>
          <a:ln w="38100">
            <a:solidFill>
              <a:srgbClr val="FF7B8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549910" marR="33655" indent="-338455">
              <a:lnSpc>
                <a:spcPct val="106100"/>
              </a:lnSpc>
              <a:spcBef>
                <a:spcPts val="70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1: 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if(j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&gt; 10) 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goto</a:t>
            </a:r>
            <a:r>
              <a:rPr sz="2800" b="1" spc="-50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L2  table[t3] =</a:t>
            </a:r>
            <a:r>
              <a:rPr sz="28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i;</a:t>
            </a:r>
            <a:endParaRPr sz="2800">
              <a:latin typeface="Times New Roman"/>
              <a:cs typeface="Times New Roman"/>
            </a:endParaRPr>
          </a:p>
          <a:p>
            <a:pPr marL="575310">
              <a:lnSpc>
                <a:spcPts val="2690"/>
              </a:lnSpc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i = i +</a:t>
            </a:r>
            <a:r>
              <a:rPr sz="2800" b="1" spc="-1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1;</a:t>
            </a:r>
            <a:endParaRPr sz="2800">
              <a:latin typeface="Times New Roman"/>
              <a:cs typeface="Times New Roman"/>
            </a:endParaRPr>
          </a:p>
          <a:p>
            <a:pPr marL="549910">
              <a:lnSpc>
                <a:spcPts val="2820"/>
              </a:lnSpc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t3 = 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t3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+</a:t>
            </a:r>
            <a:r>
              <a:rPr sz="28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44;</a:t>
            </a:r>
            <a:endParaRPr sz="2800">
              <a:latin typeface="Times New Roman"/>
              <a:cs typeface="Times New Roman"/>
            </a:endParaRPr>
          </a:p>
          <a:p>
            <a:pPr marL="537210">
              <a:lnSpc>
                <a:spcPts val="3055"/>
              </a:lnSpc>
              <a:tabLst>
                <a:tab pos="1455420" algn="l"/>
              </a:tabLst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goto	L1;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30165" y="5798007"/>
            <a:ext cx="558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L2: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6485" y="974851"/>
            <a:ext cx="45078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29665" algn="l"/>
              </a:tabLst>
            </a:pPr>
            <a:r>
              <a:rPr sz="4400" u="none" dirty="0">
                <a:solidFill>
                  <a:srgbClr val="FFFF00"/>
                </a:solidFill>
                <a:latin typeface="Times New Roman"/>
                <a:cs typeface="Times New Roman"/>
              </a:rPr>
              <a:t>8.1	</a:t>
            </a:r>
            <a:r>
              <a:rPr sz="4400" u="none" spc="-5" dirty="0">
                <a:solidFill>
                  <a:srgbClr val="FFFF00"/>
                </a:solidFill>
                <a:latin typeface="宋体"/>
                <a:cs typeface="宋体"/>
              </a:rPr>
              <a:t>代码优化综述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8015" y="2657347"/>
            <a:ext cx="644969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0" lvl="2" indent="-137223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1383665" algn="l"/>
                <a:tab pos="1384935" algn="l"/>
              </a:tabLst>
            </a:pPr>
            <a:r>
              <a:rPr sz="3600" b="1" spc="-5" dirty="0">
                <a:solidFill>
                  <a:srgbClr val="FFFF00"/>
                </a:solidFill>
                <a:latin typeface="宋体"/>
                <a:cs typeface="宋体"/>
              </a:rPr>
              <a:t>代码优化概述</a:t>
            </a:r>
            <a:endParaRPr sz="3600">
              <a:latin typeface="宋体"/>
              <a:cs typeface="宋体"/>
            </a:endParaRPr>
          </a:p>
          <a:p>
            <a:pPr marL="1386840" lvl="2" indent="-1374775">
              <a:lnSpc>
                <a:spcPct val="100000"/>
              </a:lnSpc>
              <a:spcBef>
                <a:spcPts val="3240"/>
              </a:spcBef>
              <a:buFont typeface="Times New Roman"/>
              <a:buAutoNum type="arabicPeriod"/>
              <a:tabLst>
                <a:tab pos="1386840" algn="l"/>
                <a:tab pos="1387475" algn="l"/>
              </a:tabLst>
            </a:pPr>
            <a:r>
              <a:rPr sz="3600" b="1" spc="-5" dirty="0">
                <a:solidFill>
                  <a:srgbClr val="FFFF00"/>
                </a:solidFill>
                <a:latin typeface="宋体"/>
                <a:cs typeface="宋体"/>
              </a:rPr>
              <a:t>优化技术分类</a:t>
            </a:r>
            <a:endParaRPr sz="3600">
              <a:latin typeface="宋体"/>
              <a:cs typeface="宋体"/>
            </a:endParaRPr>
          </a:p>
          <a:p>
            <a:pPr marL="1386840" lvl="2" indent="-1374775">
              <a:lnSpc>
                <a:spcPct val="100000"/>
              </a:lnSpc>
              <a:spcBef>
                <a:spcPts val="3240"/>
              </a:spcBef>
              <a:buFont typeface="Times New Roman"/>
              <a:buAutoNum type="arabicPeriod"/>
              <a:tabLst>
                <a:tab pos="1386840" algn="l"/>
                <a:tab pos="1387475" algn="l"/>
              </a:tabLst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具优化功能编译器的组织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73857" y="26923"/>
            <a:ext cx="1692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37835" y="26923"/>
            <a:ext cx="206946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53300" y="4533900"/>
            <a:ext cx="1473835" cy="722630"/>
          </a:xfrm>
          <a:custGeom>
            <a:avLst/>
            <a:gdLst/>
            <a:ahLst/>
            <a:cxnLst/>
            <a:rect l="l" t="t" r="r" b="b"/>
            <a:pathLst>
              <a:path w="1473834" h="722629">
                <a:moveTo>
                  <a:pt x="368300" y="0"/>
                </a:moveTo>
                <a:lnTo>
                  <a:pt x="0" y="361188"/>
                </a:lnTo>
                <a:lnTo>
                  <a:pt x="368300" y="722376"/>
                </a:lnTo>
                <a:lnTo>
                  <a:pt x="368300" y="541782"/>
                </a:lnTo>
                <a:lnTo>
                  <a:pt x="1473707" y="541782"/>
                </a:lnTo>
                <a:lnTo>
                  <a:pt x="1473707" y="180594"/>
                </a:lnTo>
                <a:lnTo>
                  <a:pt x="368300" y="180594"/>
                </a:lnTo>
                <a:lnTo>
                  <a:pt x="36830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53300" y="4533900"/>
            <a:ext cx="1473835" cy="722630"/>
          </a:xfrm>
          <a:custGeom>
            <a:avLst/>
            <a:gdLst/>
            <a:ahLst/>
            <a:cxnLst/>
            <a:rect l="l" t="t" r="r" b="b"/>
            <a:pathLst>
              <a:path w="1473834" h="722629">
                <a:moveTo>
                  <a:pt x="0" y="361188"/>
                </a:moveTo>
                <a:lnTo>
                  <a:pt x="368300" y="0"/>
                </a:lnTo>
                <a:lnTo>
                  <a:pt x="368300" y="180594"/>
                </a:lnTo>
                <a:lnTo>
                  <a:pt x="1473707" y="180594"/>
                </a:lnTo>
                <a:lnTo>
                  <a:pt x="1473707" y="541782"/>
                </a:lnTo>
                <a:lnTo>
                  <a:pt x="368300" y="541782"/>
                </a:lnTo>
                <a:lnTo>
                  <a:pt x="368300" y="722376"/>
                </a:lnTo>
                <a:lnTo>
                  <a:pt x="0" y="361188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19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748" y="26923"/>
            <a:ext cx="16935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u="none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u="none" dirty="0">
                <a:latin typeface="Times New Roman"/>
                <a:cs typeface="Times New Roman"/>
              </a:rPr>
              <a:t>h8	</a:t>
            </a:r>
            <a:r>
              <a:rPr sz="2000" u="none" spc="5" dirty="0"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4098" y="26923"/>
            <a:ext cx="21901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8.1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代码优化综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述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4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3115" y="26923"/>
            <a:ext cx="347535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1700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 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具优化功能编译器组织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2262" y="1823466"/>
            <a:ext cx="1187450" cy="670560"/>
          </a:xfrm>
          <a:custGeom>
            <a:avLst/>
            <a:gdLst/>
            <a:ahLst/>
            <a:cxnLst/>
            <a:rect l="l" t="t" r="r" b="b"/>
            <a:pathLst>
              <a:path w="1187450" h="670560">
                <a:moveTo>
                  <a:pt x="0" y="670560"/>
                </a:moveTo>
                <a:lnTo>
                  <a:pt x="1187196" y="670560"/>
                </a:lnTo>
                <a:lnTo>
                  <a:pt x="1187196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ln w="38100">
            <a:solidFill>
              <a:srgbClr val="FFFF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8631" y="1848357"/>
            <a:ext cx="7397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前端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41470" y="1799082"/>
            <a:ext cx="1252855" cy="1013460"/>
          </a:xfrm>
          <a:custGeom>
            <a:avLst/>
            <a:gdLst/>
            <a:ahLst/>
            <a:cxnLst/>
            <a:rect l="l" t="t" r="r" b="b"/>
            <a:pathLst>
              <a:path w="1252854" h="1013460">
                <a:moveTo>
                  <a:pt x="0" y="1013460"/>
                </a:moveTo>
                <a:lnTo>
                  <a:pt x="1252727" y="1013460"/>
                </a:lnTo>
                <a:lnTo>
                  <a:pt x="1252727" y="0"/>
                </a:lnTo>
                <a:lnTo>
                  <a:pt x="0" y="0"/>
                </a:lnTo>
                <a:lnTo>
                  <a:pt x="0" y="101346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36211" y="1778888"/>
            <a:ext cx="10953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sz="2800" b="1" spc="-4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码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优化器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24521" y="1663445"/>
            <a:ext cx="1254760" cy="1012190"/>
          </a:xfrm>
          <a:custGeom>
            <a:avLst/>
            <a:gdLst/>
            <a:ahLst/>
            <a:cxnLst/>
            <a:rect l="l" t="t" r="r" b="b"/>
            <a:pathLst>
              <a:path w="1254759" h="1012189">
                <a:moveTo>
                  <a:pt x="0" y="1011936"/>
                </a:moveTo>
                <a:lnTo>
                  <a:pt x="1254252" y="1011936"/>
                </a:lnTo>
                <a:lnTo>
                  <a:pt x="1254252" y="0"/>
                </a:lnTo>
                <a:lnTo>
                  <a:pt x="0" y="0"/>
                </a:lnTo>
                <a:lnTo>
                  <a:pt x="0" y="1011936"/>
                </a:lnTo>
                <a:close/>
              </a:path>
            </a:pathLst>
          </a:custGeom>
          <a:ln w="38100">
            <a:solidFill>
              <a:srgbClr val="FFFF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319518" y="1642363"/>
            <a:ext cx="10953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sz="2800" b="1" spc="62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码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生成器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71422" y="4443221"/>
            <a:ext cx="1254760" cy="101219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106680" marR="69850">
              <a:lnSpc>
                <a:spcPts val="3360"/>
              </a:lnSpc>
              <a:spcBef>
                <a:spcPts val="45"/>
              </a:spcBef>
              <a:tabLst>
                <a:tab pos="819785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控制流 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35902" y="4437126"/>
            <a:ext cx="1254760" cy="10134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850">
              <a:lnSpc>
                <a:spcPts val="3304"/>
              </a:lnSpc>
            </a:pP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sz="2800" b="1" spc="-9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2800">
              <a:latin typeface="宋体"/>
              <a:cs typeface="宋体"/>
            </a:endParaRPr>
          </a:p>
          <a:p>
            <a:pPr marL="196850">
              <a:lnSpc>
                <a:spcPct val="100000"/>
              </a:lnSpc>
            </a:pP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sz="2800" b="1" spc="-9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换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71422" y="1799082"/>
            <a:ext cx="2670175" cy="2644140"/>
          </a:xfrm>
          <a:custGeom>
            <a:avLst/>
            <a:gdLst/>
            <a:ahLst/>
            <a:cxnLst/>
            <a:rect l="l" t="t" r="r" b="b"/>
            <a:pathLst>
              <a:path w="2670175" h="2644140">
                <a:moveTo>
                  <a:pt x="2670048" y="0"/>
                </a:moveTo>
                <a:lnTo>
                  <a:pt x="0" y="2644140"/>
                </a:lnTo>
              </a:path>
            </a:pathLst>
          </a:custGeom>
          <a:ln w="38100">
            <a:solidFill>
              <a:srgbClr val="FFFF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37866" y="2666238"/>
            <a:ext cx="1365885" cy="1793875"/>
          </a:xfrm>
          <a:custGeom>
            <a:avLst/>
            <a:gdLst/>
            <a:ahLst/>
            <a:cxnLst/>
            <a:rect l="l" t="t" r="r" b="b"/>
            <a:pathLst>
              <a:path w="1365885" h="1793875">
                <a:moveTo>
                  <a:pt x="1365504" y="0"/>
                </a:moveTo>
                <a:lnTo>
                  <a:pt x="0" y="1793748"/>
                </a:lnTo>
              </a:path>
            </a:pathLst>
          </a:custGeom>
          <a:ln w="38100">
            <a:solidFill>
              <a:srgbClr val="FFFF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69814" y="2666238"/>
            <a:ext cx="1501140" cy="1771014"/>
          </a:xfrm>
          <a:custGeom>
            <a:avLst/>
            <a:gdLst/>
            <a:ahLst/>
            <a:cxnLst/>
            <a:rect l="l" t="t" r="r" b="b"/>
            <a:pathLst>
              <a:path w="1501140" h="1771014">
                <a:moveTo>
                  <a:pt x="0" y="0"/>
                </a:moveTo>
                <a:lnTo>
                  <a:pt x="1501139" y="1770888"/>
                </a:lnTo>
              </a:path>
            </a:pathLst>
          </a:custGeom>
          <a:ln w="38100">
            <a:solidFill>
              <a:srgbClr val="FFFF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45429" y="1799082"/>
            <a:ext cx="2717800" cy="2638425"/>
          </a:xfrm>
          <a:custGeom>
            <a:avLst/>
            <a:gdLst/>
            <a:ahLst/>
            <a:cxnLst/>
            <a:rect l="l" t="t" r="r" b="b"/>
            <a:pathLst>
              <a:path w="2717800" h="2638425">
                <a:moveTo>
                  <a:pt x="0" y="0"/>
                </a:moveTo>
                <a:lnTo>
                  <a:pt x="2717292" y="2638043"/>
                </a:lnTo>
              </a:path>
            </a:pathLst>
          </a:custGeom>
          <a:ln w="38099">
            <a:solidFill>
              <a:srgbClr val="FFFF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82317" y="2103120"/>
            <a:ext cx="2339340" cy="114300"/>
          </a:xfrm>
          <a:custGeom>
            <a:avLst/>
            <a:gdLst/>
            <a:ahLst/>
            <a:cxnLst/>
            <a:rect l="l" t="t" r="r" b="b"/>
            <a:pathLst>
              <a:path w="2339340" h="114300">
                <a:moveTo>
                  <a:pt x="152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52400" y="76200"/>
                </a:lnTo>
                <a:lnTo>
                  <a:pt x="152400" y="38100"/>
                </a:lnTo>
                <a:close/>
              </a:path>
              <a:path w="2339340" h="114300">
                <a:moveTo>
                  <a:pt x="419100" y="38100"/>
                </a:moveTo>
                <a:lnTo>
                  <a:pt x="266700" y="38100"/>
                </a:lnTo>
                <a:lnTo>
                  <a:pt x="266700" y="76200"/>
                </a:lnTo>
                <a:lnTo>
                  <a:pt x="419100" y="76200"/>
                </a:lnTo>
                <a:lnTo>
                  <a:pt x="419100" y="38100"/>
                </a:lnTo>
                <a:close/>
              </a:path>
              <a:path w="2339340" h="114300">
                <a:moveTo>
                  <a:pt x="685800" y="38100"/>
                </a:moveTo>
                <a:lnTo>
                  <a:pt x="533400" y="38100"/>
                </a:lnTo>
                <a:lnTo>
                  <a:pt x="533400" y="76200"/>
                </a:lnTo>
                <a:lnTo>
                  <a:pt x="685800" y="76200"/>
                </a:lnTo>
                <a:lnTo>
                  <a:pt x="685800" y="38100"/>
                </a:lnTo>
                <a:close/>
              </a:path>
              <a:path w="2339340" h="114300">
                <a:moveTo>
                  <a:pt x="952500" y="38100"/>
                </a:moveTo>
                <a:lnTo>
                  <a:pt x="800100" y="38100"/>
                </a:lnTo>
                <a:lnTo>
                  <a:pt x="800100" y="76200"/>
                </a:lnTo>
                <a:lnTo>
                  <a:pt x="952500" y="76200"/>
                </a:lnTo>
                <a:lnTo>
                  <a:pt x="952500" y="38100"/>
                </a:lnTo>
                <a:close/>
              </a:path>
              <a:path w="2339340" h="114300">
                <a:moveTo>
                  <a:pt x="1219200" y="38100"/>
                </a:moveTo>
                <a:lnTo>
                  <a:pt x="1066800" y="38100"/>
                </a:lnTo>
                <a:lnTo>
                  <a:pt x="1066800" y="76200"/>
                </a:lnTo>
                <a:lnTo>
                  <a:pt x="1219200" y="76200"/>
                </a:lnTo>
                <a:lnTo>
                  <a:pt x="1219200" y="38100"/>
                </a:lnTo>
                <a:close/>
              </a:path>
              <a:path w="2339340" h="114300">
                <a:moveTo>
                  <a:pt x="1485899" y="38100"/>
                </a:moveTo>
                <a:lnTo>
                  <a:pt x="1333500" y="38100"/>
                </a:lnTo>
                <a:lnTo>
                  <a:pt x="1333500" y="76200"/>
                </a:lnTo>
                <a:lnTo>
                  <a:pt x="1485899" y="76200"/>
                </a:lnTo>
                <a:lnTo>
                  <a:pt x="1485899" y="38100"/>
                </a:lnTo>
                <a:close/>
              </a:path>
              <a:path w="2339340" h="114300">
                <a:moveTo>
                  <a:pt x="1752599" y="38100"/>
                </a:moveTo>
                <a:lnTo>
                  <a:pt x="1600199" y="38100"/>
                </a:lnTo>
                <a:lnTo>
                  <a:pt x="1600199" y="76200"/>
                </a:lnTo>
                <a:lnTo>
                  <a:pt x="1752599" y="76200"/>
                </a:lnTo>
                <a:lnTo>
                  <a:pt x="1752599" y="38100"/>
                </a:lnTo>
                <a:close/>
              </a:path>
              <a:path w="2339340" h="114300">
                <a:moveTo>
                  <a:pt x="2019299" y="38100"/>
                </a:moveTo>
                <a:lnTo>
                  <a:pt x="1866899" y="38100"/>
                </a:lnTo>
                <a:lnTo>
                  <a:pt x="1866899" y="76200"/>
                </a:lnTo>
                <a:lnTo>
                  <a:pt x="2019299" y="76200"/>
                </a:lnTo>
                <a:lnTo>
                  <a:pt x="2019299" y="38100"/>
                </a:lnTo>
                <a:close/>
              </a:path>
              <a:path w="2339340" h="114300">
                <a:moveTo>
                  <a:pt x="2148840" y="0"/>
                </a:moveTo>
                <a:lnTo>
                  <a:pt x="2148840" y="114300"/>
                </a:lnTo>
                <a:lnTo>
                  <a:pt x="2275840" y="76200"/>
                </a:lnTo>
                <a:lnTo>
                  <a:pt x="2167890" y="76200"/>
                </a:lnTo>
                <a:lnTo>
                  <a:pt x="2167890" y="38100"/>
                </a:lnTo>
                <a:lnTo>
                  <a:pt x="2275840" y="38100"/>
                </a:lnTo>
                <a:lnTo>
                  <a:pt x="2148840" y="0"/>
                </a:lnTo>
                <a:close/>
              </a:path>
              <a:path w="2339340" h="114300">
                <a:moveTo>
                  <a:pt x="2148840" y="38100"/>
                </a:moveTo>
                <a:lnTo>
                  <a:pt x="2133599" y="38100"/>
                </a:lnTo>
                <a:lnTo>
                  <a:pt x="2133599" y="76200"/>
                </a:lnTo>
                <a:lnTo>
                  <a:pt x="2148840" y="76200"/>
                </a:lnTo>
                <a:lnTo>
                  <a:pt x="2148840" y="38100"/>
                </a:lnTo>
                <a:close/>
              </a:path>
              <a:path w="2339340" h="114300">
                <a:moveTo>
                  <a:pt x="2275840" y="38100"/>
                </a:moveTo>
                <a:lnTo>
                  <a:pt x="2167890" y="38100"/>
                </a:lnTo>
                <a:lnTo>
                  <a:pt x="2167890" y="76200"/>
                </a:lnTo>
                <a:lnTo>
                  <a:pt x="2275840" y="76200"/>
                </a:lnTo>
                <a:lnTo>
                  <a:pt x="2339340" y="57150"/>
                </a:lnTo>
                <a:lnTo>
                  <a:pt x="227584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69814" y="2103120"/>
            <a:ext cx="1873250" cy="114300"/>
          </a:xfrm>
          <a:custGeom>
            <a:avLst/>
            <a:gdLst/>
            <a:ahLst/>
            <a:cxnLst/>
            <a:rect l="l" t="t" r="r" b="b"/>
            <a:pathLst>
              <a:path w="1873250" h="114300">
                <a:moveTo>
                  <a:pt x="152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52400" y="76200"/>
                </a:lnTo>
                <a:lnTo>
                  <a:pt x="152400" y="38100"/>
                </a:lnTo>
                <a:close/>
              </a:path>
              <a:path w="1873250" h="114300">
                <a:moveTo>
                  <a:pt x="419100" y="38100"/>
                </a:moveTo>
                <a:lnTo>
                  <a:pt x="266700" y="38100"/>
                </a:lnTo>
                <a:lnTo>
                  <a:pt x="266700" y="76200"/>
                </a:lnTo>
                <a:lnTo>
                  <a:pt x="419100" y="76200"/>
                </a:lnTo>
                <a:lnTo>
                  <a:pt x="419100" y="38100"/>
                </a:lnTo>
                <a:close/>
              </a:path>
              <a:path w="1873250" h="114300">
                <a:moveTo>
                  <a:pt x="685800" y="38100"/>
                </a:moveTo>
                <a:lnTo>
                  <a:pt x="533400" y="38100"/>
                </a:lnTo>
                <a:lnTo>
                  <a:pt x="533400" y="76200"/>
                </a:lnTo>
                <a:lnTo>
                  <a:pt x="685800" y="76200"/>
                </a:lnTo>
                <a:lnTo>
                  <a:pt x="685800" y="38100"/>
                </a:lnTo>
                <a:close/>
              </a:path>
              <a:path w="1873250" h="114300">
                <a:moveTo>
                  <a:pt x="952500" y="38100"/>
                </a:moveTo>
                <a:lnTo>
                  <a:pt x="800100" y="38100"/>
                </a:lnTo>
                <a:lnTo>
                  <a:pt x="800100" y="76200"/>
                </a:lnTo>
                <a:lnTo>
                  <a:pt x="952500" y="76200"/>
                </a:lnTo>
                <a:lnTo>
                  <a:pt x="952500" y="38100"/>
                </a:lnTo>
                <a:close/>
              </a:path>
              <a:path w="1873250" h="114300">
                <a:moveTo>
                  <a:pt x="1219200" y="38100"/>
                </a:moveTo>
                <a:lnTo>
                  <a:pt x="1066800" y="38100"/>
                </a:lnTo>
                <a:lnTo>
                  <a:pt x="1066800" y="76200"/>
                </a:lnTo>
                <a:lnTo>
                  <a:pt x="1219200" y="76200"/>
                </a:lnTo>
                <a:lnTo>
                  <a:pt x="1219200" y="38100"/>
                </a:lnTo>
                <a:close/>
              </a:path>
              <a:path w="1873250" h="114300">
                <a:moveTo>
                  <a:pt x="1485900" y="38100"/>
                </a:moveTo>
                <a:lnTo>
                  <a:pt x="1333500" y="38100"/>
                </a:lnTo>
                <a:lnTo>
                  <a:pt x="1333500" y="76200"/>
                </a:lnTo>
                <a:lnTo>
                  <a:pt x="1485900" y="76200"/>
                </a:lnTo>
                <a:lnTo>
                  <a:pt x="1485900" y="38100"/>
                </a:lnTo>
                <a:close/>
              </a:path>
              <a:path w="1873250" h="114300">
                <a:moveTo>
                  <a:pt x="1682495" y="0"/>
                </a:moveTo>
                <a:lnTo>
                  <a:pt x="1682495" y="114300"/>
                </a:lnTo>
                <a:lnTo>
                  <a:pt x="1809495" y="76200"/>
                </a:lnTo>
                <a:lnTo>
                  <a:pt x="1701545" y="76200"/>
                </a:lnTo>
                <a:lnTo>
                  <a:pt x="1701545" y="38100"/>
                </a:lnTo>
                <a:lnTo>
                  <a:pt x="1809495" y="38100"/>
                </a:lnTo>
                <a:lnTo>
                  <a:pt x="1682495" y="0"/>
                </a:lnTo>
                <a:close/>
              </a:path>
              <a:path w="1873250" h="114300">
                <a:moveTo>
                  <a:pt x="1682495" y="38100"/>
                </a:moveTo>
                <a:lnTo>
                  <a:pt x="1600200" y="38100"/>
                </a:lnTo>
                <a:lnTo>
                  <a:pt x="1600200" y="76200"/>
                </a:lnTo>
                <a:lnTo>
                  <a:pt x="1682495" y="76200"/>
                </a:lnTo>
                <a:lnTo>
                  <a:pt x="1682495" y="38100"/>
                </a:lnTo>
                <a:close/>
              </a:path>
              <a:path w="1873250" h="114300">
                <a:moveTo>
                  <a:pt x="1809495" y="38100"/>
                </a:moveTo>
                <a:lnTo>
                  <a:pt x="1701545" y="38100"/>
                </a:lnTo>
                <a:lnTo>
                  <a:pt x="1701545" y="76200"/>
                </a:lnTo>
                <a:lnTo>
                  <a:pt x="1809495" y="76200"/>
                </a:lnTo>
                <a:lnTo>
                  <a:pt x="1872995" y="57150"/>
                </a:lnTo>
                <a:lnTo>
                  <a:pt x="180949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18054" y="4905755"/>
            <a:ext cx="1393190" cy="114300"/>
          </a:xfrm>
          <a:custGeom>
            <a:avLst/>
            <a:gdLst/>
            <a:ahLst/>
            <a:cxnLst/>
            <a:rect l="l" t="t" r="r" b="b"/>
            <a:pathLst>
              <a:path w="1393189" h="114300">
                <a:moveTo>
                  <a:pt x="1202435" y="0"/>
                </a:moveTo>
                <a:lnTo>
                  <a:pt x="1202435" y="114300"/>
                </a:lnTo>
                <a:lnTo>
                  <a:pt x="1329435" y="76200"/>
                </a:lnTo>
                <a:lnTo>
                  <a:pt x="1221485" y="76200"/>
                </a:lnTo>
                <a:lnTo>
                  <a:pt x="1221485" y="38100"/>
                </a:lnTo>
                <a:lnTo>
                  <a:pt x="1329435" y="38100"/>
                </a:lnTo>
                <a:lnTo>
                  <a:pt x="1202435" y="0"/>
                </a:lnTo>
                <a:close/>
              </a:path>
              <a:path w="1393189" h="114300">
                <a:moveTo>
                  <a:pt x="120243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202435" y="76200"/>
                </a:lnTo>
                <a:lnTo>
                  <a:pt x="1202435" y="38100"/>
                </a:lnTo>
                <a:close/>
              </a:path>
              <a:path w="1393189" h="114300">
                <a:moveTo>
                  <a:pt x="1329435" y="38100"/>
                </a:moveTo>
                <a:lnTo>
                  <a:pt x="1221485" y="38100"/>
                </a:lnTo>
                <a:lnTo>
                  <a:pt x="1221485" y="76200"/>
                </a:lnTo>
                <a:lnTo>
                  <a:pt x="1329435" y="76200"/>
                </a:lnTo>
                <a:lnTo>
                  <a:pt x="1392935" y="57150"/>
                </a:lnTo>
                <a:lnTo>
                  <a:pt x="132943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45429" y="4905755"/>
            <a:ext cx="1507490" cy="114300"/>
          </a:xfrm>
          <a:custGeom>
            <a:avLst/>
            <a:gdLst/>
            <a:ahLst/>
            <a:cxnLst/>
            <a:rect l="l" t="t" r="r" b="b"/>
            <a:pathLst>
              <a:path w="1507490" h="114300">
                <a:moveTo>
                  <a:pt x="1316736" y="0"/>
                </a:moveTo>
                <a:lnTo>
                  <a:pt x="1316736" y="114300"/>
                </a:lnTo>
                <a:lnTo>
                  <a:pt x="1443736" y="76200"/>
                </a:lnTo>
                <a:lnTo>
                  <a:pt x="1335786" y="76200"/>
                </a:lnTo>
                <a:lnTo>
                  <a:pt x="1335786" y="38100"/>
                </a:lnTo>
                <a:lnTo>
                  <a:pt x="1443736" y="38100"/>
                </a:lnTo>
                <a:lnTo>
                  <a:pt x="1316736" y="0"/>
                </a:lnTo>
                <a:close/>
              </a:path>
              <a:path w="1507490" h="114300">
                <a:moveTo>
                  <a:pt x="131673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316736" y="76200"/>
                </a:lnTo>
                <a:lnTo>
                  <a:pt x="1316736" y="38100"/>
                </a:lnTo>
                <a:close/>
              </a:path>
              <a:path w="1507490" h="114300">
                <a:moveTo>
                  <a:pt x="1443736" y="38100"/>
                </a:moveTo>
                <a:lnTo>
                  <a:pt x="1335786" y="38100"/>
                </a:lnTo>
                <a:lnTo>
                  <a:pt x="1335786" y="76200"/>
                </a:lnTo>
                <a:lnTo>
                  <a:pt x="1443736" y="76200"/>
                </a:lnTo>
                <a:lnTo>
                  <a:pt x="1507236" y="57150"/>
                </a:lnTo>
                <a:lnTo>
                  <a:pt x="144373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103370" y="4414265"/>
            <a:ext cx="1252855" cy="101219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107314" marR="67310">
              <a:lnSpc>
                <a:spcPts val="3360"/>
              </a:lnSpc>
              <a:spcBef>
                <a:spcPts val="45"/>
              </a:spcBef>
              <a:tabLst>
                <a:tab pos="820419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数据流 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69619" y="3875532"/>
            <a:ext cx="7894320" cy="2032000"/>
          </a:xfrm>
          <a:custGeom>
            <a:avLst/>
            <a:gdLst/>
            <a:ahLst/>
            <a:cxnLst/>
            <a:rect l="l" t="t" r="r" b="b"/>
            <a:pathLst>
              <a:path w="7894320" h="2032000">
                <a:moveTo>
                  <a:pt x="0" y="2031492"/>
                </a:moveTo>
                <a:lnTo>
                  <a:pt x="7894320" y="2031492"/>
                </a:lnTo>
                <a:lnTo>
                  <a:pt x="7894320" y="0"/>
                </a:lnTo>
                <a:lnTo>
                  <a:pt x="0" y="0"/>
                </a:lnTo>
                <a:lnTo>
                  <a:pt x="0" y="2031492"/>
                </a:lnTo>
                <a:close/>
              </a:path>
            </a:pathLst>
          </a:custGeom>
          <a:ln w="57149">
            <a:solidFill>
              <a:srgbClr val="FF7B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20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2043" y="858393"/>
            <a:ext cx="734504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u="none" spc="-15" dirty="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sz="3800" u="none" spc="-965" dirty="0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sz="3800" u="none" dirty="0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sz="3800" u="none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800" u="none" spc="-15" dirty="0">
                <a:solidFill>
                  <a:srgbClr val="FFFF00"/>
                </a:solidFill>
                <a:latin typeface="黑体"/>
                <a:cs typeface="黑体"/>
              </a:rPr>
              <a:t>章</a:t>
            </a:r>
            <a:r>
              <a:rPr sz="3800" u="none" spc="935" dirty="0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sz="3800" u="none" dirty="0">
                <a:solidFill>
                  <a:srgbClr val="FFFF00"/>
                </a:solidFill>
                <a:latin typeface="黑体"/>
                <a:cs typeface="黑体"/>
              </a:rPr>
              <a:t>代码</a:t>
            </a:r>
            <a:r>
              <a:rPr sz="3800" u="none" spc="-10" dirty="0">
                <a:solidFill>
                  <a:srgbClr val="FFFF00"/>
                </a:solidFill>
                <a:latin typeface="黑体"/>
                <a:cs typeface="黑体"/>
              </a:rPr>
              <a:t>优</a:t>
            </a:r>
            <a:r>
              <a:rPr sz="3800" u="none" spc="-15" dirty="0">
                <a:solidFill>
                  <a:srgbClr val="FFFF00"/>
                </a:solidFill>
                <a:latin typeface="黑体"/>
                <a:cs typeface="黑体"/>
              </a:rPr>
              <a:t>化</a:t>
            </a:r>
            <a:r>
              <a:rPr sz="3800" u="none" spc="-5" dirty="0">
                <a:solidFill>
                  <a:srgbClr val="FFFF00"/>
                </a:solidFill>
                <a:latin typeface="黑体"/>
                <a:cs typeface="黑体"/>
              </a:rPr>
              <a:t>（</a:t>
            </a:r>
            <a:r>
              <a:rPr sz="3800" u="none" spc="-5" dirty="0">
                <a:solidFill>
                  <a:srgbClr val="FFFF00"/>
                </a:solidFill>
                <a:latin typeface="Times New Roman"/>
                <a:cs typeface="Times New Roman"/>
              </a:rPr>
              <a:t>optimization</a:t>
            </a:r>
            <a:r>
              <a:rPr sz="3800" u="none" spc="-5" dirty="0">
                <a:solidFill>
                  <a:srgbClr val="FFFF00"/>
                </a:solidFill>
                <a:latin typeface="黑体"/>
                <a:cs typeface="黑体"/>
              </a:rPr>
              <a:t>）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644" y="1985207"/>
            <a:ext cx="5718175" cy="3904615"/>
          </a:xfrm>
          <a:prstGeom prst="rect">
            <a:avLst/>
          </a:prstGeom>
        </p:spPr>
        <p:txBody>
          <a:bodyPr vert="horz" wrap="square" lIns="0" tIns="245745" rIns="0" bIns="0" rtlCol="0">
            <a:spAutoFit/>
          </a:bodyPr>
          <a:lstStyle/>
          <a:p>
            <a:pPr marL="1257935" lvl="1" indent="-1233805">
              <a:lnSpc>
                <a:spcPct val="100000"/>
              </a:lnSpc>
              <a:spcBef>
                <a:spcPts val="1935"/>
              </a:spcBef>
              <a:buSzPct val="102857"/>
              <a:buFont typeface="Times New Roman"/>
              <a:buAutoNum type="arabicPeriod"/>
              <a:tabLst>
                <a:tab pos="1257935" algn="l"/>
                <a:tab pos="1258570" algn="l"/>
              </a:tabLst>
            </a:pPr>
            <a:r>
              <a:rPr sz="3500" b="1" spc="-5" dirty="0">
                <a:solidFill>
                  <a:srgbClr val="FFFF00"/>
                </a:solidFill>
                <a:latin typeface="宋体"/>
                <a:cs typeface="宋体"/>
              </a:rPr>
              <a:t>代码优化综述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914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FF"/>
                </a:solidFill>
                <a:latin typeface="宋体"/>
                <a:cs typeface="宋体"/>
              </a:rPr>
              <a:t>局部优化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885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FF"/>
                </a:solidFill>
                <a:latin typeface="宋体"/>
                <a:cs typeface="宋体"/>
              </a:rPr>
              <a:t>控制流分析与循环查找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895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FF"/>
                </a:solidFill>
                <a:latin typeface="宋体"/>
                <a:cs typeface="宋体"/>
              </a:rPr>
              <a:t>数据流分析基础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890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FF"/>
                </a:solidFill>
                <a:latin typeface="宋体"/>
                <a:cs typeface="宋体"/>
              </a:rPr>
              <a:t>循环优化的实施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43934" y="26923"/>
            <a:ext cx="1692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40679" y="2855976"/>
            <a:ext cx="2194560" cy="722630"/>
          </a:xfrm>
          <a:custGeom>
            <a:avLst/>
            <a:gdLst/>
            <a:ahLst/>
            <a:cxnLst/>
            <a:rect l="l" t="t" r="r" b="b"/>
            <a:pathLst>
              <a:path w="2194559" h="722629">
                <a:moveTo>
                  <a:pt x="548894" y="0"/>
                </a:moveTo>
                <a:lnTo>
                  <a:pt x="0" y="361188"/>
                </a:lnTo>
                <a:lnTo>
                  <a:pt x="548894" y="722376"/>
                </a:lnTo>
                <a:lnTo>
                  <a:pt x="548894" y="541782"/>
                </a:lnTo>
                <a:lnTo>
                  <a:pt x="2194560" y="541782"/>
                </a:lnTo>
                <a:lnTo>
                  <a:pt x="2194560" y="180594"/>
                </a:lnTo>
                <a:lnTo>
                  <a:pt x="548894" y="180594"/>
                </a:lnTo>
                <a:lnTo>
                  <a:pt x="54889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40679" y="2855976"/>
            <a:ext cx="2194560" cy="722630"/>
          </a:xfrm>
          <a:custGeom>
            <a:avLst/>
            <a:gdLst/>
            <a:ahLst/>
            <a:cxnLst/>
            <a:rect l="l" t="t" r="r" b="b"/>
            <a:pathLst>
              <a:path w="2194559" h="722629">
                <a:moveTo>
                  <a:pt x="0" y="361188"/>
                </a:moveTo>
                <a:lnTo>
                  <a:pt x="548894" y="0"/>
                </a:lnTo>
                <a:lnTo>
                  <a:pt x="548894" y="180594"/>
                </a:lnTo>
                <a:lnTo>
                  <a:pt x="2194560" y="180594"/>
                </a:lnTo>
                <a:lnTo>
                  <a:pt x="2194560" y="541782"/>
                </a:lnTo>
                <a:lnTo>
                  <a:pt x="548894" y="541782"/>
                </a:lnTo>
                <a:lnTo>
                  <a:pt x="548894" y="722376"/>
                </a:lnTo>
                <a:lnTo>
                  <a:pt x="0" y="361188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21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5591" y="2732354"/>
            <a:ext cx="6428740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0" lvl="2" indent="-125793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1270000" algn="l"/>
                <a:tab pos="1270635" algn="l"/>
              </a:tabLst>
            </a:pPr>
            <a:r>
              <a:rPr sz="3600" b="1" spc="-10" dirty="0">
                <a:solidFill>
                  <a:srgbClr val="FFFFFF"/>
                </a:solidFill>
                <a:latin typeface="宋体"/>
                <a:cs typeface="宋体"/>
              </a:rPr>
              <a:t>基本块定义与划分</a:t>
            </a:r>
            <a:endParaRPr sz="3600">
              <a:latin typeface="宋体"/>
              <a:cs typeface="宋体"/>
            </a:endParaRPr>
          </a:p>
          <a:p>
            <a:pPr marL="1270000" lvl="2" indent="-1257935">
              <a:lnSpc>
                <a:spcPct val="100000"/>
              </a:lnSpc>
              <a:spcBef>
                <a:spcPts val="3244"/>
              </a:spcBef>
              <a:buFont typeface="Times New Roman"/>
              <a:buAutoNum type="arabicPeriod"/>
              <a:tabLst>
                <a:tab pos="1270000" algn="l"/>
                <a:tab pos="1270635" algn="l"/>
              </a:tabLst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程序的控制流图</a:t>
            </a:r>
            <a:endParaRPr sz="3600">
              <a:latin typeface="宋体"/>
              <a:cs typeface="宋体"/>
            </a:endParaRPr>
          </a:p>
          <a:p>
            <a:pPr marL="1270000" lvl="2" indent="-1257935">
              <a:lnSpc>
                <a:spcPct val="100000"/>
              </a:lnSpc>
              <a:spcBef>
                <a:spcPts val="3240"/>
              </a:spcBef>
              <a:buFont typeface="Times New Roman"/>
              <a:buAutoNum type="arabicPeriod"/>
              <a:tabLst>
                <a:tab pos="1270000" algn="l"/>
                <a:tab pos="1270635" algn="l"/>
              </a:tabLst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基本块的</a:t>
            </a:r>
            <a:r>
              <a:rPr sz="3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DAG</a:t>
            </a: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表示与应用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92373" y="26923"/>
            <a:ext cx="1692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93867" y="26923"/>
            <a:ext cx="1557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14370" y="1089406"/>
            <a:ext cx="33870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29665" algn="l"/>
              </a:tabLst>
            </a:pPr>
            <a:r>
              <a:rPr sz="4400" u="none" dirty="0">
                <a:solidFill>
                  <a:srgbClr val="FFFF00"/>
                </a:solidFill>
                <a:latin typeface="Times New Roman"/>
                <a:cs typeface="Times New Roman"/>
              </a:rPr>
              <a:t>8.2	</a:t>
            </a:r>
            <a:r>
              <a:rPr sz="4400" u="none" spc="-5" dirty="0">
                <a:solidFill>
                  <a:srgbClr val="FFFF00"/>
                </a:solidFill>
                <a:latin typeface="宋体"/>
                <a:cs typeface="宋体"/>
              </a:rPr>
              <a:t>局部优化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56959" y="2715767"/>
            <a:ext cx="2194560" cy="722630"/>
          </a:xfrm>
          <a:custGeom>
            <a:avLst/>
            <a:gdLst/>
            <a:ahLst/>
            <a:cxnLst/>
            <a:rect l="l" t="t" r="r" b="b"/>
            <a:pathLst>
              <a:path w="2194559" h="722629">
                <a:moveTo>
                  <a:pt x="548893" y="0"/>
                </a:moveTo>
                <a:lnTo>
                  <a:pt x="0" y="361188"/>
                </a:lnTo>
                <a:lnTo>
                  <a:pt x="548893" y="722376"/>
                </a:lnTo>
                <a:lnTo>
                  <a:pt x="548893" y="541782"/>
                </a:lnTo>
                <a:lnTo>
                  <a:pt x="2194560" y="541782"/>
                </a:lnTo>
                <a:lnTo>
                  <a:pt x="2194560" y="180594"/>
                </a:lnTo>
                <a:lnTo>
                  <a:pt x="548893" y="180594"/>
                </a:lnTo>
                <a:lnTo>
                  <a:pt x="548893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56959" y="2715767"/>
            <a:ext cx="2194560" cy="722630"/>
          </a:xfrm>
          <a:custGeom>
            <a:avLst/>
            <a:gdLst/>
            <a:ahLst/>
            <a:cxnLst/>
            <a:rect l="l" t="t" r="r" b="b"/>
            <a:pathLst>
              <a:path w="2194559" h="722629">
                <a:moveTo>
                  <a:pt x="0" y="361188"/>
                </a:moveTo>
                <a:lnTo>
                  <a:pt x="548893" y="0"/>
                </a:lnTo>
                <a:lnTo>
                  <a:pt x="548893" y="180594"/>
                </a:lnTo>
                <a:lnTo>
                  <a:pt x="2194560" y="180594"/>
                </a:lnTo>
                <a:lnTo>
                  <a:pt x="2194560" y="541782"/>
                </a:lnTo>
                <a:lnTo>
                  <a:pt x="548893" y="541782"/>
                </a:lnTo>
                <a:lnTo>
                  <a:pt x="548893" y="722376"/>
                </a:lnTo>
                <a:lnTo>
                  <a:pt x="0" y="361188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22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392" y="475760"/>
            <a:ext cx="7811134" cy="372364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458470" indent="-419734">
              <a:lnSpc>
                <a:spcPct val="100000"/>
              </a:lnSpc>
              <a:spcBef>
                <a:spcPts val="108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58470" algn="l"/>
                <a:tab pos="459105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局部优化</a:t>
            </a:r>
            <a:endParaRPr sz="3200">
              <a:latin typeface="宋体"/>
              <a:cs typeface="宋体"/>
            </a:endParaRPr>
          </a:p>
          <a:p>
            <a:pPr marL="859155">
              <a:lnSpc>
                <a:spcPct val="100000"/>
              </a:lnSpc>
              <a:spcBef>
                <a:spcPts val="99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指在程序的一个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基本</a:t>
            </a:r>
            <a:r>
              <a:rPr sz="3200" b="1" spc="5" dirty="0">
                <a:solidFill>
                  <a:srgbClr val="66FFFF"/>
                </a:solidFill>
                <a:latin typeface="宋体"/>
                <a:cs typeface="宋体"/>
              </a:rPr>
              <a:t>块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内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进行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优化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431800" indent="-419100">
              <a:lnSpc>
                <a:spcPct val="100000"/>
              </a:lnSpc>
              <a:spcBef>
                <a:spcPts val="236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31165" algn="l"/>
                <a:tab pos="431800" algn="l"/>
              </a:tabLst>
            </a:pP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基本块</a:t>
            </a:r>
            <a:endParaRPr sz="3200">
              <a:latin typeface="宋体"/>
              <a:cs typeface="宋体"/>
            </a:endParaRPr>
          </a:p>
          <a:p>
            <a:pPr marL="12700" marR="2480310">
              <a:lnSpc>
                <a:spcPct val="114999"/>
              </a:lnSpc>
              <a:spcBef>
                <a:spcPts val="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一顺序执行的最大语句序列。 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特点1：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惟一入口和惟一出口。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6731" y="26923"/>
            <a:ext cx="73037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313940" algn="l"/>
                <a:tab pos="2821940" algn="l"/>
                <a:tab pos="4479925" algn="l"/>
                <a:tab pos="524192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基本块定义与划分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5716" y="3089148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>
                <a:moveTo>
                  <a:pt x="0" y="0"/>
                </a:moveTo>
                <a:lnTo>
                  <a:pt x="1447800" y="0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8704" y="4203191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>
                <a:moveTo>
                  <a:pt x="0" y="0"/>
                </a:moveTo>
                <a:lnTo>
                  <a:pt x="1447800" y="0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00300" y="4203191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>
                <a:moveTo>
                  <a:pt x="0" y="0"/>
                </a:moveTo>
                <a:lnTo>
                  <a:pt x="1447800" y="0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66060" y="3089148"/>
            <a:ext cx="824865" cy="0"/>
          </a:xfrm>
          <a:custGeom>
            <a:avLst/>
            <a:gdLst/>
            <a:ahLst/>
            <a:cxnLst/>
            <a:rect l="l" t="t" r="r" b="b"/>
            <a:pathLst>
              <a:path w="824864">
                <a:moveTo>
                  <a:pt x="0" y="0"/>
                </a:moveTo>
                <a:lnTo>
                  <a:pt x="824484" y="0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4779" y="4228846"/>
            <a:ext cx="3561715" cy="1018540"/>
          </a:xfrm>
          <a:custGeom>
            <a:avLst/>
            <a:gdLst/>
            <a:ahLst/>
            <a:cxnLst/>
            <a:rect l="l" t="t" r="r" b="b"/>
            <a:pathLst>
              <a:path w="3561715" h="1018539">
                <a:moveTo>
                  <a:pt x="0" y="433069"/>
                </a:moveTo>
                <a:lnTo>
                  <a:pt x="593598" y="433069"/>
                </a:lnTo>
                <a:lnTo>
                  <a:pt x="628865" y="0"/>
                </a:lnTo>
                <a:lnTo>
                  <a:pt x="1483995" y="433069"/>
                </a:lnTo>
                <a:lnTo>
                  <a:pt x="3561588" y="433069"/>
                </a:lnTo>
                <a:lnTo>
                  <a:pt x="3561588" y="530605"/>
                </a:lnTo>
                <a:lnTo>
                  <a:pt x="3561588" y="676909"/>
                </a:lnTo>
                <a:lnTo>
                  <a:pt x="3561588" y="1018285"/>
                </a:lnTo>
                <a:lnTo>
                  <a:pt x="1483995" y="1018285"/>
                </a:lnTo>
                <a:lnTo>
                  <a:pt x="593598" y="1018285"/>
                </a:lnTo>
                <a:lnTo>
                  <a:pt x="0" y="1018285"/>
                </a:lnTo>
                <a:lnTo>
                  <a:pt x="0" y="676909"/>
                </a:lnTo>
                <a:lnTo>
                  <a:pt x="0" y="530605"/>
                </a:lnTo>
                <a:lnTo>
                  <a:pt x="0" y="433069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95802" y="4239514"/>
            <a:ext cx="5000625" cy="996950"/>
          </a:xfrm>
          <a:custGeom>
            <a:avLst/>
            <a:gdLst/>
            <a:ahLst/>
            <a:cxnLst/>
            <a:rect l="l" t="t" r="r" b="b"/>
            <a:pathLst>
              <a:path w="5000625" h="996950">
                <a:moveTo>
                  <a:pt x="1118870" y="411734"/>
                </a:moveTo>
                <a:lnTo>
                  <a:pt x="1765808" y="411734"/>
                </a:lnTo>
                <a:lnTo>
                  <a:pt x="0" y="0"/>
                </a:lnTo>
                <a:lnTo>
                  <a:pt x="2736215" y="411734"/>
                </a:lnTo>
                <a:lnTo>
                  <a:pt x="5000498" y="411734"/>
                </a:lnTo>
                <a:lnTo>
                  <a:pt x="5000498" y="509269"/>
                </a:lnTo>
                <a:lnTo>
                  <a:pt x="5000498" y="655574"/>
                </a:lnTo>
                <a:lnTo>
                  <a:pt x="5000498" y="996950"/>
                </a:lnTo>
                <a:lnTo>
                  <a:pt x="2736215" y="996950"/>
                </a:lnTo>
                <a:lnTo>
                  <a:pt x="1765808" y="996950"/>
                </a:lnTo>
                <a:lnTo>
                  <a:pt x="1118870" y="996950"/>
                </a:lnTo>
                <a:lnTo>
                  <a:pt x="1118870" y="655574"/>
                </a:lnTo>
                <a:lnTo>
                  <a:pt x="1118870" y="509269"/>
                </a:lnTo>
                <a:lnTo>
                  <a:pt x="1118870" y="411734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4779" y="4615941"/>
            <a:ext cx="8251190" cy="2004060"/>
          </a:xfrm>
          <a:prstGeom prst="rect">
            <a:avLst/>
          </a:prstGeom>
          <a:ln w="57150">
            <a:solidFill>
              <a:srgbClr val="FFFF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90"/>
              </a:spcBef>
              <a:tabLst>
                <a:tab pos="4561840" algn="l"/>
              </a:tabLst>
            </a:pP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序列的第一个语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sz="4800" b="1" baseline="1736" dirty="0">
                <a:solidFill>
                  <a:srgbClr val="FFFFFF"/>
                </a:solidFill>
                <a:latin typeface="宋体"/>
                <a:cs typeface="宋体"/>
              </a:rPr>
              <a:t>序列的最后一个语句</a:t>
            </a:r>
            <a:endParaRPr sz="4800" baseline="1736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0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特点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2：</a:t>
            </a:r>
            <a:endParaRPr sz="320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  <a:spcBef>
                <a:spcPts val="980"/>
              </a:spcBef>
            </a:pP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没有转进转出，分叉汇</a:t>
            </a:r>
            <a:r>
              <a:rPr sz="3200" b="1" spc="760" dirty="0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23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1640" y="0"/>
            <a:ext cx="8090534" cy="644588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367665">
              <a:lnSpc>
                <a:spcPct val="100000"/>
              </a:lnSpc>
              <a:spcBef>
                <a:spcPts val="1145"/>
              </a:spcBef>
              <a:tabLst>
                <a:tab pos="1010919" algn="l"/>
                <a:tab pos="2669540" algn="l"/>
                <a:tab pos="3176905" algn="l"/>
                <a:tab pos="4834890" algn="l"/>
                <a:tab pos="559689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8.2.1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基本块定义与划分</a:t>
            </a:r>
            <a:endParaRPr sz="20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宋体"/>
              <a:cs typeface="宋体"/>
            </a:endParaRPr>
          </a:p>
          <a:p>
            <a:pPr marL="329565" indent="-317500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基本块划分</a:t>
            </a:r>
            <a:endParaRPr sz="3200" dirty="0">
              <a:latin typeface="宋体"/>
              <a:cs typeface="宋体"/>
            </a:endParaRPr>
          </a:p>
          <a:p>
            <a:pPr marL="934085" marR="1025525" indent="-820419">
              <a:lnSpc>
                <a:spcPts val="5770"/>
              </a:lnSpc>
              <a:spcBef>
                <a:spcPts val="50"/>
              </a:spcBef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第1步：</a:t>
            </a:r>
            <a:r>
              <a:rPr sz="32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确定每个基本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块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</a:t>
            </a:r>
            <a:r>
              <a:rPr sz="3200" b="1" u="heavy" spc="-5" dirty="0">
                <a:solidFill>
                  <a:srgbClr val="FFFF00"/>
                </a:solidFill>
                <a:highlight>
                  <a:srgbClr val="808000"/>
                </a:highlight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入口</a:t>
            </a:r>
            <a:r>
              <a:rPr sz="3200" b="1" u="heavy" spc="-10" dirty="0">
                <a:solidFill>
                  <a:srgbClr val="FFFF00"/>
                </a:solidFill>
                <a:highlight>
                  <a:srgbClr val="808000"/>
                </a:highlight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语</a:t>
            </a:r>
            <a:r>
              <a:rPr sz="3200" b="1" u="heavy" spc="25" dirty="0">
                <a:solidFill>
                  <a:srgbClr val="FFFF00"/>
                </a:solidFill>
                <a:highlight>
                  <a:srgbClr val="808000"/>
                </a:highlight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句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。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根据基本块结构特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口语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句是</a:t>
            </a:r>
            <a:endParaRPr sz="3200" dirty="0">
              <a:latin typeface="宋体"/>
              <a:cs typeface="宋体"/>
            </a:endParaRPr>
          </a:p>
          <a:p>
            <a:pPr marR="3270885" algn="r">
              <a:lnSpc>
                <a:spcPct val="100000"/>
              </a:lnSpc>
              <a:spcBef>
                <a:spcPts val="63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下述三种类型的语句之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:</a:t>
            </a:r>
            <a:endParaRPr sz="3200" dirty="0">
              <a:latin typeface="宋体"/>
              <a:cs typeface="宋体"/>
            </a:endParaRPr>
          </a:p>
          <a:p>
            <a:pPr marR="3268979" algn="r">
              <a:lnSpc>
                <a:spcPct val="100000"/>
              </a:lnSpc>
              <a:spcBef>
                <a:spcPts val="1155"/>
              </a:spcBef>
            </a:pP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⑴</a:t>
            </a:r>
            <a:r>
              <a:rPr sz="3200" b="1" spc="-6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程序的</a:t>
            </a:r>
            <a:r>
              <a:rPr sz="32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第一个语句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 dirty="0">
              <a:latin typeface="宋体"/>
              <a:cs typeface="宋体"/>
            </a:endParaRPr>
          </a:p>
          <a:p>
            <a:pPr marL="1138555" marR="5080" indent="-614680">
              <a:lnSpc>
                <a:spcPct val="130000"/>
              </a:lnSpc>
            </a:pP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⑵</a:t>
            </a:r>
            <a:r>
              <a:rPr sz="3200" b="1" spc="-7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由条件转移语句或无条件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移语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转移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2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到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的语句；</a:t>
            </a:r>
            <a:endParaRPr sz="3200" dirty="0">
              <a:latin typeface="宋体"/>
              <a:cs typeface="宋体"/>
            </a:endParaRPr>
          </a:p>
          <a:p>
            <a:pPr marL="1138555" marR="414655" indent="-614680">
              <a:lnSpc>
                <a:spcPct val="125600"/>
              </a:lnSpc>
              <a:spcBef>
                <a:spcPts val="170"/>
              </a:spcBef>
            </a:pP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⑶</a:t>
            </a:r>
            <a:r>
              <a:rPr sz="3200" b="1" spc="-7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紧跟在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条件转移或无条件</a:t>
            </a:r>
            <a:r>
              <a:rPr sz="3200" b="1" spc="-1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转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移后</a:t>
            </a:r>
            <a:r>
              <a:rPr sz="3200" b="1" spc="-1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面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24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6731" y="26923"/>
            <a:ext cx="73037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313940" algn="l"/>
                <a:tab pos="2821940" algn="l"/>
                <a:tab pos="4479925" algn="l"/>
                <a:tab pos="524192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基本块定义与划分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25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8241" y="589972"/>
            <a:ext cx="8411845" cy="2856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6530" marR="429895" indent="-1434465">
              <a:lnSpc>
                <a:spcPct val="115100"/>
              </a:lnSpc>
              <a:spcBef>
                <a:spcPts val="100"/>
              </a:spcBef>
            </a:pPr>
            <a:r>
              <a:rPr sz="3200" u="none" spc="-5" dirty="0">
                <a:solidFill>
                  <a:srgbClr val="66FFFF"/>
                </a:solidFill>
                <a:latin typeface="宋体"/>
                <a:cs typeface="宋体"/>
              </a:rPr>
              <a:t>第</a:t>
            </a:r>
            <a:r>
              <a:rPr sz="3200" u="none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sz="3200" u="none" spc="-5" dirty="0">
                <a:solidFill>
                  <a:srgbClr val="66FFFF"/>
                </a:solidFill>
                <a:latin typeface="宋体"/>
                <a:cs typeface="宋体"/>
              </a:rPr>
              <a:t>步</a:t>
            </a:r>
            <a:r>
              <a:rPr sz="3200" u="none" dirty="0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sz="3200" u="none" spc="-10" dirty="0">
                <a:solidFill>
                  <a:srgbClr val="FFFF00"/>
                </a:solidFill>
                <a:latin typeface="宋体"/>
                <a:cs typeface="宋体"/>
              </a:rPr>
              <a:t>根</a:t>
            </a:r>
            <a:r>
              <a:rPr sz="3200" u="none" spc="5" dirty="0">
                <a:solidFill>
                  <a:srgbClr val="FFFF00"/>
                </a:solidFill>
                <a:latin typeface="宋体"/>
                <a:cs typeface="宋体"/>
              </a:rPr>
              <a:t>据</a:t>
            </a:r>
            <a:r>
              <a:rPr sz="3200" u="none" spc="-10" dirty="0">
                <a:solidFill>
                  <a:srgbClr val="FFFF00"/>
                </a:solidFill>
                <a:latin typeface="宋体"/>
                <a:cs typeface="宋体"/>
              </a:rPr>
              <a:t>确</a:t>
            </a:r>
            <a:r>
              <a:rPr sz="3200" u="none" spc="5" dirty="0">
                <a:solidFill>
                  <a:srgbClr val="FFFF00"/>
                </a:solidFill>
                <a:latin typeface="宋体"/>
                <a:cs typeface="宋体"/>
              </a:rPr>
              <a:t>定</a:t>
            </a:r>
            <a:r>
              <a:rPr sz="3200" u="none" spc="-10" dirty="0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sz="3200" u="none" spc="5" dirty="0">
                <a:solidFill>
                  <a:srgbClr val="FFFF00"/>
                </a:solidFill>
                <a:latin typeface="宋体"/>
                <a:cs typeface="宋体"/>
              </a:rPr>
              <a:t>基</a:t>
            </a:r>
            <a:r>
              <a:rPr sz="3200" u="none" spc="-10" dirty="0">
                <a:solidFill>
                  <a:srgbClr val="FFFF00"/>
                </a:solidFill>
                <a:latin typeface="宋体"/>
                <a:cs typeface="宋体"/>
              </a:rPr>
              <a:t>本块</a:t>
            </a: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sz="3200" u="none" spc="-10" dirty="0">
                <a:solidFill>
                  <a:srgbClr val="FFFF00"/>
                </a:solidFill>
                <a:latin typeface="宋体"/>
                <a:cs typeface="宋体"/>
              </a:rPr>
              <a:t>入口</a:t>
            </a: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sz="3200" u="none" spc="20" dirty="0">
                <a:solidFill>
                  <a:srgbClr val="FFFF00"/>
                </a:solidFill>
                <a:latin typeface="宋体"/>
                <a:cs typeface="宋体"/>
              </a:rPr>
              <a:t>句</a:t>
            </a:r>
            <a:r>
              <a:rPr sz="3200" u="none" spc="-15" dirty="0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sz="3200" u="none" spc="-5" dirty="0">
                <a:solidFill>
                  <a:srgbClr val="FFFF00"/>
                </a:solidFill>
                <a:latin typeface="宋体"/>
                <a:cs typeface="宋体"/>
              </a:rPr>
              <a:t>构造 </a:t>
            </a: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其所属的</a:t>
            </a:r>
            <a:r>
              <a:rPr sz="3200" u="none" dirty="0">
                <a:solidFill>
                  <a:srgbClr val="FFFF00"/>
                </a:solidFill>
                <a:highlight>
                  <a:srgbClr val="808000"/>
                </a:highlight>
                <a:latin typeface="宋体"/>
                <a:cs typeface="宋体"/>
              </a:rPr>
              <a:t>基本</a:t>
            </a:r>
            <a:r>
              <a:rPr sz="3200" u="none" spc="5" dirty="0">
                <a:solidFill>
                  <a:srgbClr val="FFFF00"/>
                </a:solidFill>
                <a:highlight>
                  <a:srgbClr val="808000"/>
                </a:highlight>
                <a:latin typeface="宋体"/>
                <a:cs typeface="宋体"/>
              </a:rPr>
              <a:t>块</a:t>
            </a:r>
            <a:r>
              <a:rPr sz="3200" u="none" spc="170" dirty="0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r>
              <a:rPr sz="4800" u="none" baseline="-3472" dirty="0">
                <a:solidFill>
                  <a:srgbClr val="FFFFFF"/>
                </a:solidFill>
                <a:latin typeface="宋体"/>
                <a:cs typeface="宋体"/>
              </a:rPr>
              <a:t>即：</a:t>
            </a:r>
            <a:endParaRPr sz="4800" baseline="-3472" dirty="0">
              <a:latin typeface="宋体"/>
              <a:cs typeface="宋体"/>
            </a:endParaRPr>
          </a:p>
          <a:p>
            <a:pPr marL="845185" marR="5080" indent="-615950">
              <a:lnSpc>
                <a:spcPct val="114999"/>
              </a:lnSpc>
              <a:spcBef>
                <a:spcPts val="200"/>
              </a:spcBef>
            </a:pPr>
            <a:r>
              <a:rPr sz="3200" u="none" spc="-10" dirty="0">
                <a:solidFill>
                  <a:srgbClr val="FFFF00"/>
                </a:solidFill>
                <a:latin typeface="宋体"/>
                <a:cs typeface="宋体"/>
              </a:rPr>
              <a:t>⑴</a:t>
            </a:r>
            <a:r>
              <a:rPr sz="3200" u="none" spc="-6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由该</a:t>
            </a:r>
            <a:r>
              <a:rPr sz="3200" u="none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入口语句直到下一个入口</a:t>
            </a:r>
            <a:r>
              <a:rPr sz="3200" u="none" spc="-1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语</a:t>
            </a:r>
            <a:r>
              <a:rPr sz="3200" u="none" spc="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句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sz="3200" u="none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不包含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200" u="none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下一个入口语</a:t>
            </a:r>
            <a:r>
              <a:rPr sz="3200" u="none" spc="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句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)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之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间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的所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语句构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成一 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个基本块；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141" y="3421227"/>
            <a:ext cx="8342630" cy="296862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883285" marR="512445" indent="-615950">
              <a:lnSpc>
                <a:spcPct val="112799"/>
              </a:lnSpc>
              <a:spcBef>
                <a:spcPts val="180"/>
              </a:spcBef>
            </a:pP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⑵</a:t>
            </a:r>
            <a:r>
              <a:rPr sz="3200" b="1" spc="-7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由该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入口语句到程序中的停止</a:t>
            </a:r>
            <a:r>
              <a:rPr sz="3200" b="1" spc="-1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或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暂停语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句或最后一个语</a:t>
            </a:r>
            <a:r>
              <a:rPr sz="3200" b="1" spc="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句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(</a:t>
            </a:r>
            <a:r>
              <a:rPr sz="32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包</a:t>
            </a:r>
            <a:r>
              <a:rPr sz="32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含该</a:t>
            </a:r>
            <a:r>
              <a:rPr sz="32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停</a:t>
            </a:r>
            <a:r>
              <a:rPr sz="32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止或暂</a:t>
            </a:r>
            <a:r>
              <a:rPr sz="32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停 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或最后语句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)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之间的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句序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列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组成</a:t>
            </a:r>
            <a:r>
              <a:rPr sz="3200" b="1" spc="2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  <a:p>
            <a:pPr marL="12700" marR="5080">
              <a:lnSpc>
                <a:spcPct val="132400"/>
              </a:lnSpc>
              <a:spcBef>
                <a:spcPts val="165"/>
              </a:spcBef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第</a:t>
            </a:r>
            <a:r>
              <a:rPr sz="32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步：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凡是</a:t>
            </a:r>
            <a:r>
              <a:rPr sz="30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未包含在基本块中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的语</a:t>
            </a:r>
            <a:r>
              <a:rPr sz="3000" b="1" dirty="0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，都是程序 的</a:t>
            </a:r>
            <a:r>
              <a:rPr sz="30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控制流不可到达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的语</a:t>
            </a:r>
            <a:r>
              <a:rPr sz="3000" b="1" dirty="0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，直接从程序中删</a:t>
            </a:r>
            <a:r>
              <a:rPr sz="3000" b="1" dirty="0">
                <a:solidFill>
                  <a:srgbClr val="FFFFFF"/>
                </a:solidFill>
                <a:latin typeface="宋体"/>
                <a:cs typeface="宋体"/>
              </a:rPr>
              <a:t>除</a:t>
            </a:r>
            <a:r>
              <a:rPr sz="30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0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652398"/>
            <a:ext cx="8858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sz="3000" b="1" dirty="0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sz="30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sz="3000" b="1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0529" y="652398"/>
            <a:ext cx="5763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对如下程序段实施基本块的划</a:t>
            </a:r>
            <a:r>
              <a:rPr sz="3000" b="1" spc="5" dirty="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sz="30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2082" y="1109064"/>
            <a:ext cx="3037205" cy="1032510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64"/>
              </a:spcBef>
              <a:tabLst>
                <a:tab pos="859155" algn="l"/>
              </a:tabLst>
            </a:pPr>
            <a:r>
              <a:rPr sz="3000" b="1" spc="-10" dirty="0">
                <a:solidFill>
                  <a:srgbClr val="FFFFFF"/>
                </a:solidFill>
                <a:latin typeface="宋体"/>
                <a:cs typeface="宋体"/>
              </a:rPr>
              <a:t>⑴	</a:t>
            </a:r>
            <a:r>
              <a:rPr sz="3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read </a:t>
            </a:r>
            <a:r>
              <a:rPr sz="3000" b="1" dirty="0">
                <a:solidFill>
                  <a:srgbClr val="FFFFFF"/>
                </a:solidFill>
                <a:latin typeface="Times New Roman"/>
                <a:cs typeface="Times New Roman"/>
              </a:rPr>
              <a:t>( </a:t>
            </a:r>
            <a:r>
              <a:rPr sz="3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limit</a:t>
            </a:r>
            <a:r>
              <a:rPr sz="3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);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859155" algn="l"/>
              </a:tabLst>
            </a:pPr>
            <a:r>
              <a:rPr sz="3000" b="1" spc="-15" dirty="0">
                <a:solidFill>
                  <a:srgbClr val="FFFFFF"/>
                </a:solidFill>
                <a:latin typeface="宋体"/>
                <a:cs typeface="宋体"/>
              </a:rPr>
              <a:t>⑵	</a:t>
            </a:r>
            <a:r>
              <a:rPr sz="3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i=1;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7009" y="2161413"/>
            <a:ext cx="152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66FFFF"/>
                </a:solidFill>
                <a:latin typeface="Times New Roman"/>
                <a:cs typeface="Times New Roman"/>
              </a:rPr>
              <a:t>;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82461" y="1373124"/>
            <a:ext cx="838200" cy="114300"/>
          </a:xfrm>
          <a:custGeom>
            <a:avLst/>
            <a:gdLst/>
            <a:ahLst/>
            <a:cxnLst/>
            <a:rect l="l" t="t" r="r" b="b"/>
            <a:pathLst>
              <a:path w="838200" h="114300">
                <a:moveTo>
                  <a:pt x="723899" y="0"/>
                </a:moveTo>
                <a:lnTo>
                  <a:pt x="723899" y="114300"/>
                </a:lnTo>
                <a:lnTo>
                  <a:pt x="800099" y="76200"/>
                </a:lnTo>
                <a:lnTo>
                  <a:pt x="742949" y="76200"/>
                </a:lnTo>
                <a:lnTo>
                  <a:pt x="742949" y="38100"/>
                </a:lnTo>
                <a:lnTo>
                  <a:pt x="800099" y="38100"/>
                </a:lnTo>
                <a:lnTo>
                  <a:pt x="723899" y="0"/>
                </a:lnTo>
                <a:close/>
              </a:path>
              <a:path w="838200" h="114300">
                <a:moveTo>
                  <a:pt x="72389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23899" y="76200"/>
                </a:lnTo>
                <a:lnTo>
                  <a:pt x="723899" y="38100"/>
                </a:lnTo>
                <a:close/>
              </a:path>
              <a:path w="838200" h="114300">
                <a:moveTo>
                  <a:pt x="800099" y="38100"/>
                </a:moveTo>
                <a:lnTo>
                  <a:pt x="742949" y="38100"/>
                </a:lnTo>
                <a:lnTo>
                  <a:pt x="742949" y="76200"/>
                </a:lnTo>
                <a:lnTo>
                  <a:pt x="800099" y="76200"/>
                </a:lnTo>
                <a:lnTo>
                  <a:pt x="838199" y="57150"/>
                </a:lnTo>
                <a:lnTo>
                  <a:pt x="800099" y="3810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64173" y="2420111"/>
            <a:ext cx="838200" cy="114300"/>
          </a:xfrm>
          <a:custGeom>
            <a:avLst/>
            <a:gdLst/>
            <a:ahLst/>
            <a:cxnLst/>
            <a:rect l="l" t="t" r="r" b="b"/>
            <a:pathLst>
              <a:path w="838200" h="114300">
                <a:moveTo>
                  <a:pt x="723900" y="0"/>
                </a:moveTo>
                <a:lnTo>
                  <a:pt x="723900" y="114300"/>
                </a:lnTo>
                <a:lnTo>
                  <a:pt x="800100" y="76200"/>
                </a:lnTo>
                <a:lnTo>
                  <a:pt x="742950" y="76200"/>
                </a:lnTo>
                <a:lnTo>
                  <a:pt x="742950" y="38100"/>
                </a:lnTo>
                <a:lnTo>
                  <a:pt x="800100" y="38100"/>
                </a:lnTo>
                <a:lnTo>
                  <a:pt x="723900" y="0"/>
                </a:lnTo>
                <a:close/>
              </a:path>
              <a:path w="838200" h="114300">
                <a:moveTo>
                  <a:pt x="7239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23900" y="76200"/>
                </a:lnTo>
                <a:lnTo>
                  <a:pt x="723900" y="38100"/>
                </a:lnTo>
                <a:close/>
              </a:path>
              <a:path w="838200" h="114300">
                <a:moveTo>
                  <a:pt x="800100" y="38100"/>
                </a:moveTo>
                <a:lnTo>
                  <a:pt x="742950" y="38100"/>
                </a:lnTo>
                <a:lnTo>
                  <a:pt x="742950" y="76200"/>
                </a:lnTo>
                <a:lnTo>
                  <a:pt x="800100" y="76200"/>
                </a:lnTo>
                <a:lnTo>
                  <a:pt x="838200" y="57150"/>
                </a:lnTo>
                <a:lnTo>
                  <a:pt x="800100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64173" y="2935223"/>
            <a:ext cx="838200" cy="114300"/>
          </a:xfrm>
          <a:custGeom>
            <a:avLst/>
            <a:gdLst/>
            <a:ahLst/>
            <a:cxnLst/>
            <a:rect l="l" t="t" r="r" b="b"/>
            <a:pathLst>
              <a:path w="838200" h="114300">
                <a:moveTo>
                  <a:pt x="723900" y="0"/>
                </a:moveTo>
                <a:lnTo>
                  <a:pt x="723900" y="114300"/>
                </a:lnTo>
                <a:lnTo>
                  <a:pt x="800100" y="76200"/>
                </a:lnTo>
                <a:lnTo>
                  <a:pt x="742950" y="76200"/>
                </a:lnTo>
                <a:lnTo>
                  <a:pt x="742950" y="38100"/>
                </a:lnTo>
                <a:lnTo>
                  <a:pt x="800100" y="38100"/>
                </a:lnTo>
                <a:lnTo>
                  <a:pt x="723900" y="0"/>
                </a:lnTo>
                <a:close/>
              </a:path>
              <a:path w="838200" h="114300">
                <a:moveTo>
                  <a:pt x="7239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23900" y="76200"/>
                </a:lnTo>
                <a:lnTo>
                  <a:pt x="723900" y="38100"/>
                </a:lnTo>
                <a:close/>
              </a:path>
              <a:path w="838200" h="114300">
                <a:moveTo>
                  <a:pt x="800100" y="38100"/>
                </a:moveTo>
                <a:lnTo>
                  <a:pt x="742950" y="38100"/>
                </a:lnTo>
                <a:lnTo>
                  <a:pt x="742950" y="76200"/>
                </a:lnTo>
                <a:lnTo>
                  <a:pt x="800100" y="76200"/>
                </a:lnTo>
                <a:lnTo>
                  <a:pt x="838200" y="57150"/>
                </a:lnTo>
                <a:lnTo>
                  <a:pt x="800100" y="3810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26073" y="3887723"/>
            <a:ext cx="838200" cy="114300"/>
          </a:xfrm>
          <a:custGeom>
            <a:avLst/>
            <a:gdLst/>
            <a:ahLst/>
            <a:cxnLst/>
            <a:rect l="l" t="t" r="r" b="b"/>
            <a:pathLst>
              <a:path w="838200" h="114300">
                <a:moveTo>
                  <a:pt x="723900" y="0"/>
                </a:moveTo>
                <a:lnTo>
                  <a:pt x="723900" y="114300"/>
                </a:lnTo>
                <a:lnTo>
                  <a:pt x="800100" y="76200"/>
                </a:lnTo>
                <a:lnTo>
                  <a:pt x="742950" y="76200"/>
                </a:lnTo>
                <a:lnTo>
                  <a:pt x="742950" y="38100"/>
                </a:lnTo>
                <a:lnTo>
                  <a:pt x="800100" y="38100"/>
                </a:lnTo>
                <a:lnTo>
                  <a:pt x="723900" y="0"/>
                </a:lnTo>
                <a:close/>
              </a:path>
              <a:path w="838200" h="114300">
                <a:moveTo>
                  <a:pt x="7239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23900" y="76200"/>
                </a:lnTo>
                <a:lnTo>
                  <a:pt x="723900" y="38100"/>
                </a:lnTo>
                <a:close/>
              </a:path>
              <a:path w="838200" h="114300">
                <a:moveTo>
                  <a:pt x="800100" y="38100"/>
                </a:moveTo>
                <a:lnTo>
                  <a:pt x="742950" y="38100"/>
                </a:lnTo>
                <a:lnTo>
                  <a:pt x="742950" y="76200"/>
                </a:lnTo>
                <a:lnTo>
                  <a:pt x="800100" y="76200"/>
                </a:lnTo>
                <a:lnTo>
                  <a:pt x="838200" y="57150"/>
                </a:lnTo>
                <a:lnTo>
                  <a:pt x="800100" y="3810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87973" y="4840223"/>
            <a:ext cx="838200" cy="114300"/>
          </a:xfrm>
          <a:custGeom>
            <a:avLst/>
            <a:gdLst/>
            <a:ahLst/>
            <a:cxnLst/>
            <a:rect l="l" t="t" r="r" b="b"/>
            <a:pathLst>
              <a:path w="838200" h="114300">
                <a:moveTo>
                  <a:pt x="723900" y="0"/>
                </a:moveTo>
                <a:lnTo>
                  <a:pt x="723900" y="114300"/>
                </a:lnTo>
                <a:lnTo>
                  <a:pt x="800100" y="76200"/>
                </a:lnTo>
                <a:lnTo>
                  <a:pt x="742950" y="76200"/>
                </a:lnTo>
                <a:lnTo>
                  <a:pt x="742950" y="38100"/>
                </a:lnTo>
                <a:lnTo>
                  <a:pt x="800100" y="38100"/>
                </a:lnTo>
                <a:lnTo>
                  <a:pt x="723900" y="0"/>
                </a:lnTo>
                <a:close/>
              </a:path>
              <a:path w="838200" h="114300">
                <a:moveTo>
                  <a:pt x="7239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23900" y="76200"/>
                </a:lnTo>
                <a:lnTo>
                  <a:pt x="723900" y="38100"/>
                </a:lnTo>
                <a:close/>
              </a:path>
              <a:path w="838200" h="114300">
                <a:moveTo>
                  <a:pt x="800100" y="38100"/>
                </a:moveTo>
                <a:lnTo>
                  <a:pt x="742950" y="38100"/>
                </a:lnTo>
                <a:lnTo>
                  <a:pt x="742950" y="76200"/>
                </a:lnTo>
                <a:lnTo>
                  <a:pt x="800100" y="76200"/>
                </a:lnTo>
                <a:lnTo>
                  <a:pt x="838200" y="57150"/>
                </a:lnTo>
                <a:lnTo>
                  <a:pt x="800100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87973" y="5335523"/>
            <a:ext cx="838200" cy="114300"/>
          </a:xfrm>
          <a:custGeom>
            <a:avLst/>
            <a:gdLst/>
            <a:ahLst/>
            <a:cxnLst/>
            <a:rect l="l" t="t" r="r" b="b"/>
            <a:pathLst>
              <a:path w="838200" h="114300">
                <a:moveTo>
                  <a:pt x="723900" y="0"/>
                </a:moveTo>
                <a:lnTo>
                  <a:pt x="723900" y="114300"/>
                </a:lnTo>
                <a:lnTo>
                  <a:pt x="800100" y="76200"/>
                </a:lnTo>
                <a:lnTo>
                  <a:pt x="742950" y="76200"/>
                </a:lnTo>
                <a:lnTo>
                  <a:pt x="742950" y="38100"/>
                </a:lnTo>
                <a:lnTo>
                  <a:pt x="800100" y="38100"/>
                </a:lnTo>
                <a:lnTo>
                  <a:pt x="723900" y="0"/>
                </a:lnTo>
                <a:close/>
              </a:path>
              <a:path w="838200" h="114300">
                <a:moveTo>
                  <a:pt x="7239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23900" y="76200"/>
                </a:lnTo>
                <a:lnTo>
                  <a:pt x="723900" y="38100"/>
                </a:lnTo>
                <a:close/>
              </a:path>
              <a:path w="838200" h="114300">
                <a:moveTo>
                  <a:pt x="800100" y="38100"/>
                </a:moveTo>
                <a:lnTo>
                  <a:pt x="742950" y="38100"/>
                </a:lnTo>
                <a:lnTo>
                  <a:pt x="742950" y="76200"/>
                </a:lnTo>
                <a:lnTo>
                  <a:pt x="800100" y="76200"/>
                </a:lnTo>
                <a:lnTo>
                  <a:pt x="838200" y="57150"/>
                </a:lnTo>
                <a:lnTo>
                  <a:pt x="800100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87973" y="6402323"/>
            <a:ext cx="838200" cy="114300"/>
          </a:xfrm>
          <a:custGeom>
            <a:avLst/>
            <a:gdLst/>
            <a:ahLst/>
            <a:cxnLst/>
            <a:rect l="l" t="t" r="r" b="b"/>
            <a:pathLst>
              <a:path w="838200" h="114300">
                <a:moveTo>
                  <a:pt x="723900" y="0"/>
                </a:moveTo>
                <a:lnTo>
                  <a:pt x="723900" y="114299"/>
                </a:lnTo>
                <a:lnTo>
                  <a:pt x="800100" y="76199"/>
                </a:lnTo>
                <a:lnTo>
                  <a:pt x="742950" y="76199"/>
                </a:lnTo>
                <a:lnTo>
                  <a:pt x="742950" y="38099"/>
                </a:lnTo>
                <a:lnTo>
                  <a:pt x="800100" y="38099"/>
                </a:lnTo>
                <a:lnTo>
                  <a:pt x="723900" y="0"/>
                </a:lnTo>
                <a:close/>
              </a:path>
              <a:path w="838200" h="114300">
                <a:moveTo>
                  <a:pt x="7239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723900" y="76199"/>
                </a:lnTo>
                <a:lnTo>
                  <a:pt x="723900" y="38099"/>
                </a:lnTo>
                <a:close/>
              </a:path>
              <a:path w="838200" h="114300">
                <a:moveTo>
                  <a:pt x="800100" y="38099"/>
                </a:moveTo>
                <a:lnTo>
                  <a:pt x="742950" y="38099"/>
                </a:lnTo>
                <a:lnTo>
                  <a:pt x="742950" y="76199"/>
                </a:lnTo>
                <a:lnTo>
                  <a:pt x="800100" y="76199"/>
                </a:lnTo>
                <a:lnTo>
                  <a:pt x="838200" y="57149"/>
                </a:lnTo>
                <a:lnTo>
                  <a:pt x="800100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96161" y="1181861"/>
            <a:ext cx="4592320" cy="952500"/>
          </a:xfrm>
          <a:custGeom>
            <a:avLst/>
            <a:gdLst/>
            <a:ahLst/>
            <a:cxnLst/>
            <a:rect l="l" t="t" r="r" b="b"/>
            <a:pathLst>
              <a:path w="4592320" h="952500">
                <a:moveTo>
                  <a:pt x="0" y="952500"/>
                </a:moveTo>
                <a:lnTo>
                  <a:pt x="4591812" y="952500"/>
                </a:lnTo>
                <a:lnTo>
                  <a:pt x="4591812" y="0"/>
                </a:lnTo>
                <a:lnTo>
                  <a:pt x="0" y="0"/>
                </a:lnTo>
                <a:lnTo>
                  <a:pt x="0" y="9525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277111" y="2191511"/>
          <a:ext cx="4592320" cy="4647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2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R="184150" algn="r">
                        <a:lnSpc>
                          <a:spcPts val="331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⑶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3315"/>
                        </a:lnSpc>
                        <a:tabLst>
                          <a:tab pos="615315" algn="l"/>
                          <a:tab pos="2146935" algn="l"/>
                        </a:tabLst>
                      </a:pPr>
                      <a:r>
                        <a:rPr sz="3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if	(i&gt;limit)	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r>
                        <a:rPr sz="30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spc="-45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(11)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261">
                <a:tc>
                  <a:txBody>
                    <a:bodyPr/>
                    <a:lstStyle/>
                    <a:p>
                      <a:pPr marR="184150" algn="r">
                        <a:lnSpc>
                          <a:spcPts val="277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⑷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ts val="2775"/>
                        </a:lnSpc>
                      </a:pPr>
                      <a:r>
                        <a:rPr sz="3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read(j)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238">
                <a:tc>
                  <a:txBody>
                    <a:bodyPr/>
                    <a:lstStyle/>
                    <a:p>
                      <a:pPr marR="184150" algn="r">
                        <a:lnSpc>
                          <a:spcPts val="3590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⑸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ts val="3590"/>
                        </a:lnSpc>
                        <a:tabLst>
                          <a:tab pos="709930" algn="l"/>
                        </a:tabLst>
                      </a:pPr>
                      <a:r>
                        <a:rPr sz="3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if	(i=1)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r>
                        <a:rPr sz="30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spc="-5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(8);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761">
                <a:tc>
                  <a:txBody>
                    <a:bodyPr/>
                    <a:lstStyle/>
                    <a:p>
                      <a:pPr marR="184150" algn="r">
                        <a:lnSpc>
                          <a:spcPts val="319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⑹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ts val="3195"/>
                        </a:lnSpc>
                      </a:pPr>
                      <a:r>
                        <a:rPr sz="3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sum=sum+j;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644">
                <a:tc>
                  <a:txBody>
                    <a:bodyPr/>
                    <a:lstStyle/>
                    <a:p>
                      <a:pPr marR="184150" algn="r">
                        <a:lnSpc>
                          <a:spcPts val="359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⑺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ts val="359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goto </a:t>
                      </a:r>
                      <a:r>
                        <a:rPr sz="3000" b="1" spc="-5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(9);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406">
                <a:tc>
                  <a:txBody>
                    <a:bodyPr/>
                    <a:lstStyle/>
                    <a:p>
                      <a:pPr marR="184150" algn="r">
                        <a:lnSpc>
                          <a:spcPts val="3540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⑻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ts val="3540"/>
                        </a:lnSpc>
                      </a:pPr>
                      <a:r>
                        <a:rPr sz="3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sum=j;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989">
                <a:tc>
                  <a:txBody>
                    <a:bodyPr/>
                    <a:lstStyle/>
                    <a:p>
                      <a:pPr marR="184150" algn="r">
                        <a:lnSpc>
                          <a:spcPts val="2920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⑼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ts val="2920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 +</a:t>
                      </a:r>
                      <a:r>
                        <a:rPr sz="3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+;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2704">
                <a:tc>
                  <a:txBody>
                    <a:bodyPr/>
                    <a:lstStyle/>
                    <a:p>
                      <a:pPr marR="184150" algn="r">
                        <a:lnSpc>
                          <a:spcPts val="359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⑽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ts val="359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goto </a:t>
                      </a:r>
                      <a:r>
                        <a:rPr sz="3000" b="1" spc="-5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(3);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8929">
                <a:tc>
                  <a:txBody>
                    <a:bodyPr/>
                    <a:lstStyle/>
                    <a:p>
                      <a:pPr marR="184150" algn="r">
                        <a:lnSpc>
                          <a:spcPts val="313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方正舒体"/>
                          <a:cs typeface="方正舒体"/>
                        </a:rPr>
                        <a:t>⑾</a:t>
                      </a:r>
                      <a:endParaRPr sz="3000">
                        <a:latin typeface="方正舒体"/>
                        <a:cs typeface="方正舒体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ts val="3135"/>
                        </a:lnSpc>
                      </a:pPr>
                      <a:r>
                        <a:rPr sz="3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write(sum);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7319009" y="1140332"/>
            <a:ext cx="2292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19009" y="1944852"/>
            <a:ext cx="229235" cy="129921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19009" y="3659835"/>
            <a:ext cx="229235" cy="2991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60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76731" y="26923"/>
            <a:ext cx="73037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313940" algn="l"/>
                <a:tab pos="2821940" algn="l"/>
                <a:tab pos="4479925" algn="l"/>
                <a:tab pos="524192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基本块定义与划分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26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86098" y="26923"/>
            <a:ext cx="1049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27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44465" y="26923"/>
            <a:ext cx="2835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基本块定义与划分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3268" y="0"/>
            <a:ext cx="2929890" cy="131254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295910">
              <a:lnSpc>
                <a:spcPct val="100000"/>
              </a:lnSpc>
              <a:spcBef>
                <a:spcPts val="680"/>
              </a:spcBef>
              <a:tabLst>
                <a:tab pos="939165" algn="l"/>
                <a:tab pos="259778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393700" indent="-381000">
              <a:lnSpc>
                <a:spcPct val="100000"/>
              </a:lnSpc>
              <a:spcBef>
                <a:spcPts val="5"/>
              </a:spcBef>
              <a:buClr>
                <a:srgbClr val="66FFFF"/>
              </a:buClr>
              <a:buSzPct val="150000"/>
              <a:buFont typeface="Wingdings"/>
              <a:buChar char=""/>
              <a:tabLst>
                <a:tab pos="393700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基本块的确定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6965" y="1497025"/>
            <a:ext cx="79692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22400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Step1:	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求四元式序列各基本块的入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口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语句；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3366" y="2426335"/>
            <a:ext cx="11334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Step2: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4468" y="3736340"/>
            <a:ext cx="11334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Step3: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4117" y="2281053"/>
            <a:ext cx="6578600" cy="3237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 marR="5080" indent="-12700">
              <a:lnSpc>
                <a:spcPct val="130000"/>
              </a:lnSpc>
              <a:spcBef>
                <a:spcPts val="9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对求出每一个的入口语句构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相应的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基本块；</a:t>
            </a:r>
            <a:endParaRPr sz="3200">
              <a:latin typeface="宋体"/>
              <a:cs typeface="宋体"/>
            </a:endParaRPr>
          </a:p>
          <a:p>
            <a:pPr marL="24765" marR="6985" indent="-12700" algn="just">
              <a:lnSpc>
                <a:spcPct val="130000"/>
              </a:lnSpc>
              <a:spcBef>
                <a:spcPts val="33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凡不属于某一基本块中的语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，皆是 程序控制流程无法到达的语句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直接 删除；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5591" y="2732354"/>
            <a:ext cx="6428740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0" lvl="2" indent="-125793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1270000" algn="l"/>
                <a:tab pos="1270635" algn="l"/>
              </a:tabLst>
            </a:pPr>
            <a:r>
              <a:rPr sz="3600" b="1" spc="-10" dirty="0">
                <a:solidFill>
                  <a:srgbClr val="FFFF00"/>
                </a:solidFill>
                <a:latin typeface="宋体"/>
                <a:cs typeface="宋体"/>
              </a:rPr>
              <a:t>基本块定义与划分</a:t>
            </a:r>
            <a:endParaRPr sz="3600">
              <a:latin typeface="宋体"/>
              <a:cs typeface="宋体"/>
            </a:endParaRPr>
          </a:p>
          <a:p>
            <a:pPr marL="1270000" lvl="2" indent="-1257935">
              <a:lnSpc>
                <a:spcPct val="100000"/>
              </a:lnSpc>
              <a:spcBef>
                <a:spcPts val="3244"/>
              </a:spcBef>
              <a:buFont typeface="Times New Roman"/>
              <a:buAutoNum type="arabicPeriod"/>
              <a:tabLst>
                <a:tab pos="1270000" algn="l"/>
                <a:tab pos="1270635" algn="l"/>
              </a:tabLst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程序的控制流图</a:t>
            </a:r>
            <a:endParaRPr sz="3600">
              <a:latin typeface="宋体"/>
              <a:cs typeface="宋体"/>
            </a:endParaRPr>
          </a:p>
          <a:p>
            <a:pPr marL="1270000" lvl="2" indent="-1257935">
              <a:lnSpc>
                <a:spcPct val="100000"/>
              </a:lnSpc>
              <a:spcBef>
                <a:spcPts val="3240"/>
              </a:spcBef>
              <a:buFont typeface="Times New Roman"/>
              <a:buAutoNum type="arabicPeriod"/>
              <a:tabLst>
                <a:tab pos="1270000" algn="l"/>
                <a:tab pos="1270635" algn="l"/>
              </a:tabLst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基本块的</a:t>
            </a:r>
            <a:r>
              <a:rPr sz="3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DAG</a:t>
            </a: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表示与应用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92373" y="26923"/>
            <a:ext cx="1692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93867" y="26923"/>
            <a:ext cx="1557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14370" y="1089406"/>
            <a:ext cx="33870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29665" algn="l"/>
              </a:tabLst>
            </a:pPr>
            <a:r>
              <a:rPr sz="4400" u="none" dirty="0">
                <a:solidFill>
                  <a:srgbClr val="FFFF00"/>
                </a:solidFill>
                <a:latin typeface="Times New Roman"/>
                <a:cs typeface="Times New Roman"/>
              </a:rPr>
              <a:t>8.2	</a:t>
            </a:r>
            <a:r>
              <a:rPr sz="4400" u="none" spc="-5" dirty="0">
                <a:solidFill>
                  <a:srgbClr val="FFFF00"/>
                </a:solidFill>
                <a:latin typeface="宋体"/>
                <a:cs typeface="宋体"/>
              </a:rPr>
              <a:t>局部优化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90844" y="3605784"/>
            <a:ext cx="2196465" cy="722630"/>
          </a:xfrm>
          <a:custGeom>
            <a:avLst/>
            <a:gdLst/>
            <a:ahLst/>
            <a:cxnLst/>
            <a:rect l="l" t="t" r="r" b="b"/>
            <a:pathLst>
              <a:path w="2196465" h="722629">
                <a:moveTo>
                  <a:pt x="548894" y="0"/>
                </a:moveTo>
                <a:lnTo>
                  <a:pt x="0" y="361188"/>
                </a:lnTo>
                <a:lnTo>
                  <a:pt x="548894" y="722376"/>
                </a:lnTo>
                <a:lnTo>
                  <a:pt x="548894" y="541782"/>
                </a:lnTo>
                <a:lnTo>
                  <a:pt x="2196083" y="541782"/>
                </a:lnTo>
                <a:lnTo>
                  <a:pt x="2196083" y="180593"/>
                </a:lnTo>
                <a:lnTo>
                  <a:pt x="548894" y="180593"/>
                </a:lnTo>
                <a:lnTo>
                  <a:pt x="54889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90844" y="3605784"/>
            <a:ext cx="2196465" cy="722630"/>
          </a:xfrm>
          <a:custGeom>
            <a:avLst/>
            <a:gdLst/>
            <a:ahLst/>
            <a:cxnLst/>
            <a:rect l="l" t="t" r="r" b="b"/>
            <a:pathLst>
              <a:path w="2196465" h="722629">
                <a:moveTo>
                  <a:pt x="0" y="361188"/>
                </a:moveTo>
                <a:lnTo>
                  <a:pt x="548894" y="0"/>
                </a:lnTo>
                <a:lnTo>
                  <a:pt x="548894" y="180593"/>
                </a:lnTo>
                <a:lnTo>
                  <a:pt x="2196083" y="180593"/>
                </a:lnTo>
                <a:lnTo>
                  <a:pt x="2196083" y="541782"/>
                </a:lnTo>
                <a:lnTo>
                  <a:pt x="548894" y="541782"/>
                </a:lnTo>
                <a:lnTo>
                  <a:pt x="548894" y="722376"/>
                </a:lnTo>
                <a:lnTo>
                  <a:pt x="0" y="361188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2742" y="0"/>
            <a:ext cx="8568690" cy="585089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386080">
              <a:lnSpc>
                <a:spcPct val="100000"/>
              </a:lnSpc>
              <a:spcBef>
                <a:spcPts val="1155"/>
              </a:spcBef>
              <a:tabLst>
                <a:tab pos="1029969" algn="l"/>
                <a:tab pos="2687955" algn="l"/>
                <a:tab pos="3195955" algn="l"/>
                <a:tab pos="4853940" algn="l"/>
                <a:tab pos="561594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8.2.2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程序的控制流图</a:t>
            </a:r>
            <a:endParaRPr sz="20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 dirty="0">
              <a:latin typeface="宋体"/>
              <a:cs typeface="宋体"/>
            </a:endParaRPr>
          </a:p>
          <a:p>
            <a:pPr marL="469900" indent="-419100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程序的</a:t>
            </a:r>
            <a:r>
              <a:rPr sz="3200" b="1" spc="-5" dirty="0">
                <a:solidFill>
                  <a:srgbClr val="FFFF00"/>
                </a:solidFill>
                <a:highlight>
                  <a:srgbClr val="808000"/>
                </a:highlight>
                <a:latin typeface="宋体"/>
                <a:cs typeface="宋体"/>
              </a:rPr>
              <a:t>控制流</a:t>
            </a:r>
            <a:r>
              <a:rPr sz="3200" b="1" dirty="0">
                <a:solidFill>
                  <a:srgbClr val="FFFF00"/>
                </a:solidFill>
                <a:highlight>
                  <a:srgbClr val="808000"/>
                </a:highlight>
                <a:latin typeface="宋体"/>
                <a:cs typeface="宋体"/>
              </a:rPr>
              <a:t>图</a:t>
            </a:r>
            <a:r>
              <a:rPr sz="3200" b="1" spc="5" dirty="0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简称</a:t>
            </a:r>
            <a:r>
              <a:rPr sz="3200" b="1" spc="-5" dirty="0">
                <a:solidFill>
                  <a:srgbClr val="FFFF00"/>
                </a:solidFill>
                <a:highlight>
                  <a:srgbClr val="808000"/>
                </a:highlight>
                <a:latin typeface="宋体"/>
                <a:cs typeface="宋体"/>
              </a:rPr>
              <a:t>流图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664845">
              <a:lnSpc>
                <a:spcPct val="100000"/>
              </a:lnSpc>
              <a:spcBef>
                <a:spcPts val="99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具有惟一首结点的有向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图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图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endParaRPr sz="3200" dirty="0">
              <a:latin typeface="宋体"/>
              <a:cs typeface="宋体"/>
            </a:endParaRPr>
          </a:p>
          <a:p>
            <a:pPr marL="2286635">
              <a:lnSpc>
                <a:spcPct val="100000"/>
              </a:lnSpc>
              <a:spcBef>
                <a:spcPts val="1115"/>
              </a:spcBef>
              <a:tabLst>
                <a:tab pos="3873500" algn="l"/>
                <a:tab pos="4449445" algn="l"/>
              </a:tabLst>
            </a:pPr>
            <a:r>
              <a:rPr sz="3200" b="1" spc="5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G </a:t>
            </a:r>
            <a:r>
              <a:rPr sz="3200" b="1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=</a:t>
            </a:r>
            <a:r>
              <a:rPr sz="3200" b="1" spc="-30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(</a:t>
            </a:r>
            <a:r>
              <a:rPr sz="3200" b="1" spc="5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N,	E,	</a:t>
            </a:r>
            <a:r>
              <a:rPr sz="3200" b="1" spc="5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n</a:t>
            </a:r>
            <a:r>
              <a:rPr sz="3150" b="1" spc="7" baseline="-25132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0</a:t>
            </a:r>
            <a:r>
              <a:rPr sz="3150" b="1" baseline="-25132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)</a:t>
            </a:r>
            <a:endParaRPr sz="3200" dirty="0">
              <a:highlight>
                <a:srgbClr val="808000"/>
              </a:highlight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88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其中：</a:t>
            </a:r>
            <a:endParaRPr sz="3200" dirty="0">
              <a:latin typeface="宋体"/>
              <a:cs typeface="宋体"/>
            </a:endParaRPr>
          </a:p>
          <a:p>
            <a:pPr marL="1280160" marR="767715" indent="-822960">
              <a:lnSpc>
                <a:spcPts val="4420"/>
              </a:lnSpc>
              <a:spcBef>
                <a:spcPts val="75"/>
              </a:spcBef>
            </a:pPr>
            <a:r>
              <a:rPr sz="3200" b="1" spc="-5" dirty="0">
                <a:solidFill>
                  <a:srgbClr val="66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sz="3200" b="1" spc="-880" dirty="0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是流图的所有的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结点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组成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sz="3200" b="1" spc="-25" dirty="0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。流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图中的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结点为基本</a:t>
            </a:r>
            <a:r>
              <a:rPr sz="3200" b="1" spc="-1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块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  <a:p>
            <a:pPr marL="298450">
              <a:lnSpc>
                <a:spcPct val="100000"/>
              </a:lnSpc>
              <a:spcBef>
                <a:spcPts val="1695"/>
              </a:spcBef>
            </a:pPr>
            <a:r>
              <a:rPr sz="3200" b="1" dirty="0">
                <a:solidFill>
                  <a:srgbClr val="66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n</a:t>
            </a:r>
            <a:r>
              <a:rPr sz="3150" b="1" baseline="-25132" dirty="0">
                <a:solidFill>
                  <a:srgbClr val="66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0</a:t>
            </a:r>
            <a:r>
              <a:rPr sz="3150" b="1" spc="337" baseline="-25132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是流图的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首结</a:t>
            </a:r>
            <a:r>
              <a:rPr sz="3200" b="1" spc="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点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程序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第一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基本</a:t>
            </a:r>
            <a:r>
              <a:rPr sz="3200" b="1" spc="20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  <a:p>
            <a:pPr marL="457200">
              <a:lnSpc>
                <a:spcPct val="100000"/>
              </a:lnSpc>
              <a:spcBef>
                <a:spcPts val="2360"/>
              </a:spcBef>
            </a:pPr>
            <a:r>
              <a:rPr sz="3200" b="1" spc="-10" dirty="0">
                <a:solidFill>
                  <a:srgbClr val="66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E</a:t>
            </a: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sz="3200" b="1" spc="-819" dirty="0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是流图的所有有向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边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组成的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合。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62605" y="2722626"/>
            <a:ext cx="779145" cy="753110"/>
          </a:xfrm>
          <a:custGeom>
            <a:avLst/>
            <a:gdLst/>
            <a:ahLst/>
            <a:cxnLst/>
            <a:rect l="l" t="t" r="r" b="b"/>
            <a:pathLst>
              <a:path w="779145" h="753110">
                <a:moveTo>
                  <a:pt x="0" y="376427"/>
                </a:moveTo>
                <a:lnTo>
                  <a:pt x="3034" y="329208"/>
                </a:lnTo>
                <a:lnTo>
                  <a:pt x="11894" y="283740"/>
                </a:lnTo>
                <a:lnTo>
                  <a:pt x="26214" y="240375"/>
                </a:lnTo>
                <a:lnTo>
                  <a:pt x="45629" y="199465"/>
                </a:lnTo>
                <a:lnTo>
                  <a:pt x="69774" y="161365"/>
                </a:lnTo>
                <a:lnTo>
                  <a:pt x="98284" y="126425"/>
                </a:lnTo>
                <a:lnTo>
                  <a:pt x="130793" y="95000"/>
                </a:lnTo>
                <a:lnTo>
                  <a:pt x="166936" y="67442"/>
                </a:lnTo>
                <a:lnTo>
                  <a:pt x="206348" y="44103"/>
                </a:lnTo>
                <a:lnTo>
                  <a:pt x="248664" y="25337"/>
                </a:lnTo>
                <a:lnTo>
                  <a:pt x="293518" y="11496"/>
                </a:lnTo>
                <a:lnTo>
                  <a:pt x="340546" y="2932"/>
                </a:lnTo>
                <a:lnTo>
                  <a:pt x="389381" y="0"/>
                </a:lnTo>
                <a:lnTo>
                  <a:pt x="438217" y="2932"/>
                </a:lnTo>
                <a:lnTo>
                  <a:pt x="485245" y="11496"/>
                </a:lnTo>
                <a:lnTo>
                  <a:pt x="530099" y="25337"/>
                </a:lnTo>
                <a:lnTo>
                  <a:pt x="572415" y="44103"/>
                </a:lnTo>
                <a:lnTo>
                  <a:pt x="611827" y="67442"/>
                </a:lnTo>
                <a:lnTo>
                  <a:pt x="647970" y="95000"/>
                </a:lnTo>
                <a:lnTo>
                  <a:pt x="680479" y="126425"/>
                </a:lnTo>
                <a:lnTo>
                  <a:pt x="708989" y="161365"/>
                </a:lnTo>
                <a:lnTo>
                  <a:pt x="733134" y="199465"/>
                </a:lnTo>
                <a:lnTo>
                  <a:pt x="752549" y="240375"/>
                </a:lnTo>
                <a:lnTo>
                  <a:pt x="766869" y="283740"/>
                </a:lnTo>
                <a:lnTo>
                  <a:pt x="775729" y="329208"/>
                </a:lnTo>
                <a:lnTo>
                  <a:pt x="778764" y="376427"/>
                </a:lnTo>
                <a:lnTo>
                  <a:pt x="775729" y="423647"/>
                </a:lnTo>
                <a:lnTo>
                  <a:pt x="766869" y="469115"/>
                </a:lnTo>
                <a:lnTo>
                  <a:pt x="752549" y="512480"/>
                </a:lnTo>
                <a:lnTo>
                  <a:pt x="733134" y="553390"/>
                </a:lnTo>
                <a:lnTo>
                  <a:pt x="708989" y="591490"/>
                </a:lnTo>
                <a:lnTo>
                  <a:pt x="680479" y="626430"/>
                </a:lnTo>
                <a:lnTo>
                  <a:pt x="647970" y="657855"/>
                </a:lnTo>
                <a:lnTo>
                  <a:pt x="611827" y="685413"/>
                </a:lnTo>
                <a:lnTo>
                  <a:pt x="572415" y="708752"/>
                </a:lnTo>
                <a:lnTo>
                  <a:pt x="530099" y="727518"/>
                </a:lnTo>
                <a:lnTo>
                  <a:pt x="485245" y="741359"/>
                </a:lnTo>
                <a:lnTo>
                  <a:pt x="438217" y="749923"/>
                </a:lnTo>
                <a:lnTo>
                  <a:pt x="389381" y="752856"/>
                </a:lnTo>
                <a:lnTo>
                  <a:pt x="340546" y="749923"/>
                </a:lnTo>
                <a:lnTo>
                  <a:pt x="293518" y="741359"/>
                </a:lnTo>
                <a:lnTo>
                  <a:pt x="248664" y="727518"/>
                </a:lnTo>
                <a:lnTo>
                  <a:pt x="206348" y="708752"/>
                </a:lnTo>
                <a:lnTo>
                  <a:pt x="166936" y="685413"/>
                </a:lnTo>
                <a:lnTo>
                  <a:pt x="130793" y="657855"/>
                </a:lnTo>
                <a:lnTo>
                  <a:pt x="98284" y="626430"/>
                </a:lnTo>
                <a:lnTo>
                  <a:pt x="69774" y="591490"/>
                </a:lnTo>
                <a:lnTo>
                  <a:pt x="45629" y="553390"/>
                </a:lnTo>
                <a:lnTo>
                  <a:pt x="26214" y="512480"/>
                </a:lnTo>
                <a:lnTo>
                  <a:pt x="11894" y="469115"/>
                </a:lnTo>
                <a:lnTo>
                  <a:pt x="3034" y="423647"/>
                </a:lnTo>
                <a:lnTo>
                  <a:pt x="0" y="37642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06873" y="2722626"/>
            <a:ext cx="800100" cy="775970"/>
          </a:xfrm>
          <a:custGeom>
            <a:avLst/>
            <a:gdLst/>
            <a:ahLst/>
            <a:cxnLst/>
            <a:rect l="l" t="t" r="r" b="b"/>
            <a:pathLst>
              <a:path w="800100" h="775970">
                <a:moveTo>
                  <a:pt x="0" y="387858"/>
                </a:moveTo>
                <a:lnTo>
                  <a:pt x="3116" y="339197"/>
                </a:lnTo>
                <a:lnTo>
                  <a:pt x="12215" y="292343"/>
                </a:lnTo>
                <a:lnTo>
                  <a:pt x="26923" y="247658"/>
                </a:lnTo>
                <a:lnTo>
                  <a:pt x="46864" y="205505"/>
                </a:lnTo>
                <a:lnTo>
                  <a:pt x="71665" y="166248"/>
                </a:lnTo>
                <a:lnTo>
                  <a:pt x="100950" y="130249"/>
                </a:lnTo>
                <a:lnTo>
                  <a:pt x="134345" y="97872"/>
                </a:lnTo>
                <a:lnTo>
                  <a:pt x="171476" y="69480"/>
                </a:lnTo>
                <a:lnTo>
                  <a:pt x="211967" y="45435"/>
                </a:lnTo>
                <a:lnTo>
                  <a:pt x="255445" y="26102"/>
                </a:lnTo>
                <a:lnTo>
                  <a:pt x="301534" y="11843"/>
                </a:lnTo>
                <a:lnTo>
                  <a:pt x="349861" y="3021"/>
                </a:lnTo>
                <a:lnTo>
                  <a:pt x="400050" y="0"/>
                </a:lnTo>
                <a:lnTo>
                  <a:pt x="450238" y="3021"/>
                </a:lnTo>
                <a:lnTo>
                  <a:pt x="498565" y="11843"/>
                </a:lnTo>
                <a:lnTo>
                  <a:pt x="544654" y="26102"/>
                </a:lnTo>
                <a:lnTo>
                  <a:pt x="588132" y="45435"/>
                </a:lnTo>
                <a:lnTo>
                  <a:pt x="628623" y="69480"/>
                </a:lnTo>
                <a:lnTo>
                  <a:pt x="665754" y="97872"/>
                </a:lnTo>
                <a:lnTo>
                  <a:pt x="699149" y="130249"/>
                </a:lnTo>
                <a:lnTo>
                  <a:pt x="728434" y="166248"/>
                </a:lnTo>
                <a:lnTo>
                  <a:pt x="753235" y="205505"/>
                </a:lnTo>
                <a:lnTo>
                  <a:pt x="773176" y="247658"/>
                </a:lnTo>
                <a:lnTo>
                  <a:pt x="787884" y="292343"/>
                </a:lnTo>
                <a:lnTo>
                  <a:pt x="796983" y="339197"/>
                </a:lnTo>
                <a:lnTo>
                  <a:pt x="800100" y="387858"/>
                </a:lnTo>
                <a:lnTo>
                  <a:pt x="796983" y="436518"/>
                </a:lnTo>
                <a:lnTo>
                  <a:pt x="787884" y="483372"/>
                </a:lnTo>
                <a:lnTo>
                  <a:pt x="773176" y="528057"/>
                </a:lnTo>
                <a:lnTo>
                  <a:pt x="753235" y="570210"/>
                </a:lnTo>
                <a:lnTo>
                  <a:pt x="728434" y="609467"/>
                </a:lnTo>
                <a:lnTo>
                  <a:pt x="699149" y="645466"/>
                </a:lnTo>
                <a:lnTo>
                  <a:pt x="665754" y="677843"/>
                </a:lnTo>
                <a:lnTo>
                  <a:pt x="628623" y="706235"/>
                </a:lnTo>
                <a:lnTo>
                  <a:pt x="588132" y="730280"/>
                </a:lnTo>
                <a:lnTo>
                  <a:pt x="544654" y="749613"/>
                </a:lnTo>
                <a:lnTo>
                  <a:pt x="498565" y="763872"/>
                </a:lnTo>
                <a:lnTo>
                  <a:pt x="450238" y="772694"/>
                </a:lnTo>
                <a:lnTo>
                  <a:pt x="400050" y="775715"/>
                </a:lnTo>
                <a:lnTo>
                  <a:pt x="349861" y="772694"/>
                </a:lnTo>
                <a:lnTo>
                  <a:pt x="301534" y="763872"/>
                </a:lnTo>
                <a:lnTo>
                  <a:pt x="255445" y="749613"/>
                </a:lnTo>
                <a:lnTo>
                  <a:pt x="211967" y="730280"/>
                </a:lnTo>
                <a:lnTo>
                  <a:pt x="171476" y="706235"/>
                </a:lnTo>
                <a:lnTo>
                  <a:pt x="134345" y="677843"/>
                </a:lnTo>
                <a:lnTo>
                  <a:pt x="100950" y="645466"/>
                </a:lnTo>
                <a:lnTo>
                  <a:pt x="71665" y="609467"/>
                </a:lnTo>
                <a:lnTo>
                  <a:pt x="46864" y="570210"/>
                </a:lnTo>
                <a:lnTo>
                  <a:pt x="26923" y="528057"/>
                </a:lnTo>
                <a:lnTo>
                  <a:pt x="12215" y="483372"/>
                </a:lnTo>
                <a:lnTo>
                  <a:pt x="3116" y="436518"/>
                </a:lnTo>
                <a:lnTo>
                  <a:pt x="0" y="387858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34385" y="2810078"/>
            <a:ext cx="23990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59000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i	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42894" y="3066288"/>
            <a:ext cx="1403985" cy="114300"/>
          </a:xfrm>
          <a:custGeom>
            <a:avLst/>
            <a:gdLst/>
            <a:ahLst/>
            <a:cxnLst/>
            <a:rect l="l" t="t" r="r" b="b"/>
            <a:pathLst>
              <a:path w="1403985" h="114300">
                <a:moveTo>
                  <a:pt x="1213103" y="0"/>
                </a:moveTo>
                <a:lnTo>
                  <a:pt x="1213103" y="114300"/>
                </a:lnTo>
                <a:lnTo>
                  <a:pt x="1340103" y="76200"/>
                </a:lnTo>
                <a:lnTo>
                  <a:pt x="1232153" y="76200"/>
                </a:lnTo>
                <a:lnTo>
                  <a:pt x="1232153" y="38100"/>
                </a:lnTo>
                <a:lnTo>
                  <a:pt x="1340103" y="38100"/>
                </a:lnTo>
                <a:lnTo>
                  <a:pt x="1213103" y="0"/>
                </a:lnTo>
                <a:close/>
              </a:path>
              <a:path w="1403985" h="114300">
                <a:moveTo>
                  <a:pt x="121310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213103" y="76200"/>
                </a:lnTo>
                <a:lnTo>
                  <a:pt x="1213103" y="38100"/>
                </a:lnTo>
                <a:close/>
              </a:path>
              <a:path w="1403985" h="114300">
                <a:moveTo>
                  <a:pt x="1340103" y="38100"/>
                </a:moveTo>
                <a:lnTo>
                  <a:pt x="1232153" y="38100"/>
                </a:lnTo>
                <a:lnTo>
                  <a:pt x="1232153" y="76200"/>
                </a:lnTo>
                <a:lnTo>
                  <a:pt x="1340103" y="76200"/>
                </a:lnTo>
                <a:lnTo>
                  <a:pt x="1403603" y="57150"/>
                </a:lnTo>
                <a:lnTo>
                  <a:pt x="134010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68852" y="2559812"/>
            <a:ext cx="42290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sz="3150" b="1" baseline="-14550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6691" y="3497215"/>
            <a:ext cx="8359140" cy="295529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3000" b="1" spc="-5" dirty="0">
                <a:solidFill>
                  <a:srgbClr val="FFFF00"/>
                </a:solidFill>
                <a:latin typeface="宋体"/>
                <a:cs typeface="宋体"/>
              </a:rPr>
              <a:t>其条件是</a:t>
            </a:r>
            <a:endParaRPr sz="3000" dirty="0">
              <a:latin typeface="宋体"/>
              <a:cs typeface="宋体"/>
            </a:endParaRPr>
          </a:p>
          <a:p>
            <a:pPr marL="972819" marR="5080" indent="-576580">
              <a:lnSpc>
                <a:spcPts val="4680"/>
              </a:lnSpc>
              <a:spcBef>
                <a:spcPts val="170"/>
              </a:spcBef>
            </a:pPr>
            <a:r>
              <a:rPr sz="3000" b="1" spc="-10" dirty="0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r>
              <a:rPr sz="3000" b="1" spc="-2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3000" b="1" dirty="0">
                <a:solidFill>
                  <a:srgbClr val="FFFFFF"/>
                </a:solidFill>
                <a:latin typeface="宋体"/>
                <a:cs typeface="宋体"/>
              </a:rPr>
              <a:t>基本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2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在流图中的位置</a:t>
            </a:r>
            <a:r>
              <a:rPr sz="30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紧跟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在基本</a:t>
            </a:r>
            <a:r>
              <a:rPr sz="3000" b="1" spc="5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3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000" b="1" spc="-10" dirty="0">
                <a:solidFill>
                  <a:srgbClr val="FFFFFF"/>
                </a:solidFill>
                <a:latin typeface="宋体"/>
                <a:cs typeface="宋体"/>
              </a:rPr>
              <a:t>之 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sz="3000" b="1" spc="-5" dirty="0">
                <a:solidFill>
                  <a:srgbClr val="FFFF00"/>
                </a:solidFill>
                <a:latin typeface="宋体"/>
                <a:cs typeface="宋体"/>
              </a:rPr>
              <a:t>且</a:t>
            </a:r>
            <a:r>
              <a:rPr sz="3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的出口语句</a:t>
            </a:r>
            <a:r>
              <a:rPr sz="30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不是无条件转移或停语句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0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sz="3000" b="1" spc="-15" dirty="0">
                <a:solidFill>
                  <a:srgbClr val="FFFF00"/>
                </a:solidFill>
                <a:latin typeface="宋体"/>
                <a:cs typeface="宋体"/>
              </a:rPr>
              <a:t>②</a:t>
            </a:r>
            <a:r>
              <a:rPr sz="3000" b="1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基本</a:t>
            </a:r>
            <a:r>
              <a:rPr sz="3000" b="1" spc="-10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3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的出口语句</a:t>
            </a:r>
            <a:r>
              <a:rPr sz="3000" b="1" dirty="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sz="3000" b="1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goto</a:t>
            </a:r>
            <a:r>
              <a:rPr sz="30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(s)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sz="3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if...goto</a:t>
            </a:r>
            <a:r>
              <a:rPr sz="3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(s)</a:t>
            </a:r>
            <a:endParaRPr sz="3000" dirty="0">
              <a:latin typeface="Times New Roman"/>
              <a:cs typeface="Times New Roman"/>
            </a:endParaRPr>
          </a:p>
          <a:p>
            <a:pPr marL="972819">
              <a:lnSpc>
                <a:spcPct val="100000"/>
              </a:lnSpc>
              <a:spcBef>
                <a:spcPts val="1085"/>
              </a:spcBef>
            </a:pPr>
            <a:r>
              <a:rPr sz="3000" b="1" spc="-5" dirty="0">
                <a:solidFill>
                  <a:srgbClr val="FFFF00"/>
                </a:solidFill>
                <a:latin typeface="宋体"/>
                <a:cs typeface="宋体"/>
              </a:rPr>
              <a:t>且</a:t>
            </a:r>
            <a:r>
              <a:rPr sz="3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(s)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是基本</a:t>
            </a:r>
            <a:r>
              <a:rPr sz="3000" b="1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3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0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入口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语句。</a:t>
            </a:r>
            <a:endParaRPr sz="3000" dirty="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9740" y="0"/>
            <a:ext cx="8004175" cy="245618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955"/>
              </a:spcBef>
              <a:tabLst>
                <a:tab pos="972819" algn="l"/>
                <a:tab pos="2631440" algn="l"/>
                <a:tab pos="3138805" algn="l"/>
                <a:tab pos="4796790" algn="l"/>
                <a:tab pos="555879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8.2.2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程序的控制流图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600">
              <a:latin typeface="宋体"/>
              <a:cs typeface="宋体"/>
            </a:endParaRPr>
          </a:p>
          <a:p>
            <a:pPr marL="469900" indent="-419734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流图中的有向边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sz="3150" b="1" baseline="-14550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的形成：</a:t>
            </a:r>
            <a:endParaRPr sz="3200">
              <a:latin typeface="宋体"/>
              <a:cs typeface="宋体"/>
            </a:endParaRPr>
          </a:p>
          <a:p>
            <a:pPr marL="50800" marR="43180" indent="819785">
              <a:lnSpc>
                <a:spcPts val="4990"/>
              </a:lnSpc>
              <a:spcBef>
                <a:spcPts val="360"/>
              </a:spcBef>
            </a:pP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设有结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到结点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边</a:t>
            </a: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sz="2775" b="1" spc="-15" baseline="-21021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(或说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sz="3200" b="1" spc="1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到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结点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由有向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边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sz="3150" b="1" baseline="-14550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sz="3150" b="1" spc="-30" baseline="-1455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相连)可表示为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7515" y="596900"/>
            <a:ext cx="8858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sz="3000" b="1" dirty="0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sz="30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sz="3000" b="1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8355" y="596900"/>
            <a:ext cx="23196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程序的流图</a:t>
            </a:r>
            <a:r>
              <a:rPr sz="30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76731" y="26923"/>
            <a:ext cx="38588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313940" algn="l"/>
                <a:tab pos="282194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44465" y="26923"/>
            <a:ext cx="2580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程序的控制流图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28359" y="2529077"/>
            <a:ext cx="114300" cy="501650"/>
          </a:xfrm>
          <a:custGeom>
            <a:avLst/>
            <a:gdLst/>
            <a:ahLst/>
            <a:cxnLst/>
            <a:rect l="l" t="t" r="r" b="b"/>
            <a:pathLst>
              <a:path w="114300" h="501650">
                <a:moveTo>
                  <a:pt x="38100" y="310896"/>
                </a:moveTo>
                <a:lnTo>
                  <a:pt x="0" y="310896"/>
                </a:lnTo>
                <a:lnTo>
                  <a:pt x="57150" y="501396"/>
                </a:lnTo>
                <a:lnTo>
                  <a:pt x="108585" y="329946"/>
                </a:lnTo>
                <a:lnTo>
                  <a:pt x="38100" y="329946"/>
                </a:lnTo>
                <a:lnTo>
                  <a:pt x="38100" y="310896"/>
                </a:lnTo>
                <a:close/>
              </a:path>
              <a:path w="114300" h="501650">
                <a:moveTo>
                  <a:pt x="76200" y="0"/>
                </a:moveTo>
                <a:lnTo>
                  <a:pt x="38100" y="0"/>
                </a:lnTo>
                <a:lnTo>
                  <a:pt x="38100" y="329946"/>
                </a:lnTo>
                <a:lnTo>
                  <a:pt x="76200" y="329946"/>
                </a:lnTo>
                <a:lnTo>
                  <a:pt x="76200" y="0"/>
                </a:lnTo>
                <a:close/>
              </a:path>
              <a:path w="114300" h="501650">
                <a:moveTo>
                  <a:pt x="114300" y="310896"/>
                </a:moveTo>
                <a:lnTo>
                  <a:pt x="76200" y="310896"/>
                </a:lnTo>
                <a:lnTo>
                  <a:pt x="76200" y="329946"/>
                </a:lnTo>
                <a:lnTo>
                  <a:pt x="108585" y="329946"/>
                </a:lnTo>
                <a:lnTo>
                  <a:pt x="114300" y="31089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28359" y="3507485"/>
            <a:ext cx="114300" cy="500380"/>
          </a:xfrm>
          <a:custGeom>
            <a:avLst/>
            <a:gdLst/>
            <a:ahLst/>
            <a:cxnLst/>
            <a:rect l="l" t="t" r="r" b="b"/>
            <a:pathLst>
              <a:path w="114300" h="500379">
                <a:moveTo>
                  <a:pt x="38100" y="309371"/>
                </a:moveTo>
                <a:lnTo>
                  <a:pt x="0" y="309371"/>
                </a:lnTo>
                <a:lnTo>
                  <a:pt x="57150" y="499871"/>
                </a:lnTo>
                <a:lnTo>
                  <a:pt x="108585" y="328421"/>
                </a:lnTo>
                <a:lnTo>
                  <a:pt x="38100" y="328421"/>
                </a:lnTo>
                <a:lnTo>
                  <a:pt x="38100" y="309371"/>
                </a:lnTo>
                <a:close/>
              </a:path>
              <a:path w="114300" h="500379">
                <a:moveTo>
                  <a:pt x="76200" y="0"/>
                </a:moveTo>
                <a:lnTo>
                  <a:pt x="38100" y="0"/>
                </a:lnTo>
                <a:lnTo>
                  <a:pt x="38100" y="328421"/>
                </a:lnTo>
                <a:lnTo>
                  <a:pt x="76200" y="328421"/>
                </a:lnTo>
                <a:lnTo>
                  <a:pt x="76200" y="0"/>
                </a:lnTo>
                <a:close/>
              </a:path>
              <a:path w="114300" h="500379">
                <a:moveTo>
                  <a:pt x="114300" y="309371"/>
                </a:moveTo>
                <a:lnTo>
                  <a:pt x="76200" y="309371"/>
                </a:lnTo>
                <a:lnTo>
                  <a:pt x="76200" y="328421"/>
                </a:lnTo>
                <a:lnTo>
                  <a:pt x="108585" y="328421"/>
                </a:lnTo>
                <a:lnTo>
                  <a:pt x="114300" y="30937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37353" y="3246754"/>
            <a:ext cx="963294" cy="1719580"/>
          </a:xfrm>
          <a:custGeom>
            <a:avLst/>
            <a:gdLst/>
            <a:ahLst/>
            <a:cxnLst/>
            <a:rect l="l" t="t" r="r" b="b"/>
            <a:pathLst>
              <a:path w="963295" h="1719579">
                <a:moveTo>
                  <a:pt x="42291" y="1524889"/>
                </a:moveTo>
                <a:lnTo>
                  <a:pt x="0" y="1719199"/>
                </a:lnTo>
                <a:lnTo>
                  <a:pt x="142240" y="1580261"/>
                </a:lnTo>
                <a:lnTo>
                  <a:pt x="138801" y="1578356"/>
                </a:lnTo>
                <a:lnTo>
                  <a:pt x="99695" y="1578356"/>
                </a:lnTo>
                <a:lnTo>
                  <a:pt x="66421" y="1559941"/>
                </a:lnTo>
                <a:lnTo>
                  <a:pt x="75605" y="1543345"/>
                </a:lnTo>
                <a:lnTo>
                  <a:pt x="42291" y="1524889"/>
                </a:lnTo>
                <a:close/>
              </a:path>
              <a:path w="963295" h="1719579">
                <a:moveTo>
                  <a:pt x="75605" y="1543345"/>
                </a:moveTo>
                <a:lnTo>
                  <a:pt x="66421" y="1559941"/>
                </a:lnTo>
                <a:lnTo>
                  <a:pt x="99695" y="1578356"/>
                </a:lnTo>
                <a:lnTo>
                  <a:pt x="108872" y="1561775"/>
                </a:lnTo>
                <a:lnTo>
                  <a:pt x="75605" y="1543345"/>
                </a:lnTo>
                <a:close/>
              </a:path>
              <a:path w="963295" h="1719579">
                <a:moveTo>
                  <a:pt x="108872" y="1561775"/>
                </a:moveTo>
                <a:lnTo>
                  <a:pt x="99695" y="1578356"/>
                </a:lnTo>
                <a:lnTo>
                  <a:pt x="138801" y="1578356"/>
                </a:lnTo>
                <a:lnTo>
                  <a:pt x="108872" y="1561775"/>
                </a:lnTo>
                <a:close/>
              </a:path>
              <a:path w="963295" h="1719579">
                <a:moveTo>
                  <a:pt x="929767" y="0"/>
                </a:moveTo>
                <a:lnTo>
                  <a:pt x="75605" y="1543345"/>
                </a:lnTo>
                <a:lnTo>
                  <a:pt x="108872" y="1561775"/>
                </a:lnTo>
                <a:lnTo>
                  <a:pt x="963041" y="18542"/>
                </a:lnTo>
                <a:lnTo>
                  <a:pt x="92976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47026" y="5026152"/>
            <a:ext cx="883919" cy="114300"/>
          </a:xfrm>
          <a:custGeom>
            <a:avLst/>
            <a:gdLst/>
            <a:ahLst/>
            <a:cxnLst/>
            <a:rect l="l" t="t" r="r" b="b"/>
            <a:pathLst>
              <a:path w="883920" h="114300">
                <a:moveTo>
                  <a:pt x="693420" y="0"/>
                </a:moveTo>
                <a:lnTo>
                  <a:pt x="693420" y="114300"/>
                </a:lnTo>
                <a:lnTo>
                  <a:pt x="820420" y="76200"/>
                </a:lnTo>
                <a:lnTo>
                  <a:pt x="712470" y="76200"/>
                </a:lnTo>
                <a:lnTo>
                  <a:pt x="712470" y="38100"/>
                </a:lnTo>
                <a:lnTo>
                  <a:pt x="820420" y="38100"/>
                </a:lnTo>
                <a:lnTo>
                  <a:pt x="693420" y="0"/>
                </a:lnTo>
                <a:close/>
              </a:path>
              <a:path w="883920" h="114300">
                <a:moveTo>
                  <a:pt x="69342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93420" y="76200"/>
                </a:lnTo>
                <a:lnTo>
                  <a:pt x="693420" y="38100"/>
                </a:lnTo>
                <a:close/>
              </a:path>
              <a:path w="883920" h="114300">
                <a:moveTo>
                  <a:pt x="820420" y="38100"/>
                </a:moveTo>
                <a:lnTo>
                  <a:pt x="712470" y="38100"/>
                </a:lnTo>
                <a:lnTo>
                  <a:pt x="712470" y="76200"/>
                </a:lnTo>
                <a:lnTo>
                  <a:pt x="820420" y="76200"/>
                </a:lnTo>
                <a:lnTo>
                  <a:pt x="883920" y="57150"/>
                </a:lnTo>
                <a:lnTo>
                  <a:pt x="82042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28359" y="4557521"/>
            <a:ext cx="114300" cy="501650"/>
          </a:xfrm>
          <a:custGeom>
            <a:avLst/>
            <a:gdLst/>
            <a:ahLst/>
            <a:cxnLst/>
            <a:rect l="l" t="t" r="r" b="b"/>
            <a:pathLst>
              <a:path w="114300" h="501650">
                <a:moveTo>
                  <a:pt x="38100" y="310895"/>
                </a:moveTo>
                <a:lnTo>
                  <a:pt x="0" y="310895"/>
                </a:lnTo>
                <a:lnTo>
                  <a:pt x="57150" y="501395"/>
                </a:lnTo>
                <a:lnTo>
                  <a:pt x="108585" y="329945"/>
                </a:lnTo>
                <a:lnTo>
                  <a:pt x="38100" y="329945"/>
                </a:lnTo>
                <a:lnTo>
                  <a:pt x="38100" y="310895"/>
                </a:lnTo>
                <a:close/>
              </a:path>
              <a:path w="114300" h="501650">
                <a:moveTo>
                  <a:pt x="76200" y="0"/>
                </a:moveTo>
                <a:lnTo>
                  <a:pt x="38100" y="0"/>
                </a:lnTo>
                <a:lnTo>
                  <a:pt x="38100" y="329945"/>
                </a:lnTo>
                <a:lnTo>
                  <a:pt x="76200" y="329945"/>
                </a:lnTo>
                <a:lnTo>
                  <a:pt x="76200" y="0"/>
                </a:lnTo>
                <a:close/>
              </a:path>
              <a:path w="114300" h="501650">
                <a:moveTo>
                  <a:pt x="114300" y="310895"/>
                </a:moveTo>
                <a:lnTo>
                  <a:pt x="76200" y="310895"/>
                </a:lnTo>
                <a:lnTo>
                  <a:pt x="76200" y="329945"/>
                </a:lnTo>
                <a:lnTo>
                  <a:pt x="108585" y="329945"/>
                </a:lnTo>
                <a:lnTo>
                  <a:pt x="114300" y="31089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29603" y="4265676"/>
            <a:ext cx="819785" cy="542290"/>
          </a:xfrm>
          <a:custGeom>
            <a:avLst/>
            <a:gdLst/>
            <a:ahLst/>
            <a:cxnLst/>
            <a:rect l="l" t="t" r="r" b="b"/>
            <a:pathLst>
              <a:path w="819784" h="542289">
                <a:moveTo>
                  <a:pt x="649518" y="453943"/>
                </a:moveTo>
                <a:lnTo>
                  <a:pt x="628776" y="485901"/>
                </a:lnTo>
                <a:lnTo>
                  <a:pt x="819657" y="541782"/>
                </a:lnTo>
                <a:lnTo>
                  <a:pt x="753986" y="464312"/>
                </a:lnTo>
                <a:lnTo>
                  <a:pt x="665479" y="464312"/>
                </a:lnTo>
                <a:lnTo>
                  <a:pt x="649518" y="453943"/>
                </a:lnTo>
                <a:close/>
              </a:path>
              <a:path w="819784" h="542289">
                <a:moveTo>
                  <a:pt x="670249" y="422000"/>
                </a:moveTo>
                <a:lnTo>
                  <a:pt x="649518" y="453943"/>
                </a:lnTo>
                <a:lnTo>
                  <a:pt x="665479" y="464312"/>
                </a:lnTo>
                <a:lnTo>
                  <a:pt x="686307" y="432435"/>
                </a:lnTo>
                <a:lnTo>
                  <a:pt x="670249" y="422000"/>
                </a:lnTo>
                <a:close/>
              </a:path>
              <a:path w="819784" h="542289">
                <a:moveTo>
                  <a:pt x="691006" y="390017"/>
                </a:moveTo>
                <a:lnTo>
                  <a:pt x="670249" y="422000"/>
                </a:lnTo>
                <a:lnTo>
                  <a:pt x="686307" y="432435"/>
                </a:lnTo>
                <a:lnTo>
                  <a:pt x="665479" y="464312"/>
                </a:lnTo>
                <a:lnTo>
                  <a:pt x="753986" y="464312"/>
                </a:lnTo>
                <a:lnTo>
                  <a:pt x="691006" y="390017"/>
                </a:lnTo>
                <a:close/>
              </a:path>
              <a:path w="819784" h="542289">
                <a:moveTo>
                  <a:pt x="20828" y="0"/>
                </a:moveTo>
                <a:lnTo>
                  <a:pt x="0" y="32004"/>
                </a:lnTo>
                <a:lnTo>
                  <a:pt x="649518" y="453943"/>
                </a:lnTo>
                <a:lnTo>
                  <a:pt x="670249" y="422000"/>
                </a:lnTo>
                <a:lnTo>
                  <a:pt x="2082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83758" y="2004822"/>
            <a:ext cx="554990" cy="512445"/>
          </a:xfrm>
          <a:custGeom>
            <a:avLst/>
            <a:gdLst/>
            <a:ahLst/>
            <a:cxnLst/>
            <a:rect l="l" t="t" r="r" b="b"/>
            <a:pathLst>
              <a:path w="554989" h="512444">
                <a:moveTo>
                  <a:pt x="0" y="256031"/>
                </a:moveTo>
                <a:lnTo>
                  <a:pt x="4469" y="210023"/>
                </a:lnTo>
                <a:lnTo>
                  <a:pt x="17355" y="166714"/>
                </a:lnTo>
                <a:lnTo>
                  <a:pt x="37874" y="126830"/>
                </a:lnTo>
                <a:lnTo>
                  <a:pt x="65241" y="91095"/>
                </a:lnTo>
                <a:lnTo>
                  <a:pt x="98673" y="60232"/>
                </a:lnTo>
                <a:lnTo>
                  <a:pt x="137385" y="34967"/>
                </a:lnTo>
                <a:lnTo>
                  <a:pt x="180595" y="16023"/>
                </a:lnTo>
                <a:lnTo>
                  <a:pt x="227517" y="4126"/>
                </a:lnTo>
                <a:lnTo>
                  <a:pt x="277367" y="0"/>
                </a:lnTo>
                <a:lnTo>
                  <a:pt x="327218" y="4126"/>
                </a:lnTo>
                <a:lnTo>
                  <a:pt x="374140" y="16023"/>
                </a:lnTo>
                <a:lnTo>
                  <a:pt x="417350" y="34967"/>
                </a:lnTo>
                <a:lnTo>
                  <a:pt x="456062" y="60232"/>
                </a:lnTo>
                <a:lnTo>
                  <a:pt x="489494" y="91095"/>
                </a:lnTo>
                <a:lnTo>
                  <a:pt x="516861" y="126830"/>
                </a:lnTo>
                <a:lnTo>
                  <a:pt x="537380" y="166714"/>
                </a:lnTo>
                <a:lnTo>
                  <a:pt x="550266" y="210023"/>
                </a:lnTo>
                <a:lnTo>
                  <a:pt x="554736" y="256031"/>
                </a:lnTo>
                <a:lnTo>
                  <a:pt x="550266" y="302040"/>
                </a:lnTo>
                <a:lnTo>
                  <a:pt x="537380" y="345349"/>
                </a:lnTo>
                <a:lnTo>
                  <a:pt x="516861" y="385233"/>
                </a:lnTo>
                <a:lnTo>
                  <a:pt x="489494" y="420968"/>
                </a:lnTo>
                <a:lnTo>
                  <a:pt x="456062" y="451831"/>
                </a:lnTo>
                <a:lnTo>
                  <a:pt x="417350" y="477096"/>
                </a:lnTo>
                <a:lnTo>
                  <a:pt x="374140" y="496040"/>
                </a:lnTo>
                <a:lnTo>
                  <a:pt x="327218" y="507937"/>
                </a:lnTo>
                <a:lnTo>
                  <a:pt x="277367" y="512063"/>
                </a:lnTo>
                <a:lnTo>
                  <a:pt x="227517" y="507937"/>
                </a:lnTo>
                <a:lnTo>
                  <a:pt x="180595" y="496040"/>
                </a:lnTo>
                <a:lnTo>
                  <a:pt x="137385" y="477096"/>
                </a:lnTo>
                <a:lnTo>
                  <a:pt x="98673" y="451831"/>
                </a:lnTo>
                <a:lnTo>
                  <a:pt x="65241" y="420968"/>
                </a:lnTo>
                <a:lnTo>
                  <a:pt x="37874" y="385233"/>
                </a:lnTo>
                <a:lnTo>
                  <a:pt x="17355" y="345349"/>
                </a:lnTo>
                <a:lnTo>
                  <a:pt x="4469" y="302040"/>
                </a:lnTo>
                <a:lnTo>
                  <a:pt x="0" y="25603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40984" y="2054098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683758" y="3006089"/>
            <a:ext cx="554990" cy="512445"/>
          </a:xfrm>
          <a:custGeom>
            <a:avLst/>
            <a:gdLst/>
            <a:ahLst/>
            <a:cxnLst/>
            <a:rect l="l" t="t" r="r" b="b"/>
            <a:pathLst>
              <a:path w="554989" h="512445">
                <a:moveTo>
                  <a:pt x="0" y="256032"/>
                </a:moveTo>
                <a:lnTo>
                  <a:pt x="4469" y="210023"/>
                </a:lnTo>
                <a:lnTo>
                  <a:pt x="17355" y="166714"/>
                </a:lnTo>
                <a:lnTo>
                  <a:pt x="37874" y="126830"/>
                </a:lnTo>
                <a:lnTo>
                  <a:pt x="65241" y="91095"/>
                </a:lnTo>
                <a:lnTo>
                  <a:pt x="98673" y="60232"/>
                </a:lnTo>
                <a:lnTo>
                  <a:pt x="137385" y="34967"/>
                </a:lnTo>
                <a:lnTo>
                  <a:pt x="180595" y="16023"/>
                </a:lnTo>
                <a:lnTo>
                  <a:pt x="227517" y="4126"/>
                </a:lnTo>
                <a:lnTo>
                  <a:pt x="277367" y="0"/>
                </a:lnTo>
                <a:lnTo>
                  <a:pt x="327218" y="4126"/>
                </a:lnTo>
                <a:lnTo>
                  <a:pt x="374140" y="16023"/>
                </a:lnTo>
                <a:lnTo>
                  <a:pt x="417350" y="34967"/>
                </a:lnTo>
                <a:lnTo>
                  <a:pt x="456062" y="60232"/>
                </a:lnTo>
                <a:lnTo>
                  <a:pt x="489494" y="91095"/>
                </a:lnTo>
                <a:lnTo>
                  <a:pt x="516861" y="126830"/>
                </a:lnTo>
                <a:lnTo>
                  <a:pt x="537380" y="166714"/>
                </a:lnTo>
                <a:lnTo>
                  <a:pt x="550266" y="210023"/>
                </a:lnTo>
                <a:lnTo>
                  <a:pt x="554736" y="256032"/>
                </a:lnTo>
                <a:lnTo>
                  <a:pt x="550266" y="302040"/>
                </a:lnTo>
                <a:lnTo>
                  <a:pt x="537380" y="345349"/>
                </a:lnTo>
                <a:lnTo>
                  <a:pt x="516861" y="385233"/>
                </a:lnTo>
                <a:lnTo>
                  <a:pt x="489494" y="420968"/>
                </a:lnTo>
                <a:lnTo>
                  <a:pt x="456062" y="451831"/>
                </a:lnTo>
                <a:lnTo>
                  <a:pt x="417350" y="477096"/>
                </a:lnTo>
                <a:lnTo>
                  <a:pt x="374140" y="496040"/>
                </a:lnTo>
                <a:lnTo>
                  <a:pt x="327218" y="507937"/>
                </a:lnTo>
                <a:lnTo>
                  <a:pt x="277367" y="512063"/>
                </a:lnTo>
                <a:lnTo>
                  <a:pt x="227517" y="507937"/>
                </a:lnTo>
                <a:lnTo>
                  <a:pt x="180595" y="496040"/>
                </a:lnTo>
                <a:lnTo>
                  <a:pt x="137385" y="477096"/>
                </a:lnTo>
                <a:lnTo>
                  <a:pt x="98673" y="451831"/>
                </a:lnTo>
                <a:lnTo>
                  <a:pt x="65241" y="420968"/>
                </a:lnTo>
                <a:lnTo>
                  <a:pt x="37874" y="385233"/>
                </a:lnTo>
                <a:lnTo>
                  <a:pt x="17355" y="345349"/>
                </a:lnTo>
                <a:lnTo>
                  <a:pt x="4469" y="302040"/>
                </a:lnTo>
                <a:lnTo>
                  <a:pt x="0" y="2560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83758" y="4021073"/>
            <a:ext cx="554990" cy="512445"/>
          </a:xfrm>
          <a:custGeom>
            <a:avLst/>
            <a:gdLst/>
            <a:ahLst/>
            <a:cxnLst/>
            <a:rect l="l" t="t" r="r" b="b"/>
            <a:pathLst>
              <a:path w="554989" h="512445">
                <a:moveTo>
                  <a:pt x="0" y="256031"/>
                </a:moveTo>
                <a:lnTo>
                  <a:pt x="4469" y="210023"/>
                </a:lnTo>
                <a:lnTo>
                  <a:pt x="17355" y="166714"/>
                </a:lnTo>
                <a:lnTo>
                  <a:pt x="37874" y="126830"/>
                </a:lnTo>
                <a:lnTo>
                  <a:pt x="65241" y="91095"/>
                </a:lnTo>
                <a:lnTo>
                  <a:pt x="98673" y="60232"/>
                </a:lnTo>
                <a:lnTo>
                  <a:pt x="137385" y="34967"/>
                </a:lnTo>
                <a:lnTo>
                  <a:pt x="180595" y="16023"/>
                </a:lnTo>
                <a:lnTo>
                  <a:pt x="227517" y="4126"/>
                </a:lnTo>
                <a:lnTo>
                  <a:pt x="277367" y="0"/>
                </a:lnTo>
                <a:lnTo>
                  <a:pt x="327218" y="4126"/>
                </a:lnTo>
                <a:lnTo>
                  <a:pt x="374140" y="16023"/>
                </a:lnTo>
                <a:lnTo>
                  <a:pt x="417350" y="34967"/>
                </a:lnTo>
                <a:lnTo>
                  <a:pt x="456062" y="60232"/>
                </a:lnTo>
                <a:lnTo>
                  <a:pt x="489494" y="91095"/>
                </a:lnTo>
                <a:lnTo>
                  <a:pt x="516861" y="126830"/>
                </a:lnTo>
                <a:lnTo>
                  <a:pt x="537380" y="166714"/>
                </a:lnTo>
                <a:lnTo>
                  <a:pt x="550266" y="210023"/>
                </a:lnTo>
                <a:lnTo>
                  <a:pt x="554736" y="256031"/>
                </a:lnTo>
                <a:lnTo>
                  <a:pt x="550266" y="302040"/>
                </a:lnTo>
                <a:lnTo>
                  <a:pt x="537380" y="345349"/>
                </a:lnTo>
                <a:lnTo>
                  <a:pt x="516861" y="385233"/>
                </a:lnTo>
                <a:lnTo>
                  <a:pt x="489494" y="420968"/>
                </a:lnTo>
                <a:lnTo>
                  <a:pt x="456062" y="451831"/>
                </a:lnTo>
                <a:lnTo>
                  <a:pt x="417350" y="477096"/>
                </a:lnTo>
                <a:lnTo>
                  <a:pt x="374140" y="496040"/>
                </a:lnTo>
                <a:lnTo>
                  <a:pt x="327218" y="507937"/>
                </a:lnTo>
                <a:lnTo>
                  <a:pt x="277367" y="512063"/>
                </a:lnTo>
                <a:lnTo>
                  <a:pt x="227517" y="507937"/>
                </a:lnTo>
                <a:lnTo>
                  <a:pt x="180595" y="496040"/>
                </a:lnTo>
                <a:lnTo>
                  <a:pt x="137385" y="477096"/>
                </a:lnTo>
                <a:lnTo>
                  <a:pt x="98673" y="451831"/>
                </a:lnTo>
                <a:lnTo>
                  <a:pt x="65241" y="420968"/>
                </a:lnTo>
                <a:lnTo>
                  <a:pt x="37874" y="385233"/>
                </a:lnTo>
                <a:lnTo>
                  <a:pt x="17355" y="345349"/>
                </a:lnTo>
                <a:lnTo>
                  <a:pt x="4469" y="302040"/>
                </a:lnTo>
                <a:lnTo>
                  <a:pt x="0" y="25603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840984" y="4070730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20361" y="4965953"/>
            <a:ext cx="553720" cy="512445"/>
          </a:xfrm>
          <a:custGeom>
            <a:avLst/>
            <a:gdLst/>
            <a:ahLst/>
            <a:cxnLst/>
            <a:rect l="l" t="t" r="r" b="b"/>
            <a:pathLst>
              <a:path w="553720" h="512445">
                <a:moveTo>
                  <a:pt x="0" y="256032"/>
                </a:moveTo>
                <a:lnTo>
                  <a:pt x="4455" y="210023"/>
                </a:lnTo>
                <a:lnTo>
                  <a:pt x="17303" y="166714"/>
                </a:lnTo>
                <a:lnTo>
                  <a:pt x="37761" y="126830"/>
                </a:lnTo>
                <a:lnTo>
                  <a:pt x="65049" y="91095"/>
                </a:lnTo>
                <a:lnTo>
                  <a:pt x="98385" y="60232"/>
                </a:lnTo>
                <a:lnTo>
                  <a:pt x="136990" y="34967"/>
                </a:lnTo>
                <a:lnTo>
                  <a:pt x="180082" y="16023"/>
                </a:lnTo>
                <a:lnTo>
                  <a:pt x="226881" y="4126"/>
                </a:lnTo>
                <a:lnTo>
                  <a:pt x="276605" y="0"/>
                </a:lnTo>
                <a:lnTo>
                  <a:pt x="326330" y="4126"/>
                </a:lnTo>
                <a:lnTo>
                  <a:pt x="373129" y="16023"/>
                </a:lnTo>
                <a:lnTo>
                  <a:pt x="416221" y="34967"/>
                </a:lnTo>
                <a:lnTo>
                  <a:pt x="454826" y="60232"/>
                </a:lnTo>
                <a:lnTo>
                  <a:pt x="488162" y="91095"/>
                </a:lnTo>
                <a:lnTo>
                  <a:pt x="515450" y="126830"/>
                </a:lnTo>
                <a:lnTo>
                  <a:pt x="535908" y="166714"/>
                </a:lnTo>
                <a:lnTo>
                  <a:pt x="548756" y="210023"/>
                </a:lnTo>
                <a:lnTo>
                  <a:pt x="553212" y="256032"/>
                </a:lnTo>
                <a:lnTo>
                  <a:pt x="548756" y="302040"/>
                </a:lnTo>
                <a:lnTo>
                  <a:pt x="535908" y="345349"/>
                </a:lnTo>
                <a:lnTo>
                  <a:pt x="515450" y="385233"/>
                </a:lnTo>
                <a:lnTo>
                  <a:pt x="488162" y="420968"/>
                </a:lnTo>
                <a:lnTo>
                  <a:pt x="454826" y="451831"/>
                </a:lnTo>
                <a:lnTo>
                  <a:pt x="416221" y="477096"/>
                </a:lnTo>
                <a:lnTo>
                  <a:pt x="373129" y="496040"/>
                </a:lnTo>
                <a:lnTo>
                  <a:pt x="326330" y="507937"/>
                </a:lnTo>
                <a:lnTo>
                  <a:pt x="276605" y="512064"/>
                </a:lnTo>
                <a:lnTo>
                  <a:pt x="226881" y="507937"/>
                </a:lnTo>
                <a:lnTo>
                  <a:pt x="180082" y="496040"/>
                </a:lnTo>
                <a:lnTo>
                  <a:pt x="136990" y="477096"/>
                </a:lnTo>
                <a:lnTo>
                  <a:pt x="98385" y="451831"/>
                </a:lnTo>
                <a:lnTo>
                  <a:pt x="65049" y="420968"/>
                </a:lnTo>
                <a:lnTo>
                  <a:pt x="37761" y="385233"/>
                </a:lnTo>
                <a:lnTo>
                  <a:pt x="17303" y="345349"/>
                </a:lnTo>
                <a:lnTo>
                  <a:pt x="4455" y="302040"/>
                </a:lnTo>
                <a:lnTo>
                  <a:pt x="0" y="2560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524502" y="5016449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683758" y="5046726"/>
            <a:ext cx="554990" cy="512445"/>
          </a:xfrm>
          <a:custGeom>
            <a:avLst/>
            <a:gdLst/>
            <a:ahLst/>
            <a:cxnLst/>
            <a:rect l="l" t="t" r="r" b="b"/>
            <a:pathLst>
              <a:path w="554989" h="512445">
                <a:moveTo>
                  <a:pt x="0" y="256032"/>
                </a:moveTo>
                <a:lnTo>
                  <a:pt x="4469" y="210023"/>
                </a:lnTo>
                <a:lnTo>
                  <a:pt x="17355" y="166714"/>
                </a:lnTo>
                <a:lnTo>
                  <a:pt x="37874" y="126830"/>
                </a:lnTo>
                <a:lnTo>
                  <a:pt x="65241" y="91095"/>
                </a:lnTo>
                <a:lnTo>
                  <a:pt x="98673" y="60232"/>
                </a:lnTo>
                <a:lnTo>
                  <a:pt x="137385" y="34967"/>
                </a:lnTo>
                <a:lnTo>
                  <a:pt x="180595" y="16023"/>
                </a:lnTo>
                <a:lnTo>
                  <a:pt x="227517" y="4126"/>
                </a:lnTo>
                <a:lnTo>
                  <a:pt x="277367" y="0"/>
                </a:lnTo>
                <a:lnTo>
                  <a:pt x="327218" y="4126"/>
                </a:lnTo>
                <a:lnTo>
                  <a:pt x="374140" y="16023"/>
                </a:lnTo>
                <a:lnTo>
                  <a:pt x="417350" y="34967"/>
                </a:lnTo>
                <a:lnTo>
                  <a:pt x="456062" y="60232"/>
                </a:lnTo>
                <a:lnTo>
                  <a:pt x="489494" y="91095"/>
                </a:lnTo>
                <a:lnTo>
                  <a:pt x="516861" y="126830"/>
                </a:lnTo>
                <a:lnTo>
                  <a:pt x="537380" y="166714"/>
                </a:lnTo>
                <a:lnTo>
                  <a:pt x="550266" y="210023"/>
                </a:lnTo>
                <a:lnTo>
                  <a:pt x="554736" y="256032"/>
                </a:lnTo>
                <a:lnTo>
                  <a:pt x="550266" y="302040"/>
                </a:lnTo>
                <a:lnTo>
                  <a:pt x="537380" y="345349"/>
                </a:lnTo>
                <a:lnTo>
                  <a:pt x="516861" y="385233"/>
                </a:lnTo>
                <a:lnTo>
                  <a:pt x="489494" y="420968"/>
                </a:lnTo>
                <a:lnTo>
                  <a:pt x="456062" y="451831"/>
                </a:lnTo>
                <a:lnTo>
                  <a:pt x="417350" y="477096"/>
                </a:lnTo>
                <a:lnTo>
                  <a:pt x="374140" y="496040"/>
                </a:lnTo>
                <a:lnTo>
                  <a:pt x="327218" y="507937"/>
                </a:lnTo>
                <a:lnTo>
                  <a:pt x="277367" y="512064"/>
                </a:lnTo>
                <a:lnTo>
                  <a:pt x="227517" y="507937"/>
                </a:lnTo>
                <a:lnTo>
                  <a:pt x="180595" y="496040"/>
                </a:lnTo>
                <a:lnTo>
                  <a:pt x="137385" y="477096"/>
                </a:lnTo>
                <a:lnTo>
                  <a:pt x="98673" y="451831"/>
                </a:lnTo>
                <a:lnTo>
                  <a:pt x="65241" y="420968"/>
                </a:lnTo>
                <a:lnTo>
                  <a:pt x="37874" y="385233"/>
                </a:lnTo>
                <a:lnTo>
                  <a:pt x="17355" y="345349"/>
                </a:lnTo>
                <a:lnTo>
                  <a:pt x="4469" y="302040"/>
                </a:lnTo>
                <a:lnTo>
                  <a:pt x="0" y="2560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788533" y="5097907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95338" y="4807458"/>
            <a:ext cx="551815" cy="512445"/>
          </a:xfrm>
          <a:custGeom>
            <a:avLst/>
            <a:gdLst/>
            <a:ahLst/>
            <a:cxnLst/>
            <a:rect l="l" t="t" r="r" b="b"/>
            <a:pathLst>
              <a:path w="551815" h="512445">
                <a:moveTo>
                  <a:pt x="0" y="256032"/>
                </a:moveTo>
                <a:lnTo>
                  <a:pt x="4442" y="210023"/>
                </a:lnTo>
                <a:lnTo>
                  <a:pt x="17251" y="166714"/>
                </a:lnTo>
                <a:lnTo>
                  <a:pt x="37648" y="126830"/>
                </a:lnTo>
                <a:lnTo>
                  <a:pt x="64856" y="91095"/>
                </a:lnTo>
                <a:lnTo>
                  <a:pt x="98098" y="60232"/>
                </a:lnTo>
                <a:lnTo>
                  <a:pt x="136595" y="34967"/>
                </a:lnTo>
                <a:lnTo>
                  <a:pt x="179570" y="16023"/>
                </a:lnTo>
                <a:lnTo>
                  <a:pt x="226246" y="4126"/>
                </a:lnTo>
                <a:lnTo>
                  <a:pt x="275843" y="0"/>
                </a:lnTo>
                <a:lnTo>
                  <a:pt x="325441" y="4126"/>
                </a:lnTo>
                <a:lnTo>
                  <a:pt x="372117" y="16023"/>
                </a:lnTo>
                <a:lnTo>
                  <a:pt x="415092" y="34967"/>
                </a:lnTo>
                <a:lnTo>
                  <a:pt x="453589" y="60232"/>
                </a:lnTo>
                <a:lnTo>
                  <a:pt x="486831" y="91095"/>
                </a:lnTo>
                <a:lnTo>
                  <a:pt x="514039" y="126830"/>
                </a:lnTo>
                <a:lnTo>
                  <a:pt x="534436" y="166714"/>
                </a:lnTo>
                <a:lnTo>
                  <a:pt x="547245" y="210023"/>
                </a:lnTo>
                <a:lnTo>
                  <a:pt x="551687" y="256032"/>
                </a:lnTo>
                <a:lnTo>
                  <a:pt x="547245" y="302040"/>
                </a:lnTo>
                <a:lnTo>
                  <a:pt x="534436" y="345349"/>
                </a:lnTo>
                <a:lnTo>
                  <a:pt x="514039" y="385233"/>
                </a:lnTo>
                <a:lnTo>
                  <a:pt x="486831" y="420968"/>
                </a:lnTo>
                <a:lnTo>
                  <a:pt x="453589" y="451831"/>
                </a:lnTo>
                <a:lnTo>
                  <a:pt x="415092" y="477096"/>
                </a:lnTo>
                <a:lnTo>
                  <a:pt x="372117" y="496040"/>
                </a:lnTo>
                <a:lnTo>
                  <a:pt x="325441" y="507937"/>
                </a:lnTo>
                <a:lnTo>
                  <a:pt x="275843" y="512064"/>
                </a:lnTo>
                <a:lnTo>
                  <a:pt x="226246" y="507937"/>
                </a:lnTo>
                <a:lnTo>
                  <a:pt x="179570" y="496040"/>
                </a:lnTo>
                <a:lnTo>
                  <a:pt x="136595" y="477096"/>
                </a:lnTo>
                <a:lnTo>
                  <a:pt x="98098" y="451831"/>
                </a:lnTo>
                <a:lnTo>
                  <a:pt x="64856" y="420968"/>
                </a:lnTo>
                <a:lnTo>
                  <a:pt x="37648" y="385233"/>
                </a:lnTo>
                <a:lnTo>
                  <a:pt x="17251" y="345349"/>
                </a:lnTo>
                <a:lnTo>
                  <a:pt x="4442" y="302040"/>
                </a:lnTo>
                <a:lnTo>
                  <a:pt x="0" y="2560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999858" y="4857699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06561" y="4807458"/>
            <a:ext cx="553720" cy="512445"/>
          </a:xfrm>
          <a:custGeom>
            <a:avLst/>
            <a:gdLst/>
            <a:ahLst/>
            <a:cxnLst/>
            <a:rect l="l" t="t" r="r" b="b"/>
            <a:pathLst>
              <a:path w="553720" h="512445">
                <a:moveTo>
                  <a:pt x="0" y="256032"/>
                </a:moveTo>
                <a:lnTo>
                  <a:pt x="4455" y="210023"/>
                </a:lnTo>
                <a:lnTo>
                  <a:pt x="17303" y="166714"/>
                </a:lnTo>
                <a:lnTo>
                  <a:pt x="37761" y="126830"/>
                </a:lnTo>
                <a:lnTo>
                  <a:pt x="65049" y="91095"/>
                </a:lnTo>
                <a:lnTo>
                  <a:pt x="98385" y="60232"/>
                </a:lnTo>
                <a:lnTo>
                  <a:pt x="136990" y="34967"/>
                </a:lnTo>
                <a:lnTo>
                  <a:pt x="180082" y="16023"/>
                </a:lnTo>
                <a:lnTo>
                  <a:pt x="226881" y="4126"/>
                </a:lnTo>
                <a:lnTo>
                  <a:pt x="276606" y="0"/>
                </a:lnTo>
                <a:lnTo>
                  <a:pt x="326330" y="4126"/>
                </a:lnTo>
                <a:lnTo>
                  <a:pt x="373129" y="16023"/>
                </a:lnTo>
                <a:lnTo>
                  <a:pt x="416221" y="34967"/>
                </a:lnTo>
                <a:lnTo>
                  <a:pt x="454826" y="60232"/>
                </a:lnTo>
                <a:lnTo>
                  <a:pt x="488162" y="91095"/>
                </a:lnTo>
                <a:lnTo>
                  <a:pt x="515450" y="126830"/>
                </a:lnTo>
                <a:lnTo>
                  <a:pt x="535908" y="166714"/>
                </a:lnTo>
                <a:lnTo>
                  <a:pt x="548756" y="210023"/>
                </a:lnTo>
                <a:lnTo>
                  <a:pt x="553212" y="256032"/>
                </a:lnTo>
                <a:lnTo>
                  <a:pt x="548756" y="302040"/>
                </a:lnTo>
                <a:lnTo>
                  <a:pt x="535908" y="345349"/>
                </a:lnTo>
                <a:lnTo>
                  <a:pt x="515450" y="385233"/>
                </a:lnTo>
                <a:lnTo>
                  <a:pt x="488162" y="420968"/>
                </a:lnTo>
                <a:lnTo>
                  <a:pt x="454826" y="451831"/>
                </a:lnTo>
                <a:lnTo>
                  <a:pt x="416221" y="477096"/>
                </a:lnTo>
                <a:lnTo>
                  <a:pt x="373129" y="496040"/>
                </a:lnTo>
                <a:lnTo>
                  <a:pt x="326330" y="507937"/>
                </a:lnTo>
                <a:lnTo>
                  <a:pt x="276606" y="512064"/>
                </a:lnTo>
                <a:lnTo>
                  <a:pt x="226881" y="507937"/>
                </a:lnTo>
                <a:lnTo>
                  <a:pt x="180082" y="496040"/>
                </a:lnTo>
                <a:lnTo>
                  <a:pt x="136990" y="477096"/>
                </a:lnTo>
                <a:lnTo>
                  <a:pt x="98385" y="451831"/>
                </a:lnTo>
                <a:lnTo>
                  <a:pt x="65049" y="420968"/>
                </a:lnTo>
                <a:lnTo>
                  <a:pt x="37761" y="385233"/>
                </a:lnTo>
                <a:lnTo>
                  <a:pt x="17303" y="345349"/>
                </a:lnTo>
                <a:lnTo>
                  <a:pt x="4455" y="302040"/>
                </a:lnTo>
                <a:lnTo>
                  <a:pt x="0" y="2560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411336" y="4857699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231001" y="5356097"/>
            <a:ext cx="2247900" cy="354965"/>
          </a:xfrm>
          <a:custGeom>
            <a:avLst/>
            <a:gdLst/>
            <a:ahLst/>
            <a:cxnLst/>
            <a:rect l="l" t="t" r="r" b="b"/>
            <a:pathLst>
              <a:path w="2247900" h="354964">
                <a:moveTo>
                  <a:pt x="27177" y="78104"/>
                </a:moveTo>
                <a:lnTo>
                  <a:pt x="0" y="104774"/>
                </a:lnTo>
                <a:lnTo>
                  <a:pt x="16890" y="121919"/>
                </a:lnTo>
                <a:lnTo>
                  <a:pt x="34416" y="138556"/>
                </a:lnTo>
                <a:lnTo>
                  <a:pt x="70103" y="169036"/>
                </a:lnTo>
                <a:lnTo>
                  <a:pt x="106552" y="196468"/>
                </a:lnTo>
                <a:lnTo>
                  <a:pt x="143890" y="220598"/>
                </a:lnTo>
                <a:lnTo>
                  <a:pt x="181863" y="241909"/>
                </a:lnTo>
                <a:lnTo>
                  <a:pt x="220599" y="260540"/>
                </a:lnTo>
                <a:lnTo>
                  <a:pt x="259714" y="276783"/>
                </a:lnTo>
                <a:lnTo>
                  <a:pt x="299212" y="290753"/>
                </a:lnTo>
                <a:lnTo>
                  <a:pt x="339090" y="302933"/>
                </a:lnTo>
                <a:lnTo>
                  <a:pt x="379349" y="313423"/>
                </a:lnTo>
                <a:lnTo>
                  <a:pt x="419989" y="322364"/>
                </a:lnTo>
                <a:lnTo>
                  <a:pt x="460755" y="330174"/>
                </a:lnTo>
                <a:lnTo>
                  <a:pt x="501650" y="337019"/>
                </a:lnTo>
                <a:lnTo>
                  <a:pt x="542544" y="343166"/>
                </a:lnTo>
                <a:lnTo>
                  <a:pt x="624331" y="354164"/>
                </a:lnTo>
                <a:lnTo>
                  <a:pt x="626618" y="354355"/>
                </a:lnTo>
                <a:lnTo>
                  <a:pt x="979677" y="338785"/>
                </a:lnTo>
                <a:lnTo>
                  <a:pt x="1045972" y="335064"/>
                </a:lnTo>
                <a:lnTo>
                  <a:pt x="1111630" y="330568"/>
                </a:lnTo>
                <a:lnTo>
                  <a:pt x="1176654" y="325310"/>
                </a:lnTo>
                <a:lnTo>
                  <a:pt x="1241298" y="318998"/>
                </a:lnTo>
                <a:lnTo>
                  <a:pt x="1264145" y="316395"/>
                </a:lnTo>
                <a:lnTo>
                  <a:pt x="629412" y="316395"/>
                </a:lnTo>
                <a:lnTo>
                  <a:pt x="626109" y="316242"/>
                </a:lnTo>
                <a:lnTo>
                  <a:pt x="627745" y="316171"/>
                </a:lnTo>
                <a:lnTo>
                  <a:pt x="548258" y="305485"/>
                </a:lnTo>
                <a:lnTo>
                  <a:pt x="507873" y="299440"/>
                </a:lnTo>
                <a:lnTo>
                  <a:pt x="467868" y="292760"/>
                </a:lnTo>
                <a:lnTo>
                  <a:pt x="428244" y="285140"/>
                </a:lnTo>
                <a:lnTo>
                  <a:pt x="389000" y="276555"/>
                </a:lnTo>
                <a:lnTo>
                  <a:pt x="350266" y="266471"/>
                </a:lnTo>
                <a:lnTo>
                  <a:pt x="311912" y="254838"/>
                </a:lnTo>
                <a:lnTo>
                  <a:pt x="273812" y="241376"/>
                </a:lnTo>
                <a:lnTo>
                  <a:pt x="236600" y="225932"/>
                </a:lnTo>
                <a:lnTo>
                  <a:pt x="200025" y="208406"/>
                </a:lnTo>
                <a:lnTo>
                  <a:pt x="164084" y="188213"/>
                </a:lnTo>
                <a:lnTo>
                  <a:pt x="128904" y="165480"/>
                </a:lnTo>
                <a:lnTo>
                  <a:pt x="94234" y="139699"/>
                </a:lnTo>
                <a:lnTo>
                  <a:pt x="60578" y="110870"/>
                </a:lnTo>
                <a:lnTo>
                  <a:pt x="43941" y="95122"/>
                </a:lnTo>
                <a:lnTo>
                  <a:pt x="27177" y="78104"/>
                </a:lnTo>
                <a:close/>
              </a:path>
              <a:path w="2247900" h="354964">
                <a:moveTo>
                  <a:pt x="627745" y="316171"/>
                </a:moveTo>
                <a:lnTo>
                  <a:pt x="626109" y="316242"/>
                </a:lnTo>
                <a:lnTo>
                  <a:pt x="629412" y="316395"/>
                </a:lnTo>
                <a:lnTo>
                  <a:pt x="627745" y="316171"/>
                </a:lnTo>
                <a:close/>
              </a:path>
              <a:path w="2247900" h="354964">
                <a:moveTo>
                  <a:pt x="2067375" y="64092"/>
                </a:moveTo>
                <a:lnTo>
                  <a:pt x="1869694" y="138175"/>
                </a:lnTo>
                <a:lnTo>
                  <a:pt x="1825752" y="153669"/>
                </a:lnTo>
                <a:lnTo>
                  <a:pt x="1781809" y="168401"/>
                </a:lnTo>
                <a:lnTo>
                  <a:pt x="1738376" y="182244"/>
                </a:lnTo>
                <a:lnTo>
                  <a:pt x="1695196" y="194944"/>
                </a:lnTo>
                <a:lnTo>
                  <a:pt x="1627251" y="213105"/>
                </a:lnTo>
                <a:lnTo>
                  <a:pt x="1560576" y="228980"/>
                </a:lnTo>
                <a:lnTo>
                  <a:pt x="1494790" y="242823"/>
                </a:lnTo>
                <a:lnTo>
                  <a:pt x="1429893" y="254749"/>
                </a:lnTo>
                <a:lnTo>
                  <a:pt x="1365503" y="264972"/>
                </a:lnTo>
                <a:lnTo>
                  <a:pt x="1301623" y="273773"/>
                </a:lnTo>
                <a:lnTo>
                  <a:pt x="1237615" y="281076"/>
                </a:lnTo>
                <a:lnTo>
                  <a:pt x="1173479" y="287337"/>
                </a:lnTo>
                <a:lnTo>
                  <a:pt x="1108964" y="292557"/>
                </a:lnTo>
                <a:lnTo>
                  <a:pt x="1043940" y="297014"/>
                </a:lnTo>
                <a:lnTo>
                  <a:pt x="977773" y="300723"/>
                </a:lnTo>
                <a:lnTo>
                  <a:pt x="627745" y="316171"/>
                </a:lnTo>
                <a:lnTo>
                  <a:pt x="629412" y="316395"/>
                </a:lnTo>
                <a:lnTo>
                  <a:pt x="1264145" y="316395"/>
                </a:lnTo>
                <a:lnTo>
                  <a:pt x="1305941" y="311632"/>
                </a:lnTo>
                <a:lnTo>
                  <a:pt x="1370710" y="302717"/>
                </a:lnTo>
                <a:lnTo>
                  <a:pt x="1435862" y="292366"/>
                </a:lnTo>
                <a:lnTo>
                  <a:pt x="1501648" y="280288"/>
                </a:lnTo>
                <a:lnTo>
                  <a:pt x="1568323" y="266293"/>
                </a:lnTo>
                <a:lnTo>
                  <a:pt x="1636141" y="250177"/>
                </a:lnTo>
                <a:lnTo>
                  <a:pt x="1705228" y="231774"/>
                </a:lnTo>
                <a:lnTo>
                  <a:pt x="1749044" y="218820"/>
                </a:lnTo>
                <a:lnTo>
                  <a:pt x="1793367" y="204723"/>
                </a:lnTo>
                <a:lnTo>
                  <a:pt x="1837944" y="189737"/>
                </a:lnTo>
                <a:lnTo>
                  <a:pt x="1882267" y="174243"/>
                </a:lnTo>
                <a:lnTo>
                  <a:pt x="2074418" y="102742"/>
                </a:lnTo>
                <a:lnTo>
                  <a:pt x="2083651" y="98505"/>
                </a:lnTo>
                <a:lnTo>
                  <a:pt x="2067375" y="64092"/>
                </a:lnTo>
                <a:close/>
              </a:path>
              <a:path w="2247900" h="354964">
                <a:moveTo>
                  <a:pt x="2185679" y="56006"/>
                </a:moveTo>
                <a:lnTo>
                  <a:pt x="2084831" y="56006"/>
                </a:lnTo>
                <a:lnTo>
                  <a:pt x="2100706" y="90677"/>
                </a:lnTo>
                <a:lnTo>
                  <a:pt x="2083651" y="98505"/>
                </a:lnTo>
                <a:lnTo>
                  <a:pt x="2100072" y="133222"/>
                </a:lnTo>
                <a:lnTo>
                  <a:pt x="2185679" y="56006"/>
                </a:lnTo>
                <a:close/>
              </a:path>
              <a:path w="2247900" h="354964">
                <a:moveTo>
                  <a:pt x="2084831" y="56006"/>
                </a:moveTo>
                <a:lnTo>
                  <a:pt x="2067375" y="64092"/>
                </a:lnTo>
                <a:lnTo>
                  <a:pt x="2083651" y="98505"/>
                </a:lnTo>
                <a:lnTo>
                  <a:pt x="2100706" y="90677"/>
                </a:lnTo>
                <a:lnTo>
                  <a:pt x="2084831" y="56006"/>
                </a:lnTo>
                <a:close/>
              </a:path>
              <a:path w="2247900" h="354964">
                <a:moveTo>
                  <a:pt x="2247773" y="0"/>
                </a:moveTo>
                <a:lnTo>
                  <a:pt x="2051177" y="29844"/>
                </a:lnTo>
                <a:lnTo>
                  <a:pt x="2067375" y="64092"/>
                </a:lnTo>
                <a:lnTo>
                  <a:pt x="2084831" y="56006"/>
                </a:lnTo>
                <a:lnTo>
                  <a:pt x="2185679" y="56006"/>
                </a:lnTo>
                <a:lnTo>
                  <a:pt x="224777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244590" y="3256026"/>
            <a:ext cx="2245360" cy="1561465"/>
          </a:xfrm>
          <a:custGeom>
            <a:avLst/>
            <a:gdLst/>
            <a:ahLst/>
            <a:cxnLst/>
            <a:rect l="l" t="t" r="r" b="b"/>
            <a:pathLst>
              <a:path w="2245359" h="1561464">
                <a:moveTo>
                  <a:pt x="104838" y="49330"/>
                </a:moveTo>
                <a:lnTo>
                  <a:pt x="83130" y="80704"/>
                </a:lnTo>
                <a:lnTo>
                  <a:pt x="2223389" y="1560957"/>
                </a:lnTo>
                <a:lnTo>
                  <a:pt x="2244979" y="1529715"/>
                </a:lnTo>
                <a:lnTo>
                  <a:pt x="104838" y="49330"/>
                </a:lnTo>
                <a:close/>
              </a:path>
              <a:path w="2245359" h="1561464">
                <a:moveTo>
                  <a:pt x="0" y="0"/>
                </a:moveTo>
                <a:lnTo>
                  <a:pt x="61468" y="112013"/>
                </a:lnTo>
                <a:lnTo>
                  <a:pt x="83130" y="80704"/>
                </a:lnTo>
                <a:lnTo>
                  <a:pt x="67437" y="69850"/>
                </a:lnTo>
                <a:lnTo>
                  <a:pt x="89154" y="38481"/>
                </a:lnTo>
                <a:lnTo>
                  <a:pt x="112344" y="38481"/>
                </a:lnTo>
                <a:lnTo>
                  <a:pt x="126492" y="18034"/>
                </a:lnTo>
                <a:lnTo>
                  <a:pt x="0" y="0"/>
                </a:lnTo>
                <a:close/>
              </a:path>
              <a:path w="2245359" h="1561464">
                <a:moveTo>
                  <a:pt x="89154" y="38481"/>
                </a:moveTo>
                <a:lnTo>
                  <a:pt x="67437" y="69850"/>
                </a:lnTo>
                <a:lnTo>
                  <a:pt x="83130" y="80704"/>
                </a:lnTo>
                <a:lnTo>
                  <a:pt x="104838" y="49330"/>
                </a:lnTo>
                <a:lnTo>
                  <a:pt x="89154" y="38481"/>
                </a:lnTo>
                <a:close/>
              </a:path>
              <a:path w="2245359" h="1561464">
                <a:moveTo>
                  <a:pt x="112344" y="38481"/>
                </a:moveTo>
                <a:lnTo>
                  <a:pt x="89154" y="38481"/>
                </a:lnTo>
                <a:lnTo>
                  <a:pt x="104838" y="49330"/>
                </a:lnTo>
                <a:lnTo>
                  <a:pt x="112344" y="3848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11930" y="1278255"/>
            <a:ext cx="450215" cy="114300"/>
          </a:xfrm>
          <a:custGeom>
            <a:avLst/>
            <a:gdLst/>
            <a:ahLst/>
            <a:cxnLst/>
            <a:rect l="l" t="t" r="r" b="b"/>
            <a:pathLst>
              <a:path w="450214" h="114300">
                <a:moveTo>
                  <a:pt x="335661" y="0"/>
                </a:moveTo>
                <a:lnTo>
                  <a:pt x="335491" y="38038"/>
                </a:lnTo>
                <a:lnTo>
                  <a:pt x="354584" y="38100"/>
                </a:lnTo>
                <a:lnTo>
                  <a:pt x="354330" y="76200"/>
                </a:lnTo>
                <a:lnTo>
                  <a:pt x="335322" y="76200"/>
                </a:lnTo>
                <a:lnTo>
                  <a:pt x="335153" y="114300"/>
                </a:lnTo>
                <a:lnTo>
                  <a:pt x="412034" y="76200"/>
                </a:lnTo>
                <a:lnTo>
                  <a:pt x="354330" y="76200"/>
                </a:lnTo>
                <a:lnTo>
                  <a:pt x="412158" y="76138"/>
                </a:lnTo>
                <a:lnTo>
                  <a:pt x="449707" y="57531"/>
                </a:lnTo>
                <a:lnTo>
                  <a:pt x="335661" y="0"/>
                </a:lnTo>
                <a:close/>
              </a:path>
              <a:path w="450214" h="114300">
                <a:moveTo>
                  <a:pt x="335491" y="38038"/>
                </a:moveTo>
                <a:lnTo>
                  <a:pt x="335322" y="76138"/>
                </a:lnTo>
                <a:lnTo>
                  <a:pt x="354330" y="76200"/>
                </a:lnTo>
                <a:lnTo>
                  <a:pt x="354584" y="38100"/>
                </a:lnTo>
                <a:lnTo>
                  <a:pt x="335491" y="38038"/>
                </a:lnTo>
                <a:close/>
              </a:path>
              <a:path w="450214" h="114300">
                <a:moveTo>
                  <a:pt x="127" y="36957"/>
                </a:moveTo>
                <a:lnTo>
                  <a:pt x="0" y="75057"/>
                </a:lnTo>
                <a:lnTo>
                  <a:pt x="335322" y="76138"/>
                </a:lnTo>
                <a:lnTo>
                  <a:pt x="335491" y="38038"/>
                </a:lnTo>
                <a:lnTo>
                  <a:pt x="127" y="36957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18027" y="2326767"/>
            <a:ext cx="450215" cy="114300"/>
          </a:xfrm>
          <a:custGeom>
            <a:avLst/>
            <a:gdLst/>
            <a:ahLst/>
            <a:cxnLst/>
            <a:rect l="l" t="t" r="r" b="b"/>
            <a:pathLst>
              <a:path w="450214" h="114300">
                <a:moveTo>
                  <a:pt x="335661" y="0"/>
                </a:moveTo>
                <a:lnTo>
                  <a:pt x="335491" y="38038"/>
                </a:lnTo>
                <a:lnTo>
                  <a:pt x="354584" y="38100"/>
                </a:lnTo>
                <a:lnTo>
                  <a:pt x="354330" y="76200"/>
                </a:lnTo>
                <a:lnTo>
                  <a:pt x="335322" y="76200"/>
                </a:lnTo>
                <a:lnTo>
                  <a:pt x="335152" y="114300"/>
                </a:lnTo>
                <a:lnTo>
                  <a:pt x="412034" y="76200"/>
                </a:lnTo>
                <a:lnTo>
                  <a:pt x="354330" y="76200"/>
                </a:lnTo>
                <a:lnTo>
                  <a:pt x="412158" y="76138"/>
                </a:lnTo>
                <a:lnTo>
                  <a:pt x="449707" y="57531"/>
                </a:lnTo>
                <a:lnTo>
                  <a:pt x="335661" y="0"/>
                </a:lnTo>
                <a:close/>
              </a:path>
              <a:path w="450214" h="114300">
                <a:moveTo>
                  <a:pt x="335491" y="38038"/>
                </a:moveTo>
                <a:lnTo>
                  <a:pt x="335322" y="76138"/>
                </a:lnTo>
                <a:lnTo>
                  <a:pt x="354330" y="76200"/>
                </a:lnTo>
                <a:lnTo>
                  <a:pt x="354584" y="38100"/>
                </a:lnTo>
                <a:lnTo>
                  <a:pt x="335491" y="38038"/>
                </a:lnTo>
                <a:close/>
              </a:path>
              <a:path w="450214" h="114300">
                <a:moveTo>
                  <a:pt x="253" y="36957"/>
                </a:moveTo>
                <a:lnTo>
                  <a:pt x="0" y="75057"/>
                </a:lnTo>
                <a:lnTo>
                  <a:pt x="335322" y="76138"/>
                </a:lnTo>
                <a:lnTo>
                  <a:pt x="335491" y="38038"/>
                </a:lnTo>
                <a:lnTo>
                  <a:pt x="253" y="36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518027" y="2840354"/>
            <a:ext cx="450215" cy="114300"/>
          </a:xfrm>
          <a:custGeom>
            <a:avLst/>
            <a:gdLst/>
            <a:ahLst/>
            <a:cxnLst/>
            <a:rect l="l" t="t" r="r" b="b"/>
            <a:pathLst>
              <a:path w="450214" h="114300">
                <a:moveTo>
                  <a:pt x="335661" y="0"/>
                </a:moveTo>
                <a:lnTo>
                  <a:pt x="335491" y="38038"/>
                </a:lnTo>
                <a:lnTo>
                  <a:pt x="354584" y="38100"/>
                </a:lnTo>
                <a:lnTo>
                  <a:pt x="354330" y="76200"/>
                </a:lnTo>
                <a:lnTo>
                  <a:pt x="335322" y="76200"/>
                </a:lnTo>
                <a:lnTo>
                  <a:pt x="335152" y="114300"/>
                </a:lnTo>
                <a:lnTo>
                  <a:pt x="412034" y="76200"/>
                </a:lnTo>
                <a:lnTo>
                  <a:pt x="354330" y="76200"/>
                </a:lnTo>
                <a:lnTo>
                  <a:pt x="412158" y="76138"/>
                </a:lnTo>
                <a:lnTo>
                  <a:pt x="449707" y="57531"/>
                </a:lnTo>
                <a:lnTo>
                  <a:pt x="335661" y="0"/>
                </a:lnTo>
                <a:close/>
              </a:path>
              <a:path w="450214" h="114300">
                <a:moveTo>
                  <a:pt x="335491" y="38038"/>
                </a:moveTo>
                <a:lnTo>
                  <a:pt x="335322" y="76138"/>
                </a:lnTo>
                <a:lnTo>
                  <a:pt x="354330" y="76200"/>
                </a:lnTo>
                <a:lnTo>
                  <a:pt x="354584" y="38100"/>
                </a:lnTo>
                <a:lnTo>
                  <a:pt x="335491" y="38038"/>
                </a:lnTo>
                <a:close/>
              </a:path>
              <a:path w="450214" h="114300">
                <a:moveTo>
                  <a:pt x="253" y="36957"/>
                </a:moveTo>
                <a:lnTo>
                  <a:pt x="0" y="75057"/>
                </a:lnTo>
                <a:lnTo>
                  <a:pt x="335322" y="76138"/>
                </a:lnTo>
                <a:lnTo>
                  <a:pt x="335491" y="38038"/>
                </a:lnTo>
                <a:lnTo>
                  <a:pt x="253" y="36957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493642" y="3792854"/>
            <a:ext cx="448309" cy="114300"/>
          </a:xfrm>
          <a:custGeom>
            <a:avLst/>
            <a:gdLst/>
            <a:ahLst/>
            <a:cxnLst/>
            <a:rect l="l" t="t" r="r" b="b"/>
            <a:pathLst>
              <a:path w="448310" h="114300">
                <a:moveTo>
                  <a:pt x="334137" y="0"/>
                </a:moveTo>
                <a:lnTo>
                  <a:pt x="333967" y="38038"/>
                </a:lnTo>
                <a:lnTo>
                  <a:pt x="353060" y="38100"/>
                </a:lnTo>
                <a:lnTo>
                  <a:pt x="352806" y="76200"/>
                </a:lnTo>
                <a:lnTo>
                  <a:pt x="333798" y="76200"/>
                </a:lnTo>
                <a:lnTo>
                  <a:pt x="333629" y="114300"/>
                </a:lnTo>
                <a:lnTo>
                  <a:pt x="410510" y="76200"/>
                </a:lnTo>
                <a:lnTo>
                  <a:pt x="352806" y="76200"/>
                </a:lnTo>
                <a:lnTo>
                  <a:pt x="410635" y="76138"/>
                </a:lnTo>
                <a:lnTo>
                  <a:pt x="448183" y="57531"/>
                </a:lnTo>
                <a:lnTo>
                  <a:pt x="334137" y="0"/>
                </a:lnTo>
                <a:close/>
              </a:path>
              <a:path w="448310" h="114300">
                <a:moveTo>
                  <a:pt x="333967" y="38038"/>
                </a:moveTo>
                <a:lnTo>
                  <a:pt x="333798" y="76138"/>
                </a:lnTo>
                <a:lnTo>
                  <a:pt x="352806" y="76200"/>
                </a:lnTo>
                <a:lnTo>
                  <a:pt x="353060" y="38100"/>
                </a:lnTo>
                <a:lnTo>
                  <a:pt x="333967" y="38038"/>
                </a:lnTo>
                <a:close/>
              </a:path>
              <a:path w="448310" h="114300">
                <a:moveTo>
                  <a:pt x="254" y="36957"/>
                </a:moveTo>
                <a:lnTo>
                  <a:pt x="0" y="75057"/>
                </a:lnTo>
                <a:lnTo>
                  <a:pt x="333798" y="76138"/>
                </a:lnTo>
                <a:lnTo>
                  <a:pt x="333967" y="38038"/>
                </a:lnTo>
                <a:lnTo>
                  <a:pt x="254" y="36957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479927" y="4745354"/>
            <a:ext cx="450215" cy="114300"/>
          </a:xfrm>
          <a:custGeom>
            <a:avLst/>
            <a:gdLst/>
            <a:ahLst/>
            <a:cxnLst/>
            <a:rect l="l" t="t" r="r" b="b"/>
            <a:pathLst>
              <a:path w="450214" h="114300">
                <a:moveTo>
                  <a:pt x="335661" y="0"/>
                </a:moveTo>
                <a:lnTo>
                  <a:pt x="335491" y="38038"/>
                </a:lnTo>
                <a:lnTo>
                  <a:pt x="354584" y="38100"/>
                </a:lnTo>
                <a:lnTo>
                  <a:pt x="354330" y="76200"/>
                </a:lnTo>
                <a:lnTo>
                  <a:pt x="335322" y="76200"/>
                </a:lnTo>
                <a:lnTo>
                  <a:pt x="335152" y="114300"/>
                </a:lnTo>
                <a:lnTo>
                  <a:pt x="412034" y="76200"/>
                </a:lnTo>
                <a:lnTo>
                  <a:pt x="354330" y="76200"/>
                </a:lnTo>
                <a:lnTo>
                  <a:pt x="412158" y="76138"/>
                </a:lnTo>
                <a:lnTo>
                  <a:pt x="449707" y="57531"/>
                </a:lnTo>
                <a:lnTo>
                  <a:pt x="335661" y="0"/>
                </a:lnTo>
                <a:close/>
              </a:path>
              <a:path w="450214" h="114300">
                <a:moveTo>
                  <a:pt x="335491" y="38038"/>
                </a:moveTo>
                <a:lnTo>
                  <a:pt x="335322" y="76138"/>
                </a:lnTo>
                <a:lnTo>
                  <a:pt x="354330" y="76200"/>
                </a:lnTo>
                <a:lnTo>
                  <a:pt x="354584" y="38100"/>
                </a:lnTo>
                <a:lnTo>
                  <a:pt x="335491" y="38038"/>
                </a:lnTo>
                <a:close/>
              </a:path>
              <a:path w="450214" h="114300">
                <a:moveTo>
                  <a:pt x="253" y="36957"/>
                </a:moveTo>
                <a:lnTo>
                  <a:pt x="0" y="75057"/>
                </a:lnTo>
                <a:lnTo>
                  <a:pt x="335322" y="76138"/>
                </a:lnTo>
                <a:lnTo>
                  <a:pt x="335491" y="38038"/>
                </a:lnTo>
                <a:lnTo>
                  <a:pt x="253" y="36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79927" y="5240654"/>
            <a:ext cx="450215" cy="114300"/>
          </a:xfrm>
          <a:custGeom>
            <a:avLst/>
            <a:gdLst/>
            <a:ahLst/>
            <a:cxnLst/>
            <a:rect l="l" t="t" r="r" b="b"/>
            <a:pathLst>
              <a:path w="450214" h="114300">
                <a:moveTo>
                  <a:pt x="335661" y="0"/>
                </a:moveTo>
                <a:lnTo>
                  <a:pt x="335491" y="38038"/>
                </a:lnTo>
                <a:lnTo>
                  <a:pt x="354584" y="38100"/>
                </a:lnTo>
                <a:lnTo>
                  <a:pt x="354330" y="76200"/>
                </a:lnTo>
                <a:lnTo>
                  <a:pt x="335322" y="76200"/>
                </a:lnTo>
                <a:lnTo>
                  <a:pt x="335152" y="114300"/>
                </a:lnTo>
                <a:lnTo>
                  <a:pt x="412034" y="76200"/>
                </a:lnTo>
                <a:lnTo>
                  <a:pt x="354330" y="76200"/>
                </a:lnTo>
                <a:lnTo>
                  <a:pt x="412158" y="76138"/>
                </a:lnTo>
                <a:lnTo>
                  <a:pt x="449707" y="57531"/>
                </a:lnTo>
                <a:lnTo>
                  <a:pt x="335661" y="0"/>
                </a:lnTo>
                <a:close/>
              </a:path>
              <a:path w="450214" h="114300">
                <a:moveTo>
                  <a:pt x="335491" y="38038"/>
                </a:moveTo>
                <a:lnTo>
                  <a:pt x="335322" y="76138"/>
                </a:lnTo>
                <a:lnTo>
                  <a:pt x="354330" y="76200"/>
                </a:lnTo>
                <a:lnTo>
                  <a:pt x="354584" y="38100"/>
                </a:lnTo>
                <a:lnTo>
                  <a:pt x="335491" y="38038"/>
                </a:lnTo>
                <a:close/>
              </a:path>
              <a:path w="450214" h="114300">
                <a:moveTo>
                  <a:pt x="253" y="36957"/>
                </a:moveTo>
                <a:lnTo>
                  <a:pt x="0" y="75057"/>
                </a:lnTo>
                <a:lnTo>
                  <a:pt x="335322" y="76138"/>
                </a:lnTo>
                <a:lnTo>
                  <a:pt x="335491" y="38038"/>
                </a:lnTo>
                <a:lnTo>
                  <a:pt x="253" y="36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93642" y="6307442"/>
            <a:ext cx="448309" cy="114300"/>
          </a:xfrm>
          <a:custGeom>
            <a:avLst/>
            <a:gdLst/>
            <a:ahLst/>
            <a:cxnLst/>
            <a:rect l="l" t="t" r="r" b="b"/>
            <a:pathLst>
              <a:path w="448310" h="114300">
                <a:moveTo>
                  <a:pt x="334137" y="0"/>
                </a:moveTo>
                <a:lnTo>
                  <a:pt x="333967" y="38098"/>
                </a:lnTo>
                <a:lnTo>
                  <a:pt x="353060" y="38163"/>
                </a:lnTo>
                <a:lnTo>
                  <a:pt x="352806" y="76263"/>
                </a:lnTo>
                <a:lnTo>
                  <a:pt x="333798" y="76263"/>
                </a:lnTo>
                <a:lnTo>
                  <a:pt x="333629" y="114300"/>
                </a:lnTo>
                <a:lnTo>
                  <a:pt x="410399" y="76263"/>
                </a:lnTo>
                <a:lnTo>
                  <a:pt x="352806" y="76263"/>
                </a:lnTo>
                <a:lnTo>
                  <a:pt x="410529" y="76199"/>
                </a:lnTo>
                <a:lnTo>
                  <a:pt x="448183" y="57543"/>
                </a:lnTo>
                <a:lnTo>
                  <a:pt x="334137" y="0"/>
                </a:lnTo>
                <a:close/>
              </a:path>
              <a:path w="448310" h="114300">
                <a:moveTo>
                  <a:pt x="333967" y="38098"/>
                </a:moveTo>
                <a:lnTo>
                  <a:pt x="333798" y="76199"/>
                </a:lnTo>
                <a:lnTo>
                  <a:pt x="352806" y="76263"/>
                </a:lnTo>
                <a:lnTo>
                  <a:pt x="353060" y="38163"/>
                </a:lnTo>
                <a:lnTo>
                  <a:pt x="333967" y="38098"/>
                </a:lnTo>
                <a:close/>
              </a:path>
              <a:path w="448310" h="114300">
                <a:moveTo>
                  <a:pt x="254" y="36969"/>
                </a:moveTo>
                <a:lnTo>
                  <a:pt x="0" y="75069"/>
                </a:lnTo>
                <a:lnTo>
                  <a:pt x="333798" y="76199"/>
                </a:lnTo>
                <a:lnTo>
                  <a:pt x="333967" y="38098"/>
                </a:lnTo>
                <a:lnTo>
                  <a:pt x="254" y="369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41909" y="1240536"/>
          <a:ext cx="3422650" cy="5398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545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⑴</a:t>
                      </a:r>
                      <a:r>
                        <a:rPr sz="2400" b="1" spc="-61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sz="24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read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 limit );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⑵</a:t>
                      </a:r>
                      <a:r>
                        <a:rPr sz="2400" b="1" spc="-60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i=1;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453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00"/>
                        </a:spcBef>
                        <a:tabLst>
                          <a:tab pos="811530" algn="l"/>
                          <a:tab pos="2034539" algn="l"/>
                        </a:tabLst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⑶</a:t>
                      </a:r>
                      <a:r>
                        <a:rPr sz="2400" b="1" spc="-60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if	(i&gt;limit)	goto</a:t>
                      </a:r>
                      <a:r>
                        <a:rPr sz="24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30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(11);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8491">
                <a:tc>
                  <a:txBody>
                    <a:bodyPr/>
                    <a:lstStyle/>
                    <a:p>
                      <a:pPr marL="90170">
                        <a:lnSpc>
                          <a:spcPts val="2525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⑷</a:t>
                      </a:r>
                      <a:r>
                        <a:rPr sz="2400" b="1" spc="-60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read(j)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865"/>
                        </a:spcBef>
                        <a:tabLst>
                          <a:tab pos="811530" algn="l"/>
                        </a:tabLst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⑸</a:t>
                      </a:r>
                      <a:r>
                        <a:rPr sz="2400" b="1" spc="-60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if	(i=1) goto</a:t>
                      </a:r>
                      <a:r>
                        <a:rPr sz="24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(8);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498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⑹</a:t>
                      </a:r>
                      <a:r>
                        <a:rPr sz="2400" b="1" spc="-60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sum=sum+j;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⑺</a:t>
                      </a:r>
                      <a:r>
                        <a:rPr sz="2400" b="1" spc="-61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goto </a:t>
                      </a:r>
                      <a:r>
                        <a:rPr sz="2400" b="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(9);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762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497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⑻</a:t>
                      </a:r>
                      <a:r>
                        <a:rPr sz="2400" b="1" spc="-60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sum=j;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4588">
                <a:tc>
                  <a:txBody>
                    <a:bodyPr/>
                    <a:lstStyle/>
                    <a:p>
                      <a:pPr marL="90170">
                        <a:lnSpc>
                          <a:spcPts val="2505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⑼</a:t>
                      </a:r>
                      <a:r>
                        <a:rPr sz="2400" b="1" spc="-6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 + +;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⑽</a:t>
                      </a:r>
                      <a:r>
                        <a:rPr sz="2400" b="1" spc="-61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goto </a:t>
                      </a:r>
                      <a:r>
                        <a:rPr sz="2400" b="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(3);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02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⑾</a:t>
                      </a:r>
                      <a:r>
                        <a:rPr sz="2400" b="1" spc="-60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write(sum);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3946652" y="1044651"/>
            <a:ext cx="2292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946652" y="1849221"/>
            <a:ext cx="229235" cy="129921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46652" y="2983338"/>
            <a:ext cx="2098040" cy="109537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906905">
              <a:lnSpc>
                <a:spcPct val="100000"/>
              </a:lnSpc>
              <a:spcBef>
                <a:spcPts val="665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946652" y="4387667"/>
            <a:ext cx="229235" cy="11093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946652" y="6042152"/>
            <a:ext cx="2292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705855" y="2004060"/>
            <a:ext cx="516890" cy="512445"/>
          </a:xfrm>
          <a:custGeom>
            <a:avLst/>
            <a:gdLst/>
            <a:ahLst/>
            <a:cxnLst/>
            <a:rect l="l" t="t" r="r" b="b"/>
            <a:pathLst>
              <a:path w="516889" h="512444">
                <a:moveTo>
                  <a:pt x="0" y="256031"/>
                </a:moveTo>
                <a:lnTo>
                  <a:pt x="4163" y="210023"/>
                </a:lnTo>
                <a:lnTo>
                  <a:pt x="16166" y="166714"/>
                </a:lnTo>
                <a:lnTo>
                  <a:pt x="35277" y="126830"/>
                </a:lnTo>
                <a:lnTo>
                  <a:pt x="60767" y="91095"/>
                </a:lnTo>
                <a:lnTo>
                  <a:pt x="91905" y="60232"/>
                </a:lnTo>
                <a:lnTo>
                  <a:pt x="127959" y="34967"/>
                </a:lnTo>
                <a:lnTo>
                  <a:pt x="168200" y="16023"/>
                </a:lnTo>
                <a:lnTo>
                  <a:pt x="211896" y="4126"/>
                </a:lnTo>
                <a:lnTo>
                  <a:pt x="258318" y="0"/>
                </a:lnTo>
                <a:lnTo>
                  <a:pt x="304739" y="4126"/>
                </a:lnTo>
                <a:lnTo>
                  <a:pt x="348435" y="16023"/>
                </a:lnTo>
                <a:lnTo>
                  <a:pt x="388676" y="34967"/>
                </a:lnTo>
                <a:lnTo>
                  <a:pt x="424730" y="60232"/>
                </a:lnTo>
                <a:lnTo>
                  <a:pt x="455868" y="91095"/>
                </a:lnTo>
                <a:lnTo>
                  <a:pt x="481358" y="126830"/>
                </a:lnTo>
                <a:lnTo>
                  <a:pt x="500469" y="166714"/>
                </a:lnTo>
                <a:lnTo>
                  <a:pt x="512472" y="210023"/>
                </a:lnTo>
                <a:lnTo>
                  <a:pt x="516636" y="256031"/>
                </a:lnTo>
                <a:lnTo>
                  <a:pt x="512472" y="302040"/>
                </a:lnTo>
                <a:lnTo>
                  <a:pt x="500469" y="345349"/>
                </a:lnTo>
                <a:lnTo>
                  <a:pt x="481358" y="385233"/>
                </a:lnTo>
                <a:lnTo>
                  <a:pt x="455868" y="420968"/>
                </a:lnTo>
                <a:lnTo>
                  <a:pt x="424730" y="451831"/>
                </a:lnTo>
                <a:lnTo>
                  <a:pt x="388676" y="477096"/>
                </a:lnTo>
                <a:lnTo>
                  <a:pt x="348435" y="496040"/>
                </a:lnTo>
                <a:lnTo>
                  <a:pt x="304739" y="507937"/>
                </a:lnTo>
                <a:lnTo>
                  <a:pt x="258318" y="512063"/>
                </a:lnTo>
                <a:lnTo>
                  <a:pt x="211896" y="507937"/>
                </a:lnTo>
                <a:lnTo>
                  <a:pt x="168200" y="496040"/>
                </a:lnTo>
                <a:lnTo>
                  <a:pt x="127959" y="477096"/>
                </a:lnTo>
                <a:lnTo>
                  <a:pt x="91905" y="451831"/>
                </a:lnTo>
                <a:lnTo>
                  <a:pt x="60767" y="420968"/>
                </a:lnTo>
                <a:lnTo>
                  <a:pt x="35277" y="385233"/>
                </a:lnTo>
                <a:lnTo>
                  <a:pt x="16166" y="345349"/>
                </a:lnTo>
                <a:lnTo>
                  <a:pt x="4163" y="302040"/>
                </a:lnTo>
                <a:lnTo>
                  <a:pt x="0" y="256031"/>
                </a:lnTo>
                <a:close/>
              </a:path>
            </a:pathLst>
          </a:custGeom>
          <a:ln w="7620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31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1174" y="1448561"/>
            <a:ext cx="2632075" cy="84455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035">
              <a:lnSpc>
                <a:spcPts val="2620"/>
              </a:lnSpc>
              <a:tabLst>
                <a:tab pos="1275080" algn="l"/>
              </a:tabLst>
            </a:pPr>
            <a:r>
              <a:rPr sz="2400" b="1" spc="-10" dirty="0">
                <a:solidFill>
                  <a:srgbClr val="FFFFFF"/>
                </a:solidFill>
                <a:latin typeface="方正舒体"/>
                <a:cs typeface="方正舒体"/>
              </a:rPr>
              <a:t>①</a:t>
            </a:r>
            <a:r>
              <a:rPr sz="2400" b="1" spc="5" dirty="0">
                <a:solidFill>
                  <a:srgbClr val="FFFFFF"/>
                </a:solidFill>
                <a:latin typeface="方正舒体"/>
                <a:cs typeface="方正舒体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read	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  <a:p>
            <a:pPr marL="153035">
              <a:lnSpc>
                <a:spcPct val="100000"/>
              </a:lnSpc>
              <a:spcBef>
                <a:spcPts val="1010"/>
              </a:spcBef>
              <a:tabLst>
                <a:tab pos="1275080" algn="l"/>
              </a:tabLst>
            </a:pPr>
            <a:r>
              <a:rPr sz="2400" b="1" spc="-10" dirty="0">
                <a:solidFill>
                  <a:srgbClr val="FFFFFF"/>
                </a:solidFill>
                <a:latin typeface="方正舒体"/>
                <a:cs typeface="方正舒体"/>
              </a:rPr>
              <a:t>②</a:t>
            </a:r>
            <a:r>
              <a:rPr sz="2400" b="1" spc="5" dirty="0">
                <a:solidFill>
                  <a:srgbClr val="FFFFFF"/>
                </a:solidFill>
                <a:latin typeface="方正舒体"/>
                <a:cs typeface="方正舒体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read	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6602" y="2394966"/>
            <a:ext cx="2636520" cy="85979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65"/>
              </a:spcBef>
            </a:pPr>
            <a:r>
              <a:rPr sz="2400" b="1" spc="-10" dirty="0">
                <a:solidFill>
                  <a:srgbClr val="FFFFFF"/>
                </a:solidFill>
                <a:latin typeface="方正舒体"/>
                <a:cs typeface="方正舒体"/>
              </a:rPr>
              <a:t>③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R=x /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  <a:p>
            <a:pPr marL="157480">
              <a:lnSpc>
                <a:spcPts val="2810"/>
              </a:lnSpc>
              <a:spcBef>
                <a:spcPts val="1010"/>
              </a:spcBef>
              <a:tabLst>
                <a:tab pos="616585" algn="l"/>
                <a:tab pos="1576705" algn="l"/>
                <a:tab pos="2288540" algn="l"/>
              </a:tabLst>
            </a:pPr>
            <a:r>
              <a:rPr sz="2400" b="1" spc="-10" dirty="0">
                <a:solidFill>
                  <a:srgbClr val="FFFFFF"/>
                </a:solidFill>
                <a:latin typeface="方正舒体"/>
                <a:cs typeface="方正舒体"/>
              </a:rPr>
              <a:t>④	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R=0	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goto	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5077" y="3403853"/>
            <a:ext cx="2638425" cy="13868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9385">
              <a:lnSpc>
                <a:spcPts val="2785"/>
              </a:lnSpc>
              <a:tabLst>
                <a:tab pos="618490" algn="l"/>
              </a:tabLst>
            </a:pPr>
            <a:r>
              <a:rPr sz="2400" b="1" spc="-10" dirty="0">
                <a:solidFill>
                  <a:srgbClr val="FFFFFF"/>
                </a:solidFill>
                <a:latin typeface="方正舒体"/>
                <a:cs typeface="方正舒体"/>
              </a:rPr>
              <a:t>⑤	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x =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  <a:p>
            <a:pPr marL="159385">
              <a:lnSpc>
                <a:spcPct val="100000"/>
              </a:lnSpc>
              <a:spcBef>
                <a:spcPts val="1005"/>
              </a:spcBef>
            </a:pP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⑥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y =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  <a:p>
            <a:pPr marL="159385">
              <a:lnSpc>
                <a:spcPct val="100000"/>
              </a:lnSpc>
              <a:spcBef>
                <a:spcPts val="1010"/>
              </a:spcBef>
            </a:pP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⑦</a:t>
            </a:r>
            <a:r>
              <a:rPr sz="2400" b="1" spc="-2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stop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1940" y="4860417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方正舒体"/>
                <a:cs typeface="方正舒体"/>
              </a:rPr>
              <a:t>⑧</a:t>
            </a:r>
            <a:endParaRPr sz="2400">
              <a:latin typeface="方正舒体"/>
              <a:cs typeface="方正舒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23694" y="4906305"/>
            <a:ext cx="78803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goto</a:t>
            </a:r>
            <a:r>
              <a:rPr sz="2400" b="1" spc="-10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458" y="5385053"/>
            <a:ext cx="2646045" cy="845819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005">
              <a:lnSpc>
                <a:spcPts val="2735"/>
              </a:lnSpc>
            </a:pPr>
            <a:r>
              <a:rPr sz="2400" b="1" spc="-10" dirty="0">
                <a:solidFill>
                  <a:srgbClr val="FFFFFF"/>
                </a:solidFill>
                <a:latin typeface="方正舒体"/>
                <a:cs typeface="方正舒体"/>
              </a:rPr>
              <a:t>⑨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write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 y</a:t>
            </a:r>
            <a:endParaRPr sz="2400">
              <a:latin typeface="Times New Roman"/>
              <a:cs typeface="Times New Roman"/>
            </a:endParaRPr>
          </a:p>
          <a:p>
            <a:pPr marL="167005">
              <a:lnSpc>
                <a:spcPct val="100000"/>
              </a:lnSpc>
              <a:spcBef>
                <a:spcPts val="1005"/>
              </a:spcBef>
            </a:pP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⑩</a:t>
            </a:r>
            <a:r>
              <a:rPr sz="2400" b="1" spc="-60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halt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93414" y="1479677"/>
            <a:ext cx="1007744" cy="114300"/>
          </a:xfrm>
          <a:custGeom>
            <a:avLst/>
            <a:gdLst/>
            <a:ahLst/>
            <a:cxnLst/>
            <a:rect l="l" t="t" r="r" b="b"/>
            <a:pathLst>
              <a:path w="1007745" h="114300">
                <a:moveTo>
                  <a:pt x="893190" y="0"/>
                </a:moveTo>
                <a:lnTo>
                  <a:pt x="918493" y="38080"/>
                </a:lnTo>
                <a:lnTo>
                  <a:pt x="931163" y="38100"/>
                </a:lnTo>
                <a:lnTo>
                  <a:pt x="931163" y="76200"/>
                </a:lnTo>
                <a:lnTo>
                  <a:pt x="918421" y="76200"/>
                </a:lnTo>
                <a:lnTo>
                  <a:pt x="892937" y="114300"/>
                </a:lnTo>
                <a:lnTo>
                  <a:pt x="969391" y="76200"/>
                </a:lnTo>
                <a:lnTo>
                  <a:pt x="931163" y="76200"/>
                </a:lnTo>
                <a:lnTo>
                  <a:pt x="969429" y="76180"/>
                </a:lnTo>
                <a:lnTo>
                  <a:pt x="1007363" y="57276"/>
                </a:lnTo>
                <a:lnTo>
                  <a:pt x="893190" y="0"/>
                </a:lnTo>
                <a:close/>
              </a:path>
              <a:path w="1007745" h="114300">
                <a:moveTo>
                  <a:pt x="931163" y="57150"/>
                </a:moveTo>
                <a:lnTo>
                  <a:pt x="918434" y="76180"/>
                </a:lnTo>
                <a:lnTo>
                  <a:pt x="931163" y="76200"/>
                </a:lnTo>
                <a:lnTo>
                  <a:pt x="931163" y="57150"/>
                </a:lnTo>
                <a:close/>
              </a:path>
              <a:path w="1007745" h="114300">
                <a:moveTo>
                  <a:pt x="0" y="36702"/>
                </a:moveTo>
                <a:lnTo>
                  <a:pt x="0" y="74802"/>
                </a:lnTo>
                <a:lnTo>
                  <a:pt x="918434" y="76180"/>
                </a:lnTo>
                <a:lnTo>
                  <a:pt x="931163" y="57150"/>
                </a:lnTo>
                <a:lnTo>
                  <a:pt x="918493" y="38080"/>
                </a:lnTo>
                <a:lnTo>
                  <a:pt x="0" y="36702"/>
                </a:lnTo>
                <a:close/>
              </a:path>
              <a:path w="1007745" h="114300">
                <a:moveTo>
                  <a:pt x="918493" y="38080"/>
                </a:moveTo>
                <a:lnTo>
                  <a:pt x="931163" y="57150"/>
                </a:lnTo>
                <a:lnTo>
                  <a:pt x="931163" y="38100"/>
                </a:lnTo>
                <a:lnTo>
                  <a:pt x="918493" y="3808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43121" y="2451989"/>
            <a:ext cx="1007744" cy="114300"/>
          </a:xfrm>
          <a:custGeom>
            <a:avLst/>
            <a:gdLst/>
            <a:ahLst/>
            <a:cxnLst/>
            <a:rect l="l" t="t" r="r" b="b"/>
            <a:pathLst>
              <a:path w="1007745" h="114300">
                <a:moveTo>
                  <a:pt x="893190" y="0"/>
                </a:moveTo>
                <a:lnTo>
                  <a:pt x="918493" y="38080"/>
                </a:lnTo>
                <a:lnTo>
                  <a:pt x="931163" y="38100"/>
                </a:lnTo>
                <a:lnTo>
                  <a:pt x="931163" y="76200"/>
                </a:lnTo>
                <a:lnTo>
                  <a:pt x="918421" y="76200"/>
                </a:lnTo>
                <a:lnTo>
                  <a:pt x="892937" y="114300"/>
                </a:lnTo>
                <a:lnTo>
                  <a:pt x="969391" y="76200"/>
                </a:lnTo>
                <a:lnTo>
                  <a:pt x="931163" y="76200"/>
                </a:lnTo>
                <a:lnTo>
                  <a:pt x="969429" y="76180"/>
                </a:lnTo>
                <a:lnTo>
                  <a:pt x="1007363" y="57276"/>
                </a:lnTo>
                <a:lnTo>
                  <a:pt x="893190" y="0"/>
                </a:lnTo>
                <a:close/>
              </a:path>
              <a:path w="1007745" h="114300">
                <a:moveTo>
                  <a:pt x="931163" y="57150"/>
                </a:moveTo>
                <a:lnTo>
                  <a:pt x="918434" y="76180"/>
                </a:lnTo>
                <a:lnTo>
                  <a:pt x="931163" y="76200"/>
                </a:lnTo>
                <a:lnTo>
                  <a:pt x="931163" y="57150"/>
                </a:lnTo>
                <a:close/>
              </a:path>
              <a:path w="1007745" h="114300">
                <a:moveTo>
                  <a:pt x="0" y="36702"/>
                </a:moveTo>
                <a:lnTo>
                  <a:pt x="0" y="74802"/>
                </a:lnTo>
                <a:lnTo>
                  <a:pt x="918434" y="76180"/>
                </a:lnTo>
                <a:lnTo>
                  <a:pt x="931163" y="57150"/>
                </a:lnTo>
                <a:lnTo>
                  <a:pt x="918493" y="38080"/>
                </a:lnTo>
                <a:lnTo>
                  <a:pt x="0" y="36702"/>
                </a:lnTo>
                <a:close/>
              </a:path>
              <a:path w="1007745" h="114300">
                <a:moveTo>
                  <a:pt x="918493" y="38080"/>
                </a:moveTo>
                <a:lnTo>
                  <a:pt x="931163" y="57150"/>
                </a:lnTo>
                <a:lnTo>
                  <a:pt x="931163" y="38100"/>
                </a:lnTo>
                <a:lnTo>
                  <a:pt x="918493" y="3808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55314" y="3460877"/>
            <a:ext cx="1007744" cy="114300"/>
          </a:xfrm>
          <a:custGeom>
            <a:avLst/>
            <a:gdLst/>
            <a:ahLst/>
            <a:cxnLst/>
            <a:rect l="l" t="t" r="r" b="b"/>
            <a:pathLst>
              <a:path w="1007745" h="114300">
                <a:moveTo>
                  <a:pt x="893190" y="0"/>
                </a:moveTo>
                <a:lnTo>
                  <a:pt x="918493" y="38080"/>
                </a:lnTo>
                <a:lnTo>
                  <a:pt x="931163" y="38100"/>
                </a:lnTo>
                <a:lnTo>
                  <a:pt x="931163" y="76200"/>
                </a:lnTo>
                <a:lnTo>
                  <a:pt x="918421" y="76200"/>
                </a:lnTo>
                <a:lnTo>
                  <a:pt x="892937" y="114300"/>
                </a:lnTo>
                <a:lnTo>
                  <a:pt x="969391" y="76200"/>
                </a:lnTo>
                <a:lnTo>
                  <a:pt x="931163" y="76200"/>
                </a:lnTo>
                <a:lnTo>
                  <a:pt x="969429" y="76180"/>
                </a:lnTo>
                <a:lnTo>
                  <a:pt x="1007363" y="57276"/>
                </a:lnTo>
                <a:lnTo>
                  <a:pt x="893190" y="0"/>
                </a:lnTo>
                <a:close/>
              </a:path>
              <a:path w="1007745" h="114300">
                <a:moveTo>
                  <a:pt x="931163" y="57150"/>
                </a:moveTo>
                <a:lnTo>
                  <a:pt x="918434" y="76180"/>
                </a:lnTo>
                <a:lnTo>
                  <a:pt x="931163" y="76200"/>
                </a:lnTo>
                <a:lnTo>
                  <a:pt x="931163" y="57150"/>
                </a:lnTo>
                <a:close/>
              </a:path>
              <a:path w="1007745" h="114300">
                <a:moveTo>
                  <a:pt x="0" y="36702"/>
                </a:moveTo>
                <a:lnTo>
                  <a:pt x="0" y="74802"/>
                </a:lnTo>
                <a:lnTo>
                  <a:pt x="918434" y="76180"/>
                </a:lnTo>
                <a:lnTo>
                  <a:pt x="931163" y="57150"/>
                </a:lnTo>
                <a:lnTo>
                  <a:pt x="918493" y="38080"/>
                </a:lnTo>
                <a:lnTo>
                  <a:pt x="0" y="36702"/>
                </a:lnTo>
                <a:close/>
              </a:path>
              <a:path w="1007745" h="114300">
                <a:moveTo>
                  <a:pt x="918493" y="38080"/>
                </a:moveTo>
                <a:lnTo>
                  <a:pt x="931163" y="57150"/>
                </a:lnTo>
                <a:lnTo>
                  <a:pt x="931163" y="38100"/>
                </a:lnTo>
                <a:lnTo>
                  <a:pt x="918493" y="3808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67505" y="5443601"/>
            <a:ext cx="1009015" cy="114300"/>
          </a:xfrm>
          <a:custGeom>
            <a:avLst/>
            <a:gdLst/>
            <a:ahLst/>
            <a:cxnLst/>
            <a:rect l="l" t="t" r="r" b="b"/>
            <a:pathLst>
              <a:path w="1009014" h="114300">
                <a:moveTo>
                  <a:pt x="894715" y="0"/>
                </a:moveTo>
                <a:lnTo>
                  <a:pt x="920017" y="38081"/>
                </a:lnTo>
                <a:lnTo>
                  <a:pt x="932688" y="38100"/>
                </a:lnTo>
                <a:lnTo>
                  <a:pt x="932688" y="76200"/>
                </a:lnTo>
                <a:lnTo>
                  <a:pt x="919945" y="76200"/>
                </a:lnTo>
                <a:lnTo>
                  <a:pt x="894461" y="114300"/>
                </a:lnTo>
                <a:lnTo>
                  <a:pt x="970915" y="76200"/>
                </a:lnTo>
                <a:lnTo>
                  <a:pt x="932688" y="76200"/>
                </a:lnTo>
                <a:lnTo>
                  <a:pt x="970953" y="76180"/>
                </a:lnTo>
                <a:lnTo>
                  <a:pt x="1008888" y="57277"/>
                </a:lnTo>
                <a:lnTo>
                  <a:pt x="894715" y="0"/>
                </a:lnTo>
                <a:close/>
              </a:path>
              <a:path w="1009014" h="114300">
                <a:moveTo>
                  <a:pt x="932688" y="57150"/>
                </a:moveTo>
                <a:lnTo>
                  <a:pt x="919958" y="76180"/>
                </a:lnTo>
                <a:lnTo>
                  <a:pt x="932688" y="76200"/>
                </a:lnTo>
                <a:lnTo>
                  <a:pt x="932688" y="57150"/>
                </a:lnTo>
                <a:close/>
              </a:path>
              <a:path w="1009014" h="114300">
                <a:moveTo>
                  <a:pt x="0" y="36703"/>
                </a:moveTo>
                <a:lnTo>
                  <a:pt x="0" y="74803"/>
                </a:lnTo>
                <a:lnTo>
                  <a:pt x="919958" y="76180"/>
                </a:lnTo>
                <a:lnTo>
                  <a:pt x="932688" y="57150"/>
                </a:lnTo>
                <a:lnTo>
                  <a:pt x="920017" y="38081"/>
                </a:lnTo>
                <a:lnTo>
                  <a:pt x="0" y="36703"/>
                </a:lnTo>
                <a:close/>
              </a:path>
              <a:path w="1009014" h="114300">
                <a:moveTo>
                  <a:pt x="920017" y="38081"/>
                </a:moveTo>
                <a:lnTo>
                  <a:pt x="932688" y="57150"/>
                </a:lnTo>
                <a:lnTo>
                  <a:pt x="932688" y="38100"/>
                </a:lnTo>
                <a:lnTo>
                  <a:pt x="920017" y="3808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30517" y="1945385"/>
            <a:ext cx="548640" cy="562610"/>
          </a:xfrm>
          <a:custGeom>
            <a:avLst/>
            <a:gdLst/>
            <a:ahLst/>
            <a:cxnLst/>
            <a:rect l="l" t="t" r="r" b="b"/>
            <a:pathLst>
              <a:path w="548640" h="562610">
                <a:moveTo>
                  <a:pt x="0" y="281177"/>
                </a:moveTo>
                <a:lnTo>
                  <a:pt x="3590" y="235562"/>
                </a:lnTo>
                <a:lnTo>
                  <a:pt x="13984" y="192292"/>
                </a:lnTo>
                <a:lnTo>
                  <a:pt x="30617" y="151946"/>
                </a:lnTo>
                <a:lnTo>
                  <a:pt x="52925" y="115104"/>
                </a:lnTo>
                <a:lnTo>
                  <a:pt x="80343" y="82343"/>
                </a:lnTo>
                <a:lnTo>
                  <a:pt x="112306" y="54242"/>
                </a:lnTo>
                <a:lnTo>
                  <a:pt x="148250" y="31378"/>
                </a:lnTo>
                <a:lnTo>
                  <a:pt x="187610" y="14331"/>
                </a:lnTo>
                <a:lnTo>
                  <a:pt x="229821" y="3679"/>
                </a:lnTo>
                <a:lnTo>
                  <a:pt x="274320" y="0"/>
                </a:lnTo>
                <a:lnTo>
                  <a:pt x="318818" y="3679"/>
                </a:lnTo>
                <a:lnTo>
                  <a:pt x="361029" y="14331"/>
                </a:lnTo>
                <a:lnTo>
                  <a:pt x="400389" y="31378"/>
                </a:lnTo>
                <a:lnTo>
                  <a:pt x="436333" y="54242"/>
                </a:lnTo>
                <a:lnTo>
                  <a:pt x="468296" y="82343"/>
                </a:lnTo>
                <a:lnTo>
                  <a:pt x="495714" y="115104"/>
                </a:lnTo>
                <a:lnTo>
                  <a:pt x="518022" y="151946"/>
                </a:lnTo>
                <a:lnTo>
                  <a:pt x="534655" y="192292"/>
                </a:lnTo>
                <a:lnTo>
                  <a:pt x="545049" y="235562"/>
                </a:lnTo>
                <a:lnTo>
                  <a:pt x="548639" y="281177"/>
                </a:lnTo>
                <a:lnTo>
                  <a:pt x="545049" y="326793"/>
                </a:lnTo>
                <a:lnTo>
                  <a:pt x="534655" y="370063"/>
                </a:lnTo>
                <a:lnTo>
                  <a:pt x="518022" y="410409"/>
                </a:lnTo>
                <a:lnTo>
                  <a:pt x="495714" y="447251"/>
                </a:lnTo>
                <a:lnTo>
                  <a:pt x="468296" y="480012"/>
                </a:lnTo>
                <a:lnTo>
                  <a:pt x="436333" y="508113"/>
                </a:lnTo>
                <a:lnTo>
                  <a:pt x="400389" y="530977"/>
                </a:lnTo>
                <a:lnTo>
                  <a:pt x="361029" y="548024"/>
                </a:lnTo>
                <a:lnTo>
                  <a:pt x="318818" y="558676"/>
                </a:lnTo>
                <a:lnTo>
                  <a:pt x="274320" y="562355"/>
                </a:lnTo>
                <a:lnTo>
                  <a:pt x="229821" y="558676"/>
                </a:lnTo>
                <a:lnTo>
                  <a:pt x="187610" y="548024"/>
                </a:lnTo>
                <a:lnTo>
                  <a:pt x="148250" y="530977"/>
                </a:lnTo>
                <a:lnTo>
                  <a:pt x="112306" y="508113"/>
                </a:lnTo>
                <a:lnTo>
                  <a:pt x="80343" y="480012"/>
                </a:lnTo>
                <a:lnTo>
                  <a:pt x="52925" y="447251"/>
                </a:lnTo>
                <a:lnTo>
                  <a:pt x="30617" y="410409"/>
                </a:lnTo>
                <a:lnTo>
                  <a:pt x="13984" y="370063"/>
                </a:lnTo>
                <a:lnTo>
                  <a:pt x="3590" y="326793"/>
                </a:lnTo>
                <a:lnTo>
                  <a:pt x="0" y="28117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16065" y="202006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30517" y="2974085"/>
            <a:ext cx="548640" cy="562610"/>
          </a:xfrm>
          <a:custGeom>
            <a:avLst/>
            <a:gdLst/>
            <a:ahLst/>
            <a:cxnLst/>
            <a:rect l="l" t="t" r="r" b="b"/>
            <a:pathLst>
              <a:path w="548640" h="562610">
                <a:moveTo>
                  <a:pt x="0" y="281177"/>
                </a:moveTo>
                <a:lnTo>
                  <a:pt x="3590" y="235562"/>
                </a:lnTo>
                <a:lnTo>
                  <a:pt x="13984" y="192292"/>
                </a:lnTo>
                <a:lnTo>
                  <a:pt x="30617" y="151946"/>
                </a:lnTo>
                <a:lnTo>
                  <a:pt x="52925" y="115104"/>
                </a:lnTo>
                <a:lnTo>
                  <a:pt x="80343" y="82343"/>
                </a:lnTo>
                <a:lnTo>
                  <a:pt x="112306" y="54242"/>
                </a:lnTo>
                <a:lnTo>
                  <a:pt x="148250" y="31378"/>
                </a:lnTo>
                <a:lnTo>
                  <a:pt x="187610" y="14331"/>
                </a:lnTo>
                <a:lnTo>
                  <a:pt x="229821" y="3679"/>
                </a:lnTo>
                <a:lnTo>
                  <a:pt x="274320" y="0"/>
                </a:lnTo>
                <a:lnTo>
                  <a:pt x="318818" y="3679"/>
                </a:lnTo>
                <a:lnTo>
                  <a:pt x="361029" y="14331"/>
                </a:lnTo>
                <a:lnTo>
                  <a:pt x="400389" y="31378"/>
                </a:lnTo>
                <a:lnTo>
                  <a:pt x="436333" y="54242"/>
                </a:lnTo>
                <a:lnTo>
                  <a:pt x="468296" y="82343"/>
                </a:lnTo>
                <a:lnTo>
                  <a:pt x="495714" y="115104"/>
                </a:lnTo>
                <a:lnTo>
                  <a:pt x="518022" y="151946"/>
                </a:lnTo>
                <a:lnTo>
                  <a:pt x="534655" y="192292"/>
                </a:lnTo>
                <a:lnTo>
                  <a:pt x="545049" y="235562"/>
                </a:lnTo>
                <a:lnTo>
                  <a:pt x="548639" y="281177"/>
                </a:lnTo>
                <a:lnTo>
                  <a:pt x="545049" y="326793"/>
                </a:lnTo>
                <a:lnTo>
                  <a:pt x="534655" y="370063"/>
                </a:lnTo>
                <a:lnTo>
                  <a:pt x="518022" y="410409"/>
                </a:lnTo>
                <a:lnTo>
                  <a:pt x="495714" y="447251"/>
                </a:lnTo>
                <a:lnTo>
                  <a:pt x="468296" y="480012"/>
                </a:lnTo>
                <a:lnTo>
                  <a:pt x="436333" y="508113"/>
                </a:lnTo>
                <a:lnTo>
                  <a:pt x="400389" y="530977"/>
                </a:lnTo>
                <a:lnTo>
                  <a:pt x="361029" y="548024"/>
                </a:lnTo>
                <a:lnTo>
                  <a:pt x="318818" y="558676"/>
                </a:lnTo>
                <a:lnTo>
                  <a:pt x="274320" y="562355"/>
                </a:lnTo>
                <a:lnTo>
                  <a:pt x="229821" y="558676"/>
                </a:lnTo>
                <a:lnTo>
                  <a:pt x="187610" y="548024"/>
                </a:lnTo>
                <a:lnTo>
                  <a:pt x="148250" y="530977"/>
                </a:lnTo>
                <a:lnTo>
                  <a:pt x="112306" y="508113"/>
                </a:lnTo>
                <a:lnTo>
                  <a:pt x="80343" y="480012"/>
                </a:lnTo>
                <a:lnTo>
                  <a:pt x="52925" y="447251"/>
                </a:lnTo>
                <a:lnTo>
                  <a:pt x="30617" y="410409"/>
                </a:lnTo>
                <a:lnTo>
                  <a:pt x="13984" y="370063"/>
                </a:lnTo>
                <a:lnTo>
                  <a:pt x="3590" y="326793"/>
                </a:lnTo>
                <a:lnTo>
                  <a:pt x="0" y="28117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616065" y="304901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30517" y="4002785"/>
            <a:ext cx="548640" cy="562610"/>
          </a:xfrm>
          <a:custGeom>
            <a:avLst/>
            <a:gdLst/>
            <a:ahLst/>
            <a:cxnLst/>
            <a:rect l="l" t="t" r="r" b="b"/>
            <a:pathLst>
              <a:path w="548640" h="562610">
                <a:moveTo>
                  <a:pt x="0" y="281177"/>
                </a:moveTo>
                <a:lnTo>
                  <a:pt x="3590" y="235562"/>
                </a:lnTo>
                <a:lnTo>
                  <a:pt x="13984" y="192292"/>
                </a:lnTo>
                <a:lnTo>
                  <a:pt x="30617" y="151946"/>
                </a:lnTo>
                <a:lnTo>
                  <a:pt x="52925" y="115104"/>
                </a:lnTo>
                <a:lnTo>
                  <a:pt x="80343" y="82343"/>
                </a:lnTo>
                <a:lnTo>
                  <a:pt x="112306" y="54242"/>
                </a:lnTo>
                <a:lnTo>
                  <a:pt x="148250" y="31378"/>
                </a:lnTo>
                <a:lnTo>
                  <a:pt x="187610" y="14331"/>
                </a:lnTo>
                <a:lnTo>
                  <a:pt x="229821" y="3679"/>
                </a:lnTo>
                <a:lnTo>
                  <a:pt x="274320" y="0"/>
                </a:lnTo>
                <a:lnTo>
                  <a:pt x="318818" y="3679"/>
                </a:lnTo>
                <a:lnTo>
                  <a:pt x="361029" y="14331"/>
                </a:lnTo>
                <a:lnTo>
                  <a:pt x="400389" y="31378"/>
                </a:lnTo>
                <a:lnTo>
                  <a:pt x="436333" y="54242"/>
                </a:lnTo>
                <a:lnTo>
                  <a:pt x="468296" y="82343"/>
                </a:lnTo>
                <a:lnTo>
                  <a:pt x="495714" y="115104"/>
                </a:lnTo>
                <a:lnTo>
                  <a:pt x="518022" y="151946"/>
                </a:lnTo>
                <a:lnTo>
                  <a:pt x="534655" y="192292"/>
                </a:lnTo>
                <a:lnTo>
                  <a:pt x="545049" y="235562"/>
                </a:lnTo>
                <a:lnTo>
                  <a:pt x="548639" y="281177"/>
                </a:lnTo>
                <a:lnTo>
                  <a:pt x="545049" y="326793"/>
                </a:lnTo>
                <a:lnTo>
                  <a:pt x="534655" y="370063"/>
                </a:lnTo>
                <a:lnTo>
                  <a:pt x="518022" y="410409"/>
                </a:lnTo>
                <a:lnTo>
                  <a:pt x="495714" y="447251"/>
                </a:lnTo>
                <a:lnTo>
                  <a:pt x="468296" y="480012"/>
                </a:lnTo>
                <a:lnTo>
                  <a:pt x="436333" y="508113"/>
                </a:lnTo>
                <a:lnTo>
                  <a:pt x="400389" y="530977"/>
                </a:lnTo>
                <a:lnTo>
                  <a:pt x="361029" y="548024"/>
                </a:lnTo>
                <a:lnTo>
                  <a:pt x="318818" y="558676"/>
                </a:lnTo>
                <a:lnTo>
                  <a:pt x="274320" y="562356"/>
                </a:lnTo>
                <a:lnTo>
                  <a:pt x="229821" y="558676"/>
                </a:lnTo>
                <a:lnTo>
                  <a:pt x="187610" y="548024"/>
                </a:lnTo>
                <a:lnTo>
                  <a:pt x="148250" y="530977"/>
                </a:lnTo>
                <a:lnTo>
                  <a:pt x="112306" y="508113"/>
                </a:lnTo>
                <a:lnTo>
                  <a:pt x="80343" y="480012"/>
                </a:lnTo>
                <a:lnTo>
                  <a:pt x="52925" y="447251"/>
                </a:lnTo>
                <a:lnTo>
                  <a:pt x="30617" y="410409"/>
                </a:lnTo>
                <a:lnTo>
                  <a:pt x="13984" y="370063"/>
                </a:lnTo>
                <a:lnTo>
                  <a:pt x="3590" y="326793"/>
                </a:lnTo>
                <a:lnTo>
                  <a:pt x="0" y="28117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16065" y="4077411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30517" y="4879085"/>
            <a:ext cx="548640" cy="562610"/>
          </a:xfrm>
          <a:custGeom>
            <a:avLst/>
            <a:gdLst/>
            <a:ahLst/>
            <a:cxnLst/>
            <a:rect l="l" t="t" r="r" b="b"/>
            <a:pathLst>
              <a:path w="548640" h="562610">
                <a:moveTo>
                  <a:pt x="0" y="281177"/>
                </a:moveTo>
                <a:lnTo>
                  <a:pt x="3590" y="235562"/>
                </a:lnTo>
                <a:lnTo>
                  <a:pt x="13984" y="192292"/>
                </a:lnTo>
                <a:lnTo>
                  <a:pt x="30617" y="151946"/>
                </a:lnTo>
                <a:lnTo>
                  <a:pt x="52925" y="115104"/>
                </a:lnTo>
                <a:lnTo>
                  <a:pt x="80343" y="82343"/>
                </a:lnTo>
                <a:lnTo>
                  <a:pt x="112306" y="54242"/>
                </a:lnTo>
                <a:lnTo>
                  <a:pt x="148250" y="31378"/>
                </a:lnTo>
                <a:lnTo>
                  <a:pt x="187610" y="14331"/>
                </a:lnTo>
                <a:lnTo>
                  <a:pt x="229821" y="3679"/>
                </a:lnTo>
                <a:lnTo>
                  <a:pt x="274320" y="0"/>
                </a:lnTo>
                <a:lnTo>
                  <a:pt x="318818" y="3679"/>
                </a:lnTo>
                <a:lnTo>
                  <a:pt x="361029" y="14331"/>
                </a:lnTo>
                <a:lnTo>
                  <a:pt x="400389" y="31378"/>
                </a:lnTo>
                <a:lnTo>
                  <a:pt x="436333" y="54242"/>
                </a:lnTo>
                <a:lnTo>
                  <a:pt x="468296" y="82343"/>
                </a:lnTo>
                <a:lnTo>
                  <a:pt x="495714" y="115104"/>
                </a:lnTo>
                <a:lnTo>
                  <a:pt x="518022" y="151946"/>
                </a:lnTo>
                <a:lnTo>
                  <a:pt x="534655" y="192292"/>
                </a:lnTo>
                <a:lnTo>
                  <a:pt x="545049" y="235562"/>
                </a:lnTo>
                <a:lnTo>
                  <a:pt x="548639" y="281177"/>
                </a:lnTo>
                <a:lnTo>
                  <a:pt x="545049" y="326793"/>
                </a:lnTo>
                <a:lnTo>
                  <a:pt x="534655" y="370063"/>
                </a:lnTo>
                <a:lnTo>
                  <a:pt x="518022" y="410409"/>
                </a:lnTo>
                <a:lnTo>
                  <a:pt x="495714" y="447251"/>
                </a:lnTo>
                <a:lnTo>
                  <a:pt x="468296" y="480012"/>
                </a:lnTo>
                <a:lnTo>
                  <a:pt x="436333" y="508113"/>
                </a:lnTo>
                <a:lnTo>
                  <a:pt x="400389" y="530977"/>
                </a:lnTo>
                <a:lnTo>
                  <a:pt x="361029" y="548024"/>
                </a:lnTo>
                <a:lnTo>
                  <a:pt x="318818" y="558676"/>
                </a:lnTo>
                <a:lnTo>
                  <a:pt x="274320" y="562355"/>
                </a:lnTo>
                <a:lnTo>
                  <a:pt x="229821" y="558676"/>
                </a:lnTo>
                <a:lnTo>
                  <a:pt x="187610" y="548024"/>
                </a:lnTo>
                <a:lnTo>
                  <a:pt x="148250" y="530977"/>
                </a:lnTo>
                <a:lnTo>
                  <a:pt x="112306" y="508113"/>
                </a:lnTo>
                <a:lnTo>
                  <a:pt x="80343" y="480012"/>
                </a:lnTo>
                <a:lnTo>
                  <a:pt x="52925" y="447251"/>
                </a:lnTo>
                <a:lnTo>
                  <a:pt x="30617" y="410409"/>
                </a:lnTo>
                <a:lnTo>
                  <a:pt x="13984" y="370063"/>
                </a:lnTo>
                <a:lnTo>
                  <a:pt x="3590" y="326793"/>
                </a:lnTo>
                <a:lnTo>
                  <a:pt x="0" y="28117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16065" y="495427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656196" y="2498470"/>
            <a:ext cx="114300" cy="452755"/>
          </a:xfrm>
          <a:custGeom>
            <a:avLst/>
            <a:gdLst/>
            <a:ahLst/>
            <a:cxnLst/>
            <a:rect l="l" t="t" r="r" b="b"/>
            <a:pathLst>
              <a:path w="114300" h="452755">
                <a:moveTo>
                  <a:pt x="38039" y="262339"/>
                </a:moveTo>
                <a:lnTo>
                  <a:pt x="0" y="262508"/>
                </a:lnTo>
                <a:lnTo>
                  <a:pt x="57784" y="452754"/>
                </a:lnTo>
                <a:lnTo>
                  <a:pt x="108543" y="281431"/>
                </a:lnTo>
                <a:lnTo>
                  <a:pt x="38100" y="281431"/>
                </a:lnTo>
                <a:lnTo>
                  <a:pt x="38039" y="262339"/>
                </a:lnTo>
                <a:close/>
              </a:path>
              <a:path w="114300" h="452755">
                <a:moveTo>
                  <a:pt x="76139" y="262170"/>
                </a:moveTo>
                <a:lnTo>
                  <a:pt x="38039" y="262339"/>
                </a:lnTo>
                <a:lnTo>
                  <a:pt x="38100" y="281431"/>
                </a:lnTo>
                <a:lnTo>
                  <a:pt x="76200" y="281177"/>
                </a:lnTo>
                <a:lnTo>
                  <a:pt x="76139" y="262170"/>
                </a:lnTo>
                <a:close/>
              </a:path>
              <a:path w="114300" h="452755">
                <a:moveTo>
                  <a:pt x="114300" y="262000"/>
                </a:moveTo>
                <a:lnTo>
                  <a:pt x="76139" y="262170"/>
                </a:lnTo>
                <a:lnTo>
                  <a:pt x="76200" y="281177"/>
                </a:lnTo>
                <a:lnTo>
                  <a:pt x="38100" y="281431"/>
                </a:lnTo>
                <a:lnTo>
                  <a:pt x="108543" y="281431"/>
                </a:lnTo>
                <a:lnTo>
                  <a:pt x="114300" y="262000"/>
                </a:lnTo>
                <a:close/>
              </a:path>
              <a:path w="114300" h="452755">
                <a:moveTo>
                  <a:pt x="75310" y="0"/>
                </a:moveTo>
                <a:lnTo>
                  <a:pt x="37210" y="126"/>
                </a:lnTo>
                <a:lnTo>
                  <a:pt x="38039" y="262339"/>
                </a:lnTo>
                <a:lnTo>
                  <a:pt x="76139" y="262170"/>
                </a:lnTo>
                <a:lnTo>
                  <a:pt x="7531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39432" y="3507485"/>
            <a:ext cx="114300" cy="489584"/>
          </a:xfrm>
          <a:custGeom>
            <a:avLst/>
            <a:gdLst/>
            <a:ahLst/>
            <a:cxnLst/>
            <a:rect l="l" t="t" r="r" b="b"/>
            <a:pathLst>
              <a:path w="114300" h="489585">
                <a:moveTo>
                  <a:pt x="38166" y="298746"/>
                </a:moveTo>
                <a:lnTo>
                  <a:pt x="0" y="298831"/>
                </a:lnTo>
                <a:lnTo>
                  <a:pt x="57785" y="489203"/>
                </a:lnTo>
                <a:lnTo>
                  <a:pt x="108614" y="317753"/>
                </a:lnTo>
                <a:lnTo>
                  <a:pt x="38226" y="317753"/>
                </a:lnTo>
                <a:lnTo>
                  <a:pt x="38166" y="298746"/>
                </a:lnTo>
                <a:close/>
              </a:path>
              <a:path w="114300" h="489585">
                <a:moveTo>
                  <a:pt x="76265" y="298661"/>
                </a:moveTo>
                <a:lnTo>
                  <a:pt x="38166" y="298746"/>
                </a:lnTo>
                <a:lnTo>
                  <a:pt x="38226" y="317753"/>
                </a:lnTo>
                <a:lnTo>
                  <a:pt x="76326" y="317753"/>
                </a:lnTo>
                <a:lnTo>
                  <a:pt x="76265" y="298661"/>
                </a:lnTo>
                <a:close/>
              </a:path>
              <a:path w="114300" h="489585">
                <a:moveTo>
                  <a:pt x="114300" y="298576"/>
                </a:moveTo>
                <a:lnTo>
                  <a:pt x="76265" y="298661"/>
                </a:lnTo>
                <a:lnTo>
                  <a:pt x="76326" y="317753"/>
                </a:lnTo>
                <a:lnTo>
                  <a:pt x="108614" y="317753"/>
                </a:lnTo>
                <a:lnTo>
                  <a:pt x="114300" y="298576"/>
                </a:lnTo>
                <a:close/>
              </a:path>
              <a:path w="114300" h="489585">
                <a:moveTo>
                  <a:pt x="75311" y="0"/>
                </a:moveTo>
                <a:lnTo>
                  <a:pt x="37211" y="0"/>
                </a:lnTo>
                <a:lnTo>
                  <a:pt x="38166" y="298746"/>
                </a:lnTo>
                <a:lnTo>
                  <a:pt x="76265" y="298661"/>
                </a:lnTo>
                <a:lnTo>
                  <a:pt x="7531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45440" y="693242"/>
            <a:ext cx="88582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spc="-5" dirty="0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sz="3000" u="none" dirty="0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sz="3000" u="none" spc="5"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sz="3000" u="none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76731" y="26923"/>
            <a:ext cx="7338059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313940" algn="l"/>
                <a:tab pos="2821940" algn="l"/>
                <a:tab pos="4479925" algn="l"/>
                <a:tab pos="5241925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8.2.2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程序的控制流图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00">
              <a:latin typeface="宋体"/>
              <a:cs typeface="宋体"/>
            </a:endParaRPr>
          </a:p>
          <a:p>
            <a:pPr marL="821690">
              <a:lnSpc>
                <a:spcPct val="100000"/>
              </a:lnSpc>
            </a:pP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对如下程序段划分基本</a:t>
            </a:r>
            <a:r>
              <a:rPr sz="3000" b="1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000" b="1" dirty="0">
                <a:solidFill>
                  <a:srgbClr val="FFFFFF"/>
                </a:solidFill>
                <a:latin typeface="宋体"/>
                <a:cs typeface="宋体"/>
              </a:rPr>
              <a:t>给出流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图</a:t>
            </a:r>
            <a:r>
              <a:rPr sz="30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3041" y="1496314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4565" y="2580589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1141" y="354304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8340" y="5245353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181981" y="3235451"/>
            <a:ext cx="230504" cy="1924050"/>
          </a:xfrm>
          <a:custGeom>
            <a:avLst/>
            <a:gdLst/>
            <a:ahLst/>
            <a:cxnLst/>
            <a:rect l="l" t="t" r="r" b="b"/>
            <a:pathLst>
              <a:path w="230504" h="1924050">
                <a:moveTo>
                  <a:pt x="140486" y="1851684"/>
                </a:moveTo>
                <a:lnTo>
                  <a:pt x="110487" y="1879854"/>
                </a:lnTo>
                <a:lnTo>
                  <a:pt x="230375" y="1924050"/>
                </a:lnTo>
                <a:lnTo>
                  <a:pt x="212732" y="1864995"/>
                </a:lnTo>
                <a:lnTo>
                  <a:pt x="149222" y="1864995"/>
                </a:lnTo>
                <a:lnTo>
                  <a:pt x="140486" y="1851684"/>
                </a:lnTo>
                <a:close/>
              </a:path>
              <a:path w="230504" h="1924050">
                <a:moveTo>
                  <a:pt x="168665" y="1825223"/>
                </a:moveTo>
                <a:lnTo>
                  <a:pt x="140486" y="1851684"/>
                </a:lnTo>
                <a:lnTo>
                  <a:pt x="149222" y="1864995"/>
                </a:lnTo>
                <a:lnTo>
                  <a:pt x="181099" y="1844167"/>
                </a:lnTo>
                <a:lnTo>
                  <a:pt x="168665" y="1825223"/>
                </a:lnTo>
                <a:close/>
              </a:path>
              <a:path w="230504" h="1924050">
                <a:moveTo>
                  <a:pt x="193799" y="1801622"/>
                </a:moveTo>
                <a:lnTo>
                  <a:pt x="168665" y="1825223"/>
                </a:lnTo>
                <a:lnTo>
                  <a:pt x="181099" y="1844167"/>
                </a:lnTo>
                <a:lnTo>
                  <a:pt x="149222" y="1864995"/>
                </a:lnTo>
                <a:lnTo>
                  <a:pt x="212732" y="1864995"/>
                </a:lnTo>
                <a:lnTo>
                  <a:pt x="193799" y="1801622"/>
                </a:lnTo>
                <a:close/>
              </a:path>
              <a:path w="230504" h="1924050">
                <a:moveTo>
                  <a:pt x="227200" y="0"/>
                </a:moveTo>
                <a:lnTo>
                  <a:pt x="187830" y="16128"/>
                </a:lnTo>
                <a:lnTo>
                  <a:pt x="159763" y="47751"/>
                </a:lnTo>
                <a:lnTo>
                  <a:pt x="134744" y="92328"/>
                </a:lnTo>
                <a:lnTo>
                  <a:pt x="115948" y="137033"/>
                </a:lnTo>
                <a:lnTo>
                  <a:pt x="98168" y="188975"/>
                </a:lnTo>
                <a:lnTo>
                  <a:pt x="81531" y="247650"/>
                </a:lnTo>
                <a:lnTo>
                  <a:pt x="66037" y="312420"/>
                </a:lnTo>
                <a:lnTo>
                  <a:pt x="51813" y="382650"/>
                </a:lnTo>
                <a:lnTo>
                  <a:pt x="38986" y="457708"/>
                </a:lnTo>
                <a:lnTo>
                  <a:pt x="33144" y="496824"/>
                </a:lnTo>
                <a:lnTo>
                  <a:pt x="27683" y="536956"/>
                </a:lnTo>
                <a:lnTo>
                  <a:pt x="22730" y="577977"/>
                </a:lnTo>
                <a:lnTo>
                  <a:pt x="18158" y="619633"/>
                </a:lnTo>
                <a:lnTo>
                  <a:pt x="14094" y="662051"/>
                </a:lnTo>
                <a:lnTo>
                  <a:pt x="10538" y="705104"/>
                </a:lnTo>
                <a:lnTo>
                  <a:pt x="4823" y="792480"/>
                </a:lnTo>
                <a:lnTo>
                  <a:pt x="2664" y="836930"/>
                </a:lnTo>
                <a:lnTo>
                  <a:pt x="1245" y="882777"/>
                </a:lnTo>
                <a:lnTo>
                  <a:pt x="372" y="927100"/>
                </a:lnTo>
                <a:lnTo>
                  <a:pt x="0" y="971423"/>
                </a:lnTo>
                <a:lnTo>
                  <a:pt x="378" y="1016381"/>
                </a:lnTo>
                <a:lnTo>
                  <a:pt x="1394" y="1061085"/>
                </a:lnTo>
                <a:lnTo>
                  <a:pt x="2791" y="1105662"/>
                </a:lnTo>
                <a:lnTo>
                  <a:pt x="4950" y="1150112"/>
                </a:lnTo>
                <a:lnTo>
                  <a:pt x="10665" y="1237615"/>
                </a:lnTo>
                <a:lnTo>
                  <a:pt x="14221" y="1280668"/>
                </a:lnTo>
                <a:lnTo>
                  <a:pt x="18285" y="1323086"/>
                </a:lnTo>
                <a:lnTo>
                  <a:pt x="22857" y="1364869"/>
                </a:lnTo>
                <a:lnTo>
                  <a:pt x="27937" y="1405890"/>
                </a:lnTo>
                <a:lnTo>
                  <a:pt x="33398" y="1445895"/>
                </a:lnTo>
                <a:lnTo>
                  <a:pt x="39240" y="1485011"/>
                </a:lnTo>
                <a:lnTo>
                  <a:pt x="45463" y="1523111"/>
                </a:lnTo>
                <a:lnTo>
                  <a:pt x="59179" y="1595755"/>
                </a:lnTo>
                <a:lnTo>
                  <a:pt x="74165" y="1663446"/>
                </a:lnTo>
                <a:lnTo>
                  <a:pt x="90294" y="1725168"/>
                </a:lnTo>
                <a:lnTo>
                  <a:pt x="107693" y="1780540"/>
                </a:lnTo>
                <a:lnTo>
                  <a:pt x="125854" y="1828800"/>
                </a:lnTo>
                <a:lnTo>
                  <a:pt x="140486" y="1851684"/>
                </a:lnTo>
                <a:lnTo>
                  <a:pt x="168665" y="1825223"/>
                </a:lnTo>
                <a:lnTo>
                  <a:pt x="161677" y="1814576"/>
                </a:lnTo>
                <a:lnTo>
                  <a:pt x="161287" y="1814576"/>
                </a:lnTo>
                <a:lnTo>
                  <a:pt x="159509" y="1811274"/>
                </a:lnTo>
                <a:lnTo>
                  <a:pt x="159951" y="1811274"/>
                </a:lnTo>
                <a:lnTo>
                  <a:pt x="152397" y="1792605"/>
                </a:lnTo>
                <a:lnTo>
                  <a:pt x="143888" y="1768602"/>
                </a:lnTo>
                <a:lnTo>
                  <a:pt x="127124" y="1715262"/>
                </a:lnTo>
                <a:lnTo>
                  <a:pt x="111249" y="1654937"/>
                </a:lnTo>
                <a:lnTo>
                  <a:pt x="96517" y="1588516"/>
                </a:lnTo>
                <a:lnTo>
                  <a:pt x="83182" y="1517015"/>
                </a:lnTo>
                <a:lnTo>
                  <a:pt x="76959" y="1479423"/>
                </a:lnTo>
                <a:lnTo>
                  <a:pt x="71244" y="1440688"/>
                </a:lnTo>
                <a:lnTo>
                  <a:pt x="65783" y="1401191"/>
                </a:lnTo>
                <a:lnTo>
                  <a:pt x="60830" y="1360805"/>
                </a:lnTo>
                <a:lnTo>
                  <a:pt x="56258" y="1319530"/>
                </a:lnTo>
                <a:lnTo>
                  <a:pt x="52194" y="1277493"/>
                </a:lnTo>
                <a:lnTo>
                  <a:pt x="48638" y="1235075"/>
                </a:lnTo>
                <a:lnTo>
                  <a:pt x="42923" y="1148334"/>
                </a:lnTo>
                <a:lnTo>
                  <a:pt x="40891" y="1104519"/>
                </a:lnTo>
                <a:lnTo>
                  <a:pt x="39494" y="1060323"/>
                </a:lnTo>
                <a:lnTo>
                  <a:pt x="38478" y="1016000"/>
                </a:lnTo>
                <a:lnTo>
                  <a:pt x="38099" y="971169"/>
                </a:lnTo>
                <a:lnTo>
                  <a:pt x="38351" y="927100"/>
                </a:lnTo>
                <a:lnTo>
                  <a:pt x="39404" y="881634"/>
                </a:lnTo>
                <a:lnTo>
                  <a:pt x="40764" y="838708"/>
                </a:lnTo>
                <a:lnTo>
                  <a:pt x="42796" y="794893"/>
                </a:lnTo>
                <a:lnTo>
                  <a:pt x="48384" y="708279"/>
                </a:lnTo>
                <a:lnTo>
                  <a:pt x="52067" y="665734"/>
                </a:lnTo>
                <a:lnTo>
                  <a:pt x="56004" y="623824"/>
                </a:lnTo>
                <a:lnTo>
                  <a:pt x="60576" y="582549"/>
                </a:lnTo>
                <a:lnTo>
                  <a:pt x="65529" y="542036"/>
                </a:lnTo>
                <a:lnTo>
                  <a:pt x="70863" y="502539"/>
                </a:lnTo>
                <a:lnTo>
                  <a:pt x="76705" y="463931"/>
                </a:lnTo>
                <a:lnTo>
                  <a:pt x="89151" y="390017"/>
                </a:lnTo>
                <a:lnTo>
                  <a:pt x="103121" y="320928"/>
                </a:lnTo>
                <a:lnTo>
                  <a:pt x="118361" y="257556"/>
                </a:lnTo>
                <a:lnTo>
                  <a:pt x="134490" y="200787"/>
                </a:lnTo>
                <a:lnTo>
                  <a:pt x="151381" y="151002"/>
                </a:lnTo>
                <a:lnTo>
                  <a:pt x="168780" y="109474"/>
                </a:lnTo>
                <a:lnTo>
                  <a:pt x="190624" y="69976"/>
                </a:lnTo>
                <a:lnTo>
                  <a:pt x="217548" y="41528"/>
                </a:lnTo>
                <a:lnTo>
                  <a:pt x="230121" y="38100"/>
                </a:lnTo>
                <a:lnTo>
                  <a:pt x="227200" y="0"/>
                </a:lnTo>
                <a:close/>
              </a:path>
              <a:path w="230504" h="1924050">
                <a:moveTo>
                  <a:pt x="159509" y="1811274"/>
                </a:moveTo>
                <a:lnTo>
                  <a:pt x="161287" y="1814576"/>
                </a:lnTo>
                <a:lnTo>
                  <a:pt x="160662" y="1813029"/>
                </a:lnTo>
                <a:lnTo>
                  <a:pt x="159509" y="1811274"/>
                </a:lnTo>
                <a:close/>
              </a:path>
              <a:path w="230504" h="1924050">
                <a:moveTo>
                  <a:pt x="160662" y="1813029"/>
                </a:moveTo>
                <a:lnTo>
                  <a:pt x="161287" y="1814576"/>
                </a:lnTo>
                <a:lnTo>
                  <a:pt x="161677" y="1814576"/>
                </a:lnTo>
                <a:lnTo>
                  <a:pt x="160662" y="1813029"/>
                </a:lnTo>
                <a:close/>
              </a:path>
              <a:path w="230504" h="1924050">
                <a:moveTo>
                  <a:pt x="159951" y="1811274"/>
                </a:moveTo>
                <a:lnTo>
                  <a:pt x="159509" y="1811274"/>
                </a:lnTo>
                <a:lnTo>
                  <a:pt x="160662" y="1813029"/>
                </a:lnTo>
                <a:lnTo>
                  <a:pt x="159951" y="181127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41947" y="1965960"/>
            <a:ext cx="518159" cy="512445"/>
          </a:xfrm>
          <a:custGeom>
            <a:avLst/>
            <a:gdLst/>
            <a:ahLst/>
            <a:cxnLst/>
            <a:rect l="l" t="t" r="r" b="b"/>
            <a:pathLst>
              <a:path w="518159" h="512444">
                <a:moveTo>
                  <a:pt x="0" y="256031"/>
                </a:moveTo>
                <a:lnTo>
                  <a:pt x="4172" y="210023"/>
                </a:lnTo>
                <a:lnTo>
                  <a:pt x="16203" y="166714"/>
                </a:lnTo>
                <a:lnTo>
                  <a:pt x="35362" y="126830"/>
                </a:lnTo>
                <a:lnTo>
                  <a:pt x="60918" y="91095"/>
                </a:lnTo>
                <a:lnTo>
                  <a:pt x="92140" y="60232"/>
                </a:lnTo>
                <a:lnTo>
                  <a:pt x="128298" y="34967"/>
                </a:lnTo>
                <a:lnTo>
                  <a:pt x="168661" y="16023"/>
                </a:lnTo>
                <a:lnTo>
                  <a:pt x="212498" y="4126"/>
                </a:lnTo>
                <a:lnTo>
                  <a:pt x="259079" y="0"/>
                </a:lnTo>
                <a:lnTo>
                  <a:pt x="305661" y="4126"/>
                </a:lnTo>
                <a:lnTo>
                  <a:pt x="349498" y="16023"/>
                </a:lnTo>
                <a:lnTo>
                  <a:pt x="389861" y="34967"/>
                </a:lnTo>
                <a:lnTo>
                  <a:pt x="426019" y="60232"/>
                </a:lnTo>
                <a:lnTo>
                  <a:pt x="457241" y="91095"/>
                </a:lnTo>
                <a:lnTo>
                  <a:pt x="482797" y="126830"/>
                </a:lnTo>
                <a:lnTo>
                  <a:pt x="501956" y="166714"/>
                </a:lnTo>
                <a:lnTo>
                  <a:pt x="513987" y="210023"/>
                </a:lnTo>
                <a:lnTo>
                  <a:pt x="518159" y="256031"/>
                </a:lnTo>
                <a:lnTo>
                  <a:pt x="513987" y="302040"/>
                </a:lnTo>
                <a:lnTo>
                  <a:pt x="501956" y="345349"/>
                </a:lnTo>
                <a:lnTo>
                  <a:pt x="482797" y="385233"/>
                </a:lnTo>
                <a:lnTo>
                  <a:pt x="457241" y="420968"/>
                </a:lnTo>
                <a:lnTo>
                  <a:pt x="426019" y="451831"/>
                </a:lnTo>
                <a:lnTo>
                  <a:pt x="389861" y="477096"/>
                </a:lnTo>
                <a:lnTo>
                  <a:pt x="349498" y="496040"/>
                </a:lnTo>
                <a:lnTo>
                  <a:pt x="305661" y="507937"/>
                </a:lnTo>
                <a:lnTo>
                  <a:pt x="259079" y="512063"/>
                </a:lnTo>
                <a:lnTo>
                  <a:pt x="212498" y="507937"/>
                </a:lnTo>
                <a:lnTo>
                  <a:pt x="168661" y="496040"/>
                </a:lnTo>
                <a:lnTo>
                  <a:pt x="128298" y="477096"/>
                </a:lnTo>
                <a:lnTo>
                  <a:pt x="92140" y="451831"/>
                </a:lnTo>
                <a:lnTo>
                  <a:pt x="60918" y="420968"/>
                </a:lnTo>
                <a:lnTo>
                  <a:pt x="35362" y="385233"/>
                </a:lnTo>
                <a:lnTo>
                  <a:pt x="16203" y="345349"/>
                </a:lnTo>
                <a:lnTo>
                  <a:pt x="4172" y="302040"/>
                </a:lnTo>
                <a:lnTo>
                  <a:pt x="0" y="256031"/>
                </a:lnTo>
                <a:close/>
              </a:path>
            </a:pathLst>
          </a:custGeom>
          <a:ln w="7620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22603" y="5096255"/>
            <a:ext cx="2038350" cy="0"/>
          </a:xfrm>
          <a:custGeom>
            <a:avLst/>
            <a:gdLst/>
            <a:ahLst/>
            <a:cxnLst/>
            <a:rect l="l" t="t" r="r" b="b"/>
            <a:pathLst>
              <a:path w="2038350">
                <a:moveTo>
                  <a:pt x="0" y="0"/>
                </a:moveTo>
                <a:lnTo>
                  <a:pt x="2038350" y="0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5591" y="2732354"/>
            <a:ext cx="6428740" cy="3455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0" lvl="2" indent="-125793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1270000" algn="l"/>
                <a:tab pos="1270635" algn="l"/>
              </a:tabLst>
            </a:pPr>
            <a:r>
              <a:rPr sz="3600" b="1" spc="-10" dirty="0">
                <a:solidFill>
                  <a:srgbClr val="FFFF00"/>
                </a:solidFill>
                <a:latin typeface="宋体"/>
                <a:cs typeface="宋体"/>
              </a:rPr>
              <a:t>基本块定义与划分</a:t>
            </a:r>
            <a:endParaRPr sz="3600">
              <a:latin typeface="宋体"/>
              <a:cs typeface="宋体"/>
            </a:endParaRPr>
          </a:p>
          <a:p>
            <a:pPr marL="1270000" lvl="2" indent="-1257935">
              <a:lnSpc>
                <a:spcPct val="100000"/>
              </a:lnSpc>
              <a:spcBef>
                <a:spcPts val="3244"/>
              </a:spcBef>
              <a:buFont typeface="Times New Roman"/>
              <a:buAutoNum type="arabicPeriod"/>
              <a:tabLst>
                <a:tab pos="1270000" algn="l"/>
                <a:tab pos="1270635" algn="l"/>
              </a:tabLst>
            </a:pPr>
            <a:r>
              <a:rPr sz="3600" b="1" spc="-5" dirty="0">
                <a:solidFill>
                  <a:srgbClr val="FFFF00"/>
                </a:solidFill>
                <a:latin typeface="宋体"/>
                <a:cs typeface="宋体"/>
              </a:rPr>
              <a:t>程序的控制流图</a:t>
            </a:r>
            <a:endParaRPr sz="3600">
              <a:latin typeface="宋体"/>
              <a:cs typeface="宋体"/>
            </a:endParaRPr>
          </a:p>
          <a:p>
            <a:pPr marL="1270000" lvl="2" indent="-1257935">
              <a:lnSpc>
                <a:spcPct val="100000"/>
              </a:lnSpc>
              <a:spcBef>
                <a:spcPts val="3240"/>
              </a:spcBef>
              <a:buFont typeface="Times New Roman"/>
              <a:buAutoNum type="arabicPeriod"/>
              <a:tabLst>
                <a:tab pos="1270000" algn="l"/>
                <a:tab pos="1270635" algn="l"/>
              </a:tabLst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基本块的</a:t>
            </a:r>
            <a:r>
              <a:rPr sz="3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DAG</a:t>
            </a: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表示与应用</a:t>
            </a:r>
            <a:endParaRPr sz="3600">
              <a:latin typeface="宋体"/>
              <a:cs typeface="宋体"/>
            </a:endParaRPr>
          </a:p>
          <a:p>
            <a:pPr marR="747395" algn="ctr">
              <a:lnSpc>
                <a:spcPct val="100000"/>
              </a:lnSpc>
              <a:spcBef>
                <a:spcPts val="3244"/>
              </a:spcBef>
            </a:pPr>
            <a:r>
              <a:rPr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基本块优化</a:t>
            </a:r>
            <a:r>
              <a:rPr sz="3600" b="1" spc="-15" dirty="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92373" y="26923"/>
            <a:ext cx="1692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93867" y="26923"/>
            <a:ext cx="1557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14370" y="1089406"/>
            <a:ext cx="33870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29665" algn="l"/>
              </a:tabLst>
            </a:pPr>
            <a:r>
              <a:rPr sz="4400" u="none" dirty="0">
                <a:solidFill>
                  <a:srgbClr val="FFFF00"/>
                </a:solidFill>
                <a:latin typeface="Times New Roman"/>
                <a:cs typeface="Times New Roman"/>
              </a:rPr>
              <a:t>8.2	</a:t>
            </a:r>
            <a:r>
              <a:rPr sz="4400" u="none" spc="-5" dirty="0">
                <a:solidFill>
                  <a:srgbClr val="FFFF00"/>
                </a:solidFill>
                <a:latin typeface="宋体"/>
                <a:cs typeface="宋体"/>
              </a:rPr>
              <a:t>局部优化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31023" y="5218176"/>
            <a:ext cx="1548765" cy="722630"/>
          </a:xfrm>
          <a:custGeom>
            <a:avLst/>
            <a:gdLst/>
            <a:ahLst/>
            <a:cxnLst/>
            <a:rect l="l" t="t" r="r" b="b"/>
            <a:pathLst>
              <a:path w="1548765" h="722629">
                <a:moveTo>
                  <a:pt x="386969" y="0"/>
                </a:moveTo>
                <a:lnTo>
                  <a:pt x="0" y="361188"/>
                </a:lnTo>
                <a:lnTo>
                  <a:pt x="386969" y="722376"/>
                </a:lnTo>
                <a:lnTo>
                  <a:pt x="386969" y="541782"/>
                </a:lnTo>
                <a:lnTo>
                  <a:pt x="1548383" y="541782"/>
                </a:lnTo>
                <a:lnTo>
                  <a:pt x="1548383" y="180594"/>
                </a:lnTo>
                <a:lnTo>
                  <a:pt x="386969" y="180594"/>
                </a:lnTo>
                <a:lnTo>
                  <a:pt x="386969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31023" y="5218176"/>
            <a:ext cx="1548765" cy="722630"/>
          </a:xfrm>
          <a:custGeom>
            <a:avLst/>
            <a:gdLst/>
            <a:ahLst/>
            <a:cxnLst/>
            <a:rect l="l" t="t" r="r" b="b"/>
            <a:pathLst>
              <a:path w="1548765" h="722629">
                <a:moveTo>
                  <a:pt x="0" y="361188"/>
                </a:moveTo>
                <a:lnTo>
                  <a:pt x="386969" y="0"/>
                </a:lnTo>
                <a:lnTo>
                  <a:pt x="386969" y="180594"/>
                </a:lnTo>
                <a:lnTo>
                  <a:pt x="1548383" y="180594"/>
                </a:lnTo>
                <a:lnTo>
                  <a:pt x="1548383" y="541782"/>
                </a:lnTo>
                <a:lnTo>
                  <a:pt x="386969" y="541782"/>
                </a:lnTo>
                <a:lnTo>
                  <a:pt x="386969" y="722376"/>
                </a:lnTo>
                <a:lnTo>
                  <a:pt x="0" y="361188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33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4642" y="0"/>
            <a:ext cx="8488045" cy="680212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424180">
              <a:lnSpc>
                <a:spcPct val="100000"/>
              </a:lnSpc>
              <a:spcBef>
                <a:spcPts val="465"/>
              </a:spcBef>
              <a:tabLst>
                <a:tab pos="1068070" algn="l"/>
                <a:tab pos="2598420" algn="l"/>
                <a:tab pos="3107055" algn="l"/>
                <a:tab pos="4764405" algn="l"/>
                <a:tab pos="552577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8.2.3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DAG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定义与应用</a:t>
            </a:r>
            <a:endParaRPr sz="2000" dirty="0">
              <a:latin typeface="宋体"/>
              <a:cs typeface="宋体"/>
            </a:endParaRPr>
          </a:p>
          <a:p>
            <a:pPr marL="405765" indent="-317500">
              <a:lnSpc>
                <a:spcPct val="100000"/>
              </a:lnSpc>
              <a:spcBef>
                <a:spcPts val="1150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06400" algn="l"/>
              </a:tabLst>
            </a:pPr>
            <a:r>
              <a:rPr sz="3200" b="1" spc="-5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DAG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Directed</a:t>
            </a:r>
            <a:r>
              <a:rPr sz="3200" b="1" spc="-229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Acyclic</a:t>
            </a:r>
            <a:r>
              <a:rPr sz="3200" b="1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Graph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sz="3200" b="1" dirty="0">
                <a:solidFill>
                  <a:srgbClr val="FF66FF"/>
                </a:solidFill>
                <a:latin typeface="宋体"/>
                <a:cs typeface="宋体"/>
              </a:rPr>
              <a:t>（复</a:t>
            </a:r>
            <a:r>
              <a:rPr sz="3200" b="1" spc="5" dirty="0">
                <a:solidFill>
                  <a:srgbClr val="FF66FF"/>
                </a:solidFill>
                <a:latin typeface="宋体"/>
                <a:cs typeface="宋体"/>
              </a:rPr>
              <a:t>习</a:t>
            </a:r>
            <a:r>
              <a:rPr sz="3200" b="1" dirty="0">
                <a:solidFill>
                  <a:srgbClr val="FF66FF"/>
                </a:solidFill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  <a:p>
            <a:pPr marL="1112520">
              <a:lnSpc>
                <a:spcPct val="100000"/>
              </a:lnSpc>
              <a:spcBef>
                <a:spcPts val="1155"/>
              </a:spcBef>
            </a:pP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无环路的有向图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  <a:p>
            <a:pPr marL="459105" indent="-408940">
              <a:lnSpc>
                <a:spcPct val="100000"/>
              </a:lnSpc>
              <a:spcBef>
                <a:spcPts val="470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459105" algn="l"/>
                <a:tab pos="459740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8.1</a:t>
            </a:r>
            <a:endParaRPr sz="3200" dirty="0">
              <a:latin typeface="Times New Roman"/>
              <a:cs typeface="Times New Roman"/>
            </a:endParaRPr>
          </a:p>
          <a:p>
            <a:pPr marL="408305">
              <a:lnSpc>
                <a:spcPct val="100000"/>
              </a:lnSpc>
              <a:spcBef>
                <a:spcPts val="67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是由若干结点构成的有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向图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点n</a:t>
            </a:r>
            <a:r>
              <a:rPr sz="2775" b="1" baseline="-18018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endParaRPr sz="2800" dirty="0">
              <a:latin typeface="宋体"/>
              <a:cs typeface="宋体"/>
            </a:endParaRPr>
          </a:p>
          <a:p>
            <a:pPr marL="408305">
              <a:lnSpc>
                <a:spcPct val="100000"/>
              </a:lnSpc>
              <a:spcBef>
                <a:spcPts val="830"/>
              </a:spcBef>
            </a:pP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n</a:t>
            </a:r>
            <a:r>
              <a:rPr sz="2775" b="1" baseline="-18018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的有向边用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n</a:t>
            </a:r>
            <a:r>
              <a:rPr sz="2775" b="1" baseline="-18018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→n</a:t>
            </a:r>
            <a:r>
              <a:rPr sz="2775" b="1" baseline="-18018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表示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515"/>
              </a:spcBef>
            </a:pP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若存在有向边序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列n</a:t>
            </a:r>
            <a:r>
              <a:rPr sz="2775" b="1" baseline="-18018" dirty="0">
                <a:solidFill>
                  <a:srgbClr val="FFFFFF"/>
                </a:solidFill>
                <a:latin typeface="Times New Roman"/>
                <a:cs typeface="Times New Roman"/>
              </a:rPr>
              <a:t>i1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→n</a:t>
            </a:r>
            <a:r>
              <a:rPr sz="2775" b="1" baseline="-18018" dirty="0">
                <a:solidFill>
                  <a:srgbClr val="FFFFFF"/>
                </a:solidFill>
                <a:latin typeface="Times New Roman"/>
                <a:cs typeface="Times New Roman"/>
              </a:rPr>
              <a:t>i2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sz="2800" b="1" dirty="0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→n</a:t>
            </a:r>
            <a:r>
              <a:rPr sz="2775" b="1" baseline="-18018" dirty="0">
                <a:solidFill>
                  <a:srgbClr val="FFFFFF"/>
                </a:solidFill>
                <a:latin typeface="Times New Roman"/>
                <a:cs typeface="Times New Roman"/>
              </a:rPr>
              <a:t>im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则称结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点n</a:t>
            </a:r>
            <a:r>
              <a:rPr sz="2775" b="1" baseline="-18018" dirty="0">
                <a:solidFill>
                  <a:srgbClr val="FFFFFF"/>
                </a:solidFill>
                <a:latin typeface="Times New Roman"/>
                <a:cs typeface="Times New Roman"/>
              </a:rPr>
              <a:t>i1</a:t>
            </a:r>
            <a:endParaRPr sz="2775" baseline="-18018" dirty="0">
              <a:latin typeface="Times New Roman"/>
              <a:cs typeface="Times New Roman"/>
            </a:endParaRPr>
          </a:p>
          <a:p>
            <a:pPr marL="588645" marR="219710">
              <a:lnSpc>
                <a:spcPct val="120100"/>
              </a:lnSpc>
              <a:spcBef>
                <a:spcPts val="155"/>
              </a:spcBef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与结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n</a:t>
            </a:r>
            <a:r>
              <a:rPr sz="2775" b="1" spc="7" baseline="-18018" dirty="0">
                <a:solidFill>
                  <a:srgbClr val="FFFFFF"/>
                </a:solidFill>
                <a:latin typeface="Times New Roman"/>
                <a:cs typeface="Times New Roman"/>
              </a:rPr>
              <a:t>im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之间存在一条路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径，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或称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n</a:t>
            </a:r>
            <a:r>
              <a:rPr sz="2775" b="1" baseline="-18018" dirty="0">
                <a:solidFill>
                  <a:srgbClr val="FFFFFF"/>
                </a:solidFill>
                <a:latin typeface="Times New Roman"/>
                <a:cs typeface="Times New Roman"/>
              </a:rPr>
              <a:t>i1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n</a:t>
            </a:r>
            <a:r>
              <a:rPr sz="2775" b="1" spc="7" baseline="-18018" dirty="0">
                <a:solidFill>
                  <a:srgbClr val="FFFFFF"/>
                </a:solidFill>
                <a:latin typeface="Times New Roman"/>
                <a:cs typeface="Times New Roman"/>
              </a:rPr>
              <a:t>im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是连通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588645" marR="43180" indent="-538480">
              <a:lnSpc>
                <a:spcPct val="120000"/>
              </a:lnSpc>
            </a:pP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②</a:t>
            </a:r>
            <a:r>
              <a:rPr sz="2800" b="1" spc="-8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如果存在一条路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径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其起始和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终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止于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sz="2800" b="1" spc="3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则称该路径是一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环路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 dirty="0">
              <a:latin typeface="宋体"/>
              <a:cs typeface="宋体"/>
            </a:endParaRPr>
          </a:p>
          <a:p>
            <a:pPr marL="584200" marR="560705" indent="-533400">
              <a:lnSpc>
                <a:spcPts val="4029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③</a:t>
            </a:r>
            <a:r>
              <a:rPr sz="2800" b="1" spc="-9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如果有向图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中任一条路径都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是环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路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，则</a:t>
            </a:r>
            <a:r>
              <a:rPr sz="2800" b="1" spc="20" dirty="0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 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无环路有向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图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34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0141" y="8491"/>
            <a:ext cx="8369300" cy="645541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250"/>
              </a:spcBef>
              <a:tabLst>
                <a:tab pos="1112520" algn="l"/>
                <a:tab pos="2642870" algn="l"/>
                <a:tab pos="3151505" algn="l"/>
                <a:tab pos="4808855" algn="l"/>
                <a:tab pos="557022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8.2.3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DAG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定义与应用</a:t>
            </a:r>
            <a:endParaRPr sz="2000">
              <a:latin typeface="宋体"/>
              <a:cs typeface="宋体"/>
            </a:endParaRPr>
          </a:p>
          <a:p>
            <a:pPr marL="495300" indent="-483234">
              <a:lnSpc>
                <a:spcPct val="100000"/>
              </a:lnSpc>
              <a:spcBef>
                <a:spcPts val="1950"/>
              </a:spcBef>
              <a:buClr>
                <a:srgbClr val="66FFFF"/>
              </a:buClr>
              <a:buSzPct val="150000"/>
              <a:buFont typeface="Wingdings"/>
              <a:buChar char=""/>
              <a:tabLst>
                <a:tab pos="495934" algn="l"/>
              </a:tabLst>
            </a:pP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基本块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DAG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表示</a:t>
            </a:r>
            <a:endParaRPr sz="3200">
              <a:latin typeface="宋体"/>
              <a:cs typeface="宋体"/>
            </a:endParaRPr>
          </a:p>
          <a:p>
            <a:pPr marL="422275">
              <a:lnSpc>
                <a:spcPct val="100000"/>
              </a:lnSpc>
              <a:spcBef>
                <a:spcPts val="138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基本块的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DAG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是结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带有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列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sz="3200" b="1" spc="1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DAG</a:t>
            </a:r>
            <a:endParaRPr sz="3200">
              <a:latin typeface="Times New Roman"/>
              <a:cs typeface="Times New Roman"/>
            </a:endParaRPr>
          </a:p>
          <a:p>
            <a:pPr marL="1036319" marR="384175" indent="-614680" algn="just">
              <a:lnSpc>
                <a:spcPct val="130000"/>
              </a:lnSpc>
            </a:pP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r>
              <a:rPr sz="3200" b="1" spc="-2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叶结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点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用标识符或常量作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其标记，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当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叶结点是标识符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代表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初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标识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符加下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1242695" marR="386715" indent="-820419" algn="just">
              <a:lnSpc>
                <a:spcPct val="114999"/>
              </a:lnSpc>
              <a:spcBef>
                <a:spcPts val="5"/>
              </a:spcBef>
            </a:pP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②</a:t>
            </a:r>
            <a:r>
              <a:rPr sz="3200" b="1" spc="-7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内部结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点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用运算符标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示后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继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点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施加该运算后的值；</a:t>
            </a:r>
            <a:endParaRPr sz="3200">
              <a:latin typeface="宋体"/>
              <a:cs typeface="宋体"/>
            </a:endParaRPr>
          </a:p>
          <a:p>
            <a:pPr marL="1036319" marR="380365" indent="-614680" algn="just">
              <a:lnSpc>
                <a:spcPct val="114999"/>
              </a:lnSpc>
            </a:pP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③</a:t>
            </a:r>
            <a:r>
              <a:rPr sz="3200" b="1" spc="-2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各结点上可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附加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或多</a:t>
            </a:r>
            <a:r>
              <a:rPr sz="3200" b="1" spc="10" dirty="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标识</a:t>
            </a:r>
            <a:r>
              <a:rPr sz="3200" b="1" spc="5" dirty="0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附加在同一结点上的多个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识符具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有相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同的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35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6731" y="26923"/>
            <a:ext cx="37325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186305" algn="l"/>
                <a:tab pos="269494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6448" y="26923"/>
            <a:ext cx="2636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D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AG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定义与应用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0842" y="553567"/>
            <a:ext cx="3599179" cy="1423035"/>
          </a:xfrm>
          <a:prstGeom prst="rect">
            <a:avLst/>
          </a:prstGeom>
        </p:spPr>
        <p:txBody>
          <a:bodyPr vert="horz" wrap="square" lIns="0" tIns="22352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760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常见四元式分类：</a:t>
            </a:r>
            <a:endParaRPr sz="3200">
              <a:latin typeface="宋体"/>
              <a:cs typeface="宋体"/>
            </a:endParaRPr>
          </a:p>
          <a:p>
            <a:pPr marL="1193165">
              <a:lnSpc>
                <a:spcPct val="100000"/>
              </a:lnSpc>
              <a:spcBef>
                <a:spcPts val="1660"/>
              </a:spcBef>
            </a:pP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01111" y="1677923"/>
            <a:ext cx="1143000" cy="228600"/>
          </a:xfrm>
          <a:custGeom>
            <a:avLst/>
            <a:gdLst/>
            <a:ahLst/>
            <a:cxnLst/>
            <a:rect l="l" t="t" r="r" b="b"/>
            <a:pathLst>
              <a:path w="1143000" h="228600">
                <a:moveTo>
                  <a:pt x="762000" y="0"/>
                </a:moveTo>
                <a:lnTo>
                  <a:pt x="762000" y="228600"/>
                </a:lnTo>
                <a:lnTo>
                  <a:pt x="1016000" y="152400"/>
                </a:lnTo>
                <a:lnTo>
                  <a:pt x="800100" y="152400"/>
                </a:lnTo>
                <a:lnTo>
                  <a:pt x="800100" y="76200"/>
                </a:lnTo>
                <a:lnTo>
                  <a:pt x="1016000" y="76200"/>
                </a:lnTo>
                <a:lnTo>
                  <a:pt x="762000" y="0"/>
                </a:lnTo>
                <a:close/>
              </a:path>
              <a:path w="1143000" h="228600">
                <a:moveTo>
                  <a:pt x="762000" y="76200"/>
                </a:moveTo>
                <a:lnTo>
                  <a:pt x="0" y="76200"/>
                </a:lnTo>
                <a:lnTo>
                  <a:pt x="0" y="152400"/>
                </a:lnTo>
                <a:lnTo>
                  <a:pt x="762000" y="152400"/>
                </a:lnTo>
                <a:lnTo>
                  <a:pt x="762000" y="76200"/>
                </a:lnTo>
                <a:close/>
              </a:path>
              <a:path w="1143000" h="228600">
                <a:moveTo>
                  <a:pt x="1016000" y="76200"/>
                </a:moveTo>
                <a:lnTo>
                  <a:pt x="800100" y="76200"/>
                </a:lnTo>
                <a:lnTo>
                  <a:pt x="800100" y="152400"/>
                </a:lnTo>
                <a:lnTo>
                  <a:pt x="1016000" y="152400"/>
                </a:lnTo>
                <a:lnTo>
                  <a:pt x="1143000" y="114300"/>
                </a:lnTo>
                <a:lnTo>
                  <a:pt x="1016000" y="7620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21916" y="2726563"/>
            <a:ext cx="6369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01111" y="2941320"/>
            <a:ext cx="1143000" cy="228600"/>
          </a:xfrm>
          <a:custGeom>
            <a:avLst/>
            <a:gdLst/>
            <a:ahLst/>
            <a:cxnLst/>
            <a:rect l="l" t="t" r="r" b="b"/>
            <a:pathLst>
              <a:path w="1143000" h="228600">
                <a:moveTo>
                  <a:pt x="762000" y="0"/>
                </a:moveTo>
                <a:lnTo>
                  <a:pt x="762000" y="228600"/>
                </a:lnTo>
                <a:lnTo>
                  <a:pt x="1016000" y="152400"/>
                </a:lnTo>
                <a:lnTo>
                  <a:pt x="800100" y="152400"/>
                </a:lnTo>
                <a:lnTo>
                  <a:pt x="800100" y="76200"/>
                </a:lnTo>
                <a:lnTo>
                  <a:pt x="1016000" y="76200"/>
                </a:lnTo>
                <a:lnTo>
                  <a:pt x="762000" y="0"/>
                </a:lnTo>
                <a:close/>
              </a:path>
              <a:path w="1143000" h="228600">
                <a:moveTo>
                  <a:pt x="762000" y="76200"/>
                </a:moveTo>
                <a:lnTo>
                  <a:pt x="0" y="76200"/>
                </a:lnTo>
                <a:lnTo>
                  <a:pt x="0" y="152400"/>
                </a:lnTo>
                <a:lnTo>
                  <a:pt x="762000" y="152400"/>
                </a:lnTo>
                <a:lnTo>
                  <a:pt x="762000" y="76200"/>
                </a:lnTo>
                <a:close/>
              </a:path>
              <a:path w="1143000" h="228600">
                <a:moveTo>
                  <a:pt x="1016000" y="76200"/>
                </a:moveTo>
                <a:lnTo>
                  <a:pt x="800100" y="76200"/>
                </a:lnTo>
                <a:lnTo>
                  <a:pt x="800100" y="152400"/>
                </a:lnTo>
                <a:lnTo>
                  <a:pt x="1016000" y="152400"/>
                </a:lnTo>
                <a:lnTo>
                  <a:pt x="1143000" y="114300"/>
                </a:lnTo>
                <a:lnTo>
                  <a:pt x="1016000" y="7620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21916" y="4784216"/>
            <a:ext cx="6369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01111" y="4998720"/>
            <a:ext cx="1143000" cy="228600"/>
          </a:xfrm>
          <a:custGeom>
            <a:avLst/>
            <a:gdLst/>
            <a:ahLst/>
            <a:cxnLst/>
            <a:rect l="l" t="t" r="r" b="b"/>
            <a:pathLst>
              <a:path w="1143000" h="228600">
                <a:moveTo>
                  <a:pt x="762000" y="0"/>
                </a:moveTo>
                <a:lnTo>
                  <a:pt x="762000" y="228599"/>
                </a:lnTo>
                <a:lnTo>
                  <a:pt x="1016000" y="152399"/>
                </a:lnTo>
                <a:lnTo>
                  <a:pt x="800100" y="152399"/>
                </a:lnTo>
                <a:lnTo>
                  <a:pt x="800100" y="76199"/>
                </a:lnTo>
                <a:lnTo>
                  <a:pt x="1016000" y="76199"/>
                </a:lnTo>
                <a:lnTo>
                  <a:pt x="762000" y="0"/>
                </a:lnTo>
                <a:close/>
              </a:path>
              <a:path w="1143000" h="228600">
                <a:moveTo>
                  <a:pt x="762000" y="76199"/>
                </a:moveTo>
                <a:lnTo>
                  <a:pt x="0" y="76199"/>
                </a:lnTo>
                <a:lnTo>
                  <a:pt x="0" y="152399"/>
                </a:lnTo>
                <a:lnTo>
                  <a:pt x="762000" y="152399"/>
                </a:lnTo>
                <a:lnTo>
                  <a:pt x="762000" y="76199"/>
                </a:lnTo>
                <a:close/>
              </a:path>
              <a:path w="1143000" h="228600">
                <a:moveTo>
                  <a:pt x="1016000" y="76199"/>
                </a:moveTo>
                <a:lnTo>
                  <a:pt x="800100" y="76199"/>
                </a:lnTo>
                <a:lnTo>
                  <a:pt x="800100" y="152399"/>
                </a:lnTo>
                <a:lnTo>
                  <a:pt x="1016000" y="152399"/>
                </a:lnTo>
                <a:lnTo>
                  <a:pt x="1143000" y="114299"/>
                </a:lnTo>
                <a:lnTo>
                  <a:pt x="1016000" y="76199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58461" y="5432297"/>
            <a:ext cx="3352800" cy="0"/>
          </a:xfrm>
          <a:custGeom>
            <a:avLst/>
            <a:gdLst/>
            <a:ahLst/>
            <a:cxnLst/>
            <a:rect l="l" t="t" r="r" b="b"/>
            <a:pathLst>
              <a:path w="3352800">
                <a:moveTo>
                  <a:pt x="0" y="0"/>
                </a:moveTo>
                <a:lnTo>
                  <a:pt x="3352799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58461" y="5880353"/>
            <a:ext cx="1295400" cy="13970"/>
          </a:xfrm>
          <a:custGeom>
            <a:avLst/>
            <a:gdLst/>
            <a:ahLst/>
            <a:cxnLst/>
            <a:rect l="l" t="t" r="r" b="b"/>
            <a:pathLst>
              <a:path w="1295400" h="13970">
                <a:moveTo>
                  <a:pt x="0" y="0"/>
                </a:moveTo>
                <a:lnTo>
                  <a:pt x="1295400" y="1371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80052" y="1383893"/>
            <a:ext cx="3837304" cy="42360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72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一个结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定值语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184150">
              <a:lnSpc>
                <a:spcPct val="100000"/>
              </a:lnSpc>
              <a:spcBef>
                <a:spcPts val="625"/>
              </a:spcBef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A =</a:t>
            </a:r>
            <a:r>
              <a:rPr sz="3200" b="1" spc="-19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69215">
              <a:lnSpc>
                <a:spcPct val="100000"/>
              </a:lnSpc>
              <a:spcBef>
                <a:spcPts val="74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二个结</a:t>
            </a:r>
            <a:r>
              <a:rPr sz="3200" b="1" spc="78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单目运算</a:t>
            </a:r>
            <a:endParaRPr sz="3200">
              <a:latin typeface="宋体"/>
              <a:cs typeface="宋体"/>
            </a:endParaRPr>
          </a:p>
          <a:p>
            <a:pPr marL="69215">
              <a:lnSpc>
                <a:spcPct val="100000"/>
              </a:lnSpc>
              <a:spcBef>
                <a:spcPts val="115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且定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69215">
              <a:lnSpc>
                <a:spcPct val="100000"/>
              </a:lnSpc>
              <a:spcBef>
                <a:spcPts val="1085"/>
              </a:spcBef>
              <a:tabLst>
                <a:tab pos="878205" algn="l"/>
              </a:tabLst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sz="3200" b="1" spc="-17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=	op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127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三个结点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双目运算、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取数组元素且定值，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36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480052" y="5642559"/>
            <a:ext cx="1989455" cy="1009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条件句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69215">
              <a:lnSpc>
                <a:spcPct val="100000"/>
              </a:lnSpc>
              <a:spcBef>
                <a:spcPts val="60"/>
              </a:spcBef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A = B op</a:t>
            </a:r>
            <a:r>
              <a:rPr sz="3200" b="1" spc="-25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0842" y="0"/>
            <a:ext cx="7312025" cy="125222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1205"/>
              </a:spcBef>
              <a:tabLst>
                <a:tab pos="991869" algn="l"/>
                <a:tab pos="2522220" algn="l"/>
                <a:tab pos="3030855" algn="l"/>
                <a:tab pos="4688205" algn="l"/>
                <a:tab pos="544957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D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AG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定义与应用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宋体"/>
              <a:cs typeface="宋体"/>
            </a:endParaRPr>
          </a:p>
          <a:p>
            <a:pPr marL="318770" indent="-306705">
              <a:lnSpc>
                <a:spcPct val="100000"/>
              </a:lnSpc>
              <a:buClr>
                <a:srgbClr val="66FFFF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sz="3200" b="1" spc="-5" dirty="0">
                <a:solidFill>
                  <a:srgbClr val="FFFF66"/>
                </a:solidFill>
                <a:latin typeface="宋体"/>
                <a:cs typeface="宋体"/>
              </a:rPr>
              <a:t>常见四元式</a:t>
            </a: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与</a:t>
            </a:r>
            <a:r>
              <a:rPr sz="3200" b="1" dirty="0">
                <a:solidFill>
                  <a:srgbClr val="FFFF66"/>
                </a:solidFill>
                <a:latin typeface="Times New Roman"/>
                <a:cs typeface="Times New Roman"/>
              </a:rPr>
              <a:t>DAG</a:t>
            </a:r>
            <a:r>
              <a:rPr sz="3200" b="1" spc="-10" dirty="0">
                <a:solidFill>
                  <a:srgbClr val="FFFF66"/>
                </a:solidFill>
                <a:latin typeface="宋体"/>
                <a:cs typeface="宋体"/>
              </a:rPr>
              <a:t>对应</a:t>
            </a: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关</a:t>
            </a:r>
            <a:r>
              <a:rPr sz="3200" b="1" spc="-10" dirty="0">
                <a:solidFill>
                  <a:srgbClr val="FFFF66"/>
                </a:solidFill>
                <a:latin typeface="宋体"/>
                <a:cs typeface="宋体"/>
              </a:rPr>
              <a:t>系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2450" y="1734438"/>
            <a:ext cx="1771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型：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-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1017" y="1682623"/>
            <a:ext cx="25266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11960" algn="l"/>
              </a:tabLst>
            </a:pP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型：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-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=	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op</a:t>
            </a:r>
            <a:r>
              <a:rPr sz="3200" b="1" spc="-9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22009" y="1734438"/>
            <a:ext cx="2583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型：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op</a:t>
            </a:r>
            <a:r>
              <a:rPr sz="2800" b="1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8169" y="2992373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48" y="251751"/>
                </a:lnTo>
                <a:lnTo>
                  <a:pt x="26946" y="209436"/>
                </a:lnTo>
                <a:lnTo>
                  <a:pt x="46815" y="169841"/>
                </a:lnTo>
                <a:lnTo>
                  <a:pt x="71446" y="133373"/>
                </a:lnTo>
                <a:lnTo>
                  <a:pt x="100431" y="100441"/>
                </a:lnTo>
                <a:lnTo>
                  <a:pt x="133362" y="71454"/>
                </a:lnTo>
                <a:lnTo>
                  <a:pt x="169830" y="46820"/>
                </a:lnTo>
                <a:lnTo>
                  <a:pt x="209426" y="26949"/>
                </a:lnTo>
                <a:lnTo>
                  <a:pt x="251742" y="12250"/>
                </a:lnTo>
                <a:lnTo>
                  <a:pt x="296369" y="3130"/>
                </a:lnTo>
                <a:lnTo>
                  <a:pt x="342899" y="0"/>
                </a:lnTo>
                <a:lnTo>
                  <a:pt x="389430" y="3130"/>
                </a:lnTo>
                <a:lnTo>
                  <a:pt x="434057" y="12250"/>
                </a:lnTo>
                <a:lnTo>
                  <a:pt x="476373" y="26949"/>
                </a:lnTo>
                <a:lnTo>
                  <a:pt x="515969" y="46820"/>
                </a:lnTo>
                <a:lnTo>
                  <a:pt x="552437" y="71454"/>
                </a:lnTo>
                <a:lnTo>
                  <a:pt x="585368" y="100441"/>
                </a:lnTo>
                <a:lnTo>
                  <a:pt x="614353" y="133373"/>
                </a:lnTo>
                <a:lnTo>
                  <a:pt x="638984" y="169841"/>
                </a:lnTo>
                <a:lnTo>
                  <a:pt x="658853" y="209436"/>
                </a:lnTo>
                <a:lnTo>
                  <a:pt x="673551" y="251751"/>
                </a:lnTo>
                <a:lnTo>
                  <a:pt x="682669" y="296375"/>
                </a:lnTo>
                <a:lnTo>
                  <a:pt x="685799" y="342900"/>
                </a:lnTo>
                <a:lnTo>
                  <a:pt x="682669" y="389424"/>
                </a:lnTo>
                <a:lnTo>
                  <a:pt x="673551" y="434048"/>
                </a:lnTo>
                <a:lnTo>
                  <a:pt x="658853" y="476363"/>
                </a:lnTo>
                <a:lnTo>
                  <a:pt x="638984" y="515958"/>
                </a:lnTo>
                <a:lnTo>
                  <a:pt x="614353" y="552426"/>
                </a:lnTo>
                <a:lnTo>
                  <a:pt x="585368" y="585358"/>
                </a:lnTo>
                <a:lnTo>
                  <a:pt x="552437" y="614345"/>
                </a:lnTo>
                <a:lnTo>
                  <a:pt x="515969" y="638979"/>
                </a:lnTo>
                <a:lnTo>
                  <a:pt x="476373" y="658850"/>
                </a:lnTo>
                <a:lnTo>
                  <a:pt x="434057" y="673549"/>
                </a:lnTo>
                <a:lnTo>
                  <a:pt x="389430" y="682669"/>
                </a:lnTo>
                <a:lnTo>
                  <a:pt x="342899" y="685800"/>
                </a:lnTo>
                <a:lnTo>
                  <a:pt x="296369" y="682669"/>
                </a:lnTo>
                <a:lnTo>
                  <a:pt x="251742" y="673549"/>
                </a:lnTo>
                <a:lnTo>
                  <a:pt x="209426" y="658850"/>
                </a:lnTo>
                <a:lnTo>
                  <a:pt x="169830" y="638979"/>
                </a:lnTo>
                <a:lnTo>
                  <a:pt x="133362" y="614345"/>
                </a:lnTo>
                <a:lnTo>
                  <a:pt x="100431" y="585358"/>
                </a:lnTo>
                <a:lnTo>
                  <a:pt x="71446" y="552426"/>
                </a:lnTo>
                <a:lnTo>
                  <a:pt x="46815" y="515958"/>
                </a:lnTo>
                <a:lnTo>
                  <a:pt x="26946" y="476363"/>
                </a:lnTo>
                <a:lnTo>
                  <a:pt x="12248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8807" y="3089529"/>
            <a:ext cx="222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6927" y="3246162"/>
            <a:ext cx="288925" cy="85598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85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  <a:p>
            <a:pPr marL="38735">
              <a:lnSpc>
                <a:spcPct val="100000"/>
              </a:lnSpc>
              <a:spcBef>
                <a:spcPts val="56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1694" y="2964306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96817" y="3937253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42614" y="4035933"/>
            <a:ext cx="3937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775" b="1" spc="7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96817" y="2603754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668014" y="2702179"/>
            <a:ext cx="222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66134" y="2906395"/>
            <a:ext cx="1447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13809" y="3289553"/>
            <a:ext cx="0" cy="647700"/>
          </a:xfrm>
          <a:custGeom>
            <a:avLst/>
            <a:gdLst/>
            <a:ahLst/>
            <a:cxnLst/>
            <a:rect l="l" t="t" r="r" b="b"/>
            <a:pathLst>
              <a:path h="647700">
                <a:moveTo>
                  <a:pt x="0" y="64770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229227" y="2614929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91127" y="3986910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54322" y="3161156"/>
            <a:ext cx="4025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op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185153" y="3815334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57620" y="3913759"/>
            <a:ext cx="222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55740" y="4117975"/>
            <a:ext cx="1447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916673" y="2481833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649082" y="2492197"/>
            <a:ext cx="282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80505" y="4410836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62851" y="2445410"/>
            <a:ext cx="525145" cy="1146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 marR="30480" indent="-72390">
              <a:lnSpc>
                <a:spcPct val="131400"/>
              </a:lnSpc>
              <a:spcBef>
                <a:spcPts val="100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775" b="1" spc="7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3 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op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799069" y="375132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945501" y="3850385"/>
            <a:ext cx="3937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775" b="1" spc="7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662166" y="3167633"/>
            <a:ext cx="533400" cy="685800"/>
          </a:xfrm>
          <a:custGeom>
            <a:avLst/>
            <a:gdLst/>
            <a:ahLst/>
            <a:cxnLst/>
            <a:rect l="l" t="t" r="r" b="b"/>
            <a:pathLst>
              <a:path w="533400" h="685800">
                <a:moveTo>
                  <a:pt x="533400" y="0"/>
                </a:moveTo>
                <a:lnTo>
                  <a:pt x="0" y="6857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398257" y="3167633"/>
            <a:ext cx="585470" cy="647700"/>
          </a:xfrm>
          <a:custGeom>
            <a:avLst/>
            <a:gdLst/>
            <a:ahLst/>
            <a:cxnLst/>
            <a:rect l="l" t="t" r="r" b="b"/>
            <a:pathLst>
              <a:path w="585470" h="647700">
                <a:moveTo>
                  <a:pt x="0" y="0"/>
                </a:moveTo>
                <a:lnTo>
                  <a:pt x="585216" y="6476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303514" y="4370654"/>
            <a:ext cx="282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37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16448" y="26923"/>
            <a:ext cx="2636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D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AG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定义与应用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55841" y="1922526"/>
            <a:ext cx="594360" cy="603885"/>
          </a:xfrm>
          <a:custGeom>
            <a:avLst/>
            <a:gdLst/>
            <a:ahLst/>
            <a:cxnLst/>
            <a:rect l="l" t="t" r="r" b="b"/>
            <a:pathLst>
              <a:path w="594359" h="603885">
                <a:moveTo>
                  <a:pt x="0" y="301751"/>
                </a:moveTo>
                <a:lnTo>
                  <a:pt x="3890" y="252813"/>
                </a:lnTo>
                <a:lnTo>
                  <a:pt x="15154" y="206386"/>
                </a:lnTo>
                <a:lnTo>
                  <a:pt x="33179" y="163092"/>
                </a:lnTo>
                <a:lnTo>
                  <a:pt x="57351" y="123553"/>
                </a:lnTo>
                <a:lnTo>
                  <a:pt x="87058" y="88392"/>
                </a:lnTo>
                <a:lnTo>
                  <a:pt x="121688" y="58228"/>
                </a:lnTo>
                <a:lnTo>
                  <a:pt x="160628" y="33686"/>
                </a:lnTo>
                <a:lnTo>
                  <a:pt x="203265" y="15386"/>
                </a:lnTo>
                <a:lnTo>
                  <a:pt x="248986" y="3950"/>
                </a:lnTo>
                <a:lnTo>
                  <a:pt x="297180" y="0"/>
                </a:lnTo>
                <a:lnTo>
                  <a:pt x="345373" y="3950"/>
                </a:lnTo>
                <a:lnTo>
                  <a:pt x="391094" y="15386"/>
                </a:lnTo>
                <a:lnTo>
                  <a:pt x="433731" y="33686"/>
                </a:lnTo>
                <a:lnTo>
                  <a:pt x="472671" y="58228"/>
                </a:lnTo>
                <a:lnTo>
                  <a:pt x="507301" y="88392"/>
                </a:lnTo>
                <a:lnTo>
                  <a:pt x="537008" y="123553"/>
                </a:lnTo>
                <a:lnTo>
                  <a:pt x="561180" y="163092"/>
                </a:lnTo>
                <a:lnTo>
                  <a:pt x="579205" y="206386"/>
                </a:lnTo>
                <a:lnTo>
                  <a:pt x="590469" y="252813"/>
                </a:lnTo>
                <a:lnTo>
                  <a:pt x="594360" y="301751"/>
                </a:lnTo>
                <a:lnTo>
                  <a:pt x="590469" y="350690"/>
                </a:lnTo>
                <a:lnTo>
                  <a:pt x="579205" y="397117"/>
                </a:lnTo>
                <a:lnTo>
                  <a:pt x="561180" y="440411"/>
                </a:lnTo>
                <a:lnTo>
                  <a:pt x="537008" y="479950"/>
                </a:lnTo>
                <a:lnTo>
                  <a:pt x="507301" y="515111"/>
                </a:lnTo>
                <a:lnTo>
                  <a:pt x="472671" y="545275"/>
                </a:lnTo>
                <a:lnTo>
                  <a:pt x="433731" y="569817"/>
                </a:lnTo>
                <a:lnTo>
                  <a:pt x="391094" y="588117"/>
                </a:lnTo>
                <a:lnTo>
                  <a:pt x="345373" y="599553"/>
                </a:lnTo>
                <a:lnTo>
                  <a:pt x="297180" y="603503"/>
                </a:lnTo>
                <a:lnTo>
                  <a:pt x="248986" y="599553"/>
                </a:lnTo>
                <a:lnTo>
                  <a:pt x="203265" y="588117"/>
                </a:lnTo>
                <a:lnTo>
                  <a:pt x="160628" y="569817"/>
                </a:lnTo>
                <a:lnTo>
                  <a:pt x="121688" y="545275"/>
                </a:lnTo>
                <a:lnTo>
                  <a:pt x="87058" y="515111"/>
                </a:lnTo>
                <a:lnTo>
                  <a:pt x="57351" y="479950"/>
                </a:lnTo>
                <a:lnTo>
                  <a:pt x="33179" y="440411"/>
                </a:lnTo>
                <a:lnTo>
                  <a:pt x="15154" y="397117"/>
                </a:lnTo>
                <a:lnTo>
                  <a:pt x="3890" y="350690"/>
                </a:lnTo>
                <a:lnTo>
                  <a:pt x="0" y="30175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54851" y="1986533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58305" y="2532126"/>
            <a:ext cx="257810" cy="414655"/>
          </a:xfrm>
          <a:custGeom>
            <a:avLst/>
            <a:gdLst/>
            <a:ahLst/>
            <a:cxnLst/>
            <a:rect l="l" t="t" r="r" b="b"/>
            <a:pathLst>
              <a:path w="257809" h="414655">
                <a:moveTo>
                  <a:pt x="257555" y="0"/>
                </a:moveTo>
                <a:lnTo>
                  <a:pt x="0" y="41452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88657" y="2481833"/>
            <a:ext cx="329565" cy="472440"/>
          </a:xfrm>
          <a:custGeom>
            <a:avLst/>
            <a:gdLst/>
            <a:ahLst/>
            <a:cxnLst/>
            <a:rect l="l" t="t" r="r" b="b"/>
            <a:pathLst>
              <a:path w="329565" h="472439">
                <a:moveTo>
                  <a:pt x="0" y="0"/>
                </a:moveTo>
                <a:lnTo>
                  <a:pt x="329184" y="472439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79868" y="2928619"/>
            <a:ext cx="3937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75" b="1" spc="7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01433" y="973074"/>
            <a:ext cx="596265" cy="601980"/>
          </a:xfrm>
          <a:custGeom>
            <a:avLst/>
            <a:gdLst/>
            <a:ahLst/>
            <a:cxnLst/>
            <a:rect l="l" t="t" r="r" b="b"/>
            <a:pathLst>
              <a:path w="596265" h="601980">
                <a:moveTo>
                  <a:pt x="0" y="300989"/>
                </a:moveTo>
                <a:lnTo>
                  <a:pt x="3898" y="252165"/>
                </a:lnTo>
                <a:lnTo>
                  <a:pt x="15185" y="205849"/>
                </a:lnTo>
                <a:lnTo>
                  <a:pt x="33247" y="162662"/>
                </a:lnTo>
                <a:lnTo>
                  <a:pt x="57473" y="123224"/>
                </a:lnTo>
                <a:lnTo>
                  <a:pt x="87249" y="88153"/>
                </a:lnTo>
                <a:lnTo>
                  <a:pt x="121962" y="58070"/>
                </a:lnTo>
                <a:lnTo>
                  <a:pt x="161001" y="33593"/>
                </a:lnTo>
                <a:lnTo>
                  <a:pt x="203752" y="15343"/>
                </a:lnTo>
                <a:lnTo>
                  <a:pt x="249603" y="3939"/>
                </a:lnTo>
                <a:lnTo>
                  <a:pt x="297942" y="0"/>
                </a:lnTo>
                <a:lnTo>
                  <a:pt x="346280" y="3939"/>
                </a:lnTo>
                <a:lnTo>
                  <a:pt x="392131" y="15343"/>
                </a:lnTo>
                <a:lnTo>
                  <a:pt x="434882" y="33593"/>
                </a:lnTo>
                <a:lnTo>
                  <a:pt x="473921" y="58070"/>
                </a:lnTo>
                <a:lnTo>
                  <a:pt x="508635" y="88153"/>
                </a:lnTo>
                <a:lnTo>
                  <a:pt x="538410" y="123224"/>
                </a:lnTo>
                <a:lnTo>
                  <a:pt x="562636" y="162662"/>
                </a:lnTo>
                <a:lnTo>
                  <a:pt x="580698" y="205849"/>
                </a:lnTo>
                <a:lnTo>
                  <a:pt x="591985" y="252165"/>
                </a:lnTo>
                <a:lnTo>
                  <a:pt x="595884" y="300989"/>
                </a:lnTo>
                <a:lnTo>
                  <a:pt x="591985" y="349814"/>
                </a:lnTo>
                <a:lnTo>
                  <a:pt x="580698" y="396130"/>
                </a:lnTo>
                <a:lnTo>
                  <a:pt x="562636" y="439317"/>
                </a:lnTo>
                <a:lnTo>
                  <a:pt x="538410" y="478755"/>
                </a:lnTo>
                <a:lnTo>
                  <a:pt x="508635" y="513826"/>
                </a:lnTo>
                <a:lnTo>
                  <a:pt x="473921" y="543909"/>
                </a:lnTo>
                <a:lnTo>
                  <a:pt x="434882" y="568386"/>
                </a:lnTo>
                <a:lnTo>
                  <a:pt x="392131" y="586636"/>
                </a:lnTo>
                <a:lnTo>
                  <a:pt x="346280" y="598040"/>
                </a:lnTo>
                <a:lnTo>
                  <a:pt x="297942" y="601979"/>
                </a:lnTo>
                <a:lnTo>
                  <a:pt x="249603" y="598040"/>
                </a:lnTo>
                <a:lnTo>
                  <a:pt x="203752" y="586636"/>
                </a:lnTo>
                <a:lnTo>
                  <a:pt x="161001" y="568386"/>
                </a:lnTo>
                <a:lnTo>
                  <a:pt x="121962" y="543909"/>
                </a:lnTo>
                <a:lnTo>
                  <a:pt x="87249" y="513826"/>
                </a:lnTo>
                <a:lnTo>
                  <a:pt x="57473" y="478755"/>
                </a:lnTo>
                <a:lnTo>
                  <a:pt x="33247" y="439317"/>
                </a:lnTo>
                <a:lnTo>
                  <a:pt x="15185" y="396130"/>
                </a:lnTo>
                <a:lnTo>
                  <a:pt x="3898" y="349814"/>
                </a:lnTo>
                <a:lnTo>
                  <a:pt x="0" y="300989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012685" y="1059256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黑体"/>
                <a:cs typeface="黑体"/>
              </a:rPr>
              <a:t>+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28281" y="1524761"/>
            <a:ext cx="257810" cy="414655"/>
          </a:xfrm>
          <a:custGeom>
            <a:avLst/>
            <a:gdLst/>
            <a:ahLst/>
            <a:cxnLst/>
            <a:rect l="l" t="t" r="r" b="b"/>
            <a:pathLst>
              <a:path w="257809" h="414655">
                <a:moveTo>
                  <a:pt x="257556" y="0"/>
                </a:moveTo>
                <a:lnTo>
                  <a:pt x="0" y="41452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69885" y="1468374"/>
            <a:ext cx="899160" cy="1152525"/>
          </a:xfrm>
          <a:custGeom>
            <a:avLst/>
            <a:gdLst/>
            <a:ahLst/>
            <a:cxnLst/>
            <a:rect l="l" t="t" r="r" b="b"/>
            <a:pathLst>
              <a:path w="899159" h="1152525">
                <a:moveTo>
                  <a:pt x="0" y="0"/>
                </a:moveTo>
                <a:lnTo>
                  <a:pt x="899160" y="115214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22081" y="2602229"/>
            <a:ext cx="337820" cy="695325"/>
          </a:xfrm>
          <a:custGeom>
            <a:avLst/>
            <a:gdLst/>
            <a:ahLst/>
            <a:cxnLst/>
            <a:rect l="l" t="t" r="r" b="b"/>
            <a:pathLst>
              <a:path w="337820" h="695325">
                <a:moveTo>
                  <a:pt x="0" y="694944"/>
                </a:moveTo>
                <a:lnTo>
                  <a:pt x="37301" y="674516"/>
                </a:lnTo>
                <a:lnTo>
                  <a:pt x="72892" y="650691"/>
                </a:lnTo>
                <a:lnTo>
                  <a:pt x="106678" y="623649"/>
                </a:lnTo>
                <a:lnTo>
                  <a:pt x="138562" y="593572"/>
                </a:lnTo>
                <a:lnTo>
                  <a:pt x="168449" y="560639"/>
                </a:lnTo>
                <a:lnTo>
                  <a:pt x="196241" y="525032"/>
                </a:lnTo>
                <a:lnTo>
                  <a:pt x="221842" y="486930"/>
                </a:lnTo>
                <a:lnTo>
                  <a:pt x="245157" y="446516"/>
                </a:lnTo>
                <a:lnTo>
                  <a:pt x="266089" y="403968"/>
                </a:lnTo>
                <a:lnTo>
                  <a:pt x="284543" y="359469"/>
                </a:lnTo>
                <a:lnTo>
                  <a:pt x="300421" y="313198"/>
                </a:lnTo>
                <a:lnTo>
                  <a:pt x="313628" y="265336"/>
                </a:lnTo>
                <a:lnTo>
                  <a:pt x="324068" y="216064"/>
                </a:lnTo>
                <a:lnTo>
                  <a:pt x="331643" y="165563"/>
                </a:lnTo>
                <a:lnTo>
                  <a:pt x="336259" y="114013"/>
                </a:lnTo>
                <a:lnTo>
                  <a:pt x="337820" y="61595"/>
                </a:lnTo>
                <a:lnTo>
                  <a:pt x="337679" y="46166"/>
                </a:lnTo>
                <a:lnTo>
                  <a:pt x="337264" y="30749"/>
                </a:lnTo>
                <a:lnTo>
                  <a:pt x="336587" y="15357"/>
                </a:lnTo>
                <a:lnTo>
                  <a:pt x="335661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40702" y="3225545"/>
            <a:ext cx="988060" cy="742315"/>
          </a:xfrm>
          <a:custGeom>
            <a:avLst/>
            <a:gdLst/>
            <a:ahLst/>
            <a:cxnLst/>
            <a:rect l="l" t="t" r="r" b="b"/>
            <a:pathLst>
              <a:path w="988059" h="742314">
                <a:moveTo>
                  <a:pt x="987551" y="0"/>
                </a:moveTo>
                <a:lnTo>
                  <a:pt x="0" y="7421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599044" y="947166"/>
            <a:ext cx="222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35293" y="2975813"/>
            <a:ext cx="1835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62242" y="3919473"/>
            <a:ext cx="3937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spc="7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49873" y="2939033"/>
            <a:ext cx="594360" cy="603885"/>
          </a:xfrm>
          <a:custGeom>
            <a:avLst/>
            <a:gdLst/>
            <a:ahLst/>
            <a:cxnLst/>
            <a:rect l="l" t="t" r="r" b="b"/>
            <a:pathLst>
              <a:path w="594360" h="603885">
                <a:moveTo>
                  <a:pt x="0" y="301751"/>
                </a:moveTo>
                <a:lnTo>
                  <a:pt x="3890" y="252813"/>
                </a:lnTo>
                <a:lnTo>
                  <a:pt x="15154" y="206386"/>
                </a:lnTo>
                <a:lnTo>
                  <a:pt x="33179" y="163092"/>
                </a:lnTo>
                <a:lnTo>
                  <a:pt x="57351" y="123553"/>
                </a:lnTo>
                <a:lnTo>
                  <a:pt x="87058" y="88392"/>
                </a:lnTo>
                <a:lnTo>
                  <a:pt x="121688" y="58228"/>
                </a:lnTo>
                <a:lnTo>
                  <a:pt x="160628" y="33686"/>
                </a:lnTo>
                <a:lnTo>
                  <a:pt x="203265" y="15386"/>
                </a:lnTo>
                <a:lnTo>
                  <a:pt x="248986" y="3950"/>
                </a:lnTo>
                <a:lnTo>
                  <a:pt x="297179" y="0"/>
                </a:lnTo>
                <a:lnTo>
                  <a:pt x="345373" y="3950"/>
                </a:lnTo>
                <a:lnTo>
                  <a:pt x="391094" y="15386"/>
                </a:lnTo>
                <a:lnTo>
                  <a:pt x="433731" y="33686"/>
                </a:lnTo>
                <a:lnTo>
                  <a:pt x="472671" y="58228"/>
                </a:lnTo>
                <a:lnTo>
                  <a:pt x="507301" y="88392"/>
                </a:lnTo>
                <a:lnTo>
                  <a:pt x="537008" y="123553"/>
                </a:lnTo>
                <a:lnTo>
                  <a:pt x="561180" y="163092"/>
                </a:lnTo>
                <a:lnTo>
                  <a:pt x="579205" y="206386"/>
                </a:lnTo>
                <a:lnTo>
                  <a:pt x="590469" y="252813"/>
                </a:lnTo>
                <a:lnTo>
                  <a:pt x="594360" y="301751"/>
                </a:lnTo>
                <a:lnTo>
                  <a:pt x="590469" y="350690"/>
                </a:lnTo>
                <a:lnTo>
                  <a:pt x="579205" y="397117"/>
                </a:lnTo>
                <a:lnTo>
                  <a:pt x="561180" y="440411"/>
                </a:lnTo>
                <a:lnTo>
                  <a:pt x="537008" y="479950"/>
                </a:lnTo>
                <a:lnTo>
                  <a:pt x="507301" y="515111"/>
                </a:lnTo>
                <a:lnTo>
                  <a:pt x="472671" y="545275"/>
                </a:lnTo>
                <a:lnTo>
                  <a:pt x="433731" y="569817"/>
                </a:lnTo>
                <a:lnTo>
                  <a:pt x="391094" y="588117"/>
                </a:lnTo>
                <a:lnTo>
                  <a:pt x="345373" y="599553"/>
                </a:lnTo>
                <a:lnTo>
                  <a:pt x="297179" y="603503"/>
                </a:lnTo>
                <a:lnTo>
                  <a:pt x="248986" y="599553"/>
                </a:lnTo>
                <a:lnTo>
                  <a:pt x="203265" y="588117"/>
                </a:lnTo>
                <a:lnTo>
                  <a:pt x="160628" y="569817"/>
                </a:lnTo>
                <a:lnTo>
                  <a:pt x="121688" y="545275"/>
                </a:lnTo>
                <a:lnTo>
                  <a:pt x="87058" y="515111"/>
                </a:lnTo>
                <a:lnTo>
                  <a:pt x="57351" y="479950"/>
                </a:lnTo>
                <a:lnTo>
                  <a:pt x="33179" y="440411"/>
                </a:lnTo>
                <a:lnTo>
                  <a:pt x="15154" y="397117"/>
                </a:lnTo>
                <a:lnTo>
                  <a:pt x="3890" y="350690"/>
                </a:lnTo>
                <a:lnTo>
                  <a:pt x="0" y="30175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959855" y="3002661"/>
            <a:ext cx="227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685282" y="3492246"/>
            <a:ext cx="257810" cy="414655"/>
          </a:xfrm>
          <a:custGeom>
            <a:avLst/>
            <a:gdLst/>
            <a:ahLst/>
            <a:cxnLst/>
            <a:rect l="l" t="t" r="r" b="b"/>
            <a:pathLst>
              <a:path w="257810" h="414654">
                <a:moveTo>
                  <a:pt x="257555" y="0"/>
                </a:moveTo>
                <a:lnTo>
                  <a:pt x="0" y="41452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89370" y="3400805"/>
            <a:ext cx="329565" cy="472440"/>
          </a:xfrm>
          <a:custGeom>
            <a:avLst/>
            <a:gdLst/>
            <a:ahLst/>
            <a:cxnLst/>
            <a:rect l="l" t="t" r="r" b="b"/>
            <a:pathLst>
              <a:path w="329565" h="472439">
                <a:moveTo>
                  <a:pt x="0" y="0"/>
                </a:moveTo>
                <a:lnTo>
                  <a:pt x="329183" y="47244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469890" y="3905250"/>
            <a:ext cx="3733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775" b="1" spc="7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8695" y="630427"/>
            <a:ext cx="94424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sz="32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.3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6731" y="26923"/>
            <a:ext cx="3923029" cy="2287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186305" algn="l"/>
                <a:tab pos="269494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局部优化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宋体"/>
              <a:cs typeface="宋体"/>
            </a:endParaRPr>
          </a:p>
          <a:p>
            <a:pPr marL="1050290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设有基本块如下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4150">
              <a:latin typeface="宋体"/>
              <a:cs typeface="宋体"/>
            </a:endParaRPr>
          </a:p>
          <a:p>
            <a:pPr marL="1156970">
              <a:lnSpc>
                <a:spcPct val="100000"/>
              </a:lnSpc>
              <a:tabLst>
                <a:tab pos="1593215" algn="l"/>
                <a:tab pos="2100580" algn="l"/>
                <a:tab pos="2631440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+	a	b	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41170" y="2287182"/>
            <a:ext cx="2120900" cy="119697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69"/>
              </a:spcBef>
              <a:tabLst>
                <a:tab pos="662305" algn="l"/>
                <a:tab pos="1146810" algn="l"/>
                <a:tab pos="1677670" algn="l"/>
                <a:tab pos="2107565" algn="l"/>
              </a:tabLst>
            </a:pPr>
            <a:r>
              <a:rPr sz="2800" u="heavy" spc="-5" dirty="0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10" dirty="0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–	</a:t>
            </a:r>
            <a:r>
              <a:rPr sz="3200" b="1" u="heavy" dirty="0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	d	a	</a:t>
            </a:r>
            <a:endParaRPr sz="3200">
              <a:latin typeface="Times New Roman"/>
              <a:cs typeface="Times New Roman"/>
            </a:endParaRPr>
          </a:p>
          <a:p>
            <a:pPr marL="179070">
              <a:lnSpc>
                <a:spcPct val="100000"/>
              </a:lnSpc>
              <a:spcBef>
                <a:spcPts val="770"/>
              </a:spcBef>
              <a:tabLst>
                <a:tab pos="613410" algn="l"/>
                <a:tab pos="1122680" algn="l"/>
                <a:tab pos="1652905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+	a	b	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03654" y="3555619"/>
            <a:ext cx="21221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599440" algn="l"/>
                <a:tab pos="1084580" algn="l"/>
                <a:tab pos="1614805" algn="l"/>
                <a:tab pos="2108835" algn="l"/>
              </a:tabLst>
            </a:pPr>
            <a:r>
              <a:rPr sz="2800" u="heavy" spc="215" dirty="0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–	</a:t>
            </a:r>
            <a:r>
              <a:rPr sz="3200" b="1" u="heavy" dirty="0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	d	d	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392174" y="1620774"/>
            <a:ext cx="2875915" cy="2689860"/>
          </a:xfrm>
          <a:custGeom>
            <a:avLst/>
            <a:gdLst/>
            <a:ahLst/>
            <a:cxnLst/>
            <a:rect l="l" t="t" r="r" b="b"/>
            <a:pathLst>
              <a:path w="2875915" h="2689860">
                <a:moveTo>
                  <a:pt x="0" y="2689860"/>
                </a:moveTo>
                <a:lnTo>
                  <a:pt x="2875788" y="2689860"/>
                </a:lnTo>
                <a:lnTo>
                  <a:pt x="2875788" y="0"/>
                </a:lnTo>
                <a:lnTo>
                  <a:pt x="0" y="0"/>
                </a:lnTo>
                <a:lnTo>
                  <a:pt x="0" y="268986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67961" y="2932176"/>
            <a:ext cx="1130935" cy="114300"/>
          </a:xfrm>
          <a:custGeom>
            <a:avLst/>
            <a:gdLst/>
            <a:ahLst/>
            <a:cxnLst/>
            <a:rect l="l" t="t" r="r" b="b"/>
            <a:pathLst>
              <a:path w="1130935" h="114300">
                <a:moveTo>
                  <a:pt x="1016508" y="0"/>
                </a:moveTo>
                <a:lnTo>
                  <a:pt x="1016508" y="114300"/>
                </a:lnTo>
                <a:lnTo>
                  <a:pt x="1092708" y="76200"/>
                </a:lnTo>
                <a:lnTo>
                  <a:pt x="1035558" y="76200"/>
                </a:lnTo>
                <a:lnTo>
                  <a:pt x="1035558" y="38100"/>
                </a:lnTo>
                <a:lnTo>
                  <a:pt x="1092708" y="38100"/>
                </a:lnTo>
                <a:lnTo>
                  <a:pt x="1016508" y="0"/>
                </a:lnTo>
                <a:close/>
              </a:path>
              <a:path w="1130935" h="114300">
                <a:moveTo>
                  <a:pt x="101650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16508" y="76200"/>
                </a:lnTo>
                <a:lnTo>
                  <a:pt x="1016508" y="38100"/>
                </a:lnTo>
                <a:close/>
              </a:path>
              <a:path w="1130935" h="114300">
                <a:moveTo>
                  <a:pt x="1092708" y="38100"/>
                </a:moveTo>
                <a:lnTo>
                  <a:pt x="1035558" y="38100"/>
                </a:lnTo>
                <a:lnTo>
                  <a:pt x="1035558" y="76200"/>
                </a:lnTo>
                <a:lnTo>
                  <a:pt x="1092708" y="76200"/>
                </a:lnTo>
                <a:lnTo>
                  <a:pt x="1130808" y="57150"/>
                </a:lnTo>
                <a:lnTo>
                  <a:pt x="1092708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346575" y="2426588"/>
            <a:ext cx="9309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DAG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20395" y="4300728"/>
            <a:ext cx="1117854" cy="11193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21640" y="4222420"/>
            <a:ext cx="8308975" cy="2465705"/>
          </a:xfrm>
          <a:prstGeom prst="rect">
            <a:avLst/>
          </a:prstGeom>
        </p:spPr>
        <p:txBody>
          <a:bodyPr vert="horz" wrap="square" lIns="0" tIns="2273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4000" spc="-5" dirty="0">
                <a:solidFill>
                  <a:srgbClr val="FFFF00"/>
                </a:solidFill>
                <a:latin typeface="Wingdings"/>
                <a:cs typeface="Wingdings"/>
              </a:rPr>
              <a:t></a:t>
            </a:r>
            <a:r>
              <a:rPr sz="4000" spc="40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FF66"/>
                </a:solidFill>
                <a:latin typeface="宋体"/>
                <a:cs typeface="宋体"/>
              </a:rPr>
              <a:t>注意：</a:t>
            </a:r>
            <a:endParaRPr sz="3200" dirty="0">
              <a:latin typeface="宋体"/>
              <a:cs typeface="宋体"/>
            </a:endParaRPr>
          </a:p>
          <a:p>
            <a:pPr marL="12700" marR="5080" indent="711835" algn="just">
              <a:lnSpc>
                <a:spcPct val="121800"/>
              </a:lnSpc>
              <a:spcBef>
                <a:spcPts val="44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流图的一个结点是一个基本块，</a:t>
            </a:r>
            <a:r>
              <a:rPr sz="2800" b="1" spc="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基</a:t>
            </a:r>
            <a:r>
              <a:rPr sz="28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本块</a:t>
            </a:r>
            <a:r>
              <a:rPr sz="2800" b="1" spc="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可</a:t>
            </a:r>
            <a:r>
              <a:rPr sz="2800" b="1" spc="2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用</a:t>
            </a:r>
            <a:r>
              <a:rPr sz="2800" b="1" spc="-5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DAG </a:t>
            </a:r>
            <a:r>
              <a:rPr sz="28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表示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28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流图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确认的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基本块之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间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的关</a:t>
            </a:r>
            <a:r>
              <a:rPr sz="2800" b="1" spc="30" dirty="0">
                <a:solidFill>
                  <a:srgbClr val="FFFF00"/>
                </a:solidFill>
                <a:latin typeface="宋体"/>
                <a:cs typeface="宋体"/>
              </a:rPr>
              <a:t>系</a:t>
            </a:r>
            <a:r>
              <a:rPr sz="2800" b="1" spc="10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DAG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确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认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是基本块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内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各四元式间的关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系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727454" y="2378201"/>
            <a:ext cx="2109470" cy="0"/>
          </a:xfrm>
          <a:custGeom>
            <a:avLst/>
            <a:gdLst/>
            <a:ahLst/>
            <a:cxnLst/>
            <a:rect l="l" t="t" r="r" b="b"/>
            <a:pathLst>
              <a:path w="2109470">
                <a:moveTo>
                  <a:pt x="0" y="0"/>
                </a:moveTo>
                <a:lnTo>
                  <a:pt x="2109216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03654" y="3542538"/>
            <a:ext cx="2109470" cy="0"/>
          </a:xfrm>
          <a:custGeom>
            <a:avLst/>
            <a:gdLst/>
            <a:ahLst/>
            <a:cxnLst/>
            <a:rect l="l" t="t" r="r" b="b"/>
            <a:pathLst>
              <a:path w="2109470">
                <a:moveTo>
                  <a:pt x="0" y="0"/>
                </a:moveTo>
                <a:lnTo>
                  <a:pt x="2109216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047992" y="2023617"/>
            <a:ext cx="5080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200" b="1" spc="217" baseline="1984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,d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38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0842" y="26923"/>
            <a:ext cx="7312025" cy="1259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100"/>
              </a:spcBef>
              <a:tabLst>
                <a:tab pos="991869" algn="l"/>
                <a:tab pos="2522220" algn="l"/>
                <a:tab pos="3030855" algn="l"/>
                <a:tab pos="4688205" algn="l"/>
                <a:tab pos="544957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D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AG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定义与应用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50">
              <a:latin typeface="宋体"/>
              <a:cs typeface="宋体"/>
            </a:endParaRPr>
          </a:p>
          <a:p>
            <a:pPr marL="318770" indent="-306705">
              <a:lnSpc>
                <a:spcPct val="100000"/>
              </a:lnSpc>
              <a:buClr>
                <a:srgbClr val="66FFFF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常见四元式简化为下述</a:t>
            </a:r>
            <a:r>
              <a:rPr sz="3200" b="1" spc="-15" dirty="0">
                <a:solidFill>
                  <a:srgbClr val="FFFF66"/>
                </a:solidFill>
                <a:latin typeface="宋体"/>
                <a:cs typeface="宋体"/>
              </a:rPr>
              <a:t>三</a:t>
            </a: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种情况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39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3301" y="2030095"/>
            <a:ext cx="2685415" cy="2074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7080" indent="-755015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AutoNum type="arabicParenBoth"/>
              <a:tabLst>
                <a:tab pos="767080" algn="l"/>
                <a:tab pos="767715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 = B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op</a:t>
            </a:r>
            <a:r>
              <a:rPr sz="3200" b="1" spc="-27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  <a:p>
            <a:pPr marL="767080" indent="-755015">
              <a:lnSpc>
                <a:spcPct val="100000"/>
              </a:lnSpc>
              <a:spcBef>
                <a:spcPts val="2300"/>
              </a:spcBef>
              <a:buClr>
                <a:srgbClr val="66FFFF"/>
              </a:buClr>
              <a:buAutoNum type="arabicParenBoth"/>
              <a:tabLst>
                <a:tab pos="767080" algn="l"/>
                <a:tab pos="767715" algn="l"/>
                <a:tab pos="1574800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-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=	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op</a:t>
            </a:r>
            <a:r>
              <a:rPr sz="3200" b="1" spc="-3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767080" indent="-755015">
              <a:lnSpc>
                <a:spcPct val="100000"/>
              </a:lnSpc>
              <a:spcBef>
                <a:spcPts val="2305"/>
              </a:spcBef>
              <a:buClr>
                <a:srgbClr val="66FFFF"/>
              </a:buClr>
              <a:buAutoNum type="arabicParenBoth"/>
              <a:tabLst>
                <a:tab pos="767080" algn="l"/>
                <a:tab pos="767715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 =</a:t>
            </a:r>
            <a:r>
              <a:rPr sz="3200" b="1" spc="-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8197" y="2030095"/>
            <a:ext cx="659765" cy="2074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32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型</a:t>
            </a:r>
            <a:endParaRPr sz="3200">
              <a:latin typeface="宋体"/>
              <a:cs typeface="宋体"/>
            </a:endParaRPr>
          </a:p>
          <a:p>
            <a:pPr marL="34925">
              <a:lnSpc>
                <a:spcPct val="100000"/>
              </a:lnSpc>
              <a:spcBef>
                <a:spcPts val="2300"/>
              </a:spcBef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型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32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型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053" y="761"/>
            <a:ext cx="9092945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1053" y="416051"/>
            <a:ext cx="9093200" cy="38100"/>
          </a:xfrm>
          <a:custGeom>
            <a:avLst/>
            <a:gdLst/>
            <a:ahLst/>
            <a:cxnLst/>
            <a:rect l="l" t="t" r="r" b="b"/>
            <a:pathLst>
              <a:path w="9093200" h="38100">
                <a:moveTo>
                  <a:pt x="0" y="38100"/>
                </a:moveTo>
                <a:lnTo>
                  <a:pt x="9092945" y="38100"/>
                </a:lnTo>
                <a:lnTo>
                  <a:pt x="9092945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053" y="761"/>
            <a:ext cx="9093200" cy="434340"/>
          </a:xfrm>
          <a:custGeom>
            <a:avLst/>
            <a:gdLst/>
            <a:ahLst/>
            <a:cxnLst/>
            <a:rect l="l" t="t" r="r" b="b"/>
            <a:pathLst>
              <a:path w="9093200" h="434340">
                <a:moveTo>
                  <a:pt x="9092945" y="0"/>
                </a:moveTo>
                <a:lnTo>
                  <a:pt x="0" y="0"/>
                </a:lnTo>
                <a:lnTo>
                  <a:pt x="0" y="434340"/>
                </a:lnTo>
              </a:path>
            </a:pathLst>
          </a:custGeom>
          <a:ln w="38099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27633" y="26923"/>
            <a:ext cx="37325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2185670" algn="l"/>
                <a:tab pos="269494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79059" y="321563"/>
            <a:ext cx="2609215" cy="0"/>
          </a:xfrm>
          <a:custGeom>
            <a:avLst/>
            <a:gdLst/>
            <a:ahLst/>
            <a:cxnLst/>
            <a:rect l="l" t="t" r="r" b="b"/>
            <a:pathLst>
              <a:path w="2609215">
                <a:moveTo>
                  <a:pt x="0" y="0"/>
                </a:moveTo>
                <a:lnTo>
                  <a:pt x="2609088" y="0"/>
                </a:lnTo>
              </a:path>
            </a:pathLst>
          </a:custGeom>
          <a:ln w="12191">
            <a:solidFill>
              <a:srgbClr val="A15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642" y="566673"/>
            <a:ext cx="1543050" cy="495934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72110" indent="-360045">
              <a:lnSpc>
                <a:spcPct val="100000"/>
              </a:lnSpc>
              <a:spcBef>
                <a:spcPts val="380"/>
              </a:spcBef>
              <a:buClr>
                <a:srgbClr val="66FFFF"/>
              </a:buClr>
              <a:buSzPct val="108928"/>
              <a:buFont typeface="Wingdings"/>
              <a:buChar char=""/>
              <a:tabLst>
                <a:tab pos="372110" algn="l"/>
                <a:tab pos="372745" algn="l"/>
              </a:tabLst>
            </a:pPr>
            <a:r>
              <a:rPr sz="2800" u="none" spc="-5" dirty="0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sz="2800" u="none" dirty="0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sz="2800" u="none" spc="-10"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sz="2800" u="none" spc="-5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40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42566" y="603249"/>
            <a:ext cx="43808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基本块的</a:t>
            </a: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DAG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的构造算法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2490" y="945087"/>
            <a:ext cx="8004175" cy="477139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1100"/>
              </a:spcBef>
            </a:pP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//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初始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化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，置</a:t>
            </a:r>
            <a:r>
              <a:rPr sz="28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DAG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为空。仅考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虑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r>
              <a:rPr sz="2800" b="1" spc="5" dirty="0">
                <a:solidFill>
                  <a:srgbClr val="66FFFF"/>
                </a:solidFill>
                <a:latin typeface="宋体"/>
                <a:cs typeface="宋体"/>
              </a:rPr>
              <a:t>型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、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型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和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sz="2800" b="1" spc="5" dirty="0">
                <a:solidFill>
                  <a:srgbClr val="66FFFF"/>
                </a:solidFill>
                <a:latin typeface="宋体"/>
                <a:cs typeface="宋体"/>
              </a:rPr>
              <a:t>型</a:t>
            </a:r>
            <a:r>
              <a:rPr sz="2800" b="1" spc="-15" dirty="0">
                <a:solidFill>
                  <a:srgbClr val="66FFFF"/>
                </a:solidFill>
                <a:latin typeface="方正舒体"/>
                <a:cs typeface="方正舒体"/>
              </a:rPr>
              <a:t>①</a:t>
            </a:r>
            <a:endParaRPr sz="2800" dirty="0">
              <a:latin typeface="方正舒体"/>
              <a:cs typeface="方正舒体"/>
            </a:endParaRPr>
          </a:p>
          <a:p>
            <a:pPr marL="62865">
              <a:lnSpc>
                <a:spcPct val="100000"/>
              </a:lnSpc>
              <a:spcBef>
                <a:spcPts val="860"/>
              </a:spcBef>
            </a:pP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输入：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一个基本</a:t>
            </a: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 dirty="0">
              <a:latin typeface="Times New Roman"/>
              <a:cs typeface="Times New Roman"/>
            </a:endParaRPr>
          </a:p>
          <a:p>
            <a:pPr marL="314325" marR="2626995" indent="-302260">
              <a:lnSpc>
                <a:spcPct val="114999"/>
              </a:lnSpc>
              <a:spcBef>
                <a:spcPts val="130"/>
              </a:spcBef>
            </a:pP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输出：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含有下列信息的基本</a:t>
            </a:r>
            <a:r>
              <a:rPr sz="2400" b="1" spc="-15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2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DA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： </a:t>
            </a: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适当数据结构存放的节点信息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 dirty="0">
              <a:latin typeface="宋体"/>
              <a:cs typeface="宋体"/>
            </a:endParaRPr>
          </a:p>
          <a:p>
            <a:pPr marL="695325">
              <a:lnSpc>
                <a:spcPct val="100000"/>
              </a:lnSpc>
              <a:spcBef>
                <a:spcPts val="434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叶结</a:t>
            </a:r>
            <a:r>
              <a:rPr sz="2400" b="1" spc="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、内部结点按统一标记；</a:t>
            </a:r>
            <a:endParaRPr sz="2400" dirty="0">
              <a:latin typeface="宋体"/>
              <a:cs typeface="宋体"/>
            </a:endParaRPr>
          </a:p>
          <a:p>
            <a:pPr marL="695325">
              <a:lnSpc>
                <a:spcPct val="100000"/>
              </a:lnSpc>
              <a:spcBef>
                <a:spcPts val="430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标识符与结点的对应关系</a:t>
            </a:r>
            <a:r>
              <a:rPr sz="2400" b="1" spc="5" dirty="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（用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NODE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函数表</a:t>
            </a:r>
            <a:r>
              <a:rPr sz="2400" b="1" spc="5" dirty="0">
                <a:solidFill>
                  <a:srgbClr val="FFFFFF"/>
                </a:solidFill>
                <a:latin typeface="宋体"/>
                <a:cs typeface="宋体"/>
              </a:rPr>
              <a:t>示</a:t>
            </a: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）；</a:t>
            </a:r>
            <a:endParaRPr sz="2400" dirty="0">
              <a:latin typeface="宋体"/>
              <a:cs typeface="宋体"/>
            </a:endParaRPr>
          </a:p>
          <a:p>
            <a:pPr marL="85725">
              <a:lnSpc>
                <a:spcPct val="100000"/>
              </a:lnSpc>
              <a:spcBef>
                <a:spcPts val="455"/>
              </a:spcBef>
            </a:pP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算法：</a:t>
            </a:r>
            <a:endParaRPr sz="2800" dirty="0">
              <a:latin typeface="宋体"/>
              <a:cs typeface="宋体"/>
            </a:endParaRPr>
          </a:p>
          <a:p>
            <a:pPr marL="601980">
              <a:lnSpc>
                <a:spcPct val="100000"/>
              </a:lnSpc>
              <a:spcBef>
                <a:spcPts val="38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对基本块中每一四元式依次执行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下步骤</a:t>
            </a:r>
            <a:endParaRPr sz="2800" dirty="0">
              <a:latin typeface="宋体"/>
              <a:cs typeface="宋体"/>
            </a:endParaRPr>
          </a:p>
          <a:p>
            <a:pPr marL="796925" indent="-445134">
              <a:lnSpc>
                <a:spcPct val="100000"/>
              </a:lnSpc>
              <a:spcBef>
                <a:spcPts val="710"/>
              </a:spcBef>
              <a:buFont typeface="Times New Roman"/>
              <a:buAutoNum type="arabicPeriod"/>
              <a:tabLst>
                <a:tab pos="796925" algn="l"/>
                <a:tab pos="797560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构造叶结点；</a:t>
            </a:r>
            <a:endParaRPr sz="2800" dirty="0">
              <a:latin typeface="宋体"/>
              <a:cs typeface="宋体"/>
            </a:endParaRPr>
          </a:p>
          <a:p>
            <a:pPr marL="816610" indent="-445770">
              <a:lnSpc>
                <a:spcPct val="100000"/>
              </a:lnSpc>
              <a:spcBef>
                <a:spcPts val="900"/>
              </a:spcBef>
              <a:buFont typeface="Times New Roman"/>
              <a:buAutoNum type="arabicPeriod"/>
              <a:tabLst>
                <a:tab pos="816610" algn="l"/>
                <a:tab pos="817244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捕捉已知量，合并常数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sz="2800" b="1" spc="-66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//</a:t>
            </a:r>
            <a:r>
              <a:rPr sz="2400" b="1" spc="-5" dirty="0">
                <a:solidFill>
                  <a:srgbClr val="66FFFF"/>
                </a:solidFill>
                <a:latin typeface="宋体"/>
                <a:cs typeface="宋体"/>
              </a:rPr>
              <a:t>删除原常数结点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72176" y="5804103"/>
            <a:ext cx="3566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//</a:t>
            </a:r>
            <a:r>
              <a:rPr sz="2400" b="1" dirty="0">
                <a:solidFill>
                  <a:srgbClr val="66FFFF"/>
                </a:solidFill>
                <a:latin typeface="宋体"/>
                <a:cs typeface="宋体"/>
              </a:rPr>
              <a:t>删除冗余的公共子表达式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2342" y="5687669"/>
            <a:ext cx="4036695" cy="101028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457200" indent="-445134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 startAt="3"/>
              <a:tabLst>
                <a:tab pos="457200" algn="l"/>
                <a:tab pos="457834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捕捉公共子表达式；</a:t>
            </a:r>
            <a:endParaRPr sz="2800">
              <a:latin typeface="宋体"/>
              <a:cs typeface="宋体"/>
            </a:endParaRPr>
          </a:p>
          <a:p>
            <a:pPr marL="457200" indent="-445134">
              <a:lnSpc>
                <a:spcPct val="100000"/>
              </a:lnSpc>
              <a:spcBef>
                <a:spcPts val="515"/>
              </a:spcBef>
              <a:buFont typeface="Times New Roman"/>
              <a:buAutoNum type="arabicPeriod" startAt="3"/>
              <a:tabLst>
                <a:tab pos="457200" algn="l"/>
                <a:tab pos="457834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捕捉可能的无用赋值；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41721" y="0"/>
            <a:ext cx="32073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01370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8.2.3	</a:t>
            </a:r>
            <a:r>
              <a:rPr sz="2000" b="1" spc="-425" dirty="0">
                <a:solidFill>
                  <a:srgbClr val="A15100"/>
                </a:solidFill>
                <a:latin typeface="Times New Roman"/>
                <a:cs typeface="Times New Roman"/>
              </a:rPr>
              <a:t>D</a:t>
            </a:r>
            <a:r>
              <a:rPr sz="4200" b="1" spc="-3577" baseline="-7936" dirty="0">
                <a:solidFill>
                  <a:srgbClr val="FFFF00"/>
                </a:solidFill>
                <a:latin typeface="宋体"/>
                <a:cs typeface="宋体"/>
              </a:rPr>
              <a:t>情</a:t>
            </a:r>
            <a:r>
              <a:rPr sz="2000" b="1" spc="-315" dirty="0">
                <a:solidFill>
                  <a:srgbClr val="A15100"/>
                </a:solidFill>
                <a:latin typeface="Times New Roman"/>
                <a:cs typeface="Times New Roman"/>
              </a:rPr>
              <a:t>AG</a:t>
            </a:r>
            <a:r>
              <a:rPr sz="4200" b="1" spc="-3292" baseline="-7936" dirty="0">
                <a:solidFill>
                  <a:srgbClr val="FFFF00"/>
                </a:solidFill>
                <a:latin typeface="宋体"/>
                <a:cs typeface="宋体"/>
              </a:rPr>
              <a:t>况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定</a:t>
            </a:r>
            <a:r>
              <a:rPr sz="2000" b="1" spc="-1839" dirty="0">
                <a:solidFill>
                  <a:srgbClr val="A15100"/>
                </a:solidFill>
                <a:latin typeface="宋体"/>
                <a:cs typeface="宋体"/>
              </a:rPr>
              <a:t>义</a:t>
            </a:r>
            <a:r>
              <a:rPr sz="4200" b="1" spc="-7" baseline="-7936" dirty="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sz="4200" b="1" spc="-450" baseline="-7936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000" b="1" spc="-1739" dirty="0">
                <a:solidFill>
                  <a:srgbClr val="A15100"/>
                </a:solidFill>
                <a:latin typeface="宋体"/>
                <a:cs typeface="宋体"/>
              </a:rPr>
              <a:t>与</a:t>
            </a:r>
            <a:r>
              <a:rPr sz="4200" b="1" spc="-1687" baseline="-7936" dirty="0">
                <a:solidFill>
                  <a:srgbClr val="FFFF00"/>
                </a:solidFill>
                <a:latin typeface="Wingdings 3"/>
                <a:cs typeface="Wingdings 3"/>
              </a:rPr>
              <a:t></a:t>
            </a:r>
            <a:r>
              <a:rPr sz="2000" b="1" spc="-890" dirty="0">
                <a:solidFill>
                  <a:srgbClr val="A15100"/>
                </a:solidFill>
                <a:latin typeface="宋体"/>
                <a:cs typeface="宋体"/>
              </a:rPr>
              <a:t>应</a:t>
            </a:r>
            <a:r>
              <a:rPr sz="4200" b="1" spc="-2879" baseline="-7936" dirty="0">
                <a:solidFill>
                  <a:srgbClr val="FFFF00"/>
                </a:solidFill>
                <a:latin typeface="宋体"/>
                <a:cs typeface="宋体"/>
              </a:rPr>
              <a:t>情</a:t>
            </a:r>
            <a:r>
              <a:rPr sz="2000" b="1" spc="-100" dirty="0">
                <a:solidFill>
                  <a:srgbClr val="A15100"/>
                </a:solidFill>
                <a:latin typeface="宋体"/>
                <a:cs typeface="宋体"/>
              </a:rPr>
              <a:t>用</a:t>
            </a:r>
            <a:r>
              <a:rPr sz="4200" b="1" spc="-7" baseline="-7936" dirty="0">
                <a:solidFill>
                  <a:srgbClr val="FFFF00"/>
                </a:solidFill>
                <a:latin typeface="宋体"/>
                <a:cs typeface="宋体"/>
              </a:rPr>
              <a:t>况</a:t>
            </a:r>
            <a:r>
              <a:rPr sz="4200" b="1" spc="-7" baseline="-7936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4200" baseline="-7936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12953"/>
            <a:ext cx="9144000" cy="435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12953"/>
            <a:ext cx="9144000" cy="436245"/>
          </a:xfrm>
          <a:custGeom>
            <a:avLst/>
            <a:gdLst/>
            <a:ahLst/>
            <a:cxnLst/>
            <a:rect l="l" t="t" r="r" b="b"/>
            <a:pathLst>
              <a:path w="9144000" h="436245">
                <a:moveTo>
                  <a:pt x="0" y="435863"/>
                </a:moveTo>
                <a:lnTo>
                  <a:pt x="9144000" y="435863"/>
                </a:lnTo>
                <a:lnTo>
                  <a:pt x="9144000" y="0"/>
                </a:lnTo>
                <a:lnTo>
                  <a:pt x="0" y="0"/>
                </a:lnTo>
                <a:lnTo>
                  <a:pt x="0" y="435863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-18288" y="536448"/>
          <a:ext cx="9144000" cy="61447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2566">
                <a:tc gridSpan="2">
                  <a:txBody>
                    <a:bodyPr/>
                    <a:lstStyle/>
                    <a:p>
                      <a:pPr marL="2425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[1]</a:t>
                      </a:r>
                      <a:r>
                        <a:rPr sz="2400" b="1" spc="-1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如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果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NODE(B)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无定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义，</a:t>
                      </a:r>
                      <a:r>
                        <a:rPr sz="22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则建立该结</a:t>
                      </a:r>
                      <a:r>
                        <a:rPr sz="22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点</a:t>
                      </a:r>
                      <a:r>
                        <a:rPr sz="22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，并令</a:t>
                      </a:r>
                      <a:r>
                        <a:rPr sz="2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NODE(B)=n</a:t>
                      </a:r>
                      <a:r>
                        <a:rPr sz="22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；</a:t>
                      </a:r>
                      <a:r>
                        <a:rPr sz="22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为了叙</a:t>
                      </a:r>
                      <a:endParaRPr sz="2200">
                        <a:latin typeface="宋体"/>
                        <a:cs typeface="宋体"/>
                      </a:endParaRPr>
                    </a:p>
                    <a:p>
                      <a:pPr marL="2425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2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述方便，认为若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NODE(B)</a:t>
                      </a:r>
                      <a:r>
                        <a:rPr sz="2000" b="1" spc="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有定义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</a:t>
                      </a: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NODE(B)=n</a:t>
                      </a:r>
                      <a:r>
                        <a:rPr sz="2200" b="1" spc="-1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。</a:t>
                      </a:r>
                      <a:endParaRPr sz="2200">
                        <a:latin typeface="宋体"/>
                        <a:cs typeface="宋体"/>
                      </a:endParaRPr>
                    </a:p>
                    <a:p>
                      <a:pPr marL="39497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b="1" spc="-10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①</a:t>
                      </a:r>
                      <a:r>
                        <a:rPr sz="2400" b="1" spc="-5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对</a:t>
                      </a:r>
                      <a:r>
                        <a:rPr sz="2400" b="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400" b="1" dirty="0">
                          <a:solidFill>
                            <a:srgbClr val="66FFFF"/>
                          </a:solidFill>
                          <a:latin typeface="宋体"/>
                          <a:cs typeface="宋体"/>
                        </a:rPr>
                        <a:t>型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，转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[4]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；</a:t>
                      </a:r>
                      <a:endParaRPr sz="2400">
                        <a:latin typeface="宋体"/>
                        <a:cs typeface="宋体"/>
                      </a:endParaRPr>
                    </a:p>
                    <a:p>
                      <a:pPr marL="39497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-10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②</a:t>
                      </a:r>
                      <a:r>
                        <a:rPr sz="2400" b="1" spc="-5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对</a:t>
                      </a:r>
                      <a:r>
                        <a:rPr sz="2400" b="1" spc="-5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400" b="1" spc="-5" dirty="0">
                          <a:solidFill>
                            <a:srgbClr val="66FFFF"/>
                          </a:solidFill>
                          <a:latin typeface="宋体"/>
                          <a:cs typeface="宋体"/>
                        </a:rPr>
                        <a:t>型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，转</a:t>
                      </a:r>
                      <a:r>
                        <a:rPr sz="24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[2]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</a:t>
                      </a:r>
                      <a:r>
                        <a:rPr sz="2400" b="1" spc="-10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①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；</a:t>
                      </a:r>
                      <a:endParaRPr sz="2400">
                        <a:latin typeface="宋体"/>
                        <a:cs typeface="宋体"/>
                      </a:endParaRPr>
                    </a:p>
                    <a:p>
                      <a:pPr marL="39497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b="1" spc="-10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③</a:t>
                      </a:r>
                      <a:r>
                        <a:rPr sz="2400" b="1" spc="-15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对</a:t>
                      </a:r>
                      <a:r>
                        <a:rPr sz="2400" b="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400" b="1" dirty="0">
                          <a:solidFill>
                            <a:srgbClr val="66FFFF"/>
                          </a:solidFill>
                          <a:latin typeface="宋体"/>
                          <a:cs typeface="宋体"/>
                        </a:rPr>
                        <a:t>型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，若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NODE(C)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无定义，则建立一标记</a:t>
                      </a:r>
                      <a:r>
                        <a:rPr sz="2400" b="1" spc="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为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的叶子结点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solidFill>
                      <a:srgbClr val="121D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75">
                <a:tc>
                  <a:txBody>
                    <a:bodyPr/>
                    <a:lstStyle/>
                    <a:p>
                      <a:pPr marL="242570">
                        <a:lnSpc>
                          <a:spcPts val="2425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并转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[2]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</a:t>
                      </a:r>
                      <a:r>
                        <a:rPr sz="2400" b="1" spc="-10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②</a:t>
                      </a:r>
                      <a:r>
                        <a:rPr sz="2400" b="1" spc="-5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；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A73737"/>
                      </a:solidFill>
                      <a:prstDash val="solid"/>
                    </a:lnR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1339215" algn="l"/>
                          <a:tab pos="3110230" algn="l"/>
                        </a:tabLst>
                      </a:pP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000" b="1" spc="5" dirty="0">
                          <a:latin typeface="宋体"/>
                          <a:cs typeface="宋体"/>
                        </a:rPr>
                        <a:t>：</a:t>
                      </a: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= B	</a:t>
                      </a: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000" b="1" spc="5" dirty="0">
                          <a:latin typeface="宋体"/>
                          <a:cs typeface="宋体"/>
                        </a:rPr>
                        <a:t>：</a:t>
                      </a: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000" b="1" spc="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op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B	</a:t>
                      </a: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000" b="1" spc="5" dirty="0">
                          <a:latin typeface="宋体"/>
                          <a:cs typeface="宋体"/>
                        </a:rPr>
                        <a:t>：</a:t>
                      </a: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= B op</a:t>
                      </a:r>
                      <a:r>
                        <a:rPr sz="2000" b="1" spc="-1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C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76200">
                      <a:solidFill>
                        <a:srgbClr val="A73737"/>
                      </a:solidFill>
                      <a:prstDash val="solid"/>
                    </a:lnL>
                    <a:lnR w="76200">
                      <a:solidFill>
                        <a:srgbClr val="A73737"/>
                      </a:solidFill>
                      <a:prstDash val="solid"/>
                    </a:lnR>
                    <a:lnT w="76200">
                      <a:solidFill>
                        <a:srgbClr val="A73737"/>
                      </a:solidFill>
                      <a:prstDash val="solid"/>
                    </a:lnT>
                    <a:lnB w="76200">
                      <a:solidFill>
                        <a:srgbClr val="A7373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526">
                <a:tc gridSpan="2">
                  <a:txBody>
                    <a:bodyPr/>
                    <a:lstStyle/>
                    <a:p>
                      <a:pPr marL="242570">
                        <a:lnSpc>
                          <a:spcPts val="2290"/>
                        </a:lnSpc>
                        <a:tabLst>
                          <a:tab pos="1283970" algn="l"/>
                        </a:tabLst>
                      </a:pPr>
                      <a:r>
                        <a:rPr sz="24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[2]	</a:t>
                      </a:r>
                      <a:r>
                        <a:rPr sz="2400" b="1" dirty="0">
                          <a:solidFill>
                            <a:srgbClr val="FF99FF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400" b="1" spc="-5" dirty="0">
                          <a:solidFill>
                            <a:srgbClr val="FF99FF"/>
                          </a:solidFill>
                          <a:latin typeface="宋体"/>
                          <a:cs typeface="宋体"/>
                        </a:rPr>
                        <a:t>常量合并</a:t>
                      </a:r>
                      <a:endParaRPr sz="2400">
                        <a:latin typeface="宋体"/>
                        <a:cs typeface="宋体"/>
                      </a:endParaRPr>
                    </a:p>
                    <a:p>
                      <a:pPr marL="775970" marR="664210" indent="-457200">
                        <a:lnSpc>
                          <a:spcPct val="120000"/>
                        </a:lnSpc>
                      </a:pPr>
                      <a:r>
                        <a:rPr sz="2400" b="1" spc="-10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①</a:t>
                      </a:r>
                      <a:r>
                        <a:rPr sz="2400" b="1" spc="-55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如果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NODE(B)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是标记为常数的叶子结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点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，则转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[2]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③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否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则转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[3]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</a:t>
                      </a:r>
                      <a:r>
                        <a:rPr sz="2400" b="1" spc="-10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①</a:t>
                      </a:r>
                      <a:r>
                        <a:rPr sz="2400" b="1" spc="-5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；</a:t>
                      </a:r>
                      <a:endParaRPr sz="2400">
                        <a:latin typeface="宋体"/>
                        <a:cs typeface="宋体"/>
                      </a:endParaRPr>
                    </a:p>
                    <a:p>
                      <a:pPr marL="318770" algn="just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-10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②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如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果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NODE(B)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和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NODE(C)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都是标记为常数的叶子结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点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则</a:t>
                      </a:r>
                      <a:endParaRPr sz="2400">
                        <a:latin typeface="宋体"/>
                        <a:cs typeface="宋体"/>
                      </a:endParaRPr>
                    </a:p>
                    <a:p>
                      <a:pPr marL="699770" algn="just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转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[2]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</a:t>
                      </a:r>
                      <a:r>
                        <a:rPr sz="2200" b="1" spc="-15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④</a:t>
                      </a:r>
                      <a:r>
                        <a:rPr sz="2200" b="1" spc="45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，否则</a:t>
                      </a:r>
                      <a:r>
                        <a:rPr sz="2400" b="1" spc="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转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[3]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</a:t>
                      </a:r>
                      <a:r>
                        <a:rPr sz="2400" b="1" spc="-10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②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；</a:t>
                      </a:r>
                      <a:endParaRPr sz="2400">
                        <a:latin typeface="宋体"/>
                        <a:cs typeface="宋体"/>
                      </a:endParaRPr>
                    </a:p>
                    <a:p>
                      <a:pPr marL="394970" marR="246379" indent="-76200" algn="just">
                        <a:lnSpc>
                          <a:spcPct val="120000"/>
                        </a:lnSpc>
                      </a:pPr>
                      <a:r>
                        <a:rPr sz="2400" b="1" spc="-10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③</a:t>
                      </a:r>
                      <a:r>
                        <a:rPr sz="2400" b="1" spc="-15" dirty="0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sz="2400" b="1" u="heavy" dirty="0">
                          <a:solidFill>
                            <a:srgbClr val="FFFF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宋体"/>
                          <a:cs typeface="宋体"/>
                        </a:rPr>
                        <a:t>执行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op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B(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即常</a:t>
                      </a:r>
                      <a:r>
                        <a:rPr sz="2400" b="1" spc="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量</a:t>
                      </a:r>
                      <a:r>
                        <a:rPr sz="2400" b="1" u="heavy" dirty="0">
                          <a:solidFill>
                            <a:srgbClr val="FFFF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宋体"/>
                          <a:cs typeface="宋体"/>
                        </a:rPr>
                        <a:t>合并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，设得到的新常数为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。如果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NODE(B) 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是处理当前四元式时新建立的结</a:t>
                      </a:r>
                      <a:r>
                        <a:rPr sz="2400" b="1" spc="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点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，则</a:t>
                      </a:r>
                      <a:r>
                        <a:rPr sz="2400" b="1" u="heavy" spc="-5" dirty="0">
                          <a:solidFill>
                            <a:srgbClr val="FFFF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宋体"/>
                          <a:cs typeface="宋体"/>
                        </a:rPr>
                        <a:t>删除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它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。如果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NODE(P) 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无定义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则建立一标记</a:t>
                      </a:r>
                      <a:r>
                        <a:rPr sz="2400" b="1" spc="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为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400" b="1" spc="-1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的叶子结点，令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NODE(P)=n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转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[4]</a:t>
                      </a:r>
                      <a:r>
                        <a:rPr sz="2400" b="1" spc="-2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。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B w="38100">
                      <a:solidFill>
                        <a:srgbClr val="FFFF00"/>
                      </a:solidFill>
                      <a:prstDash val="solid"/>
                    </a:lnB>
                    <a:solidFill>
                      <a:srgbClr val="121D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6731" y="39750"/>
            <a:ext cx="1692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0591" y="39750"/>
            <a:ext cx="15589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116448" y="39750"/>
            <a:ext cx="2636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2000" dirty="0">
                <a:latin typeface="Times New Roman"/>
                <a:cs typeface="Times New Roman"/>
              </a:rPr>
              <a:t>8</a:t>
            </a:r>
            <a:r>
              <a:rPr sz="2000" spc="5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5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3	D</a:t>
            </a:r>
            <a:r>
              <a:rPr sz="2000" spc="5" dirty="0">
                <a:latin typeface="Times New Roman"/>
                <a:cs typeface="Times New Roman"/>
              </a:rPr>
              <a:t>AG</a:t>
            </a:r>
            <a:r>
              <a:rPr sz="2000" spc="5" dirty="0">
                <a:latin typeface="宋体"/>
                <a:cs typeface="宋体"/>
              </a:rPr>
              <a:t>定义与应用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223757" y="6710689"/>
            <a:ext cx="712470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42</a:t>
            </a:r>
            <a:r>
              <a:rPr sz="1400" b="1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528065"/>
            <a:ext cx="9143365" cy="6324600"/>
          </a:xfrm>
          <a:custGeom>
            <a:avLst/>
            <a:gdLst/>
            <a:ahLst/>
            <a:cxnLst/>
            <a:rect l="l" t="t" r="r" b="b"/>
            <a:pathLst>
              <a:path w="9143365" h="6324600">
                <a:moveTo>
                  <a:pt x="0" y="6324600"/>
                </a:moveTo>
                <a:lnTo>
                  <a:pt x="9143238" y="6324600"/>
                </a:lnTo>
                <a:lnTo>
                  <a:pt x="9143238" y="0"/>
                </a:lnTo>
                <a:lnTo>
                  <a:pt x="0" y="0"/>
                </a:lnTo>
                <a:lnTo>
                  <a:pt x="0" y="6324600"/>
                </a:lnTo>
                <a:close/>
              </a:path>
            </a:pathLst>
          </a:custGeom>
          <a:solidFill>
            <a:srgbClr val="121D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6833615"/>
            <a:ext cx="9143365" cy="38100"/>
          </a:xfrm>
          <a:custGeom>
            <a:avLst/>
            <a:gdLst/>
            <a:ahLst/>
            <a:cxnLst/>
            <a:rect l="l" t="t" r="r" b="b"/>
            <a:pathLst>
              <a:path w="9143365" h="38100">
                <a:moveTo>
                  <a:pt x="0" y="38099"/>
                </a:moveTo>
                <a:lnTo>
                  <a:pt x="9143238" y="38099"/>
                </a:lnTo>
                <a:lnTo>
                  <a:pt x="9143238" y="0"/>
                </a:lnTo>
                <a:lnTo>
                  <a:pt x="0" y="0"/>
                </a:lnTo>
                <a:lnTo>
                  <a:pt x="0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1" y="528065"/>
            <a:ext cx="9143365" cy="6324600"/>
          </a:xfrm>
          <a:custGeom>
            <a:avLst/>
            <a:gdLst/>
            <a:ahLst/>
            <a:cxnLst/>
            <a:rect l="l" t="t" r="r" b="b"/>
            <a:pathLst>
              <a:path w="9143365" h="6324600">
                <a:moveTo>
                  <a:pt x="9143238" y="0"/>
                </a:moveTo>
                <a:lnTo>
                  <a:pt x="0" y="0"/>
                </a:lnTo>
                <a:lnTo>
                  <a:pt x="0" y="63246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70763" y="548081"/>
            <a:ext cx="84886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2920" algn="l"/>
              </a:tabLst>
            </a:pPr>
            <a:r>
              <a:rPr sz="2200" u="none" spc="-15" dirty="0">
                <a:solidFill>
                  <a:srgbClr val="FFFF00"/>
                </a:solidFill>
                <a:latin typeface="方正舒体"/>
                <a:cs typeface="方正舒体"/>
              </a:rPr>
              <a:t>④	</a:t>
            </a:r>
            <a:r>
              <a:rPr sz="2200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执</a:t>
            </a:r>
            <a:r>
              <a:rPr sz="2200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行</a:t>
            </a:r>
            <a:r>
              <a:rPr sz="2200" u="none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200" u="none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u="none" spc="-5" dirty="0">
                <a:solidFill>
                  <a:srgbClr val="FFFFFF"/>
                </a:solidFill>
                <a:latin typeface="Times New Roman"/>
                <a:cs typeface="Times New Roman"/>
              </a:rPr>
              <a:t>op</a:t>
            </a:r>
            <a:r>
              <a:rPr sz="2200" u="none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C(</a:t>
            </a:r>
            <a:r>
              <a:rPr sz="2200" u="none" spc="-10" dirty="0">
                <a:solidFill>
                  <a:srgbClr val="FFFFFF"/>
                </a:solidFill>
                <a:latin typeface="宋体"/>
                <a:cs typeface="宋体"/>
              </a:rPr>
              <a:t>即常</a:t>
            </a:r>
            <a:r>
              <a:rPr sz="2200" u="none" spc="-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2200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合并</a:t>
            </a:r>
            <a:r>
              <a:rPr sz="22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200" u="none" spc="-10" dirty="0">
                <a:solidFill>
                  <a:srgbClr val="FFFFFF"/>
                </a:solidFill>
                <a:latin typeface="宋体"/>
                <a:cs typeface="宋体"/>
              </a:rPr>
              <a:t>，设得到的</a:t>
            </a:r>
            <a:r>
              <a:rPr sz="2200" u="none" dirty="0">
                <a:solidFill>
                  <a:srgbClr val="FFFFFF"/>
                </a:solidFill>
                <a:latin typeface="宋体"/>
                <a:cs typeface="宋体"/>
              </a:rPr>
              <a:t>新</a:t>
            </a:r>
            <a:r>
              <a:rPr sz="2200" u="none" spc="-10" dirty="0">
                <a:solidFill>
                  <a:srgbClr val="FFFFFF"/>
                </a:solidFill>
                <a:latin typeface="宋体"/>
                <a:cs typeface="宋体"/>
              </a:rPr>
              <a:t>常数</a:t>
            </a:r>
            <a:r>
              <a:rPr sz="2200" u="none" spc="25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2200" u="none" spc="-5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200" u="none" spc="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2200" u="none" spc="-10" dirty="0">
                <a:solidFill>
                  <a:srgbClr val="FFFFFF"/>
                </a:solidFill>
                <a:latin typeface="宋体"/>
                <a:cs typeface="宋体"/>
              </a:rPr>
              <a:t>如果</a:t>
            </a:r>
            <a:r>
              <a:rPr sz="2200" u="none" spc="-5" dirty="0">
                <a:solidFill>
                  <a:srgbClr val="FFFFFF"/>
                </a:solidFill>
                <a:latin typeface="Times New Roman"/>
                <a:cs typeface="Times New Roman"/>
              </a:rPr>
              <a:t>NODE(B)</a:t>
            </a:r>
            <a:r>
              <a:rPr sz="2200" u="none" spc="-15" dirty="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883437"/>
            <a:ext cx="8554720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NODE(C)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是处理当前四元式时新建立的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200" b="1" spc="10" dirty="0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sz="22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删</a:t>
            </a:r>
            <a:r>
              <a:rPr sz="2200" b="1" u="heavy" spc="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除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它。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如果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NODE  (P)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无定</a:t>
            </a:r>
            <a:r>
              <a:rPr sz="2200" b="1" spc="-15" dirty="0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sz="2200" b="1" spc="-53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则建立一标记</a:t>
            </a: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的叶子结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200" b="1" spc="15" dirty="0">
                <a:solidFill>
                  <a:srgbClr val="FFFFFF"/>
                </a:solidFill>
                <a:latin typeface="宋体"/>
                <a:cs typeface="宋体"/>
              </a:rPr>
              <a:t>令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NODE(P)=n</a:t>
            </a: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sz="2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[4]</a:t>
            </a:r>
            <a:r>
              <a:rPr sz="2200" b="1" spc="6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2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9240" y="1750898"/>
            <a:ext cx="3816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[3]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4102" y="1776806"/>
            <a:ext cx="52298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FF99FF"/>
                </a:solidFill>
                <a:latin typeface="Times New Roman"/>
                <a:cs typeface="Times New Roman"/>
              </a:rPr>
              <a:t>//</a:t>
            </a:r>
            <a:r>
              <a:rPr sz="2200" b="1" spc="-10" dirty="0">
                <a:solidFill>
                  <a:srgbClr val="FF99FF"/>
                </a:solidFill>
                <a:latin typeface="宋体"/>
                <a:cs typeface="宋体"/>
              </a:rPr>
              <a:t>捕捉公共子表达式，不生成冗余</a:t>
            </a:r>
            <a:r>
              <a:rPr sz="2200" b="1" dirty="0">
                <a:solidFill>
                  <a:srgbClr val="FF99FF"/>
                </a:solidFill>
                <a:latin typeface="宋体"/>
                <a:cs typeface="宋体"/>
              </a:rPr>
              <a:t>的</a:t>
            </a:r>
            <a:r>
              <a:rPr sz="2200" b="1" spc="-10" dirty="0">
                <a:solidFill>
                  <a:srgbClr val="FF99FF"/>
                </a:solidFill>
                <a:latin typeface="宋体"/>
                <a:cs typeface="宋体"/>
              </a:rPr>
              <a:t>表</a:t>
            </a:r>
            <a:r>
              <a:rPr sz="2200" b="1" dirty="0">
                <a:solidFill>
                  <a:srgbClr val="FF99FF"/>
                </a:solidFill>
                <a:latin typeface="宋体"/>
                <a:cs typeface="宋体"/>
              </a:rPr>
              <a:t>达</a:t>
            </a:r>
            <a:r>
              <a:rPr sz="2200" b="1" spc="-15" dirty="0">
                <a:solidFill>
                  <a:srgbClr val="FF99FF"/>
                </a:solidFill>
                <a:latin typeface="宋体"/>
                <a:cs typeface="宋体"/>
              </a:rPr>
              <a:t>式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6044" y="2023643"/>
            <a:ext cx="8541385" cy="263842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  <a:tabLst>
                <a:tab pos="433070" algn="l"/>
              </a:tabLst>
            </a:pPr>
            <a:r>
              <a:rPr sz="2200" b="1" spc="-15" dirty="0">
                <a:solidFill>
                  <a:srgbClr val="FFFF00"/>
                </a:solidFill>
                <a:latin typeface="方正舒体"/>
                <a:cs typeface="方正舒体"/>
              </a:rPr>
              <a:t>①	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检查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DAG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中是否有一结点，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唯一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继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NODE(B)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且标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记为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OP</a:t>
            </a:r>
            <a:endParaRPr sz="2200">
              <a:latin typeface="Times New Roman"/>
              <a:cs typeface="Times New Roman"/>
            </a:endParaRPr>
          </a:p>
          <a:p>
            <a:pPr marL="82550" marR="39370">
              <a:lnSpc>
                <a:spcPts val="3429"/>
              </a:lnSpc>
              <a:spcBef>
                <a:spcPts val="235"/>
              </a:spcBef>
            </a:pP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2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即找公共子表达</a:t>
            </a:r>
            <a:r>
              <a:rPr sz="2200" b="1" spc="-15" dirty="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。如果没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建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立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该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sz="2200" b="1" spc="10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并令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NODE(OP)=n  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否则（为了叙述方</a:t>
            </a: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便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也认为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NODE(OP)=n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sz="2200" b="1" dirty="0">
                <a:solidFill>
                  <a:srgbClr val="FFFF00"/>
                </a:solidFill>
                <a:latin typeface="Times New Roman"/>
                <a:cs typeface="Times New Roman"/>
              </a:rPr>
              <a:t>[4]</a:t>
            </a:r>
            <a:r>
              <a:rPr sz="2200" b="1" spc="5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2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2200" b="1" spc="-54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2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//</a:t>
            </a:r>
            <a:r>
              <a:rPr sz="2200" b="1" spc="-4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0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sz="2000" b="1" spc="-5" dirty="0">
                <a:solidFill>
                  <a:srgbClr val="66FFFF"/>
                </a:solidFill>
                <a:latin typeface="宋体"/>
                <a:cs typeface="宋体"/>
              </a:rPr>
              <a:t>型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433070" algn="l"/>
              </a:tabLst>
            </a:pPr>
            <a:r>
              <a:rPr sz="2200" b="1" spc="-15" dirty="0">
                <a:solidFill>
                  <a:srgbClr val="FFFF00"/>
                </a:solidFill>
                <a:latin typeface="方正舒体"/>
                <a:cs typeface="方正舒体"/>
              </a:rPr>
              <a:t>②	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检查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DAG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中是否有一结</a:t>
            </a: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左后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继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NODE(B)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右后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继</a:t>
            </a:r>
            <a:r>
              <a:rPr sz="2200" b="1" spc="-15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endParaRPr sz="2200">
              <a:latin typeface="宋体"/>
              <a:cs typeface="宋体"/>
            </a:endParaRPr>
          </a:p>
          <a:p>
            <a:pPr marL="82550" marR="5080">
              <a:lnSpc>
                <a:spcPts val="3429"/>
              </a:lnSpc>
              <a:spcBef>
                <a:spcPts val="235"/>
              </a:spcBef>
            </a:pP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NODE(C)</a:t>
            </a:r>
            <a:r>
              <a:rPr sz="22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且标记</a:t>
            </a: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OP(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即找公共子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达</a:t>
            </a:r>
            <a:r>
              <a:rPr sz="2200" b="1" spc="30" dirty="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果没</a:t>
            </a:r>
            <a:r>
              <a:rPr sz="2200" b="1" spc="20" dirty="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建立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该</a:t>
            </a:r>
            <a:r>
              <a:rPr sz="2200" b="1" spc="-15" dirty="0">
                <a:solidFill>
                  <a:srgbClr val="FFFFFF"/>
                </a:solidFill>
                <a:latin typeface="宋体"/>
                <a:cs typeface="宋体"/>
              </a:rPr>
              <a:t>结 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点，并令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NODE(OP)=n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否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为了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叙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述方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便</a:t>
            </a: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也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认</a:t>
            </a: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NODE(OP)=n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6148" y="4737608"/>
            <a:ext cx="18732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sz="2200" b="1" dirty="0">
                <a:solidFill>
                  <a:srgbClr val="FFFF00"/>
                </a:solidFill>
                <a:latin typeface="Times New Roman"/>
                <a:cs typeface="Times New Roman"/>
              </a:rPr>
              <a:t>[4]</a:t>
            </a:r>
            <a:r>
              <a:rPr sz="2200" b="1" spc="-4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2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2200" b="1" spc="-57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2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//</a:t>
            </a:r>
            <a:r>
              <a:rPr sz="2200" b="1" spc="-5" dirty="0">
                <a:solidFill>
                  <a:srgbClr val="66FFFF"/>
                </a:solidFill>
                <a:latin typeface="宋体"/>
                <a:cs typeface="宋体"/>
              </a:rPr>
              <a:t>对</a:t>
            </a:r>
            <a:r>
              <a:rPr sz="20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sz="2000" b="1" spc="-5" dirty="0">
                <a:solidFill>
                  <a:srgbClr val="66FFFF"/>
                </a:solidFill>
                <a:latin typeface="宋体"/>
                <a:cs typeface="宋体"/>
              </a:rPr>
              <a:t>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6944" y="5072278"/>
            <a:ext cx="8816340" cy="176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marR="5080" indent="-419100">
              <a:lnSpc>
                <a:spcPct val="130000"/>
              </a:lnSpc>
              <a:spcBef>
                <a:spcPts val="100"/>
              </a:spcBef>
            </a:pPr>
            <a:r>
              <a:rPr sz="2200" b="1" dirty="0">
                <a:solidFill>
                  <a:srgbClr val="FFFF00"/>
                </a:solidFill>
                <a:latin typeface="Times New Roman"/>
                <a:cs typeface="Times New Roman"/>
              </a:rPr>
              <a:t>[4]</a:t>
            </a:r>
            <a:r>
              <a:rPr sz="2200" b="1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如果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NODE(A)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无定</a:t>
            </a: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把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附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加在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结点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右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边</a:t>
            </a: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令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NODE(A)=n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；  否则</a:t>
            </a:r>
            <a:r>
              <a:rPr sz="2200" b="1" spc="-1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200" b="1" spc="-55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先把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NODE(A)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结点的附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加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识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符集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删</a:t>
            </a:r>
            <a:r>
              <a:rPr sz="2200" b="1" spc="45" dirty="0">
                <a:solidFill>
                  <a:srgbClr val="FFFFFF"/>
                </a:solidFill>
                <a:latin typeface="宋体"/>
                <a:cs typeface="宋体"/>
              </a:rPr>
              <a:t>除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NODE(A)  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是叶子结点，则其标</a:t>
            </a: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不删除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把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附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加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在结</a:t>
            </a:r>
            <a:r>
              <a:rPr sz="2200" b="1" spc="10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2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右</a:t>
            </a: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边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并令 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NODE(A)=n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2200" b="1" spc="-10" dirty="0">
                <a:solidFill>
                  <a:srgbClr val="FFFFFF"/>
                </a:solidFill>
                <a:latin typeface="宋体"/>
                <a:cs typeface="宋体"/>
              </a:rPr>
              <a:t>转处理下一四</a:t>
            </a:r>
            <a:r>
              <a:rPr sz="2200" b="1" spc="5" dirty="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sz="2200" b="1" spc="20" dirty="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sz="22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61" y="12953"/>
            <a:ext cx="9144000" cy="4358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61" y="12953"/>
            <a:ext cx="9144000" cy="436245"/>
          </a:xfrm>
          <a:custGeom>
            <a:avLst/>
            <a:gdLst/>
            <a:ahLst/>
            <a:cxnLst/>
            <a:rect l="l" t="t" r="r" b="b"/>
            <a:pathLst>
              <a:path w="9144000" h="436245">
                <a:moveTo>
                  <a:pt x="0" y="435863"/>
                </a:moveTo>
                <a:lnTo>
                  <a:pt x="9144000" y="435863"/>
                </a:lnTo>
                <a:lnTo>
                  <a:pt x="9144000" y="0"/>
                </a:lnTo>
                <a:lnTo>
                  <a:pt x="0" y="0"/>
                </a:lnTo>
                <a:lnTo>
                  <a:pt x="0" y="435863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76731" y="39750"/>
            <a:ext cx="697610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186305" algn="l"/>
                <a:tab pos="2694940" algn="l"/>
                <a:tab pos="4352290" algn="l"/>
                <a:tab pos="51136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D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AG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定义与应用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74492" y="4690871"/>
            <a:ext cx="5347970" cy="455930"/>
          </a:xfrm>
          <a:prstGeom prst="rect">
            <a:avLst/>
          </a:prstGeom>
          <a:solidFill>
            <a:srgbClr val="FFFFFF"/>
          </a:solidFill>
          <a:ln w="57150">
            <a:solidFill>
              <a:srgbClr val="A73737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  <a:tabLst>
                <a:tab pos="1340485" algn="l"/>
                <a:tab pos="3111500" algn="l"/>
              </a:tabLst>
            </a:pPr>
            <a:r>
              <a:rPr sz="2000" b="1" spc="5" dirty="0">
                <a:latin typeface="Times New Roman"/>
                <a:cs typeface="Times New Roman"/>
              </a:rPr>
              <a:t>0</a:t>
            </a:r>
            <a:r>
              <a:rPr sz="2000" b="1" spc="5" dirty="0">
                <a:latin typeface="宋体"/>
                <a:cs typeface="宋体"/>
              </a:rPr>
              <a:t>：</a:t>
            </a:r>
            <a:r>
              <a:rPr sz="2000" b="1" spc="5" dirty="0">
                <a:latin typeface="Times New Roman"/>
                <a:cs typeface="Times New Roman"/>
              </a:rPr>
              <a:t>A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 B	</a:t>
            </a:r>
            <a:r>
              <a:rPr sz="2000" b="1" spc="5" dirty="0">
                <a:latin typeface="Times New Roman"/>
                <a:cs typeface="Times New Roman"/>
              </a:rPr>
              <a:t>1</a:t>
            </a:r>
            <a:r>
              <a:rPr sz="2000" b="1" spc="5" dirty="0">
                <a:latin typeface="宋体"/>
                <a:cs typeface="宋体"/>
              </a:rPr>
              <a:t>：</a:t>
            </a:r>
            <a:r>
              <a:rPr sz="2000" b="1" spc="5" dirty="0">
                <a:latin typeface="Times New Roman"/>
                <a:cs typeface="Times New Roman"/>
              </a:rPr>
              <a:t>A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3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op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	</a:t>
            </a:r>
            <a:r>
              <a:rPr sz="2000" b="1" spc="5" dirty="0">
                <a:latin typeface="Times New Roman"/>
                <a:cs typeface="Times New Roman"/>
              </a:rPr>
              <a:t>2</a:t>
            </a:r>
            <a:r>
              <a:rPr sz="2000" b="1" spc="5" dirty="0">
                <a:latin typeface="宋体"/>
                <a:cs typeface="宋体"/>
              </a:rPr>
              <a:t>：</a:t>
            </a:r>
            <a:r>
              <a:rPr sz="2000" b="1" spc="5" dirty="0">
                <a:latin typeface="Times New Roman"/>
                <a:cs typeface="Times New Roman"/>
              </a:rPr>
              <a:t>A </a:t>
            </a:r>
            <a:r>
              <a:rPr sz="2000" b="1" dirty="0">
                <a:latin typeface="Times New Roman"/>
                <a:cs typeface="Times New Roman"/>
              </a:rPr>
              <a:t>= B op</a:t>
            </a:r>
            <a:r>
              <a:rPr sz="2000" b="1" spc="-1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6731" y="26923"/>
            <a:ext cx="697610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186305" algn="l"/>
                <a:tab pos="2694940" algn="l"/>
                <a:tab pos="4352290" algn="l"/>
                <a:tab pos="5113655" algn="l"/>
              </a:tabLst>
            </a:pPr>
            <a:r>
              <a:rPr sz="2000" u="none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u="none" dirty="0">
                <a:latin typeface="Times New Roman"/>
                <a:cs typeface="Times New Roman"/>
              </a:rPr>
              <a:t>h8	</a:t>
            </a:r>
            <a:r>
              <a:rPr sz="2000" u="none" spc="5" dirty="0">
                <a:latin typeface="宋体"/>
                <a:cs typeface="宋体"/>
              </a:rPr>
              <a:t>代码优</a:t>
            </a:r>
            <a:r>
              <a:rPr sz="2000" u="none" spc="-5" dirty="0">
                <a:latin typeface="宋体"/>
                <a:cs typeface="宋体"/>
              </a:rPr>
              <a:t>化</a:t>
            </a:r>
            <a:r>
              <a:rPr sz="2000" u="none" dirty="0">
                <a:latin typeface="宋体"/>
                <a:cs typeface="宋体"/>
              </a:rPr>
              <a:t>	</a:t>
            </a:r>
            <a:r>
              <a:rPr sz="2000" u="none" dirty="0">
                <a:latin typeface="Times New Roman"/>
                <a:cs typeface="Times New Roman"/>
              </a:rPr>
              <a:t>8</a:t>
            </a:r>
            <a:r>
              <a:rPr sz="2000" u="none" spc="5" dirty="0">
                <a:latin typeface="Times New Roman"/>
                <a:cs typeface="Times New Roman"/>
              </a:rPr>
              <a:t>.</a:t>
            </a:r>
            <a:r>
              <a:rPr sz="2000" u="none" dirty="0">
                <a:latin typeface="Times New Roman"/>
                <a:cs typeface="Times New Roman"/>
              </a:rPr>
              <a:t>2	</a:t>
            </a:r>
            <a:r>
              <a:rPr sz="2000" u="none" spc="5" dirty="0">
                <a:latin typeface="宋体"/>
                <a:cs typeface="宋体"/>
              </a:rPr>
              <a:t>局部优</a:t>
            </a:r>
            <a:r>
              <a:rPr sz="2000" u="none" spc="-5" dirty="0">
                <a:latin typeface="宋体"/>
                <a:cs typeface="宋体"/>
              </a:rPr>
              <a:t>化</a:t>
            </a:r>
            <a:r>
              <a:rPr sz="2000" u="none" dirty="0">
                <a:latin typeface="宋体"/>
                <a:cs typeface="宋体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8</a:t>
            </a:r>
            <a:r>
              <a:rPr sz="2000" spc="5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5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3	D</a:t>
            </a:r>
            <a:r>
              <a:rPr sz="2000" spc="5" dirty="0">
                <a:latin typeface="Times New Roman"/>
                <a:cs typeface="Times New Roman"/>
              </a:rPr>
              <a:t>AG</a:t>
            </a:r>
            <a:r>
              <a:rPr sz="2000" spc="5" dirty="0">
                <a:latin typeface="宋体"/>
                <a:cs typeface="宋体"/>
              </a:rPr>
              <a:t>定义与应用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43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8891" y="687705"/>
            <a:ext cx="70681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38580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8.4	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设有一个基本块的语句序</a:t>
            </a:r>
            <a:r>
              <a:rPr sz="3200" b="1" spc="-15" dirty="0">
                <a:solidFill>
                  <a:srgbClr val="FFFF00"/>
                </a:solidFill>
                <a:latin typeface="宋体"/>
                <a:cs typeface="宋体"/>
              </a:rPr>
              <a:t>列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如下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669033" y="1406354"/>
          <a:ext cx="2740660" cy="5002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9130">
                <a:tc>
                  <a:txBody>
                    <a:bodyPr/>
                    <a:lstStyle/>
                    <a:p>
                      <a:pPr marL="46990">
                        <a:lnSpc>
                          <a:spcPts val="327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⑴</a:t>
                      </a:r>
                      <a:endParaRPr sz="3000">
                        <a:latin typeface="宋体"/>
                        <a:cs typeface="宋体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⑵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327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3000" b="1" baseline="-180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 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3000" b="1" spc="-3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3.14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17716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3000" b="1" baseline="-180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 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3000" b="1" spc="-3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2*T</a:t>
                      </a:r>
                      <a:r>
                        <a:rPr sz="3000" b="1" spc="-7" baseline="-1805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000" baseline="-18055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077">
                <a:tc>
                  <a:txBody>
                    <a:bodyPr/>
                    <a:lstStyle/>
                    <a:p>
                      <a:pPr marL="31750">
                        <a:lnSpc>
                          <a:spcPts val="337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⑶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ts val="337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3000" b="1" baseline="-180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3000" b="1" spc="-2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R+r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784">
                <a:tc>
                  <a:txBody>
                    <a:bodyPr/>
                    <a:lstStyle/>
                    <a:p>
                      <a:pPr marL="31750">
                        <a:lnSpc>
                          <a:spcPts val="337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⑷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3375"/>
                        </a:lnSpc>
                      </a:pPr>
                      <a:r>
                        <a:rPr sz="3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sz="3000" b="1" dirty="0">
                          <a:solidFill>
                            <a:srgbClr val="99FF33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3000" b="1" baseline="-18055" dirty="0">
                          <a:solidFill>
                            <a:srgbClr val="99FF33"/>
                          </a:solidFill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3000" b="1" dirty="0">
                          <a:solidFill>
                            <a:srgbClr val="99FF33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3000" b="1" spc="-90" dirty="0">
                          <a:solidFill>
                            <a:srgbClr val="99FF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dirty="0">
                          <a:solidFill>
                            <a:srgbClr val="99FF33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3000" b="1" baseline="-16666" dirty="0">
                          <a:solidFill>
                            <a:srgbClr val="99FF33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000" baseline="-16666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748">
                <a:tc>
                  <a:txBody>
                    <a:bodyPr/>
                    <a:lstStyle/>
                    <a:p>
                      <a:pPr marL="31750">
                        <a:lnSpc>
                          <a:spcPts val="337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⑸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337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 =</a:t>
                      </a:r>
                      <a:r>
                        <a:rPr sz="3000" b="1" spc="-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45">
                <a:tc>
                  <a:txBody>
                    <a:bodyPr/>
                    <a:lstStyle/>
                    <a:p>
                      <a:pPr marL="31750">
                        <a:lnSpc>
                          <a:spcPts val="359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⑹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ts val="359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3000" b="1" baseline="-180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sz="3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 *</a:t>
                      </a:r>
                      <a:r>
                        <a:rPr sz="3000" b="1" spc="-39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3000" b="1" baseline="-16666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000" baseline="-16666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372">
                <a:tc>
                  <a:txBody>
                    <a:bodyPr/>
                    <a:lstStyle/>
                    <a:p>
                      <a:pPr marL="31750">
                        <a:lnSpc>
                          <a:spcPts val="337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⑺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ts val="3375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3000" b="1" baseline="-16666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3000" b="1" spc="-2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R+r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072">
                <a:tc>
                  <a:txBody>
                    <a:bodyPr/>
                    <a:lstStyle/>
                    <a:p>
                      <a:pPr marL="31750">
                        <a:lnSpc>
                          <a:spcPts val="3404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⑻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ts val="3404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3000" b="1" baseline="-16666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sz="3000" b="1" dirty="0">
                          <a:solidFill>
                            <a:srgbClr val="99FF33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3000" b="1" baseline="-16666" dirty="0">
                          <a:solidFill>
                            <a:srgbClr val="99FF33"/>
                          </a:solidFill>
                          <a:latin typeface="Times New Roman"/>
                          <a:cs typeface="Times New Roman"/>
                        </a:rPr>
                        <a:t>3 </a:t>
                      </a:r>
                      <a:r>
                        <a:rPr sz="3000" b="1" dirty="0">
                          <a:solidFill>
                            <a:srgbClr val="99FF33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3000" b="1" spc="-215" dirty="0">
                          <a:solidFill>
                            <a:srgbClr val="99FF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dirty="0">
                          <a:solidFill>
                            <a:srgbClr val="99FF33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3000" b="1" baseline="-16666" dirty="0">
                          <a:solidFill>
                            <a:srgbClr val="99FF33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000" baseline="-16666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809">
                <a:tc>
                  <a:txBody>
                    <a:bodyPr/>
                    <a:lstStyle/>
                    <a:p>
                      <a:pPr marR="154305" algn="r">
                        <a:lnSpc>
                          <a:spcPts val="3404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⑼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3404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3000" b="1" baseline="-16666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sz="3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3000" b="1" spc="-3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6282">
                <a:tc>
                  <a:txBody>
                    <a:bodyPr/>
                    <a:lstStyle/>
                    <a:p>
                      <a:pPr marR="154305" algn="r">
                        <a:lnSpc>
                          <a:spcPts val="3404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⑽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3404"/>
                        </a:lnSpc>
                      </a:pP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 = T</a:t>
                      </a:r>
                      <a:r>
                        <a:rPr sz="3000" b="1" baseline="-16666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3000" b="1" spc="-4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3000" b="1" baseline="-16666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3000" baseline="-16666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16448" y="26923"/>
            <a:ext cx="2636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D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AG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定义与应用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018" y="26923"/>
            <a:ext cx="4320540" cy="1173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4184">
              <a:lnSpc>
                <a:spcPct val="100000"/>
              </a:lnSpc>
              <a:spcBef>
                <a:spcPts val="100"/>
              </a:spcBef>
              <a:tabLst>
                <a:tab pos="1107440" algn="l"/>
                <a:tab pos="2637790" algn="l"/>
                <a:tab pos="314706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局部优化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tabLst>
                <a:tab pos="666115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解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构造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DA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的过程如下：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1561" y="4521200"/>
            <a:ext cx="380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400" b="1" spc="-7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4641" y="4379214"/>
            <a:ext cx="664845" cy="650875"/>
          </a:xfrm>
          <a:custGeom>
            <a:avLst/>
            <a:gdLst/>
            <a:ahLst/>
            <a:cxnLst/>
            <a:rect l="l" t="t" r="r" b="b"/>
            <a:pathLst>
              <a:path w="664844" h="650875">
                <a:moveTo>
                  <a:pt x="0" y="325374"/>
                </a:moveTo>
                <a:lnTo>
                  <a:pt x="3602" y="277291"/>
                </a:lnTo>
                <a:lnTo>
                  <a:pt x="14066" y="231399"/>
                </a:lnTo>
                <a:lnTo>
                  <a:pt x="30878" y="188201"/>
                </a:lnTo>
                <a:lnTo>
                  <a:pt x="53523" y="148201"/>
                </a:lnTo>
                <a:lnTo>
                  <a:pt x="81489" y="111902"/>
                </a:lnTo>
                <a:lnTo>
                  <a:pt x="114262" y="79806"/>
                </a:lnTo>
                <a:lnTo>
                  <a:pt x="151326" y="52418"/>
                </a:lnTo>
                <a:lnTo>
                  <a:pt x="192170" y="30240"/>
                </a:lnTo>
                <a:lnTo>
                  <a:pt x="236277" y="13775"/>
                </a:lnTo>
                <a:lnTo>
                  <a:pt x="283136" y="3527"/>
                </a:lnTo>
                <a:lnTo>
                  <a:pt x="332232" y="0"/>
                </a:lnTo>
                <a:lnTo>
                  <a:pt x="381327" y="3527"/>
                </a:lnTo>
                <a:lnTo>
                  <a:pt x="428186" y="13775"/>
                </a:lnTo>
                <a:lnTo>
                  <a:pt x="472293" y="30240"/>
                </a:lnTo>
                <a:lnTo>
                  <a:pt x="513137" y="52418"/>
                </a:lnTo>
                <a:lnTo>
                  <a:pt x="550201" y="79806"/>
                </a:lnTo>
                <a:lnTo>
                  <a:pt x="582974" y="111902"/>
                </a:lnTo>
                <a:lnTo>
                  <a:pt x="610940" y="148201"/>
                </a:lnTo>
                <a:lnTo>
                  <a:pt x="633585" y="188201"/>
                </a:lnTo>
                <a:lnTo>
                  <a:pt x="650397" y="231399"/>
                </a:lnTo>
                <a:lnTo>
                  <a:pt x="660861" y="277291"/>
                </a:lnTo>
                <a:lnTo>
                  <a:pt x="664464" y="325374"/>
                </a:lnTo>
                <a:lnTo>
                  <a:pt x="660861" y="373456"/>
                </a:lnTo>
                <a:lnTo>
                  <a:pt x="650397" y="419348"/>
                </a:lnTo>
                <a:lnTo>
                  <a:pt x="633585" y="462546"/>
                </a:lnTo>
                <a:lnTo>
                  <a:pt x="610940" y="502546"/>
                </a:lnTo>
                <a:lnTo>
                  <a:pt x="582974" y="538845"/>
                </a:lnTo>
                <a:lnTo>
                  <a:pt x="550201" y="570941"/>
                </a:lnTo>
                <a:lnTo>
                  <a:pt x="513137" y="598329"/>
                </a:lnTo>
                <a:lnTo>
                  <a:pt x="472293" y="620507"/>
                </a:lnTo>
                <a:lnTo>
                  <a:pt x="428186" y="636972"/>
                </a:lnTo>
                <a:lnTo>
                  <a:pt x="381327" y="647220"/>
                </a:lnTo>
                <a:lnTo>
                  <a:pt x="332232" y="650748"/>
                </a:lnTo>
                <a:lnTo>
                  <a:pt x="283136" y="647220"/>
                </a:lnTo>
                <a:lnTo>
                  <a:pt x="236277" y="636972"/>
                </a:lnTo>
                <a:lnTo>
                  <a:pt x="192170" y="620507"/>
                </a:lnTo>
                <a:lnTo>
                  <a:pt x="151326" y="598329"/>
                </a:lnTo>
                <a:lnTo>
                  <a:pt x="114262" y="570941"/>
                </a:lnTo>
                <a:lnTo>
                  <a:pt x="81489" y="538845"/>
                </a:lnTo>
                <a:lnTo>
                  <a:pt x="53523" y="502546"/>
                </a:lnTo>
                <a:lnTo>
                  <a:pt x="30878" y="462546"/>
                </a:lnTo>
                <a:lnTo>
                  <a:pt x="14066" y="419348"/>
                </a:lnTo>
                <a:lnTo>
                  <a:pt x="3602" y="373456"/>
                </a:lnTo>
                <a:lnTo>
                  <a:pt x="0" y="325374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3458" y="4250856"/>
            <a:ext cx="610235" cy="118745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1660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775" b="1" spc="7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775" baseline="-21021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345"/>
              </a:spcBef>
            </a:pP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3.14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25139" y="4440173"/>
            <a:ext cx="380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400" b="1" spc="-7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3134" y="410337"/>
            <a:ext cx="14185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⑴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T0 =</a:t>
            </a:r>
            <a:r>
              <a:rPr sz="2000" b="1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3.14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03134" y="715137"/>
            <a:ext cx="1747520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u="heavy" spc="-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⑵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T1 =</a:t>
            </a:r>
            <a:r>
              <a:rPr sz="2000" b="1" u="heavy" spc="-8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2*T0</a:t>
            </a:r>
            <a:r>
              <a:rPr sz="2000" b="1" u="heavy" spc="-110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657350" algn="l"/>
              </a:tabLst>
            </a:pPr>
            <a:r>
              <a:rPr sz="2000" b="1" u="heavy" spc="-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⑶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T2 =</a:t>
            </a:r>
            <a:r>
              <a:rPr sz="2000" b="1" u="heavy" spc="-13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66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R+r	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⑷</a:t>
            </a:r>
            <a:r>
              <a:rPr sz="2000" b="1" spc="-39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 = </a:t>
            </a:r>
            <a:r>
              <a:rPr sz="2000" b="1" dirty="0">
                <a:solidFill>
                  <a:srgbClr val="99FF33"/>
                </a:solidFill>
                <a:latin typeface="Times New Roman"/>
                <a:cs typeface="Times New Roman"/>
              </a:rPr>
              <a:t>T1 * T2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⑸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 =</a:t>
            </a:r>
            <a:r>
              <a:rPr sz="2000" b="1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⑹</a:t>
            </a:r>
            <a:r>
              <a:rPr sz="2000" b="1" spc="-65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T3 = 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2 * T0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⑺</a:t>
            </a:r>
            <a:r>
              <a:rPr sz="2000" b="1" spc="-58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T4 = </a:t>
            </a:r>
            <a:r>
              <a:rPr sz="2000" b="1" dirty="0">
                <a:solidFill>
                  <a:srgbClr val="66FFFF"/>
                </a:solidFill>
                <a:latin typeface="Times New Roman"/>
                <a:cs typeface="Times New Roman"/>
              </a:rPr>
              <a:t>R+r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⑻</a:t>
            </a:r>
            <a:r>
              <a:rPr sz="2000" b="1" spc="-70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T5 = </a:t>
            </a:r>
            <a:r>
              <a:rPr sz="2000" b="1" dirty="0">
                <a:solidFill>
                  <a:srgbClr val="99FF33"/>
                </a:solidFill>
                <a:latin typeface="Times New Roman"/>
                <a:cs typeface="Times New Roman"/>
              </a:rPr>
              <a:t>T3 * T4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⑼</a:t>
            </a:r>
            <a:r>
              <a:rPr sz="2000" b="1" spc="-59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T6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= R - 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⑽</a:t>
            </a:r>
            <a:r>
              <a:rPr sz="2000" b="1" spc="-65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 = T5 * T6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80909" y="712469"/>
            <a:ext cx="1623060" cy="15240"/>
          </a:xfrm>
          <a:custGeom>
            <a:avLst/>
            <a:gdLst/>
            <a:ahLst/>
            <a:cxnLst/>
            <a:rect l="l" t="t" r="r" b="b"/>
            <a:pathLst>
              <a:path w="1623059" h="15240">
                <a:moveTo>
                  <a:pt x="0" y="15239"/>
                </a:moveTo>
                <a:lnTo>
                  <a:pt x="162306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42182" y="4379214"/>
            <a:ext cx="666115" cy="650875"/>
          </a:xfrm>
          <a:custGeom>
            <a:avLst/>
            <a:gdLst/>
            <a:ahLst/>
            <a:cxnLst/>
            <a:rect l="l" t="t" r="r" b="b"/>
            <a:pathLst>
              <a:path w="666114" h="650875">
                <a:moveTo>
                  <a:pt x="0" y="325374"/>
                </a:moveTo>
                <a:lnTo>
                  <a:pt x="3610" y="277291"/>
                </a:lnTo>
                <a:lnTo>
                  <a:pt x="14099" y="231399"/>
                </a:lnTo>
                <a:lnTo>
                  <a:pt x="30951" y="188201"/>
                </a:lnTo>
                <a:lnTo>
                  <a:pt x="53650" y="148201"/>
                </a:lnTo>
                <a:lnTo>
                  <a:pt x="81681" y="111902"/>
                </a:lnTo>
                <a:lnTo>
                  <a:pt x="114530" y="79806"/>
                </a:lnTo>
                <a:lnTo>
                  <a:pt x="151680" y="52418"/>
                </a:lnTo>
                <a:lnTo>
                  <a:pt x="192617" y="30240"/>
                </a:lnTo>
                <a:lnTo>
                  <a:pt x="236825" y="13775"/>
                </a:lnTo>
                <a:lnTo>
                  <a:pt x="283789" y="3527"/>
                </a:lnTo>
                <a:lnTo>
                  <a:pt x="332993" y="0"/>
                </a:lnTo>
                <a:lnTo>
                  <a:pt x="382198" y="3527"/>
                </a:lnTo>
                <a:lnTo>
                  <a:pt x="429162" y="13775"/>
                </a:lnTo>
                <a:lnTo>
                  <a:pt x="473370" y="30240"/>
                </a:lnTo>
                <a:lnTo>
                  <a:pt x="514307" y="52418"/>
                </a:lnTo>
                <a:lnTo>
                  <a:pt x="551457" y="79806"/>
                </a:lnTo>
                <a:lnTo>
                  <a:pt x="584306" y="111902"/>
                </a:lnTo>
                <a:lnTo>
                  <a:pt x="612337" y="148201"/>
                </a:lnTo>
                <a:lnTo>
                  <a:pt x="635036" y="188201"/>
                </a:lnTo>
                <a:lnTo>
                  <a:pt x="651888" y="231399"/>
                </a:lnTo>
                <a:lnTo>
                  <a:pt x="662377" y="277291"/>
                </a:lnTo>
                <a:lnTo>
                  <a:pt x="665988" y="325374"/>
                </a:lnTo>
                <a:lnTo>
                  <a:pt x="662377" y="373456"/>
                </a:lnTo>
                <a:lnTo>
                  <a:pt x="651888" y="419348"/>
                </a:lnTo>
                <a:lnTo>
                  <a:pt x="635036" y="462546"/>
                </a:lnTo>
                <a:lnTo>
                  <a:pt x="612337" y="502546"/>
                </a:lnTo>
                <a:lnTo>
                  <a:pt x="584306" y="538845"/>
                </a:lnTo>
                <a:lnTo>
                  <a:pt x="551457" y="570941"/>
                </a:lnTo>
                <a:lnTo>
                  <a:pt x="514307" y="598329"/>
                </a:lnTo>
                <a:lnTo>
                  <a:pt x="473370" y="620507"/>
                </a:lnTo>
                <a:lnTo>
                  <a:pt x="429162" y="636972"/>
                </a:lnTo>
                <a:lnTo>
                  <a:pt x="382198" y="647220"/>
                </a:lnTo>
                <a:lnTo>
                  <a:pt x="332993" y="650748"/>
                </a:lnTo>
                <a:lnTo>
                  <a:pt x="283789" y="647220"/>
                </a:lnTo>
                <a:lnTo>
                  <a:pt x="236825" y="636972"/>
                </a:lnTo>
                <a:lnTo>
                  <a:pt x="192617" y="620507"/>
                </a:lnTo>
                <a:lnTo>
                  <a:pt x="151680" y="598329"/>
                </a:lnTo>
                <a:lnTo>
                  <a:pt x="114530" y="570941"/>
                </a:lnTo>
                <a:lnTo>
                  <a:pt x="81681" y="538845"/>
                </a:lnTo>
                <a:lnTo>
                  <a:pt x="53650" y="502546"/>
                </a:lnTo>
                <a:lnTo>
                  <a:pt x="30951" y="462546"/>
                </a:lnTo>
                <a:lnTo>
                  <a:pt x="14099" y="419348"/>
                </a:lnTo>
                <a:lnTo>
                  <a:pt x="3610" y="373456"/>
                </a:lnTo>
                <a:lnTo>
                  <a:pt x="0" y="325374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63161" y="4250856"/>
            <a:ext cx="222885" cy="118745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345"/>
              </a:spcBef>
            </a:pP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69057" y="4417314"/>
            <a:ext cx="666115" cy="650875"/>
          </a:xfrm>
          <a:custGeom>
            <a:avLst/>
            <a:gdLst/>
            <a:ahLst/>
            <a:cxnLst/>
            <a:rect l="l" t="t" r="r" b="b"/>
            <a:pathLst>
              <a:path w="666114" h="650875">
                <a:moveTo>
                  <a:pt x="0" y="325374"/>
                </a:moveTo>
                <a:lnTo>
                  <a:pt x="3610" y="277291"/>
                </a:lnTo>
                <a:lnTo>
                  <a:pt x="14099" y="231399"/>
                </a:lnTo>
                <a:lnTo>
                  <a:pt x="30951" y="188201"/>
                </a:lnTo>
                <a:lnTo>
                  <a:pt x="53650" y="148201"/>
                </a:lnTo>
                <a:lnTo>
                  <a:pt x="81681" y="111902"/>
                </a:lnTo>
                <a:lnTo>
                  <a:pt x="114530" y="79806"/>
                </a:lnTo>
                <a:lnTo>
                  <a:pt x="151680" y="52418"/>
                </a:lnTo>
                <a:lnTo>
                  <a:pt x="192617" y="30240"/>
                </a:lnTo>
                <a:lnTo>
                  <a:pt x="236825" y="13775"/>
                </a:lnTo>
                <a:lnTo>
                  <a:pt x="283789" y="3527"/>
                </a:lnTo>
                <a:lnTo>
                  <a:pt x="332994" y="0"/>
                </a:lnTo>
                <a:lnTo>
                  <a:pt x="382198" y="3527"/>
                </a:lnTo>
                <a:lnTo>
                  <a:pt x="429162" y="13775"/>
                </a:lnTo>
                <a:lnTo>
                  <a:pt x="473370" y="30240"/>
                </a:lnTo>
                <a:lnTo>
                  <a:pt x="514307" y="52418"/>
                </a:lnTo>
                <a:lnTo>
                  <a:pt x="551457" y="79806"/>
                </a:lnTo>
                <a:lnTo>
                  <a:pt x="584306" y="111902"/>
                </a:lnTo>
                <a:lnTo>
                  <a:pt x="612337" y="148201"/>
                </a:lnTo>
                <a:lnTo>
                  <a:pt x="635036" y="188201"/>
                </a:lnTo>
                <a:lnTo>
                  <a:pt x="651888" y="231399"/>
                </a:lnTo>
                <a:lnTo>
                  <a:pt x="662377" y="277291"/>
                </a:lnTo>
                <a:lnTo>
                  <a:pt x="665988" y="325374"/>
                </a:lnTo>
                <a:lnTo>
                  <a:pt x="662377" y="373456"/>
                </a:lnTo>
                <a:lnTo>
                  <a:pt x="651888" y="419348"/>
                </a:lnTo>
                <a:lnTo>
                  <a:pt x="635036" y="462546"/>
                </a:lnTo>
                <a:lnTo>
                  <a:pt x="612337" y="502546"/>
                </a:lnTo>
                <a:lnTo>
                  <a:pt x="584306" y="538845"/>
                </a:lnTo>
                <a:lnTo>
                  <a:pt x="551457" y="570941"/>
                </a:lnTo>
                <a:lnTo>
                  <a:pt x="514307" y="598329"/>
                </a:lnTo>
                <a:lnTo>
                  <a:pt x="473370" y="620507"/>
                </a:lnTo>
                <a:lnTo>
                  <a:pt x="429162" y="636972"/>
                </a:lnTo>
                <a:lnTo>
                  <a:pt x="382198" y="647220"/>
                </a:lnTo>
                <a:lnTo>
                  <a:pt x="332994" y="650748"/>
                </a:lnTo>
                <a:lnTo>
                  <a:pt x="283789" y="647220"/>
                </a:lnTo>
                <a:lnTo>
                  <a:pt x="236825" y="636972"/>
                </a:lnTo>
                <a:lnTo>
                  <a:pt x="192617" y="620507"/>
                </a:lnTo>
                <a:lnTo>
                  <a:pt x="151680" y="598329"/>
                </a:lnTo>
                <a:lnTo>
                  <a:pt x="114530" y="570941"/>
                </a:lnTo>
                <a:lnTo>
                  <a:pt x="81681" y="538845"/>
                </a:lnTo>
                <a:lnTo>
                  <a:pt x="53650" y="502546"/>
                </a:lnTo>
                <a:lnTo>
                  <a:pt x="30951" y="462546"/>
                </a:lnTo>
                <a:lnTo>
                  <a:pt x="14099" y="419348"/>
                </a:lnTo>
                <a:lnTo>
                  <a:pt x="3610" y="373456"/>
                </a:lnTo>
                <a:lnTo>
                  <a:pt x="0" y="325374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348738" y="4289509"/>
            <a:ext cx="609600" cy="11868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1655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775" b="1" spc="7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775" baseline="-21021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345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6.28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80609" y="4345685"/>
            <a:ext cx="666115" cy="650875"/>
          </a:xfrm>
          <a:custGeom>
            <a:avLst/>
            <a:gdLst/>
            <a:ahLst/>
            <a:cxnLst/>
            <a:rect l="l" t="t" r="r" b="b"/>
            <a:pathLst>
              <a:path w="666114" h="650875">
                <a:moveTo>
                  <a:pt x="0" y="325374"/>
                </a:moveTo>
                <a:lnTo>
                  <a:pt x="3610" y="277291"/>
                </a:lnTo>
                <a:lnTo>
                  <a:pt x="14099" y="231399"/>
                </a:lnTo>
                <a:lnTo>
                  <a:pt x="30951" y="188201"/>
                </a:lnTo>
                <a:lnTo>
                  <a:pt x="53650" y="148201"/>
                </a:lnTo>
                <a:lnTo>
                  <a:pt x="81681" y="111902"/>
                </a:lnTo>
                <a:lnTo>
                  <a:pt x="114530" y="79806"/>
                </a:lnTo>
                <a:lnTo>
                  <a:pt x="151680" y="52418"/>
                </a:lnTo>
                <a:lnTo>
                  <a:pt x="192617" y="30240"/>
                </a:lnTo>
                <a:lnTo>
                  <a:pt x="236825" y="13775"/>
                </a:lnTo>
                <a:lnTo>
                  <a:pt x="283789" y="3527"/>
                </a:lnTo>
                <a:lnTo>
                  <a:pt x="332993" y="0"/>
                </a:lnTo>
                <a:lnTo>
                  <a:pt x="382198" y="3527"/>
                </a:lnTo>
                <a:lnTo>
                  <a:pt x="429162" y="13775"/>
                </a:lnTo>
                <a:lnTo>
                  <a:pt x="473370" y="30240"/>
                </a:lnTo>
                <a:lnTo>
                  <a:pt x="514307" y="52418"/>
                </a:lnTo>
                <a:lnTo>
                  <a:pt x="551457" y="79806"/>
                </a:lnTo>
                <a:lnTo>
                  <a:pt x="584306" y="111902"/>
                </a:lnTo>
                <a:lnTo>
                  <a:pt x="612337" y="148201"/>
                </a:lnTo>
                <a:lnTo>
                  <a:pt x="635036" y="188201"/>
                </a:lnTo>
                <a:lnTo>
                  <a:pt x="651888" y="231399"/>
                </a:lnTo>
                <a:lnTo>
                  <a:pt x="662377" y="277291"/>
                </a:lnTo>
                <a:lnTo>
                  <a:pt x="665988" y="325374"/>
                </a:lnTo>
                <a:lnTo>
                  <a:pt x="662377" y="373456"/>
                </a:lnTo>
                <a:lnTo>
                  <a:pt x="651888" y="419348"/>
                </a:lnTo>
                <a:lnTo>
                  <a:pt x="635036" y="462546"/>
                </a:lnTo>
                <a:lnTo>
                  <a:pt x="612337" y="502546"/>
                </a:lnTo>
                <a:lnTo>
                  <a:pt x="584306" y="538845"/>
                </a:lnTo>
                <a:lnTo>
                  <a:pt x="551457" y="570941"/>
                </a:lnTo>
                <a:lnTo>
                  <a:pt x="514307" y="598329"/>
                </a:lnTo>
                <a:lnTo>
                  <a:pt x="473370" y="620507"/>
                </a:lnTo>
                <a:lnTo>
                  <a:pt x="429162" y="636972"/>
                </a:lnTo>
                <a:lnTo>
                  <a:pt x="382198" y="647220"/>
                </a:lnTo>
                <a:lnTo>
                  <a:pt x="332993" y="650747"/>
                </a:lnTo>
                <a:lnTo>
                  <a:pt x="283789" y="647220"/>
                </a:lnTo>
                <a:lnTo>
                  <a:pt x="236825" y="636972"/>
                </a:lnTo>
                <a:lnTo>
                  <a:pt x="192617" y="620507"/>
                </a:lnTo>
                <a:lnTo>
                  <a:pt x="151680" y="598329"/>
                </a:lnTo>
                <a:lnTo>
                  <a:pt x="114530" y="570941"/>
                </a:lnTo>
                <a:lnTo>
                  <a:pt x="81681" y="538845"/>
                </a:lnTo>
                <a:lnTo>
                  <a:pt x="53650" y="502546"/>
                </a:lnTo>
                <a:lnTo>
                  <a:pt x="30951" y="462546"/>
                </a:lnTo>
                <a:lnTo>
                  <a:pt x="14099" y="419348"/>
                </a:lnTo>
                <a:lnTo>
                  <a:pt x="3610" y="373456"/>
                </a:lnTo>
                <a:lnTo>
                  <a:pt x="0" y="325374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013071" y="4217856"/>
            <a:ext cx="397510" cy="1186815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660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775" b="1" spc="7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775" baseline="-21021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345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R</a:t>
            </a:r>
            <a:r>
              <a:rPr sz="2400" b="1" spc="-7" baseline="-20833" dirty="0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51626" y="4338065"/>
            <a:ext cx="666115" cy="650875"/>
          </a:xfrm>
          <a:custGeom>
            <a:avLst/>
            <a:gdLst/>
            <a:ahLst/>
            <a:cxnLst/>
            <a:rect l="l" t="t" r="r" b="b"/>
            <a:pathLst>
              <a:path w="666115" h="650875">
                <a:moveTo>
                  <a:pt x="0" y="325373"/>
                </a:moveTo>
                <a:lnTo>
                  <a:pt x="3610" y="277291"/>
                </a:lnTo>
                <a:lnTo>
                  <a:pt x="14099" y="231399"/>
                </a:lnTo>
                <a:lnTo>
                  <a:pt x="30951" y="188201"/>
                </a:lnTo>
                <a:lnTo>
                  <a:pt x="53650" y="148201"/>
                </a:lnTo>
                <a:lnTo>
                  <a:pt x="81681" y="111902"/>
                </a:lnTo>
                <a:lnTo>
                  <a:pt x="114530" y="79806"/>
                </a:lnTo>
                <a:lnTo>
                  <a:pt x="151680" y="52418"/>
                </a:lnTo>
                <a:lnTo>
                  <a:pt x="192617" y="30240"/>
                </a:lnTo>
                <a:lnTo>
                  <a:pt x="236825" y="13775"/>
                </a:lnTo>
                <a:lnTo>
                  <a:pt x="283789" y="3527"/>
                </a:lnTo>
                <a:lnTo>
                  <a:pt x="332994" y="0"/>
                </a:lnTo>
                <a:lnTo>
                  <a:pt x="382198" y="3527"/>
                </a:lnTo>
                <a:lnTo>
                  <a:pt x="429162" y="13775"/>
                </a:lnTo>
                <a:lnTo>
                  <a:pt x="473370" y="30240"/>
                </a:lnTo>
                <a:lnTo>
                  <a:pt x="514307" y="52418"/>
                </a:lnTo>
                <a:lnTo>
                  <a:pt x="551457" y="79806"/>
                </a:lnTo>
                <a:lnTo>
                  <a:pt x="584306" y="111902"/>
                </a:lnTo>
                <a:lnTo>
                  <a:pt x="612337" y="148201"/>
                </a:lnTo>
                <a:lnTo>
                  <a:pt x="635036" y="188201"/>
                </a:lnTo>
                <a:lnTo>
                  <a:pt x="651888" y="231399"/>
                </a:lnTo>
                <a:lnTo>
                  <a:pt x="662377" y="277291"/>
                </a:lnTo>
                <a:lnTo>
                  <a:pt x="665988" y="325373"/>
                </a:lnTo>
                <a:lnTo>
                  <a:pt x="662377" y="373456"/>
                </a:lnTo>
                <a:lnTo>
                  <a:pt x="651888" y="419348"/>
                </a:lnTo>
                <a:lnTo>
                  <a:pt x="635036" y="462546"/>
                </a:lnTo>
                <a:lnTo>
                  <a:pt x="612337" y="502546"/>
                </a:lnTo>
                <a:lnTo>
                  <a:pt x="584306" y="538845"/>
                </a:lnTo>
                <a:lnTo>
                  <a:pt x="551457" y="570941"/>
                </a:lnTo>
                <a:lnTo>
                  <a:pt x="514307" y="598329"/>
                </a:lnTo>
                <a:lnTo>
                  <a:pt x="473370" y="620507"/>
                </a:lnTo>
                <a:lnTo>
                  <a:pt x="429162" y="636972"/>
                </a:lnTo>
                <a:lnTo>
                  <a:pt x="382198" y="647220"/>
                </a:lnTo>
                <a:lnTo>
                  <a:pt x="332994" y="650747"/>
                </a:lnTo>
                <a:lnTo>
                  <a:pt x="283789" y="647220"/>
                </a:lnTo>
                <a:lnTo>
                  <a:pt x="236825" y="636972"/>
                </a:lnTo>
                <a:lnTo>
                  <a:pt x="192617" y="620507"/>
                </a:lnTo>
                <a:lnTo>
                  <a:pt x="151680" y="598329"/>
                </a:lnTo>
                <a:lnTo>
                  <a:pt x="114530" y="570941"/>
                </a:lnTo>
                <a:lnTo>
                  <a:pt x="81681" y="538845"/>
                </a:lnTo>
                <a:lnTo>
                  <a:pt x="53650" y="502546"/>
                </a:lnTo>
                <a:lnTo>
                  <a:pt x="30951" y="462546"/>
                </a:lnTo>
                <a:lnTo>
                  <a:pt x="14099" y="419348"/>
                </a:lnTo>
                <a:lnTo>
                  <a:pt x="3610" y="373456"/>
                </a:lnTo>
                <a:lnTo>
                  <a:pt x="0" y="325373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288278" y="4208753"/>
            <a:ext cx="393700" cy="1188085"/>
          </a:xfrm>
          <a:prstGeom prst="rect">
            <a:avLst/>
          </a:prstGeom>
        </p:spPr>
        <p:txBody>
          <a:bodyPr vert="horz" wrap="square" lIns="0" tIns="21145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64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775" b="1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775" baseline="-21021">
              <a:latin typeface="Times New Roman"/>
              <a:cs typeface="Times New Roman"/>
            </a:endParaRPr>
          </a:p>
          <a:p>
            <a:pPr marL="110489">
              <a:lnSpc>
                <a:spcPct val="100000"/>
              </a:lnSpc>
              <a:spcBef>
                <a:spcPts val="1350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r</a:t>
            </a:r>
            <a:r>
              <a:rPr sz="2400" b="1" spc="-7" baseline="-20833" dirty="0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452109" y="2396489"/>
            <a:ext cx="666115" cy="650875"/>
          </a:xfrm>
          <a:custGeom>
            <a:avLst/>
            <a:gdLst/>
            <a:ahLst/>
            <a:cxnLst/>
            <a:rect l="l" t="t" r="r" b="b"/>
            <a:pathLst>
              <a:path w="666114" h="650875">
                <a:moveTo>
                  <a:pt x="0" y="325374"/>
                </a:moveTo>
                <a:lnTo>
                  <a:pt x="3610" y="277291"/>
                </a:lnTo>
                <a:lnTo>
                  <a:pt x="14099" y="231399"/>
                </a:lnTo>
                <a:lnTo>
                  <a:pt x="30951" y="188201"/>
                </a:lnTo>
                <a:lnTo>
                  <a:pt x="53650" y="148201"/>
                </a:lnTo>
                <a:lnTo>
                  <a:pt x="81681" y="111902"/>
                </a:lnTo>
                <a:lnTo>
                  <a:pt x="114530" y="79806"/>
                </a:lnTo>
                <a:lnTo>
                  <a:pt x="151680" y="52418"/>
                </a:lnTo>
                <a:lnTo>
                  <a:pt x="192617" y="30240"/>
                </a:lnTo>
                <a:lnTo>
                  <a:pt x="236825" y="13775"/>
                </a:lnTo>
                <a:lnTo>
                  <a:pt x="283789" y="3527"/>
                </a:lnTo>
                <a:lnTo>
                  <a:pt x="332993" y="0"/>
                </a:lnTo>
                <a:lnTo>
                  <a:pt x="382198" y="3527"/>
                </a:lnTo>
                <a:lnTo>
                  <a:pt x="429162" y="13775"/>
                </a:lnTo>
                <a:lnTo>
                  <a:pt x="473370" y="30240"/>
                </a:lnTo>
                <a:lnTo>
                  <a:pt x="514307" y="52418"/>
                </a:lnTo>
                <a:lnTo>
                  <a:pt x="551457" y="79806"/>
                </a:lnTo>
                <a:lnTo>
                  <a:pt x="584306" y="111902"/>
                </a:lnTo>
                <a:lnTo>
                  <a:pt x="612337" y="148201"/>
                </a:lnTo>
                <a:lnTo>
                  <a:pt x="635036" y="188201"/>
                </a:lnTo>
                <a:lnTo>
                  <a:pt x="651888" y="231399"/>
                </a:lnTo>
                <a:lnTo>
                  <a:pt x="662377" y="277291"/>
                </a:lnTo>
                <a:lnTo>
                  <a:pt x="665988" y="325374"/>
                </a:lnTo>
                <a:lnTo>
                  <a:pt x="662377" y="373456"/>
                </a:lnTo>
                <a:lnTo>
                  <a:pt x="651888" y="419348"/>
                </a:lnTo>
                <a:lnTo>
                  <a:pt x="635036" y="462546"/>
                </a:lnTo>
                <a:lnTo>
                  <a:pt x="612337" y="502546"/>
                </a:lnTo>
                <a:lnTo>
                  <a:pt x="584306" y="538845"/>
                </a:lnTo>
                <a:lnTo>
                  <a:pt x="551457" y="570941"/>
                </a:lnTo>
                <a:lnTo>
                  <a:pt x="514307" y="598329"/>
                </a:lnTo>
                <a:lnTo>
                  <a:pt x="473370" y="620507"/>
                </a:lnTo>
                <a:lnTo>
                  <a:pt x="429162" y="636972"/>
                </a:lnTo>
                <a:lnTo>
                  <a:pt x="382198" y="647220"/>
                </a:lnTo>
                <a:lnTo>
                  <a:pt x="332993" y="650748"/>
                </a:lnTo>
                <a:lnTo>
                  <a:pt x="283789" y="647220"/>
                </a:lnTo>
                <a:lnTo>
                  <a:pt x="236825" y="636972"/>
                </a:lnTo>
                <a:lnTo>
                  <a:pt x="192617" y="620507"/>
                </a:lnTo>
                <a:lnTo>
                  <a:pt x="151680" y="598329"/>
                </a:lnTo>
                <a:lnTo>
                  <a:pt x="114530" y="570941"/>
                </a:lnTo>
                <a:lnTo>
                  <a:pt x="81681" y="538845"/>
                </a:lnTo>
                <a:lnTo>
                  <a:pt x="53650" y="502546"/>
                </a:lnTo>
                <a:lnTo>
                  <a:pt x="30951" y="462546"/>
                </a:lnTo>
                <a:lnTo>
                  <a:pt x="14099" y="419348"/>
                </a:lnTo>
                <a:lnTo>
                  <a:pt x="3610" y="373456"/>
                </a:lnTo>
                <a:lnTo>
                  <a:pt x="0" y="325374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588253" y="2326805"/>
            <a:ext cx="393700" cy="107759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95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775" b="1" spc="7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775" baseline="-21021">
              <a:latin typeface="Times New Roman"/>
              <a:cs typeface="Times New Roman"/>
            </a:endParaRPr>
          </a:p>
          <a:p>
            <a:pPr marL="135890">
              <a:lnSpc>
                <a:spcPct val="100000"/>
              </a:lnSpc>
              <a:spcBef>
                <a:spcPts val="944"/>
              </a:spcBef>
            </a:pP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213603" y="2965704"/>
            <a:ext cx="335280" cy="1365250"/>
          </a:xfrm>
          <a:custGeom>
            <a:avLst/>
            <a:gdLst/>
            <a:ahLst/>
            <a:cxnLst/>
            <a:rect l="l" t="t" r="r" b="b"/>
            <a:pathLst>
              <a:path w="335279" h="1365250">
                <a:moveTo>
                  <a:pt x="335025" y="0"/>
                </a:moveTo>
                <a:lnTo>
                  <a:pt x="0" y="136525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19800" y="2965704"/>
            <a:ext cx="465455" cy="1357630"/>
          </a:xfrm>
          <a:custGeom>
            <a:avLst/>
            <a:gdLst/>
            <a:ahLst/>
            <a:cxnLst/>
            <a:rect l="l" t="t" r="r" b="b"/>
            <a:pathLst>
              <a:path w="465454" h="1357629">
                <a:moveTo>
                  <a:pt x="0" y="0"/>
                </a:moveTo>
                <a:lnTo>
                  <a:pt x="465200" y="1357249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122923" y="2350084"/>
            <a:ext cx="229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325615" y="2527554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16448" y="26923"/>
            <a:ext cx="2636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D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AG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定义与应用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018" y="26923"/>
            <a:ext cx="4320540" cy="1173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4184">
              <a:lnSpc>
                <a:spcPct val="100000"/>
              </a:lnSpc>
              <a:spcBef>
                <a:spcPts val="100"/>
              </a:spcBef>
              <a:tabLst>
                <a:tab pos="1107440" algn="l"/>
                <a:tab pos="2637790" algn="l"/>
                <a:tab pos="314706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8.2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局部优化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tabLst>
                <a:tab pos="666115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解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构造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DA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的过程如下：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6961" y="4508372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9653" y="4685157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4641" y="4367021"/>
            <a:ext cx="664845" cy="650875"/>
          </a:xfrm>
          <a:custGeom>
            <a:avLst/>
            <a:gdLst/>
            <a:ahLst/>
            <a:cxnLst/>
            <a:rect l="l" t="t" r="r" b="b"/>
            <a:pathLst>
              <a:path w="664844" h="650875">
                <a:moveTo>
                  <a:pt x="0" y="325373"/>
                </a:moveTo>
                <a:lnTo>
                  <a:pt x="3602" y="277291"/>
                </a:lnTo>
                <a:lnTo>
                  <a:pt x="14066" y="231399"/>
                </a:lnTo>
                <a:lnTo>
                  <a:pt x="30878" y="188201"/>
                </a:lnTo>
                <a:lnTo>
                  <a:pt x="53523" y="148201"/>
                </a:lnTo>
                <a:lnTo>
                  <a:pt x="81489" y="111902"/>
                </a:lnTo>
                <a:lnTo>
                  <a:pt x="114262" y="79806"/>
                </a:lnTo>
                <a:lnTo>
                  <a:pt x="151326" y="52418"/>
                </a:lnTo>
                <a:lnTo>
                  <a:pt x="192170" y="30240"/>
                </a:lnTo>
                <a:lnTo>
                  <a:pt x="236277" y="13775"/>
                </a:lnTo>
                <a:lnTo>
                  <a:pt x="283136" y="3527"/>
                </a:lnTo>
                <a:lnTo>
                  <a:pt x="332232" y="0"/>
                </a:lnTo>
                <a:lnTo>
                  <a:pt x="381327" y="3527"/>
                </a:lnTo>
                <a:lnTo>
                  <a:pt x="428186" y="13775"/>
                </a:lnTo>
                <a:lnTo>
                  <a:pt x="472293" y="30240"/>
                </a:lnTo>
                <a:lnTo>
                  <a:pt x="513137" y="52418"/>
                </a:lnTo>
                <a:lnTo>
                  <a:pt x="550201" y="79806"/>
                </a:lnTo>
                <a:lnTo>
                  <a:pt x="582974" y="111902"/>
                </a:lnTo>
                <a:lnTo>
                  <a:pt x="610940" y="148201"/>
                </a:lnTo>
                <a:lnTo>
                  <a:pt x="633585" y="188201"/>
                </a:lnTo>
                <a:lnTo>
                  <a:pt x="650397" y="231399"/>
                </a:lnTo>
                <a:lnTo>
                  <a:pt x="660861" y="277291"/>
                </a:lnTo>
                <a:lnTo>
                  <a:pt x="664464" y="325373"/>
                </a:lnTo>
                <a:lnTo>
                  <a:pt x="660861" y="373456"/>
                </a:lnTo>
                <a:lnTo>
                  <a:pt x="650397" y="419348"/>
                </a:lnTo>
                <a:lnTo>
                  <a:pt x="633585" y="462546"/>
                </a:lnTo>
                <a:lnTo>
                  <a:pt x="610940" y="502546"/>
                </a:lnTo>
                <a:lnTo>
                  <a:pt x="582974" y="538845"/>
                </a:lnTo>
                <a:lnTo>
                  <a:pt x="550201" y="570941"/>
                </a:lnTo>
                <a:lnTo>
                  <a:pt x="513137" y="598329"/>
                </a:lnTo>
                <a:lnTo>
                  <a:pt x="472293" y="620507"/>
                </a:lnTo>
                <a:lnTo>
                  <a:pt x="428186" y="636972"/>
                </a:lnTo>
                <a:lnTo>
                  <a:pt x="381327" y="647220"/>
                </a:lnTo>
                <a:lnTo>
                  <a:pt x="332232" y="650747"/>
                </a:lnTo>
                <a:lnTo>
                  <a:pt x="283136" y="647220"/>
                </a:lnTo>
                <a:lnTo>
                  <a:pt x="236277" y="636972"/>
                </a:lnTo>
                <a:lnTo>
                  <a:pt x="192170" y="620507"/>
                </a:lnTo>
                <a:lnTo>
                  <a:pt x="151326" y="598329"/>
                </a:lnTo>
                <a:lnTo>
                  <a:pt x="114262" y="570941"/>
                </a:lnTo>
                <a:lnTo>
                  <a:pt x="81489" y="538845"/>
                </a:lnTo>
                <a:lnTo>
                  <a:pt x="53523" y="502546"/>
                </a:lnTo>
                <a:lnTo>
                  <a:pt x="30878" y="462546"/>
                </a:lnTo>
                <a:lnTo>
                  <a:pt x="14066" y="419348"/>
                </a:lnTo>
                <a:lnTo>
                  <a:pt x="3602" y="373456"/>
                </a:lnTo>
                <a:lnTo>
                  <a:pt x="0" y="325373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4916" y="4437126"/>
            <a:ext cx="222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036" y="4641341"/>
            <a:ext cx="1447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8858" y="5034153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3.14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03134" y="410337"/>
            <a:ext cx="14185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⑴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T0 =</a:t>
            </a:r>
            <a:r>
              <a:rPr sz="2000" b="1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3.14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03134" y="715137"/>
            <a:ext cx="167449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u="heavy" spc="-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⑵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T1 =</a:t>
            </a:r>
            <a:r>
              <a:rPr sz="2000" b="1" u="heavy" spc="-90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2*T0</a:t>
            </a:r>
            <a:r>
              <a:rPr sz="2000" b="1" u="heavy" spc="-110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657350" algn="l"/>
              </a:tabLst>
            </a:pPr>
            <a:r>
              <a:rPr sz="2000" b="1" u="heavy" spc="-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⑶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T2 =</a:t>
            </a:r>
            <a:r>
              <a:rPr sz="2000" b="1" u="heavy" spc="-13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66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R+r	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⑷</a:t>
            </a:r>
            <a:r>
              <a:rPr sz="2000" b="1" spc="-39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A = </a:t>
            </a:r>
            <a:r>
              <a:rPr sz="2000" b="1" u="heavy" dirty="0">
                <a:solidFill>
                  <a:srgbClr val="99FF33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T1 * T2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201420" algn="l"/>
              </a:tabLst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⑸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B =</a:t>
            </a:r>
            <a:r>
              <a:rPr sz="2000" b="1" u="heavy" spc="-210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A	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⑹</a:t>
            </a:r>
            <a:r>
              <a:rPr sz="2000" b="1" spc="-66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T3 = 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2 * T0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03134" y="2239518"/>
            <a:ext cx="174752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62100" algn="l"/>
              </a:tabLst>
            </a:pPr>
            <a:r>
              <a:rPr sz="2000" b="1" u="heavy" spc="-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⑺</a:t>
            </a:r>
            <a:r>
              <a:rPr sz="2000" b="1" u="heavy" spc="-640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T4 = </a:t>
            </a:r>
            <a:r>
              <a:rPr sz="2000" b="1" u="heavy" dirty="0">
                <a:solidFill>
                  <a:srgbClr val="66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R+r	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⑻</a:t>
            </a:r>
            <a:r>
              <a:rPr sz="2000" b="1" spc="-70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T5 = </a:t>
            </a:r>
            <a:r>
              <a:rPr sz="2000" b="1" u="heavy" dirty="0">
                <a:solidFill>
                  <a:srgbClr val="99FF33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T3 * T4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562100" algn="l"/>
              </a:tabLst>
            </a:pPr>
            <a:r>
              <a:rPr sz="2000" b="1" u="heavy" spc="-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⑼</a:t>
            </a:r>
            <a:r>
              <a:rPr sz="2000" b="1" u="heavy" spc="-630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 </a:t>
            </a:r>
            <a:r>
              <a:rPr sz="2000" b="1" u="heavy" spc="-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T6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= R - r	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⑽</a:t>
            </a:r>
            <a:r>
              <a:rPr sz="2000" b="1" spc="-65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B = T5 * T6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80909" y="712469"/>
            <a:ext cx="1623060" cy="15240"/>
          </a:xfrm>
          <a:custGeom>
            <a:avLst/>
            <a:gdLst/>
            <a:ahLst/>
            <a:cxnLst/>
            <a:rect l="l" t="t" r="r" b="b"/>
            <a:pathLst>
              <a:path w="1623059" h="15240">
                <a:moveTo>
                  <a:pt x="0" y="15239"/>
                </a:moveTo>
                <a:lnTo>
                  <a:pt x="162306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69057" y="4417314"/>
            <a:ext cx="666115" cy="650875"/>
          </a:xfrm>
          <a:custGeom>
            <a:avLst/>
            <a:gdLst/>
            <a:ahLst/>
            <a:cxnLst/>
            <a:rect l="l" t="t" r="r" b="b"/>
            <a:pathLst>
              <a:path w="666114" h="650875">
                <a:moveTo>
                  <a:pt x="0" y="325374"/>
                </a:moveTo>
                <a:lnTo>
                  <a:pt x="3610" y="277291"/>
                </a:lnTo>
                <a:lnTo>
                  <a:pt x="14099" y="231399"/>
                </a:lnTo>
                <a:lnTo>
                  <a:pt x="30951" y="188201"/>
                </a:lnTo>
                <a:lnTo>
                  <a:pt x="53650" y="148201"/>
                </a:lnTo>
                <a:lnTo>
                  <a:pt x="81681" y="111902"/>
                </a:lnTo>
                <a:lnTo>
                  <a:pt x="114530" y="79806"/>
                </a:lnTo>
                <a:lnTo>
                  <a:pt x="151680" y="52418"/>
                </a:lnTo>
                <a:lnTo>
                  <a:pt x="192617" y="30240"/>
                </a:lnTo>
                <a:lnTo>
                  <a:pt x="236825" y="13775"/>
                </a:lnTo>
                <a:lnTo>
                  <a:pt x="283789" y="3527"/>
                </a:lnTo>
                <a:lnTo>
                  <a:pt x="332994" y="0"/>
                </a:lnTo>
                <a:lnTo>
                  <a:pt x="382198" y="3527"/>
                </a:lnTo>
                <a:lnTo>
                  <a:pt x="429162" y="13775"/>
                </a:lnTo>
                <a:lnTo>
                  <a:pt x="473370" y="30240"/>
                </a:lnTo>
                <a:lnTo>
                  <a:pt x="514307" y="52418"/>
                </a:lnTo>
                <a:lnTo>
                  <a:pt x="551457" y="79806"/>
                </a:lnTo>
                <a:lnTo>
                  <a:pt x="584306" y="111902"/>
                </a:lnTo>
                <a:lnTo>
                  <a:pt x="612337" y="148201"/>
                </a:lnTo>
                <a:lnTo>
                  <a:pt x="635036" y="188201"/>
                </a:lnTo>
                <a:lnTo>
                  <a:pt x="651888" y="231399"/>
                </a:lnTo>
                <a:lnTo>
                  <a:pt x="662377" y="277291"/>
                </a:lnTo>
                <a:lnTo>
                  <a:pt x="665988" y="325374"/>
                </a:lnTo>
                <a:lnTo>
                  <a:pt x="662377" y="373456"/>
                </a:lnTo>
                <a:lnTo>
                  <a:pt x="651888" y="419348"/>
                </a:lnTo>
                <a:lnTo>
                  <a:pt x="635036" y="462546"/>
                </a:lnTo>
                <a:lnTo>
                  <a:pt x="612337" y="502546"/>
                </a:lnTo>
                <a:lnTo>
                  <a:pt x="584306" y="538845"/>
                </a:lnTo>
                <a:lnTo>
                  <a:pt x="551457" y="570941"/>
                </a:lnTo>
                <a:lnTo>
                  <a:pt x="514307" y="598329"/>
                </a:lnTo>
                <a:lnTo>
                  <a:pt x="473370" y="620507"/>
                </a:lnTo>
                <a:lnTo>
                  <a:pt x="429162" y="636972"/>
                </a:lnTo>
                <a:lnTo>
                  <a:pt x="382198" y="647220"/>
                </a:lnTo>
                <a:lnTo>
                  <a:pt x="332994" y="650748"/>
                </a:lnTo>
                <a:lnTo>
                  <a:pt x="283789" y="647220"/>
                </a:lnTo>
                <a:lnTo>
                  <a:pt x="236825" y="636972"/>
                </a:lnTo>
                <a:lnTo>
                  <a:pt x="192617" y="620507"/>
                </a:lnTo>
                <a:lnTo>
                  <a:pt x="151680" y="598329"/>
                </a:lnTo>
                <a:lnTo>
                  <a:pt x="114530" y="570941"/>
                </a:lnTo>
                <a:lnTo>
                  <a:pt x="81681" y="538845"/>
                </a:lnTo>
                <a:lnTo>
                  <a:pt x="53650" y="502546"/>
                </a:lnTo>
                <a:lnTo>
                  <a:pt x="30951" y="462546"/>
                </a:lnTo>
                <a:lnTo>
                  <a:pt x="14099" y="419348"/>
                </a:lnTo>
                <a:lnTo>
                  <a:pt x="3610" y="373456"/>
                </a:lnTo>
                <a:lnTo>
                  <a:pt x="0" y="325374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30220" y="4487926"/>
            <a:ext cx="222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28341" y="4692141"/>
            <a:ext cx="1447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74138" y="5084521"/>
            <a:ext cx="5588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6.28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09009" y="5615178"/>
            <a:ext cx="666115" cy="650875"/>
          </a:xfrm>
          <a:custGeom>
            <a:avLst/>
            <a:gdLst/>
            <a:ahLst/>
            <a:cxnLst/>
            <a:rect l="l" t="t" r="r" b="b"/>
            <a:pathLst>
              <a:path w="666114" h="650875">
                <a:moveTo>
                  <a:pt x="0" y="325374"/>
                </a:moveTo>
                <a:lnTo>
                  <a:pt x="3610" y="277291"/>
                </a:lnTo>
                <a:lnTo>
                  <a:pt x="14099" y="231399"/>
                </a:lnTo>
                <a:lnTo>
                  <a:pt x="30951" y="188201"/>
                </a:lnTo>
                <a:lnTo>
                  <a:pt x="53650" y="148201"/>
                </a:lnTo>
                <a:lnTo>
                  <a:pt x="81681" y="111902"/>
                </a:lnTo>
                <a:lnTo>
                  <a:pt x="114530" y="79806"/>
                </a:lnTo>
                <a:lnTo>
                  <a:pt x="151680" y="52418"/>
                </a:lnTo>
                <a:lnTo>
                  <a:pt x="192617" y="30240"/>
                </a:lnTo>
                <a:lnTo>
                  <a:pt x="236825" y="13775"/>
                </a:lnTo>
                <a:lnTo>
                  <a:pt x="283789" y="3527"/>
                </a:lnTo>
                <a:lnTo>
                  <a:pt x="332993" y="0"/>
                </a:lnTo>
                <a:lnTo>
                  <a:pt x="382198" y="3527"/>
                </a:lnTo>
                <a:lnTo>
                  <a:pt x="429162" y="13775"/>
                </a:lnTo>
                <a:lnTo>
                  <a:pt x="473370" y="30240"/>
                </a:lnTo>
                <a:lnTo>
                  <a:pt x="514307" y="52418"/>
                </a:lnTo>
                <a:lnTo>
                  <a:pt x="551457" y="79806"/>
                </a:lnTo>
                <a:lnTo>
                  <a:pt x="584306" y="111902"/>
                </a:lnTo>
                <a:lnTo>
                  <a:pt x="612337" y="148201"/>
                </a:lnTo>
                <a:lnTo>
                  <a:pt x="635036" y="188201"/>
                </a:lnTo>
                <a:lnTo>
                  <a:pt x="651888" y="231399"/>
                </a:lnTo>
                <a:lnTo>
                  <a:pt x="662377" y="277291"/>
                </a:lnTo>
                <a:lnTo>
                  <a:pt x="665988" y="325374"/>
                </a:lnTo>
                <a:lnTo>
                  <a:pt x="662377" y="373456"/>
                </a:lnTo>
                <a:lnTo>
                  <a:pt x="651888" y="419348"/>
                </a:lnTo>
                <a:lnTo>
                  <a:pt x="635036" y="462546"/>
                </a:lnTo>
                <a:lnTo>
                  <a:pt x="612337" y="502546"/>
                </a:lnTo>
                <a:lnTo>
                  <a:pt x="584306" y="538845"/>
                </a:lnTo>
                <a:lnTo>
                  <a:pt x="551457" y="570941"/>
                </a:lnTo>
                <a:lnTo>
                  <a:pt x="514307" y="598329"/>
                </a:lnTo>
                <a:lnTo>
                  <a:pt x="473370" y="620507"/>
                </a:lnTo>
                <a:lnTo>
                  <a:pt x="429162" y="636972"/>
                </a:lnTo>
                <a:lnTo>
                  <a:pt x="382198" y="647220"/>
                </a:lnTo>
                <a:lnTo>
                  <a:pt x="332993" y="650748"/>
                </a:lnTo>
                <a:lnTo>
                  <a:pt x="283789" y="647220"/>
                </a:lnTo>
                <a:lnTo>
                  <a:pt x="236825" y="636972"/>
                </a:lnTo>
                <a:lnTo>
                  <a:pt x="192617" y="620507"/>
                </a:lnTo>
                <a:lnTo>
                  <a:pt x="151680" y="598329"/>
                </a:lnTo>
                <a:lnTo>
                  <a:pt x="114530" y="570941"/>
                </a:lnTo>
                <a:lnTo>
                  <a:pt x="81681" y="538845"/>
                </a:lnTo>
                <a:lnTo>
                  <a:pt x="53650" y="502546"/>
                </a:lnTo>
                <a:lnTo>
                  <a:pt x="30951" y="462546"/>
                </a:lnTo>
                <a:lnTo>
                  <a:pt x="14099" y="419348"/>
                </a:lnTo>
                <a:lnTo>
                  <a:pt x="3610" y="373456"/>
                </a:lnTo>
                <a:lnTo>
                  <a:pt x="0" y="325374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641090" y="5488457"/>
            <a:ext cx="398145" cy="11868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655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775" b="1" spc="7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775" baseline="-21021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345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R</a:t>
            </a:r>
            <a:r>
              <a:rPr sz="2400" b="1" spc="-7" baseline="-20833" dirty="0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780026" y="5607558"/>
            <a:ext cx="666115" cy="650875"/>
          </a:xfrm>
          <a:custGeom>
            <a:avLst/>
            <a:gdLst/>
            <a:ahLst/>
            <a:cxnLst/>
            <a:rect l="l" t="t" r="r" b="b"/>
            <a:pathLst>
              <a:path w="666114" h="650875">
                <a:moveTo>
                  <a:pt x="0" y="325373"/>
                </a:moveTo>
                <a:lnTo>
                  <a:pt x="3610" y="277291"/>
                </a:lnTo>
                <a:lnTo>
                  <a:pt x="14099" y="231399"/>
                </a:lnTo>
                <a:lnTo>
                  <a:pt x="30951" y="188201"/>
                </a:lnTo>
                <a:lnTo>
                  <a:pt x="53650" y="148201"/>
                </a:lnTo>
                <a:lnTo>
                  <a:pt x="81681" y="111902"/>
                </a:lnTo>
                <a:lnTo>
                  <a:pt x="114530" y="79806"/>
                </a:lnTo>
                <a:lnTo>
                  <a:pt x="151680" y="52418"/>
                </a:lnTo>
                <a:lnTo>
                  <a:pt x="192617" y="30240"/>
                </a:lnTo>
                <a:lnTo>
                  <a:pt x="236825" y="13775"/>
                </a:lnTo>
                <a:lnTo>
                  <a:pt x="283789" y="3527"/>
                </a:lnTo>
                <a:lnTo>
                  <a:pt x="332994" y="0"/>
                </a:lnTo>
                <a:lnTo>
                  <a:pt x="382198" y="3527"/>
                </a:lnTo>
                <a:lnTo>
                  <a:pt x="429162" y="13775"/>
                </a:lnTo>
                <a:lnTo>
                  <a:pt x="473370" y="30240"/>
                </a:lnTo>
                <a:lnTo>
                  <a:pt x="514307" y="52418"/>
                </a:lnTo>
                <a:lnTo>
                  <a:pt x="551457" y="79806"/>
                </a:lnTo>
                <a:lnTo>
                  <a:pt x="584306" y="111902"/>
                </a:lnTo>
                <a:lnTo>
                  <a:pt x="612337" y="148201"/>
                </a:lnTo>
                <a:lnTo>
                  <a:pt x="635036" y="188201"/>
                </a:lnTo>
                <a:lnTo>
                  <a:pt x="651888" y="231399"/>
                </a:lnTo>
                <a:lnTo>
                  <a:pt x="662377" y="277291"/>
                </a:lnTo>
                <a:lnTo>
                  <a:pt x="665988" y="325373"/>
                </a:lnTo>
                <a:lnTo>
                  <a:pt x="662377" y="373456"/>
                </a:lnTo>
                <a:lnTo>
                  <a:pt x="651888" y="419348"/>
                </a:lnTo>
                <a:lnTo>
                  <a:pt x="635036" y="462546"/>
                </a:lnTo>
                <a:lnTo>
                  <a:pt x="612337" y="502546"/>
                </a:lnTo>
                <a:lnTo>
                  <a:pt x="584306" y="538845"/>
                </a:lnTo>
                <a:lnTo>
                  <a:pt x="551457" y="570941"/>
                </a:lnTo>
                <a:lnTo>
                  <a:pt x="514307" y="598329"/>
                </a:lnTo>
                <a:lnTo>
                  <a:pt x="473370" y="620507"/>
                </a:lnTo>
                <a:lnTo>
                  <a:pt x="429162" y="636972"/>
                </a:lnTo>
                <a:lnTo>
                  <a:pt x="382198" y="647220"/>
                </a:lnTo>
                <a:lnTo>
                  <a:pt x="332994" y="650747"/>
                </a:lnTo>
                <a:lnTo>
                  <a:pt x="283789" y="647220"/>
                </a:lnTo>
                <a:lnTo>
                  <a:pt x="236825" y="636972"/>
                </a:lnTo>
                <a:lnTo>
                  <a:pt x="192617" y="620507"/>
                </a:lnTo>
                <a:lnTo>
                  <a:pt x="151680" y="598329"/>
                </a:lnTo>
                <a:lnTo>
                  <a:pt x="114530" y="570941"/>
                </a:lnTo>
                <a:lnTo>
                  <a:pt x="81681" y="538845"/>
                </a:lnTo>
                <a:lnTo>
                  <a:pt x="53650" y="502546"/>
                </a:lnTo>
                <a:lnTo>
                  <a:pt x="30951" y="462546"/>
                </a:lnTo>
                <a:lnTo>
                  <a:pt x="14099" y="419348"/>
                </a:lnTo>
                <a:lnTo>
                  <a:pt x="3610" y="373456"/>
                </a:lnTo>
                <a:lnTo>
                  <a:pt x="0" y="325373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916423" y="5480532"/>
            <a:ext cx="393700" cy="11868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55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775" b="1" spc="7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775" baseline="-21021">
              <a:latin typeface="Times New Roman"/>
              <a:cs typeface="Times New Roman"/>
            </a:endParaRPr>
          </a:p>
          <a:p>
            <a:pPr marL="110489">
              <a:lnSpc>
                <a:spcPct val="100000"/>
              </a:lnSpc>
              <a:spcBef>
                <a:spcPts val="1345"/>
              </a:spcBef>
            </a:pP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92702" y="4479797"/>
            <a:ext cx="666115" cy="650875"/>
          </a:xfrm>
          <a:custGeom>
            <a:avLst/>
            <a:gdLst/>
            <a:ahLst/>
            <a:cxnLst/>
            <a:rect l="l" t="t" r="r" b="b"/>
            <a:pathLst>
              <a:path w="666114" h="650875">
                <a:moveTo>
                  <a:pt x="0" y="325374"/>
                </a:moveTo>
                <a:lnTo>
                  <a:pt x="3610" y="277291"/>
                </a:lnTo>
                <a:lnTo>
                  <a:pt x="14099" y="231399"/>
                </a:lnTo>
                <a:lnTo>
                  <a:pt x="30951" y="188201"/>
                </a:lnTo>
                <a:lnTo>
                  <a:pt x="53650" y="148201"/>
                </a:lnTo>
                <a:lnTo>
                  <a:pt x="81681" y="111902"/>
                </a:lnTo>
                <a:lnTo>
                  <a:pt x="114530" y="79806"/>
                </a:lnTo>
                <a:lnTo>
                  <a:pt x="151680" y="52418"/>
                </a:lnTo>
                <a:lnTo>
                  <a:pt x="192617" y="30240"/>
                </a:lnTo>
                <a:lnTo>
                  <a:pt x="236825" y="13775"/>
                </a:lnTo>
                <a:lnTo>
                  <a:pt x="283789" y="3527"/>
                </a:lnTo>
                <a:lnTo>
                  <a:pt x="332994" y="0"/>
                </a:lnTo>
                <a:lnTo>
                  <a:pt x="382198" y="3527"/>
                </a:lnTo>
                <a:lnTo>
                  <a:pt x="429162" y="13775"/>
                </a:lnTo>
                <a:lnTo>
                  <a:pt x="473370" y="30240"/>
                </a:lnTo>
                <a:lnTo>
                  <a:pt x="514307" y="52418"/>
                </a:lnTo>
                <a:lnTo>
                  <a:pt x="551457" y="79806"/>
                </a:lnTo>
                <a:lnTo>
                  <a:pt x="584306" y="111902"/>
                </a:lnTo>
                <a:lnTo>
                  <a:pt x="612337" y="148201"/>
                </a:lnTo>
                <a:lnTo>
                  <a:pt x="635036" y="188201"/>
                </a:lnTo>
                <a:lnTo>
                  <a:pt x="651888" y="231399"/>
                </a:lnTo>
                <a:lnTo>
                  <a:pt x="662377" y="277291"/>
                </a:lnTo>
                <a:lnTo>
                  <a:pt x="665988" y="325374"/>
                </a:lnTo>
                <a:lnTo>
                  <a:pt x="662377" y="373456"/>
                </a:lnTo>
                <a:lnTo>
                  <a:pt x="651888" y="419348"/>
                </a:lnTo>
                <a:lnTo>
                  <a:pt x="635036" y="462546"/>
                </a:lnTo>
                <a:lnTo>
                  <a:pt x="612337" y="502546"/>
                </a:lnTo>
                <a:lnTo>
                  <a:pt x="584306" y="538845"/>
                </a:lnTo>
                <a:lnTo>
                  <a:pt x="551457" y="570941"/>
                </a:lnTo>
                <a:lnTo>
                  <a:pt x="514307" y="598329"/>
                </a:lnTo>
                <a:lnTo>
                  <a:pt x="473370" y="620507"/>
                </a:lnTo>
                <a:lnTo>
                  <a:pt x="429162" y="636972"/>
                </a:lnTo>
                <a:lnTo>
                  <a:pt x="382198" y="647220"/>
                </a:lnTo>
                <a:lnTo>
                  <a:pt x="332994" y="650747"/>
                </a:lnTo>
                <a:lnTo>
                  <a:pt x="283789" y="647220"/>
                </a:lnTo>
                <a:lnTo>
                  <a:pt x="236825" y="636972"/>
                </a:lnTo>
                <a:lnTo>
                  <a:pt x="192617" y="620507"/>
                </a:lnTo>
                <a:lnTo>
                  <a:pt x="151680" y="598329"/>
                </a:lnTo>
                <a:lnTo>
                  <a:pt x="114530" y="570941"/>
                </a:lnTo>
                <a:lnTo>
                  <a:pt x="81681" y="538845"/>
                </a:lnTo>
                <a:lnTo>
                  <a:pt x="53650" y="502546"/>
                </a:lnTo>
                <a:lnTo>
                  <a:pt x="30951" y="462546"/>
                </a:lnTo>
                <a:lnTo>
                  <a:pt x="14099" y="419348"/>
                </a:lnTo>
                <a:lnTo>
                  <a:pt x="3610" y="373456"/>
                </a:lnTo>
                <a:lnTo>
                  <a:pt x="0" y="325374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229100" y="4424909"/>
            <a:ext cx="393700" cy="104965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775" b="1" spc="7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775" baseline="-21021">
              <a:latin typeface="Times New Roman"/>
              <a:cs typeface="Times New Roman"/>
            </a:endParaRPr>
          </a:p>
          <a:p>
            <a:pPr marL="123189">
              <a:lnSpc>
                <a:spcPct val="100000"/>
              </a:lnSpc>
              <a:spcBef>
                <a:spcPts val="845"/>
              </a:spcBef>
            </a:pP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842003" y="5049011"/>
            <a:ext cx="347980" cy="552450"/>
          </a:xfrm>
          <a:custGeom>
            <a:avLst/>
            <a:gdLst/>
            <a:ahLst/>
            <a:cxnLst/>
            <a:rect l="l" t="t" r="r" b="b"/>
            <a:pathLst>
              <a:path w="347979" h="552450">
                <a:moveTo>
                  <a:pt x="347725" y="0"/>
                </a:moveTo>
                <a:lnTo>
                  <a:pt x="0" y="55245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660391" y="5049011"/>
            <a:ext cx="452755" cy="544830"/>
          </a:xfrm>
          <a:custGeom>
            <a:avLst/>
            <a:gdLst/>
            <a:ahLst/>
            <a:cxnLst/>
            <a:rect l="l" t="t" r="r" b="b"/>
            <a:pathLst>
              <a:path w="452754" h="544829">
                <a:moveTo>
                  <a:pt x="0" y="0"/>
                </a:moveTo>
                <a:lnTo>
                  <a:pt x="452500" y="544512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49929" y="3166110"/>
            <a:ext cx="666115" cy="650875"/>
          </a:xfrm>
          <a:custGeom>
            <a:avLst/>
            <a:gdLst/>
            <a:ahLst/>
            <a:cxnLst/>
            <a:rect l="l" t="t" r="r" b="b"/>
            <a:pathLst>
              <a:path w="666114" h="650875">
                <a:moveTo>
                  <a:pt x="0" y="325374"/>
                </a:moveTo>
                <a:lnTo>
                  <a:pt x="3610" y="277291"/>
                </a:lnTo>
                <a:lnTo>
                  <a:pt x="14099" y="231399"/>
                </a:lnTo>
                <a:lnTo>
                  <a:pt x="30951" y="188201"/>
                </a:lnTo>
                <a:lnTo>
                  <a:pt x="53650" y="148201"/>
                </a:lnTo>
                <a:lnTo>
                  <a:pt x="81681" y="111902"/>
                </a:lnTo>
                <a:lnTo>
                  <a:pt x="114530" y="79806"/>
                </a:lnTo>
                <a:lnTo>
                  <a:pt x="151680" y="52418"/>
                </a:lnTo>
                <a:lnTo>
                  <a:pt x="192617" y="30240"/>
                </a:lnTo>
                <a:lnTo>
                  <a:pt x="236825" y="13775"/>
                </a:lnTo>
                <a:lnTo>
                  <a:pt x="283789" y="3527"/>
                </a:lnTo>
                <a:lnTo>
                  <a:pt x="332994" y="0"/>
                </a:lnTo>
                <a:lnTo>
                  <a:pt x="382198" y="3527"/>
                </a:lnTo>
                <a:lnTo>
                  <a:pt x="429162" y="13775"/>
                </a:lnTo>
                <a:lnTo>
                  <a:pt x="473370" y="30240"/>
                </a:lnTo>
                <a:lnTo>
                  <a:pt x="514307" y="52418"/>
                </a:lnTo>
                <a:lnTo>
                  <a:pt x="551457" y="79806"/>
                </a:lnTo>
                <a:lnTo>
                  <a:pt x="584306" y="111902"/>
                </a:lnTo>
                <a:lnTo>
                  <a:pt x="612337" y="148201"/>
                </a:lnTo>
                <a:lnTo>
                  <a:pt x="635036" y="188201"/>
                </a:lnTo>
                <a:lnTo>
                  <a:pt x="651888" y="231399"/>
                </a:lnTo>
                <a:lnTo>
                  <a:pt x="662377" y="277291"/>
                </a:lnTo>
                <a:lnTo>
                  <a:pt x="665987" y="325374"/>
                </a:lnTo>
                <a:lnTo>
                  <a:pt x="662377" y="373456"/>
                </a:lnTo>
                <a:lnTo>
                  <a:pt x="651888" y="419348"/>
                </a:lnTo>
                <a:lnTo>
                  <a:pt x="635036" y="462546"/>
                </a:lnTo>
                <a:lnTo>
                  <a:pt x="612337" y="502546"/>
                </a:lnTo>
                <a:lnTo>
                  <a:pt x="584306" y="538845"/>
                </a:lnTo>
                <a:lnTo>
                  <a:pt x="551457" y="570941"/>
                </a:lnTo>
                <a:lnTo>
                  <a:pt x="514307" y="598329"/>
                </a:lnTo>
                <a:lnTo>
                  <a:pt x="473370" y="620507"/>
                </a:lnTo>
                <a:lnTo>
                  <a:pt x="429162" y="636972"/>
                </a:lnTo>
                <a:lnTo>
                  <a:pt x="382198" y="647220"/>
                </a:lnTo>
                <a:lnTo>
                  <a:pt x="332994" y="650747"/>
                </a:lnTo>
                <a:lnTo>
                  <a:pt x="283789" y="647220"/>
                </a:lnTo>
                <a:lnTo>
                  <a:pt x="236825" y="636972"/>
                </a:lnTo>
                <a:lnTo>
                  <a:pt x="192617" y="620507"/>
                </a:lnTo>
                <a:lnTo>
                  <a:pt x="151680" y="598329"/>
                </a:lnTo>
                <a:lnTo>
                  <a:pt x="114530" y="570941"/>
                </a:lnTo>
                <a:lnTo>
                  <a:pt x="81681" y="538845"/>
                </a:lnTo>
                <a:lnTo>
                  <a:pt x="53650" y="502546"/>
                </a:lnTo>
                <a:lnTo>
                  <a:pt x="30951" y="462546"/>
                </a:lnTo>
                <a:lnTo>
                  <a:pt x="14099" y="419348"/>
                </a:lnTo>
                <a:lnTo>
                  <a:pt x="3610" y="373456"/>
                </a:lnTo>
                <a:lnTo>
                  <a:pt x="0" y="325374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411473" y="3236722"/>
            <a:ext cx="222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09594" y="3440938"/>
            <a:ext cx="1447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98341" y="3852798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702051" y="3735323"/>
            <a:ext cx="644525" cy="666750"/>
          </a:xfrm>
          <a:custGeom>
            <a:avLst/>
            <a:gdLst/>
            <a:ahLst/>
            <a:cxnLst/>
            <a:rect l="l" t="t" r="r" b="b"/>
            <a:pathLst>
              <a:path w="644525" h="666750">
                <a:moveTo>
                  <a:pt x="644525" y="0"/>
                </a:moveTo>
                <a:lnTo>
                  <a:pt x="0" y="66675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817620" y="3735323"/>
            <a:ext cx="608330" cy="728980"/>
          </a:xfrm>
          <a:custGeom>
            <a:avLst/>
            <a:gdLst/>
            <a:ahLst/>
            <a:cxnLst/>
            <a:rect l="l" t="t" r="r" b="b"/>
            <a:pathLst>
              <a:path w="608329" h="728979">
                <a:moveTo>
                  <a:pt x="0" y="0"/>
                </a:moveTo>
                <a:lnTo>
                  <a:pt x="608076" y="728599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974719" y="3393694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396733" y="4315205"/>
            <a:ext cx="666115" cy="650875"/>
          </a:xfrm>
          <a:custGeom>
            <a:avLst/>
            <a:gdLst/>
            <a:ahLst/>
            <a:cxnLst/>
            <a:rect l="l" t="t" r="r" b="b"/>
            <a:pathLst>
              <a:path w="666115" h="650875">
                <a:moveTo>
                  <a:pt x="0" y="325374"/>
                </a:moveTo>
                <a:lnTo>
                  <a:pt x="3610" y="277291"/>
                </a:lnTo>
                <a:lnTo>
                  <a:pt x="14099" y="231399"/>
                </a:lnTo>
                <a:lnTo>
                  <a:pt x="30951" y="188201"/>
                </a:lnTo>
                <a:lnTo>
                  <a:pt x="53650" y="148201"/>
                </a:lnTo>
                <a:lnTo>
                  <a:pt x="81681" y="111902"/>
                </a:lnTo>
                <a:lnTo>
                  <a:pt x="114530" y="79806"/>
                </a:lnTo>
                <a:lnTo>
                  <a:pt x="151680" y="52418"/>
                </a:lnTo>
                <a:lnTo>
                  <a:pt x="192617" y="30240"/>
                </a:lnTo>
                <a:lnTo>
                  <a:pt x="236825" y="13775"/>
                </a:lnTo>
                <a:lnTo>
                  <a:pt x="283789" y="3527"/>
                </a:lnTo>
                <a:lnTo>
                  <a:pt x="332994" y="0"/>
                </a:lnTo>
                <a:lnTo>
                  <a:pt x="382198" y="3527"/>
                </a:lnTo>
                <a:lnTo>
                  <a:pt x="429162" y="13775"/>
                </a:lnTo>
                <a:lnTo>
                  <a:pt x="473370" y="30240"/>
                </a:lnTo>
                <a:lnTo>
                  <a:pt x="514307" y="52418"/>
                </a:lnTo>
                <a:lnTo>
                  <a:pt x="551457" y="79806"/>
                </a:lnTo>
                <a:lnTo>
                  <a:pt x="584306" y="111902"/>
                </a:lnTo>
                <a:lnTo>
                  <a:pt x="612337" y="148201"/>
                </a:lnTo>
                <a:lnTo>
                  <a:pt x="635036" y="188201"/>
                </a:lnTo>
                <a:lnTo>
                  <a:pt x="651888" y="231399"/>
                </a:lnTo>
                <a:lnTo>
                  <a:pt x="662377" y="277291"/>
                </a:lnTo>
                <a:lnTo>
                  <a:pt x="665988" y="325374"/>
                </a:lnTo>
                <a:lnTo>
                  <a:pt x="662377" y="373456"/>
                </a:lnTo>
                <a:lnTo>
                  <a:pt x="651888" y="419348"/>
                </a:lnTo>
                <a:lnTo>
                  <a:pt x="635036" y="462546"/>
                </a:lnTo>
                <a:lnTo>
                  <a:pt x="612337" y="502546"/>
                </a:lnTo>
                <a:lnTo>
                  <a:pt x="584306" y="538845"/>
                </a:lnTo>
                <a:lnTo>
                  <a:pt x="551457" y="570941"/>
                </a:lnTo>
                <a:lnTo>
                  <a:pt x="514307" y="598329"/>
                </a:lnTo>
                <a:lnTo>
                  <a:pt x="473370" y="620507"/>
                </a:lnTo>
                <a:lnTo>
                  <a:pt x="429162" y="636972"/>
                </a:lnTo>
                <a:lnTo>
                  <a:pt x="382198" y="647220"/>
                </a:lnTo>
                <a:lnTo>
                  <a:pt x="332994" y="650748"/>
                </a:lnTo>
                <a:lnTo>
                  <a:pt x="283789" y="647220"/>
                </a:lnTo>
                <a:lnTo>
                  <a:pt x="236825" y="636972"/>
                </a:lnTo>
                <a:lnTo>
                  <a:pt x="192617" y="620507"/>
                </a:lnTo>
                <a:lnTo>
                  <a:pt x="151680" y="598329"/>
                </a:lnTo>
                <a:lnTo>
                  <a:pt x="114530" y="570941"/>
                </a:lnTo>
                <a:lnTo>
                  <a:pt x="81681" y="538845"/>
                </a:lnTo>
                <a:lnTo>
                  <a:pt x="53650" y="502546"/>
                </a:lnTo>
                <a:lnTo>
                  <a:pt x="30951" y="462546"/>
                </a:lnTo>
                <a:lnTo>
                  <a:pt x="14099" y="419348"/>
                </a:lnTo>
                <a:lnTo>
                  <a:pt x="3610" y="373456"/>
                </a:lnTo>
                <a:lnTo>
                  <a:pt x="0" y="325374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617968" y="4187631"/>
            <a:ext cx="222885" cy="1186815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  <a:p>
            <a:pPr marL="26034">
              <a:lnSpc>
                <a:spcPct val="100000"/>
              </a:lnSpc>
              <a:spcBef>
                <a:spcPts val="1345"/>
              </a:spcBef>
            </a:pP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025139" y="4427601"/>
            <a:ext cx="380365" cy="774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4450" marR="30480" indent="-6350">
              <a:lnSpc>
                <a:spcPts val="3010"/>
              </a:lnSpc>
              <a:spcBef>
                <a:spcPts val="90"/>
              </a:spcBef>
            </a:pP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400" b="1" spc="-7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1  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59582" y="4986909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306818" y="2282189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90">
                <a:moveTo>
                  <a:pt x="0" y="0"/>
                </a:moveTo>
                <a:lnTo>
                  <a:pt x="1583435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709795" y="4278248"/>
            <a:ext cx="408940" cy="71056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66675" marR="30480" indent="-28575">
              <a:lnSpc>
                <a:spcPts val="2510"/>
              </a:lnSpc>
              <a:spcBef>
                <a:spcPts val="490"/>
              </a:spcBef>
            </a:pP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400" b="1" spc="-7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2  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400" b="1" spc="-7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949319" y="3050489"/>
            <a:ext cx="6426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sz="2400" b="1" spc="-3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600" b="1" spc="-15" baseline="-31250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400" b="1" spc="-15" baseline="-67708" dirty="0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2400" baseline="-67708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276594" y="3422141"/>
            <a:ext cx="664845" cy="650875"/>
          </a:xfrm>
          <a:custGeom>
            <a:avLst/>
            <a:gdLst/>
            <a:ahLst/>
            <a:cxnLst/>
            <a:rect l="l" t="t" r="r" b="b"/>
            <a:pathLst>
              <a:path w="664845" h="650875">
                <a:moveTo>
                  <a:pt x="0" y="325374"/>
                </a:moveTo>
                <a:lnTo>
                  <a:pt x="3601" y="277291"/>
                </a:lnTo>
                <a:lnTo>
                  <a:pt x="14064" y="231399"/>
                </a:lnTo>
                <a:lnTo>
                  <a:pt x="30873" y="188201"/>
                </a:lnTo>
                <a:lnTo>
                  <a:pt x="53517" y="148201"/>
                </a:lnTo>
                <a:lnTo>
                  <a:pt x="81481" y="111902"/>
                </a:lnTo>
                <a:lnTo>
                  <a:pt x="114251" y="79806"/>
                </a:lnTo>
                <a:lnTo>
                  <a:pt x="151315" y="52418"/>
                </a:lnTo>
                <a:lnTo>
                  <a:pt x="192159" y="30240"/>
                </a:lnTo>
                <a:lnTo>
                  <a:pt x="236268" y="13775"/>
                </a:lnTo>
                <a:lnTo>
                  <a:pt x="283130" y="3527"/>
                </a:lnTo>
                <a:lnTo>
                  <a:pt x="332231" y="0"/>
                </a:lnTo>
                <a:lnTo>
                  <a:pt x="381333" y="3527"/>
                </a:lnTo>
                <a:lnTo>
                  <a:pt x="428195" y="13775"/>
                </a:lnTo>
                <a:lnTo>
                  <a:pt x="472304" y="30240"/>
                </a:lnTo>
                <a:lnTo>
                  <a:pt x="513148" y="52418"/>
                </a:lnTo>
                <a:lnTo>
                  <a:pt x="550212" y="79806"/>
                </a:lnTo>
                <a:lnTo>
                  <a:pt x="582982" y="111902"/>
                </a:lnTo>
                <a:lnTo>
                  <a:pt x="610946" y="148201"/>
                </a:lnTo>
                <a:lnTo>
                  <a:pt x="633590" y="188201"/>
                </a:lnTo>
                <a:lnTo>
                  <a:pt x="650399" y="231399"/>
                </a:lnTo>
                <a:lnTo>
                  <a:pt x="660862" y="277291"/>
                </a:lnTo>
                <a:lnTo>
                  <a:pt x="664463" y="325374"/>
                </a:lnTo>
                <a:lnTo>
                  <a:pt x="660862" y="373456"/>
                </a:lnTo>
                <a:lnTo>
                  <a:pt x="650399" y="419348"/>
                </a:lnTo>
                <a:lnTo>
                  <a:pt x="633590" y="462546"/>
                </a:lnTo>
                <a:lnTo>
                  <a:pt x="610946" y="502546"/>
                </a:lnTo>
                <a:lnTo>
                  <a:pt x="582982" y="538845"/>
                </a:lnTo>
                <a:lnTo>
                  <a:pt x="550212" y="570941"/>
                </a:lnTo>
                <a:lnTo>
                  <a:pt x="513148" y="598329"/>
                </a:lnTo>
                <a:lnTo>
                  <a:pt x="472304" y="620507"/>
                </a:lnTo>
                <a:lnTo>
                  <a:pt x="428195" y="636972"/>
                </a:lnTo>
                <a:lnTo>
                  <a:pt x="381333" y="647220"/>
                </a:lnTo>
                <a:lnTo>
                  <a:pt x="332231" y="650748"/>
                </a:lnTo>
                <a:lnTo>
                  <a:pt x="283130" y="647220"/>
                </a:lnTo>
                <a:lnTo>
                  <a:pt x="236268" y="636972"/>
                </a:lnTo>
                <a:lnTo>
                  <a:pt x="192159" y="620507"/>
                </a:lnTo>
                <a:lnTo>
                  <a:pt x="151315" y="598329"/>
                </a:lnTo>
                <a:lnTo>
                  <a:pt x="114251" y="570941"/>
                </a:lnTo>
                <a:lnTo>
                  <a:pt x="81481" y="538845"/>
                </a:lnTo>
                <a:lnTo>
                  <a:pt x="53517" y="502546"/>
                </a:lnTo>
                <a:lnTo>
                  <a:pt x="30873" y="462546"/>
                </a:lnTo>
                <a:lnTo>
                  <a:pt x="14064" y="419348"/>
                </a:lnTo>
                <a:lnTo>
                  <a:pt x="3601" y="373456"/>
                </a:lnTo>
                <a:lnTo>
                  <a:pt x="0" y="325374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223127" y="3460958"/>
            <a:ext cx="582295" cy="87630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345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775" b="1" spc="7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775" baseline="-21021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2400" b="1" spc="-10" dirty="0">
                <a:solidFill>
                  <a:srgbClr val="66FFFF"/>
                </a:solidFill>
                <a:latin typeface="宋体"/>
                <a:cs typeface="宋体"/>
              </a:rPr>
              <a:t>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076700" y="3991355"/>
            <a:ext cx="2295525" cy="1704975"/>
          </a:xfrm>
          <a:custGeom>
            <a:avLst/>
            <a:gdLst/>
            <a:ahLst/>
            <a:cxnLst/>
            <a:rect l="l" t="t" r="r" b="b"/>
            <a:pathLst>
              <a:path w="2295525" h="1704975">
                <a:moveTo>
                  <a:pt x="2295525" y="0"/>
                </a:moveTo>
                <a:lnTo>
                  <a:pt x="0" y="1704975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347715" y="3991355"/>
            <a:ext cx="1495425" cy="1697355"/>
          </a:xfrm>
          <a:custGeom>
            <a:avLst/>
            <a:gdLst/>
            <a:ahLst/>
            <a:cxnLst/>
            <a:rect l="l" t="t" r="r" b="b"/>
            <a:pathLst>
              <a:path w="1495425" h="1697354">
                <a:moveTo>
                  <a:pt x="1495425" y="0"/>
                </a:moveTo>
                <a:lnTo>
                  <a:pt x="0" y="1697037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915277" y="3490721"/>
            <a:ext cx="380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400" b="1" spc="-7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996434" y="1591817"/>
            <a:ext cx="666115" cy="650875"/>
          </a:xfrm>
          <a:custGeom>
            <a:avLst/>
            <a:gdLst/>
            <a:ahLst/>
            <a:cxnLst/>
            <a:rect l="l" t="t" r="r" b="b"/>
            <a:pathLst>
              <a:path w="666114" h="650875">
                <a:moveTo>
                  <a:pt x="0" y="325374"/>
                </a:moveTo>
                <a:lnTo>
                  <a:pt x="3610" y="277291"/>
                </a:lnTo>
                <a:lnTo>
                  <a:pt x="14099" y="231399"/>
                </a:lnTo>
                <a:lnTo>
                  <a:pt x="30951" y="188201"/>
                </a:lnTo>
                <a:lnTo>
                  <a:pt x="53650" y="148201"/>
                </a:lnTo>
                <a:lnTo>
                  <a:pt x="81681" y="111902"/>
                </a:lnTo>
                <a:lnTo>
                  <a:pt x="114530" y="79806"/>
                </a:lnTo>
                <a:lnTo>
                  <a:pt x="151680" y="52418"/>
                </a:lnTo>
                <a:lnTo>
                  <a:pt x="192617" y="30240"/>
                </a:lnTo>
                <a:lnTo>
                  <a:pt x="236825" y="13775"/>
                </a:lnTo>
                <a:lnTo>
                  <a:pt x="283789" y="3527"/>
                </a:lnTo>
                <a:lnTo>
                  <a:pt x="332993" y="0"/>
                </a:lnTo>
                <a:lnTo>
                  <a:pt x="382198" y="3527"/>
                </a:lnTo>
                <a:lnTo>
                  <a:pt x="429162" y="13775"/>
                </a:lnTo>
                <a:lnTo>
                  <a:pt x="473370" y="30240"/>
                </a:lnTo>
                <a:lnTo>
                  <a:pt x="514307" y="52418"/>
                </a:lnTo>
                <a:lnTo>
                  <a:pt x="551457" y="79806"/>
                </a:lnTo>
                <a:lnTo>
                  <a:pt x="584306" y="111902"/>
                </a:lnTo>
                <a:lnTo>
                  <a:pt x="612337" y="148201"/>
                </a:lnTo>
                <a:lnTo>
                  <a:pt x="635036" y="188201"/>
                </a:lnTo>
                <a:lnTo>
                  <a:pt x="651888" y="231399"/>
                </a:lnTo>
                <a:lnTo>
                  <a:pt x="662377" y="277291"/>
                </a:lnTo>
                <a:lnTo>
                  <a:pt x="665988" y="325374"/>
                </a:lnTo>
                <a:lnTo>
                  <a:pt x="662377" y="373456"/>
                </a:lnTo>
                <a:lnTo>
                  <a:pt x="651888" y="419348"/>
                </a:lnTo>
                <a:lnTo>
                  <a:pt x="635036" y="462546"/>
                </a:lnTo>
                <a:lnTo>
                  <a:pt x="612337" y="502546"/>
                </a:lnTo>
                <a:lnTo>
                  <a:pt x="584306" y="538845"/>
                </a:lnTo>
                <a:lnTo>
                  <a:pt x="551457" y="570941"/>
                </a:lnTo>
                <a:lnTo>
                  <a:pt x="514307" y="598329"/>
                </a:lnTo>
                <a:lnTo>
                  <a:pt x="473370" y="620507"/>
                </a:lnTo>
                <a:lnTo>
                  <a:pt x="429162" y="636972"/>
                </a:lnTo>
                <a:lnTo>
                  <a:pt x="382198" y="647220"/>
                </a:lnTo>
                <a:lnTo>
                  <a:pt x="332993" y="650748"/>
                </a:lnTo>
                <a:lnTo>
                  <a:pt x="283789" y="647220"/>
                </a:lnTo>
                <a:lnTo>
                  <a:pt x="236825" y="636972"/>
                </a:lnTo>
                <a:lnTo>
                  <a:pt x="192617" y="620507"/>
                </a:lnTo>
                <a:lnTo>
                  <a:pt x="151680" y="598329"/>
                </a:lnTo>
                <a:lnTo>
                  <a:pt x="114530" y="570941"/>
                </a:lnTo>
                <a:lnTo>
                  <a:pt x="81681" y="538845"/>
                </a:lnTo>
                <a:lnTo>
                  <a:pt x="53650" y="502546"/>
                </a:lnTo>
                <a:lnTo>
                  <a:pt x="30951" y="462546"/>
                </a:lnTo>
                <a:lnTo>
                  <a:pt x="14099" y="419348"/>
                </a:lnTo>
                <a:lnTo>
                  <a:pt x="3610" y="373456"/>
                </a:lnTo>
                <a:lnTo>
                  <a:pt x="0" y="325374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145278" y="1661541"/>
            <a:ext cx="3683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775" b="1" spc="7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229097" y="2194940"/>
            <a:ext cx="152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582923" y="2161032"/>
            <a:ext cx="1510030" cy="990600"/>
          </a:xfrm>
          <a:custGeom>
            <a:avLst/>
            <a:gdLst/>
            <a:ahLst/>
            <a:cxnLst/>
            <a:rect l="l" t="t" r="r" b="b"/>
            <a:pathLst>
              <a:path w="1510029" h="990600">
                <a:moveTo>
                  <a:pt x="1509776" y="0"/>
                </a:moveTo>
                <a:lnTo>
                  <a:pt x="0" y="99060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564123" y="2161032"/>
            <a:ext cx="1044575" cy="1246505"/>
          </a:xfrm>
          <a:custGeom>
            <a:avLst/>
            <a:gdLst/>
            <a:ahLst/>
            <a:cxnLst/>
            <a:rect l="l" t="t" r="r" b="b"/>
            <a:pathLst>
              <a:path w="1044575" h="1246504">
                <a:moveTo>
                  <a:pt x="0" y="0"/>
                </a:moveTo>
                <a:lnTo>
                  <a:pt x="1044575" y="1246251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5665723" y="1623440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45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6731" y="26923"/>
            <a:ext cx="37325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2186305" algn="l"/>
                <a:tab pos="269494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6448" y="26923"/>
            <a:ext cx="2636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D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AG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定义与应用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48583" y="330657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8567" y="3418789"/>
            <a:ext cx="1993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3989" y="2815843"/>
            <a:ext cx="177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2389" y="3056585"/>
            <a:ext cx="51498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000" b="1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,T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81934" y="3205098"/>
            <a:ext cx="42862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30835" algn="l"/>
              </a:tabLst>
            </a:pPr>
            <a:r>
              <a:rPr sz="13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2	4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6689" y="3781805"/>
            <a:ext cx="627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b="1" spc="7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13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1,</a:t>
            </a:r>
            <a:r>
              <a:rPr sz="3000" b="1" spc="7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13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18894" y="2388870"/>
            <a:ext cx="424180" cy="433070"/>
          </a:xfrm>
          <a:custGeom>
            <a:avLst/>
            <a:gdLst/>
            <a:ahLst/>
            <a:cxnLst/>
            <a:rect l="l" t="t" r="r" b="b"/>
            <a:pathLst>
              <a:path w="424180" h="433069">
                <a:moveTo>
                  <a:pt x="0" y="216407"/>
                </a:moveTo>
                <a:lnTo>
                  <a:pt x="5596" y="166791"/>
                </a:lnTo>
                <a:lnTo>
                  <a:pt x="21535" y="121242"/>
                </a:lnTo>
                <a:lnTo>
                  <a:pt x="46546" y="81060"/>
                </a:lnTo>
                <a:lnTo>
                  <a:pt x="79354" y="47546"/>
                </a:lnTo>
                <a:lnTo>
                  <a:pt x="118687" y="21998"/>
                </a:lnTo>
                <a:lnTo>
                  <a:pt x="163272" y="5716"/>
                </a:lnTo>
                <a:lnTo>
                  <a:pt x="211836" y="0"/>
                </a:lnTo>
                <a:lnTo>
                  <a:pt x="260399" y="5716"/>
                </a:lnTo>
                <a:lnTo>
                  <a:pt x="304984" y="21998"/>
                </a:lnTo>
                <a:lnTo>
                  <a:pt x="344317" y="47546"/>
                </a:lnTo>
                <a:lnTo>
                  <a:pt x="377125" y="81060"/>
                </a:lnTo>
                <a:lnTo>
                  <a:pt x="402136" y="121242"/>
                </a:lnTo>
                <a:lnTo>
                  <a:pt x="418075" y="166791"/>
                </a:lnTo>
                <a:lnTo>
                  <a:pt x="423672" y="216407"/>
                </a:lnTo>
                <a:lnTo>
                  <a:pt x="418075" y="266024"/>
                </a:lnTo>
                <a:lnTo>
                  <a:pt x="402136" y="311573"/>
                </a:lnTo>
                <a:lnTo>
                  <a:pt x="377125" y="351755"/>
                </a:lnTo>
                <a:lnTo>
                  <a:pt x="344317" y="385269"/>
                </a:lnTo>
                <a:lnTo>
                  <a:pt x="304984" y="410817"/>
                </a:lnTo>
                <a:lnTo>
                  <a:pt x="260399" y="427099"/>
                </a:lnTo>
                <a:lnTo>
                  <a:pt x="211836" y="432815"/>
                </a:lnTo>
                <a:lnTo>
                  <a:pt x="163272" y="427099"/>
                </a:lnTo>
                <a:lnTo>
                  <a:pt x="118687" y="410817"/>
                </a:lnTo>
                <a:lnTo>
                  <a:pt x="79354" y="385269"/>
                </a:lnTo>
                <a:lnTo>
                  <a:pt x="46546" y="351755"/>
                </a:lnTo>
                <a:lnTo>
                  <a:pt x="21535" y="311573"/>
                </a:lnTo>
                <a:lnTo>
                  <a:pt x="5596" y="266024"/>
                </a:lnTo>
                <a:lnTo>
                  <a:pt x="0" y="216407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868932" y="2380310"/>
            <a:ext cx="321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94889" y="2423541"/>
            <a:ext cx="5784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A,T</a:t>
            </a:r>
            <a:r>
              <a:rPr sz="1950" b="1" spc="7" baseline="-21367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63189" y="3050285"/>
            <a:ext cx="424180" cy="433070"/>
          </a:xfrm>
          <a:custGeom>
            <a:avLst/>
            <a:gdLst/>
            <a:ahLst/>
            <a:cxnLst/>
            <a:rect l="l" t="t" r="r" b="b"/>
            <a:pathLst>
              <a:path w="424180" h="433070">
                <a:moveTo>
                  <a:pt x="0" y="216408"/>
                </a:moveTo>
                <a:lnTo>
                  <a:pt x="5596" y="166791"/>
                </a:lnTo>
                <a:lnTo>
                  <a:pt x="21535" y="121242"/>
                </a:lnTo>
                <a:lnTo>
                  <a:pt x="46546" y="81060"/>
                </a:lnTo>
                <a:lnTo>
                  <a:pt x="79354" y="47546"/>
                </a:lnTo>
                <a:lnTo>
                  <a:pt x="118687" y="21998"/>
                </a:lnTo>
                <a:lnTo>
                  <a:pt x="163272" y="5716"/>
                </a:lnTo>
                <a:lnTo>
                  <a:pt x="211836" y="0"/>
                </a:lnTo>
                <a:lnTo>
                  <a:pt x="260399" y="5716"/>
                </a:lnTo>
                <a:lnTo>
                  <a:pt x="304984" y="21998"/>
                </a:lnTo>
                <a:lnTo>
                  <a:pt x="344317" y="47546"/>
                </a:lnTo>
                <a:lnTo>
                  <a:pt x="377125" y="81060"/>
                </a:lnTo>
                <a:lnTo>
                  <a:pt x="402136" y="121242"/>
                </a:lnTo>
                <a:lnTo>
                  <a:pt x="418075" y="166791"/>
                </a:lnTo>
                <a:lnTo>
                  <a:pt x="423672" y="216408"/>
                </a:lnTo>
                <a:lnTo>
                  <a:pt x="418075" y="266024"/>
                </a:lnTo>
                <a:lnTo>
                  <a:pt x="402136" y="311573"/>
                </a:lnTo>
                <a:lnTo>
                  <a:pt x="377125" y="351755"/>
                </a:lnTo>
                <a:lnTo>
                  <a:pt x="344317" y="385269"/>
                </a:lnTo>
                <a:lnTo>
                  <a:pt x="304984" y="410817"/>
                </a:lnTo>
                <a:lnTo>
                  <a:pt x="260399" y="427099"/>
                </a:lnTo>
                <a:lnTo>
                  <a:pt x="211836" y="432815"/>
                </a:lnTo>
                <a:lnTo>
                  <a:pt x="163272" y="427099"/>
                </a:lnTo>
                <a:lnTo>
                  <a:pt x="118687" y="410817"/>
                </a:lnTo>
                <a:lnTo>
                  <a:pt x="79354" y="385269"/>
                </a:lnTo>
                <a:lnTo>
                  <a:pt x="46546" y="351755"/>
                </a:lnTo>
                <a:lnTo>
                  <a:pt x="21535" y="311573"/>
                </a:lnTo>
                <a:lnTo>
                  <a:pt x="5596" y="266024"/>
                </a:lnTo>
                <a:lnTo>
                  <a:pt x="0" y="216408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26563" y="3042920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95726" y="3219704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4597" y="3678173"/>
            <a:ext cx="424180" cy="433070"/>
          </a:xfrm>
          <a:custGeom>
            <a:avLst/>
            <a:gdLst/>
            <a:ahLst/>
            <a:cxnLst/>
            <a:rect l="l" t="t" r="r" b="b"/>
            <a:pathLst>
              <a:path w="424180" h="433070">
                <a:moveTo>
                  <a:pt x="0" y="216407"/>
                </a:moveTo>
                <a:lnTo>
                  <a:pt x="5594" y="166791"/>
                </a:lnTo>
                <a:lnTo>
                  <a:pt x="21531" y="121242"/>
                </a:lnTo>
                <a:lnTo>
                  <a:pt x="46538" y="81060"/>
                </a:lnTo>
                <a:lnTo>
                  <a:pt x="79343" y="47546"/>
                </a:lnTo>
                <a:lnTo>
                  <a:pt x="118676" y="21998"/>
                </a:lnTo>
                <a:lnTo>
                  <a:pt x="163264" y="5716"/>
                </a:lnTo>
                <a:lnTo>
                  <a:pt x="211836" y="0"/>
                </a:lnTo>
                <a:lnTo>
                  <a:pt x="260399" y="5716"/>
                </a:lnTo>
                <a:lnTo>
                  <a:pt x="304984" y="21998"/>
                </a:lnTo>
                <a:lnTo>
                  <a:pt x="344317" y="47546"/>
                </a:lnTo>
                <a:lnTo>
                  <a:pt x="377125" y="81060"/>
                </a:lnTo>
                <a:lnTo>
                  <a:pt x="402136" y="121242"/>
                </a:lnTo>
                <a:lnTo>
                  <a:pt x="418075" y="166791"/>
                </a:lnTo>
                <a:lnTo>
                  <a:pt x="423672" y="216407"/>
                </a:lnTo>
                <a:lnTo>
                  <a:pt x="418075" y="266024"/>
                </a:lnTo>
                <a:lnTo>
                  <a:pt x="402136" y="311573"/>
                </a:lnTo>
                <a:lnTo>
                  <a:pt x="377125" y="351755"/>
                </a:lnTo>
                <a:lnTo>
                  <a:pt x="344317" y="385269"/>
                </a:lnTo>
                <a:lnTo>
                  <a:pt x="304984" y="410817"/>
                </a:lnTo>
                <a:lnTo>
                  <a:pt x="260399" y="427099"/>
                </a:lnTo>
                <a:lnTo>
                  <a:pt x="211836" y="432815"/>
                </a:lnTo>
                <a:lnTo>
                  <a:pt x="163264" y="427099"/>
                </a:lnTo>
                <a:lnTo>
                  <a:pt x="118676" y="410817"/>
                </a:lnTo>
                <a:lnTo>
                  <a:pt x="79343" y="385269"/>
                </a:lnTo>
                <a:lnTo>
                  <a:pt x="46538" y="351755"/>
                </a:lnTo>
                <a:lnTo>
                  <a:pt x="21531" y="311573"/>
                </a:lnTo>
                <a:lnTo>
                  <a:pt x="5594" y="266024"/>
                </a:lnTo>
                <a:lnTo>
                  <a:pt x="0" y="216407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5062" y="3708653"/>
            <a:ext cx="424180" cy="434340"/>
          </a:xfrm>
          <a:custGeom>
            <a:avLst/>
            <a:gdLst/>
            <a:ahLst/>
            <a:cxnLst/>
            <a:rect l="l" t="t" r="r" b="b"/>
            <a:pathLst>
              <a:path w="424180" h="434339">
                <a:moveTo>
                  <a:pt x="0" y="217170"/>
                </a:moveTo>
                <a:lnTo>
                  <a:pt x="5594" y="167391"/>
                </a:lnTo>
                <a:lnTo>
                  <a:pt x="21531" y="121686"/>
                </a:lnTo>
                <a:lnTo>
                  <a:pt x="46538" y="81362"/>
                </a:lnTo>
                <a:lnTo>
                  <a:pt x="79343" y="47726"/>
                </a:lnTo>
                <a:lnTo>
                  <a:pt x="118676" y="22082"/>
                </a:lnTo>
                <a:lnTo>
                  <a:pt x="163264" y="5738"/>
                </a:lnTo>
                <a:lnTo>
                  <a:pt x="211836" y="0"/>
                </a:lnTo>
                <a:lnTo>
                  <a:pt x="260407" y="5738"/>
                </a:lnTo>
                <a:lnTo>
                  <a:pt x="304995" y="22082"/>
                </a:lnTo>
                <a:lnTo>
                  <a:pt x="344328" y="47726"/>
                </a:lnTo>
                <a:lnTo>
                  <a:pt x="377133" y="81362"/>
                </a:lnTo>
                <a:lnTo>
                  <a:pt x="402140" y="121686"/>
                </a:lnTo>
                <a:lnTo>
                  <a:pt x="418077" y="167391"/>
                </a:lnTo>
                <a:lnTo>
                  <a:pt x="423672" y="217170"/>
                </a:lnTo>
                <a:lnTo>
                  <a:pt x="418077" y="266948"/>
                </a:lnTo>
                <a:lnTo>
                  <a:pt x="402140" y="312653"/>
                </a:lnTo>
                <a:lnTo>
                  <a:pt x="377133" y="352977"/>
                </a:lnTo>
                <a:lnTo>
                  <a:pt x="344328" y="386613"/>
                </a:lnTo>
                <a:lnTo>
                  <a:pt x="304995" y="412257"/>
                </a:lnTo>
                <a:lnTo>
                  <a:pt x="260407" y="428601"/>
                </a:lnTo>
                <a:lnTo>
                  <a:pt x="211836" y="434340"/>
                </a:lnTo>
                <a:lnTo>
                  <a:pt x="163264" y="428601"/>
                </a:lnTo>
                <a:lnTo>
                  <a:pt x="118676" y="412257"/>
                </a:lnTo>
                <a:lnTo>
                  <a:pt x="79343" y="386613"/>
                </a:lnTo>
                <a:lnTo>
                  <a:pt x="46538" y="352977"/>
                </a:lnTo>
                <a:lnTo>
                  <a:pt x="21531" y="312653"/>
                </a:lnTo>
                <a:lnTo>
                  <a:pt x="5594" y="266948"/>
                </a:lnTo>
                <a:lnTo>
                  <a:pt x="0" y="217170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70585" y="3815588"/>
            <a:ext cx="3467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86177" y="3693414"/>
            <a:ext cx="425450" cy="433070"/>
          </a:xfrm>
          <a:custGeom>
            <a:avLst/>
            <a:gdLst/>
            <a:ahLst/>
            <a:cxnLst/>
            <a:rect l="l" t="t" r="r" b="b"/>
            <a:pathLst>
              <a:path w="425450" h="433070">
                <a:moveTo>
                  <a:pt x="0" y="216408"/>
                </a:moveTo>
                <a:lnTo>
                  <a:pt x="5611" y="166791"/>
                </a:lnTo>
                <a:lnTo>
                  <a:pt x="21598" y="121242"/>
                </a:lnTo>
                <a:lnTo>
                  <a:pt x="46686" y="81060"/>
                </a:lnTo>
                <a:lnTo>
                  <a:pt x="79603" y="47546"/>
                </a:lnTo>
                <a:lnTo>
                  <a:pt x="119076" y="21998"/>
                </a:lnTo>
                <a:lnTo>
                  <a:pt x="163832" y="5716"/>
                </a:lnTo>
                <a:lnTo>
                  <a:pt x="212598" y="0"/>
                </a:lnTo>
                <a:lnTo>
                  <a:pt x="261363" y="5716"/>
                </a:lnTo>
                <a:lnTo>
                  <a:pt x="306119" y="21998"/>
                </a:lnTo>
                <a:lnTo>
                  <a:pt x="345592" y="47546"/>
                </a:lnTo>
                <a:lnTo>
                  <a:pt x="378509" y="81060"/>
                </a:lnTo>
                <a:lnTo>
                  <a:pt x="403597" y="121242"/>
                </a:lnTo>
                <a:lnTo>
                  <a:pt x="419584" y="166791"/>
                </a:lnTo>
                <a:lnTo>
                  <a:pt x="425196" y="216408"/>
                </a:lnTo>
                <a:lnTo>
                  <a:pt x="419584" y="266024"/>
                </a:lnTo>
                <a:lnTo>
                  <a:pt x="403597" y="311573"/>
                </a:lnTo>
                <a:lnTo>
                  <a:pt x="378509" y="351755"/>
                </a:lnTo>
                <a:lnTo>
                  <a:pt x="345592" y="385269"/>
                </a:lnTo>
                <a:lnTo>
                  <a:pt x="306119" y="410817"/>
                </a:lnTo>
                <a:lnTo>
                  <a:pt x="261363" y="427099"/>
                </a:lnTo>
                <a:lnTo>
                  <a:pt x="212598" y="432816"/>
                </a:lnTo>
                <a:lnTo>
                  <a:pt x="163832" y="427099"/>
                </a:lnTo>
                <a:lnTo>
                  <a:pt x="119076" y="410817"/>
                </a:lnTo>
                <a:lnTo>
                  <a:pt x="79603" y="385269"/>
                </a:lnTo>
                <a:lnTo>
                  <a:pt x="46686" y="351755"/>
                </a:lnTo>
                <a:lnTo>
                  <a:pt x="21598" y="311573"/>
                </a:lnTo>
                <a:lnTo>
                  <a:pt x="5611" y="266024"/>
                </a:lnTo>
                <a:lnTo>
                  <a:pt x="0" y="216408"/>
                </a:lnTo>
                <a:close/>
              </a:path>
            </a:pathLst>
          </a:custGeom>
          <a:ln w="28574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224785" y="3685489"/>
            <a:ext cx="3467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231642" y="3693414"/>
            <a:ext cx="424180" cy="433070"/>
          </a:xfrm>
          <a:custGeom>
            <a:avLst/>
            <a:gdLst/>
            <a:ahLst/>
            <a:cxnLst/>
            <a:rect l="l" t="t" r="r" b="b"/>
            <a:pathLst>
              <a:path w="424179" h="433070">
                <a:moveTo>
                  <a:pt x="0" y="216408"/>
                </a:moveTo>
                <a:lnTo>
                  <a:pt x="5596" y="166791"/>
                </a:lnTo>
                <a:lnTo>
                  <a:pt x="21535" y="121242"/>
                </a:lnTo>
                <a:lnTo>
                  <a:pt x="46546" y="81060"/>
                </a:lnTo>
                <a:lnTo>
                  <a:pt x="79354" y="47546"/>
                </a:lnTo>
                <a:lnTo>
                  <a:pt x="118687" y="21998"/>
                </a:lnTo>
                <a:lnTo>
                  <a:pt x="163272" y="5716"/>
                </a:lnTo>
                <a:lnTo>
                  <a:pt x="211835" y="0"/>
                </a:lnTo>
                <a:lnTo>
                  <a:pt x="260399" y="5716"/>
                </a:lnTo>
                <a:lnTo>
                  <a:pt x="304984" y="21998"/>
                </a:lnTo>
                <a:lnTo>
                  <a:pt x="344317" y="47546"/>
                </a:lnTo>
                <a:lnTo>
                  <a:pt x="377125" y="81060"/>
                </a:lnTo>
                <a:lnTo>
                  <a:pt x="402136" y="121242"/>
                </a:lnTo>
                <a:lnTo>
                  <a:pt x="418075" y="166791"/>
                </a:lnTo>
                <a:lnTo>
                  <a:pt x="423671" y="216408"/>
                </a:lnTo>
                <a:lnTo>
                  <a:pt x="418075" y="266024"/>
                </a:lnTo>
                <a:lnTo>
                  <a:pt x="402136" y="311573"/>
                </a:lnTo>
                <a:lnTo>
                  <a:pt x="377125" y="351755"/>
                </a:lnTo>
                <a:lnTo>
                  <a:pt x="344317" y="385269"/>
                </a:lnTo>
                <a:lnTo>
                  <a:pt x="304984" y="410817"/>
                </a:lnTo>
                <a:lnTo>
                  <a:pt x="260399" y="427099"/>
                </a:lnTo>
                <a:lnTo>
                  <a:pt x="211835" y="432816"/>
                </a:lnTo>
                <a:lnTo>
                  <a:pt x="163272" y="427099"/>
                </a:lnTo>
                <a:lnTo>
                  <a:pt x="118687" y="410817"/>
                </a:lnTo>
                <a:lnTo>
                  <a:pt x="79354" y="385269"/>
                </a:lnTo>
                <a:lnTo>
                  <a:pt x="46546" y="351755"/>
                </a:lnTo>
                <a:lnTo>
                  <a:pt x="21535" y="311573"/>
                </a:lnTo>
                <a:lnTo>
                  <a:pt x="5596" y="266024"/>
                </a:lnTo>
                <a:lnTo>
                  <a:pt x="0" y="216408"/>
                </a:lnTo>
                <a:close/>
              </a:path>
            </a:pathLst>
          </a:custGeom>
          <a:ln w="28574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269615" y="3685489"/>
            <a:ext cx="3467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31998" y="3397758"/>
            <a:ext cx="337185" cy="327660"/>
          </a:xfrm>
          <a:custGeom>
            <a:avLst/>
            <a:gdLst/>
            <a:ahLst/>
            <a:cxnLst/>
            <a:rect l="l" t="t" r="r" b="b"/>
            <a:pathLst>
              <a:path w="337185" h="327660">
                <a:moveTo>
                  <a:pt x="0" y="0"/>
                </a:moveTo>
                <a:lnTo>
                  <a:pt x="336803" y="327659"/>
                </a:lnTo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94026" y="3414521"/>
            <a:ext cx="184785" cy="326390"/>
          </a:xfrm>
          <a:custGeom>
            <a:avLst/>
            <a:gdLst/>
            <a:ahLst/>
            <a:cxnLst/>
            <a:rect l="l" t="t" r="r" b="b"/>
            <a:pathLst>
              <a:path w="184785" h="326389">
                <a:moveTo>
                  <a:pt x="184404" y="0"/>
                </a:moveTo>
                <a:lnTo>
                  <a:pt x="0" y="326135"/>
                </a:lnTo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74241" y="2713482"/>
            <a:ext cx="645160" cy="980440"/>
          </a:xfrm>
          <a:custGeom>
            <a:avLst/>
            <a:gdLst/>
            <a:ahLst/>
            <a:cxnLst/>
            <a:rect l="l" t="t" r="r" b="b"/>
            <a:pathLst>
              <a:path w="645160" h="980439">
                <a:moveTo>
                  <a:pt x="644652" y="0"/>
                </a:moveTo>
                <a:lnTo>
                  <a:pt x="0" y="979931"/>
                </a:lnTo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248661" y="2713482"/>
            <a:ext cx="429895" cy="411480"/>
          </a:xfrm>
          <a:custGeom>
            <a:avLst/>
            <a:gdLst/>
            <a:ahLst/>
            <a:cxnLst/>
            <a:rect l="l" t="t" r="r" b="b"/>
            <a:pathLst>
              <a:path w="429894" h="411480">
                <a:moveTo>
                  <a:pt x="0" y="0"/>
                </a:moveTo>
                <a:lnTo>
                  <a:pt x="429768" y="411479"/>
                </a:lnTo>
              </a:path>
            </a:pathLst>
          </a:custGeom>
          <a:ln w="28574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9060" y="3567622"/>
            <a:ext cx="524510" cy="94361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5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90"/>
              </a:spcBef>
            </a:pPr>
            <a:r>
              <a:rPr sz="2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3.14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35837" y="3509166"/>
            <a:ext cx="1611630" cy="991869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36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060"/>
              </a:spcBef>
              <a:tabLst>
                <a:tab pos="1388745" algn="l"/>
              </a:tabLst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6.28	</a:t>
            </a:r>
            <a:r>
              <a:rPr sz="3000" b="1" baseline="1388" dirty="0">
                <a:solidFill>
                  <a:srgbClr val="66FFFF"/>
                </a:solidFill>
                <a:latin typeface="Times New Roman"/>
                <a:cs typeface="Times New Roman"/>
              </a:rPr>
              <a:t>R</a:t>
            </a:r>
            <a:endParaRPr sz="3000" baseline="1388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96692" y="4313301"/>
            <a:ext cx="110489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15" dirty="0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82517" y="4103623"/>
            <a:ext cx="161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518153" y="4280408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876294" y="2878073"/>
            <a:ext cx="424180" cy="433070"/>
          </a:xfrm>
          <a:custGeom>
            <a:avLst/>
            <a:gdLst/>
            <a:ahLst/>
            <a:cxnLst/>
            <a:rect l="l" t="t" r="r" b="b"/>
            <a:pathLst>
              <a:path w="424179" h="433070">
                <a:moveTo>
                  <a:pt x="0" y="216408"/>
                </a:moveTo>
                <a:lnTo>
                  <a:pt x="5596" y="166791"/>
                </a:lnTo>
                <a:lnTo>
                  <a:pt x="21535" y="121242"/>
                </a:lnTo>
                <a:lnTo>
                  <a:pt x="46546" y="81060"/>
                </a:lnTo>
                <a:lnTo>
                  <a:pt x="79354" y="47546"/>
                </a:lnTo>
                <a:lnTo>
                  <a:pt x="118687" y="21998"/>
                </a:lnTo>
                <a:lnTo>
                  <a:pt x="163272" y="5716"/>
                </a:lnTo>
                <a:lnTo>
                  <a:pt x="211835" y="0"/>
                </a:lnTo>
                <a:lnTo>
                  <a:pt x="260399" y="5716"/>
                </a:lnTo>
                <a:lnTo>
                  <a:pt x="304984" y="21998"/>
                </a:lnTo>
                <a:lnTo>
                  <a:pt x="344317" y="47546"/>
                </a:lnTo>
                <a:lnTo>
                  <a:pt x="377125" y="81060"/>
                </a:lnTo>
                <a:lnTo>
                  <a:pt x="402136" y="121242"/>
                </a:lnTo>
                <a:lnTo>
                  <a:pt x="418075" y="166791"/>
                </a:lnTo>
                <a:lnTo>
                  <a:pt x="423671" y="216408"/>
                </a:lnTo>
                <a:lnTo>
                  <a:pt x="418075" y="266024"/>
                </a:lnTo>
                <a:lnTo>
                  <a:pt x="402136" y="311573"/>
                </a:lnTo>
                <a:lnTo>
                  <a:pt x="377125" y="351755"/>
                </a:lnTo>
                <a:lnTo>
                  <a:pt x="344317" y="385269"/>
                </a:lnTo>
                <a:lnTo>
                  <a:pt x="304984" y="410817"/>
                </a:lnTo>
                <a:lnTo>
                  <a:pt x="260399" y="427099"/>
                </a:lnTo>
                <a:lnTo>
                  <a:pt x="211835" y="432815"/>
                </a:lnTo>
                <a:lnTo>
                  <a:pt x="163272" y="427099"/>
                </a:lnTo>
                <a:lnTo>
                  <a:pt x="118687" y="410817"/>
                </a:lnTo>
                <a:lnTo>
                  <a:pt x="79354" y="385269"/>
                </a:lnTo>
                <a:lnTo>
                  <a:pt x="46546" y="351755"/>
                </a:lnTo>
                <a:lnTo>
                  <a:pt x="21535" y="311573"/>
                </a:lnTo>
                <a:lnTo>
                  <a:pt x="5596" y="266024"/>
                </a:lnTo>
                <a:lnTo>
                  <a:pt x="0" y="216408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914266" y="2869819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600705" y="3272790"/>
            <a:ext cx="1347470" cy="654050"/>
          </a:xfrm>
          <a:custGeom>
            <a:avLst/>
            <a:gdLst/>
            <a:ahLst/>
            <a:cxnLst/>
            <a:rect l="l" t="t" r="r" b="b"/>
            <a:pathLst>
              <a:path w="1347470" h="654050">
                <a:moveTo>
                  <a:pt x="1347216" y="0"/>
                </a:moveTo>
                <a:lnTo>
                  <a:pt x="0" y="653796"/>
                </a:lnTo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646170" y="3336797"/>
            <a:ext cx="429895" cy="487680"/>
          </a:xfrm>
          <a:custGeom>
            <a:avLst/>
            <a:gdLst/>
            <a:ahLst/>
            <a:cxnLst/>
            <a:rect l="l" t="t" r="r" b="b"/>
            <a:pathLst>
              <a:path w="429895" h="487679">
                <a:moveTo>
                  <a:pt x="429767" y="0"/>
                </a:moveTo>
                <a:lnTo>
                  <a:pt x="0" y="487679"/>
                </a:lnTo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341621" y="2904236"/>
            <a:ext cx="3467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107182" y="1977390"/>
            <a:ext cx="152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015233" y="1509522"/>
            <a:ext cx="424180" cy="433070"/>
          </a:xfrm>
          <a:custGeom>
            <a:avLst/>
            <a:gdLst/>
            <a:ahLst/>
            <a:cxnLst/>
            <a:rect l="l" t="t" r="r" b="b"/>
            <a:pathLst>
              <a:path w="424179" h="433069">
                <a:moveTo>
                  <a:pt x="0" y="216407"/>
                </a:moveTo>
                <a:lnTo>
                  <a:pt x="5596" y="166791"/>
                </a:lnTo>
                <a:lnTo>
                  <a:pt x="21535" y="121242"/>
                </a:lnTo>
                <a:lnTo>
                  <a:pt x="46546" y="81060"/>
                </a:lnTo>
                <a:lnTo>
                  <a:pt x="79354" y="47546"/>
                </a:lnTo>
                <a:lnTo>
                  <a:pt x="118687" y="21998"/>
                </a:lnTo>
                <a:lnTo>
                  <a:pt x="163272" y="5716"/>
                </a:lnTo>
                <a:lnTo>
                  <a:pt x="211836" y="0"/>
                </a:lnTo>
                <a:lnTo>
                  <a:pt x="260399" y="5716"/>
                </a:lnTo>
                <a:lnTo>
                  <a:pt x="304984" y="21998"/>
                </a:lnTo>
                <a:lnTo>
                  <a:pt x="344317" y="47546"/>
                </a:lnTo>
                <a:lnTo>
                  <a:pt x="377125" y="81060"/>
                </a:lnTo>
                <a:lnTo>
                  <a:pt x="402136" y="121242"/>
                </a:lnTo>
                <a:lnTo>
                  <a:pt x="418075" y="166791"/>
                </a:lnTo>
                <a:lnTo>
                  <a:pt x="423671" y="216407"/>
                </a:lnTo>
                <a:lnTo>
                  <a:pt x="418075" y="266024"/>
                </a:lnTo>
                <a:lnTo>
                  <a:pt x="402136" y="311573"/>
                </a:lnTo>
                <a:lnTo>
                  <a:pt x="377125" y="351755"/>
                </a:lnTo>
                <a:lnTo>
                  <a:pt x="344317" y="385269"/>
                </a:lnTo>
                <a:lnTo>
                  <a:pt x="304984" y="410817"/>
                </a:lnTo>
                <a:lnTo>
                  <a:pt x="260399" y="427099"/>
                </a:lnTo>
                <a:lnTo>
                  <a:pt x="211836" y="432815"/>
                </a:lnTo>
                <a:lnTo>
                  <a:pt x="163272" y="427099"/>
                </a:lnTo>
                <a:lnTo>
                  <a:pt x="118687" y="410817"/>
                </a:lnTo>
                <a:lnTo>
                  <a:pt x="79354" y="385269"/>
                </a:lnTo>
                <a:lnTo>
                  <a:pt x="46546" y="351755"/>
                </a:lnTo>
                <a:lnTo>
                  <a:pt x="21535" y="311573"/>
                </a:lnTo>
                <a:lnTo>
                  <a:pt x="5596" y="266024"/>
                </a:lnTo>
                <a:lnTo>
                  <a:pt x="0" y="216407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066160" y="1500885"/>
            <a:ext cx="321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542791" y="1493012"/>
            <a:ext cx="1955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140457" y="1803654"/>
            <a:ext cx="861060" cy="652780"/>
          </a:xfrm>
          <a:custGeom>
            <a:avLst/>
            <a:gdLst/>
            <a:ahLst/>
            <a:cxnLst/>
            <a:rect l="l" t="t" r="r" b="b"/>
            <a:pathLst>
              <a:path w="861060" h="652780">
                <a:moveTo>
                  <a:pt x="861060" y="0"/>
                </a:moveTo>
                <a:lnTo>
                  <a:pt x="0" y="652272"/>
                </a:lnTo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323082" y="1913382"/>
            <a:ext cx="744220" cy="967740"/>
          </a:xfrm>
          <a:custGeom>
            <a:avLst/>
            <a:gdLst/>
            <a:ahLst/>
            <a:cxnLst/>
            <a:rect l="l" t="t" r="r" b="b"/>
            <a:pathLst>
              <a:path w="744220" h="967739">
                <a:moveTo>
                  <a:pt x="0" y="0"/>
                </a:moveTo>
                <a:lnTo>
                  <a:pt x="743712" y="967739"/>
                </a:lnTo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147309" y="1594866"/>
            <a:ext cx="3667125" cy="4918075"/>
          </a:xfrm>
          <a:custGeom>
            <a:avLst/>
            <a:gdLst/>
            <a:ahLst/>
            <a:cxnLst/>
            <a:rect l="l" t="t" r="r" b="b"/>
            <a:pathLst>
              <a:path w="3667125" h="4918075">
                <a:moveTo>
                  <a:pt x="0" y="4917948"/>
                </a:moveTo>
                <a:lnTo>
                  <a:pt x="3666743" y="4917948"/>
                </a:lnTo>
                <a:lnTo>
                  <a:pt x="3666743" y="0"/>
                </a:lnTo>
                <a:lnTo>
                  <a:pt x="0" y="0"/>
                </a:lnTo>
                <a:lnTo>
                  <a:pt x="0" y="4917948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847458" y="1816734"/>
            <a:ext cx="1447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74231" y="2330100"/>
            <a:ext cx="1257300" cy="138049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400"/>
              </a:spcBef>
            </a:pPr>
            <a:r>
              <a:rPr sz="1850" b="1" spc="10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15"/>
              </a:spcBef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775" b="1" spc="-7" baseline="-25525" dirty="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=6.28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1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775" b="1" spc="-7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=R+r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935851" y="4035933"/>
            <a:ext cx="70231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70230" algn="l"/>
              </a:tabLst>
            </a:pPr>
            <a:r>
              <a:rPr sz="185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4	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368797" y="1470589"/>
            <a:ext cx="2482850" cy="501396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1254760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	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800" b="1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=3.14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  <a:tabLst>
                <a:tab pos="1288415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	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800" b="1" spc="14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=6.28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1343025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	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800" b="1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=T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660515" y="4239920"/>
            <a:ext cx="1692275" cy="2244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 marR="30480" indent="-13970">
              <a:lnSpc>
                <a:spcPct val="13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28*</a:t>
            </a: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775" b="1" spc="7" baseline="-25525" dirty="0">
                <a:solidFill>
                  <a:srgbClr val="FFFF00"/>
                </a:solidFill>
                <a:latin typeface="Times New Roman"/>
                <a:cs typeface="Times New Roman"/>
              </a:rPr>
              <a:t>2 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775" b="1" spc="-7" baseline="-25525" dirty="0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=A</a:t>
            </a:r>
            <a:endParaRPr sz="2800">
              <a:latin typeface="Times New Roman"/>
              <a:cs typeface="Times New Roman"/>
            </a:endParaRPr>
          </a:p>
          <a:p>
            <a:pPr marL="57785" marR="304165" indent="-6350">
              <a:lnSpc>
                <a:spcPts val="4370"/>
              </a:lnSpc>
              <a:spcBef>
                <a:spcPts val="310"/>
              </a:spcBef>
            </a:pP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775" b="1" spc="7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﹣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r  B=A*T</a:t>
            </a:r>
            <a:r>
              <a:rPr sz="2775" b="1" spc="-7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775" baseline="-25525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42138" y="727963"/>
            <a:ext cx="30346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u="heavy" spc="-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⑹</a:t>
            </a:r>
            <a:r>
              <a:rPr sz="2000" b="1" u="heavy" spc="-550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T3</a:t>
            </a:r>
            <a:r>
              <a:rPr sz="2000" b="1" u="heavy" spc="-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=</a:t>
            </a:r>
            <a:r>
              <a:rPr sz="2000" b="1" u="heavy" spc="-1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heavy" spc="-10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*</a:t>
            </a:r>
            <a:r>
              <a:rPr sz="2000" b="1" u="heavy" spc="-50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T0</a:t>
            </a:r>
            <a:r>
              <a:rPr sz="2000" b="1" spc="48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⑺</a:t>
            </a:r>
            <a:r>
              <a:rPr sz="2000" b="1" spc="-53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T4</a:t>
            </a:r>
            <a:r>
              <a:rPr sz="2000" b="1" u="heavy" spc="-1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=</a:t>
            </a:r>
            <a:r>
              <a:rPr sz="2000" b="1" u="heavy" spc="-10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66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R+r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526028" y="727963"/>
            <a:ext cx="17481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⑻</a:t>
            </a:r>
            <a:r>
              <a:rPr sz="2000" b="1" spc="-70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T5 = </a:t>
            </a:r>
            <a:r>
              <a:rPr sz="2000" b="1" u="heavy" dirty="0">
                <a:solidFill>
                  <a:srgbClr val="99FF33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T3 * T</a:t>
            </a:r>
            <a:r>
              <a:rPr sz="2000" b="1" dirty="0">
                <a:solidFill>
                  <a:srgbClr val="99FF33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42138" y="422909"/>
            <a:ext cx="69176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20850" algn="l"/>
                <a:tab pos="3366770" algn="l"/>
                <a:tab pos="5299710" algn="l"/>
              </a:tabLst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⑴</a:t>
            </a:r>
            <a:r>
              <a:rPr sz="2000" b="1" spc="-53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T0 = 3.14	</a:t>
            </a:r>
            <a:r>
              <a:rPr sz="2000" b="1" u="heavy" spc="-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⑵</a:t>
            </a:r>
            <a:r>
              <a:rPr sz="2000" b="1" u="heavy" spc="-53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T1 =</a:t>
            </a:r>
            <a:r>
              <a:rPr sz="2000" b="1" u="heavy" spc="-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2*T0	</a:t>
            </a: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⑶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T2</a:t>
            </a:r>
            <a:r>
              <a:rPr sz="2000" b="1" u="heavy" spc="-20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=</a:t>
            </a:r>
            <a:r>
              <a:rPr sz="2000" b="1" u="heavy" spc="-10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66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R+r</a:t>
            </a:r>
            <a:r>
              <a:rPr sz="2000" b="1" dirty="0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sz="2000" b="1" dirty="0">
                <a:solidFill>
                  <a:srgbClr val="FFFFFF"/>
                </a:solidFill>
                <a:latin typeface="宋体"/>
                <a:cs typeface="宋体"/>
              </a:rPr>
              <a:t>⑷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A = </a:t>
            </a:r>
            <a:r>
              <a:rPr sz="2000" b="1" u="heavy" dirty="0">
                <a:solidFill>
                  <a:srgbClr val="99FF33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T1 *</a:t>
            </a:r>
            <a:r>
              <a:rPr sz="2000" b="1" u="heavy" spc="-250" dirty="0">
                <a:solidFill>
                  <a:srgbClr val="99FF33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99FF33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T2</a:t>
            </a:r>
            <a:r>
              <a:rPr sz="2000" b="1" u="heavy" spc="35" dirty="0">
                <a:solidFill>
                  <a:srgbClr val="99FF33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5309235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⑼</a:t>
            </a:r>
            <a:r>
              <a:rPr sz="2000" b="1" spc="-59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T6 = R – r</a:t>
            </a:r>
            <a:r>
              <a:rPr sz="2000" b="1" u="heavy" spc="13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220839" y="422909"/>
            <a:ext cx="165353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98245" algn="l"/>
              </a:tabLst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⑸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B =</a:t>
            </a:r>
            <a:r>
              <a:rPr sz="2000" b="1" u="heavy" spc="-210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A	</a:t>
            </a:r>
            <a:endParaRPr sz="20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⑽</a:t>
            </a:r>
            <a:r>
              <a:rPr sz="2000" b="1" spc="-67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 = T5 * T6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10489" y="712469"/>
            <a:ext cx="1621790" cy="15240"/>
          </a:xfrm>
          <a:custGeom>
            <a:avLst/>
            <a:gdLst/>
            <a:ahLst/>
            <a:cxnLst/>
            <a:rect l="l" t="t" r="r" b="b"/>
            <a:pathLst>
              <a:path w="1621789" h="15240">
                <a:moveTo>
                  <a:pt x="0" y="15239"/>
                </a:moveTo>
                <a:lnTo>
                  <a:pt x="1621536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357109" y="1070610"/>
            <a:ext cx="1470660" cy="32384"/>
          </a:xfrm>
          <a:custGeom>
            <a:avLst/>
            <a:gdLst/>
            <a:ahLst/>
            <a:cxnLst/>
            <a:rect l="l" t="t" r="r" b="b"/>
            <a:pathLst>
              <a:path w="1470659" h="32384">
                <a:moveTo>
                  <a:pt x="0" y="32003"/>
                </a:moveTo>
                <a:lnTo>
                  <a:pt x="147066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42138" y="4878146"/>
            <a:ext cx="50120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按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照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DAG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图的结点顺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序，重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46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142138" y="5367020"/>
            <a:ext cx="4930775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新生成四元式代码，就是经 过局部优化后的代码。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6731" y="26923"/>
            <a:ext cx="1692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0591" y="26923"/>
            <a:ext cx="15589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8</a:t>
            </a:r>
            <a:r>
              <a:rPr sz="2000" b="1" spc="5" dirty="0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2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局部优化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6448" y="26923"/>
            <a:ext cx="2636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D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AG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定义与应用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48583" y="297611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8567" y="3088894"/>
            <a:ext cx="199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43989" y="2485770"/>
            <a:ext cx="177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12389" y="2726817"/>
            <a:ext cx="51498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000" b="1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,T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81934" y="2874645"/>
            <a:ext cx="42862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30835" algn="l"/>
              </a:tabLst>
            </a:pPr>
            <a:r>
              <a:rPr sz="13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2	4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6689" y="3451352"/>
            <a:ext cx="6273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b="1" spc="7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13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1,</a:t>
            </a:r>
            <a:r>
              <a:rPr sz="3000" b="1" spc="7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13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18894" y="2058161"/>
            <a:ext cx="424180" cy="433070"/>
          </a:xfrm>
          <a:custGeom>
            <a:avLst/>
            <a:gdLst/>
            <a:ahLst/>
            <a:cxnLst/>
            <a:rect l="l" t="t" r="r" b="b"/>
            <a:pathLst>
              <a:path w="424180" h="433069">
                <a:moveTo>
                  <a:pt x="0" y="216408"/>
                </a:moveTo>
                <a:lnTo>
                  <a:pt x="5596" y="166791"/>
                </a:lnTo>
                <a:lnTo>
                  <a:pt x="21535" y="121242"/>
                </a:lnTo>
                <a:lnTo>
                  <a:pt x="46546" y="81060"/>
                </a:lnTo>
                <a:lnTo>
                  <a:pt x="79354" y="47546"/>
                </a:lnTo>
                <a:lnTo>
                  <a:pt x="118687" y="21998"/>
                </a:lnTo>
                <a:lnTo>
                  <a:pt x="163272" y="5716"/>
                </a:lnTo>
                <a:lnTo>
                  <a:pt x="211836" y="0"/>
                </a:lnTo>
                <a:lnTo>
                  <a:pt x="260399" y="5716"/>
                </a:lnTo>
                <a:lnTo>
                  <a:pt x="304984" y="21998"/>
                </a:lnTo>
                <a:lnTo>
                  <a:pt x="344317" y="47546"/>
                </a:lnTo>
                <a:lnTo>
                  <a:pt x="377125" y="81060"/>
                </a:lnTo>
                <a:lnTo>
                  <a:pt x="402136" y="121242"/>
                </a:lnTo>
                <a:lnTo>
                  <a:pt x="418075" y="166791"/>
                </a:lnTo>
                <a:lnTo>
                  <a:pt x="423672" y="216408"/>
                </a:lnTo>
                <a:lnTo>
                  <a:pt x="418075" y="266024"/>
                </a:lnTo>
                <a:lnTo>
                  <a:pt x="402136" y="311573"/>
                </a:lnTo>
                <a:lnTo>
                  <a:pt x="377125" y="351755"/>
                </a:lnTo>
                <a:lnTo>
                  <a:pt x="344317" y="385269"/>
                </a:lnTo>
                <a:lnTo>
                  <a:pt x="304984" y="410817"/>
                </a:lnTo>
                <a:lnTo>
                  <a:pt x="260399" y="427099"/>
                </a:lnTo>
                <a:lnTo>
                  <a:pt x="211836" y="432815"/>
                </a:lnTo>
                <a:lnTo>
                  <a:pt x="163272" y="427099"/>
                </a:lnTo>
                <a:lnTo>
                  <a:pt x="118687" y="410817"/>
                </a:lnTo>
                <a:lnTo>
                  <a:pt x="79354" y="385269"/>
                </a:lnTo>
                <a:lnTo>
                  <a:pt x="46546" y="351755"/>
                </a:lnTo>
                <a:lnTo>
                  <a:pt x="21535" y="311573"/>
                </a:lnTo>
                <a:lnTo>
                  <a:pt x="5596" y="266024"/>
                </a:lnTo>
                <a:lnTo>
                  <a:pt x="0" y="216408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68932" y="2050541"/>
            <a:ext cx="321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94889" y="2093213"/>
            <a:ext cx="5784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A,T</a:t>
            </a:r>
            <a:r>
              <a:rPr sz="1950" b="1" spc="7" baseline="-21367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663189" y="2719577"/>
            <a:ext cx="424180" cy="434340"/>
          </a:xfrm>
          <a:custGeom>
            <a:avLst/>
            <a:gdLst/>
            <a:ahLst/>
            <a:cxnLst/>
            <a:rect l="l" t="t" r="r" b="b"/>
            <a:pathLst>
              <a:path w="424180" h="434339">
                <a:moveTo>
                  <a:pt x="0" y="217170"/>
                </a:moveTo>
                <a:lnTo>
                  <a:pt x="5596" y="167391"/>
                </a:lnTo>
                <a:lnTo>
                  <a:pt x="21535" y="121686"/>
                </a:lnTo>
                <a:lnTo>
                  <a:pt x="46546" y="81362"/>
                </a:lnTo>
                <a:lnTo>
                  <a:pt x="79354" y="47726"/>
                </a:lnTo>
                <a:lnTo>
                  <a:pt x="118687" y="22082"/>
                </a:lnTo>
                <a:lnTo>
                  <a:pt x="163272" y="5738"/>
                </a:lnTo>
                <a:lnTo>
                  <a:pt x="211836" y="0"/>
                </a:lnTo>
                <a:lnTo>
                  <a:pt x="260399" y="5738"/>
                </a:lnTo>
                <a:lnTo>
                  <a:pt x="304984" y="22082"/>
                </a:lnTo>
                <a:lnTo>
                  <a:pt x="344317" y="47726"/>
                </a:lnTo>
                <a:lnTo>
                  <a:pt x="377125" y="81362"/>
                </a:lnTo>
                <a:lnTo>
                  <a:pt x="402136" y="121686"/>
                </a:lnTo>
                <a:lnTo>
                  <a:pt x="418075" y="167391"/>
                </a:lnTo>
                <a:lnTo>
                  <a:pt x="423672" y="217170"/>
                </a:lnTo>
                <a:lnTo>
                  <a:pt x="418075" y="266948"/>
                </a:lnTo>
                <a:lnTo>
                  <a:pt x="402136" y="312653"/>
                </a:lnTo>
                <a:lnTo>
                  <a:pt x="377125" y="352977"/>
                </a:lnTo>
                <a:lnTo>
                  <a:pt x="344317" y="386613"/>
                </a:lnTo>
                <a:lnTo>
                  <a:pt x="304984" y="412257"/>
                </a:lnTo>
                <a:lnTo>
                  <a:pt x="260399" y="428601"/>
                </a:lnTo>
                <a:lnTo>
                  <a:pt x="211836" y="434339"/>
                </a:lnTo>
                <a:lnTo>
                  <a:pt x="163272" y="428601"/>
                </a:lnTo>
                <a:lnTo>
                  <a:pt x="118687" y="412257"/>
                </a:lnTo>
                <a:lnTo>
                  <a:pt x="79354" y="386613"/>
                </a:lnTo>
                <a:lnTo>
                  <a:pt x="46546" y="352977"/>
                </a:lnTo>
                <a:lnTo>
                  <a:pt x="21535" y="312653"/>
                </a:lnTo>
                <a:lnTo>
                  <a:pt x="5596" y="266948"/>
                </a:lnTo>
                <a:lnTo>
                  <a:pt x="0" y="217170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726563" y="271246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95726" y="2889249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74597" y="3347465"/>
            <a:ext cx="424180" cy="433070"/>
          </a:xfrm>
          <a:custGeom>
            <a:avLst/>
            <a:gdLst/>
            <a:ahLst/>
            <a:cxnLst/>
            <a:rect l="l" t="t" r="r" b="b"/>
            <a:pathLst>
              <a:path w="424180" h="433070">
                <a:moveTo>
                  <a:pt x="0" y="216408"/>
                </a:moveTo>
                <a:lnTo>
                  <a:pt x="5594" y="166791"/>
                </a:lnTo>
                <a:lnTo>
                  <a:pt x="21531" y="121242"/>
                </a:lnTo>
                <a:lnTo>
                  <a:pt x="46538" y="81060"/>
                </a:lnTo>
                <a:lnTo>
                  <a:pt x="79343" y="47546"/>
                </a:lnTo>
                <a:lnTo>
                  <a:pt x="118676" y="21998"/>
                </a:lnTo>
                <a:lnTo>
                  <a:pt x="163264" y="5716"/>
                </a:lnTo>
                <a:lnTo>
                  <a:pt x="211836" y="0"/>
                </a:lnTo>
                <a:lnTo>
                  <a:pt x="260399" y="5716"/>
                </a:lnTo>
                <a:lnTo>
                  <a:pt x="304984" y="21998"/>
                </a:lnTo>
                <a:lnTo>
                  <a:pt x="344317" y="47546"/>
                </a:lnTo>
                <a:lnTo>
                  <a:pt x="377125" y="81060"/>
                </a:lnTo>
                <a:lnTo>
                  <a:pt x="402136" y="121242"/>
                </a:lnTo>
                <a:lnTo>
                  <a:pt x="418075" y="166791"/>
                </a:lnTo>
                <a:lnTo>
                  <a:pt x="423672" y="216408"/>
                </a:lnTo>
                <a:lnTo>
                  <a:pt x="418075" y="266024"/>
                </a:lnTo>
                <a:lnTo>
                  <a:pt x="402136" y="311573"/>
                </a:lnTo>
                <a:lnTo>
                  <a:pt x="377125" y="351755"/>
                </a:lnTo>
                <a:lnTo>
                  <a:pt x="344317" y="385269"/>
                </a:lnTo>
                <a:lnTo>
                  <a:pt x="304984" y="410817"/>
                </a:lnTo>
                <a:lnTo>
                  <a:pt x="260399" y="427099"/>
                </a:lnTo>
                <a:lnTo>
                  <a:pt x="211836" y="432816"/>
                </a:lnTo>
                <a:lnTo>
                  <a:pt x="163264" y="427099"/>
                </a:lnTo>
                <a:lnTo>
                  <a:pt x="118676" y="410817"/>
                </a:lnTo>
                <a:lnTo>
                  <a:pt x="79343" y="385269"/>
                </a:lnTo>
                <a:lnTo>
                  <a:pt x="46538" y="351755"/>
                </a:lnTo>
                <a:lnTo>
                  <a:pt x="21531" y="311573"/>
                </a:lnTo>
                <a:lnTo>
                  <a:pt x="5594" y="266024"/>
                </a:lnTo>
                <a:lnTo>
                  <a:pt x="0" y="216408"/>
                </a:lnTo>
                <a:close/>
              </a:path>
            </a:pathLst>
          </a:custGeom>
          <a:ln w="28574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5062" y="3379470"/>
            <a:ext cx="424180" cy="433070"/>
          </a:xfrm>
          <a:custGeom>
            <a:avLst/>
            <a:gdLst/>
            <a:ahLst/>
            <a:cxnLst/>
            <a:rect l="l" t="t" r="r" b="b"/>
            <a:pathLst>
              <a:path w="424180" h="433070">
                <a:moveTo>
                  <a:pt x="0" y="216407"/>
                </a:moveTo>
                <a:lnTo>
                  <a:pt x="5594" y="166791"/>
                </a:lnTo>
                <a:lnTo>
                  <a:pt x="21531" y="121242"/>
                </a:lnTo>
                <a:lnTo>
                  <a:pt x="46538" y="81060"/>
                </a:lnTo>
                <a:lnTo>
                  <a:pt x="79343" y="47546"/>
                </a:lnTo>
                <a:lnTo>
                  <a:pt x="118676" y="21998"/>
                </a:lnTo>
                <a:lnTo>
                  <a:pt x="163264" y="5716"/>
                </a:lnTo>
                <a:lnTo>
                  <a:pt x="211836" y="0"/>
                </a:lnTo>
                <a:lnTo>
                  <a:pt x="260407" y="5716"/>
                </a:lnTo>
                <a:lnTo>
                  <a:pt x="304995" y="21998"/>
                </a:lnTo>
                <a:lnTo>
                  <a:pt x="344328" y="47546"/>
                </a:lnTo>
                <a:lnTo>
                  <a:pt x="377133" y="81060"/>
                </a:lnTo>
                <a:lnTo>
                  <a:pt x="402140" y="121242"/>
                </a:lnTo>
                <a:lnTo>
                  <a:pt x="418077" y="166791"/>
                </a:lnTo>
                <a:lnTo>
                  <a:pt x="423672" y="216407"/>
                </a:lnTo>
                <a:lnTo>
                  <a:pt x="418077" y="266024"/>
                </a:lnTo>
                <a:lnTo>
                  <a:pt x="402140" y="311573"/>
                </a:lnTo>
                <a:lnTo>
                  <a:pt x="377133" y="351755"/>
                </a:lnTo>
                <a:lnTo>
                  <a:pt x="344328" y="385269"/>
                </a:lnTo>
                <a:lnTo>
                  <a:pt x="304995" y="410817"/>
                </a:lnTo>
                <a:lnTo>
                  <a:pt x="260407" y="427099"/>
                </a:lnTo>
                <a:lnTo>
                  <a:pt x="211836" y="432815"/>
                </a:lnTo>
                <a:lnTo>
                  <a:pt x="163264" y="427099"/>
                </a:lnTo>
                <a:lnTo>
                  <a:pt x="118676" y="410817"/>
                </a:lnTo>
                <a:lnTo>
                  <a:pt x="79343" y="385269"/>
                </a:lnTo>
                <a:lnTo>
                  <a:pt x="46538" y="351755"/>
                </a:lnTo>
                <a:lnTo>
                  <a:pt x="21531" y="311573"/>
                </a:lnTo>
                <a:lnTo>
                  <a:pt x="5594" y="266024"/>
                </a:lnTo>
                <a:lnTo>
                  <a:pt x="0" y="216407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70585" y="3485515"/>
            <a:ext cx="3467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186177" y="3362705"/>
            <a:ext cx="425450" cy="434340"/>
          </a:xfrm>
          <a:custGeom>
            <a:avLst/>
            <a:gdLst/>
            <a:ahLst/>
            <a:cxnLst/>
            <a:rect l="l" t="t" r="r" b="b"/>
            <a:pathLst>
              <a:path w="425450" h="434339">
                <a:moveTo>
                  <a:pt x="0" y="217170"/>
                </a:moveTo>
                <a:lnTo>
                  <a:pt x="5611" y="167391"/>
                </a:lnTo>
                <a:lnTo>
                  <a:pt x="21598" y="121686"/>
                </a:lnTo>
                <a:lnTo>
                  <a:pt x="46686" y="81362"/>
                </a:lnTo>
                <a:lnTo>
                  <a:pt x="79603" y="47726"/>
                </a:lnTo>
                <a:lnTo>
                  <a:pt x="119076" y="22082"/>
                </a:lnTo>
                <a:lnTo>
                  <a:pt x="163832" y="5738"/>
                </a:lnTo>
                <a:lnTo>
                  <a:pt x="212598" y="0"/>
                </a:lnTo>
                <a:lnTo>
                  <a:pt x="261363" y="5738"/>
                </a:lnTo>
                <a:lnTo>
                  <a:pt x="306119" y="22082"/>
                </a:lnTo>
                <a:lnTo>
                  <a:pt x="345592" y="47726"/>
                </a:lnTo>
                <a:lnTo>
                  <a:pt x="378509" y="81362"/>
                </a:lnTo>
                <a:lnTo>
                  <a:pt x="403597" y="121686"/>
                </a:lnTo>
                <a:lnTo>
                  <a:pt x="419584" y="167391"/>
                </a:lnTo>
                <a:lnTo>
                  <a:pt x="425196" y="217170"/>
                </a:lnTo>
                <a:lnTo>
                  <a:pt x="419584" y="266948"/>
                </a:lnTo>
                <a:lnTo>
                  <a:pt x="403597" y="312653"/>
                </a:lnTo>
                <a:lnTo>
                  <a:pt x="378509" y="352977"/>
                </a:lnTo>
                <a:lnTo>
                  <a:pt x="345592" y="386613"/>
                </a:lnTo>
                <a:lnTo>
                  <a:pt x="306119" y="412257"/>
                </a:lnTo>
                <a:lnTo>
                  <a:pt x="261363" y="428601"/>
                </a:lnTo>
                <a:lnTo>
                  <a:pt x="212598" y="434340"/>
                </a:lnTo>
                <a:lnTo>
                  <a:pt x="163832" y="428601"/>
                </a:lnTo>
                <a:lnTo>
                  <a:pt x="119076" y="412257"/>
                </a:lnTo>
                <a:lnTo>
                  <a:pt x="79603" y="386613"/>
                </a:lnTo>
                <a:lnTo>
                  <a:pt x="46686" y="352977"/>
                </a:lnTo>
                <a:lnTo>
                  <a:pt x="21598" y="312653"/>
                </a:lnTo>
                <a:lnTo>
                  <a:pt x="5611" y="266948"/>
                </a:lnTo>
                <a:lnTo>
                  <a:pt x="0" y="217170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31642" y="3362705"/>
            <a:ext cx="424180" cy="434340"/>
          </a:xfrm>
          <a:custGeom>
            <a:avLst/>
            <a:gdLst/>
            <a:ahLst/>
            <a:cxnLst/>
            <a:rect l="l" t="t" r="r" b="b"/>
            <a:pathLst>
              <a:path w="424179" h="434339">
                <a:moveTo>
                  <a:pt x="0" y="217170"/>
                </a:moveTo>
                <a:lnTo>
                  <a:pt x="5596" y="167391"/>
                </a:lnTo>
                <a:lnTo>
                  <a:pt x="21535" y="121686"/>
                </a:lnTo>
                <a:lnTo>
                  <a:pt x="46546" y="81362"/>
                </a:lnTo>
                <a:lnTo>
                  <a:pt x="79354" y="47726"/>
                </a:lnTo>
                <a:lnTo>
                  <a:pt x="118687" y="22082"/>
                </a:lnTo>
                <a:lnTo>
                  <a:pt x="163272" y="5738"/>
                </a:lnTo>
                <a:lnTo>
                  <a:pt x="211835" y="0"/>
                </a:lnTo>
                <a:lnTo>
                  <a:pt x="260399" y="5738"/>
                </a:lnTo>
                <a:lnTo>
                  <a:pt x="304984" y="22082"/>
                </a:lnTo>
                <a:lnTo>
                  <a:pt x="344317" y="47726"/>
                </a:lnTo>
                <a:lnTo>
                  <a:pt x="377125" y="81362"/>
                </a:lnTo>
                <a:lnTo>
                  <a:pt x="402136" y="121686"/>
                </a:lnTo>
                <a:lnTo>
                  <a:pt x="418075" y="167391"/>
                </a:lnTo>
                <a:lnTo>
                  <a:pt x="423671" y="217170"/>
                </a:lnTo>
                <a:lnTo>
                  <a:pt x="418075" y="266948"/>
                </a:lnTo>
                <a:lnTo>
                  <a:pt x="402136" y="312653"/>
                </a:lnTo>
                <a:lnTo>
                  <a:pt x="377125" y="352977"/>
                </a:lnTo>
                <a:lnTo>
                  <a:pt x="344317" y="386613"/>
                </a:lnTo>
                <a:lnTo>
                  <a:pt x="304984" y="412257"/>
                </a:lnTo>
                <a:lnTo>
                  <a:pt x="260399" y="428601"/>
                </a:lnTo>
                <a:lnTo>
                  <a:pt x="211835" y="434340"/>
                </a:lnTo>
                <a:lnTo>
                  <a:pt x="163272" y="428601"/>
                </a:lnTo>
                <a:lnTo>
                  <a:pt x="118687" y="412257"/>
                </a:lnTo>
                <a:lnTo>
                  <a:pt x="79354" y="386613"/>
                </a:lnTo>
                <a:lnTo>
                  <a:pt x="46546" y="352977"/>
                </a:lnTo>
                <a:lnTo>
                  <a:pt x="21535" y="312653"/>
                </a:lnTo>
                <a:lnTo>
                  <a:pt x="5596" y="266948"/>
                </a:lnTo>
                <a:lnTo>
                  <a:pt x="0" y="217170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031998" y="3068573"/>
            <a:ext cx="337185" cy="326390"/>
          </a:xfrm>
          <a:custGeom>
            <a:avLst/>
            <a:gdLst/>
            <a:ahLst/>
            <a:cxnLst/>
            <a:rect l="l" t="t" r="r" b="b"/>
            <a:pathLst>
              <a:path w="337185" h="326389">
                <a:moveTo>
                  <a:pt x="0" y="0"/>
                </a:moveTo>
                <a:lnTo>
                  <a:pt x="336803" y="326136"/>
                </a:lnTo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494026" y="3083814"/>
            <a:ext cx="184785" cy="327660"/>
          </a:xfrm>
          <a:custGeom>
            <a:avLst/>
            <a:gdLst/>
            <a:ahLst/>
            <a:cxnLst/>
            <a:rect l="l" t="t" r="r" b="b"/>
            <a:pathLst>
              <a:path w="184785" h="327660">
                <a:moveTo>
                  <a:pt x="184404" y="0"/>
                </a:moveTo>
                <a:lnTo>
                  <a:pt x="0" y="327660"/>
                </a:lnTo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74241" y="2384298"/>
            <a:ext cx="645160" cy="978535"/>
          </a:xfrm>
          <a:custGeom>
            <a:avLst/>
            <a:gdLst/>
            <a:ahLst/>
            <a:cxnLst/>
            <a:rect l="l" t="t" r="r" b="b"/>
            <a:pathLst>
              <a:path w="645160" h="978535">
                <a:moveTo>
                  <a:pt x="644652" y="0"/>
                </a:moveTo>
                <a:lnTo>
                  <a:pt x="0" y="978407"/>
                </a:lnTo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48661" y="2384298"/>
            <a:ext cx="429895" cy="410209"/>
          </a:xfrm>
          <a:custGeom>
            <a:avLst/>
            <a:gdLst/>
            <a:ahLst/>
            <a:cxnLst/>
            <a:rect l="l" t="t" r="r" b="b"/>
            <a:pathLst>
              <a:path w="429894" h="410210">
                <a:moveTo>
                  <a:pt x="0" y="0"/>
                </a:moveTo>
                <a:lnTo>
                  <a:pt x="429768" y="409955"/>
                </a:lnTo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9060" y="3237168"/>
            <a:ext cx="524510" cy="94361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5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90"/>
              </a:spcBef>
            </a:pPr>
            <a:r>
              <a:rPr sz="2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3.14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48537" y="3178928"/>
            <a:ext cx="524510" cy="991869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36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65"/>
              </a:spcBef>
            </a:pPr>
            <a:r>
              <a:rPr sz="2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6.28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24785" y="3219316"/>
            <a:ext cx="346710" cy="94678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7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  <a:p>
            <a:pPr marL="99695">
              <a:lnSpc>
                <a:spcPct val="100000"/>
              </a:lnSpc>
              <a:spcBef>
                <a:spcPts val="900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69615" y="3303777"/>
            <a:ext cx="346710" cy="86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095" marR="30480" indent="-87630">
              <a:lnSpc>
                <a:spcPct val="114199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4 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876294" y="2547366"/>
            <a:ext cx="424180" cy="433070"/>
          </a:xfrm>
          <a:custGeom>
            <a:avLst/>
            <a:gdLst/>
            <a:ahLst/>
            <a:cxnLst/>
            <a:rect l="l" t="t" r="r" b="b"/>
            <a:pathLst>
              <a:path w="424179" h="433069">
                <a:moveTo>
                  <a:pt x="0" y="216408"/>
                </a:moveTo>
                <a:lnTo>
                  <a:pt x="5596" y="166791"/>
                </a:lnTo>
                <a:lnTo>
                  <a:pt x="21535" y="121242"/>
                </a:lnTo>
                <a:lnTo>
                  <a:pt x="46546" y="81060"/>
                </a:lnTo>
                <a:lnTo>
                  <a:pt x="79354" y="47546"/>
                </a:lnTo>
                <a:lnTo>
                  <a:pt x="118687" y="21998"/>
                </a:lnTo>
                <a:lnTo>
                  <a:pt x="163272" y="5716"/>
                </a:lnTo>
                <a:lnTo>
                  <a:pt x="211835" y="0"/>
                </a:lnTo>
                <a:lnTo>
                  <a:pt x="260399" y="5716"/>
                </a:lnTo>
                <a:lnTo>
                  <a:pt x="304984" y="21998"/>
                </a:lnTo>
                <a:lnTo>
                  <a:pt x="344317" y="47546"/>
                </a:lnTo>
                <a:lnTo>
                  <a:pt x="377125" y="81060"/>
                </a:lnTo>
                <a:lnTo>
                  <a:pt x="402136" y="121242"/>
                </a:lnTo>
                <a:lnTo>
                  <a:pt x="418075" y="166791"/>
                </a:lnTo>
                <a:lnTo>
                  <a:pt x="423671" y="216408"/>
                </a:lnTo>
                <a:lnTo>
                  <a:pt x="418075" y="266024"/>
                </a:lnTo>
                <a:lnTo>
                  <a:pt x="402136" y="311573"/>
                </a:lnTo>
                <a:lnTo>
                  <a:pt x="377125" y="351755"/>
                </a:lnTo>
                <a:lnTo>
                  <a:pt x="344317" y="385269"/>
                </a:lnTo>
                <a:lnTo>
                  <a:pt x="304984" y="410817"/>
                </a:lnTo>
                <a:lnTo>
                  <a:pt x="260399" y="427099"/>
                </a:lnTo>
                <a:lnTo>
                  <a:pt x="211835" y="432816"/>
                </a:lnTo>
                <a:lnTo>
                  <a:pt x="163272" y="427099"/>
                </a:lnTo>
                <a:lnTo>
                  <a:pt x="118687" y="410817"/>
                </a:lnTo>
                <a:lnTo>
                  <a:pt x="79354" y="385269"/>
                </a:lnTo>
                <a:lnTo>
                  <a:pt x="46546" y="351755"/>
                </a:lnTo>
                <a:lnTo>
                  <a:pt x="21535" y="311573"/>
                </a:lnTo>
                <a:lnTo>
                  <a:pt x="5596" y="266024"/>
                </a:lnTo>
                <a:lnTo>
                  <a:pt x="0" y="216408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914266" y="2539365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600705" y="2942082"/>
            <a:ext cx="1347470" cy="654050"/>
          </a:xfrm>
          <a:custGeom>
            <a:avLst/>
            <a:gdLst/>
            <a:ahLst/>
            <a:cxnLst/>
            <a:rect l="l" t="t" r="r" b="b"/>
            <a:pathLst>
              <a:path w="1347470" h="654050">
                <a:moveTo>
                  <a:pt x="1347216" y="0"/>
                </a:moveTo>
                <a:lnTo>
                  <a:pt x="0" y="653795"/>
                </a:lnTo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646170" y="3006089"/>
            <a:ext cx="429895" cy="489584"/>
          </a:xfrm>
          <a:custGeom>
            <a:avLst/>
            <a:gdLst/>
            <a:ahLst/>
            <a:cxnLst/>
            <a:rect l="l" t="t" r="r" b="b"/>
            <a:pathLst>
              <a:path w="429895" h="489585">
                <a:moveTo>
                  <a:pt x="429767" y="0"/>
                </a:moveTo>
                <a:lnTo>
                  <a:pt x="0" y="489204"/>
                </a:lnTo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341621" y="2573782"/>
            <a:ext cx="3467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07182" y="1647190"/>
            <a:ext cx="152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015233" y="1178813"/>
            <a:ext cx="424180" cy="433070"/>
          </a:xfrm>
          <a:custGeom>
            <a:avLst/>
            <a:gdLst/>
            <a:ahLst/>
            <a:cxnLst/>
            <a:rect l="l" t="t" r="r" b="b"/>
            <a:pathLst>
              <a:path w="424179" h="433069">
                <a:moveTo>
                  <a:pt x="0" y="216408"/>
                </a:moveTo>
                <a:lnTo>
                  <a:pt x="5596" y="166791"/>
                </a:lnTo>
                <a:lnTo>
                  <a:pt x="21535" y="121242"/>
                </a:lnTo>
                <a:lnTo>
                  <a:pt x="46546" y="81060"/>
                </a:lnTo>
                <a:lnTo>
                  <a:pt x="79354" y="47546"/>
                </a:lnTo>
                <a:lnTo>
                  <a:pt x="118687" y="21998"/>
                </a:lnTo>
                <a:lnTo>
                  <a:pt x="163272" y="5716"/>
                </a:lnTo>
                <a:lnTo>
                  <a:pt x="211836" y="0"/>
                </a:lnTo>
                <a:lnTo>
                  <a:pt x="260399" y="5716"/>
                </a:lnTo>
                <a:lnTo>
                  <a:pt x="304984" y="21998"/>
                </a:lnTo>
                <a:lnTo>
                  <a:pt x="344317" y="47546"/>
                </a:lnTo>
                <a:lnTo>
                  <a:pt x="377125" y="81060"/>
                </a:lnTo>
                <a:lnTo>
                  <a:pt x="402136" y="121242"/>
                </a:lnTo>
                <a:lnTo>
                  <a:pt x="418075" y="166791"/>
                </a:lnTo>
                <a:lnTo>
                  <a:pt x="423671" y="216408"/>
                </a:lnTo>
                <a:lnTo>
                  <a:pt x="418075" y="266024"/>
                </a:lnTo>
                <a:lnTo>
                  <a:pt x="402136" y="311573"/>
                </a:lnTo>
                <a:lnTo>
                  <a:pt x="377125" y="351755"/>
                </a:lnTo>
                <a:lnTo>
                  <a:pt x="344317" y="385269"/>
                </a:lnTo>
                <a:lnTo>
                  <a:pt x="304984" y="410817"/>
                </a:lnTo>
                <a:lnTo>
                  <a:pt x="260399" y="427099"/>
                </a:lnTo>
                <a:lnTo>
                  <a:pt x="211836" y="432815"/>
                </a:lnTo>
                <a:lnTo>
                  <a:pt x="163272" y="427099"/>
                </a:lnTo>
                <a:lnTo>
                  <a:pt x="118687" y="410817"/>
                </a:lnTo>
                <a:lnTo>
                  <a:pt x="79354" y="385269"/>
                </a:lnTo>
                <a:lnTo>
                  <a:pt x="46546" y="351755"/>
                </a:lnTo>
                <a:lnTo>
                  <a:pt x="21535" y="311573"/>
                </a:lnTo>
                <a:lnTo>
                  <a:pt x="5596" y="266024"/>
                </a:lnTo>
                <a:lnTo>
                  <a:pt x="0" y="216408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542791" y="1162938"/>
            <a:ext cx="1955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140457" y="1474469"/>
            <a:ext cx="861060" cy="652780"/>
          </a:xfrm>
          <a:custGeom>
            <a:avLst/>
            <a:gdLst/>
            <a:ahLst/>
            <a:cxnLst/>
            <a:rect l="l" t="t" r="r" b="b"/>
            <a:pathLst>
              <a:path w="861060" h="652780">
                <a:moveTo>
                  <a:pt x="861060" y="0"/>
                </a:moveTo>
                <a:lnTo>
                  <a:pt x="0" y="652271"/>
                </a:lnTo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23082" y="1584197"/>
            <a:ext cx="744220" cy="966469"/>
          </a:xfrm>
          <a:custGeom>
            <a:avLst/>
            <a:gdLst/>
            <a:ahLst/>
            <a:cxnLst/>
            <a:rect l="l" t="t" r="r" b="b"/>
            <a:pathLst>
              <a:path w="744220" h="966469">
                <a:moveTo>
                  <a:pt x="0" y="0"/>
                </a:moveTo>
                <a:lnTo>
                  <a:pt x="743712" y="966215"/>
                </a:lnTo>
              </a:path>
            </a:pathLst>
          </a:custGeom>
          <a:ln w="28574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433948" y="1459921"/>
            <a:ext cx="2546350" cy="112395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65"/>
              </a:spcBef>
              <a:tabLst>
                <a:tab pos="1280160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	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775" b="1" spc="-7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=3.14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65"/>
              </a:spcBef>
              <a:tabLst>
                <a:tab pos="1313815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	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775" b="1" baseline="-25525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=6.28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026402" y="2915234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10" dirty="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472048" y="2744128"/>
            <a:ext cx="251206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  <a:tabLst>
                <a:tab pos="1330325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	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800" b="1" spc="14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=6.28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33948" y="3119399"/>
            <a:ext cx="2581275" cy="11353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5"/>
              </a:spcBef>
              <a:tabLst>
                <a:tab pos="1368425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	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775" b="1" spc="-7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=R+r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10"/>
              </a:spcBef>
              <a:tabLst>
                <a:tab pos="1368425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	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775" b="1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=T</a:t>
            </a:r>
            <a:r>
              <a:rPr sz="2775" b="1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775" baseline="-25525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433948" y="4229252"/>
            <a:ext cx="3021965" cy="224472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5"/>
              </a:spcBef>
              <a:tabLst>
                <a:tab pos="1355090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	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A=6.28*T</a:t>
            </a:r>
            <a:r>
              <a:rPr sz="2775" b="1" spc="-7" baseline="-25525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775" baseline="-25525">
              <a:latin typeface="Times New Roman"/>
              <a:cs typeface="Times New Roman"/>
            </a:endParaRPr>
          </a:p>
          <a:p>
            <a:pPr marL="1368425" indent="-1330960">
              <a:lnSpc>
                <a:spcPct val="100000"/>
              </a:lnSpc>
              <a:spcBef>
                <a:spcPts val="1010"/>
              </a:spcBef>
              <a:buClr>
                <a:srgbClr val="FFFFFF"/>
              </a:buClr>
              <a:buFont typeface=""/>
              <a:buAutoNum type="arabicPlain" startAt="7"/>
              <a:tabLst>
                <a:tab pos="1368425" algn="l"/>
                <a:tab pos="1369060" algn="l"/>
              </a:tabLst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775" b="1" spc="-7" baseline="-25525" dirty="0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=A</a:t>
            </a:r>
            <a:endParaRPr sz="2800">
              <a:latin typeface="Times New Roman"/>
              <a:cs typeface="Times New Roman"/>
            </a:endParaRPr>
          </a:p>
          <a:p>
            <a:pPr marL="1368425" indent="-1330960">
              <a:lnSpc>
                <a:spcPct val="100000"/>
              </a:lnSpc>
              <a:spcBef>
                <a:spcPts val="1010"/>
              </a:spcBef>
              <a:buFont typeface=""/>
              <a:buAutoNum type="arabicPlain" startAt="7"/>
              <a:tabLst>
                <a:tab pos="1368425" algn="l"/>
                <a:tab pos="1369060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775" b="1" spc="-7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=R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﹣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  <a:p>
            <a:pPr marL="1374775">
              <a:lnSpc>
                <a:spcPct val="100000"/>
              </a:lnSpc>
              <a:spcBef>
                <a:spcPts val="101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B=A*T</a:t>
            </a:r>
            <a:r>
              <a:rPr sz="2775" b="1" spc="-7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775" baseline="-25525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232653" y="1437894"/>
            <a:ext cx="3481070" cy="5244465"/>
          </a:xfrm>
          <a:custGeom>
            <a:avLst/>
            <a:gdLst/>
            <a:ahLst/>
            <a:cxnLst/>
            <a:rect l="l" t="t" r="r" b="b"/>
            <a:pathLst>
              <a:path w="3481070" h="5244465">
                <a:moveTo>
                  <a:pt x="0" y="5244084"/>
                </a:moveTo>
                <a:lnTo>
                  <a:pt x="3480815" y="5244084"/>
                </a:lnTo>
                <a:lnTo>
                  <a:pt x="3480815" y="0"/>
                </a:lnTo>
                <a:lnTo>
                  <a:pt x="0" y="0"/>
                </a:lnTo>
                <a:lnTo>
                  <a:pt x="0" y="5244084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29438" y="613201"/>
            <a:ext cx="3258185" cy="94932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5"/>
              </a:spcBef>
            </a:pPr>
            <a:r>
              <a:rPr sz="2000" b="1" u="heavy" spc="-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⑹</a:t>
            </a:r>
            <a:r>
              <a:rPr sz="2000" b="1" u="heavy" spc="-54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T3</a:t>
            </a:r>
            <a:r>
              <a:rPr sz="2000" b="1" u="heavy" spc="-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=</a:t>
            </a:r>
            <a:r>
              <a:rPr sz="2000" b="1" u="heavy" spc="-1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000" b="1" u="heavy" spc="-10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*</a:t>
            </a:r>
            <a:r>
              <a:rPr sz="2000" b="1" u="heavy" spc="-45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T0</a:t>
            </a:r>
            <a:r>
              <a:rPr sz="2000" b="1" spc="484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⑺</a:t>
            </a:r>
            <a:r>
              <a:rPr sz="2000" b="1" spc="-53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T4</a:t>
            </a:r>
            <a:r>
              <a:rPr sz="2000" b="1" u="heavy" spc="-1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=</a:t>
            </a:r>
            <a:r>
              <a:rPr sz="2000" b="1" u="heavy" spc="-10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66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R+r</a:t>
            </a:r>
            <a:endParaRPr sz="2000">
              <a:latin typeface="Times New Roman"/>
              <a:cs typeface="Times New Roman"/>
            </a:endParaRPr>
          </a:p>
          <a:p>
            <a:pPr marR="17780" algn="r">
              <a:lnSpc>
                <a:spcPct val="100000"/>
              </a:lnSpc>
              <a:spcBef>
                <a:spcPts val="1085"/>
              </a:spcBef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26028" y="727963"/>
            <a:ext cx="17481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⑻</a:t>
            </a:r>
            <a:r>
              <a:rPr sz="2000" b="1" spc="-70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T5 = </a:t>
            </a:r>
            <a:r>
              <a:rPr sz="2000" b="1" u="heavy" dirty="0">
                <a:solidFill>
                  <a:srgbClr val="99FF33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T3 * T</a:t>
            </a:r>
            <a:r>
              <a:rPr sz="2000" b="1" dirty="0">
                <a:solidFill>
                  <a:srgbClr val="99FF33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42138" y="422909"/>
            <a:ext cx="69176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20850" algn="l"/>
                <a:tab pos="3366770" algn="l"/>
                <a:tab pos="5299710" algn="l"/>
              </a:tabLst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⑴</a:t>
            </a:r>
            <a:r>
              <a:rPr sz="2000" b="1" spc="-53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T0 = 3.14	</a:t>
            </a:r>
            <a:r>
              <a:rPr sz="2000" b="1" u="heavy" spc="-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⑵</a:t>
            </a:r>
            <a:r>
              <a:rPr sz="2000" b="1" u="heavy" spc="-53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T1 =</a:t>
            </a:r>
            <a:r>
              <a:rPr sz="2000" b="1" u="heavy" spc="-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00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2*T0	</a:t>
            </a: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⑶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T2</a:t>
            </a:r>
            <a:r>
              <a:rPr sz="2000" b="1" u="heavy" spc="-20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=</a:t>
            </a:r>
            <a:r>
              <a:rPr sz="2000" b="1" u="heavy" spc="-10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66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R+r</a:t>
            </a:r>
            <a:r>
              <a:rPr sz="2000" b="1" dirty="0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sz="2000" b="1" dirty="0">
                <a:solidFill>
                  <a:srgbClr val="FFFFFF"/>
                </a:solidFill>
                <a:latin typeface="宋体"/>
                <a:cs typeface="宋体"/>
              </a:rPr>
              <a:t>⑷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A = </a:t>
            </a:r>
            <a:r>
              <a:rPr sz="2000" b="1" u="heavy" dirty="0">
                <a:solidFill>
                  <a:srgbClr val="99FF33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T1 *</a:t>
            </a:r>
            <a:r>
              <a:rPr sz="2000" b="1" u="heavy" spc="-250" dirty="0">
                <a:solidFill>
                  <a:srgbClr val="99FF33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99FF33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T2</a:t>
            </a:r>
            <a:r>
              <a:rPr sz="2000" b="1" u="heavy" spc="35" dirty="0">
                <a:solidFill>
                  <a:srgbClr val="99FF33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5309235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⑼</a:t>
            </a:r>
            <a:r>
              <a:rPr sz="2000" b="1" spc="-59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T6 = R – r</a:t>
            </a:r>
            <a:r>
              <a:rPr sz="2000" b="1" u="heavy" spc="135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220839" y="422909"/>
            <a:ext cx="165353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98245" algn="l"/>
              </a:tabLst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⑸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B =</a:t>
            </a:r>
            <a:r>
              <a:rPr sz="2000" b="1" u="heavy" spc="-210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A	</a:t>
            </a:r>
            <a:endParaRPr sz="20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⑽</a:t>
            </a:r>
            <a:r>
              <a:rPr sz="2000" b="1" spc="-67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 = T5 * T6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0489" y="712469"/>
            <a:ext cx="1621790" cy="15240"/>
          </a:xfrm>
          <a:custGeom>
            <a:avLst/>
            <a:gdLst/>
            <a:ahLst/>
            <a:cxnLst/>
            <a:rect l="l" t="t" r="r" b="b"/>
            <a:pathLst>
              <a:path w="1621789" h="15240">
                <a:moveTo>
                  <a:pt x="0" y="15239"/>
                </a:moveTo>
                <a:lnTo>
                  <a:pt x="1621536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357109" y="1070610"/>
            <a:ext cx="1470660" cy="32384"/>
          </a:xfrm>
          <a:custGeom>
            <a:avLst/>
            <a:gdLst/>
            <a:ahLst/>
            <a:cxnLst/>
            <a:rect l="l" t="t" r="r" b="b"/>
            <a:pathLst>
              <a:path w="1470659" h="32384">
                <a:moveTo>
                  <a:pt x="0" y="32003"/>
                </a:moveTo>
                <a:lnTo>
                  <a:pt x="147066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72313" y="4165824"/>
            <a:ext cx="4930775" cy="178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95"/>
              </a:spcBef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如果知道某些变量在此基本 块之后不再被引用，其值就 不用再“复制”。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315" y="6046723"/>
            <a:ext cx="63931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若上例中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T3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T4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不再被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应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sz="3200" b="1" spc="-12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4200" b="1" spc="-15" baseline="11904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4200" b="1" spc="-15" baseline="11904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sz="4200" b="1" spc="-15" baseline="11904" dirty="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4200" baseline="11904">
              <a:latin typeface="宋体"/>
              <a:cs typeface="宋体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579364" y="2941320"/>
            <a:ext cx="2574290" cy="0"/>
          </a:xfrm>
          <a:custGeom>
            <a:avLst/>
            <a:gdLst/>
            <a:ahLst/>
            <a:cxnLst/>
            <a:rect l="l" t="t" r="r" b="b"/>
            <a:pathLst>
              <a:path w="2574290">
                <a:moveTo>
                  <a:pt x="0" y="0"/>
                </a:moveTo>
                <a:lnTo>
                  <a:pt x="2574036" y="0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494020" y="4099559"/>
            <a:ext cx="2574290" cy="0"/>
          </a:xfrm>
          <a:custGeom>
            <a:avLst/>
            <a:gdLst/>
            <a:ahLst/>
            <a:cxnLst/>
            <a:rect l="l" t="t" r="r" b="b"/>
            <a:pathLst>
              <a:path w="2574290">
                <a:moveTo>
                  <a:pt x="0" y="0"/>
                </a:moveTo>
                <a:lnTo>
                  <a:pt x="2574035" y="0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2043" y="858393"/>
            <a:ext cx="734504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u="none" spc="-15" dirty="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sz="3800" u="none" spc="-965" dirty="0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sz="3800" u="none" dirty="0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sz="3800" u="none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800" u="none" spc="-15" dirty="0">
                <a:solidFill>
                  <a:srgbClr val="FFFF00"/>
                </a:solidFill>
                <a:latin typeface="黑体"/>
                <a:cs typeface="黑体"/>
              </a:rPr>
              <a:t>章</a:t>
            </a:r>
            <a:r>
              <a:rPr sz="3800" u="none" spc="935" dirty="0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sz="3800" u="none" dirty="0">
                <a:solidFill>
                  <a:srgbClr val="FFFF00"/>
                </a:solidFill>
                <a:latin typeface="黑体"/>
                <a:cs typeface="黑体"/>
              </a:rPr>
              <a:t>代码</a:t>
            </a:r>
            <a:r>
              <a:rPr sz="3800" u="none" spc="-10" dirty="0">
                <a:solidFill>
                  <a:srgbClr val="FFFF00"/>
                </a:solidFill>
                <a:latin typeface="黑体"/>
                <a:cs typeface="黑体"/>
              </a:rPr>
              <a:t>优</a:t>
            </a:r>
            <a:r>
              <a:rPr sz="3800" u="none" spc="-15" dirty="0">
                <a:solidFill>
                  <a:srgbClr val="FFFF00"/>
                </a:solidFill>
                <a:latin typeface="黑体"/>
                <a:cs typeface="黑体"/>
              </a:rPr>
              <a:t>化</a:t>
            </a:r>
            <a:r>
              <a:rPr sz="3800" u="none" spc="-5" dirty="0">
                <a:solidFill>
                  <a:srgbClr val="FFFF00"/>
                </a:solidFill>
                <a:latin typeface="黑体"/>
                <a:cs typeface="黑体"/>
              </a:rPr>
              <a:t>（</a:t>
            </a:r>
            <a:r>
              <a:rPr sz="3800" u="none" spc="-5" dirty="0">
                <a:solidFill>
                  <a:srgbClr val="FFFF00"/>
                </a:solidFill>
                <a:latin typeface="Times New Roman"/>
                <a:cs typeface="Times New Roman"/>
              </a:rPr>
              <a:t>optimization</a:t>
            </a:r>
            <a:r>
              <a:rPr sz="3800" u="none" spc="-5" dirty="0">
                <a:solidFill>
                  <a:srgbClr val="FFFF00"/>
                </a:solidFill>
                <a:latin typeface="黑体"/>
                <a:cs typeface="黑体"/>
              </a:rPr>
              <a:t>）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644" y="1985207"/>
            <a:ext cx="5718175" cy="3904615"/>
          </a:xfrm>
          <a:prstGeom prst="rect">
            <a:avLst/>
          </a:prstGeom>
        </p:spPr>
        <p:txBody>
          <a:bodyPr vert="horz" wrap="square" lIns="0" tIns="245745" rIns="0" bIns="0" rtlCol="0">
            <a:spAutoFit/>
          </a:bodyPr>
          <a:lstStyle/>
          <a:p>
            <a:pPr marL="1257935" lvl="1" indent="-1233805">
              <a:lnSpc>
                <a:spcPct val="100000"/>
              </a:lnSpc>
              <a:spcBef>
                <a:spcPts val="1935"/>
              </a:spcBef>
              <a:buSzPct val="102857"/>
              <a:buFont typeface="Times New Roman"/>
              <a:buAutoNum type="arabicPeriod"/>
              <a:tabLst>
                <a:tab pos="1257935" algn="l"/>
                <a:tab pos="1258570" algn="l"/>
              </a:tabLst>
            </a:pPr>
            <a:r>
              <a:rPr sz="3500" b="1" spc="-5" dirty="0">
                <a:solidFill>
                  <a:srgbClr val="FFFF00"/>
                </a:solidFill>
                <a:latin typeface="宋体"/>
                <a:cs typeface="宋体"/>
              </a:rPr>
              <a:t>代码优化综述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914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00"/>
                </a:solidFill>
                <a:latin typeface="宋体"/>
                <a:cs typeface="宋体"/>
              </a:rPr>
              <a:t>局部优化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885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FF"/>
                </a:solidFill>
                <a:latin typeface="宋体"/>
                <a:cs typeface="宋体"/>
              </a:rPr>
              <a:t>控制流分析与循环查找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895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FF"/>
                </a:solidFill>
                <a:latin typeface="宋体"/>
                <a:cs typeface="宋体"/>
              </a:rPr>
              <a:t>数据流分析基础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890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FF"/>
                </a:solidFill>
                <a:latin typeface="宋体"/>
                <a:cs typeface="宋体"/>
              </a:rPr>
              <a:t>循环优化的实施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43934" y="26923"/>
            <a:ext cx="1692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35723" y="3744467"/>
            <a:ext cx="1725295" cy="722630"/>
          </a:xfrm>
          <a:custGeom>
            <a:avLst/>
            <a:gdLst/>
            <a:ahLst/>
            <a:cxnLst/>
            <a:rect l="l" t="t" r="r" b="b"/>
            <a:pathLst>
              <a:path w="1725295" h="722629">
                <a:moveTo>
                  <a:pt x="431419" y="0"/>
                </a:moveTo>
                <a:lnTo>
                  <a:pt x="0" y="361187"/>
                </a:lnTo>
                <a:lnTo>
                  <a:pt x="431419" y="722375"/>
                </a:lnTo>
                <a:lnTo>
                  <a:pt x="431419" y="541781"/>
                </a:lnTo>
                <a:lnTo>
                  <a:pt x="1725168" y="541781"/>
                </a:lnTo>
                <a:lnTo>
                  <a:pt x="1725168" y="180593"/>
                </a:lnTo>
                <a:lnTo>
                  <a:pt x="431419" y="180593"/>
                </a:lnTo>
                <a:lnTo>
                  <a:pt x="431419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35723" y="3744467"/>
            <a:ext cx="1725295" cy="722630"/>
          </a:xfrm>
          <a:custGeom>
            <a:avLst/>
            <a:gdLst/>
            <a:ahLst/>
            <a:cxnLst/>
            <a:rect l="l" t="t" r="r" b="b"/>
            <a:pathLst>
              <a:path w="1725295" h="722629">
                <a:moveTo>
                  <a:pt x="0" y="361187"/>
                </a:moveTo>
                <a:lnTo>
                  <a:pt x="431419" y="0"/>
                </a:lnTo>
                <a:lnTo>
                  <a:pt x="431419" y="180593"/>
                </a:lnTo>
                <a:lnTo>
                  <a:pt x="1725168" y="180593"/>
                </a:lnTo>
                <a:lnTo>
                  <a:pt x="1725168" y="541781"/>
                </a:lnTo>
                <a:lnTo>
                  <a:pt x="431419" y="541781"/>
                </a:lnTo>
                <a:lnTo>
                  <a:pt x="431419" y="722375"/>
                </a:lnTo>
                <a:lnTo>
                  <a:pt x="0" y="361187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48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5142" y="14732"/>
            <a:ext cx="7889240" cy="4777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5780" algn="ctr">
              <a:lnSpc>
                <a:spcPct val="100000"/>
              </a:lnSpc>
              <a:spcBef>
                <a:spcPts val="100"/>
              </a:spcBef>
              <a:tabLst>
                <a:tab pos="1164590" algn="l"/>
                <a:tab pos="2924810" algn="l"/>
                <a:tab pos="3426460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Ch8	</a:t>
            </a:r>
            <a:r>
              <a:rPr sz="20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</a:t>
            </a:r>
            <a:r>
              <a:rPr sz="2000" b="1" dirty="0">
                <a:solidFill>
                  <a:srgbClr val="A15100"/>
                </a:solidFill>
                <a:latin typeface="华文新魏"/>
                <a:cs typeface="华文新魏"/>
              </a:rPr>
              <a:t>优化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8.3	</a:t>
            </a:r>
            <a:r>
              <a:rPr sz="2000" b="1" u="sng" spc="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控制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流分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与循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查</a:t>
            </a:r>
            <a:r>
              <a:rPr sz="2000" b="1" u="sng" spc="-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找</a:t>
            </a:r>
            <a:endParaRPr sz="2000" dirty="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</a:pPr>
            <a:endParaRPr sz="2350" dirty="0">
              <a:latin typeface="华文新魏"/>
              <a:cs typeface="华文新魏"/>
            </a:endParaRPr>
          </a:p>
          <a:p>
            <a:pPr marL="227329" indent="-215265">
              <a:lnSpc>
                <a:spcPct val="100000"/>
              </a:lnSpc>
              <a:buClr>
                <a:srgbClr val="66FFFF"/>
              </a:buClr>
              <a:buSzPct val="110937"/>
              <a:buFont typeface="Wingdings"/>
              <a:buChar char=""/>
              <a:tabLst>
                <a:tab pos="227965" algn="l"/>
              </a:tabLst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引入本节的原因</a:t>
            </a:r>
            <a:endParaRPr sz="3200" dirty="0">
              <a:latin typeface="宋体"/>
              <a:cs typeface="宋体"/>
            </a:endParaRPr>
          </a:p>
          <a:p>
            <a:pPr marL="901065" marR="5715" lvl="1" indent="-508000" algn="just">
              <a:lnSpc>
                <a:spcPct val="130000"/>
              </a:lnSpc>
              <a:spcBef>
                <a:spcPts val="919"/>
              </a:spcBef>
              <a:buClr>
                <a:srgbClr val="66FFFF"/>
              </a:buClr>
              <a:buSzPct val="104687"/>
              <a:buFont typeface="Wingdings"/>
              <a:buChar char=""/>
              <a:tabLst>
                <a:tab pos="936625" algn="l"/>
              </a:tabLst>
            </a:pPr>
            <a:r>
              <a:rPr dirty="0"/>
              <a:t>	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循环优化的重要性</a:t>
            </a:r>
            <a:r>
              <a:rPr sz="3200" b="1" spc="-15" dirty="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循环是程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中反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复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执行的代码序列，实施循环优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化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，将高 效提高目标代码质量。</a:t>
            </a:r>
            <a:endParaRPr sz="3200" dirty="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66FFFF"/>
              </a:buClr>
              <a:buFont typeface="Wingdings"/>
              <a:buChar char=""/>
            </a:pPr>
            <a:endParaRPr sz="2450" dirty="0">
              <a:latin typeface="宋体"/>
              <a:cs typeface="宋体"/>
            </a:endParaRPr>
          </a:p>
          <a:p>
            <a:pPr marL="901065" marR="5080" lvl="1" indent="-508000" algn="just">
              <a:lnSpc>
                <a:spcPct val="130000"/>
              </a:lnSpc>
              <a:buClr>
                <a:srgbClr val="66FFFF"/>
              </a:buClr>
              <a:buSzPct val="104687"/>
              <a:buFont typeface="Wingdings"/>
              <a:buChar char=""/>
              <a:tabLst>
                <a:tab pos="936625" algn="l"/>
              </a:tabLst>
            </a:pPr>
            <a:r>
              <a:rPr dirty="0"/>
              <a:t>	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循环优化的技术准备</a:t>
            </a:r>
            <a:r>
              <a:rPr sz="3200" b="1" spc="-15" dirty="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循环查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找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sz="32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控</a:t>
            </a:r>
            <a:r>
              <a:rPr sz="32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制 </a:t>
            </a:r>
            <a:r>
              <a:rPr sz="32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流和数据流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分析。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4242" y="5316912"/>
            <a:ext cx="365125" cy="499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795"/>
              </a:lnSpc>
            </a:pPr>
            <a:r>
              <a:rPr sz="3350" spc="5" dirty="0">
                <a:solidFill>
                  <a:srgbClr val="66FFFF"/>
                </a:solidFill>
                <a:latin typeface="Wingdings"/>
                <a:cs typeface="Wingdings"/>
              </a:rPr>
              <a:t></a:t>
            </a:r>
            <a:endParaRPr sz="335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6761" y="5350827"/>
            <a:ext cx="4930775" cy="43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404"/>
              </a:lnSpc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通过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控制流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查找循环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49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4240" y="0"/>
            <a:ext cx="8185150" cy="5384165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331470" algn="ctr">
              <a:lnSpc>
                <a:spcPct val="100000"/>
              </a:lnSpc>
              <a:spcBef>
                <a:spcPts val="1205"/>
              </a:spcBef>
              <a:tabLst>
                <a:tab pos="970280" algn="l"/>
                <a:tab pos="2730500" algn="l"/>
                <a:tab pos="3232150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Ch8	</a:t>
            </a:r>
            <a:r>
              <a:rPr sz="20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</a:t>
            </a:r>
            <a:r>
              <a:rPr sz="2000" b="1" dirty="0">
                <a:solidFill>
                  <a:srgbClr val="A15100"/>
                </a:solidFill>
                <a:latin typeface="华文新魏"/>
                <a:cs typeface="华文新魏"/>
              </a:rPr>
              <a:t>优化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8.3	</a:t>
            </a:r>
            <a:r>
              <a:rPr sz="2000" b="1" u="sng" spc="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控制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流分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与循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查</a:t>
            </a:r>
            <a:r>
              <a:rPr sz="2000" b="1" u="sng" spc="-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找</a:t>
            </a:r>
            <a:endParaRPr sz="2000" dirty="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 dirty="0">
              <a:latin typeface="华文新魏"/>
              <a:cs typeface="华文新魏"/>
            </a:endParaRPr>
          </a:p>
          <a:p>
            <a:pPr marL="318770" indent="-306705">
              <a:lnSpc>
                <a:spcPct val="100000"/>
              </a:lnSpc>
              <a:buClr>
                <a:srgbClr val="66FFFF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构成循环条件</a:t>
            </a:r>
            <a:endParaRPr sz="3200" dirty="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159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具有下列性质的结点序列为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个循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环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 dirty="0">
              <a:latin typeface="宋体"/>
              <a:cs typeface="宋体"/>
            </a:endParaRPr>
          </a:p>
          <a:p>
            <a:pPr marL="724535" lvl="1" indent="-509905">
              <a:lnSpc>
                <a:spcPct val="100000"/>
              </a:lnSpc>
              <a:spcBef>
                <a:spcPts val="1155"/>
              </a:spcBef>
              <a:buFont typeface="Times New Roman"/>
              <a:buAutoNum type="arabicPeriod"/>
              <a:tabLst>
                <a:tab pos="724535" algn="l"/>
                <a:tab pos="725170" algn="l"/>
              </a:tabLst>
            </a:pPr>
            <a:r>
              <a:rPr sz="3200" b="1" spc="-5" dirty="0">
                <a:solidFill>
                  <a:srgbClr val="66FFFF"/>
                </a:solidFill>
                <a:highlight>
                  <a:srgbClr val="808000"/>
                </a:highlight>
                <a:latin typeface="宋体"/>
                <a:cs typeface="宋体"/>
              </a:rPr>
              <a:t>强连通性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  <a:p>
            <a:pPr marL="12700" marR="5080" indent="812165">
              <a:lnSpc>
                <a:spcPct val="130000"/>
              </a:lnSpc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任意两个节点之间必有一条通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路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，且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通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路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上的任何节点都属于该序列。</a:t>
            </a:r>
            <a:endParaRPr sz="32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00" dirty="0">
              <a:latin typeface="宋体"/>
              <a:cs typeface="宋体"/>
            </a:endParaRPr>
          </a:p>
          <a:p>
            <a:pPr marL="824865" lvl="1" indent="-610235">
              <a:lnSpc>
                <a:spcPct val="100000"/>
              </a:lnSpc>
              <a:buFont typeface="Times New Roman"/>
              <a:buAutoNum type="arabicPeriod" startAt="2"/>
              <a:tabLst>
                <a:tab pos="824865" algn="l"/>
                <a:tab pos="825500" algn="l"/>
              </a:tabLst>
            </a:pPr>
            <a:r>
              <a:rPr sz="3200" b="1" spc="-5" dirty="0">
                <a:solidFill>
                  <a:srgbClr val="66FFFF"/>
                </a:solidFill>
                <a:highlight>
                  <a:srgbClr val="808000"/>
                </a:highlight>
                <a:latin typeface="宋体"/>
                <a:cs typeface="宋体"/>
              </a:rPr>
              <a:t>入口惟一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  <a:p>
            <a:pPr marL="824865">
              <a:lnSpc>
                <a:spcPct val="100000"/>
              </a:lnSpc>
              <a:spcBef>
                <a:spcPts val="115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入口：流图的首结点或结点序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列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外某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4240" y="5436433"/>
            <a:ext cx="4926965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404"/>
              </a:lnSpc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有一条有向边引到的结点。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50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705103"/>
            <a:ext cx="1760855" cy="5613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421005" indent="-408940">
              <a:lnSpc>
                <a:spcPct val="100000"/>
              </a:lnSpc>
              <a:spcBef>
                <a:spcPts val="415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421005" algn="l"/>
                <a:tab pos="421640" algn="l"/>
              </a:tabLst>
            </a:pP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sz="3200" u="none" spc="5" dirty="0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sz="3200" u="none" dirty="0">
                <a:solidFill>
                  <a:srgbClr val="FFFF00"/>
                </a:solidFill>
                <a:latin typeface="Times New Roman"/>
                <a:cs typeface="Times New Roman"/>
              </a:rPr>
              <a:t>.2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37866" y="744727"/>
            <a:ext cx="16579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（循环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3242" y="1254607"/>
            <a:ext cx="7785734" cy="1293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19785">
              <a:lnSpc>
                <a:spcPct val="130000"/>
              </a:lnSpc>
              <a:spcBef>
                <a:spcPts val="100"/>
              </a:spcBef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程序流图中具有惟一入</a:t>
            </a:r>
            <a:r>
              <a:rPr sz="3200" b="1" spc="-15" dirty="0">
                <a:solidFill>
                  <a:srgbClr val="FFFF66"/>
                </a:solidFill>
                <a:latin typeface="宋体"/>
                <a:cs typeface="宋体"/>
              </a:rPr>
              <a:t>口</a:t>
            </a: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结点</a:t>
            </a:r>
            <a:r>
              <a:rPr sz="3200" b="1" spc="-15" dirty="0">
                <a:solidFill>
                  <a:srgbClr val="FFFF66"/>
                </a:solidFill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强连通 子图。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5714" y="2757677"/>
            <a:ext cx="757555" cy="721360"/>
          </a:xfrm>
          <a:custGeom>
            <a:avLst/>
            <a:gdLst/>
            <a:ahLst/>
            <a:cxnLst/>
            <a:rect l="l" t="t" r="r" b="b"/>
            <a:pathLst>
              <a:path w="757554" h="721360">
                <a:moveTo>
                  <a:pt x="0" y="360425"/>
                </a:moveTo>
                <a:lnTo>
                  <a:pt x="2950" y="315224"/>
                </a:lnTo>
                <a:lnTo>
                  <a:pt x="11565" y="271695"/>
                </a:lnTo>
                <a:lnTo>
                  <a:pt x="25490" y="230178"/>
                </a:lnTo>
                <a:lnTo>
                  <a:pt x="44370" y="191009"/>
                </a:lnTo>
                <a:lnTo>
                  <a:pt x="67849" y="154528"/>
                </a:lnTo>
                <a:lnTo>
                  <a:pt x="95574" y="121072"/>
                </a:lnTo>
                <a:lnTo>
                  <a:pt x="127190" y="90980"/>
                </a:lnTo>
                <a:lnTo>
                  <a:pt x="162341" y="64589"/>
                </a:lnTo>
                <a:lnTo>
                  <a:pt x="200673" y="42239"/>
                </a:lnTo>
                <a:lnTo>
                  <a:pt x="241831" y="24266"/>
                </a:lnTo>
                <a:lnTo>
                  <a:pt x="285461" y="11010"/>
                </a:lnTo>
                <a:lnTo>
                  <a:pt x="331206" y="2809"/>
                </a:lnTo>
                <a:lnTo>
                  <a:pt x="378713" y="0"/>
                </a:lnTo>
                <a:lnTo>
                  <a:pt x="426221" y="2809"/>
                </a:lnTo>
                <a:lnTo>
                  <a:pt x="471966" y="11010"/>
                </a:lnTo>
                <a:lnTo>
                  <a:pt x="515596" y="24266"/>
                </a:lnTo>
                <a:lnTo>
                  <a:pt x="556754" y="42239"/>
                </a:lnTo>
                <a:lnTo>
                  <a:pt x="595086" y="64589"/>
                </a:lnTo>
                <a:lnTo>
                  <a:pt x="630237" y="90980"/>
                </a:lnTo>
                <a:lnTo>
                  <a:pt x="661853" y="121072"/>
                </a:lnTo>
                <a:lnTo>
                  <a:pt x="689578" y="154528"/>
                </a:lnTo>
                <a:lnTo>
                  <a:pt x="713057" y="191009"/>
                </a:lnTo>
                <a:lnTo>
                  <a:pt x="731937" y="230178"/>
                </a:lnTo>
                <a:lnTo>
                  <a:pt x="745862" y="271695"/>
                </a:lnTo>
                <a:lnTo>
                  <a:pt x="754477" y="315224"/>
                </a:lnTo>
                <a:lnTo>
                  <a:pt x="757427" y="360425"/>
                </a:lnTo>
                <a:lnTo>
                  <a:pt x="754477" y="405627"/>
                </a:lnTo>
                <a:lnTo>
                  <a:pt x="745862" y="449156"/>
                </a:lnTo>
                <a:lnTo>
                  <a:pt x="731937" y="490673"/>
                </a:lnTo>
                <a:lnTo>
                  <a:pt x="713057" y="529842"/>
                </a:lnTo>
                <a:lnTo>
                  <a:pt x="689578" y="566323"/>
                </a:lnTo>
                <a:lnTo>
                  <a:pt x="661853" y="599779"/>
                </a:lnTo>
                <a:lnTo>
                  <a:pt x="630237" y="629871"/>
                </a:lnTo>
                <a:lnTo>
                  <a:pt x="595086" y="656262"/>
                </a:lnTo>
                <a:lnTo>
                  <a:pt x="556754" y="678612"/>
                </a:lnTo>
                <a:lnTo>
                  <a:pt x="515596" y="696585"/>
                </a:lnTo>
                <a:lnTo>
                  <a:pt x="471966" y="709841"/>
                </a:lnTo>
                <a:lnTo>
                  <a:pt x="426221" y="718042"/>
                </a:lnTo>
                <a:lnTo>
                  <a:pt x="378713" y="720851"/>
                </a:lnTo>
                <a:lnTo>
                  <a:pt x="331206" y="718042"/>
                </a:lnTo>
                <a:lnTo>
                  <a:pt x="285461" y="709841"/>
                </a:lnTo>
                <a:lnTo>
                  <a:pt x="241831" y="696585"/>
                </a:lnTo>
                <a:lnTo>
                  <a:pt x="200673" y="678612"/>
                </a:lnTo>
                <a:lnTo>
                  <a:pt x="162341" y="656262"/>
                </a:lnTo>
                <a:lnTo>
                  <a:pt x="127190" y="629871"/>
                </a:lnTo>
                <a:lnTo>
                  <a:pt x="95574" y="599779"/>
                </a:lnTo>
                <a:lnTo>
                  <a:pt x="67849" y="566323"/>
                </a:lnTo>
                <a:lnTo>
                  <a:pt x="44370" y="529842"/>
                </a:lnTo>
                <a:lnTo>
                  <a:pt x="25490" y="490673"/>
                </a:lnTo>
                <a:lnTo>
                  <a:pt x="11565" y="449156"/>
                </a:lnTo>
                <a:lnTo>
                  <a:pt x="2950" y="405627"/>
                </a:lnTo>
                <a:lnTo>
                  <a:pt x="0" y="360425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114413" y="2838957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55714" y="4115561"/>
            <a:ext cx="757555" cy="722630"/>
          </a:xfrm>
          <a:custGeom>
            <a:avLst/>
            <a:gdLst/>
            <a:ahLst/>
            <a:cxnLst/>
            <a:rect l="l" t="t" r="r" b="b"/>
            <a:pathLst>
              <a:path w="757554" h="722629">
                <a:moveTo>
                  <a:pt x="0" y="361188"/>
                </a:moveTo>
                <a:lnTo>
                  <a:pt x="2950" y="315873"/>
                </a:lnTo>
                <a:lnTo>
                  <a:pt x="11565" y="272241"/>
                </a:lnTo>
                <a:lnTo>
                  <a:pt x="25490" y="230628"/>
                </a:lnTo>
                <a:lnTo>
                  <a:pt x="44370" y="191374"/>
                </a:lnTo>
                <a:lnTo>
                  <a:pt x="67849" y="154816"/>
                </a:lnTo>
                <a:lnTo>
                  <a:pt x="95574" y="121293"/>
                </a:lnTo>
                <a:lnTo>
                  <a:pt x="127190" y="91142"/>
                </a:lnTo>
                <a:lnTo>
                  <a:pt x="162341" y="64702"/>
                </a:lnTo>
                <a:lnTo>
                  <a:pt x="200673" y="42311"/>
                </a:lnTo>
                <a:lnTo>
                  <a:pt x="241831" y="24307"/>
                </a:lnTo>
                <a:lnTo>
                  <a:pt x="285461" y="11028"/>
                </a:lnTo>
                <a:lnTo>
                  <a:pt x="331206" y="2813"/>
                </a:lnTo>
                <a:lnTo>
                  <a:pt x="378713" y="0"/>
                </a:lnTo>
                <a:lnTo>
                  <a:pt x="426221" y="2813"/>
                </a:lnTo>
                <a:lnTo>
                  <a:pt x="471966" y="11028"/>
                </a:lnTo>
                <a:lnTo>
                  <a:pt x="515596" y="24307"/>
                </a:lnTo>
                <a:lnTo>
                  <a:pt x="556754" y="42311"/>
                </a:lnTo>
                <a:lnTo>
                  <a:pt x="595086" y="64702"/>
                </a:lnTo>
                <a:lnTo>
                  <a:pt x="630237" y="91142"/>
                </a:lnTo>
                <a:lnTo>
                  <a:pt x="661853" y="121293"/>
                </a:lnTo>
                <a:lnTo>
                  <a:pt x="689578" y="154816"/>
                </a:lnTo>
                <a:lnTo>
                  <a:pt x="713057" y="191374"/>
                </a:lnTo>
                <a:lnTo>
                  <a:pt x="731937" y="230628"/>
                </a:lnTo>
                <a:lnTo>
                  <a:pt x="745862" y="272241"/>
                </a:lnTo>
                <a:lnTo>
                  <a:pt x="754477" y="315873"/>
                </a:lnTo>
                <a:lnTo>
                  <a:pt x="757427" y="361188"/>
                </a:lnTo>
                <a:lnTo>
                  <a:pt x="754477" y="406502"/>
                </a:lnTo>
                <a:lnTo>
                  <a:pt x="745862" y="450134"/>
                </a:lnTo>
                <a:lnTo>
                  <a:pt x="731937" y="491747"/>
                </a:lnTo>
                <a:lnTo>
                  <a:pt x="713057" y="531001"/>
                </a:lnTo>
                <a:lnTo>
                  <a:pt x="689578" y="567559"/>
                </a:lnTo>
                <a:lnTo>
                  <a:pt x="661853" y="601082"/>
                </a:lnTo>
                <a:lnTo>
                  <a:pt x="630237" y="631233"/>
                </a:lnTo>
                <a:lnTo>
                  <a:pt x="595086" y="657673"/>
                </a:lnTo>
                <a:lnTo>
                  <a:pt x="556754" y="680064"/>
                </a:lnTo>
                <a:lnTo>
                  <a:pt x="515596" y="698068"/>
                </a:lnTo>
                <a:lnTo>
                  <a:pt x="471966" y="711347"/>
                </a:lnTo>
                <a:lnTo>
                  <a:pt x="426221" y="719562"/>
                </a:lnTo>
                <a:lnTo>
                  <a:pt x="378713" y="722376"/>
                </a:lnTo>
                <a:lnTo>
                  <a:pt x="331206" y="719562"/>
                </a:lnTo>
                <a:lnTo>
                  <a:pt x="285461" y="711347"/>
                </a:lnTo>
                <a:lnTo>
                  <a:pt x="241831" y="698068"/>
                </a:lnTo>
                <a:lnTo>
                  <a:pt x="200673" y="680064"/>
                </a:lnTo>
                <a:lnTo>
                  <a:pt x="162341" y="657673"/>
                </a:lnTo>
                <a:lnTo>
                  <a:pt x="127190" y="631233"/>
                </a:lnTo>
                <a:lnTo>
                  <a:pt x="95574" y="601082"/>
                </a:lnTo>
                <a:lnTo>
                  <a:pt x="67849" y="567559"/>
                </a:lnTo>
                <a:lnTo>
                  <a:pt x="44370" y="531001"/>
                </a:lnTo>
                <a:lnTo>
                  <a:pt x="25490" y="491747"/>
                </a:lnTo>
                <a:lnTo>
                  <a:pt x="11565" y="450134"/>
                </a:lnTo>
                <a:lnTo>
                  <a:pt x="2950" y="406502"/>
                </a:lnTo>
                <a:lnTo>
                  <a:pt x="0" y="361188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14413" y="4196283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06973" y="5471921"/>
            <a:ext cx="756285" cy="722630"/>
          </a:xfrm>
          <a:custGeom>
            <a:avLst/>
            <a:gdLst/>
            <a:ahLst/>
            <a:cxnLst/>
            <a:rect l="l" t="t" r="r" b="b"/>
            <a:pathLst>
              <a:path w="756285" h="722629">
                <a:moveTo>
                  <a:pt x="0" y="361187"/>
                </a:moveTo>
                <a:lnTo>
                  <a:pt x="2943" y="315881"/>
                </a:lnTo>
                <a:lnTo>
                  <a:pt x="11539" y="272253"/>
                </a:lnTo>
                <a:lnTo>
                  <a:pt x="25434" y="230644"/>
                </a:lnTo>
                <a:lnTo>
                  <a:pt x="44272" y="191391"/>
                </a:lnTo>
                <a:lnTo>
                  <a:pt x="67702" y="154833"/>
                </a:lnTo>
                <a:lnTo>
                  <a:pt x="95368" y="121308"/>
                </a:lnTo>
                <a:lnTo>
                  <a:pt x="126918" y="91155"/>
                </a:lnTo>
                <a:lnTo>
                  <a:pt x="161997" y="64712"/>
                </a:lnTo>
                <a:lnTo>
                  <a:pt x="200252" y="42318"/>
                </a:lnTo>
                <a:lnTo>
                  <a:pt x="241328" y="24312"/>
                </a:lnTo>
                <a:lnTo>
                  <a:pt x="284873" y="11030"/>
                </a:lnTo>
                <a:lnTo>
                  <a:pt x="330532" y="2814"/>
                </a:lnTo>
                <a:lnTo>
                  <a:pt x="377951" y="0"/>
                </a:lnTo>
                <a:lnTo>
                  <a:pt x="425371" y="2814"/>
                </a:lnTo>
                <a:lnTo>
                  <a:pt x="471030" y="11030"/>
                </a:lnTo>
                <a:lnTo>
                  <a:pt x="514575" y="24312"/>
                </a:lnTo>
                <a:lnTo>
                  <a:pt x="555651" y="42318"/>
                </a:lnTo>
                <a:lnTo>
                  <a:pt x="593906" y="64712"/>
                </a:lnTo>
                <a:lnTo>
                  <a:pt x="628985" y="91155"/>
                </a:lnTo>
                <a:lnTo>
                  <a:pt x="660535" y="121308"/>
                </a:lnTo>
                <a:lnTo>
                  <a:pt x="688201" y="154833"/>
                </a:lnTo>
                <a:lnTo>
                  <a:pt x="711631" y="191391"/>
                </a:lnTo>
                <a:lnTo>
                  <a:pt x="730469" y="230644"/>
                </a:lnTo>
                <a:lnTo>
                  <a:pt x="744364" y="272253"/>
                </a:lnTo>
                <a:lnTo>
                  <a:pt x="752960" y="315881"/>
                </a:lnTo>
                <a:lnTo>
                  <a:pt x="755903" y="361187"/>
                </a:lnTo>
                <a:lnTo>
                  <a:pt x="752960" y="406494"/>
                </a:lnTo>
                <a:lnTo>
                  <a:pt x="744364" y="450122"/>
                </a:lnTo>
                <a:lnTo>
                  <a:pt x="730469" y="491731"/>
                </a:lnTo>
                <a:lnTo>
                  <a:pt x="711631" y="530984"/>
                </a:lnTo>
                <a:lnTo>
                  <a:pt x="688201" y="567542"/>
                </a:lnTo>
                <a:lnTo>
                  <a:pt x="660535" y="601067"/>
                </a:lnTo>
                <a:lnTo>
                  <a:pt x="628985" y="631220"/>
                </a:lnTo>
                <a:lnTo>
                  <a:pt x="593906" y="657663"/>
                </a:lnTo>
                <a:lnTo>
                  <a:pt x="555651" y="680057"/>
                </a:lnTo>
                <a:lnTo>
                  <a:pt x="514575" y="698063"/>
                </a:lnTo>
                <a:lnTo>
                  <a:pt x="471030" y="711345"/>
                </a:lnTo>
                <a:lnTo>
                  <a:pt x="425371" y="719561"/>
                </a:lnTo>
                <a:lnTo>
                  <a:pt x="377951" y="722375"/>
                </a:lnTo>
                <a:lnTo>
                  <a:pt x="330532" y="719561"/>
                </a:lnTo>
                <a:lnTo>
                  <a:pt x="284873" y="711345"/>
                </a:lnTo>
                <a:lnTo>
                  <a:pt x="241328" y="698063"/>
                </a:lnTo>
                <a:lnTo>
                  <a:pt x="200252" y="680057"/>
                </a:lnTo>
                <a:lnTo>
                  <a:pt x="161997" y="657663"/>
                </a:lnTo>
                <a:lnTo>
                  <a:pt x="126918" y="631220"/>
                </a:lnTo>
                <a:lnTo>
                  <a:pt x="95368" y="601067"/>
                </a:lnTo>
                <a:lnTo>
                  <a:pt x="67702" y="567542"/>
                </a:lnTo>
                <a:lnTo>
                  <a:pt x="44272" y="530984"/>
                </a:lnTo>
                <a:lnTo>
                  <a:pt x="25434" y="491731"/>
                </a:lnTo>
                <a:lnTo>
                  <a:pt x="11539" y="450122"/>
                </a:lnTo>
                <a:lnTo>
                  <a:pt x="2943" y="406494"/>
                </a:lnTo>
                <a:lnTo>
                  <a:pt x="0" y="361187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58733" y="5497829"/>
            <a:ext cx="757555" cy="721360"/>
          </a:xfrm>
          <a:custGeom>
            <a:avLst/>
            <a:gdLst/>
            <a:ahLst/>
            <a:cxnLst/>
            <a:rect l="l" t="t" r="r" b="b"/>
            <a:pathLst>
              <a:path w="757554" h="721360">
                <a:moveTo>
                  <a:pt x="0" y="360426"/>
                </a:moveTo>
                <a:lnTo>
                  <a:pt x="2950" y="315214"/>
                </a:lnTo>
                <a:lnTo>
                  <a:pt x="11565" y="271679"/>
                </a:lnTo>
                <a:lnTo>
                  <a:pt x="25490" y="230157"/>
                </a:lnTo>
                <a:lnTo>
                  <a:pt x="44370" y="190987"/>
                </a:lnTo>
                <a:lnTo>
                  <a:pt x="67849" y="154505"/>
                </a:lnTo>
                <a:lnTo>
                  <a:pt x="95574" y="121051"/>
                </a:lnTo>
                <a:lnTo>
                  <a:pt x="127190" y="90962"/>
                </a:lnTo>
                <a:lnTo>
                  <a:pt x="162341" y="64575"/>
                </a:lnTo>
                <a:lnTo>
                  <a:pt x="200673" y="42229"/>
                </a:lnTo>
                <a:lnTo>
                  <a:pt x="241831" y="24260"/>
                </a:lnTo>
                <a:lnTo>
                  <a:pt x="285461" y="11007"/>
                </a:lnTo>
                <a:lnTo>
                  <a:pt x="331206" y="2808"/>
                </a:lnTo>
                <a:lnTo>
                  <a:pt x="378714" y="0"/>
                </a:lnTo>
                <a:lnTo>
                  <a:pt x="426221" y="2808"/>
                </a:lnTo>
                <a:lnTo>
                  <a:pt x="471966" y="11007"/>
                </a:lnTo>
                <a:lnTo>
                  <a:pt x="515596" y="24260"/>
                </a:lnTo>
                <a:lnTo>
                  <a:pt x="556754" y="42229"/>
                </a:lnTo>
                <a:lnTo>
                  <a:pt x="595086" y="64575"/>
                </a:lnTo>
                <a:lnTo>
                  <a:pt x="630237" y="90962"/>
                </a:lnTo>
                <a:lnTo>
                  <a:pt x="661853" y="121051"/>
                </a:lnTo>
                <a:lnTo>
                  <a:pt x="689578" y="154505"/>
                </a:lnTo>
                <a:lnTo>
                  <a:pt x="713057" y="190987"/>
                </a:lnTo>
                <a:lnTo>
                  <a:pt x="731937" y="230157"/>
                </a:lnTo>
                <a:lnTo>
                  <a:pt x="745862" y="271679"/>
                </a:lnTo>
                <a:lnTo>
                  <a:pt x="754477" y="315214"/>
                </a:lnTo>
                <a:lnTo>
                  <a:pt x="757427" y="360426"/>
                </a:lnTo>
                <a:lnTo>
                  <a:pt x="754477" y="405637"/>
                </a:lnTo>
                <a:lnTo>
                  <a:pt x="745862" y="449172"/>
                </a:lnTo>
                <a:lnTo>
                  <a:pt x="731937" y="490694"/>
                </a:lnTo>
                <a:lnTo>
                  <a:pt x="713057" y="529864"/>
                </a:lnTo>
                <a:lnTo>
                  <a:pt x="689578" y="566346"/>
                </a:lnTo>
                <a:lnTo>
                  <a:pt x="661853" y="599800"/>
                </a:lnTo>
                <a:lnTo>
                  <a:pt x="630237" y="629889"/>
                </a:lnTo>
                <a:lnTo>
                  <a:pt x="595086" y="656276"/>
                </a:lnTo>
                <a:lnTo>
                  <a:pt x="556754" y="678622"/>
                </a:lnTo>
                <a:lnTo>
                  <a:pt x="515596" y="696591"/>
                </a:lnTo>
                <a:lnTo>
                  <a:pt x="471966" y="709844"/>
                </a:lnTo>
                <a:lnTo>
                  <a:pt x="426221" y="718043"/>
                </a:lnTo>
                <a:lnTo>
                  <a:pt x="378714" y="720852"/>
                </a:lnTo>
                <a:lnTo>
                  <a:pt x="331206" y="718043"/>
                </a:lnTo>
                <a:lnTo>
                  <a:pt x="285461" y="709844"/>
                </a:lnTo>
                <a:lnTo>
                  <a:pt x="241831" y="696591"/>
                </a:lnTo>
                <a:lnTo>
                  <a:pt x="200673" y="678622"/>
                </a:lnTo>
                <a:lnTo>
                  <a:pt x="162341" y="656276"/>
                </a:lnTo>
                <a:lnTo>
                  <a:pt x="127190" y="629889"/>
                </a:lnTo>
                <a:lnTo>
                  <a:pt x="95574" y="599800"/>
                </a:lnTo>
                <a:lnTo>
                  <a:pt x="67849" y="566346"/>
                </a:lnTo>
                <a:lnTo>
                  <a:pt x="44370" y="529864"/>
                </a:lnTo>
                <a:lnTo>
                  <a:pt x="25490" y="490694"/>
                </a:lnTo>
                <a:lnTo>
                  <a:pt x="11565" y="449172"/>
                </a:lnTo>
                <a:lnTo>
                  <a:pt x="2950" y="405637"/>
                </a:lnTo>
                <a:lnTo>
                  <a:pt x="0" y="360426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74992" y="3496817"/>
            <a:ext cx="114300" cy="641985"/>
          </a:xfrm>
          <a:custGeom>
            <a:avLst/>
            <a:gdLst/>
            <a:ahLst/>
            <a:cxnLst/>
            <a:rect l="l" t="t" r="r" b="b"/>
            <a:pathLst>
              <a:path w="114300" h="641985">
                <a:moveTo>
                  <a:pt x="38100" y="451104"/>
                </a:moveTo>
                <a:lnTo>
                  <a:pt x="0" y="451104"/>
                </a:lnTo>
                <a:lnTo>
                  <a:pt x="57150" y="641604"/>
                </a:lnTo>
                <a:lnTo>
                  <a:pt x="108584" y="470154"/>
                </a:lnTo>
                <a:lnTo>
                  <a:pt x="38100" y="470154"/>
                </a:lnTo>
                <a:lnTo>
                  <a:pt x="38100" y="451104"/>
                </a:lnTo>
                <a:close/>
              </a:path>
              <a:path w="114300" h="641985">
                <a:moveTo>
                  <a:pt x="76200" y="0"/>
                </a:moveTo>
                <a:lnTo>
                  <a:pt x="38100" y="0"/>
                </a:lnTo>
                <a:lnTo>
                  <a:pt x="38100" y="470154"/>
                </a:lnTo>
                <a:lnTo>
                  <a:pt x="76200" y="470154"/>
                </a:lnTo>
                <a:lnTo>
                  <a:pt x="76200" y="0"/>
                </a:lnTo>
                <a:close/>
              </a:path>
              <a:path w="114300" h="641985">
                <a:moveTo>
                  <a:pt x="114300" y="451104"/>
                </a:moveTo>
                <a:lnTo>
                  <a:pt x="76200" y="451104"/>
                </a:lnTo>
                <a:lnTo>
                  <a:pt x="76200" y="470154"/>
                </a:lnTo>
                <a:lnTo>
                  <a:pt x="108584" y="470154"/>
                </a:lnTo>
                <a:lnTo>
                  <a:pt x="114300" y="451104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44005" y="4646040"/>
            <a:ext cx="758825" cy="926465"/>
          </a:xfrm>
          <a:custGeom>
            <a:avLst/>
            <a:gdLst/>
            <a:ahLst/>
            <a:cxnLst/>
            <a:rect l="l" t="t" r="r" b="b"/>
            <a:pathLst>
              <a:path w="758825" h="926464">
                <a:moveTo>
                  <a:pt x="75819" y="742568"/>
                </a:moveTo>
                <a:lnTo>
                  <a:pt x="0" y="926464"/>
                </a:lnTo>
                <a:lnTo>
                  <a:pt x="164592" y="814704"/>
                </a:lnTo>
                <a:lnTo>
                  <a:pt x="153182" y="805433"/>
                </a:lnTo>
                <a:lnTo>
                  <a:pt x="122936" y="805433"/>
                </a:lnTo>
                <a:lnTo>
                  <a:pt x="93345" y="781430"/>
                </a:lnTo>
                <a:lnTo>
                  <a:pt x="105402" y="766608"/>
                </a:lnTo>
                <a:lnTo>
                  <a:pt x="75819" y="742568"/>
                </a:lnTo>
                <a:close/>
              </a:path>
              <a:path w="758825" h="926464">
                <a:moveTo>
                  <a:pt x="105402" y="766608"/>
                </a:moveTo>
                <a:lnTo>
                  <a:pt x="93345" y="781430"/>
                </a:lnTo>
                <a:lnTo>
                  <a:pt x="122936" y="805433"/>
                </a:lnTo>
                <a:lnTo>
                  <a:pt x="134972" y="790636"/>
                </a:lnTo>
                <a:lnTo>
                  <a:pt x="105402" y="766608"/>
                </a:lnTo>
                <a:close/>
              </a:path>
              <a:path w="758825" h="926464">
                <a:moveTo>
                  <a:pt x="134972" y="790636"/>
                </a:moveTo>
                <a:lnTo>
                  <a:pt x="122936" y="805433"/>
                </a:lnTo>
                <a:lnTo>
                  <a:pt x="153182" y="805433"/>
                </a:lnTo>
                <a:lnTo>
                  <a:pt x="134972" y="790636"/>
                </a:lnTo>
                <a:close/>
              </a:path>
              <a:path w="758825" h="926464">
                <a:moveTo>
                  <a:pt x="728979" y="0"/>
                </a:moveTo>
                <a:lnTo>
                  <a:pt x="105402" y="766608"/>
                </a:lnTo>
                <a:lnTo>
                  <a:pt x="134972" y="790636"/>
                </a:lnTo>
                <a:lnTo>
                  <a:pt x="758444" y="24129"/>
                </a:lnTo>
                <a:lnTo>
                  <a:pt x="728979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88377" y="4695571"/>
            <a:ext cx="756285" cy="828675"/>
          </a:xfrm>
          <a:custGeom>
            <a:avLst/>
            <a:gdLst/>
            <a:ahLst/>
            <a:cxnLst/>
            <a:rect l="l" t="t" r="r" b="b"/>
            <a:pathLst>
              <a:path w="756284" h="828675">
                <a:moveTo>
                  <a:pt x="613915" y="700152"/>
                </a:moveTo>
                <a:lnTo>
                  <a:pt x="585724" y="725804"/>
                </a:lnTo>
                <a:lnTo>
                  <a:pt x="756284" y="828166"/>
                </a:lnTo>
                <a:lnTo>
                  <a:pt x="701665" y="714247"/>
                </a:lnTo>
                <a:lnTo>
                  <a:pt x="626745" y="714247"/>
                </a:lnTo>
                <a:lnTo>
                  <a:pt x="613915" y="700152"/>
                </a:lnTo>
                <a:close/>
              </a:path>
              <a:path w="756284" h="828675">
                <a:moveTo>
                  <a:pt x="642109" y="674498"/>
                </a:moveTo>
                <a:lnTo>
                  <a:pt x="613915" y="700152"/>
                </a:lnTo>
                <a:lnTo>
                  <a:pt x="626745" y="714247"/>
                </a:lnTo>
                <a:lnTo>
                  <a:pt x="654939" y="688593"/>
                </a:lnTo>
                <a:lnTo>
                  <a:pt x="642109" y="674498"/>
                </a:lnTo>
                <a:close/>
              </a:path>
              <a:path w="756284" h="828675">
                <a:moveTo>
                  <a:pt x="670305" y="648842"/>
                </a:moveTo>
                <a:lnTo>
                  <a:pt x="642109" y="674498"/>
                </a:lnTo>
                <a:lnTo>
                  <a:pt x="654939" y="688593"/>
                </a:lnTo>
                <a:lnTo>
                  <a:pt x="626745" y="714247"/>
                </a:lnTo>
                <a:lnTo>
                  <a:pt x="701665" y="714247"/>
                </a:lnTo>
                <a:lnTo>
                  <a:pt x="670305" y="648842"/>
                </a:lnTo>
                <a:close/>
              </a:path>
              <a:path w="756284" h="828675">
                <a:moveTo>
                  <a:pt x="28194" y="0"/>
                </a:moveTo>
                <a:lnTo>
                  <a:pt x="0" y="25653"/>
                </a:lnTo>
                <a:lnTo>
                  <a:pt x="613915" y="700152"/>
                </a:lnTo>
                <a:lnTo>
                  <a:pt x="642109" y="674498"/>
                </a:lnTo>
                <a:lnTo>
                  <a:pt x="28194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99759" y="4394580"/>
            <a:ext cx="1163955" cy="1094105"/>
          </a:xfrm>
          <a:custGeom>
            <a:avLst/>
            <a:gdLst/>
            <a:ahLst/>
            <a:cxnLst/>
            <a:rect l="l" t="t" r="r" b="b"/>
            <a:pathLst>
              <a:path w="1163954" h="1094104">
                <a:moveTo>
                  <a:pt x="972311" y="38572"/>
                </a:moveTo>
                <a:lnTo>
                  <a:pt x="929639" y="45085"/>
                </a:lnTo>
                <a:lnTo>
                  <a:pt x="873506" y="57150"/>
                </a:lnTo>
                <a:lnTo>
                  <a:pt x="818261" y="71374"/>
                </a:lnTo>
                <a:lnTo>
                  <a:pt x="764286" y="88265"/>
                </a:lnTo>
                <a:lnTo>
                  <a:pt x="711453" y="107442"/>
                </a:lnTo>
                <a:lnTo>
                  <a:pt x="660145" y="128651"/>
                </a:lnTo>
                <a:lnTo>
                  <a:pt x="609980" y="152146"/>
                </a:lnTo>
                <a:lnTo>
                  <a:pt x="561213" y="177927"/>
                </a:lnTo>
                <a:lnTo>
                  <a:pt x="513968" y="205613"/>
                </a:lnTo>
                <a:lnTo>
                  <a:pt x="468375" y="235458"/>
                </a:lnTo>
                <a:lnTo>
                  <a:pt x="424434" y="267208"/>
                </a:lnTo>
                <a:lnTo>
                  <a:pt x="382142" y="300863"/>
                </a:lnTo>
                <a:lnTo>
                  <a:pt x="341756" y="336169"/>
                </a:lnTo>
                <a:lnTo>
                  <a:pt x="303149" y="373380"/>
                </a:lnTo>
                <a:lnTo>
                  <a:pt x="266573" y="412115"/>
                </a:lnTo>
                <a:lnTo>
                  <a:pt x="231901" y="452501"/>
                </a:lnTo>
                <a:lnTo>
                  <a:pt x="199389" y="494411"/>
                </a:lnTo>
                <a:lnTo>
                  <a:pt x="169163" y="537972"/>
                </a:lnTo>
                <a:lnTo>
                  <a:pt x="140969" y="582676"/>
                </a:lnTo>
                <a:lnTo>
                  <a:pt x="115188" y="629031"/>
                </a:lnTo>
                <a:lnTo>
                  <a:pt x="91820" y="676529"/>
                </a:lnTo>
                <a:lnTo>
                  <a:pt x="70865" y="725170"/>
                </a:lnTo>
                <a:lnTo>
                  <a:pt x="52577" y="774954"/>
                </a:lnTo>
                <a:lnTo>
                  <a:pt x="36829" y="825754"/>
                </a:lnTo>
                <a:lnTo>
                  <a:pt x="23749" y="877570"/>
                </a:lnTo>
                <a:lnTo>
                  <a:pt x="13462" y="930402"/>
                </a:lnTo>
                <a:lnTo>
                  <a:pt x="6095" y="983996"/>
                </a:lnTo>
                <a:lnTo>
                  <a:pt x="1524" y="1038352"/>
                </a:lnTo>
                <a:lnTo>
                  <a:pt x="0" y="1093597"/>
                </a:lnTo>
                <a:lnTo>
                  <a:pt x="38100" y="1094105"/>
                </a:lnTo>
                <a:lnTo>
                  <a:pt x="38480" y="1067435"/>
                </a:lnTo>
                <a:lnTo>
                  <a:pt x="39497" y="1041019"/>
                </a:lnTo>
                <a:lnTo>
                  <a:pt x="43814" y="988695"/>
                </a:lnTo>
                <a:lnTo>
                  <a:pt x="50926" y="937133"/>
                </a:lnTo>
                <a:lnTo>
                  <a:pt x="60832" y="886460"/>
                </a:lnTo>
                <a:lnTo>
                  <a:pt x="73278" y="836549"/>
                </a:lnTo>
                <a:lnTo>
                  <a:pt x="88391" y="787654"/>
                </a:lnTo>
                <a:lnTo>
                  <a:pt x="106044" y="739648"/>
                </a:lnTo>
                <a:lnTo>
                  <a:pt x="126111" y="692912"/>
                </a:lnTo>
                <a:lnTo>
                  <a:pt x="148716" y="647192"/>
                </a:lnTo>
                <a:lnTo>
                  <a:pt x="173354" y="602869"/>
                </a:lnTo>
                <a:lnTo>
                  <a:pt x="200405" y="559689"/>
                </a:lnTo>
                <a:lnTo>
                  <a:pt x="229615" y="517779"/>
                </a:lnTo>
                <a:lnTo>
                  <a:pt x="260857" y="477266"/>
                </a:lnTo>
                <a:lnTo>
                  <a:pt x="294259" y="438277"/>
                </a:lnTo>
                <a:lnTo>
                  <a:pt x="329691" y="400812"/>
                </a:lnTo>
                <a:lnTo>
                  <a:pt x="366902" y="364871"/>
                </a:lnTo>
                <a:lnTo>
                  <a:pt x="405891" y="330581"/>
                </a:lnTo>
                <a:lnTo>
                  <a:pt x="446786" y="298069"/>
                </a:lnTo>
                <a:lnTo>
                  <a:pt x="489203" y="267335"/>
                </a:lnTo>
                <a:lnTo>
                  <a:pt x="533400" y="238506"/>
                </a:lnTo>
                <a:lnTo>
                  <a:pt x="579119" y="211582"/>
                </a:lnTo>
                <a:lnTo>
                  <a:pt x="626110" y="186690"/>
                </a:lnTo>
                <a:lnTo>
                  <a:pt x="674751" y="163830"/>
                </a:lnTo>
                <a:lnTo>
                  <a:pt x="724788" y="143002"/>
                </a:lnTo>
                <a:lnTo>
                  <a:pt x="775969" y="124460"/>
                </a:lnTo>
                <a:lnTo>
                  <a:pt x="828293" y="108204"/>
                </a:lnTo>
                <a:lnTo>
                  <a:pt x="881761" y="94234"/>
                </a:lnTo>
                <a:lnTo>
                  <a:pt x="936243" y="82677"/>
                </a:lnTo>
                <a:lnTo>
                  <a:pt x="975190" y="76587"/>
                </a:lnTo>
                <a:lnTo>
                  <a:pt x="972311" y="38572"/>
                </a:lnTo>
                <a:close/>
              </a:path>
              <a:path w="1163954" h="1094104">
                <a:moveTo>
                  <a:pt x="1136439" y="36576"/>
                </a:moveTo>
                <a:lnTo>
                  <a:pt x="990726" y="36576"/>
                </a:lnTo>
                <a:lnTo>
                  <a:pt x="994790" y="74549"/>
                </a:lnTo>
                <a:lnTo>
                  <a:pt x="975190" y="76587"/>
                </a:lnTo>
                <a:lnTo>
                  <a:pt x="978026" y="114046"/>
                </a:lnTo>
                <a:lnTo>
                  <a:pt x="1163700" y="42545"/>
                </a:lnTo>
                <a:lnTo>
                  <a:pt x="1136439" y="36576"/>
                </a:lnTo>
                <a:close/>
              </a:path>
              <a:path w="1163954" h="1094104">
                <a:moveTo>
                  <a:pt x="990726" y="36576"/>
                </a:moveTo>
                <a:lnTo>
                  <a:pt x="972311" y="38572"/>
                </a:lnTo>
                <a:lnTo>
                  <a:pt x="975190" y="76587"/>
                </a:lnTo>
                <a:lnTo>
                  <a:pt x="994790" y="74549"/>
                </a:lnTo>
                <a:lnTo>
                  <a:pt x="990726" y="36576"/>
                </a:lnTo>
                <a:close/>
              </a:path>
              <a:path w="1163954" h="1094104">
                <a:moveTo>
                  <a:pt x="969390" y="0"/>
                </a:moveTo>
                <a:lnTo>
                  <a:pt x="972311" y="38572"/>
                </a:lnTo>
                <a:lnTo>
                  <a:pt x="990726" y="36576"/>
                </a:lnTo>
                <a:lnTo>
                  <a:pt x="1136439" y="36576"/>
                </a:lnTo>
                <a:lnTo>
                  <a:pt x="969390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17244" y="3069463"/>
            <a:ext cx="20675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例如右图，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96361" y="4275582"/>
            <a:ext cx="152400" cy="1118870"/>
          </a:xfrm>
          <a:custGeom>
            <a:avLst/>
            <a:gdLst/>
            <a:ahLst/>
            <a:cxnLst/>
            <a:rect l="l" t="t" r="r" b="b"/>
            <a:pathLst>
              <a:path w="152400" h="1118870">
                <a:moveTo>
                  <a:pt x="152400" y="1118616"/>
                </a:moveTo>
                <a:lnTo>
                  <a:pt x="122759" y="1111303"/>
                </a:lnTo>
                <a:lnTo>
                  <a:pt x="98536" y="1091358"/>
                </a:lnTo>
                <a:lnTo>
                  <a:pt x="82194" y="1061769"/>
                </a:lnTo>
                <a:lnTo>
                  <a:pt x="76200" y="1025525"/>
                </a:lnTo>
                <a:lnTo>
                  <a:pt x="76200" y="652399"/>
                </a:lnTo>
                <a:lnTo>
                  <a:pt x="70205" y="616154"/>
                </a:lnTo>
                <a:lnTo>
                  <a:pt x="53863" y="586565"/>
                </a:lnTo>
                <a:lnTo>
                  <a:pt x="29640" y="566620"/>
                </a:lnTo>
                <a:lnTo>
                  <a:pt x="0" y="559308"/>
                </a:lnTo>
                <a:lnTo>
                  <a:pt x="29640" y="551995"/>
                </a:lnTo>
                <a:lnTo>
                  <a:pt x="53863" y="532050"/>
                </a:lnTo>
                <a:lnTo>
                  <a:pt x="70205" y="502461"/>
                </a:lnTo>
                <a:lnTo>
                  <a:pt x="76200" y="466217"/>
                </a:lnTo>
                <a:lnTo>
                  <a:pt x="76200" y="93091"/>
                </a:lnTo>
                <a:lnTo>
                  <a:pt x="82194" y="56846"/>
                </a:lnTo>
                <a:lnTo>
                  <a:pt x="98536" y="27257"/>
                </a:lnTo>
                <a:lnTo>
                  <a:pt x="122759" y="7312"/>
                </a:lnTo>
                <a:lnTo>
                  <a:pt x="1524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127375" y="4158234"/>
            <a:ext cx="21653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强连通性成立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2140" y="4587951"/>
            <a:ext cx="4839335" cy="8870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{2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3}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是循环</a:t>
            </a:r>
            <a:endParaRPr sz="2800">
              <a:latin typeface="宋体"/>
              <a:cs typeface="宋体"/>
            </a:endParaRPr>
          </a:p>
          <a:p>
            <a:pPr marL="2508250">
              <a:lnSpc>
                <a:spcPct val="100000"/>
              </a:lnSpc>
              <a:spcBef>
                <a:spcPts val="70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惟一入口结点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027301" y="14732"/>
            <a:ext cx="16852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1510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Ch8	</a:t>
            </a:r>
            <a:r>
              <a:rPr sz="20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</a:t>
            </a:r>
            <a:r>
              <a:rPr sz="2000" b="1" dirty="0">
                <a:solidFill>
                  <a:srgbClr val="A15100"/>
                </a:solidFill>
                <a:latin typeface="华文新魏"/>
                <a:cs typeface="华文新魏"/>
              </a:rPr>
              <a:t>优化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65038" y="5591036"/>
            <a:ext cx="203200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18068" y="5618130"/>
            <a:ext cx="203200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0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51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426711" y="14732"/>
            <a:ext cx="3071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371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</a:t>
            </a:r>
            <a:r>
              <a:rPr sz="2000" b="1" u="sng" spc="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控制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流分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与循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查</a:t>
            </a:r>
            <a:r>
              <a:rPr sz="2000" b="1" u="sng" spc="-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找</a:t>
            </a:r>
            <a:endParaRPr sz="20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1167" y="802005"/>
            <a:ext cx="20675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例如下图，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84852" y="953795"/>
            <a:ext cx="1461135" cy="169037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循环：</a:t>
            </a:r>
            <a:endParaRPr sz="2800">
              <a:latin typeface="宋体"/>
              <a:cs typeface="宋体"/>
            </a:endParaRPr>
          </a:p>
          <a:p>
            <a:pPr marL="190500">
              <a:lnSpc>
                <a:spcPct val="100000"/>
              </a:lnSpc>
              <a:spcBef>
                <a:spcPts val="101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{6}</a:t>
            </a:r>
            <a:endParaRPr sz="28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  <a:spcBef>
                <a:spcPts val="101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{4,5,6,7}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42506" y="1508150"/>
            <a:ext cx="2098040" cy="1136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065">
              <a:lnSpc>
                <a:spcPct val="1301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FFCCCC"/>
                </a:solidFill>
                <a:latin typeface="宋体"/>
                <a:cs typeface="宋体"/>
              </a:rPr>
              <a:t>强连</a:t>
            </a:r>
            <a:r>
              <a:rPr sz="2800" b="1" dirty="0">
                <a:solidFill>
                  <a:srgbClr val="FFCCCC"/>
                </a:solidFill>
                <a:latin typeface="宋体"/>
                <a:cs typeface="宋体"/>
              </a:rPr>
              <a:t>通</a:t>
            </a:r>
            <a:r>
              <a:rPr sz="2800" b="1" spc="-5" dirty="0">
                <a:solidFill>
                  <a:srgbClr val="FFCCCC"/>
                </a:solidFill>
                <a:latin typeface="Times New Roman"/>
                <a:cs typeface="Times New Roman"/>
              </a:rPr>
              <a:t>/</a:t>
            </a:r>
            <a:r>
              <a:rPr sz="2800" b="1" spc="-5" dirty="0">
                <a:solidFill>
                  <a:srgbClr val="FFCCCC"/>
                </a:solidFill>
                <a:latin typeface="宋体"/>
                <a:cs typeface="宋体"/>
              </a:rPr>
              <a:t>入口</a:t>
            </a:r>
            <a:r>
              <a:rPr sz="2800" b="1" spc="-5" dirty="0">
                <a:solidFill>
                  <a:srgbClr val="FFCCCC"/>
                </a:solidFill>
                <a:latin typeface="Times New Roman"/>
                <a:cs typeface="Times New Roman"/>
              </a:rPr>
              <a:t>6 </a:t>
            </a:r>
            <a:r>
              <a:rPr sz="2800" b="1" spc="-5" dirty="0">
                <a:solidFill>
                  <a:srgbClr val="FFCCCC"/>
                </a:solidFill>
                <a:latin typeface="宋体"/>
                <a:cs typeface="宋体"/>
              </a:rPr>
              <a:t>强连</a:t>
            </a:r>
            <a:r>
              <a:rPr sz="2800" b="1" dirty="0">
                <a:solidFill>
                  <a:srgbClr val="FFCCCC"/>
                </a:solidFill>
                <a:latin typeface="宋体"/>
                <a:cs typeface="宋体"/>
              </a:rPr>
              <a:t>通</a:t>
            </a:r>
            <a:r>
              <a:rPr sz="2800" b="1" spc="-5" dirty="0">
                <a:solidFill>
                  <a:srgbClr val="FFCCCC"/>
                </a:solidFill>
                <a:latin typeface="Times New Roman"/>
                <a:cs typeface="Times New Roman"/>
              </a:rPr>
              <a:t>/</a:t>
            </a:r>
            <a:r>
              <a:rPr sz="2800" b="1" spc="-5" dirty="0">
                <a:solidFill>
                  <a:srgbClr val="FFCCCC"/>
                </a:solidFill>
                <a:latin typeface="宋体"/>
                <a:cs typeface="宋体"/>
              </a:rPr>
              <a:t>入口</a:t>
            </a:r>
            <a:r>
              <a:rPr sz="2800" b="1" spc="-5" dirty="0">
                <a:solidFill>
                  <a:srgbClr val="FFCCCC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3159" y="2747010"/>
            <a:ext cx="3964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{2,3,4,5,6,7}</a:t>
            </a:r>
            <a:r>
              <a:rPr sz="2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CCCC"/>
                </a:solidFill>
                <a:latin typeface="宋体"/>
                <a:cs typeface="宋体"/>
              </a:rPr>
              <a:t>强连</a:t>
            </a:r>
            <a:r>
              <a:rPr sz="2800" b="1" dirty="0">
                <a:solidFill>
                  <a:srgbClr val="FFCCCC"/>
                </a:solidFill>
                <a:latin typeface="宋体"/>
                <a:cs typeface="宋体"/>
              </a:rPr>
              <a:t>通</a:t>
            </a:r>
            <a:r>
              <a:rPr sz="2800" b="1" spc="-5" dirty="0">
                <a:solidFill>
                  <a:srgbClr val="FFCCCC"/>
                </a:solidFill>
                <a:latin typeface="Times New Roman"/>
                <a:cs typeface="Times New Roman"/>
              </a:rPr>
              <a:t>/</a:t>
            </a:r>
            <a:r>
              <a:rPr sz="2800" b="1" spc="-5" dirty="0">
                <a:solidFill>
                  <a:srgbClr val="FFCCCC"/>
                </a:solidFill>
                <a:latin typeface="宋体"/>
                <a:cs typeface="宋体"/>
              </a:rPr>
              <a:t>入口</a:t>
            </a:r>
            <a:r>
              <a:rPr sz="2800" b="1" spc="-5" dirty="0">
                <a:solidFill>
                  <a:srgbClr val="FFCCCC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84852" y="3953383"/>
            <a:ext cx="1452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highlight>
                  <a:srgbClr val="808000"/>
                </a:highlight>
                <a:latin typeface="宋体"/>
                <a:cs typeface="宋体"/>
              </a:rPr>
              <a:t>非循环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63159" y="4379908"/>
            <a:ext cx="1017269" cy="168973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{2,4}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{2,3,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{4,6,7}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75806" y="4379908"/>
            <a:ext cx="2364105" cy="1689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065" algn="just">
              <a:lnSpc>
                <a:spcPct val="13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强连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通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/</a:t>
            </a:r>
            <a:r>
              <a:rPr sz="2800" b="1" spc="-5" dirty="0">
                <a:solidFill>
                  <a:srgbClr val="FFFF00"/>
                </a:solidFill>
                <a:highlight>
                  <a:srgbClr val="808000"/>
                </a:highlight>
                <a:latin typeface="宋体"/>
                <a:cs typeface="宋体"/>
              </a:rPr>
              <a:t>入口</a:t>
            </a:r>
            <a:r>
              <a:rPr sz="2800" b="1" spc="-5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2,4 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强连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通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/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入口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2,4 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强连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通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/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入口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4,7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4394" y="4769358"/>
            <a:ext cx="1363980" cy="487680"/>
          </a:xfrm>
          <a:custGeom>
            <a:avLst/>
            <a:gdLst/>
            <a:ahLst/>
            <a:cxnLst/>
            <a:rect l="l" t="t" r="r" b="b"/>
            <a:pathLst>
              <a:path w="1363980" h="487679">
                <a:moveTo>
                  <a:pt x="0" y="243840"/>
                </a:moveTo>
                <a:lnTo>
                  <a:pt x="13855" y="194711"/>
                </a:lnTo>
                <a:lnTo>
                  <a:pt x="53593" y="148947"/>
                </a:lnTo>
                <a:lnTo>
                  <a:pt x="116472" y="107528"/>
                </a:lnTo>
                <a:lnTo>
                  <a:pt x="155732" y="88755"/>
                </a:lnTo>
                <a:lnTo>
                  <a:pt x="199748" y="71437"/>
                </a:lnTo>
                <a:lnTo>
                  <a:pt x="248179" y="55697"/>
                </a:lnTo>
                <a:lnTo>
                  <a:pt x="300681" y="41656"/>
                </a:lnTo>
                <a:lnTo>
                  <a:pt x="356911" y="29440"/>
                </a:lnTo>
                <a:lnTo>
                  <a:pt x="416527" y="19169"/>
                </a:lnTo>
                <a:lnTo>
                  <a:pt x="479185" y="10966"/>
                </a:lnTo>
                <a:lnTo>
                  <a:pt x="544544" y="4955"/>
                </a:lnTo>
                <a:lnTo>
                  <a:pt x="612259" y="1259"/>
                </a:lnTo>
                <a:lnTo>
                  <a:pt x="681990" y="0"/>
                </a:lnTo>
                <a:lnTo>
                  <a:pt x="751720" y="1259"/>
                </a:lnTo>
                <a:lnTo>
                  <a:pt x="819435" y="4955"/>
                </a:lnTo>
                <a:lnTo>
                  <a:pt x="884794" y="10966"/>
                </a:lnTo>
                <a:lnTo>
                  <a:pt x="947452" y="19169"/>
                </a:lnTo>
                <a:lnTo>
                  <a:pt x="1007068" y="29440"/>
                </a:lnTo>
                <a:lnTo>
                  <a:pt x="1063298" y="41656"/>
                </a:lnTo>
                <a:lnTo>
                  <a:pt x="1115800" y="55697"/>
                </a:lnTo>
                <a:lnTo>
                  <a:pt x="1164231" y="71437"/>
                </a:lnTo>
                <a:lnTo>
                  <a:pt x="1208247" y="88755"/>
                </a:lnTo>
                <a:lnTo>
                  <a:pt x="1247507" y="107528"/>
                </a:lnTo>
                <a:lnTo>
                  <a:pt x="1281668" y="127633"/>
                </a:lnTo>
                <a:lnTo>
                  <a:pt x="1333319" y="171347"/>
                </a:lnTo>
                <a:lnTo>
                  <a:pt x="1360459" y="218916"/>
                </a:lnTo>
                <a:lnTo>
                  <a:pt x="1363980" y="243840"/>
                </a:lnTo>
                <a:lnTo>
                  <a:pt x="1360459" y="268763"/>
                </a:lnTo>
                <a:lnTo>
                  <a:pt x="1333319" y="316332"/>
                </a:lnTo>
                <a:lnTo>
                  <a:pt x="1281668" y="360046"/>
                </a:lnTo>
                <a:lnTo>
                  <a:pt x="1247507" y="380151"/>
                </a:lnTo>
                <a:lnTo>
                  <a:pt x="1208247" y="398924"/>
                </a:lnTo>
                <a:lnTo>
                  <a:pt x="1164231" y="416242"/>
                </a:lnTo>
                <a:lnTo>
                  <a:pt x="1115800" y="431982"/>
                </a:lnTo>
                <a:lnTo>
                  <a:pt x="1063298" y="446023"/>
                </a:lnTo>
                <a:lnTo>
                  <a:pt x="1007068" y="458239"/>
                </a:lnTo>
                <a:lnTo>
                  <a:pt x="947452" y="468510"/>
                </a:lnTo>
                <a:lnTo>
                  <a:pt x="884794" y="476713"/>
                </a:lnTo>
                <a:lnTo>
                  <a:pt x="819435" y="482724"/>
                </a:lnTo>
                <a:lnTo>
                  <a:pt x="751720" y="486420"/>
                </a:lnTo>
                <a:lnTo>
                  <a:pt x="681990" y="487680"/>
                </a:lnTo>
                <a:lnTo>
                  <a:pt x="612259" y="486420"/>
                </a:lnTo>
                <a:lnTo>
                  <a:pt x="544544" y="482724"/>
                </a:lnTo>
                <a:lnTo>
                  <a:pt x="479185" y="476713"/>
                </a:lnTo>
                <a:lnTo>
                  <a:pt x="416527" y="468510"/>
                </a:lnTo>
                <a:lnTo>
                  <a:pt x="356911" y="458239"/>
                </a:lnTo>
                <a:lnTo>
                  <a:pt x="300681" y="446023"/>
                </a:lnTo>
                <a:lnTo>
                  <a:pt x="248179" y="431982"/>
                </a:lnTo>
                <a:lnTo>
                  <a:pt x="199748" y="416242"/>
                </a:lnTo>
                <a:lnTo>
                  <a:pt x="155732" y="398924"/>
                </a:lnTo>
                <a:lnTo>
                  <a:pt x="116472" y="380151"/>
                </a:lnTo>
                <a:lnTo>
                  <a:pt x="82311" y="360046"/>
                </a:lnTo>
                <a:lnTo>
                  <a:pt x="30660" y="316332"/>
                </a:lnTo>
                <a:lnTo>
                  <a:pt x="3520" y="268763"/>
                </a:lnTo>
                <a:lnTo>
                  <a:pt x="0" y="24384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45435" y="1743455"/>
            <a:ext cx="693420" cy="646430"/>
          </a:xfrm>
          <a:custGeom>
            <a:avLst/>
            <a:gdLst/>
            <a:ahLst/>
            <a:cxnLst/>
            <a:rect l="l" t="t" r="r" b="b"/>
            <a:pathLst>
              <a:path w="693419" h="646430">
                <a:moveTo>
                  <a:pt x="0" y="323088"/>
                </a:moveTo>
                <a:lnTo>
                  <a:pt x="3758" y="275344"/>
                </a:lnTo>
                <a:lnTo>
                  <a:pt x="14676" y="229776"/>
                </a:lnTo>
                <a:lnTo>
                  <a:pt x="32218" y="186882"/>
                </a:lnTo>
                <a:lnTo>
                  <a:pt x="55848" y="147163"/>
                </a:lnTo>
                <a:lnTo>
                  <a:pt x="85030" y="111119"/>
                </a:lnTo>
                <a:lnTo>
                  <a:pt x="119229" y="79248"/>
                </a:lnTo>
                <a:lnTo>
                  <a:pt x="157908" y="52051"/>
                </a:lnTo>
                <a:lnTo>
                  <a:pt x="200531" y="30028"/>
                </a:lnTo>
                <a:lnTo>
                  <a:pt x="246563" y="13679"/>
                </a:lnTo>
                <a:lnTo>
                  <a:pt x="295468" y="3503"/>
                </a:lnTo>
                <a:lnTo>
                  <a:pt x="346709" y="0"/>
                </a:lnTo>
                <a:lnTo>
                  <a:pt x="397951" y="3503"/>
                </a:lnTo>
                <a:lnTo>
                  <a:pt x="446856" y="13679"/>
                </a:lnTo>
                <a:lnTo>
                  <a:pt x="492888" y="30028"/>
                </a:lnTo>
                <a:lnTo>
                  <a:pt x="535511" y="52051"/>
                </a:lnTo>
                <a:lnTo>
                  <a:pt x="574190" y="79248"/>
                </a:lnTo>
                <a:lnTo>
                  <a:pt x="608389" y="111119"/>
                </a:lnTo>
                <a:lnTo>
                  <a:pt x="637571" y="147163"/>
                </a:lnTo>
                <a:lnTo>
                  <a:pt x="661201" y="186882"/>
                </a:lnTo>
                <a:lnTo>
                  <a:pt x="678743" y="229776"/>
                </a:lnTo>
                <a:lnTo>
                  <a:pt x="689661" y="275344"/>
                </a:lnTo>
                <a:lnTo>
                  <a:pt x="693419" y="323088"/>
                </a:lnTo>
                <a:lnTo>
                  <a:pt x="689661" y="370831"/>
                </a:lnTo>
                <a:lnTo>
                  <a:pt x="678743" y="416399"/>
                </a:lnTo>
                <a:lnTo>
                  <a:pt x="661201" y="459293"/>
                </a:lnTo>
                <a:lnTo>
                  <a:pt x="637571" y="499012"/>
                </a:lnTo>
                <a:lnTo>
                  <a:pt x="608389" y="535056"/>
                </a:lnTo>
                <a:lnTo>
                  <a:pt x="574190" y="566927"/>
                </a:lnTo>
                <a:lnTo>
                  <a:pt x="535511" y="594124"/>
                </a:lnTo>
                <a:lnTo>
                  <a:pt x="492888" y="616147"/>
                </a:lnTo>
                <a:lnTo>
                  <a:pt x="446856" y="632496"/>
                </a:lnTo>
                <a:lnTo>
                  <a:pt x="397951" y="642672"/>
                </a:lnTo>
                <a:lnTo>
                  <a:pt x="346709" y="646176"/>
                </a:lnTo>
                <a:lnTo>
                  <a:pt x="295468" y="642672"/>
                </a:lnTo>
                <a:lnTo>
                  <a:pt x="246563" y="632496"/>
                </a:lnTo>
                <a:lnTo>
                  <a:pt x="200531" y="616147"/>
                </a:lnTo>
                <a:lnTo>
                  <a:pt x="157908" y="594124"/>
                </a:lnTo>
                <a:lnTo>
                  <a:pt x="119229" y="566927"/>
                </a:lnTo>
                <a:lnTo>
                  <a:pt x="85030" y="535056"/>
                </a:lnTo>
                <a:lnTo>
                  <a:pt x="55848" y="499012"/>
                </a:lnTo>
                <a:lnTo>
                  <a:pt x="32218" y="459293"/>
                </a:lnTo>
                <a:lnTo>
                  <a:pt x="14676" y="416399"/>
                </a:lnTo>
                <a:lnTo>
                  <a:pt x="3758" y="370831"/>
                </a:lnTo>
                <a:lnTo>
                  <a:pt x="0" y="323088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94610" y="1813305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69057" y="2847594"/>
            <a:ext cx="693420" cy="646430"/>
          </a:xfrm>
          <a:custGeom>
            <a:avLst/>
            <a:gdLst/>
            <a:ahLst/>
            <a:cxnLst/>
            <a:rect l="l" t="t" r="r" b="b"/>
            <a:pathLst>
              <a:path w="693419" h="646429">
                <a:moveTo>
                  <a:pt x="0" y="323088"/>
                </a:moveTo>
                <a:lnTo>
                  <a:pt x="3758" y="275344"/>
                </a:lnTo>
                <a:lnTo>
                  <a:pt x="14676" y="229776"/>
                </a:lnTo>
                <a:lnTo>
                  <a:pt x="32218" y="186882"/>
                </a:lnTo>
                <a:lnTo>
                  <a:pt x="55848" y="147163"/>
                </a:lnTo>
                <a:lnTo>
                  <a:pt x="85030" y="111119"/>
                </a:lnTo>
                <a:lnTo>
                  <a:pt x="119229" y="79248"/>
                </a:lnTo>
                <a:lnTo>
                  <a:pt x="157908" y="52051"/>
                </a:lnTo>
                <a:lnTo>
                  <a:pt x="200531" y="30028"/>
                </a:lnTo>
                <a:lnTo>
                  <a:pt x="246563" y="13679"/>
                </a:lnTo>
                <a:lnTo>
                  <a:pt x="295468" y="3503"/>
                </a:lnTo>
                <a:lnTo>
                  <a:pt x="346710" y="0"/>
                </a:lnTo>
                <a:lnTo>
                  <a:pt x="397951" y="3503"/>
                </a:lnTo>
                <a:lnTo>
                  <a:pt x="446856" y="13679"/>
                </a:lnTo>
                <a:lnTo>
                  <a:pt x="492888" y="30028"/>
                </a:lnTo>
                <a:lnTo>
                  <a:pt x="535511" y="52051"/>
                </a:lnTo>
                <a:lnTo>
                  <a:pt x="574190" y="79248"/>
                </a:lnTo>
                <a:lnTo>
                  <a:pt x="608389" y="111119"/>
                </a:lnTo>
                <a:lnTo>
                  <a:pt x="637571" y="147163"/>
                </a:lnTo>
                <a:lnTo>
                  <a:pt x="661201" y="186882"/>
                </a:lnTo>
                <a:lnTo>
                  <a:pt x="678743" y="229776"/>
                </a:lnTo>
                <a:lnTo>
                  <a:pt x="689661" y="275344"/>
                </a:lnTo>
                <a:lnTo>
                  <a:pt x="693419" y="323088"/>
                </a:lnTo>
                <a:lnTo>
                  <a:pt x="689661" y="370831"/>
                </a:lnTo>
                <a:lnTo>
                  <a:pt x="678743" y="416399"/>
                </a:lnTo>
                <a:lnTo>
                  <a:pt x="661201" y="459293"/>
                </a:lnTo>
                <a:lnTo>
                  <a:pt x="637571" y="499012"/>
                </a:lnTo>
                <a:lnTo>
                  <a:pt x="608389" y="535056"/>
                </a:lnTo>
                <a:lnTo>
                  <a:pt x="574190" y="566927"/>
                </a:lnTo>
                <a:lnTo>
                  <a:pt x="535511" y="594124"/>
                </a:lnTo>
                <a:lnTo>
                  <a:pt x="492888" y="616147"/>
                </a:lnTo>
                <a:lnTo>
                  <a:pt x="446856" y="632496"/>
                </a:lnTo>
                <a:lnTo>
                  <a:pt x="397951" y="642672"/>
                </a:lnTo>
                <a:lnTo>
                  <a:pt x="346710" y="646176"/>
                </a:lnTo>
                <a:lnTo>
                  <a:pt x="295468" y="642672"/>
                </a:lnTo>
                <a:lnTo>
                  <a:pt x="246563" y="632496"/>
                </a:lnTo>
                <a:lnTo>
                  <a:pt x="200531" y="616147"/>
                </a:lnTo>
                <a:lnTo>
                  <a:pt x="157908" y="594124"/>
                </a:lnTo>
                <a:lnTo>
                  <a:pt x="119229" y="566927"/>
                </a:lnTo>
                <a:lnTo>
                  <a:pt x="85030" y="535056"/>
                </a:lnTo>
                <a:lnTo>
                  <a:pt x="55848" y="499012"/>
                </a:lnTo>
                <a:lnTo>
                  <a:pt x="32218" y="459293"/>
                </a:lnTo>
                <a:lnTo>
                  <a:pt x="14676" y="416399"/>
                </a:lnTo>
                <a:lnTo>
                  <a:pt x="3758" y="370831"/>
                </a:lnTo>
                <a:lnTo>
                  <a:pt x="0" y="32308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18358" y="2916377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17826" y="3972305"/>
            <a:ext cx="696595" cy="646430"/>
          </a:xfrm>
          <a:custGeom>
            <a:avLst/>
            <a:gdLst/>
            <a:ahLst/>
            <a:cxnLst/>
            <a:rect l="l" t="t" r="r" b="b"/>
            <a:pathLst>
              <a:path w="696594" h="646429">
                <a:moveTo>
                  <a:pt x="0" y="323088"/>
                </a:moveTo>
                <a:lnTo>
                  <a:pt x="3776" y="275344"/>
                </a:lnTo>
                <a:lnTo>
                  <a:pt x="14747" y="229776"/>
                </a:lnTo>
                <a:lnTo>
                  <a:pt x="32373" y="186882"/>
                </a:lnTo>
                <a:lnTo>
                  <a:pt x="56114" y="147163"/>
                </a:lnTo>
                <a:lnTo>
                  <a:pt x="85431" y="111119"/>
                </a:lnTo>
                <a:lnTo>
                  <a:pt x="119785" y="79248"/>
                </a:lnTo>
                <a:lnTo>
                  <a:pt x="158637" y="52051"/>
                </a:lnTo>
                <a:lnTo>
                  <a:pt x="201447" y="30028"/>
                </a:lnTo>
                <a:lnTo>
                  <a:pt x="247676" y="13679"/>
                </a:lnTo>
                <a:lnTo>
                  <a:pt x="296784" y="3503"/>
                </a:lnTo>
                <a:lnTo>
                  <a:pt x="348234" y="0"/>
                </a:lnTo>
                <a:lnTo>
                  <a:pt x="399683" y="3503"/>
                </a:lnTo>
                <a:lnTo>
                  <a:pt x="448791" y="13679"/>
                </a:lnTo>
                <a:lnTo>
                  <a:pt x="495020" y="30028"/>
                </a:lnTo>
                <a:lnTo>
                  <a:pt x="537830" y="52051"/>
                </a:lnTo>
                <a:lnTo>
                  <a:pt x="576682" y="79248"/>
                </a:lnTo>
                <a:lnTo>
                  <a:pt x="611036" y="111119"/>
                </a:lnTo>
                <a:lnTo>
                  <a:pt x="640353" y="147163"/>
                </a:lnTo>
                <a:lnTo>
                  <a:pt x="664094" y="186882"/>
                </a:lnTo>
                <a:lnTo>
                  <a:pt x="681720" y="229776"/>
                </a:lnTo>
                <a:lnTo>
                  <a:pt x="692691" y="275344"/>
                </a:lnTo>
                <a:lnTo>
                  <a:pt x="696468" y="323088"/>
                </a:lnTo>
                <a:lnTo>
                  <a:pt x="692691" y="370831"/>
                </a:lnTo>
                <a:lnTo>
                  <a:pt x="681720" y="416399"/>
                </a:lnTo>
                <a:lnTo>
                  <a:pt x="664094" y="459293"/>
                </a:lnTo>
                <a:lnTo>
                  <a:pt x="640353" y="499012"/>
                </a:lnTo>
                <a:lnTo>
                  <a:pt x="611036" y="535056"/>
                </a:lnTo>
                <a:lnTo>
                  <a:pt x="576682" y="566927"/>
                </a:lnTo>
                <a:lnTo>
                  <a:pt x="537830" y="594124"/>
                </a:lnTo>
                <a:lnTo>
                  <a:pt x="495020" y="616147"/>
                </a:lnTo>
                <a:lnTo>
                  <a:pt x="448791" y="632496"/>
                </a:lnTo>
                <a:lnTo>
                  <a:pt x="399683" y="642672"/>
                </a:lnTo>
                <a:lnTo>
                  <a:pt x="348234" y="646176"/>
                </a:lnTo>
                <a:lnTo>
                  <a:pt x="296784" y="642672"/>
                </a:lnTo>
                <a:lnTo>
                  <a:pt x="247676" y="632496"/>
                </a:lnTo>
                <a:lnTo>
                  <a:pt x="201447" y="616147"/>
                </a:lnTo>
                <a:lnTo>
                  <a:pt x="158637" y="594124"/>
                </a:lnTo>
                <a:lnTo>
                  <a:pt x="119785" y="566927"/>
                </a:lnTo>
                <a:lnTo>
                  <a:pt x="85431" y="535056"/>
                </a:lnTo>
                <a:lnTo>
                  <a:pt x="56114" y="499012"/>
                </a:lnTo>
                <a:lnTo>
                  <a:pt x="32373" y="459293"/>
                </a:lnTo>
                <a:lnTo>
                  <a:pt x="14747" y="416399"/>
                </a:lnTo>
                <a:lnTo>
                  <a:pt x="3776" y="370831"/>
                </a:lnTo>
                <a:lnTo>
                  <a:pt x="0" y="32308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67761" y="4042664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11117" y="3484626"/>
            <a:ext cx="696595" cy="646430"/>
          </a:xfrm>
          <a:custGeom>
            <a:avLst/>
            <a:gdLst/>
            <a:ahLst/>
            <a:cxnLst/>
            <a:rect l="l" t="t" r="r" b="b"/>
            <a:pathLst>
              <a:path w="696595" h="646429">
                <a:moveTo>
                  <a:pt x="0" y="323088"/>
                </a:moveTo>
                <a:lnTo>
                  <a:pt x="3776" y="275344"/>
                </a:lnTo>
                <a:lnTo>
                  <a:pt x="14747" y="229776"/>
                </a:lnTo>
                <a:lnTo>
                  <a:pt x="32373" y="186882"/>
                </a:lnTo>
                <a:lnTo>
                  <a:pt x="56114" y="147163"/>
                </a:lnTo>
                <a:lnTo>
                  <a:pt x="85431" y="111119"/>
                </a:lnTo>
                <a:lnTo>
                  <a:pt x="119785" y="79248"/>
                </a:lnTo>
                <a:lnTo>
                  <a:pt x="158637" y="52051"/>
                </a:lnTo>
                <a:lnTo>
                  <a:pt x="201447" y="30028"/>
                </a:lnTo>
                <a:lnTo>
                  <a:pt x="247676" y="13679"/>
                </a:lnTo>
                <a:lnTo>
                  <a:pt x="296784" y="3503"/>
                </a:lnTo>
                <a:lnTo>
                  <a:pt x="348234" y="0"/>
                </a:lnTo>
                <a:lnTo>
                  <a:pt x="399683" y="3503"/>
                </a:lnTo>
                <a:lnTo>
                  <a:pt x="448791" y="13679"/>
                </a:lnTo>
                <a:lnTo>
                  <a:pt x="495020" y="30028"/>
                </a:lnTo>
                <a:lnTo>
                  <a:pt x="537830" y="52051"/>
                </a:lnTo>
                <a:lnTo>
                  <a:pt x="576682" y="79248"/>
                </a:lnTo>
                <a:lnTo>
                  <a:pt x="611036" y="111119"/>
                </a:lnTo>
                <a:lnTo>
                  <a:pt x="640353" y="147163"/>
                </a:lnTo>
                <a:lnTo>
                  <a:pt x="664094" y="186882"/>
                </a:lnTo>
                <a:lnTo>
                  <a:pt x="681720" y="229776"/>
                </a:lnTo>
                <a:lnTo>
                  <a:pt x="692691" y="275344"/>
                </a:lnTo>
                <a:lnTo>
                  <a:pt x="696468" y="323088"/>
                </a:lnTo>
                <a:lnTo>
                  <a:pt x="692691" y="370831"/>
                </a:lnTo>
                <a:lnTo>
                  <a:pt x="681720" y="416399"/>
                </a:lnTo>
                <a:lnTo>
                  <a:pt x="664094" y="459293"/>
                </a:lnTo>
                <a:lnTo>
                  <a:pt x="640353" y="499012"/>
                </a:lnTo>
                <a:lnTo>
                  <a:pt x="611036" y="535056"/>
                </a:lnTo>
                <a:lnTo>
                  <a:pt x="576682" y="566927"/>
                </a:lnTo>
                <a:lnTo>
                  <a:pt x="537830" y="594124"/>
                </a:lnTo>
                <a:lnTo>
                  <a:pt x="495020" y="616147"/>
                </a:lnTo>
                <a:lnTo>
                  <a:pt x="448791" y="632496"/>
                </a:lnTo>
                <a:lnTo>
                  <a:pt x="399683" y="642672"/>
                </a:lnTo>
                <a:lnTo>
                  <a:pt x="348234" y="646176"/>
                </a:lnTo>
                <a:lnTo>
                  <a:pt x="296784" y="642672"/>
                </a:lnTo>
                <a:lnTo>
                  <a:pt x="247676" y="632496"/>
                </a:lnTo>
                <a:lnTo>
                  <a:pt x="201447" y="616147"/>
                </a:lnTo>
                <a:lnTo>
                  <a:pt x="158637" y="594124"/>
                </a:lnTo>
                <a:lnTo>
                  <a:pt x="119785" y="566927"/>
                </a:lnTo>
                <a:lnTo>
                  <a:pt x="85431" y="535056"/>
                </a:lnTo>
                <a:lnTo>
                  <a:pt x="56114" y="499012"/>
                </a:lnTo>
                <a:lnTo>
                  <a:pt x="32373" y="459293"/>
                </a:lnTo>
                <a:lnTo>
                  <a:pt x="14747" y="416399"/>
                </a:lnTo>
                <a:lnTo>
                  <a:pt x="3776" y="370831"/>
                </a:lnTo>
                <a:lnTo>
                  <a:pt x="0" y="32308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860419" y="3555238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00577" y="5171185"/>
            <a:ext cx="862965" cy="594995"/>
          </a:xfrm>
          <a:custGeom>
            <a:avLst/>
            <a:gdLst/>
            <a:ahLst/>
            <a:cxnLst/>
            <a:rect l="l" t="t" r="r" b="b"/>
            <a:pathLst>
              <a:path w="862964" h="594995">
                <a:moveTo>
                  <a:pt x="62357" y="483349"/>
                </a:moveTo>
                <a:lnTo>
                  <a:pt x="0" y="594867"/>
                </a:lnTo>
                <a:lnTo>
                  <a:pt x="126619" y="577875"/>
                </a:lnTo>
                <a:lnTo>
                  <a:pt x="112476" y="557072"/>
                </a:lnTo>
                <a:lnTo>
                  <a:pt x="89535" y="557072"/>
                </a:lnTo>
                <a:lnTo>
                  <a:pt x="68072" y="525564"/>
                </a:lnTo>
                <a:lnTo>
                  <a:pt x="83791" y="514878"/>
                </a:lnTo>
                <a:lnTo>
                  <a:pt x="62357" y="483349"/>
                </a:lnTo>
                <a:close/>
              </a:path>
              <a:path w="862964" h="594995">
                <a:moveTo>
                  <a:pt x="83791" y="514878"/>
                </a:moveTo>
                <a:lnTo>
                  <a:pt x="68072" y="525564"/>
                </a:lnTo>
                <a:lnTo>
                  <a:pt x="89535" y="557072"/>
                </a:lnTo>
                <a:lnTo>
                  <a:pt x="105224" y="546405"/>
                </a:lnTo>
                <a:lnTo>
                  <a:pt x="83791" y="514878"/>
                </a:lnTo>
                <a:close/>
              </a:path>
              <a:path w="862964" h="594995">
                <a:moveTo>
                  <a:pt x="105224" y="546405"/>
                </a:moveTo>
                <a:lnTo>
                  <a:pt x="89535" y="557072"/>
                </a:lnTo>
                <a:lnTo>
                  <a:pt x="112476" y="557072"/>
                </a:lnTo>
                <a:lnTo>
                  <a:pt x="105224" y="546405"/>
                </a:lnTo>
                <a:close/>
              </a:path>
              <a:path w="862964" h="594995">
                <a:moveTo>
                  <a:pt x="841248" y="0"/>
                </a:moveTo>
                <a:lnTo>
                  <a:pt x="83791" y="514878"/>
                </a:lnTo>
                <a:lnTo>
                  <a:pt x="105224" y="546405"/>
                </a:lnTo>
                <a:lnTo>
                  <a:pt x="862584" y="31495"/>
                </a:lnTo>
                <a:lnTo>
                  <a:pt x="84124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17826" y="5432297"/>
            <a:ext cx="696595" cy="646430"/>
          </a:xfrm>
          <a:custGeom>
            <a:avLst/>
            <a:gdLst/>
            <a:ahLst/>
            <a:cxnLst/>
            <a:rect l="l" t="t" r="r" b="b"/>
            <a:pathLst>
              <a:path w="696594" h="646429">
                <a:moveTo>
                  <a:pt x="0" y="323088"/>
                </a:moveTo>
                <a:lnTo>
                  <a:pt x="3776" y="275344"/>
                </a:lnTo>
                <a:lnTo>
                  <a:pt x="14747" y="229776"/>
                </a:lnTo>
                <a:lnTo>
                  <a:pt x="32373" y="186882"/>
                </a:lnTo>
                <a:lnTo>
                  <a:pt x="56114" y="147163"/>
                </a:lnTo>
                <a:lnTo>
                  <a:pt x="85431" y="111119"/>
                </a:lnTo>
                <a:lnTo>
                  <a:pt x="119785" y="79248"/>
                </a:lnTo>
                <a:lnTo>
                  <a:pt x="158637" y="52051"/>
                </a:lnTo>
                <a:lnTo>
                  <a:pt x="201447" y="30028"/>
                </a:lnTo>
                <a:lnTo>
                  <a:pt x="247676" y="13679"/>
                </a:lnTo>
                <a:lnTo>
                  <a:pt x="296784" y="3503"/>
                </a:lnTo>
                <a:lnTo>
                  <a:pt x="348234" y="0"/>
                </a:lnTo>
                <a:lnTo>
                  <a:pt x="399683" y="3503"/>
                </a:lnTo>
                <a:lnTo>
                  <a:pt x="448791" y="13679"/>
                </a:lnTo>
                <a:lnTo>
                  <a:pt x="495020" y="30028"/>
                </a:lnTo>
                <a:lnTo>
                  <a:pt x="537830" y="52051"/>
                </a:lnTo>
                <a:lnTo>
                  <a:pt x="576682" y="79248"/>
                </a:lnTo>
                <a:lnTo>
                  <a:pt x="611036" y="111119"/>
                </a:lnTo>
                <a:lnTo>
                  <a:pt x="640353" y="147163"/>
                </a:lnTo>
                <a:lnTo>
                  <a:pt x="664094" y="186882"/>
                </a:lnTo>
                <a:lnTo>
                  <a:pt x="681720" y="229776"/>
                </a:lnTo>
                <a:lnTo>
                  <a:pt x="692691" y="275344"/>
                </a:lnTo>
                <a:lnTo>
                  <a:pt x="696468" y="323088"/>
                </a:lnTo>
                <a:lnTo>
                  <a:pt x="692691" y="370831"/>
                </a:lnTo>
                <a:lnTo>
                  <a:pt x="681720" y="416399"/>
                </a:lnTo>
                <a:lnTo>
                  <a:pt x="664094" y="459293"/>
                </a:lnTo>
                <a:lnTo>
                  <a:pt x="640353" y="499012"/>
                </a:lnTo>
                <a:lnTo>
                  <a:pt x="611036" y="535056"/>
                </a:lnTo>
                <a:lnTo>
                  <a:pt x="576682" y="566927"/>
                </a:lnTo>
                <a:lnTo>
                  <a:pt x="537830" y="594124"/>
                </a:lnTo>
                <a:lnTo>
                  <a:pt x="495020" y="616147"/>
                </a:lnTo>
                <a:lnTo>
                  <a:pt x="448791" y="632496"/>
                </a:lnTo>
                <a:lnTo>
                  <a:pt x="399683" y="642672"/>
                </a:lnTo>
                <a:lnTo>
                  <a:pt x="348234" y="646175"/>
                </a:lnTo>
                <a:lnTo>
                  <a:pt x="296784" y="642672"/>
                </a:lnTo>
                <a:lnTo>
                  <a:pt x="247676" y="632496"/>
                </a:lnTo>
                <a:lnTo>
                  <a:pt x="201447" y="616147"/>
                </a:lnTo>
                <a:lnTo>
                  <a:pt x="158637" y="594124"/>
                </a:lnTo>
                <a:lnTo>
                  <a:pt x="119785" y="566927"/>
                </a:lnTo>
                <a:lnTo>
                  <a:pt x="85431" y="535056"/>
                </a:lnTo>
                <a:lnTo>
                  <a:pt x="56114" y="499012"/>
                </a:lnTo>
                <a:lnTo>
                  <a:pt x="32373" y="459293"/>
                </a:lnTo>
                <a:lnTo>
                  <a:pt x="14747" y="416399"/>
                </a:lnTo>
                <a:lnTo>
                  <a:pt x="3776" y="370831"/>
                </a:lnTo>
                <a:lnTo>
                  <a:pt x="0" y="32308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667761" y="5502046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83158" y="4699253"/>
            <a:ext cx="693420" cy="647700"/>
          </a:xfrm>
          <a:custGeom>
            <a:avLst/>
            <a:gdLst/>
            <a:ahLst/>
            <a:cxnLst/>
            <a:rect l="l" t="t" r="r" b="b"/>
            <a:pathLst>
              <a:path w="693419" h="647700">
                <a:moveTo>
                  <a:pt x="346709" y="0"/>
                </a:moveTo>
                <a:lnTo>
                  <a:pt x="295476" y="3512"/>
                </a:lnTo>
                <a:lnTo>
                  <a:pt x="246577" y="13714"/>
                </a:lnTo>
                <a:lnTo>
                  <a:pt x="200547" y="30106"/>
                </a:lnTo>
                <a:lnTo>
                  <a:pt x="157924" y="52184"/>
                </a:lnTo>
                <a:lnTo>
                  <a:pt x="119244" y="79448"/>
                </a:lnTo>
                <a:lnTo>
                  <a:pt x="85043" y="111397"/>
                </a:lnTo>
                <a:lnTo>
                  <a:pt x="55858" y="147528"/>
                </a:lnTo>
                <a:lnTo>
                  <a:pt x="32224" y="187340"/>
                </a:lnTo>
                <a:lnTo>
                  <a:pt x="14679" y="230332"/>
                </a:lnTo>
                <a:lnTo>
                  <a:pt x="3759" y="276003"/>
                </a:lnTo>
                <a:lnTo>
                  <a:pt x="0" y="323850"/>
                </a:lnTo>
                <a:lnTo>
                  <a:pt x="3759" y="371696"/>
                </a:lnTo>
                <a:lnTo>
                  <a:pt x="14679" y="417367"/>
                </a:lnTo>
                <a:lnTo>
                  <a:pt x="32224" y="460359"/>
                </a:lnTo>
                <a:lnTo>
                  <a:pt x="55858" y="500171"/>
                </a:lnTo>
                <a:lnTo>
                  <a:pt x="85043" y="536302"/>
                </a:lnTo>
                <a:lnTo>
                  <a:pt x="119244" y="568251"/>
                </a:lnTo>
                <a:lnTo>
                  <a:pt x="157924" y="595515"/>
                </a:lnTo>
                <a:lnTo>
                  <a:pt x="200547" y="617593"/>
                </a:lnTo>
                <a:lnTo>
                  <a:pt x="246577" y="633985"/>
                </a:lnTo>
                <a:lnTo>
                  <a:pt x="295476" y="644187"/>
                </a:lnTo>
                <a:lnTo>
                  <a:pt x="346709" y="647700"/>
                </a:lnTo>
                <a:lnTo>
                  <a:pt x="397951" y="644187"/>
                </a:lnTo>
                <a:lnTo>
                  <a:pt x="446856" y="633985"/>
                </a:lnTo>
                <a:lnTo>
                  <a:pt x="492888" y="617593"/>
                </a:lnTo>
                <a:lnTo>
                  <a:pt x="535511" y="595515"/>
                </a:lnTo>
                <a:lnTo>
                  <a:pt x="574190" y="568251"/>
                </a:lnTo>
                <a:lnTo>
                  <a:pt x="608389" y="536302"/>
                </a:lnTo>
                <a:lnTo>
                  <a:pt x="637571" y="500171"/>
                </a:lnTo>
                <a:lnTo>
                  <a:pt x="661201" y="460359"/>
                </a:lnTo>
                <a:lnTo>
                  <a:pt x="678743" y="417367"/>
                </a:lnTo>
                <a:lnTo>
                  <a:pt x="689661" y="371696"/>
                </a:lnTo>
                <a:lnTo>
                  <a:pt x="693419" y="323850"/>
                </a:lnTo>
                <a:lnTo>
                  <a:pt x="689661" y="276003"/>
                </a:lnTo>
                <a:lnTo>
                  <a:pt x="678743" y="230332"/>
                </a:lnTo>
                <a:lnTo>
                  <a:pt x="661201" y="187340"/>
                </a:lnTo>
                <a:lnTo>
                  <a:pt x="637571" y="147528"/>
                </a:lnTo>
                <a:lnTo>
                  <a:pt x="608389" y="111397"/>
                </a:lnTo>
                <a:lnTo>
                  <a:pt x="574190" y="79448"/>
                </a:lnTo>
                <a:lnTo>
                  <a:pt x="535511" y="52184"/>
                </a:lnTo>
                <a:lnTo>
                  <a:pt x="492888" y="30106"/>
                </a:lnTo>
                <a:lnTo>
                  <a:pt x="446856" y="13714"/>
                </a:lnTo>
                <a:lnTo>
                  <a:pt x="397951" y="3512"/>
                </a:lnTo>
                <a:lnTo>
                  <a:pt x="34670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83158" y="4699253"/>
            <a:ext cx="693420" cy="647700"/>
          </a:xfrm>
          <a:custGeom>
            <a:avLst/>
            <a:gdLst/>
            <a:ahLst/>
            <a:cxnLst/>
            <a:rect l="l" t="t" r="r" b="b"/>
            <a:pathLst>
              <a:path w="693419" h="647700">
                <a:moveTo>
                  <a:pt x="0" y="323850"/>
                </a:moveTo>
                <a:lnTo>
                  <a:pt x="3759" y="276003"/>
                </a:lnTo>
                <a:lnTo>
                  <a:pt x="14679" y="230332"/>
                </a:lnTo>
                <a:lnTo>
                  <a:pt x="32224" y="187340"/>
                </a:lnTo>
                <a:lnTo>
                  <a:pt x="55858" y="147528"/>
                </a:lnTo>
                <a:lnTo>
                  <a:pt x="85043" y="111397"/>
                </a:lnTo>
                <a:lnTo>
                  <a:pt x="119244" y="79448"/>
                </a:lnTo>
                <a:lnTo>
                  <a:pt x="157924" y="52184"/>
                </a:lnTo>
                <a:lnTo>
                  <a:pt x="200547" y="30106"/>
                </a:lnTo>
                <a:lnTo>
                  <a:pt x="246577" y="13714"/>
                </a:lnTo>
                <a:lnTo>
                  <a:pt x="295476" y="3512"/>
                </a:lnTo>
                <a:lnTo>
                  <a:pt x="346709" y="0"/>
                </a:lnTo>
                <a:lnTo>
                  <a:pt x="397951" y="3512"/>
                </a:lnTo>
                <a:lnTo>
                  <a:pt x="446856" y="13714"/>
                </a:lnTo>
                <a:lnTo>
                  <a:pt x="492888" y="30106"/>
                </a:lnTo>
                <a:lnTo>
                  <a:pt x="535511" y="52184"/>
                </a:lnTo>
                <a:lnTo>
                  <a:pt x="574190" y="79448"/>
                </a:lnTo>
                <a:lnTo>
                  <a:pt x="608389" y="111397"/>
                </a:lnTo>
                <a:lnTo>
                  <a:pt x="637571" y="147528"/>
                </a:lnTo>
                <a:lnTo>
                  <a:pt x="661201" y="187340"/>
                </a:lnTo>
                <a:lnTo>
                  <a:pt x="678743" y="230332"/>
                </a:lnTo>
                <a:lnTo>
                  <a:pt x="689661" y="276003"/>
                </a:lnTo>
                <a:lnTo>
                  <a:pt x="693419" y="323850"/>
                </a:lnTo>
                <a:lnTo>
                  <a:pt x="689661" y="371696"/>
                </a:lnTo>
                <a:lnTo>
                  <a:pt x="678743" y="417367"/>
                </a:lnTo>
                <a:lnTo>
                  <a:pt x="661201" y="460359"/>
                </a:lnTo>
                <a:lnTo>
                  <a:pt x="637571" y="500171"/>
                </a:lnTo>
                <a:lnTo>
                  <a:pt x="608389" y="536302"/>
                </a:lnTo>
                <a:lnTo>
                  <a:pt x="574190" y="568251"/>
                </a:lnTo>
                <a:lnTo>
                  <a:pt x="535511" y="595515"/>
                </a:lnTo>
                <a:lnTo>
                  <a:pt x="492888" y="617593"/>
                </a:lnTo>
                <a:lnTo>
                  <a:pt x="446856" y="633985"/>
                </a:lnTo>
                <a:lnTo>
                  <a:pt x="397951" y="644187"/>
                </a:lnTo>
                <a:lnTo>
                  <a:pt x="346709" y="647700"/>
                </a:lnTo>
                <a:lnTo>
                  <a:pt x="295476" y="644187"/>
                </a:lnTo>
                <a:lnTo>
                  <a:pt x="246577" y="633985"/>
                </a:lnTo>
                <a:lnTo>
                  <a:pt x="200547" y="617593"/>
                </a:lnTo>
                <a:lnTo>
                  <a:pt x="157924" y="595515"/>
                </a:lnTo>
                <a:lnTo>
                  <a:pt x="119244" y="568251"/>
                </a:lnTo>
                <a:lnTo>
                  <a:pt x="85043" y="536302"/>
                </a:lnTo>
                <a:lnTo>
                  <a:pt x="55858" y="500171"/>
                </a:lnTo>
                <a:lnTo>
                  <a:pt x="32224" y="460359"/>
                </a:lnTo>
                <a:lnTo>
                  <a:pt x="14679" y="417367"/>
                </a:lnTo>
                <a:lnTo>
                  <a:pt x="3759" y="371696"/>
                </a:lnTo>
                <a:lnTo>
                  <a:pt x="0" y="32385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32128" y="4770247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952494" y="4699253"/>
            <a:ext cx="696595" cy="647700"/>
          </a:xfrm>
          <a:custGeom>
            <a:avLst/>
            <a:gdLst/>
            <a:ahLst/>
            <a:cxnLst/>
            <a:rect l="l" t="t" r="r" b="b"/>
            <a:pathLst>
              <a:path w="696595" h="647700">
                <a:moveTo>
                  <a:pt x="0" y="323850"/>
                </a:moveTo>
                <a:lnTo>
                  <a:pt x="3776" y="276003"/>
                </a:lnTo>
                <a:lnTo>
                  <a:pt x="14747" y="230332"/>
                </a:lnTo>
                <a:lnTo>
                  <a:pt x="32373" y="187340"/>
                </a:lnTo>
                <a:lnTo>
                  <a:pt x="56114" y="147528"/>
                </a:lnTo>
                <a:lnTo>
                  <a:pt x="85431" y="111397"/>
                </a:lnTo>
                <a:lnTo>
                  <a:pt x="119785" y="79448"/>
                </a:lnTo>
                <a:lnTo>
                  <a:pt x="158637" y="52184"/>
                </a:lnTo>
                <a:lnTo>
                  <a:pt x="201447" y="30106"/>
                </a:lnTo>
                <a:lnTo>
                  <a:pt x="247676" y="13714"/>
                </a:lnTo>
                <a:lnTo>
                  <a:pt x="296784" y="3512"/>
                </a:lnTo>
                <a:lnTo>
                  <a:pt x="348233" y="0"/>
                </a:lnTo>
                <a:lnTo>
                  <a:pt x="399683" y="3512"/>
                </a:lnTo>
                <a:lnTo>
                  <a:pt x="448791" y="13714"/>
                </a:lnTo>
                <a:lnTo>
                  <a:pt x="495020" y="30106"/>
                </a:lnTo>
                <a:lnTo>
                  <a:pt x="537830" y="52184"/>
                </a:lnTo>
                <a:lnTo>
                  <a:pt x="576682" y="79448"/>
                </a:lnTo>
                <a:lnTo>
                  <a:pt x="611036" y="111397"/>
                </a:lnTo>
                <a:lnTo>
                  <a:pt x="640353" y="147528"/>
                </a:lnTo>
                <a:lnTo>
                  <a:pt x="664094" y="187340"/>
                </a:lnTo>
                <a:lnTo>
                  <a:pt x="681720" y="230332"/>
                </a:lnTo>
                <a:lnTo>
                  <a:pt x="692691" y="276003"/>
                </a:lnTo>
                <a:lnTo>
                  <a:pt x="696467" y="323850"/>
                </a:lnTo>
                <a:lnTo>
                  <a:pt x="692691" y="371696"/>
                </a:lnTo>
                <a:lnTo>
                  <a:pt x="681720" y="417367"/>
                </a:lnTo>
                <a:lnTo>
                  <a:pt x="664094" y="460359"/>
                </a:lnTo>
                <a:lnTo>
                  <a:pt x="640353" y="500171"/>
                </a:lnTo>
                <a:lnTo>
                  <a:pt x="611036" y="536302"/>
                </a:lnTo>
                <a:lnTo>
                  <a:pt x="576682" y="568251"/>
                </a:lnTo>
                <a:lnTo>
                  <a:pt x="537830" y="595515"/>
                </a:lnTo>
                <a:lnTo>
                  <a:pt x="495020" y="617593"/>
                </a:lnTo>
                <a:lnTo>
                  <a:pt x="448791" y="633985"/>
                </a:lnTo>
                <a:lnTo>
                  <a:pt x="399683" y="644187"/>
                </a:lnTo>
                <a:lnTo>
                  <a:pt x="348233" y="647700"/>
                </a:lnTo>
                <a:lnTo>
                  <a:pt x="296784" y="644187"/>
                </a:lnTo>
                <a:lnTo>
                  <a:pt x="247676" y="633985"/>
                </a:lnTo>
                <a:lnTo>
                  <a:pt x="201447" y="617593"/>
                </a:lnTo>
                <a:lnTo>
                  <a:pt x="158637" y="595515"/>
                </a:lnTo>
                <a:lnTo>
                  <a:pt x="119785" y="568251"/>
                </a:lnTo>
                <a:lnTo>
                  <a:pt x="85431" y="536302"/>
                </a:lnTo>
                <a:lnTo>
                  <a:pt x="56114" y="500171"/>
                </a:lnTo>
                <a:lnTo>
                  <a:pt x="32373" y="460359"/>
                </a:lnTo>
                <a:lnTo>
                  <a:pt x="14747" y="417367"/>
                </a:lnTo>
                <a:lnTo>
                  <a:pt x="3776" y="371696"/>
                </a:lnTo>
                <a:lnTo>
                  <a:pt x="0" y="32385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113403" y="4770247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673095" y="2382773"/>
            <a:ext cx="114300" cy="485140"/>
          </a:xfrm>
          <a:custGeom>
            <a:avLst/>
            <a:gdLst/>
            <a:ahLst/>
            <a:cxnLst/>
            <a:rect l="l" t="t" r="r" b="b"/>
            <a:pathLst>
              <a:path w="114300" h="485139">
                <a:moveTo>
                  <a:pt x="38100" y="370331"/>
                </a:moveTo>
                <a:lnTo>
                  <a:pt x="0" y="370331"/>
                </a:lnTo>
                <a:lnTo>
                  <a:pt x="57150" y="484631"/>
                </a:lnTo>
                <a:lnTo>
                  <a:pt x="104775" y="389381"/>
                </a:lnTo>
                <a:lnTo>
                  <a:pt x="38100" y="389381"/>
                </a:lnTo>
                <a:lnTo>
                  <a:pt x="38100" y="370331"/>
                </a:lnTo>
                <a:close/>
              </a:path>
              <a:path w="114300" h="485139">
                <a:moveTo>
                  <a:pt x="76200" y="0"/>
                </a:moveTo>
                <a:lnTo>
                  <a:pt x="38100" y="0"/>
                </a:lnTo>
                <a:lnTo>
                  <a:pt x="38100" y="389381"/>
                </a:lnTo>
                <a:lnTo>
                  <a:pt x="76200" y="389381"/>
                </a:lnTo>
                <a:lnTo>
                  <a:pt x="76200" y="0"/>
                </a:lnTo>
                <a:close/>
              </a:path>
              <a:path w="114300" h="485139">
                <a:moveTo>
                  <a:pt x="114300" y="370331"/>
                </a:moveTo>
                <a:lnTo>
                  <a:pt x="76200" y="370331"/>
                </a:lnTo>
                <a:lnTo>
                  <a:pt x="76200" y="389381"/>
                </a:lnTo>
                <a:lnTo>
                  <a:pt x="104775" y="389381"/>
                </a:lnTo>
                <a:lnTo>
                  <a:pt x="114300" y="37033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702051" y="3484626"/>
            <a:ext cx="114300" cy="487680"/>
          </a:xfrm>
          <a:custGeom>
            <a:avLst/>
            <a:gdLst/>
            <a:ahLst/>
            <a:cxnLst/>
            <a:rect l="l" t="t" r="r" b="b"/>
            <a:pathLst>
              <a:path w="114300" h="487679">
                <a:moveTo>
                  <a:pt x="38100" y="373380"/>
                </a:moveTo>
                <a:lnTo>
                  <a:pt x="0" y="373380"/>
                </a:lnTo>
                <a:lnTo>
                  <a:pt x="57150" y="487680"/>
                </a:lnTo>
                <a:lnTo>
                  <a:pt x="104775" y="392430"/>
                </a:lnTo>
                <a:lnTo>
                  <a:pt x="38100" y="392430"/>
                </a:lnTo>
                <a:lnTo>
                  <a:pt x="38100" y="373380"/>
                </a:lnTo>
                <a:close/>
              </a:path>
              <a:path w="114300" h="487679">
                <a:moveTo>
                  <a:pt x="76200" y="0"/>
                </a:moveTo>
                <a:lnTo>
                  <a:pt x="38100" y="0"/>
                </a:lnTo>
                <a:lnTo>
                  <a:pt x="38100" y="392430"/>
                </a:lnTo>
                <a:lnTo>
                  <a:pt x="76200" y="392430"/>
                </a:lnTo>
                <a:lnTo>
                  <a:pt x="76200" y="0"/>
                </a:lnTo>
                <a:close/>
              </a:path>
              <a:path w="114300" h="487679">
                <a:moveTo>
                  <a:pt x="114300" y="373380"/>
                </a:moveTo>
                <a:lnTo>
                  <a:pt x="76200" y="373380"/>
                </a:lnTo>
                <a:lnTo>
                  <a:pt x="76200" y="392430"/>
                </a:lnTo>
                <a:lnTo>
                  <a:pt x="104775" y="392430"/>
                </a:lnTo>
                <a:lnTo>
                  <a:pt x="114300" y="37338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091433" y="3224022"/>
            <a:ext cx="620395" cy="349250"/>
          </a:xfrm>
          <a:custGeom>
            <a:avLst/>
            <a:gdLst/>
            <a:ahLst/>
            <a:cxnLst/>
            <a:rect l="l" t="t" r="r" b="b"/>
            <a:pathLst>
              <a:path w="620395" h="349250">
                <a:moveTo>
                  <a:pt x="510669" y="311180"/>
                </a:moveTo>
                <a:lnTo>
                  <a:pt x="492506" y="344550"/>
                </a:lnTo>
                <a:lnTo>
                  <a:pt x="620268" y="348995"/>
                </a:lnTo>
                <a:lnTo>
                  <a:pt x="600228" y="320293"/>
                </a:lnTo>
                <a:lnTo>
                  <a:pt x="527431" y="320293"/>
                </a:lnTo>
                <a:lnTo>
                  <a:pt x="510669" y="311180"/>
                </a:lnTo>
                <a:close/>
              </a:path>
              <a:path w="620395" h="349250">
                <a:moveTo>
                  <a:pt x="528927" y="277636"/>
                </a:moveTo>
                <a:lnTo>
                  <a:pt x="510669" y="311180"/>
                </a:lnTo>
                <a:lnTo>
                  <a:pt x="527431" y="320293"/>
                </a:lnTo>
                <a:lnTo>
                  <a:pt x="545719" y="286765"/>
                </a:lnTo>
                <a:lnTo>
                  <a:pt x="528927" y="277636"/>
                </a:lnTo>
                <a:close/>
              </a:path>
              <a:path w="620395" h="349250">
                <a:moveTo>
                  <a:pt x="547116" y="244220"/>
                </a:moveTo>
                <a:lnTo>
                  <a:pt x="528927" y="277636"/>
                </a:lnTo>
                <a:lnTo>
                  <a:pt x="545719" y="286765"/>
                </a:lnTo>
                <a:lnTo>
                  <a:pt x="527431" y="320293"/>
                </a:lnTo>
                <a:lnTo>
                  <a:pt x="600228" y="320293"/>
                </a:lnTo>
                <a:lnTo>
                  <a:pt x="547116" y="244220"/>
                </a:lnTo>
                <a:close/>
              </a:path>
              <a:path w="620395" h="349250">
                <a:moveTo>
                  <a:pt x="18288" y="0"/>
                </a:moveTo>
                <a:lnTo>
                  <a:pt x="0" y="33527"/>
                </a:lnTo>
                <a:lnTo>
                  <a:pt x="510669" y="311180"/>
                </a:lnTo>
                <a:lnTo>
                  <a:pt x="528927" y="277636"/>
                </a:lnTo>
                <a:lnTo>
                  <a:pt x="1828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100577" y="3955034"/>
            <a:ext cx="518795" cy="262255"/>
          </a:xfrm>
          <a:custGeom>
            <a:avLst/>
            <a:gdLst/>
            <a:ahLst/>
            <a:cxnLst/>
            <a:rect l="l" t="t" r="r" b="b"/>
            <a:pathLst>
              <a:path w="518795" h="262254">
                <a:moveTo>
                  <a:pt x="78740" y="159004"/>
                </a:moveTo>
                <a:lnTo>
                  <a:pt x="0" y="259588"/>
                </a:lnTo>
                <a:lnTo>
                  <a:pt x="127762" y="262255"/>
                </a:lnTo>
                <a:lnTo>
                  <a:pt x="115280" y="235966"/>
                </a:lnTo>
                <a:lnTo>
                  <a:pt x="94234" y="235966"/>
                </a:lnTo>
                <a:lnTo>
                  <a:pt x="77851" y="201549"/>
                </a:lnTo>
                <a:lnTo>
                  <a:pt x="95060" y="193379"/>
                </a:lnTo>
                <a:lnTo>
                  <a:pt x="78740" y="159004"/>
                </a:lnTo>
                <a:close/>
              </a:path>
              <a:path w="518795" h="262254">
                <a:moveTo>
                  <a:pt x="95060" y="193379"/>
                </a:moveTo>
                <a:lnTo>
                  <a:pt x="77851" y="201549"/>
                </a:lnTo>
                <a:lnTo>
                  <a:pt x="94234" y="235966"/>
                </a:lnTo>
                <a:lnTo>
                  <a:pt x="111410" y="227814"/>
                </a:lnTo>
                <a:lnTo>
                  <a:pt x="95060" y="193379"/>
                </a:lnTo>
                <a:close/>
              </a:path>
              <a:path w="518795" h="262254">
                <a:moveTo>
                  <a:pt x="111410" y="227814"/>
                </a:moveTo>
                <a:lnTo>
                  <a:pt x="94234" y="235966"/>
                </a:lnTo>
                <a:lnTo>
                  <a:pt x="115280" y="235966"/>
                </a:lnTo>
                <a:lnTo>
                  <a:pt x="111410" y="227814"/>
                </a:lnTo>
                <a:close/>
              </a:path>
              <a:path w="518795" h="262254">
                <a:moveTo>
                  <a:pt x="502412" y="0"/>
                </a:moveTo>
                <a:lnTo>
                  <a:pt x="95060" y="193379"/>
                </a:lnTo>
                <a:lnTo>
                  <a:pt x="111410" y="227814"/>
                </a:lnTo>
                <a:lnTo>
                  <a:pt x="518668" y="34544"/>
                </a:lnTo>
                <a:lnTo>
                  <a:pt x="5024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091179" y="4441952"/>
            <a:ext cx="861694" cy="502920"/>
          </a:xfrm>
          <a:custGeom>
            <a:avLst/>
            <a:gdLst/>
            <a:ahLst/>
            <a:cxnLst/>
            <a:rect l="l" t="t" r="r" b="b"/>
            <a:pathLst>
              <a:path w="861695" h="502920">
                <a:moveTo>
                  <a:pt x="752545" y="462601"/>
                </a:moveTo>
                <a:lnTo>
                  <a:pt x="733679" y="495681"/>
                </a:lnTo>
                <a:lnTo>
                  <a:pt x="861314" y="502666"/>
                </a:lnTo>
                <a:lnTo>
                  <a:pt x="840872" y="472059"/>
                </a:lnTo>
                <a:lnTo>
                  <a:pt x="769111" y="472059"/>
                </a:lnTo>
                <a:lnTo>
                  <a:pt x="752545" y="462601"/>
                </a:lnTo>
                <a:close/>
              </a:path>
              <a:path w="861695" h="502920">
                <a:moveTo>
                  <a:pt x="771452" y="429450"/>
                </a:moveTo>
                <a:lnTo>
                  <a:pt x="752545" y="462601"/>
                </a:lnTo>
                <a:lnTo>
                  <a:pt x="769111" y="472059"/>
                </a:lnTo>
                <a:lnTo>
                  <a:pt x="788034" y="438912"/>
                </a:lnTo>
                <a:lnTo>
                  <a:pt x="771452" y="429450"/>
                </a:lnTo>
                <a:close/>
              </a:path>
              <a:path w="861695" h="502920">
                <a:moveTo>
                  <a:pt x="790320" y="396367"/>
                </a:moveTo>
                <a:lnTo>
                  <a:pt x="771452" y="429450"/>
                </a:lnTo>
                <a:lnTo>
                  <a:pt x="788034" y="438912"/>
                </a:lnTo>
                <a:lnTo>
                  <a:pt x="769111" y="472059"/>
                </a:lnTo>
                <a:lnTo>
                  <a:pt x="840872" y="472059"/>
                </a:lnTo>
                <a:lnTo>
                  <a:pt x="790320" y="396367"/>
                </a:lnTo>
                <a:close/>
              </a:path>
              <a:path w="861695" h="502920">
                <a:moveTo>
                  <a:pt x="18795" y="0"/>
                </a:moveTo>
                <a:lnTo>
                  <a:pt x="0" y="33020"/>
                </a:lnTo>
                <a:lnTo>
                  <a:pt x="752545" y="462601"/>
                </a:lnTo>
                <a:lnTo>
                  <a:pt x="771452" y="429450"/>
                </a:lnTo>
                <a:lnTo>
                  <a:pt x="1879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564386" y="4441952"/>
            <a:ext cx="862965" cy="502920"/>
          </a:xfrm>
          <a:custGeom>
            <a:avLst/>
            <a:gdLst/>
            <a:ahLst/>
            <a:cxnLst/>
            <a:rect l="l" t="t" r="r" b="b"/>
            <a:pathLst>
              <a:path w="862964" h="502920">
                <a:moveTo>
                  <a:pt x="70993" y="396494"/>
                </a:moveTo>
                <a:lnTo>
                  <a:pt x="0" y="502666"/>
                </a:lnTo>
                <a:lnTo>
                  <a:pt x="127634" y="495808"/>
                </a:lnTo>
                <a:lnTo>
                  <a:pt x="114090" y="472059"/>
                </a:lnTo>
                <a:lnTo>
                  <a:pt x="92201" y="472059"/>
                </a:lnTo>
                <a:lnTo>
                  <a:pt x="73278" y="438912"/>
                </a:lnTo>
                <a:lnTo>
                  <a:pt x="89814" y="429495"/>
                </a:lnTo>
                <a:lnTo>
                  <a:pt x="70993" y="396494"/>
                </a:lnTo>
                <a:close/>
              </a:path>
              <a:path w="862964" h="502920">
                <a:moveTo>
                  <a:pt x="89814" y="429495"/>
                </a:moveTo>
                <a:lnTo>
                  <a:pt x="73278" y="438912"/>
                </a:lnTo>
                <a:lnTo>
                  <a:pt x="92201" y="472059"/>
                </a:lnTo>
                <a:lnTo>
                  <a:pt x="108722" y="462647"/>
                </a:lnTo>
                <a:lnTo>
                  <a:pt x="89814" y="429495"/>
                </a:lnTo>
                <a:close/>
              </a:path>
              <a:path w="862964" h="502920">
                <a:moveTo>
                  <a:pt x="108722" y="462647"/>
                </a:moveTo>
                <a:lnTo>
                  <a:pt x="92201" y="472059"/>
                </a:lnTo>
                <a:lnTo>
                  <a:pt x="114090" y="472059"/>
                </a:lnTo>
                <a:lnTo>
                  <a:pt x="108722" y="462647"/>
                </a:lnTo>
                <a:close/>
              </a:path>
              <a:path w="862964" h="502920">
                <a:moveTo>
                  <a:pt x="844041" y="0"/>
                </a:moveTo>
                <a:lnTo>
                  <a:pt x="89814" y="429495"/>
                </a:lnTo>
                <a:lnTo>
                  <a:pt x="108722" y="462647"/>
                </a:lnTo>
                <a:lnTo>
                  <a:pt x="862838" y="33020"/>
                </a:lnTo>
                <a:lnTo>
                  <a:pt x="84404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34338" y="5239765"/>
            <a:ext cx="1033780" cy="506730"/>
          </a:xfrm>
          <a:custGeom>
            <a:avLst/>
            <a:gdLst/>
            <a:ahLst/>
            <a:cxnLst/>
            <a:rect l="l" t="t" r="r" b="b"/>
            <a:pathLst>
              <a:path w="1033780" h="506729">
                <a:moveTo>
                  <a:pt x="922317" y="471678"/>
                </a:moveTo>
                <a:lnTo>
                  <a:pt x="906018" y="506107"/>
                </a:lnTo>
                <a:lnTo>
                  <a:pt x="1033780" y="503428"/>
                </a:lnTo>
                <a:lnTo>
                  <a:pt x="1015290" y="479844"/>
                </a:lnTo>
                <a:lnTo>
                  <a:pt x="939545" y="479844"/>
                </a:lnTo>
                <a:lnTo>
                  <a:pt x="922317" y="471678"/>
                </a:lnTo>
                <a:close/>
              </a:path>
              <a:path w="1033780" h="506729">
                <a:moveTo>
                  <a:pt x="938633" y="437216"/>
                </a:moveTo>
                <a:lnTo>
                  <a:pt x="922317" y="471678"/>
                </a:lnTo>
                <a:lnTo>
                  <a:pt x="939545" y="479844"/>
                </a:lnTo>
                <a:lnTo>
                  <a:pt x="955929" y="445414"/>
                </a:lnTo>
                <a:lnTo>
                  <a:pt x="938633" y="437216"/>
                </a:lnTo>
                <a:close/>
              </a:path>
              <a:path w="1033780" h="506729">
                <a:moveTo>
                  <a:pt x="954913" y="402831"/>
                </a:moveTo>
                <a:lnTo>
                  <a:pt x="938633" y="437216"/>
                </a:lnTo>
                <a:lnTo>
                  <a:pt x="955929" y="445414"/>
                </a:lnTo>
                <a:lnTo>
                  <a:pt x="939545" y="479844"/>
                </a:lnTo>
                <a:lnTo>
                  <a:pt x="1015290" y="479844"/>
                </a:lnTo>
                <a:lnTo>
                  <a:pt x="954913" y="402831"/>
                </a:lnTo>
                <a:close/>
              </a:path>
              <a:path w="1033780" h="506729">
                <a:moveTo>
                  <a:pt x="16256" y="0"/>
                </a:moveTo>
                <a:lnTo>
                  <a:pt x="0" y="34544"/>
                </a:lnTo>
                <a:lnTo>
                  <a:pt x="922317" y="471678"/>
                </a:lnTo>
                <a:lnTo>
                  <a:pt x="938633" y="437216"/>
                </a:lnTo>
                <a:lnTo>
                  <a:pt x="1625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36269" y="4674108"/>
            <a:ext cx="342900" cy="190500"/>
          </a:xfrm>
          <a:custGeom>
            <a:avLst/>
            <a:gdLst/>
            <a:ahLst/>
            <a:cxnLst/>
            <a:rect l="l" t="t" r="r" b="b"/>
            <a:pathLst>
              <a:path w="342900" h="190500">
                <a:moveTo>
                  <a:pt x="228599" y="0"/>
                </a:moveTo>
                <a:lnTo>
                  <a:pt x="228599" y="190500"/>
                </a:lnTo>
                <a:lnTo>
                  <a:pt x="320039" y="114300"/>
                </a:lnTo>
                <a:lnTo>
                  <a:pt x="247649" y="114300"/>
                </a:lnTo>
                <a:lnTo>
                  <a:pt x="247649" y="76200"/>
                </a:lnTo>
                <a:lnTo>
                  <a:pt x="320039" y="76200"/>
                </a:lnTo>
                <a:lnTo>
                  <a:pt x="228599" y="0"/>
                </a:lnTo>
                <a:close/>
              </a:path>
              <a:path w="342900" h="190500">
                <a:moveTo>
                  <a:pt x="228599" y="76200"/>
                </a:moveTo>
                <a:lnTo>
                  <a:pt x="0" y="76200"/>
                </a:lnTo>
                <a:lnTo>
                  <a:pt x="0" y="114300"/>
                </a:lnTo>
                <a:lnTo>
                  <a:pt x="228599" y="114300"/>
                </a:lnTo>
                <a:lnTo>
                  <a:pt x="228599" y="76200"/>
                </a:lnTo>
                <a:close/>
              </a:path>
              <a:path w="342900" h="190500">
                <a:moveTo>
                  <a:pt x="320039" y="76200"/>
                </a:moveTo>
                <a:lnTo>
                  <a:pt x="247649" y="76200"/>
                </a:lnTo>
                <a:lnTo>
                  <a:pt x="247649" y="114300"/>
                </a:lnTo>
                <a:lnTo>
                  <a:pt x="320039" y="114300"/>
                </a:lnTo>
                <a:lnTo>
                  <a:pt x="342899" y="95250"/>
                </a:lnTo>
                <a:lnTo>
                  <a:pt x="320039" y="762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673095" y="4618482"/>
            <a:ext cx="114300" cy="814069"/>
          </a:xfrm>
          <a:custGeom>
            <a:avLst/>
            <a:gdLst/>
            <a:ahLst/>
            <a:cxnLst/>
            <a:rect l="l" t="t" r="r" b="b"/>
            <a:pathLst>
              <a:path w="114300" h="814070">
                <a:moveTo>
                  <a:pt x="76200" y="171450"/>
                </a:moveTo>
                <a:lnTo>
                  <a:pt x="38100" y="171450"/>
                </a:lnTo>
                <a:lnTo>
                  <a:pt x="38100" y="813816"/>
                </a:lnTo>
                <a:lnTo>
                  <a:pt x="76200" y="813816"/>
                </a:lnTo>
                <a:lnTo>
                  <a:pt x="76200" y="171450"/>
                </a:lnTo>
                <a:close/>
              </a:path>
              <a:path w="114300" h="814070">
                <a:moveTo>
                  <a:pt x="57150" y="0"/>
                </a:moveTo>
                <a:lnTo>
                  <a:pt x="0" y="190500"/>
                </a:lnTo>
                <a:lnTo>
                  <a:pt x="38100" y="190500"/>
                </a:lnTo>
                <a:lnTo>
                  <a:pt x="38100" y="171450"/>
                </a:lnTo>
                <a:lnTo>
                  <a:pt x="108585" y="171450"/>
                </a:lnTo>
                <a:lnTo>
                  <a:pt x="57150" y="0"/>
                </a:lnTo>
                <a:close/>
              </a:path>
              <a:path w="114300" h="814070">
                <a:moveTo>
                  <a:pt x="108585" y="171450"/>
                </a:moveTo>
                <a:lnTo>
                  <a:pt x="76200" y="171450"/>
                </a:lnTo>
                <a:lnTo>
                  <a:pt x="76200" y="190500"/>
                </a:lnTo>
                <a:lnTo>
                  <a:pt x="114300" y="190500"/>
                </a:lnTo>
                <a:lnTo>
                  <a:pt x="108585" y="1714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027301" y="14732"/>
            <a:ext cx="16852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1510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Ch8	</a:t>
            </a:r>
            <a:r>
              <a:rPr sz="20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</a:t>
            </a:r>
            <a:r>
              <a:rPr sz="2000" b="1" dirty="0">
                <a:solidFill>
                  <a:srgbClr val="A15100"/>
                </a:solidFill>
                <a:latin typeface="华文新魏"/>
                <a:cs typeface="华文新魏"/>
              </a:rPr>
              <a:t>优化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454277" y="3174873"/>
            <a:ext cx="978535" cy="1085850"/>
          </a:xfrm>
          <a:custGeom>
            <a:avLst/>
            <a:gdLst/>
            <a:ahLst/>
            <a:cxnLst/>
            <a:rect l="l" t="t" r="r" b="b"/>
            <a:pathLst>
              <a:path w="978535" h="1085850">
                <a:moveTo>
                  <a:pt x="740054" y="60720"/>
                </a:moveTo>
                <a:lnTo>
                  <a:pt x="619252" y="116077"/>
                </a:lnTo>
                <a:lnTo>
                  <a:pt x="500125" y="172974"/>
                </a:lnTo>
                <a:lnTo>
                  <a:pt x="424815" y="210692"/>
                </a:lnTo>
                <a:lnTo>
                  <a:pt x="388620" y="229488"/>
                </a:lnTo>
                <a:lnTo>
                  <a:pt x="353441" y="248157"/>
                </a:lnTo>
                <a:lnTo>
                  <a:pt x="319404" y="266953"/>
                </a:lnTo>
                <a:lnTo>
                  <a:pt x="255270" y="304164"/>
                </a:lnTo>
                <a:lnTo>
                  <a:pt x="196722" y="341249"/>
                </a:lnTo>
                <a:lnTo>
                  <a:pt x="144272" y="378332"/>
                </a:lnTo>
                <a:lnTo>
                  <a:pt x="98932" y="415163"/>
                </a:lnTo>
                <a:lnTo>
                  <a:pt x="60832" y="452119"/>
                </a:lnTo>
                <a:lnTo>
                  <a:pt x="31495" y="489076"/>
                </a:lnTo>
                <a:lnTo>
                  <a:pt x="10667" y="527431"/>
                </a:lnTo>
                <a:lnTo>
                  <a:pt x="634" y="566546"/>
                </a:lnTo>
                <a:lnTo>
                  <a:pt x="0" y="576199"/>
                </a:lnTo>
                <a:lnTo>
                  <a:pt x="0" y="586232"/>
                </a:lnTo>
                <a:lnTo>
                  <a:pt x="8128" y="624839"/>
                </a:lnTo>
                <a:lnTo>
                  <a:pt x="27431" y="661415"/>
                </a:lnTo>
                <a:lnTo>
                  <a:pt x="56260" y="695832"/>
                </a:lnTo>
                <a:lnTo>
                  <a:pt x="93344" y="728852"/>
                </a:lnTo>
                <a:lnTo>
                  <a:pt x="138303" y="760857"/>
                </a:lnTo>
                <a:lnTo>
                  <a:pt x="190372" y="791971"/>
                </a:lnTo>
                <a:lnTo>
                  <a:pt x="249047" y="822706"/>
                </a:lnTo>
                <a:lnTo>
                  <a:pt x="313690" y="852932"/>
                </a:lnTo>
                <a:lnTo>
                  <a:pt x="383666" y="882776"/>
                </a:lnTo>
                <a:lnTo>
                  <a:pt x="420370" y="897508"/>
                </a:lnTo>
                <a:lnTo>
                  <a:pt x="458216" y="912240"/>
                </a:lnTo>
                <a:lnTo>
                  <a:pt x="496950" y="926845"/>
                </a:lnTo>
                <a:lnTo>
                  <a:pt x="577468" y="956056"/>
                </a:lnTo>
                <a:lnTo>
                  <a:pt x="703579" y="999363"/>
                </a:lnTo>
                <a:lnTo>
                  <a:pt x="966850" y="1085341"/>
                </a:lnTo>
                <a:lnTo>
                  <a:pt x="978535" y="1049020"/>
                </a:lnTo>
                <a:lnTo>
                  <a:pt x="715517" y="963168"/>
                </a:lnTo>
                <a:lnTo>
                  <a:pt x="631190" y="934465"/>
                </a:lnTo>
                <a:lnTo>
                  <a:pt x="549655" y="905637"/>
                </a:lnTo>
                <a:lnTo>
                  <a:pt x="471678" y="876553"/>
                </a:lnTo>
                <a:lnTo>
                  <a:pt x="434212" y="861949"/>
                </a:lnTo>
                <a:lnTo>
                  <a:pt x="397764" y="847344"/>
                </a:lnTo>
                <a:lnTo>
                  <a:pt x="328929" y="818007"/>
                </a:lnTo>
                <a:lnTo>
                  <a:pt x="265556" y="788288"/>
                </a:lnTo>
                <a:lnTo>
                  <a:pt x="208406" y="758444"/>
                </a:lnTo>
                <a:lnTo>
                  <a:pt x="158369" y="728471"/>
                </a:lnTo>
                <a:lnTo>
                  <a:pt x="116204" y="698372"/>
                </a:lnTo>
                <a:lnTo>
                  <a:pt x="82550" y="668274"/>
                </a:lnTo>
                <a:lnTo>
                  <a:pt x="53847" y="631825"/>
                </a:lnTo>
                <a:lnTo>
                  <a:pt x="38481" y="589660"/>
                </a:lnTo>
                <a:lnTo>
                  <a:pt x="38100" y="583057"/>
                </a:lnTo>
                <a:lnTo>
                  <a:pt x="38100" y="576199"/>
                </a:lnTo>
                <a:lnTo>
                  <a:pt x="49784" y="533145"/>
                </a:lnTo>
                <a:lnTo>
                  <a:pt x="75437" y="493649"/>
                </a:lnTo>
                <a:lnTo>
                  <a:pt x="106172" y="460247"/>
                </a:lnTo>
                <a:lnTo>
                  <a:pt x="145287" y="425830"/>
                </a:lnTo>
                <a:lnTo>
                  <a:pt x="192150" y="390651"/>
                </a:lnTo>
                <a:lnTo>
                  <a:pt x="245872" y="354838"/>
                </a:lnTo>
                <a:lnTo>
                  <a:pt x="306070" y="318388"/>
                </a:lnTo>
                <a:lnTo>
                  <a:pt x="371728" y="281559"/>
                </a:lnTo>
                <a:lnTo>
                  <a:pt x="442341" y="244475"/>
                </a:lnTo>
                <a:lnTo>
                  <a:pt x="517143" y="207137"/>
                </a:lnTo>
                <a:lnTo>
                  <a:pt x="555752" y="188340"/>
                </a:lnTo>
                <a:lnTo>
                  <a:pt x="635508" y="150622"/>
                </a:lnTo>
                <a:lnTo>
                  <a:pt x="755682" y="95492"/>
                </a:lnTo>
                <a:lnTo>
                  <a:pt x="740054" y="60720"/>
                </a:lnTo>
                <a:close/>
              </a:path>
              <a:path w="978535" h="1085850">
                <a:moveTo>
                  <a:pt x="860611" y="52831"/>
                </a:moveTo>
                <a:lnTo>
                  <a:pt x="757300" y="52831"/>
                </a:lnTo>
                <a:lnTo>
                  <a:pt x="773175" y="87502"/>
                </a:lnTo>
                <a:lnTo>
                  <a:pt x="755682" y="95492"/>
                </a:lnTo>
                <a:lnTo>
                  <a:pt x="771271" y="130175"/>
                </a:lnTo>
                <a:lnTo>
                  <a:pt x="860611" y="52831"/>
                </a:lnTo>
                <a:close/>
              </a:path>
              <a:path w="978535" h="1085850">
                <a:moveTo>
                  <a:pt x="757300" y="52831"/>
                </a:moveTo>
                <a:lnTo>
                  <a:pt x="740054" y="60720"/>
                </a:lnTo>
                <a:lnTo>
                  <a:pt x="755682" y="95492"/>
                </a:lnTo>
                <a:lnTo>
                  <a:pt x="773175" y="87502"/>
                </a:lnTo>
                <a:lnTo>
                  <a:pt x="757300" y="52831"/>
                </a:lnTo>
                <a:close/>
              </a:path>
              <a:path w="978535" h="1085850">
                <a:moveTo>
                  <a:pt x="921639" y="0"/>
                </a:moveTo>
                <a:lnTo>
                  <a:pt x="724408" y="25907"/>
                </a:lnTo>
                <a:lnTo>
                  <a:pt x="740054" y="60720"/>
                </a:lnTo>
                <a:lnTo>
                  <a:pt x="757300" y="52831"/>
                </a:lnTo>
                <a:lnTo>
                  <a:pt x="860611" y="52831"/>
                </a:lnTo>
                <a:lnTo>
                  <a:pt x="92163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426711" y="14732"/>
            <a:ext cx="3071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371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</a:t>
            </a:r>
            <a:r>
              <a:rPr sz="2000" b="1" u="sng" spc="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控制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流分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与循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查</a:t>
            </a:r>
            <a:r>
              <a:rPr sz="2000" b="1" u="sng" spc="-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找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52</a:t>
            </a:r>
            <a:r>
              <a:rPr sz="14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716" y="1039114"/>
            <a:ext cx="1834514" cy="756920"/>
          </a:xfrm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495300" indent="-483234">
              <a:lnSpc>
                <a:spcPct val="100000"/>
              </a:lnSpc>
              <a:spcBef>
                <a:spcPts val="1700"/>
              </a:spcBef>
              <a:buClr>
                <a:srgbClr val="66FFFF"/>
              </a:buClr>
              <a:buSzPct val="150000"/>
              <a:buFont typeface="Wingdings"/>
              <a:buChar char=""/>
              <a:tabLst>
                <a:tab pos="495934" algn="l"/>
              </a:tabLst>
            </a:pP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sz="3200" u="none" dirty="0">
                <a:solidFill>
                  <a:srgbClr val="FFFF00"/>
                </a:solidFill>
                <a:latin typeface="Times New Roman"/>
                <a:cs typeface="Times New Roman"/>
              </a:rPr>
              <a:t>8.3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67914" y="1241806"/>
            <a:ext cx="20688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(必经结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点</a:t>
            </a:r>
            <a:r>
              <a:rPr sz="3200" b="1" spc="-15" dirty="0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5423" y="1729714"/>
            <a:ext cx="8075930" cy="1928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609600">
              <a:lnSpc>
                <a:spcPct val="13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在程序流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图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150" b="1" spc="-7" baseline="-25132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150" b="1" spc="-15" baseline="-25132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为任意结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若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sz="32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sz="3150" b="1" spc="7" baseline="-25132" dirty="0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出发，到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达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150" b="1" spc="-7" baseline="-25132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任何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条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通路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都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必经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过 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150" b="1" spc="-7" baseline="-25132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则称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150" b="1" spc="-7" baseline="-25132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150" b="1" baseline="-25132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的必经结点，记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n</a:t>
            </a:r>
            <a:r>
              <a:rPr sz="3150" b="1" baseline="-25132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i</a:t>
            </a:r>
            <a:r>
              <a:rPr sz="3150" b="1" spc="-67" baseline="-25132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DOM</a:t>
            </a:r>
            <a:r>
              <a:rPr sz="3200" b="1" spc="-40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n</a:t>
            </a:r>
            <a:r>
              <a:rPr sz="3150" b="1" spc="-7" baseline="-25132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j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7098" y="554227"/>
            <a:ext cx="53352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heavy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必经结点、必经结点集与回边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8566" y="3905250"/>
            <a:ext cx="1835785" cy="756920"/>
          </a:xfrm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495300" indent="-483234">
              <a:lnSpc>
                <a:spcPct val="100000"/>
              </a:lnSpc>
              <a:spcBef>
                <a:spcPts val="1700"/>
              </a:spcBef>
              <a:buClr>
                <a:srgbClr val="66FFFF"/>
              </a:buClr>
              <a:buSzPct val="150000"/>
              <a:buFont typeface="Wingdings"/>
              <a:buChar char=""/>
              <a:tabLst>
                <a:tab pos="495934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sz="32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.4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37866" y="4107941"/>
            <a:ext cx="24771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(必经结点集</a:t>
            </a:r>
            <a:r>
              <a:rPr sz="3200" b="1" spc="-15" dirty="0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566" y="4595624"/>
            <a:ext cx="8324850" cy="1224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19785">
              <a:lnSpc>
                <a:spcPct val="1301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在程序流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图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spc="-10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n</a:t>
            </a:r>
            <a:r>
              <a:rPr sz="32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的</a:t>
            </a:r>
            <a:r>
              <a:rPr sz="3200" b="1" spc="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全</a:t>
            </a:r>
            <a:r>
              <a:rPr sz="32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部必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经</a:t>
            </a:r>
            <a:r>
              <a:rPr sz="32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结点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称为结点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必经结点集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sz="3200" b="1" spc="-5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D(n)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27301" y="14732"/>
            <a:ext cx="54705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1510" algn="l"/>
                <a:tab pos="2411730" algn="l"/>
                <a:tab pos="2913380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Ch8	</a:t>
            </a:r>
            <a:r>
              <a:rPr sz="20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</a:t>
            </a:r>
            <a:r>
              <a:rPr sz="2000" b="1" dirty="0">
                <a:solidFill>
                  <a:srgbClr val="A15100"/>
                </a:solidFill>
                <a:latin typeface="华文新魏"/>
                <a:cs typeface="华文新魏"/>
              </a:rPr>
              <a:t>优化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</a:t>
            </a:r>
            <a:r>
              <a:rPr sz="2000" b="1" u="sng" spc="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控制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流分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与循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查</a:t>
            </a:r>
            <a:r>
              <a:rPr sz="2000" b="1" u="sng" spc="-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找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5142" y="1134237"/>
            <a:ext cx="8131175" cy="4147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DOM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是流图结点集上</a:t>
            </a:r>
            <a:r>
              <a:rPr sz="3200" b="1" spc="-15" dirty="0">
                <a:solidFill>
                  <a:srgbClr val="FFFF00"/>
                </a:solidFill>
                <a:latin typeface="宋体"/>
                <a:cs typeface="宋体"/>
              </a:rPr>
              <a:t>一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个</a:t>
            </a:r>
            <a:r>
              <a:rPr sz="3200" b="1" dirty="0">
                <a:solidFill>
                  <a:srgbClr val="FFFF00"/>
                </a:solidFill>
                <a:highlight>
                  <a:srgbClr val="808000"/>
                </a:highlight>
                <a:latin typeface="宋体"/>
                <a:cs typeface="宋体"/>
              </a:rPr>
              <a:t>偏序</a:t>
            </a:r>
            <a:r>
              <a:rPr sz="3200" b="1" spc="-15" dirty="0">
                <a:solidFill>
                  <a:srgbClr val="FFFF00"/>
                </a:solidFill>
                <a:latin typeface="宋体"/>
                <a:cs typeface="宋体"/>
              </a:rPr>
              <a:t>关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系：</a:t>
            </a:r>
            <a:endParaRPr sz="3200" dirty="0">
              <a:latin typeface="宋体"/>
              <a:cs typeface="宋体"/>
            </a:endParaRPr>
          </a:p>
          <a:p>
            <a:pPr marL="1604010" lvl="1" indent="-779780">
              <a:lnSpc>
                <a:spcPct val="100000"/>
              </a:lnSpc>
              <a:spcBef>
                <a:spcPts val="2300"/>
              </a:spcBef>
              <a:buClr>
                <a:srgbClr val="FFFFFF"/>
              </a:buClr>
              <a:buFont typeface="Times New Roman"/>
              <a:buAutoNum type="arabicParenBoth"/>
              <a:tabLst>
                <a:tab pos="1604010" algn="l"/>
                <a:tab pos="1604645" algn="l"/>
              </a:tabLst>
            </a:pPr>
            <a:r>
              <a:rPr sz="3200" b="1" spc="-5" dirty="0">
                <a:solidFill>
                  <a:srgbClr val="99FFCC"/>
                </a:solidFill>
                <a:highlight>
                  <a:srgbClr val="808000"/>
                </a:highlight>
                <a:latin typeface="宋体"/>
                <a:cs typeface="宋体"/>
              </a:rPr>
              <a:t>自反</a:t>
            </a:r>
            <a:r>
              <a:rPr sz="3200" b="1" spc="-5" dirty="0">
                <a:solidFill>
                  <a:srgbClr val="99FFCC"/>
                </a:solidFill>
                <a:latin typeface="宋体"/>
                <a:cs typeface="宋体"/>
              </a:rPr>
              <a:t>性</a:t>
            </a:r>
            <a:r>
              <a:rPr sz="3200" b="1" spc="-10" dirty="0">
                <a:solidFill>
                  <a:srgbClr val="99FFCC"/>
                </a:solidFill>
                <a:latin typeface="宋体"/>
                <a:cs typeface="宋体"/>
              </a:rPr>
              <a:t>：</a:t>
            </a:r>
            <a:r>
              <a:rPr sz="3200" b="1" spc="-25" dirty="0">
                <a:solidFill>
                  <a:srgbClr val="99FFCC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DOM</a:t>
            </a:r>
            <a:r>
              <a:rPr sz="32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 dirty="0">
              <a:latin typeface="Times New Roman"/>
              <a:cs typeface="Times New Roman"/>
            </a:endParaRPr>
          </a:p>
          <a:p>
            <a:pPr marL="1638935" marR="231140" lvl="1" indent="-814705">
              <a:lnSpc>
                <a:spcPct val="130000"/>
              </a:lnSpc>
              <a:spcBef>
                <a:spcPts val="1350"/>
              </a:spcBef>
              <a:buClr>
                <a:srgbClr val="FFFFFF"/>
              </a:buClr>
              <a:buFont typeface="Times New Roman"/>
              <a:buAutoNum type="arabicParenBoth"/>
              <a:tabLst>
                <a:tab pos="1604010" algn="l"/>
                <a:tab pos="1604645" algn="l"/>
                <a:tab pos="4747895" algn="l"/>
              </a:tabLst>
            </a:pPr>
            <a:r>
              <a:rPr sz="3200" b="1" dirty="0">
                <a:solidFill>
                  <a:srgbClr val="99FFCC"/>
                </a:solidFill>
                <a:highlight>
                  <a:srgbClr val="808000"/>
                </a:highlight>
                <a:latin typeface="宋体"/>
                <a:cs typeface="宋体"/>
              </a:rPr>
              <a:t>传递</a:t>
            </a:r>
            <a:r>
              <a:rPr sz="3200" b="1" dirty="0">
                <a:solidFill>
                  <a:srgbClr val="99FFCC"/>
                </a:solidFill>
                <a:latin typeface="宋体"/>
                <a:cs typeface="宋体"/>
              </a:rPr>
              <a:t>性：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如果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DOM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b,</a:t>
            </a:r>
            <a:r>
              <a:rPr sz="32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DOM</a:t>
            </a:r>
            <a:r>
              <a:rPr sz="32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则有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sz="3200" b="1" spc="-82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DOM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c	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  <a:p>
            <a:pPr marL="1604010" lvl="1" indent="-779780">
              <a:lnSpc>
                <a:spcPct val="100000"/>
              </a:lnSpc>
              <a:spcBef>
                <a:spcPts val="2305"/>
              </a:spcBef>
              <a:buClr>
                <a:srgbClr val="FFFFFF"/>
              </a:buClr>
              <a:buFont typeface="Times New Roman"/>
              <a:buAutoNum type="arabicParenBoth"/>
              <a:tabLst>
                <a:tab pos="1604010" algn="l"/>
                <a:tab pos="1604645" algn="l"/>
              </a:tabLst>
            </a:pPr>
            <a:r>
              <a:rPr sz="3200" b="1" dirty="0">
                <a:solidFill>
                  <a:srgbClr val="99FFCC"/>
                </a:solidFill>
                <a:highlight>
                  <a:srgbClr val="808000"/>
                </a:highlight>
                <a:latin typeface="宋体"/>
                <a:cs typeface="宋体"/>
              </a:rPr>
              <a:t>反对称性</a:t>
            </a:r>
            <a:r>
              <a:rPr sz="3200" b="1" dirty="0">
                <a:solidFill>
                  <a:srgbClr val="99FFCC"/>
                </a:solidFill>
                <a:latin typeface="宋体"/>
                <a:cs typeface="宋体"/>
              </a:rPr>
              <a:t>：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sz="3200" b="1" spc="770" dirty="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DOM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b,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DOM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a,</a:t>
            </a:r>
            <a:endParaRPr sz="3200" dirty="0">
              <a:latin typeface="Times New Roman"/>
              <a:cs typeface="Times New Roman"/>
            </a:endParaRPr>
          </a:p>
          <a:p>
            <a:pPr marL="1638935">
              <a:lnSpc>
                <a:spcPct val="100000"/>
              </a:lnSpc>
              <a:spcBef>
                <a:spcPts val="115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则有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sz="3200" b="1" spc="-83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 =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27301" y="14732"/>
            <a:ext cx="16852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1510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Ch8	</a:t>
            </a:r>
            <a:r>
              <a:rPr sz="20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</a:t>
            </a:r>
            <a:r>
              <a:rPr sz="2000" b="1" dirty="0">
                <a:solidFill>
                  <a:srgbClr val="A15100"/>
                </a:solidFill>
                <a:latin typeface="华文新魏"/>
                <a:cs typeface="华文新魏"/>
              </a:rPr>
              <a:t>优化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54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26711" y="14732"/>
            <a:ext cx="3071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371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</a:t>
            </a:r>
            <a:r>
              <a:rPr sz="2000" b="1" u="sng" spc="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控制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流分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与循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查</a:t>
            </a:r>
            <a:r>
              <a:rPr sz="2000" b="1" u="sng" spc="-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找</a:t>
            </a:r>
            <a:endParaRPr sz="20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6440" y="840105"/>
            <a:ext cx="9429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none" dirty="0">
                <a:solidFill>
                  <a:srgbClr val="FFFF66"/>
                </a:solidFill>
                <a:latin typeface="宋体"/>
                <a:cs typeface="宋体"/>
              </a:rPr>
              <a:t>例</a:t>
            </a:r>
            <a:r>
              <a:rPr sz="3200" u="none" dirty="0">
                <a:solidFill>
                  <a:srgbClr val="FFFF66"/>
                </a:solidFill>
                <a:latin typeface="Times New Roman"/>
                <a:cs typeface="Times New Roman"/>
              </a:rPr>
              <a:t>8.5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47417" y="840105"/>
            <a:ext cx="24765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设有如下流图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52700" y="1627632"/>
            <a:ext cx="693420" cy="646430"/>
          </a:xfrm>
          <a:custGeom>
            <a:avLst/>
            <a:gdLst/>
            <a:ahLst/>
            <a:cxnLst/>
            <a:rect l="l" t="t" r="r" b="b"/>
            <a:pathLst>
              <a:path w="693419" h="646430">
                <a:moveTo>
                  <a:pt x="0" y="323088"/>
                </a:moveTo>
                <a:lnTo>
                  <a:pt x="3758" y="275344"/>
                </a:lnTo>
                <a:lnTo>
                  <a:pt x="14676" y="229776"/>
                </a:lnTo>
                <a:lnTo>
                  <a:pt x="32218" y="186882"/>
                </a:lnTo>
                <a:lnTo>
                  <a:pt x="55848" y="147163"/>
                </a:lnTo>
                <a:lnTo>
                  <a:pt x="85030" y="111119"/>
                </a:lnTo>
                <a:lnTo>
                  <a:pt x="119229" y="79248"/>
                </a:lnTo>
                <a:lnTo>
                  <a:pt x="157908" y="52051"/>
                </a:lnTo>
                <a:lnTo>
                  <a:pt x="200531" y="30028"/>
                </a:lnTo>
                <a:lnTo>
                  <a:pt x="246563" y="13679"/>
                </a:lnTo>
                <a:lnTo>
                  <a:pt x="295468" y="3503"/>
                </a:lnTo>
                <a:lnTo>
                  <a:pt x="346710" y="0"/>
                </a:lnTo>
                <a:lnTo>
                  <a:pt x="397951" y="3503"/>
                </a:lnTo>
                <a:lnTo>
                  <a:pt x="446856" y="13679"/>
                </a:lnTo>
                <a:lnTo>
                  <a:pt x="492888" y="30028"/>
                </a:lnTo>
                <a:lnTo>
                  <a:pt x="535511" y="52051"/>
                </a:lnTo>
                <a:lnTo>
                  <a:pt x="574190" y="79248"/>
                </a:lnTo>
                <a:lnTo>
                  <a:pt x="608389" y="111119"/>
                </a:lnTo>
                <a:lnTo>
                  <a:pt x="637571" y="147163"/>
                </a:lnTo>
                <a:lnTo>
                  <a:pt x="661201" y="186882"/>
                </a:lnTo>
                <a:lnTo>
                  <a:pt x="678743" y="229776"/>
                </a:lnTo>
                <a:lnTo>
                  <a:pt x="689661" y="275344"/>
                </a:lnTo>
                <a:lnTo>
                  <a:pt x="693419" y="323088"/>
                </a:lnTo>
                <a:lnTo>
                  <a:pt x="689661" y="370831"/>
                </a:lnTo>
                <a:lnTo>
                  <a:pt x="678743" y="416399"/>
                </a:lnTo>
                <a:lnTo>
                  <a:pt x="661201" y="459293"/>
                </a:lnTo>
                <a:lnTo>
                  <a:pt x="637571" y="499012"/>
                </a:lnTo>
                <a:lnTo>
                  <a:pt x="608389" y="535056"/>
                </a:lnTo>
                <a:lnTo>
                  <a:pt x="574190" y="566927"/>
                </a:lnTo>
                <a:lnTo>
                  <a:pt x="535511" y="594124"/>
                </a:lnTo>
                <a:lnTo>
                  <a:pt x="492888" y="616147"/>
                </a:lnTo>
                <a:lnTo>
                  <a:pt x="446856" y="632496"/>
                </a:lnTo>
                <a:lnTo>
                  <a:pt x="397951" y="642672"/>
                </a:lnTo>
                <a:lnTo>
                  <a:pt x="346710" y="646176"/>
                </a:lnTo>
                <a:lnTo>
                  <a:pt x="295468" y="642672"/>
                </a:lnTo>
                <a:lnTo>
                  <a:pt x="246563" y="632496"/>
                </a:lnTo>
                <a:lnTo>
                  <a:pt x="200531" y="616147"/>
                </a:lnTo>
                <a:lnTo>
                  <a:pt x="157908" y="594124"/>
                </a:lnTo>
                <a:lnTo>
                  <a:pt x="119229" y="566927"/>
                </a:lnTo>
                <a:lnTo>
                  <a:pt x="85030" y="535056"/>
                </a:lnTo>
                <a:lnTo>
                  <a:pt x="55848" y="499012"/>
                </a:lnTo>
                <a:lnTo>
                  <a:pt x="32218" y="459293"/>
                </a:lnTo>
                <a:lnTo>
                  <a:pt x="14676" y="416399"/>
                </a:lnTo>
                <a:lnTo>
                  <a:pt x="3758" y="370831"/>
                </a:lnTo>
                <a:lnTo>
                  <a:pt x="0" y="323088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02382" y="1697481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64129" y="2731770"/>
            <a:ext cx="695325" cy="646430"/>
          </a:xfrm>
          <a:custGeom>
            <a:avLst/>
            <a:gdLst/>
            <a:ahLst/>
            <a:cxnLst/>
            <a:rect l="l" t="t" r="r" b="b"/>
            <a:pathLst>
              <a:path w="695325" h="646429">
                <a:moveTo>
                  <a:pt x="0" y="323088"/>
                </a:moveTo>
                <a:lnTo>
                  <a:pt x="3767" y="275344"/>
                </a:lnTo>
                <a:lnTo>
                  <a:pt x="14712" y="229776"/>
                </a:lnTo>
                <a:lnTo>
                  <a:pt x="32295" y="186882"/>
                </a:lnTo>
                <a:lnTo>
                  <a:pt x="55981" y="147163"/>
                </a:lnTo>
                <a:lnTo>
                  <a:pt x="85231" y="111119"/>
                </a:lnTo>
                <a:lnTo>
                  <a:pt x="119507" y="79248"/>
                </a:lnTo>
                <a:lnTo>
                  <a:pt x="158272" y="52051"/>
                </a:lnTo>
                <a:lnTo>
                  <a:pt x="200989" y="30028"/>
                </a:lnTo>
                <a:lnTo>
                  <a:pt x="247119" y="13679"/>
                </a:lnTo>
                <a:lnTo>
                  <a:pt x="296126" y="3503"/>
                </a:lnTo>
                <a:lnTo>
                  <a:pt x="347471" y="0"/>
                </a:lnTo>
                <a:lnTo>
                  <a:pt x="398817" y="3503"/>
                </a:lnTo>
                <a:lnTo>
                  <a:pt x="447824" y="13679"/>
                </a:lnTo>
                <a:lnTo>
                  <a:pt x="493954" y="30028"/>
                </a:lnTo>
                <a:lnTo>
                  <a:pt x="536671" y="52051"/>
                </a:lnTo>
                <a:lnTo>
                  <a:pt x="575436" y="79248"/>
                </a:lnTo>
                <a:lnTo>
                  <a:pt x="609712" y="111119"/>
                </a:lnTo>
                <a:lnTo>
                  <a:pt x="638962" y="147163"/>
                </a:lnTo>
                <a:lnTo>
                  <a:pt x="662648" y="186882"/>
                </a:lnTo>
                <a:lnTo>
                  <a:pt x="680231" y="229776"/>
                </a:lnTo>
                <a:lnTo>
                  <a:pt x="691176" y="275344"/>
                </a:lnTo>
                <a:lnTo>
                  <a:pt x="694944" y="323088"/>
                </a:lnTo>
                <a:lnTo>
                  <a:pt x="691176" y="370831"/>
                </a:lnTo>
                <a:lnTo>
                  <a:pt x="680231" y="416399"/>
                </a:lnTo>
                <a:lnTo>
                  <a:pt x="662648" y="459293"/>
                </a:lnTo>
                <a:lnTo>
                  <a:pt x="638962" y="499012"/>
                </a:lnTo>
                <a:lnTo>
                  <a:pt x="609712" y="535056"/>
                </a:lnTo>
                <a:lnTo>
                  <a:pt x="575436" y="566927"/>
                </a:lnTo>
                <a:lnTo>
                  <a:pt x="536671" y="594124"/>
                </a:lnTo>
                <a:lnTo>
                  <a:pt x="493954" y="616147"/>
                </a:lnTo>
                <a:lnTo>
                  <a:pt x="447824" y="632496"/>
                </a:lnTo>
                <a:lnTo>
                  <a:pt x="398817" y="642672"/>
                </a:lnTo>
                <a:lnTo>
                  <a:pt x="347471" y="646176"/>
                </a:lnTo>
                <a:lnTo>
                  <a:pt x="296126" y="642672"/>
                </a:lnTo>
                <a:lnTo>
                  <a:pt x="247119" y="632496"/>
                </a:lnTo>
                <a:lnTo>
                  <a:pt x="200989" y="616147"/>
                </a:lnTo>
                <a:lnTo>
                  <a:pt x="158272" y="594124"/>
                </a:lnTo>
                <a:lnTo>
                  <a:pt x="119507" y="566927"/>
                </a:lnTo>
                <a:lnTo>
                  <a:pt x="85231" y="535056"/>
                </a:lnTo>
                <a:lnTo>
                  <a:pt x="55981" y="499012"/>
                </a:lnTo>
                <a:lnTo>
                  <a:pt x="32295" y="459293"/>
                </a:lnTo>
                <a:lnTo>
                  <a:pt x="14712" y="416399"/>
                </a:lnTo>
                <a:lnTo>
                  <a:pt x="3767" y="370831"/>
                </a:lnTo>
                <a:lnTo>
                  <a:pt x="0" y="323088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13685" y="2800857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14422" y="3856482"/>
            <a:ext cx="695325" cy="646430"/>
          </a:xfrm>
          <a:custGeom>
            <a:avLst/>
            <a:gdLst/>
            <a:ahLst/>
            <a:cxnLst/>
            <a:rect l="l" t="t" r="r" b="b"/>
            <a:pathLst>
              <a:path w="695325" h="646429">
                <a:moveTo>
                  <a:pt x="0" y="323088"/>
                </a:moveTo>
                <a:lnTo>
                  <a:pt x="3767" y="275344"/>
                </a:lnTo>
                <a:lnTo>
                  <a:pt x="14712" y="229776"/>
                </a:lnTo>
                <a:lnTo>
                  <a:pt x="32295" y="186882"/>
                </a:lnTo>
                <a:lnTo>
                  <a:pt x="55981" y="147163"/>
                </a:lnTo>
                <a:lnTo>
                  <a:pt x="85231" y="111119"/>
                </a:lnTo>
                <a:lnTo>
                  <a:pt x="119507" y="79248"/>
                </a:lnTo>
                <a:lnTo>
                  <a:pt x="158272" y="52051"/>
                </a:lnTo>
                <a:lnTo>
                  <a:pt x="200989" y="30028"/>
                </a:lnTo>
                <a:lnTo>
                  <a:pt x="247119" y="13679"/>
                </a:lnTo>
                <a:lnTo>
                  <a:pt x="296126" y="3503"/>
                </a:lnTo>
                <a:lnTo>
                  <a:pt x="347471" y="0"/>
                </a:lnTo>
                <a:lnTo>
                  <a:pt x="398817" y="3503"/>
                </a:lnTo>
                <a:lnTo>
                  <a:pt x="447824" y="13679"/>
                </a:lnTo>
                <a:lnTo>
                  <a:pt x="493954" y="30028"/>
                </a:lnTo>
                <a:lnTo>
                  <a:pt x="536671" y="52051"/>
                </a:lnTo>
                <a:lnTo>
                  <a:pt x="575436" y="79248"/>
                </a:lnTo>
                <a:lnTo>
                  <a:pt x="609712" y="111119"/>
                </a:lnTo>
                <a:lnTo>
                  <a:pt x="638962" y="147163"/>
                </a:lnTo>
                <a:lnTo>
                  <a:pt x="662648" y="186882"/>
                </a:lnTo>
                <a:lnTo>
                  <a:pt x="680231" y="229776"/>
                </a:lnTo>
                <a:lnTo>
                  <a:pt x="691176" y="275344"/>
                </a:lnTo>
                <a:lnTo>
                  <a:pt x="694943" y="323088"/>
                </a:lnTo>
                <a:lnTo>
                  <a:pt x="691176" y="370831"/>
                </a:lnTo>
                <a:lnTo>
                  <a:pt x="680231" y="416399"/>
                </a:lnTo>
                <a:lnTo>
                  <a:pt x="662648" y="459293"/>
                </a:lnTo>
                <a:lnTo>
                  <a:pt x="638962" y="499012"/>
                </a:lnTo>
                <a:lnTo>
                  <a:pt x="609712" y="535056"/>
                </a:lnTo>
                <a:lnTo>
                  <a:pt x="575436" y="566927"/>
                </a:lnTo>
                <a:lnTo>
                  <a:pt x="536671" y="594124"/>
                </a:lnTo>
                <a:lnTo>
                  <a:pt x="493954" y="616147"/>
                </a:lnTo>
                <a:lnTo>
                  <a:pt x="447824" y="632496"/>
                </a:lnTo>
                <a:lnTo>
                  <a:pt x="398817" y="642672"/>
                </a:lnTo>
                <a:lnTo>
                  <a:pt x="347471" y="646176"/>
                </a:lnTo>
                <a:lnTo>
                  <a:pt x="296126" y="642672"/>
                </a:lnTo>
                <a:lnTo>
                  <a:pt x="247119" y="632496"/>
                </a:lnTo>
                <a:lnTo>
                  <a:pt x="200989" y="616147"/>
                </a:lnTo>
                <a:lnTo>
                  <a:pt x="158272" y="594124"/>
                </a:lnTo>
                <a:lnTo>
                  <a:pt x="119507" y="566927"/>
                </a:lnTo>
                <a:lnTo>
                  <a:pt x="85231" y="535056"/>
                </a:lnTo>
                <a:lnTo>
                  <a:pt x="55981" y="499012"/>
                </a:lnTo>
                <a:lnTo>
                  <a:pt x="32295" y="459293"/>
                </a:lnTo>
                <a:lnTo>
                  <a:pt x="14712" y="416399"/>
                </a:lnTo>
                <a:lnTo>
                  <a:pt x="3767" y="370831"/>
                </a:lnTo>
                <a:lnTo>
                  <a:pt x="0" y="323088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63088" y="3926840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06190" y="3368802"/>
            <a:ext cx="696595" cy="646430"/>
          </a:xfrm>
          <a:custGeom>
            <a:avLst/>
            <a:gdLst/>
            <a:ahLst/>
            <a:cxnLst/>
            <a:rect l="l" t="t" r="r" b="b"/>
            <a:pathLst>
              <a:path w="696595" h="646429">
                <a:moveTo>
                  <a:pt x="0" y="323088"/>
                </a:moveTo>
                <a:lnTo>
                  <a:pt x="3776" y="275344"/>
                </a:lnTo>
                <a:lnTo>
                  <a:pt x="14747" y="229776"/>
                </a:lnTo>
                <a:lnTo>
                  <a:pt x="32373" y="186882"/>
                </a:lnTo>
                <a:lnTo>
                  <a:pt x="56114" y="147163"/>
                </a:lnTo>
                <a:lnTo>
                  <a:pt x="85431" y="111119"/>
                </a:lnTo>
                <a:lnTo>
                  <a:pt x="119785" y="79248"/>
                </a:lnTo>
                <a:lnTo>
                  <a:pt x="158637" y="52051"/>
                </a:lnTo>
                <a:lnTo>
                  <a:pt x="201447" y="30028"/>
                </a:lnTo>
                <a:lnTo>
                  <a:pt x="247676" y="13679"/>
                </a:lnTo>
                <a:lnTo>
                  <a:pt x="296784" y="3503"/>
                </a:lnTo>
                <a:lnTo>
                  <a:pt x="348234" y="0"/>
                </a:lnTo>
                <a:lnTo>
                  <a:pt x="399683" y="3503"/>
                </a:lnTo>
                <a:lnTo>
                  <a:pt x="448791" y="13679"/>
                </a:lnTo>
                <a:lnTo>
                  <a:pt x="495020" y="30028"/>
                </a:lnTo>
                <a:lnTo>
                  <a:pt x="537830" y="52051"/>
                </a:lnTo>
                <a:lnTo>
                  <a:pt x="576682" y="79248"/>
                </a:lnTo>
                <a:lnTo>
                  <a:pt x="611036" y="111119"/>
                </a:lnTo>
                <a:lnTo>
                  <a:pt x="640353" y="147163"/>
                </a:lnTo>
                <a:lnTo>
                  <a:pt x="664094" y="186882"/>
                </a:lnTo>
                <a:lnTo>
                  <a:pt x="681720" y="229776"/>
                </a:lnTo>
                <a:lnTo>
                  <a:pt x="692691" y="275344"/>
                </a:lnTo>
                <a:lnTo>
                  <a:pt x="696468" y="323088"/>
                </a:lnTo>
                <a:lnTo>
                  <a:pt x="692691" y="370831"/>
                </a:lnTo>
                <a:lnTo>
                  <a:pt x="681720" y="416399"/>
                </a:lnTo>
                <a:lnTo>
                  <a:pt x="664094" y="459293"/>
                </a:lnTo>
                <a:lnTo>
                  <a:pt x="640353" y="499012"/>
                </a:lnTo>
                <a:lnTo>
                  <a:pt x="611036" y="535056"/>
                </a:lnTo>
                <a:lnTo>
                  <a:pt x="576682" y="566927"/>
                </a:lnTo>
                <a:lnTo>
                  <a:pt x="537830" y="594124"/>
                </a:lnTo>
                <a:lnTo>
                  <a:pt x="495020" y="616147"/>
                </a:lnTo>
                <a:lnTo>
                  <a:pt x="448791" y="632496"/>
                </a:lnTo>
                <a:lnTo>
                  <a:pt x="399683" y="642672"/>
                </a:lnTo>
                <a:lnTo>
                  <a:pt x="348234" y="646176"/>
                </a:lnTo>
                <a:lnTo>
                  <a:pt x="296784" y="642672"/>
                </a:lnTo>
                <a:lnTo>
                  <a:pt x="247676" y="632496"/>
                </a:lnTo>
                <a:lnTo>
                  <a:pt x="201447" y="616147"/>
                </a:lnTo>
                <a:lnTo>
                  <a:pt x="158637" y="594124"/>
                </a:lnTo>
                <a:lnTo>
                  <a:pt x="119785" y="566927"/>
                </a:lnTo>
                <a:lnTo>
                  <a:pt x="85431" y="535056"/>
                </a:lnTo>
                <a:lnTo>
                  <a:pt x="56114" y="499012"/>
                </a:lnTo>
                <a:lnTo>
                  <a:pt x="32373" y="459293"/>
                </a:lnTo>
                <a:lnTo>
                  <a:pt x="14747" y="416399"/>
                </a:lnTo>
                <a:lnTo>
                  <a:pt x="3776" y="370831"/>
                </a:lnTo>
                <a:lnTo>
                  <a:pt x="0" y="323088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55745" y="3438855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97173" y="5055361"/>
            <a:ext cx="861060" cy="594995"/>
          </a:xfrm>
          <a:custGeom>
            <a:avLst/>
            <a:gdLst/>
            <a:ahLst/>
            <a:cxnLst/>
            <a:rect l="l" t="t" r="r" b="b"/>
            <a:pathLst>
              <a:path w="861060" h="594995">
                <a:moveTo>
                  <a:pt x="125349" y="440435"/>
                </a:moveTo>
                <a:lnTo>
                  <a:pt x="0" y="594868"/>
                </a:lnTo>
                <a:lnTo>
                  <a:pt x="189611" y="534873"/>
                </a:lnTo>
                <a:lnTo>
                  <a:pt x="175472" y="514096"/>
                </a:lnTo>
                <a:lnTo>
                  <a:pt x="152400" y="514096"/>
                </a:lnTo>
                <a:lnTo>
                  <a:pt x="130937" y="482600"/>
                </a:lnTo>
                <a:lnTo>
                  <a:pt x="146725" y="471849"/>
                </a:lnTo>
                <a:lnTo>
                  <a:pt x="125349" y="440435"/>
                </a:lnTo>
                <a:close/>
              </a:path>
              <a:path w="861060" h="594995">
                <a:moveTo>
                  <a:pt x="146725" y="471849"/>
                </a:moveTo>
                <a:lnTo>
                  <a:pt x="130937" y="482600"/>
                </a:lnTo>
                <a:lnTo>
                  <a:pt x="152400" y="514096"/>
                </a:lnTo>
                <a:lnTo>
                  <a:pt x="168166" y="503359"/>
                </a:lnTo>
                <a:lnTo>
                  <a:pt x="146725" y="471849"/>
                </a:lnTo>
                <a:close/>
              </a:path>
              <a:path w="861060" h="594995">
                <a:moveTo>
                  <a:pt x="168166" y="503359"/>
                </a:moveTo>
                <a:lnTo>
                  <a:pt x="152400" y="514096"/>
                </a:lnTo>
                <a:lnTo>
                  <a:pt x="175472" y="514096"/>
                </a:lnTo>
                <a:lnTo>
                  <a:pt x="168166" y="503359"/>
                </a:lnTo>
                <a:close/>
              </a:path>
              <a:path w="861060" h="594995">
                <a:moveTo>
                  <a:pt x="839724" y="0"/>
                </a:moveTo>
                <a:lnTo>
                  <a:pt x="146725" y="471849"/>
                </a:lnTo>
                <a:lnTo>
                  <a:pt x="168166" y="503359"/>
                </a:lnTo>
                <a:lnTo>
                  <a:pt x="861060" y="31495"/>
                </a:lnTo>
                <a:lnTo>
                  <a:pt x="839724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14422" y="5316473"/>
            <a:ext cx="695325" cy="645160"/>
          </a:xfrm>
          <a:custGeom>
            <a:avLst/>
            <a:gdLst/>
            <a:ahLst/>
            <a:cxnLst/>
            <a:rect l="l" t="t" r="r" b="b"/>
            <a:pathLst>
              <a:path w="695325" h="645160">
                <a:moveTo>
                  <a:pt x="0" y="322325"/>
                </a:moveTo>
                <a:lnTo>
                  <a:pt x="3767" y="274686"/>
                </a:lnTo>
                <a:lnTo>
                  <a:pt x="14712" y="229220"/>
                </a:lnTo>
                <a:lnTo>
                  <a:pt x="32295" y="186424"/>
                </a:lnTo>
                <a:lnTo>
                  <a:pt x="55981" y="146799"/>
                </a:lnTo>
                <a:lnTo>
                  <a:pt x="85231" y="110840"/>
                </a:lnTo>
                <a:lnTo>
                  <a:pt x="119507" y="79048"/>
                </a:lnTo>
                <a:lnTo>
                  <a:pt x="158272" y="51919"/>
                </a:lnTo>
                <a:lnTo>
                  <a:pt x="200989" y="29951"/>
                </a:lnTo>
                <a:lnTo>
                  <a:pt x="247119" y="13643"/>
                </a:lnTo>
                <a:lnTo>
                  <a:pt x="296126" y="3493"/>
                </a:lnTo>
                <a:lnTo>
                  <a:pt x="347471" y="0"/>
                </a:lnTo>
                <a:lnTo>
                  <a:pt x="398817" y="3493"/>
                </a:lnTo>
                <a:lnTo>
                  <a:pt x="447824" y="13643"/>
                </a:lnTo>
                <a:lnTo>
                  <a:pt x="493954" y="29951"/>
                </a:lnTo>
                <a:lnTo>
                  <a:pt x="536671" y="51919"/>
                </a:lnTo>
                <a:lnTo>
                  <a:pt x="575436" y="79048"/>
                </a:lnTo>
                <a:lnTo>
                  <a:pt x="609712" y="110840"/>
                </a:lnTo>
                <a:lnTo>
                  <a:pt x="638962" y="146799"/>
                </a:lnTo>
                <a:lnTo>
                  <a:pt x="662648" y="186424"/>
                </a:lnTo>
                <a:lnTo>
                  <a:pt x="680231" y="229220"/>
                </a:lnTo>
                <a:lnTo>
                  <a:pt x="691176" y="274686"/>
                </a:lnTo>
                <a:lnTo>
                  <a:pt x="694943" y="322325"/>
                </a:lnTo>
                <a:lnTo>
                  <a:pt x="691176" y="369957"/>
                </a:lnTo>
                <a:lnTo>
                  <a:pt x="680231" y="415418"/>
                </a:lnTo>
                <a:lnTo>
                  <a:pt x="662648" y="458210"/>
                </a:lnTo>
                <a:lnTo>
                  <a:pt x="638962" y="497835"/>
                </a:lnTo>
                <a:lnTo>
                  <a:pt x="609712" y="533795"/>
                </a:lnTo>
                <a:lnTo>
                  <a:pt x="575436" y="565590"/>
                </a:lnTo>
                <a:lnTo>
                  <a:pt x="536671" y="592723"/>
                </a:lnTo>
                <a:lnTo>
                  <a:pt x="493954" y="614694"/>
                </a:lnTo>
                <a:lnTo>
                  <a:pt x="447824" y="631005"/>
                </a:lnTo>
                <a:lnTo>
                  <a:pt x="398817" y="641157"/>
                </a:lnTo>
                <a:lnTo>
                  <a:pt x="347471" y="644651"/>
                </a:lnTo>
                <a:lnTo>
                  <a:pt x="296126" y="641157"/>
                </a:lnTo>
                <a:lnTo>
                  <a:pt x="247119" y="631005"/>
                </a:lnTo>
                <a:lnTo>
                  <a:pt x="200989" y="614694"/>
                </a:lnTo>
                <a:lnTo>
                  <a:pt x="158272" y="592723"/>
                </a:lnTo>
                <a:lnTo>
                  <a:pt x="119507" y="565590"/>
                </a:lnTo>
                <a:lnTo>
                  <a:pt x="85231" y="533795"/>
                </a:lnTo>
                <a:lnTo>
                  <a:pt x="55981" y="497835"/>
                </a:lnTo>
                <a:lnTo>
                  <a:pt x="32295" y="458210"/>
                </a:lnTo>
                <a:lnTo>
                  <a:pt x="14712" y="415418"/>
                </a:lnTo>
                <a:lnTo>
                  <a:pt x="3767" y="369957"/>
                </a:lnTo>
                <a:lnTo>
                  <a:pt x="0" y="322325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63088" y="5385917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47565" y="4583429"/>
            <a:ext cx="696595" cy="647700"/>
          </a:xfrm>
          <a:custGeom>
            <a:avLst/>
            <a:gdLst/>
            <a:ahLst/>
            <a:cxnLst/>
            <a:rect l="l" t="t" r="r" b="b"/>
            <a:pathLst>
              <a:path w="696595" h="647700">
                <a:moveTo>
                  <a:pt x="0" y="323850"/>
                </a:moveTo>
                <a:lnTo>
                  <a:pt x="3776" y="276003"/>
                </a:lnTo>
                <a:lnTo>
                  <a:pt x="14747" y="230332"/>
                </a:lnTo>
                <a:lnTo>
                  <a:pt x="32373" y="187340"/>
                </a:lnTo>
                <a:lnTo>
                  <a:pt x="56114" y="147528"/>
                </a:lnTo>
                <a:lnTo>
                  <a:pt x="85431" y="111397"/>
                </a:lnTo>
                <a:lnTo>
                  <a:pt x="119785" y="79448"/>
                </a:lnTo>
                <a:lnTo>
                  <a:pt x="158637" y="52184"/>
                </a:lnTo>
                <a:lnTo>
                  <a:pt x="201447" y="30106"/>
                </a:lnTo>
                <a:lnTo>
                  <a:pt x="247676" y="13714"/>
                </a:lnTo>
                <a:lnTo>
                  <a:pt x="296784" y="3512"/>
                </a:lnTo>
                <a:lnTo>
                  <a:pt x="348234" y="0"/>
                </a:lnTo>
                <a:lnTo>
                  <a:pt x="399683" y="3512"/>
                </a:lnTo>
                <a:lnTo>
                  <a:pt x="448791" y="13714"/>
                </a:lnTo>
                <a:lnTo>
                  <a:pt x="495020" y="30106"/>
                </a:lnTo>
                <a:lnTo>
                  <a:pt x="537830" y="52184"/>
                </a:lnTo>
                <a:lnTo>
                  <a:pt x="576682" y="79448"/>
                </a:lnTo>
                <a:lnTo>
                  <a:pt x="611036" y="111397"/>
                </a:lnTo>
                <a:lnTo>
                  <a:pt x="640353" y="147528"/>
                </a:lnTo>
                <a:lnTo>
                  <a:pt x="664094" y="187340"/>
                </a:lnTo>
                <a:lnTo>
                  <a:pt x="681720" y="230332"/>
                </a:lnTo>
                <a:lnTo>
                  <a:pt x="692691" y="276003"/>
                </a:lnTo>
                <a:lnTo>
                  <a:pt x="696468" y="323850"/>
                </a:lnTo>
                <a:lnTo>
                  <a:pt x="692691" y="371696"/>
                </a:lnTo>
                <a:lnTo>
                  <a:pt x="681720" y="417367"/>
                </a:lnTo>
                <a:lnTo>
                  <a:pt x="664094" y="460359"/>
                </a:lnTo>
                <a:lnTo>
                  <a:pt x="640353" y="500171"/>
                </a:lnTo>
                <a:lnTo>
                  <a:pt x="611036" y="536302"/>
                </a:lnTo>
                <a:lnTo>
                  <a:pt x="576682" y="568251"/>
                </a:lnTo>
                <a:lnTo>
                  <a:pt x="537830" y="595515"/>
                </a:lnTo>
                <a:lnTo>
                  <a:pt x="495020" y="617593"/>
                </a:lnTo>
                <a:lnTo>
                  <a:pt x="448791" y="633985"/>
                </a:lnTo>
                <a:lnTo>
                  <a:pt x="399683" y="644187"/>
                </a:lnTo>
                <a:lnTo>
                  <a:pt x="348234" y="647700"/>
                </a:lnTo>
                <a:lnTo>
                  <a:pt x="296784" y="644187"/>
                </a:lnTo>
                <a:lnTo>
                  <a:pt x="247676" y="633985"/>
                </a:lnTo>
                <a:lnTo>
                  <a:pt x="201447" y="617593"/>
                </a:lnTo>
                <a:lnTo>
                  <a:pt x="158637" y="595515"/>
                </a:lnTo>
                <a:lnTo>
                  <a:pt x="119785" y="568251"/>
                </a:lnTo>
                <a:lnTo>
                  <a:pt x="85431" y="536302"/>
                </a:lnTo>
                <a:lnTo>
                  <a:pt x="56114" y="500171"/>
                </a:lnTo>
                <a:lnTo>
                  <a:pt x="32373" y="460359"/>
                </a:lnTo>
                <a:lnTo>
                  <a:pt x="14747" y="417367"/>
                </a:lnTo>
                <a:lnTo>
                  <a:pt x="3776" y="371696"/>
                </a:lnTo>
                <a:lnTo>
                  <a:pt x="0" y="3238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397121" y="4653737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42260" y="2265426"/>
            <a:ext cx="114300" cy="486409"/>
          </a:xfrm>
          <a:custGeom>
            <a:avLst/>
            <a:gdLst/>
            <a:ahLst/>
            <a:cxnLst/>
            <a:rect l="l" t="t" r="r" b="b"/>
            <a:pathLst>
              <a:path w="114300" h="486410">
                <a:moveTo>
                  <a:pt x="38100" y="295656"/>
                </a:moveTo>
                <a:lnTo>
                  <a:pt x="0" y="295656"/>
                </a:lnTo>
                <a:lnTo>
                  <a:pt x="57150" y="486156"/>
                </a:lnTo>
                <a:lnTo>
                  <a:pt x="108585" y="314706"/>
                </a:lnTo>
                <a:lnTo>
                  <a:pt x="38100" y="314706"/>
                </a:lnTo>
                <a:lnTo>
                  <a:pt x="38100" y="295656"/>
                </a:lnTo>
                <a:close/>
              </a:path>
              <a:path w="114300" h="486410">
                <a:moveTo>
                  <a:pt x="76200" y="0"/>
                </a:moveTo>
                <a:lnTo>
                  <a:pt x="38100" y="0"/>
                </a:lnTo>
                <a:lnTo>
                  <a:pt x="38100" y="314706"/>
                </a:lnTo>
                <a:lnTo>
                  <a:pt x="76200" y="314706"/>
                </a:lnTo>
                <a:lnTo>
                  <a:pt x="76200" y="0"/>
                </a:lnTo>
                <a:close/>
              </a:path>
              <a:path w="114300" h="486410">
                <a:moveTo>
                  <a:pt x="114300" y="295656"/>
                </a:moveTo>
                <a:lnTo>
                  <a:pt x="76200" y="295656"/>
                </a:lnTo>
                <a:lnTo>
                  <a:pt x="76200" y="314706"/>
                </a:lnTo>
                <a:lnTo>
                  <a:pt x="108585" y="314706"/>
                </a:lnTo>
                <a:lnTo>
                  <a:pt x="114300" y="295656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98648" y="3368802"/>
            <a:ext cx="114300" cy="487680"/>
          </a:xfrm>
          <a:custGeom>
            <a:avLst/>
            <a:gdLst/>
            <a:ahLst/>
            <a:cxnLst/>
            <a:rect l="l" t="t" r="r" b="b"/>
            <a:pathLst>
              <a:path w="114300" h="487679">
                <a:moveTo>
                  <a:pt x="38100" y="297180"/>
                </a:moveTo>
                <a:lnTo>
                  <a:pt x="0" y="297180"/>
                </a:lnTo>
                <a:lnTo>
                  <a:pt x="57150" y="487680"/>
                </a:lnTo>
                <a:lnTo>
                  <a:pt x="108585" y="316230"/>
                </a:lnTo>
                <a:lnTo>
                  <a:pt x="38100" y="316230"/>
                </a:lnTo>
                <a:lnTo>
                  <a:pt x="38100" y="297180"/>
                </a:lnTo>
                <a:close/>
              </a:path>
              <a:path w="114300" h="487679">
                <a:moveTo>
                  <a:pt x="76200" y="0"/>
                </a:moveTo>
                <a:lnTo>
                  <a:pt x="38100" y="0"/>
                </a:lnTo>
                <a:lnTo>
                  <a:pt x="38100" y="316230"/>
                </a:lnTo>
                <a:lnTo>
                  <a:pt x="76200" y="316230"/>
                </a:lnTo>
                <a:lnTo>
                  <a:pt x="76200" y="0"/>
                </a:lnTo>
                <a:close/>
              </a:path>
              <a:path w="114300" h="487679">
                <a:moveTo>
                  <a:pt x="114300" y="297180"/>
                </a:moveTo>
                <a:lnTo>
                  <a:pt x="76200" y="297180"/>
                </a:lnTo>
                <a:lnTo>
                  <a:pt x="76200" y="316230"/>
                </a:lnTo>
                <a:lnTo>
                  <a:pt x="108585" y="316230"/>
                </a:lnTo>
                <a:lnTo>
                  <a:pt x="114300" y="29718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88029" y="3108198"/>
            <a:ext cx="620395" cy="349250"/>
          </a:xfrm>
          <a:custGeom>
            <a:avLst/>
            <a:gdLst/>
            <a:ahLst/>
            <a:cxnLst/>
            <a:rect l="l" t="t" r="r" b="b"/>
            <a:pathLst>
              <a:path w="620395" h="349250">
                <a:moveTo>
                  <a:pt x="443775" y="274752"/>
                </a:moveTo>
                <a:lnTo>
                  <a:pt x="425577" y="308228"/>
                </a:lnTo>
                <a:lnTo>
                  <a:pt x="620268" y="348996"/>
                </a:lnTo>
                <a:lnTo>
                  <a:pt x="555644" y="283844"/>
                </a:lnTo>
                <a:lnTo>
                  <a:pt x="460502" y="283844"/>
                </a:lnTo>
                <a:lnTo>
                  <a:pt x="443775" y="274752"/>
                </a:lnTo>
                <a:close/>
              </a:path>
              <a:path w="620395" h="349250">
                <a:moveTo>
                  <a:pt x="462015" y="241198"/>
                </a:moveTo>
                <a:lnTo>
                  <a:pt x="443775" y="274752"/>
                </a:lnTo>
                <a:lnTo>
                  <a:pt x="460502" y="283844"/>
                </a:lnTo>
                <a:lnTo>
                  <a:pt x="478790" y="250316"/>
                </a:lnTo>
                <a:lnTo>
                  <a:pt x="462015" y="241198"/>
                </a:lnTo>
                <a:close/>
              </a:path>
              <a:path w="620395" h="349250">
                <a:moveTo>
                  <a:pt x="480187" y="207772"/>
                </a:moveTo>
                <a:lnTo>
                  <a:pt x="462015" y="241198"/>
                </a:lnTo>
                <a:lnTo>
                  <a:pt x="478790" y="250316"/>
                </a:lnTo>
                <a:lnTo>
                  <a:pt x="460502" y="283844"/>
                </a:lnTo>
                <a:lnTo>
                  <a:pt x="555644" y="283844"/>
                </a:lnTo>
                <a:lnTo>
                  <a:pt x="480187" y="207772"/>
                </a:lnTo>
                <a:close/>
              </a:path>
              <a:path w="620395" h="349250">
                <a:moveTo>
                  <a:pt x="18287" y="0"/>
                </a:moveTo>
                <a:lnTo>
                  <a:pt x="0" y="33527"/>
                </a:lnTo>
                <a:lnTo>
                  <a:pt x="443775" y="274752"/>
                </a:lnTo>
                <a:lnTo>
                  <a:pt x="462015" y="241198"/>
                </a:lnTo>
                <a:lnTo>
                  <a:pt x="18287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97173" y="3839336"/>
            <a:ext cx="517525" cy="259715"/>
          </a:xfrm>
          <a:custGeom>
            <a:avLst/>
            <a:gdLst/>
            <a:ahLst/>
            <a:cxnLst/>
            <a:rect l="l" t="t" r="r" b="b"/>
            <a:pathLst>
              <a:path w="517525" h="259714">
                <a:moveTo>
                  <a:pt x="147447" y="125983"/>
                </a:moveTo>
                <a:lnTo>
                  <a:pt x="0" y="259461"/>
                </a:lnTo>
                <a:lnTo>
                  <a:pt x="196596" y="229235"/>
                </a:lnTo>
                <a:lnTo>
                  <a:pt x="184082" y="202945"/>
                </a:lnTo>
                <a:lnTo>
                  <a:pt x="162940" y="202945"/>
                </a:lnTo>
                <a:lnTo>
                  <a:pt x="146558" y="168529"/>
                </a:lnTo>
                <a:lnTo>
                  <a:pt x="163796" y="160330"/>
                </a:lnTo>
                <a:lnTo>
                  <a:pt x="147447" y="125983"/>
                </a:lnTo>
                <a:close/>
              </a:path>
              <a:path w="517525" h="259714">
                <a:moveTo>
                  <a:pt x="163796" y="160330"/>
                </a:moveTo>
                <a:lnTo>
                  <a:pt x="146558" y="168529"/>
                </a:lnTo>
                <a:lnTo>
                  <a:pt x="162940" y="202945"/>
                </a:lnTo>
                <a:lnTo>
                  <a:pt x="180175" y="194739"/>
                </a:lnTo>
                <a:lnTo>
                  <a:pt x="163796" y="160330"/>
                </a:lnTo>
                <a:close/>
              </a:path>
              <a:path w="517525" h="259714">
                <a:moveTo>
                  <a:pt x="180175" y="194739"/>
                </a:moveTo>
                <a:lnTo>
                  <a:pt x="162940" y="202945"/>
                </a:lnTo>
                <a:lnTo>
                  <a:pt x="184082" y="202945"/>
                </a:lnTo>
                <a:lnTo>
                  <a:pt x="180175" y="194739"/>
                </a:lnTo>
                <a:close/>
              </a:path>
              <a:path w="517525" h="259714">
                <a:moveTo>
                  <a:pt x="500888" y="0"/>
                </a:moveTo>
                <a:lnTo>
                  <a:pt x="163796" y="160330"/>
                </a:lnTo>
                <a:lnTo>
                  <a:pt x="180175" y="194739"/>
                </a:lnTo>
                <a:lnTo>
                  <a:pt x="517143" y="34289"/>
                </a:lnTo>
                <a:lnTo>
                  <a:pt x="500888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287776" y="4326128"/>
            <a:ext cx="859790" cy="502920"/>
          </a:xfrm>
          <a:custGeom>
            <a:avLst/>
            <a:gdLst/>
            <a:ahLst/>
            <a:cxnLst/>
            <a:rect l="l" t="t" r="r" b="b"/>
            <a:pathLst>
              <a:path w="859789" h="502920">
                <a:moveTo>
                  <a:pt x="684941" y="424592"/>
                </a:moveTo>
                <a:lnTo>
                  <a:pt x="665988" y="457708"/>
                </a:lnTo>
                <a:lnTo>
                  <a:pt x="859789" y="502666"/>
                </a:lnTo>
                <a:lnTo>
                  <a:pt x="794593" y="434086"/>
                </a:lnTo>
                <a:lnTo>
                  <a:pt x="701548" y="434086"/>
                </a:lnTo>
                <a:lnTo>
                  <a:pt x="684941" y="424592"/>
                </a:lnTo>
                <a:close/>
              </a:path>
              <a:path w="859789" h="502920">
                <a:moveTo>
                  <a:pt x="703814" y="391616"/>
                </a:moveTo>
                <a:lnTo>
                  <a:pt x="684941" y="424592"/>
                </a:lnTo>
                <a:lnTo>
                  <a:pt x="701548" y="434086"/>
                </a:lnTo>
                <a:lnTo>
                  <a:pt x="720344" y="401066"/>
                </a:lnTo>
                <a:lnTo>
                  <a:pt x="703814" y="391616"/>
                </a:lnTo>
                <a:close/>
              </a:path>
              <a:path w="859789" h="502920">
                <a:moveTo>
                  <a:pt x="722757" y="358521"/>
                </a:moveTo>
                <a:lnTo>
                  <a:pt x="703814" y="391616"/>
                </a:lnTo>
                <a:lnTo>
                  <a:pt x="720344" y="401066"/>
                </a:lnTo>
                <a:lnTo>
                  <a:pt x="701548" y="434086"/>
                </a:lnTo>
                <a:lnTo>
                  <a:pt x="794593" y="434086"/>
                </a:lnTo>
                <a:lnTo>
                  <a:pt x="722757" y="358521"/>
                </a:lnTo>
                <a:close/>
              </a:path>
              <a:path w="859789" h="502920">
                <a:moveTo>
                  <a:pt x="18796" y="0"/>
                </a:moveTo>
                <a:lnTo>
                  <a:pt x="0" y="33020"/>
                </a:lnTo>
                <a:lnTo>
                  <a:pt x="684941" y="424592"/>
                </a:lnTo>
                <a:lnTo>
                  <a:pt x="703814" y="391616"/>
                </a:lnTo>
                <a:lnTo>
                  <a:pt x="18796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3466" y="4326128"/>
            <a:ext cx="800735" cy="476884"/>
          </a:xfrm>
          <a:custGeom>
            <a:avLst/>
            <a:gdLst/>
            <a:ahLst/>
            <a:cxnLst/>
            <a:rect l="l" t="t" r="r" b="b"/>
            <a:pathLst>
              <a:path w="800735" h="476885">
                <a:moveTo>
                  <a:pt x="135889" y="331597"/>
                </a:moveTo>
                <a:lnTo>
                  <a:pt x="0" y="476758"/>
                </a:lnTo>
                <a:lnTo>
                  <a:pt x="193420" y="430403"/>
                </a:lnTo>
                <a:lnTo>
                  <a:pt x="179814" y="407035"/>
                </a:lnTo>
                <a:lnTo>
                  <a:pt x="157733" y="407035"/>
                </a:lnTo>
                <a:lnTo>
                  <a:pt x="138556" y="374015"/>
                </a:lnTo>
                <a:lnTo>
                  <a:pt x="155013" y="364440"/>
                </a:lnTo>
                <a:lnTo>
                  <a:pt x="135889" y="331597"/>
                </a:lnTo>
                <a:close/>
              </a:path>
              <a:path w="800735" h="476885">
                <a:moveTo>
                  <a:pt x="155013" y="364440"/>
                </a:moveTo>
                <a:lnTo>
                  <a:pt x="138556" y="374015"/>
                </a:lnTo>
                <a:lnTo>
                  <a:pt x="157733" y="407035"/>
                </a:lnTo>
                <a:lnTo>
                  <a:pt x="174226" y="397437"/>
                </a:lnTo>
                <a:lnTo>
                  <a:pt x="155013" y="364440"/>
                </a:lnTo>
                <a:close/>
              </a:path>
              <a:path w="800735" h="476885">
                <a:moveTo>
                  <a:pt x="174226" y="397437"/>
                </a:moveTo>
                <a:lnTo>
                  <a:pt x="157733" y="407035"/>
                </a:lnTo>
                <a:lnTo>
                  <a:pt x="179814" y="407035"/>
                </a:lnTo>
                <a:lnTo>
                  <a:pt x="174226" y="397437"/>
                </a:lnTo>
                <a:close/>
              </a:path>
              <a:path w="800735" h="476885">
                <a:moveTo>
                  <a:pt x="781431" y="0"/>
                </a:moveTo>
                <a:lnTo>
                  <a:pt x="155013" y="364440"/>
                </a:lnTo>
                <a:lnTo>
                  <a:pt x="174226" y="397437"/>
                </a:lnTo>
                <a:lnTo>
                  <a:pt x="800481" y="33020"/>
                </a:lnTo>
                <a:lnTo>
                  <a:pt x="781431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05736" y="5174234"/>
            <a:ext cx="957580" cy="453390"/>
          </a:xfrm>
          <a:custGeom>
            <a:avLst/>
            <a:gdLst/>
            <a:ahLst/>
            <a:cxnLst/>
            <a:rect l="l" t="t" r="r" b="b"/>
            <a:pathLst>
              <a:path w="957580" h="453389">
                <a:moveTo>
                  <a:pt x="776399" y="390942"/>
                </a:moveTo>
                <a:lnTo>
                  <a:pt x="760476" y="425589"/>
                </a:lnTo>
                <a:lnTo>
                  <a:pt x="957452" y="453136"/>
                </a:lnTo>
                <a:lnTo>
                  <a:pt x="895888" y="398907"/>
                </a:lnTo>
                <a:lnTo>
                  <a:pt x="793750" y="398907"/>
                </a:lnTo>
                <a:lnTo>
                  <a:pt x="776399" y="390942"/>
                </a:lnTo>
                <a:close/>
              </a:path>
              <a:path w="957580" h="453389">
                <a:moveTo>
                  <a:pt x="792323" y="356295"/>
                </a:moveTo>
                <a:lnTo>
                  <a:pt x="776399" y="390942"/>
                </a:lnTo>
                <a:lnTo>
                  <a:pt x="793750" y="398907"/>
                </a:lnTo>
                <a:lnTo>
                  <a:pt x="809625" y="364236"/>
                </a:lnTo>
                <a:lnTo>
                  <a:pt x="792323" y="356295"/>
                </a:lnTo>
                <a:close/>
              </a:path>
              <a:path w="957580" h="453389">
                <a:moveTo>
                  <a:pt x="808227" y="321691"/>
                </a:moveTo>
                <a:lnTo>
                  <a:pt x="792323" y="356295"/>
                </a:lnTo>
                <a:lnTo>
                  <a:pt x="809625" y="364236"/>
                </a:lnTo>
                <a:lnTo>
                  <a:pt x="793750" y="398907"/>
                </a:lnTo>
                <a:lnTo>
                  <a:pt x="895888" y="398907"/>
                </a:lnTo>
                <a:lnTo>
                  <a:pt x="808227" y="321691"/>
                </a:lnTo>
                <a:close/>
              </a:path>
              <a:path w="957580" h="453389">
                <a:moveTo>
                  <a:pt x="16001" y="0"/>
                </a:moveTo>
                <a:lnTo>
                  <a:pt x="0" y="34544"/>
                </a:lnTo>
                <a:lnTo>
                  <a:pt x="776399" y="390942"/>
                </a:lnTo>
                <a:lnTo>
                  <a:pt x="792323" y="356295"/>
                </a:lnTo>
                <a:lnTo>
                  <a:pt x="16001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98648" y="4502658"/>
            <a:ext cx="114300" cy="814069"/>
          </a:xfrm>
          <a:custGeom>
            <a:avLst/>
            <a:gdLst/>
            <a:ahLst/>
            <a:cxnLst/>
            <a:rect l="l" t="t" r="r" b="b"/>
            <a:pathLst>
              <a:path w="114300" h="814070">
                <a:moveTo>
                  <a:pt x="76200" y="95250"/>
                </a:moveTo>
                <a:lnTo>
                  <a:pt x="38100" y="95250"/>
                </a:lnTo>
                <a:lnTo>
                  <a:pt x="38100" y="813816"/>
                </a:lnTo>
                <a:lnTo>
                  <a:pt x="76200" y="813816"/>
                </a:lnTo>
                <a:lnTo>
                  <a:pt x="76200" y="95250"/>
                </a:lnTo>
                <a:close/>
              </a:path>
              <a:path w="114300" h="81407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81407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027301" y="14732"/>
            <a:ext cx="16852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1510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Ch8	</a:t>
            </a:r>
            <a:r>
              <a:rPr sz="20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</a:t>
            </a:r>
            <a:r>
              <a:rPr sz="2000" b="1" dirty="0">
                <a:solidFill>
                  <a:srgbClr val="A15100"/>
                </a:solidFill>
                <a:latin typeface="华文新魏"/>
                <a:cs typeface="华文新魏"/>
              </a:rPr>
              <a:t>优化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746757" y="3048507"/>
            <a:ext cx="876935" cy="1111250"/>
          </a:xfrm>
          <a:custGeom>
            <a:avLst/>
            <a:gdLst/>
            <a:ahLst/>
            <a:cxnLst/>
            <a:rect l="l" t="t" r="r" b="b"/>
            <a:pathLst>
              <a:path w="876935" h="1111250">
                <a:moveTo>
                  <a:pt x="655762" y="73696"/>
                </a:moveTo>
                <a:lnTo>
                  <a:pt x="595376" y="106679"/>
                </a:lnTo>
                <a:lnTo>
                  <a:pt x="522097" y="147700"/>
                </a:lnTo>
                <a:lnTo>
                  <a:pt x="451231" y="188467"/>
                </a:lnTo>
                <a:lnTo>
                  <a:pt x="416814" y="208787"/>
                </a:lnTo>
                <a:lnTo>
                  <a:pt x="383286" y="229107"/>
                </a:lnTo>
                <a:lnTo>
                  <a:pt x="350647" y="249427"/>
                </a:lnTo>
                <a:lnTo>
                  <a:pt x="288290" y="289687"/>
                </a:lnTo>
                <a:lnTo>
                  <a:pt x="230378" y="329564"/>
                </a:lnTo>
                <a:lnTo>
                  <a:pt x="177419" y="369188"/>
                </a:lnTo>
                <a:lnTo>
                  <a:pt x="130302" y="408558"/>
                </a:lnTo>
                <a:lnTo>
                  <a:pt x="89154" y="447675"/>
                </a:lnTo>
                <a:lnTo>
                  <a:pt x="54991" y="486537"/>
                </a:lnTo>
                <a:lnTo>
                  <a:pt x="28193" y="525652"/>
                </a:lnTo>
                <a:lnTo>
                  <a:pt x="9906" y="564514"/>
                </a:lnTo>
                <a:lnTo>
                  <a:pt x="635" y="604392"/>
                </a:lnTo>
                <a:lnTo>
                  <a:pt x="0" y="614298"/>
                </a:lnTo>
                <a:lnTo>
                  <a:pt x="127" y="624204"/>
                </a:lnTo>
                <a:lnTo>
                  <a:pt x="7112" y="663066"/>
                </a:lnTo>
                <a:lnTo>
                  <a:pt x="24256" y="700150"/>
                </a:lnTo>
                <a:lnTo>
                  <a:pt x="49911" y="734694"/>
                </a:lnTo>
                <a:lnTo>
                  <a:pt x="83185" y="767841"/>
                </a:lnTo>
                <a:lnTo>
                  <a:pt x="123571" y="799337"/>
                </a:lnTo>
                <a:lnTo>
                  <a:pt x="170306" y="830198"/>
                </a:lnTo>
                <a:lnTo>
                  <a:pt x="222758" y="860170"/>
                </a:lnTo>
                <a:lnTo>
                  <a:pt x="280797" y="889507"/>
                </a:lnTo>
                <a:lnTo>
                  <a:pt x="343281" y="918209"/>
                </a:lnTo>
                <a:lnTo>
                  <a:pt x="410083" y="946530"/>
                </a:lnTo>
                <a:lnTo>
                  <a:pt x="480441" y="974470"/>
                </a:lnTo>
                <a:lnTo>
                  <a:pt x="553719" y="1002156"/>
                </a:lnTo>
                <a:lnTo>
                  <a:pt x="629412" y="1029588"/>
                </a:lnTo>
                <a:lnTo>
                  <a:pt x="864489" y="1110995"/>
                </a:lnTo>
                <a:lnTo>
                  <a:pt x="876935" y="1074927"/>
                </a:lnTo>
                <a:lnTo>
                  <a:pt x="641985" y="993647"/>
                </a:lnTo>
                <a:lnTo>
                  <a:pt x="529971" y="952626"/>
                </a:lnTo>
                <a:lnTo>
                  <a:pt x="494030" y="938910"/>
                </a:lnTo>
                <a:lnTo>
                  <a:pt x="424434" y="911224"/>
                </a:lnTo>
                <a:lnTo>
                  <a:pt x="358394" y="883284"/>
                </a:lnTo>
                <a:lnTo>
                  <a:pt x="296925" y="854963"/>
                </a:lnTo>
                <a:lnTo>
                  <a:pt x="240411" y="826261"/>
                </a:lnTo>
                <a:lnTo>
                  <a:pt x="189611" y="797432"/>
                </a:lnTo>
                <a:lnTo>
                  <a:pt x="145161" y="767968"/>
                </a:lnTo>
                <a:lnTo>
                  <a:pt x="107442" y="738377"/>
                </a:lnTo>
                <a:lnTo>
                  <a:pt x="77724" y="708659"/>
                </a:lnTo>
                <a:lnTo>
                  <a:pt x="48260" y="664336"/>
                </a:lnTo>
                <a:lnTo>
                  <a:pt x="38100" y="621664"/>
                </a:lnTo>
                <a:lnTo>
                  <a:pt x="38100" y="614298"/>
                </a:lnTo>
                <a:lnTo>
                  <a:pt x="45974" y="576579"/>
                </a:lnTo>
                <a:lnTo>
                  <a:pt x="72643" y="526668"/>
                </a:lnTo>
                <a:lnTo>
                  <a:pt x="100456" y="491616"/>
                </a:lnTo>
                <a:lnTo>
                  <a:pt x="135762" y="455294"/>
                </a:lnTo>
                <a:lnTo>
                  <a:pt x="177927" y="417956"/>
                </a:lnTo>
                <a:lnTo>
                  <a:pt x="226441" y="379729"/>
                </a:lnTo>
                <a:lnTo>
                  <a:pt x="280669" y="340867"/>
                </a:lnTo>
                <a:lnTo>
                  <a:pt x="339852" y="301497"/>
                </a:lnTo>
                <a:lnTo>
                  <a:pt x="403352" y="261492"/>
                </a:lnTo>
                <a:lnTo>
                  <a:pt x="436499" y="241426"/>
                </a:lnTo>
                <a:lnTo>
                  <a:pt x="505460" y="201040"/>
                </a:lnTo>
                <a:lnTo>
                  <a:pt x="577088" y="160400"/>
                </a:lnTo>
                <a:lnTo>
                  <a:pt x="673835" y="107217"/>
                </a:lnTo>
                <a:lnTo>
                  <a:pt x="655762" y="73696"/>
                </a:lnTo>
                <a:close/>
              </a:path>
              <a:path w="876935" h="1111250">
                <a:moveTo>
                  <a:pt x="767831" y="64642"/>
                </a:moveTo>
                <a:lnTo>
                  <a:pt x="672338" y="64642"/>
                </a:lnTo>
                <a:lnTo>
                  <a:pt x="690626" y="98043"/>
                </a:lnTo>
                <a:lnTo>
                  <a:pt x="673835" y="107217"/>
                </a:lnTo>
                <a:lnTo>
                  <a:pt x="691896" y="140715"/>
                </a:lnTo>
                <a:lnTo>
                  <a:pt x="767831" y="64642"/>
                </a:lnTo>
                <a:close/>
              </a:path>
              <a:path w="876935" h="1111250">
                <a:moveTo>
                  <a:pt x="672338" y="64642"/>
                </a:moveTo>
                <a:lnTo>
                  <a:pt x="655762" y="73696"/>
                </a:lnTo>
                <a:lnTo>
                  <a:pt x="673835" y="107217"/>
                </a:lnTo>
                <a:lnTo>
                  <a:pt x="690626" y="98043"/>
                </a:lnTo>
                <a:lnTo>
                  <a:pt x="672338" y="64642"/>
                </a:lnTo>
                <a:close/>
              </a:path>
              <a:path w="876935" h="1111250">
                <a:moveTo>
                  <a:pt x="832358" y="0"/>
                </a:moveTo>
                <a:lnTo>
                  <a:pt x="637667" y="40131"/>
                </a:lnTo>
                <a:lnTo>
                  <a:pt x="655762" y="73696"/>
                </a:lnTo>
                <a:lnTo>
                  <a:pt x="672338" y="64642"/>
                </a:lnTo>
                <a:lnTo>
                  <a:pt x="767831" y="64642"/>
                </a:lnTo>
                <a:lnTo>
                  <a:pt x="832358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426711" y="14732"/>
            <a:ext cx="3071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371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</a:t>
            </a:r>
            <a:r>
              <a:rPr sz="2000" b="1" u="sng" spc="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控制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流分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与循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查</a:t>
            </a:r>
            <a:r>
              <a:rPr sz="2000" b="1" u="sng" spc="-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找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66622" y="4618482"/>
            <a:ext cx="695325" cy="646430"/>
          </a:xfrm>
          <a:custGeom>
            <a:avLst/>
            <a:gdLst/>
            <a:ahLst/>
            <a:cxnLst/>
            <a:rect l="l" t="t" r="r" b="b"/>
            <a:pathLst>
              <a:path w="695325" h="646429">
                <a:moveTo>
                  <a:pt x="0" y="323088"/>
                </a:moveTo>
                <a:lnTo>
                  <a:pt x="3767" y="275344"/>
                </a:lnTo>
                <a:lnTo>
                  <a:pt x="14712" y="229776"/>
                </a:lnTo>
                <a:lnTo>
                  <a:pt x="32295" y="186882"/>
                </a:lnTo>
                <a:lnTo>
                  <a:pt x="55981" y="147163"/>
                </a:lnTo>
                <a:lnTo>
                  <a:pt x="85231" y="111119"/>
                </a:lnTo>
                <a:lnTo>
                  <a:pt x="119507" y="79248"/>
                </a:lnTo>
                <a:lnTo>
                  <a:pt x="158272" y="52051"/>
                </a:lnTo>
                <a:lnTo>
                  <a:pt x="200989" y="30028"/>
                </a:lnTo>
                <a:lnTo>
                  <a:pt x="247119" y="13679"/>
                </a:lnTo>
                <a:lnTo>
                  <a:pt x="296126" y="3503"/>
                </a:lnTo>
                <a:lnTo>
                  <a:pt x="347472" y="0"/>
                </a:lnTo>
                <a:lnTo>
                  <a:pt x="398817" y="3503"/>
                </a:lnTo>
                <a:lnTo>
                  <a:pt x="447824" y="13679"/>
                </a:lnTo>
                <a:lnTo>
                  <a:pt x="493954" y="30028"/>
                </a:lnTo>
                <a:lnTo>
                  <a:pt x="536671" y="52051"/>
                </a:lnTo>
                <a:lnTo>
                  <a:pt x="575436" y="79248"/>
                </a:lnTo>
                <a:lnTo>
                  <a:pt x="609712" y="111119"/>
                </a:lnTo>
                <a:lnTo>
                  <a:pt x="638962" y="147163"/>
                </a:lnTo>
                <a:lnTo>
                  <a:pt x="662648" y="186882"/>
                </a:lnTo>
                <a:lnTo>
                  <a:pt x="680231" y="229776"/>
                </a:lnTo>
                <a:lnTo>
                  <a:pt x="691176" y="275344"/>
                </a:lnTo>
                <a:lnTo>
                  <a:pt x="694944" y="323088"/>
                </a:lnTo>
                <a:lnTo>
                  <a:pt x="691176" y="370831"/>
                </a:lnTo>
                <a:lnTo>
                  <a:pt x="680231" y="416399"/>
                </a:lnTo>
                <a:lnTo>
                  <a:pt x="662648" y="459293"/>
                </a:lnTo>
                <a:lnTo>
                  <a:pt x="638962" y="499012"/>
                </a:lnTo>
                <a:lnTo>
                  <a:pt x="609712" y="535056"/>
                </a:lnTo>
                <a:lnTo>
                  <a:pt x="575436" y="566927"/>
                </a:lnTo>
                <a:lnTo>
                  <a:pt x="536671" y="594124"/>
                </a:lnTo>
                <a:lnTo>
                  <a:pt x="493954" y="616147"/>
                </a:lnTo>
                <a:lnTo>
                  <a:pt x="447824" y="632496"/>
                </a:lnTo>
                <a:lnTo>
                  <a:pt x="398817" y="642672"/>
                </a:lnTo>
                <a:lnTo>
                  <a:pt x="347472" y="646176"/>
                </a:lnTo>
                <a:lnTo>
                  <a:pt x="296126" y="642672"/>
                </a:lnTo>
                <a:lnTo>
                  <a:pt x="247119" y="632496"/>
                </a:lnTo>
                <a:lnTo>
                  <a:pt x="200989" y="616147"/>
                </a:lnTo>
                <a:lnTo>
                  <a:pt x="158272" y="594124"/>
                </a:lnTo>
                <a:lnTo>
                  <a:pt x="119507" y="566927"/>
                </a:lnTo>
                <a:lnTo>
                  <a:pt x="85231" y="535056"/>
                </a:lnTo>
                <a:lnTo>
                  <a:pt x="55981" y="499012"/>
                </a:lnTo>
                <a:lnTo>
                  <a:pt x="32295" y="459293"/>
                </a:lnTo>
                <a:lnTo>
                  <a:pt x="14712" y="416399"/>
                </a:lnTo>
                <a:lnTo>
                  <a:pt x="3767" y="370831"/>
                </a:lnTo>
                <a:lnTo>
                  <a:pt x="0" y="323088"/>
                </a:lnTo>
                <a:close/>
              </a:path>
            </a:pathLst>
          </a:custGeom>
          <a:ln w="38099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415033" y="4688535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0727" y="4697603"/>
            <a:ext cx="972819" cy="530225"/>
          </a:xfrm>
          <a:custGeom>
            <a:avLst/>
            <a:gdLst/>
            <a:ahLst/>
            <a:cxnLst/>
            <a:rect l="l" t="t" r="r" b="b"/>
            <a:pathLst>
              <a:path w="972819" h="530225">
                <a:moveTo>
                  <a:pt x="757811" y="36614"/>
                </a:moveTo>
                <a:lnTo>
                  <a:pt x="597975" y="84201"/>
                </a:lnTo>
                <a:lnTo>
                  <a:pt x="478544" y="121285"/>
                </a:lnTo>
                <a:lnTo>
                  <a:pt x="367495" y="157480"/>
                </a:lnTo>
                <a:lnTo>
                  <a:pt x="299309" y="180975"/>
                </a:lnTo>
                <a:lnTo>
                  <a:pt x="236431" y="203962"/>
                </a:lnTo>
                <a:lnTo>
                  <a:pt x="179866" y="226314"/>
                </a:lnTo>
                <a:lnTo>
                  <a:pt x="129713" y="248031"/>
                </a:lnTo>
                <a:lnTo>
                  <a:pt x="87016" y="269113"/>
                </a:lnTo>
                <a:lnTo>
                  <a:pt x="52180" y="289560"/>
                </a:lnTo>
                <a:lnTo>
                  <a:pt x="19630" y="315722"/>
                </a:lnTo>
                <a:lnTo>
                  <a:pt x="478" y="350139"/>
                </a:lnTo>
                <a:lnTo>
                  <a:pt x="249" y="351155"/>
                </a:lnTo>
                <a:lnTo>
                  <a:pt x="110" y="352425"/>
                </a:lnTo>
                <a:lnTo>
                  <a:pt x="0" y="359209"/>
                </a:lnTo>
                <a:lnTo>
                  <a:pt x="216" y="360934"/>
                </a:lnTo>
                <a:lnTo>
                  <a:pt x="20430" y="395224"/>
                </a:lnTo>
                <a:lnTo>
                  <a:pt x="53158" y="414782"/>
                </a:lnTo>
                <a:lnTo>
                  <a:pt x="98065" y="430784"/>
                </a:lnTo>
                <a:lnTo>
                  <a:pt x="142426" y="442341"/>
                </a:lnTo>
                <a:lnTo>
                  <a:pt x="194026" y="452882"/>
                </a:lnTo>
                <a:lnTo>
                  <a:pt x="252306" y="462661"/>
                </a:lnTo>
                <a:lnTo>
                  <a:pt x="316683" y="471805"/>
                </a:lnTo>
                <a:lnTo>
                  <a:pt x="460840" y="488188"/>
                </a:lnTo>
                <a:lnTo>
                  <a:pt x="580055" y="499364"/>
                </a:lnTo>
                <a:lnTo>
                  <a:pt x="969945" y="529717"/>
                </a:lnTo>
                <a:lnTo>
                  <a:pt x="972739" y="491617"/>
                </a:lnTo>
                <a:lnTo>
                  <a:pt x="583294" y="461391"/>
                </a:lnTo>
                <a:lnTo>
                  <a:pt x="427046" y="446405"/>
                </a:lnTo>
                <a:lnTo>
                  <a:pt x="321458" y="433959"/>
                </a:lnTo>
                <a:lnTo>
                  <a:pt x="257818" y="424942"/>
                </a:lnTo>
                <a:lnTo>
                  <a:pt x="200655" y="415290"/>
                </a:lnTo>
                <a:lnTo>
                  <a:pt x="150529" y="405130"/>
                </a:lnTo>
                <a:lnTo>
                  <a:pt x="108212" y="394081"/>
                </a:lnTo>
                <a:lnTo>
                  <a:pt x="68156" y="379730"/>
                </a:lnTo>
                <a:lnTo>
                  <a:pt x="39897" y="360934"/>
                </a:lnTo>
                <a:lnTo>
                  <a:pt x="39099" y="359791"/>
                </a:lnTo>
                <a:lnTo>
                  <a:pt x="38959" y="359791"/>
                </a:lnTo>
                <a:lnTo>
                  <a:pt x="38702" y="359156"/>
                </a:lnTo>
                <a:lnTo>
                  <a:pt x="38451" y="359156"/>
                </a:lnTo>
                <a:lnTo>
                  <a:pt x="38277" y="358394"/>
                </a:lnTo>
                <a:lnTo>
                  <a:pt x="38083" y="358394"/>
                </a:lnTo>
                <a:lnTo>
                  <a:pt x="38050" y="357886"/>
                </a:lnTo>
                <a:lnTo>
                  <a:pt x="37778" y="357886"/>
                </a:lnTo>
                <a:lnTo>
                  <a:pt x="37900" y="356825"/>
                </a:lnTo>
                <a:lnTo>
                  <a:pt x="37727" y="355981"/>
                </a:lnTo>
                <a:lnTo>
                  <a:pt x="37928" y="355981"/>
                </a:lnTo>
                <a:lnTo>
                  <a:pt x="37880" y="355219"/>
                </a:lnTo>
                <a:lnTo>
                  <a:pt x="38084" y="355219"/>
                </a:lnTo>
                <a:lnTo>
                  <a:pt x="38172" y="354457"/>
                </a:lnTo>
                <a:lnTo>
                  <a:pt x="38496" y="354457"/>
                </a:lnTo>
                <a:lnTo>
                  <a:pt x="67039" y="325501"/>
                </a:lnTo>
                <a:lnTo>
                  <a:pt x="105545" y="302387"/>
                </a:lnTo>
                <a:lnTo>
                  <a:pt x="146096" y="282448"/>
                </a:lnTo>
                <a:lnTo>
                  <a:pt x="194623" y="261493"/>
                </a:lnTo>
                <a:lnTo>
                  <a:pt x="250262" y="239395"/>
                </a:lnTo>
                <a:lnTo>
                  <a:pt x="312161" y="216789"/>
                </a:lnTo>
                <a:lnTo>
                  <a:pt x="415476" y="181610"/>
                </a:lnTo>
                <a:lnTo>
                  <a:pt x="609189" y="120650"/>
                </a:lnTo>
                <a:lnTo>
                  <a:pt x="768499" y="73227"/>
                </a:lnTo>
                <a:lnTo>
                  <a:pt x="757811" y="36614"/>
                </a:lnTo>
                <a:close/>
              </a:path>
              <a:path w="972819" h="530225">
                <a:moveTo>
                  <a:pt x="38771" y="359209"/>
                </a:moveTo>
                <a:lnTo>
                  <a:pt x="39785" y="360934"/>
                </a:lnTo>
                <a:lnTo>
                  <a:pt x="39473" y="360310"/>
                </a:lnTo>
                <a:lnTo>
                  <a:pt x="38771" y="359209"/>
                </a:lnTo>
                <a:close/>
              </a:path>
              <a:path w="972819" h="530225">
                <a:moveTo>
                  <a:pt x="39473" y="360310"/>
                </a:moveTo>
                <a:lnTo>
                  <a:pt x="39785" y="360934"/>
                </a:lnTo>
                <a:lnTo>
                  <a:pt x="39708" y="360680"/>
                </a:lnTo>
                <a:lnTo>
                  <a:pt x="39473" y="360310"/>
                </a:lnTo>
                <a:close/>
              </a:path>
              <a:path w="972819" h="530225">
                <a:moveTo>
                  <a:pt x="38494" y="358353"/>
                </a:moveTo>
                <a:lnTo>
                  <a:pt x="38705" y="359006"/>
                </a:lnTo>
                <a:lnTo>
                  <a:pt x="38820" y="359286"/>
                </a:lnTo>
                <a:lnTo>
                  <a:pt x="39473" y="360310"/>
                </a:lnTo>
                <a:lnTo>
                  <a:pt x="38494" y="358353"/>
                </a:lnTo>
                <a:close/>
              </a:path>
              <a:path w="972819" h="530225">
                <a:moveTo>
                  <a:pt x="38669" y="359075"/>
                </a:moveTo>
                <a:lnTo>
                  <a:pt x="38959" y="359791"/>
                </a:lnTo>
                <a:lnTo>
                  <a:pt x="38796" y="359286"/>
                </a:lnTo>
                <a:lnTo>
                  <a:pt x="38669" y="359075"/>
                </a:lnTo>
                <a:close/>
              </a:path>
              <a:path w="972819" h="530225">
                <a:moveTo>
                  <a:pt x="38796" y="359286"/>
                </a:moveTo>
                <a:lnTo>
                  <a:pt x="38959" y="359791"/>
                </a:lnTo>
                <a:lnTo>
                  <a:pt x="39099" y="359791"/>
                </a:lnTo>
                <a:lnTo>
                  <a:pt x="38796" y="359286"/>
                </a:lnTo>
                <a:close/>
              </a:path>
              <a:path w="972819" h="530225">
                <a:moveTo>
                  <a:pt x="38269" y="357903"/>
                </a:moveTo>
                <a:lnTo>
                  <a:pt x="38377" y="358353"/>
                </a:lnTo>
                <a:lnTo>
                  <a:pt x="38642" y="359006"/>
                </a:lnTo>
                <a:lnTo>
                  <a:pt x="38771" y="359209"/>
                </a:lnTo>
                <a:lnTo>
                  <a:pt x="38494" y="358353"/>
                </a:lnTo>
                <a:lnTo>
                  <a:pt x="38269" y="357903"/>
                </a:lnTo>
                <a:close/>
              </a:path>
              <a:path w="972819" h="530225">
                <a:moveTo>
                  <a:pt x="38127" y="357736"/>
                </a:moveTo>
                <a:lnTo>
                  <a:pt x="38451" y="359156"/>
                </a:lnTo>
                <a:lnTo>
                  <a:pt x="38311" y="358189"/>
                </a:lnTo>
                <a:lnTo>
                  <a:pt x="38127" y="357736"/>
                </a:lnTo>
                <a:close/>
              </a:path>
              <a:path w="972819" h="530225">
                <a:moveTo>
                  <a:pt x="38413" y="358648"/>
                </a:moveTo>
                <a:lnTo>
                  <a:pt x="38451" y="359156"/>
                </a:lnTo>
                <a:lnTo>
                  <a:pt x="38702" y="359156"/>
                </a:lnTo>
                <a:lnTo>
                  <a:pt x="38413" y="358648"/>
                </a:lnTo>
                <a:close/>
              </a:path>
              <a:path w="972819" h="530225">
                <a:moveTo>
                  <a:pt x="38496" y="358648"/>
                </a:moveTo>
                <a:lnTo>
                  <a:pt x="38642" y="359006"/>
                </a:lnTo>
                <a:lnTo>
                  <a:pt x="38496" y="358648"/>
                </a:lnTo>
                <a:close/>
              </a:path>
              <a:path w="972819" h="530225">
                <a:moveTo>
                  <a:pt x="38311" y="358189"/>
                </a:moveTo>
                <a:lnTo>
                  <a:pt x="38377" y="358648"/>
                </a:lnTo>
                <a:lnTo>
                  <a:pt x="38311" y="358189"/>
                </a:lnTo>
                <a:close/>
              </a:path>
              <a:path w="972819" h="530225">
                <a:moveTo>
                  <a:pt x="38099" y="357666"/>
                </a:moveTo>
                <a:lnTo>
                  <a:pt x="38083" y="358394"/>
                </a:lnTo>
                <a:lnTo>
                  <a:pt x="38277" y="358394"/>
                </a:lnTo>
                <a:lnTo>
                  <a:pt x="38099" y="357666"/>
                </a:lnTo>
                <a:close/>
              </a:path>
              <a:path w="972819" h="530225">
                <a:moveTo>
                  <a:pt x="38204" y="357457"/>
                </a:moveTo>
                <a:lnTo>
                  <a:pt x="38269" y="357903"/>
                </a:lnTo>
                <a:lnTo>
                  <a:pt x="38494" y="358353"/>
                </a:lnTo>
                <a:lnTo>
                  <a:pt x="38204" y="357457"/>
                </a:lnTo>
                <a:close/>
              </a:path>
              <a:path w="972819" h="530225">
                <a:moveTo>
                  <a:pt x="38101" y="357567"/>
                </a:moveTo>
                <a:lnTo>
                  <a:pt x="38188" y="357886"/>
                </a:lnTo>
                <a:lnTo>
                  <a:pt x="38311" y="358189"/>
                </a:lnTo>
                <a:lnTo>
                  <a:pt x="38186" y="357736"/>
                </a:lnTo>
                <a:lnTo>
                  <a:pt x="38101" y="357567"/>
                </a:lnTo>
                <a:close/>
              </a:path>
              <a:path w="972819" h="530225">
                <a:moveTo>
                  <a:pt x="38110" y="357166"/>
                </a:moveTo>
                <a:lnTo>
                  <a:pt x="38151" y="357666"/>
                </a:lnTo>
                <a:lnTo>
                  <a:pt x="38269" y="357903"/>
                </a:lnTo>
                <a:lnTo>
                  <a:pt x="38187" y="357403"/>
                </a:lnTo>
                <a:lnTo>
                  <a:pt x="38110" y="357166"/>
                </a:lnTo>
                <a:close/>
              </a:path>
              <a:path w="972819" h="530225">
                <a:moveTo>
                  <a:pt x="37880" y="357124"/>
                </a:moveTo>
                <a:lnTo>
                  <a:pt x="37778" y="357886"/>
                </a:lnTo>
                <a:lnTo>
                  <a:pt x="37879" y="357403"/>
                </a:lnTo>
                <a:lnTo>
                  <a:pt x="37880" y="357124"/>
                </a:lnTo>
                <a:close/>
              </a:path>
              <a:path w="972819" h="530225">
                <a:moveTo>
                  <a:pt x="37918" y="357218"/>
                </a:moveTo>
                <a:lnTo>
                  <a:pt x="37778" y="357886"/>
                </a:lnTo>
                <a:lnTo>
                  <a:pt x="38050" y="357886"/>
                </a:lnTo>
                <a:lnTo>
                  <a:pt x="37993" y="357403"/>
                </a:lnTo>
                <a:lnTo>
                  <a:pt x="37918" y="357218"/>
                </a:lnTo>
                <a:close/>
              </a:path>
              <a:path w="972819" h="530225">
                <a:moveTo>
                  <a:pt x="37938" y="357124"/>
                </a:moveTo>
                <a:close/>
              </a:path>
              <a:path w="972819" h="530225">
                <a:moveTo>
                  <a:pt x="37906" y="356767"/>
                </a:moveTo>
                <a:lnTo>
                  <a:pt x="37865" y="357124"/>
                </a:lnTo>
                <a:lnTo>
                  <a:pt x="37906" y="356767"/>
                </a:lnTo>
                <a:close/>
              </a:path>
              <a:path w="972819" h="530225">
                <a:moveTo>
                  <a:pt x="37727" y="355981"/>
                </a:moveTo>
                <a:lnTo>
                  <a:pt x="37906" y="356767"/>
                </a:lnTo>
                <a:lnTo>
                  <a:pt x="37796" y="356192"/>
                </a:lnTo>
                <a:lnTo>
                  <a:pt x="37727" y="355981"/>
                </a:lnTo>
                <a:close/>
              </a:path>
              <a:path w="972819" h="530225">
                <a:moveTo>
                  <a:pt x="37928" y="355981"/>
                </a:moveTo>
                <a:lnTo>
                  <a:pt x="37727" y="355981"/>
                </a:lnTo>
                <a:lnTo>
                  <a:pt x="37926" y="356596"/>
                </a:lnTo>
                <a:lnTo>
                  <a:pt x="37928" y="355981"/>
                </a:lnTo>
                <a:close/>
              </a:path>
              <a:path w="972819" h="530225">
                <a:moveTo>
                  <a:pt x="38496" y="354457"/>
                </a:moveTo>
                <a:lnTo>
                  <a:pt x="38172" y="354457"/>
                </a:lnTo>
                <a:lnTo>
                  <a:pt x="38132" y="356192"/>
                </a:lnTo>
                <a:lnTo>
                  <a:pt x="38496" y="354457"/>
                </a:lnTo>
                <a:close/>
              </a:path>
              <a:path w="972819" h="530225">
                <a:moveTo>
                  <a:pt x="38084" y="355219"/>
                </a:moveTo>
                <a:lnTo>
                  <a:pt x="37880" y="355219"/>
                </a:lnTo>
                <a:lnTo>
                  <a:pt x="37994" y="356006"/>
                </a:lnTo>
                <a:lnTo>
                  <a:pt x="38084" y="355219"/>
                </a:lnTo>
                <a:close/>
              </a:path>
              <a:path w="972819" h="530225">
                <a:moveTo>
                  <a:pt x="899992" y="31242"/>
                </a:moveTo>
                <a:lnTo>
                  <a:pt x="776029" y="31242"/>
                </a:lnTo>
                <a:lnTo>
                  <a:pt x="786824" y="67818"/>
                </a:lnTo>
                <a:lnTo>
                  <a:pt x="768499" y="73227"/>
                </a:lnTo>
                <a:lnTo>
                  <a:pt x="779153" y="109728"/>
                </a:lnTo>
                <a:lnTo>
                  <a:pt x="899992" y="31242"/>
                </a:lnTo>
                <a:close/>
              </a:path>
              <a:path w="972819" h="530225">
                <a:moveTo>
                  <a:pt x="776029" y="31242"/>
                </a:moveTo>
                <a:lnTo>
                  <a:pt x="757811" y="36614"/>
                </a:lnTo>
                <a:lnTo>
                  <a:pt x="768499" y="73227"/>
                </a:lnTo>
                <a:lnTo>
                  <a:pt x="786824" y="67818"/>
                </a:lnTo>
                <a:lnTo>
                  <a:pt x="776029" y="31242"/>
                </a:lnTo>
                <a:close/>
              </a:path>
              <a:path w="972819" h="530225">
                <a:moveTo>
                  <a:pt x="747124" y="0"/>
                </a:moveTo>
                <a:lnTo>
                  <a:pt x="757811" y="36614"/>
                </a:lnTo>
                <a:lnTo>
                  <a:pt x="776029" y="31242"/>
                </a:lnTo>
                <a:lnTo>
                  <a:pt x="899992" y="31242"/>
                </a:lnTo>
                <a:lnTo>
                  <a:pt x="945942" y="1397"/>
                </a:lnTo>
                <a:lnTo>
                  <a:pt x="747124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489828" y="1781487"/>
            <a:ext cx="2809875" cy="429895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  <a:tabLst>
                <a:tab pos="1156970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D(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	{1}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1156970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D(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8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	{1,2}</a:t>
            </a:r>
            <a:endParaRPr sz="280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  <a:spcBef>
                <a:spcPts val="1665"/>
              </a:spcBef>
              <a:tabLst>
                <a:tab pos="1252220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D(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8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	{1, 2,</a:t>
            </a:r>
            <a:r>
              <a:rPr sz="28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3}</a:t>
            </a:r>
            <a:endParaRPr sz="280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  <a:spcBef>
                <a:spcPts val="1010"/>
              </a:spcBef>
              <a:tabLst>
                <a:tab pos="1252220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D(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	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{1, 2,</a:t>
            </a:r>
            <a:r>
              <a:rPr sz="28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4}</a:t>
            </a:r>
            <a:endParaRPr sz="28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211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D(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 =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{1, 2, 4,</a:t>
            </a:r>
            <a:r>
              <a:rPr sz="28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5}</a:t>
            </a:r>
            <a:endParaRPr sz="28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1045"/>
              </a:spcBef>
              <a:tabLst>
                <a:tab pos="978535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D(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	=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{1, 2, 4,</a:t>
            </a:r>
            <a:r>
              <a:rPr sz="28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6}</a:t>
            </a:r>
            <a:endParaRPr sz="28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2285"/>
              </a:spcBef>
              <a:tabLst>
                <a:tab pos="978535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D(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	=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{1, 2, 4,</a:t>
            </a:r>
            <a:r>
              <a:rPr sz="28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7}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866" y="339343"/>
            <a:ext cx="3607435" cy="58737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58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31165" algn="l"/>
                <a:tab pos="431800" algn="l"/>
                <a:tab pos="1962150" algn="l"/>
              </a:tabLst>
            </a:pP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sz="3200" u="none" spc="5" dirty="0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sz="3200" u="none" dirty="0">
                <a:solidFill>
                  <a:srgbClr val="FFFF00"/>
                </a:solidFill>
                <a:latin typeface="Times New Roman"/>
                <a:cs typeface="Times New Roman"/>
              </a:rPr>
              <a:t>.5	</a:t>
            </a: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（回边</a:t>
            </a:r>
            <a:r>
              <a:rPr sz="3200" u="none" spc="-10" dirty="0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1866" y="888938"/>
            <a:ext cx="8596630" cy="11106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4270"/>
              </a:lnSpc>
              <a:spcBef>
                <a:spcPts val="310"/>
              </a:spcBef>
              <a:buClr>
                <a:srgbClr val="66FFFF"/>
              </a:buClr>
              <a:buSzPct val="110937"/>
              <a:buFont typeface="Wingdings"/>
              <a:buChar char=""/>
              <a:tabLst>
                <a:tab pos="227965" algn="l"/>
                <a:tab pos="7800975" algn="l"/>
              </a:tabLst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a→b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是流图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中一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条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有向</a:t>
            </a:r>
            <a:r>
              <a:rPr sz="3200" b="1" spc="15" dirty="0">
                <a:solidFill>
                  <a:srgbClr val="FFFFFF"/>
                </a:solidFill>
                <a:latin typeface="宋体"/>
                <a:cs typeface="宋体"/>
              </a:rPr>
              <a:t>边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如果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b</a:t>
            </a:r>
            <a:r>
              <a:rPr sz="3200" b="1" spc="-35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 </a:t>
            </a:r>
            <a:r>
              <a:rPr sz="3200" b="1" spc="5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DOM	</a:t>
            </a:r>
            <a:r>
              <a:rPr sz="3200" b="1" spc="-5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a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，  则称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a→b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是流图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条</a:t>
            </a:r>
            <a:r>
              <a:rPr sz="32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回</a:t>
            </a:r>
            <a:r>
              <a:rPr sz="3200" b="1" spc="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边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sz="3200" b="1" spc="-4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&lt;a,</a:t>
            </a:r>
            <a:r>
              <a:rPr sz="3200" b="1" spc="-30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b&gt;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27301" y="14732"/>
            <a:ext cx="54705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1510" algn="l"/>
                <a:tab pos="2411730" algn="l"/>
                <a:tab pos="2913380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Ch8	</a:t>
            </a:r>
            <a:r>
              <a:rPr sz="20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</a:t>
            </a:r>
            <a:r>
              <a:rPr sz="2000" b="1" dirty="0">
                <a:solidFill>
                  <a:srgbClr val="A15100"/>
                </a:solidFill>
                <a:latin typeface="华文新魏"/>
                <a:cs typeface="华文新魏"/>
              </a:rPr>
              <a:t>优化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</a:t>
            </a:r>
            <a:r>
              <a:rPr sz="2000" b="1" u="sng" spc="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控制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流分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与循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查</a:t>
            </a:r>
            <a:r>
              <a:rPr sz="2000" b="1" u="sng" spc="-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找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0517" y="2168495"/>
            <a:ext cx="3696970" cy="10541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1233170" algn="l"/>
              </a:tabLst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例</a:t>
            </a:r>
            <a:r>
              <a:rPr sz="3200" b="1" dirty="0">
                <a:solidFill>
                  <a:srgbClr val="FFFF66"/>
                </a:solidFill>
                <a:latin typeface="Times New Roman"/>
                <a:cs typeface="Times New Roman"/>
              </a:rPr>
              <a:t>8.5	</a:t>
            </a: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设有如下流图</a:t>
            </a:r>
            <a:endParaRPr sz="3200" dirty="0">
              <a:latin typeface="宋体"/>
              <a:cs typeface="宋体"/>
            </a:endParaRPr>
          </a:p>
          <a:p>
            <a:pPr marR="976630" algn="r">
              <a:lnSpc>
                <a:spcPct val="100000"/>
              </a:lnSpc>
              <a:spcBef>
                <a:spcPts val="41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3685" y="3789426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63088" y="4861940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5745" y="4268215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63088" y="6214973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97121" y="5483148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67646" y="2682239"/>
            <a:ext cx="4595437" cy="41269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15033" y="5517896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70652" y="3175567"/>
            <a:ext cx="2696210" cy="353314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105"/>
              </a:spcBef>
              <a:tabLst>
                <a:tab pos="1160145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D(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	{1}</a:t>
            </a:r>
            <a:endParaRPr sz="2800" dirty="0">
              <a:latin typeface="Times New Roman"/>
              <a:cs typeface="Times New Roman"/>
            </a:endParaRPr>
          </a:p>
          <a:p>
            <a:pPr marL="15240">
              <a:lnSpc>
                <a:spcPts val="3185"/>
              </a:lnSpc>
              <a:spcBef>
                <a:spcPts val="1005"/>
              </a:spcBef>
              <a:tabLst>
                <a:tab pos="1160145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D(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8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	{1,2}</a:t>
            </a:r>
            <a:endParaRPr sz="2800" dirty="0">
              <a:latin typeface="Times New Roman"/>
              <a:cs typeface="Times New Roman"/>
            </a:endParaRPr>
          </a:p>
          <a:p>
            <a:pPr marL="14604">
              <a:lnSpc>
                <a:spcPts val="3185"/>
              </a:lnSpc>
              <a:tabLst>
                <a:tab pos="1159510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D(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	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{1, 2,</a:t>
            </a:r>
            <a:r>
              <a:rPr sz="28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3}</a:t>
            </a:r>
            <a:endParaRPr sz="2800" dirty="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1015"/>
              </a:spcBef>
              <a:tabLst>
                <a:tab pos="1159510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D(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	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{1, 2,</a:t>
            </a:r>
            <a:r>
              <a:rPr sz="28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4}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D(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 = {1, 2,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4,</a:t>
            </a:r>
            <a:r>
              <a:rPr sz="2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5}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  <a:tabLst>
                <a:tab pos="864235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D(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	=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{1, 2, 4,</a:t>
            </a:r>
            <a:r>
              <a:rPr sz="28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6}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4235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D(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	= {1, 2,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4,</a:t>
            </a:r>
            <a:r>
              <a:rPr sz="28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7}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01896" y="2039111"/>
            <a:ext cx="4642485" cy="1271270"/>
          </a:xfrm>
          <a:prstGeom prst="rect">
            <a:avLst/>
          </a:prstGeom>
          <a:ln w="57150">
            <a:solidFill>
              <a:srgbClr val="FF66FF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60"/>
              </a:spcBef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流图中的回边</a:t>
            </a:r>
            <a:r>
              <a:rPr sz="3200" b="1" spc="5" dirty="0">
                <a:solidFill>
                  <a:srgbClr val="66FFFF"/>
                </a:solidFill>
                <a:latin typeface="宋体"/>
                <a:cs typeface="宋体"/>
              </a:rPr>
              <a:t>有</a:t>
            </a:r>
            <a:r>
              <a:rPr sz="32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条：</a:t>
            </a:r>
            <a:endParaRPr sz="3200">
              <a:latin typeface="宋体"/>
              <a:cs typeface="宋体"/>
            </a:endParaRPr>
          </a:p>
          <a:p>
            <a:pPr marL="92075">
              <a:lnSpc>
                <a:spcPct val="100000"/>
              </a:lnSpc>
              <a:spcBef>
                <a:spcPts val="575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4→2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6→6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和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7→4</a:t>
            </a:r>
            <a:r>
              <a:rPr sz="32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40735" y="5437632"/>
            <a:ext cx="228600" cy="706120"/>
          </a:xfrm>
          <a:custGeom>
            <a:avLst/>
            <a:gdLst/>
            <a:ahLst/>
            <a:cxnLst/>
            <a:rect l="l" t="t" r="r" b="b"/>
            <a:pathLst>
              <a:path w="228600" h="706120">
                <a:moveTo>
                  <a:pt x="152400" y="190500"/>
                </a:moveTo>
                <a:lnTo>
                  <a:pt x="76200" y="190500"/>
                </a:lnTo>
                <a:lnTo>
                  <a:pt x="76200" y="705612"/>
                </a:lnTo>
                <a:lnTo>
                  <a:pt x="152400" y="705612"/>
                </a:lnTo>
                <a:lnTo>
                  <a:pt x="152400" y="190500"/>
                </a:lnTo>
                <a:close/>
              </a:path>
              <a:path w="228600" h="706120">
                <a:moveTo>
                  <a:pt x="114300" y="0"/>
                </a:moveTo>
                <a:lnTo>
                  <a:pt x="0" y="228600"/>
                </a:lnTo>
                <a:lnTo>
                  <a:pt x="76200" y="228600"/>
                </a:lnTo>
                <a:lnTo>
                  <a:pt x="76200" y="190500"/>
                </a:lnTo>
                <a:lnTo>
                  <a:pt x="209550" y="190500"/>
                </a:lnTo>
                <a:lnTo>
                  <a:pt x="114300" y="0"/>
                </a:lnTo>
                <a:close/>
              </a:path>
              <a:path w="228600" h="706120">
                <a:moveTo>
                  <a:pt x="209550" y="190500"/>
                </a:moveTo>
                <a:lnTo>
                  <a:pt x="152400" y="190500"/>
                </a:lnTo>
                <a:lnTo>
                  <a:pt x="152400" y="228600"/>
                </a:lnTo>
                <a:lnTo>
                  <a:pt x="228600" y="228600"/>
                </a:lnTo>
                <a:lnTo>
                  <a:pt x="209550" y="1905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12953"/>
            <a:ext cx="9144000" cy="435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12953"/>
            <a:ext cx="9144000" cy="436245"/>
          </a:xfrm>
          <a:custGeom>
            <a:avLst/>
            <a:gdLst/>
            <a:ahLst/>
            <a:cxnLst/>
            <a:rect l="l" t="t" r="r" b="b"/>
            <a:pathLst>
              <a:path w="9144000" h="436245">
                <a:moveTo>
                  <a:pt x="0" y="435863"/>
                </a:moveTo>
                <a:lnTo>
                  <a:pt x="9144000" y="435863"/>
                </a:lnTo>
                <a:lnTo>
                  <a:pt x="9144000" y="0"/>
                </a:lnTo>
                <a:lnTo>
                  <a:pt x="0" y="0"/>
                </a:lnTo>
                <a:lnTo>
                  <a:pt x="0" y="435863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7254" y="435101"/>
            <a:ext cx="8900160" cy="24094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7254" y="435101"/>
            <a:ext cx="8900160" cy="2409825"/>
          </a:xfrm>
          <a:custGeom>
            <a:avLst/>
            <a:gdLst/>
            <a:ahLst/>
            <a:cxnLst/>
            <a:rect l="l" t="t" r="r" b="b"/>
            <a:pathLst>
              <a:path w="8900160" h="2409825">
                <a:moveTo>
                  <a:pt x="0" y="2409444"/>
                </a:moveTo>
                <a:lnTo>
                  <a:pt x="8900160" y="2409444"/>
                </a:lnTo>
                <a:lnTo>
                  <a:pt x="8900160" y="0"/>
                </a:lnTo>
                <a:lnTo>
                  <a:pt x="0" y="0"/>
                </a:lnTo>
                <a:lnTo>
                  <a:pt x="0" y="240944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5841" y="0"/>
            <a:ext cx="8640445" cy="6690421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473075" algn="ctr">
              <a:lnSpc>
                <a:spcPct val="100000"/>
              </a:lnSpc>
              <a:spcBef>
                <a:spcPts val="415"/>
              </a:spcBef>
              <a:tabLst>
                <a:tab pos="1111885" algn="l"/>
                <a:tab pos="2872105" algn="l"/>
                <a:tab pos="3373754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Ch8	</a:t>
            </a:r>
            <a:r>
              <a:rPr sz="20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</a:t>
            </a:r>
            <a:r>
              <a:rPr sz="2000" b="1" dirty="0">
                <a:solidFill>
                  <a:srgbClr val="A15100"/>
                </a:solidFill>
                <a:latin typeface="华文新魏"/>
                <a:cs typeface="华文新魏"/>
              </a:rPr>
              <a:t>优化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8.3	</a:t>
            </a:r>
            <a:r>
              <a:rPr sz="2000" b="1" u="sng" spc="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控制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流分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与循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查</a:t>
            </a:r>
            <a:r>
              <a:rPr sz="2000" b="1" u="sng" spc="-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找</a:t>
            </a:r>
            <a:endParaRPr sz="2000" dirty="0">
              <a:latin typeface="华文新魏"/>
              <a:cs typeface="华文新魏"/>
            </a:endParaRPr>
          </a:p>
          <a:p>
            <a:pPr marL="411480" indent="-399415" algn="just">
              <a:lnSpc>
                <a:spcPct val="100000"/>
              </a:lnSpc>
              <a:spcBef>
                <a:spcPts val="690"/>
              </a:spcBef>
              <a:buSzPct val="104687"/>
              <a:buFont typeface="Wingdings"/>
              <a:buChar char=""/>
              <a:tabLst>
                <a:tab pos="412115" algn="l"/>
              </a:tabLst>
            </a:pPr>
            <a:r>
              <a:rPr sz="3200" b="1" spc="-5" dirty="0">
                <a:latin typeface="宋体"/>
                <a:cs typeface="宋体"/>
              </a:rPr>
              <a:t>利用回边求出流图中的循环：</a:t>
            </a:r>
            <a:endParaRPr sz="3200" dirty="0">
              <a:latin typeface="宋体"/>
              <a:cs typeface="宋体"/>
            </a:endParaRPr>
          </a:p>
          <a:p>
            <a:pPr marL="12700" marR="5080" indent="819785" algn="just">
              <a:lnSpc>
                <a:spcPts val="4990"/>
              </a:lnSpc>
              <a:spcBef>
                <a:spcPts val="195"/>
              </a:spcBef>
            </a:pPr>
            <a:r>
              <a:rPr sz="3200" b="1" dirty="0">
                <a:latin typeface="宋体"/>
                <a:cs typeface="宋体"/>
              </a:rPr>
              <a:t>若</a:t>
            </a:r>
            <a:r>
              <a:rPr sz="3200" b="1" dirty="0">
                <a:latin typeface="Times New Roman"/>
                <a:cs typeface="Times New Roman"/>
              </a:rPr>
              <a:t>&lt;n,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d&gt;</a:t>
            </a:r>
            <a:r>
              <a:rPr sz="3200" b="1" dirty="0">
                <a:latin typeface="宋体"/>
                <a:cs typeface="宋体"/>
              </a:rPr>
              <a:t>是一回边，则由</a:t>
            </a:r>
            <a:r>
              <a:rPr sz="3200" b="1" dirty="0">
                <a:highlight>
                  <a:srgbClr val="808000"/>
                </a:highlight>
                <a:latin typeface="宋体"/>
                <a:cs typeface="宋体"/>
              </a:rPr>
              <a:t>结</a:t>
            </a:r>
            <a:r>
              <a:rPr sz="3200" b="1" spc="5" dirty="0">
                <a:highlight>
                  <a:srgbClr val="808000"/>
                </a:highlight>
                <a:latin typeface="宋体"/>
                <a:cs typeface="宋体"/>
              </a:rPr>
              <a:t>点</a:t>
            </a:r>
            <a:r>
              <a:rPr sz="3200" b="1" spc="-10" dirty="0">
                <a:solidFill>
                  <a:srgbClr val="A73737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d</a:t>
            </a:r>
            <a:r>
              <a:rPr sz="3200" b="1" dirty="0">
                <a:latin typeface="宋体"/>
                <a:cs typeface="宋体"/>
              </a:rPr>
              <a:t>、</a:t>
            </a:r>
            <a:r>
              <a:rPr sz="3200" b="1" spc="-10" dirty="0">
                <a:highlight>
                  <a:srgbClr val="808000"/>
                </a:highlight>
                <a:latin typeface="宋体"/>
                <a:cs typeface="宋体"/>
              </a:rPr>
              <a:t>结</a:t>
            </a:r>
            <a:r>
              <a:rPr sz="3200" b="1" dirty="0">
                <a:highlight>
                  <a:srgbClr val="808000"/>
                </a:highlight>
                <a:latin typeface="宋体"/>
                <a:cs typeface="宋体"/>
              </a:rPr>
              <a:t>点</a:t>
            </a:r>
            <a:r>
              <a:rPr sz="3200" b="1" spc="-10" dirty="0">
                <a:solidFill>
                  <a:srgbClr val="A73737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n</a:t>
            </a:r>
            <a:r>
              <a:rPr sz="3200" b="1" dirty="0">
                <a:latin typeface="宋体"/>
                <a:cs typeface="宋体"/>
              </a:rPr>
              <a:t>以及 </a:t>
            </a:r>
            <a:r>
              <a:rPr sz="3200" b="1" spc="-5" dirty="0">
                <a:highlight>
                  <a:srgbClr val="808000"/>
                </a:highlight>
                <a:latin typeface="宋体"/>
                <a:cs typeface="宋体"/>
              </a:rPr>
              <a:t>所有通路到</a:t>
            </a:r>
            <a:r>
              <a:rPr sz="3200" b="1" dirty="0">
                <a:highlight>
                  <a:srgbClr val="808000"/>
                </a:highlight>
                <a:latin typeface="宋体"/>
                <a:cs typeface="宋体"/>
              </a:rPr>
              <a:t>达</a:t>
            </a:r>
            <a:r>
              <a:rPr sz="3200" b="1" spc="-10" dirty="0">
                <a:highlight>
                  <a:srgbClr val="808000"/>
                </a:highlight>
                <a:latin typeface="Times New Roman"/>
                <a:cs typeface="Times New Roman"/>
              </a:rPr>
              <a:t>n</a:t>
            </a:r>
            <a:r>
              <a:rPr sz="3200" b="1" spc="-10" dirty="0">
                <a:highlight>
                  <a:srgbClr val="808000"/>
                </a:highlight>
                <a:latin typeface="宋体"/>
                <a:cs typeface="宋体"/>
              </a:rPr>
              <a:t>而</a:t>
            </a:r>
            <a:r>
              <a:rPr sz="3200" b="1" spc="5" dirty="0">
                <a:highlight>
                  <a:srgbClr val="808000"/>
                </a:highlight>
                <a:latin typeface="宋体"/>
                <a:cs typeface="宋体"/>
              </a:rPr>
              <a:t>该</a:t>
            </a:r>
            <a:r>
              <a:rPr sz="3200" b="1" spc="-10" dirty="0">
                <a:highlight>
                  <a:srgbClr val="808000"/>
                </a:highlight>
                <a:latin typeface="宋体"/>
                <a:cs typeface="宋体"/>
              </a:rPr>
              <a:t>通</a:t>
            </a:r>
            <a:r>
              <a:rPr sz="3200" b="1" spc="5" dirty="0">
                <a:highlight>
                  <a:srgbClr val="808000"/>
                </a:highlight>
                <a:latin typeface="宋体"/>
                <a:cs typeface="宋体"/>
              </a:rPr>
              <a:t>路</a:t>
            </a:r>
            <a:r>
              <a:rPr sz="3200" b="1" spc="-10" dirty="0">
                <a:highlight>
                  <a:srgbClr val="808000"/>
                </a:highlight>
                <a:latin typeface="宋体"/>
                <a:cs typeface="宋体"/>
              </a:rPr>
              <a:t>不经</a:t>
            </a:r>
            <a:r>
              <a:rPr sz="3200" b="1" spc="15" dirty="0">
                <a:highlight>
                  <a:srgbClr val="808000"/>
                </a:highlight>
                <a:latin typeface="宋体"/>
                <a:cs typeface="宋体"/>
              </a:rPr>
              <a:t>过</a:t>
            </a:r>
            <a:r>
              <a:rPr sz="3200" b="1" spc="-10" dirty="0">
                <a:highlight>
                  <a:srgbClr val="808000"/>
                </a:highlight>
                <a:latin typeface="Times New Roman"/>
                <a:cs typeface="Times New Roman"/>
              </a:rPr>
              <a:t>d</a:t>
            </a:r>
            <a:r>
              <a:rPr sz="3200" b="1" spc="-5" dirty="0">
                <a:highlight>
                  <a:srgbClr val="808000"/>
                </a:highlight>
                <a:latin typeface="宋体"/>
                <a:cs typeface="宋体"/>
              </a:rPr>
              <a:t>的</a:t>
            </a:r>
            <a:r>
              <a:rPr sz="3200" b="1" spc="-10" dirty="0">
                <a:solidFill>
                  <a:srgbClr val="A73737"/>
                </a:solidFill>
                <a:highlight>
                  <a:srgbClr val="808000"/>
                </a:highlight>
                <a:latin typeface="宋体"/>
                <a:cs typeface="宋体"/>
              </a:rPr>
              <a:t>所有</a:t>
            </a:r>
            <a:r>
              <a:rPr sz="3200" b="1" dirty="0">
                <a:solidFill>
                  <a:srgbClr val="A73737"/>
                </a:solidFill>
                <a:highlight>
                  <a:srgbClr val="808000"/>
                </a:highlight>
                <a:latin typeface="宋体"/>
                <a:cs typeface="宋体"/>
              </a:rPr>
              <a:t>结</a:t>
            </a:r>
            <a:r>
              <a:rPr sz="3200" b="1" spc="5" dirty="0">
                <a:solidFill>
                  <a:srgbClr val="A73737"/>
                </a:solidFill>
                <a:highlight>
                  <a:srgbClr val="808000"/>
                </a:highlight>
                <a:latin typeface="宋体"/>
                <a:cs typeface="宋体"/>
              </a:rPr>
              <a:t>点</a:t>
            </a:r>
            <a:r>
              <a:rPr sz="3200" b="1" spc="-15" dirty="0">
                <a:highlight>
                  <a:srgbClr val="808000"/>
                </a:highlight>
                <a:latin typeface="宋体"/>
                <a:cs typeface="宋体"/>
              </a:rPr>
              <a:t>序列 </a:t>
            </a:r>
            <a:r>
              <a:rPr sz="3200" b="1" dirty="0">
                <a:highlight>
                  <a:srgbClr val="808000"/>
                </a:highlight>
                <a:latin typeface="宋体"/>
                <a:cs typeface="宋体"/>
              </a:rPr>
              <a:t>构成一个循环</a:t>
            </a:r>
            <a:r>
              <a:rPr sz="3200" b="1" spc="-5" dirty="0">
                <a:highlight>
                  <a:srgbClr val="808000"/>
                </a:highlight>
                <a:latin typeface="Times New Roman"/>
                <a:cs typeface="Times New Roman"/>
              </a:rPr>
              <a:t>L</a:t>
            </a:r>
            <a:r>
              <a:rPr sz="3200" b="1" spc="-5" dirty="0">
                <a:latin typeface="宋体"/>
                <a:cs typeface="宋体"/>
              </a:rPr>
              <a:t>，</a:t>
            </a:r>
            <a:r>
              <a:rPr sz="3200" b="1" spc="-5" dirty="0">
                <a:highlight>
                  <a:srgbClr val="808000"/>
                </a:highlight>
                <a:latin typeface="Times New Roman"/>
                <a:cs typeface="Times New Roman"/>
              </a:rPr>
              <a:t>d</a:t>
            </a:r>
            <a:r>
              <a:rPr sz="3200" b="1" dirty="0">
                <a:highlight>
                  <a:srgbClr val="808000"/>
                </a:highlight>
                <a:latin typeface="宋体"/>
                <a:cs typeface="宋体"/>
              </a:rPr>
              <a:t>是</a:t>
            </a:r>
            <a:r>
              <a:rPr sz="3200" b="1" dirty="0">
                <a:latin typeface="宋体"/>
                <a:cs typeface="宋体"/>
              </a:rPr>
              <a:t>循环</a:t>
            </a:r>
            <a:r>
              <a:rPr sz="3200" b="1" spc="-5" dirty="0">
                <a:latin typeface="Times New Roman"/>
                <a:cs typeface="Times New Roman"/>
              </a:rPr>
              <a:t>L</a:t>
            </a:r>
            <a:r>
              <a:rPr sz="3200" b="1" spc="-5" dirty="0">
                <a:latin typeface="宋体"/>
                <a:cs typeface="宋体"/>
              </a:rPr>
              <a:t>的</a:t>
            </a:r>
            <a:r>
              <a:rPr sz="3200" b="1" spc="-5" dirty="0">
                <a:highlight>
                  <a:srgbClr val="808000"/>
                </a:highlight>
                <a:latin typeface="宋体"/>
                <a:cs typeface="宋体"/>
              </a:rPr>
              <a:t>惟</a:t>
            </a:r>
            <a:r>
              <a:rPr sz="3200" b="1" spc="-10" dirty="0">
                <a:highlight>
                  <a:srgbClr val="808000"/>
                </a:highlight>
                <a:latin typeface="宋体"/>
                <a:cs typeface="宋体"/>
              </a:rPr>
              <a:t>一</a:t>
            </a:r>
            <a:r>
              <a:rPr sz="3200" b="1" dirty="0">
                <a:highlight>
                  <a:srgbClr val="808000"/>
                </a:highlight>
                <a:latin typeface="宋体"/>
                <a:cs typeface="宋体"/>
              </a:rPr>
              <a:t>入</a:t>
            </a:r>
            <a:r>
              <a:rPr sz="3200" b="1" spc="-5" dirty="0">
                <a:highlight>
                  <a:srgbClr val="808000"/>
                </a:highlight>
                <a:latin typeface="宋体"/>
                <a:cs typeface="宋体"/>
              </a:rPr>
              <a:t>口</a:t>
            </a:r>
            <a:r>
              <a:rPr sz="3200" b="1" spc="-10" dirty="0"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  <a:p>
            <a:pPr marL="104139">
              <a:lnSpc>
                <a:spcPct val="100000"/>
              </a:lnSpc>
              <a:spcBef>
                <a:spcPts val="150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求解算法：</a:t>
            </a:r>
            <a:endParaRPr sz="2800" dirty="0">
              <a:latin typeface="宋体"/>
              <a:cs typeface="宋体"/>
            </a:endParaRPr>
          </a:p>
          <a:p>
            <a:pPr marL="104139">
              <a:lnSpc>
                <a:spcPct val="100000"/>
              </a:lnSpc>
              <a:spcBef>
                <a:spcPts val="16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loop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{d};</a:t>
            </a:r>
            <a:endParaRPr sz="2800" dirty="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3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{if n is not in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loop</a:t>
            </a:r>
            <a:endParaRPr sz="2800" dirty="0">
              <a:latin typeface="Times New Roman"/>
              <a:cs typeface="Times New Roman"/>
            </a:endParaRPr>
          </a:p>
          <a:p>
            <a:pPr marL="104139" marR="2280285" indent="533400">
              <a:lnSpc>
                <a:spcPct val="104600"/>
              </a:lnSpc>
              <a:spcBef>
                <a:spcPts val="2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{loop=loop</a:t>
            </a:r>
            <a:r>
              <a:rPr sz="2800" b="1" dirty="0">
                <a:solidFill>
                  <a:srgbClr val="FFFFFF"/>
                </a:solidFill>
                <a:latin typeface="Symbol"/>
                <a:cs typeface="Symbol"/>
              </a:rPr>
              <a:t>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{n};push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onto</a:t>
            </a:r>
            <a:r>
              <a:rPr sz="28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stack;}}} 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while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stack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8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empty</a:t>
            </a:r>
            <a:endParaRPr sz="2800" dirty="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70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{pop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;for each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predecessor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p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sz="2800" b="1" spc="-6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do</a:t>
            </a:r>
            <a:endParaRPr sz="2800" dirty="0">
              <a:latin typeface="Times New Roman"/>
              <a:cs typeface="Times New Roman"/>
            </a:endParaRPr>
          </a:p>
          <a:p>
            <a:pPr marL="282575">
              <a:lnSpc>
                <a:spcPct val="100000"/>
              </a:lnSpc>
              <a:spcBef>
                <a:spcPts val="17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{if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p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is not in</a:t>
            </a:r>
            <a:r>
              <a:rPr sz="280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loop</a:t>
            </a:r>
            <a:endParaRPr sz="2800" dirty="0">
              <a:latin typeface="Times New Roman"/>
              <a:cs typeface="Times New Roman"/>
            </a:endParaRPr>
          </a:p>
          <a:p>
            <a:pPr marL="637540">
              <a:lnSpc>
                <a:spcPct val="100000"/>
              </a:lnSpc>
              <a:spcBef>
                <a:spcPts val="180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{loop=loop</a:t>
            </a:r>
            <a:r>
              <a:rPr sz="2800" b="1" dirty="0">
                <a:solidFill>
                  <a:srgbClr val="FFFFFF"/>
                </a:solidFill>
                <a:latin typeface="Symbol"/>
                <a:cs typeface="Symbol"/>
              </a:rPr>
              <a:t>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{p};push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p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onto</a:t>
            </a:r>
            <a:r>
              <a:rPr sz="2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stack;}}}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57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6440" y="840105"/>
            <a:ext cx="9429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例</a:t>
            </a:r>
            <a:r>
              <a:rPr sz="3200" b="1" dirty="0">
                <a:solidFill>
                  <a:srgbClr val="FFFF66"/>
                </a:solidFill>
                <a:latin typeface="Times New Roman"/>
                <a:cs typeface="Times New Roman"/>
              </a:rPr>
              <a:t>8.5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47417" y="840105"/>
            <a:ext cx="24765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设有如下流图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53461" y="1628394"/>
            <a:ext cx="693420" cy="646430"/>
          </a:xfrm>
          <a:custGeom>
            <a:avLst/>
            <a:gdLst/>
            <a:ahLst/>
            <a:cxnLst/>
            <a:rect l="l" t="t" r="r" b="b"/>
            <a:pathLst>
              <a:path w="693419" h="646430">
                <a:moveTo>
                  <a:pt x="0" y="323088"/>
                </a:moveTo>
                <a:lnTo>
                  <a:pt x="3758" y="275344"/>
                </a:lnTo>
                <a:lnTo>
                  <a:pt x="14676" y="229776"/>
                </a:lnTo>
                <a:lnTo>
                  <a:pt x="32218" y="186882"/>
                </a:lnTo>
                <a:lnTo>
                  <a:pt x="55848" y="147163"/>
                </a:lnTo>
                <a:lnTo>
                  <a:pt x="85030" y="111119"/>
                </a:lnTo>
                <a:lnTo>
                  <a:pt x="119229" y="79248"/>
                </a:lnTo>
                <a:lnTo>
                  <a:pt x="157908" y="52051"/>
                </a:lnTo>
                <a:lnTo>
                  <a:pt x="200531" y="30028"/>
                </a:lnTo>
                <a:lnTo>
                  <a:pt x="246563" y="13679"/>
                </a:lnTo>
                <a:lnTo>
                  <a:pt x="295468" y="3503"/>
                </a:lnTo>
                <a:lnTo>
                  <a:pt x="346710" y="0"/>
                </a:lnTo>
                <a:lnTo>
                  <a:pt x="397951" y="3503"/>
                </a:lnTo>
                <a:lnTo>
                  <a:pt x="446856" y="13679"/>
                </a:lnTo>
                <a:lnTo>
                  <a:pt x="492888" y="30028"/>
                </a:lnTo>
                <a:lnTo>
                  <a:pt x="535511" y="52051"/>
                </a:lnTo>
                <a:lnTo>
                  <a:pt x="574190" y="79248"/>
                </a:lnTo>
                <a:lnTo>
                  <a:pt x="608389" y="111119"/>
                </a:lnTo>
                <a:lnTo>
                  <a:pt x="637571" y="147163"/>
                </a:lnTo>
                <a:lnTo>
                  <a:pt x="661201" y="186882"/>
                </a:lnTo>
                <a:lnTo>
                  <a:pt x="678743" y="229776"/>
                </a:lnTo>
                <a:lnTo>
                  <a:pt x="689661" y="275344"/>
                </a:lnTo>
                <a:lnTo>
                  <a:pt x="693419" y="323088"/>
                </a:lnTo>
                <a:lnTo>
                  <a:pt x="689661" y="370831"/>
                </a:lnTo>
                <a:lnTo>
                  <a:pt x="678743" y="416399"/>
                </a:lnTo>
                <a:lnTo>
                  <a:pt x="661201" y="459293"/>
                </a:lnTo>
                <a:lnTo>
                  <a:pt x="637571" y="499012"/>
                </a:lnTo>
                <a:lnTo>
                  <a:pt x="608389" y="535056"/>
                </a:lnTo>
                <a:lnTo>
                  <a:pt x="574190" y="566927"/>
                </a:lnTo>
                <a:lnTo>
                  <a:pt x="535511" y="594124"/>
                </a:lnTo>
                <a:lnTo>
                  <a:pt x="492888" y="616147"/>
                </a:lnTo>
                <a:lnTo>
                  <a:pt x="446856" y="632496"/>
                </a:lnTo>
                <a:lnTo>
                  <a:pt x="397951" y="642672"/>
                </a:lnTo>
                <a:lnTo>
                  <a:pt x="346710" y="646176"/>
                </a:lnTo>
                <a:lnTo>
                  <a:pt x="295468" y="642672"/>
                </a:lnTo>
                <a:lnTo>
                  <a:pt x="246563" y="632496"/>
                </a:lnTo>
                <a:lnTo>
                  <a:pt x="200531" y="616147"/>
                </a:lnTo>
                <a:lnTo>
                  <a:pt x="157908" y="594124"/>
                </a:lnTo>
                <a:lnTo>
                  <a:pt x="119229" y="566927"/>
                </a:lnTo>
                <a:lnTo>
                  <a:pt x="85030" y="535056"/>
                </a:lnTo>
                <a:lnTo>
                  <a:pt x="55848" y="499012"/>
                </a:lnTo>
                <a:lnTo>
                  <a:pt x="32218" y="459293"/>
                </a:lnTo>
                <a:lnTo>
                  <a:pt x="14676" y="416399"/>
                </a:lnTo>
                <a:lnTo>
                  <a:pt x="3758" y="370831"/>
                </a:lnTo>
                <a:lnTo>
                  <a:pt x="0" y="323088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02382" y="1697481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64129" y="2731770"/>
            <a:ext cx="695325" cy="646430"/>
          </a:xfrm>
          <a:custGeom>
            <a:avLst/>
            <a:gdLst/>
            <a:ahLst/>
            <a:cxnLst/>
            <a:rect l="l" t="t" r="r" b="b"/>
            <a:pathLst>
              <a:path w="695325" h="646429">
                <a:moveTo>
                  <a:pt x="0" y="323088"/>
                </a:moveTo>
                <a:lnTo>
                  <a:pt x="3767" y="275344"/>
                </a:lnTo>
                <a:lnTo>
                  <a:pt x="14712" y="229776"/>
                </a:lnTo>
                <a:lnTo>
                  <a:pt x="32295" y="186882"/>
                </a:lnTo>
                <a:lnTo>
                  <a:pt x="55981" y="147163"/>
                </a:lnTo>
                <a:lnTo>
                  <a:pt x="85231" y="111119"/>
                </a:lnTo>
                <a:lnTo>
                  <a:pt x="119507" y="79248"/>
                </a:lnTo>
                <a:lnTo>
                  <a:pt x="158272" y="52051"/>
                </a:lnTo>
                <a:lnTo>
                  <a:pt x="200989" y="30028"/>
                </a:lnTo>
                <a:lnTo>
                  <a:pt x="247119" y="13679"/>
                </a:lnTo>
                <a:lnTo>
                  <a:pt x="296126" y="3503"/>
                </a:lnTo>
                <a:lnTo>
                  <a:pt x="347471" y="0"/>
                </a:lnTo>
                <a:lnTo>
                  <a:pt x="398817" y="3503"/>
                </a:lnTo>
                <a:lnTo>
                  <a:pt x="447824" y="13679"/>
                </a:lnTo>
                <a:lnTo>
                  <a:pt x="493954" y="30028"/>
                </a:lnTo>
                <a:lnTo>
                  <a:pt x="536671" y="52051"/>
                </a:lnTo>
                <a:lnTo>
                  <a:pt x="575436" y="79248"/>
                </a:lnTo>
                <a:lnTo>
                  <a:pt x="609712" y="111119"/>
                </a:lnTo>
                <a:lnTo>
                  <a:pt x="638962" y="147163"/>
                </a:lnTo>
                <a:lnTo>
                  <a:pt x="662648" y="186882"/>
                </a:lnTo>
                <a:lnTo>
                  <a:pt x="680231" y="229776"/>
                </a:lnTo>
                <a:lnTo>
                  <a:pt x="691176" y="275344"/>
                </a:lnTo>
                <a:lnTo>
                  <a:pt x="694944" y="323088"/>
                </a:lnTo>
                <a:lnTo>
                  <a:pt x="691176" y="370831"/>
                </a:lnTo>
                <a:lnTo>
                  <a:pt x="680231" y="416399"/>
                </a:lnTo>
                <a:lnTo>
                  <a:pt x="662648" y="459293"/>
                </a:lnTo>
                <a:lnTo>
                  <a:pt x="638962" y="499012"/>
                </a:lnTo>
                <a:lnTo>
                  <a:pt x="609712" y="535056"/>
                </a:lnTo>
                <a:lnTo>
                  <a:pt x="575436" y="566927"/>
                </a:lnTo>
                <a:lnTo>
                  <a:pt x="536671" y="594124"/>
                </a:lnTo>
                <a:lnTo>
                  <a:pt x="493954" y="616147"/>
                </a:lnTo>
                <a:lnTo>
                  <a:pt x="447824" y="632496"/>
                </a:lnTo>
                <a:lnTo>
                  <a:pt x="398817" y="642672"/>
                </a:lnTo>
                <a:lnTo>
                  <a:pt x="347471" y="646176"/>
                </a:lnTo>
                <a:lnTo>
                  <a:pt x="296126" y="642672"/>
                </a:lnTo>
                <a:lnTo>
                  <a:pt x="247119" y="632496"/>
                </a:lnTo>
                <a:lnTo>
                  <a:pt x="200989" y="616147"/>
                </a:lnTo>
                <a:lnTo>
                  <a:pt x="158272" y="594124"/>
                </a:lnTo>
                <a:lnTo>
                  <a:pt x="119507" y="566927"/>
                </a:lnTo>
                <a:lnTo>
                  <a:pt x="85231" y="535056"/>
                </a:lnTo>
                <a:lnTo>
                  <a:pt x="55981" y="499012"/>
                </a:lnTo>
                <a:lnTo>
                  <a:pt x="32295" y="459293"/>
                </a:lnTo>
                <a:lnTo>
                  <a:pt x="14712" y="416399"/>
                </a:lnTo>
                <a:lnTo>
                  <a:pt x="3767" y="370831"/>
                </a:lnTo>
                <a:lnTo>
                  <a:pt x="0" y="323088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13685" y="2800857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14422" y="3856482"/>
            <a:ext cx="695325" cy="646430"/>
          </a:xfrm>
          <a:custGeom>
            <a:avLst/>
            <a:gdLst/>
            <a:ahLst/>
            <a:cxnLst/>
            <a:rect l="l" t="t" r="r" b="b"/>
            <a:pathLst>
              <a:path w="695325" h="646429">
                <a:moveTo>
                  <a:pt x="0" y="323088"/>
                </a:moveTo>
                <a:lnTo>
                  <a:pt x="3767" y="275344"/>
                </a:lnTo>
                <a:lnTo>
                  <a:pt x="14712" y="229776"/>
                </a:lnTo>
                <a:lnTo>
                  <a:pt x="32295" y="186882"/>
                </a:lnTo>
                <a:lnTo>
                  <a:pt x="55981" y="147163"/>
                </a:lnTo>
                <a:lnTo>
                  <a:pt x="85231" y="111119"/>
                </a:lnTo>
                <a:lnTo>
                  <a:pt x="119507" y="79248"/>
                </a:lnTo>
                <a:lnTo>
                  <a:pt x="158272" y="52051"/>
                </a:lnTo>
                <a:lnTo>
                  <a:pt x="200989" y="30028"/>
                </a:lnTo>
                <a:lnTo>
                  <a:pt x="247119" y="13679"/>
                </a:lnTo>
                <a:lnTo>
                  <a:pt x="296126" y="3503"/>
                </a:lnTo>
                <a:lnTo>
                  <a:pt x="347471" y="0"/>
                </a:lnTo>
                <a:lnTo>
                  <a:pt x="398817" y="3503"/>
                </a:lnTo>
                <a:lnTo>
                  <a:pt x="447824" y="13679"/>
                </a:lnTo>
                <a:lnTo>
                  <a:pt x="493954" y="30028"/>
                </a:lnTo>
                <a:lnTo>
                  <a:pt x="536671" y="52051"/>
                </a:lnTo>
                <a:lnTo>
                  <a:pt x="575436" y="79248"/>
                </a:lnTo>
                <a:lnTo>
                  <a:pt x="609712" y="111119"/>
                </a:lnTo>
                <a:lnTo>
                  <a:pt x="638962" y="147163"/>
                </a:lnTo>
                <a:lnTo>
                  <a:pt x="662648" y="186882"/>
                </a:lnTo>
                <a:lnTo>
                  <a:pt x="680231" y="229776"/>
                </a:lnTo>
                <a:lnTo>
                  <a:pt x="691176" y="275344"/>
                </a:lnTo>
                <a:lnTo>
                  <a:pt x="694943" y="323088"/>
                </a:lnTo>
                <a:lnTo>
                  <a:pt x="691176" y="370831"/>
                </a:lnTo>
                <a:lnTo>
                  <a:pt x="680231" y="416399"/>
                </a:lnTo>
                <a:lnTo>
                  <a:pt x="662648" y="459293"/>
                </a:lnTo>
                <a:lnTo>
                  <a:pt x="638962" y="499012"/>
                </a:lnTo>
                <a:lnTo>
                  <a:pt x="609712" y="535056"/>
                </a:lnTo>
                <a:lnTo>
                  <a:pt x="575436" y="566927"/>
                </a:lnTo>
                <a:lnTo>
                  <a:pt x="536671" y="594124"/>
                </a:lnTo>
                <a:lnTo>
                  <a:pt x="493954" y="616147"/>
                </a:lnTo>
                <a:lnTo>
                  <a:pt x="447824" y="632496"/>
                </a:lnTo>
                <a:lnTo>
                  <a:pt x="398817" y="642672"/>
                </a:lnTo>
                <a:lnTo>
                  <a:pt x="347471" y="646176"/>
                </a:lnTo>
                <a:lnTo>
                  <a:pt x="296126" y="642672"/>
                </a:lnTo>
                <a:lnTo>
                  <a:pt x="247119" y="632496"/>
                </a:lnTo>
                <a:lnTo>
                  <a:pt x="200989" y="616147"/>
                </a:lnTo>
                <a:lnTo>
                  <a:pt x="158272" y="594124"/>
                </a:lnTo>
                <a:lnTo>
                  <a:pt x="119507" y="566927"/>
                </a:lnTo>
                <a:lnTo>
                  <a:pt x="85231" y="535056"/>
                </a:lnTo>
                <a:lnTo>
                  <a:pt x="55981" y="499012"/>
                </a:lnTo>
                <a:lnTo>
                  <a:pt x="32295" y="459293"/>
                </a:lnTo>
                <a:lnTo>
                  <a:pt x="14712" y="416399"/>
                </a:lnTo>
                <a:lnTo>
                  <a:pt x="3767" y="370831"/>
                </a:lnTo>
                <a:lnTo>
                  <a:pt x="0" y="323088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63088" y="3926840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06190" y="3368802"/>
            <a:ext cx="696595" cy="646430"/>
          </a:xfrm>
          <a:custGeom>
            <a:avLst/>
            <a:gdLst/>
            <a:ahLst/>
            <a:cxnLst/>
            <a:rect l="l" t="t" r="r" b="b"/>
            <a:pathLst>
              <a:path w="696595" h="646429">
                <a:moveTo>
                  <a:pt x="0" y="323088"/>
                </a:moveTo>
                <a:lnTo>
                  <a:pt x="3776" y="275344"/>
                </a:lnTo>
                <a:lnTo>
                  <a:pt x="14747" y="229776"/>
                </a:lnTo>
                <a:lnTo>
                  <a:pt x="32373" y="186882"/>
                </a:lnTo>
                <a:lnTo>
                  <a:pt x="56114" y="147163"/>
                </a:lnTo>
                <a:lnTo>
                  <a:pt x="85431" y="111119"/>
                </a:lnTo>
                <a:lnTo>
                  <a:pt x="119785" y="79248"/>
                </a:lnTo>
                <a:lnTo>
                  <a:pt x="158637" y="52051"/>
                </a:lnTo>
                <a:lnTo>
                  <a:pt x="201447" y="30028"/>
                </a:lnTo>
                <a:lnTo>
                  <a:pt x="247676" y="13679"/>
                </a:lnTo>
                <a:lnTo>
                  <a:pt x="296784" y="3503"/>
                </a:lnTo>
                <a:lnTo>
                  <a:pt x="348234" y="0"/>
                </a:lnTo>
                <a:lnTo>
                  <a:pt x="399683" y="3503"/>
                </a:lnTo>
                <a:lnTo>
                  <a:pt x="448791" y="13679"/>
                </a:lnTo>
                <a:lnTo>
                  <a:pt x="495020" y="30028"/>
                </a:lnTo>
                <a:lnTo>
                  <a:pt x="537830" y="52051"/>
                </a:lnTo>
                <a:lnTo>
                  <a:pt x="576682" y="79248"/>
                </a:lnTo>
                <a:lnTo>
                  <a:pt x="611036" y="111119"/>
                </a:lnTo>
                <a:lnTo>
                  <a:pt x="640353" y="147163"/>
                </a:lnTo>
                <a:lnTo>
                  <a:pt x="664094" y="186882"/>
                </a:lnTo>
                <a:lnTo>
                  <a:pt x="681720" y="229776"/>
                </a:lnTo>
                <a:lnTo>
                  <a:pt x="692691" y="275344"/>
                </a:lnTo>
                <a:lnTo>
                  <a:pt x="696468" y="323088"/>
                </a:lnTo>
                <a:lnTo>
                  <a:pt x="692691" y="370831"/>
                </a:lnTo>
                <a:lnTo>
                  <a:pt x="681720" y="416399"/>
                </a:lnTo>
                <a:lnTo>
                  <a:pt x="664094" y="459293"/>
                </a:lnTo>
                <a:lnTo>
                  <a:pt x="640353" y="499012"/>
                </a:lnTo>
                <a:lnTo>
                  <a:pt x="611036" y="535056"/>
                </a:lnTo>
                <a:lnTo>
                  <a:pt x="576682" y="566927"/>
                </a:lnTo>
                <a:lnTo>
                  <a:pt x="537830" y="594124"/>
                </a:lnTo>
                <a:lnTo>
                  <a:pt x="495020" y="616147"/>
                </a:lnTo>
                <a:lnTo>
                  <a:pt x="448791" y="632496"/>
                </a:lnTo>
                <a:lnTo>
                  <a:pt x="399683" y="642672"/>
                </a:lnTo>
                <a:lnTo>
                  <a:pt x="348234" y="646176"/>
                </a:lnTo>
                <a:lnTo>
                  <a:pt x="296784" y="642672"/>
                </a:lnTo>
                <a:lnTo>
                  <a:pt x="247676" y="632496"/>
                </a:lnTo>
                <a:lnTo>
                  <a:pt x="201447" y="616147"/>
                </a:lnTo>
                <a:lnTo>
                  <a:pt x="158637" y="594124"/>
                </a:lnTo>
                <a:lnTo>
                  <a:pt x="119785" y="566927"/>
                </a:lnTo>
                <a:lnTo>
                  <a:pt x="85431" y="535056"/>
                </a:lnTo>
                <a:lnTo>
                  <a:pt x="56114" y="499012"/>
                </a:lnTo>
                <a:lnTo>
                  <a:pt x="32373" y="459293"/>
                </a:lnTo>
                <a:lnTo>
                  <a:pt x="14747" y="416399"/>
                </a:lnTo>
                <a:lnTo>
                  <a:pt x="3776" y="370831"/>
                </a:lnTo>
                <a:lnTo>
                  <a:pt x="0" y="323088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55745" y="3438855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97173" y="5055361"/>
            <a:ext cx="861060" cy="594995"/>
          </a:xfrm>
          <a:custGeom>
            <a:avLst/>
            <a:gdLst/>
            <a:ahLst/>
            <a:cxnLst/>
            <a:rect l="l" t="t" r="r" b="b"/>
            <a:pathLst>
              <a:path w="861060" h="594995">
                <a:moveTo>
                  <a:pt x="125349" y="440435"/>
                </a:moveTo>
                <a:lnTo>
                  <a:pt x="0" y="594868"/>
                </a:lnTo>
                <a:lnTo>
                  <a:pt x="189611" y="534873"/>
                </a:lnTo>
                <a:lnTo>
                  <a:pt x="175472" y="514096"/>
                </a:lnTo>
                <a:lnTo>
                  <a:pt x="152400" y="514096"/>
                </a:lnTo>
                <a:lnTo>
                  <a:pt x="130937" y="482600"/>
                </a:lnTo>
                <a:lnTo>
                  <a:pt x="146725" y="471849"/>
                </a:lnTo>
                <a:lnTo>
                  <a:pt x="125349" y="440435"/>
                </a:lnTo>
                <a:close/>
              </a:path>
              <a:path w="861060" h="594995">
                <a:moveTo>
                  <a:pt x="146725" y="471849"/>
                </a:moveTo>
                <a:lnTo>
                  <a:pt x="130937" y="482600"/>
                </a:lnTo>
                <a:lnTo>
                  <a:pt x="152400" y="514096"/>
                </a:lnTo>
                <a:lnTo>
                  <a:pt x="168166" y="503359"/>
                </a:lnTo>
                <a:lnTo>
                  <a:pt x="146725" y="471849"/>
                </a:lnTo>
                <a:close/>
              </a:path>
              <a:path w="861060" h="594995">
                <a:moveTo>
                  <a:pt x="168166" y="503359"/>
                </a:moveTo>
                <a:lnTo>
                  <a:pt x="152400" y="514096"/>
                </a:lnTo>
                <a:lnTo>
                  <a:pt x="175472" y="514096"/>
                </a:lnTo>
                <a:lnTo>
                  <a:pt x="168166" y="503359"/>
                </a:lnTo>
                <a:close/>
              </a:path>
              <a:path w="861060" h="594995">
                <a:moveTo>
                  <a:pt x="839724" y="0"/>
                </a:moveTo>
                <a:lnTo>
                  <a:pt x="146725" y="471849"/>
                </a:lnTo>
                <a:lnTo>
                  <a:pt x="168166" y="503359"/>
                </a:lnTo>
                <a:lnTo>
                  <a:pt x="861060" y="31495"/>
                </a:lnTo>
                <a:lnTo>
                  <a:pt x="839724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14422" y="5316473"/>
            <a:ext cx="695325" cy="645160"/>
          </a:xfrm>
          <a:custGeom>
            <a:avLst/>
            <a:gdLst/>
            <a:ahLst/>
            <a:cxnLst/>
            <a:rect l="l" t="t" r="r" b="b"/>
            <a:pathLst>
              <a:path w="695325" h="645160">
                <a:moveTo>
                  <a:pt x="0" y="322325"/>
                </a:moveTo>
                <a:lnTo>
                  <a:pt x="3767" y="274686"/>
                </a:lnTo>
                <a:lnTo>
                  <a:pt x="14712" y="229220"/>
                </a:lnTo>
                <a:lnTo>
                  <a:pt x="32295" y="186424"/>
                </a:lnTo>
                <a:lnTo>
                  <a:pt x="55981" y="146799"/>
                </a:lnTo>
                <a:lnTo>
                  <a:pt x="85231" y="110840"/>
                </a:lnTo>
                <a:lnTo>
                  <a:pt x="119507" y="79048"/>
                </a:lnTo>
                <a:lnTo>
                  <a:pt x="158272" y="51919"/>
                </a:lnTo>
                <a:lnTo>
                  <a:pt x="200989" y="29951"/>
                </a:lnTo>
                <a:lnTo>
                  <a:pt x="247119" y="13643"/>
                </a:lnTo>
                <a:lnTo>
                  <a:pt x="296126" y="3493"/>
                </a:lnTo>
                <a:lnTo>
                  <a:pt x="347471" y="0"/>
                </a:lnTo>
                <a:lnTo>
                  <a:pt x="398817" y="3493"/>
                </a:lnTo>
                <a:lnTo>
                  <a:pt x="447824" y="13643"/>
                </a:lnTo>
                <a:lnTo>
                  <a:pt x="493954" y="29951"/>
                </a:lnTo>
                <a:lnTo>
                  <a:pt x="536671" y="51919"/>
                </a:lnTo>
                <a:lnTo>
                  <a:pt x="575436" y="79048"/>
                </a:lnTo>
                <a:lnTo>
                  <a:pt x="609712" y="110840"/>
                </a:lnTo>
                <a:lnTo>
                  <a:pt x="638962" y="146799"/>
                </a:lnTo>
                <a:lnTo>
                  <a:pt x="662648" y="186424"/>
                </a:lnTo>
                <a:lnTo>
                  <a:pt x="680231" y="229220"/>
                </a:lnTo>
                <a:lnTo>
                  <a:pt x="691176" y="274686"/>
                </a:lnTo>
                <a:lnTo>
                  <a:pt x="694943" y="322325"/>
                </a:lnTo>
                <a:lnTo>
                  <a:pt x="691176" y="369957"/>
                </a:lnTo>
                <a:lnTo>
                  <a:pt x="680231" y="415418"/>
                </a:lnTo>
                <a:lnTo>
                  <a:pt x="662648" y="458210"/>
                </a:lnTo>
                <a:lnTo>
                  <a:pt x="638962" y="497835"/>
                </a:lnTo>
                <a:lnTo>
                  <a:pt x="609712" y="533795"/>
                </a:lnTo>
                <a:lnTo>
                  <a:pt x="575436" y="565590"/>
                </a:lnTo>
                <a:lnTo>
                  <a:pt x="536671" y="592723"/>
                </a:lnTo>
                <a:lnTo>
                  <a:pt x="493954" y="614694"/>
                </a:lnTo>
                <a:lnTo>
                  <a:pt x="447824" y="631005"/>
                </a:lnTo>
                <a:lnTo>
                  <a:pt x="398817" y="641157"/>
                </a:lnTo>
                <a:lnTo>
                  <a:pt x="347471" y="644651"/>
                </a:lnTo>
                <a:lnTo>
                  <a:pt x="296126" y="641157"/>
                </a:lnTo>
                <a:lnTo>
                  <a:pt x="247119" y="631005"/>
                </a:lnTo>
                <a:lnTo>
                  <a:pt x="200989" y="614694"/>
                </a:lnTo>
                <a:lnTo>
                  <a:pt x="158272" y="592723"/>
                </a:lnTo>
                <a:lnTo>
                  <a:pt x="119507" y="565590"/>
                </a:lnTo>
                <a:lnTo>
                  <a:pt x="85231" y="533795"/>
                </a:lnTo>
                <a:lnTo>
                  <a:pt x="55981" y="497835"/>
                </a:lnTo>
                <a:lnTo>
                  <a:pt x="32295" y="458210"/>
                </a:lnTo>
                <a:lnTo>
                  <a:pt x="14712" y="415418"/>
                </a:lnTo>
                <a:lnTo>
                  <a:pt x="3767" y="369957"/>
                </a:lnTo>
                <a:lnTo>
                  <a:pt x="0" y="322325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63088" y="5385917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47565" y="4583429"/>
            <a:ext cx="696595" cy="647700"/>
          </a:xfrm>
          <a:custGeom>
            <a:avLst/>
            <a:gdLst/>
            <a:ahLst/>
            <a:cxnLst/>
            <a:rect l="l" t="t" r="r" b="b"/>
            <a:pathLst>
              <a:path w="696595" h="647700">
                <a:moveTo>
                  <a:pt x="0" y="323850"/>
                </a:moveTo>
                <a:lnTo>
                  <a:pt x="3776" y="276003"/>
                </a:lnTo>
                <a:lnTo>
                  <a:pt x="14747" y="230332"/>
                </a:lnTo>
                <a:lnTo>
                  <a:pt x="32373" y="187340"/>
                </a:lnTo>
                <a:lnTo>
                  <a:pt x="56114" y="147528"/>
                </a:lnTo>
                <a:lnTo>
                  <a:pt x="85431" y="111397"/>
                </a:lnTo>
                <a:lnTo>
                  <a:pt x="119785" y="79448"/>
                </a:lnTo>
                <a:lnTo>
                  <a:pt x="158637" y="52184"/>
                </a:lnTo>
                <a:lnTo>
                  <a:pt x="201447" y="30106"/>
                </a:lnTo>
                <a:lnTo>
                  <a:pt x="247676" y="13714"/>
                </a:lnTo>
                <a:lnTo>
                  <a:pt x="296784" y="3512"/>
                </a:lnTo>
                <a:lnTo>
                  <a:pt x="348234" y="0"/>
                </a:lnTo>
                <a:lnTo>
                  <a:pt x="399683" y="3512"/>
                </a:lnTo>
                <a:lnTo>
                  <a:pt x="448791" y="13714"/>
                </a:lnTo>
                <a:lnTo>
                  <a:pt x="495020" y="30106"/>
                </a:lnTo>
                <a:lnTo>
                  <a:pt x="537830" y="52184"/>
                </a:lnTo>
                <a:lnTo>
                  <a:pt x="576682" y="79448"/>
                </a:lnTo>
                <a:lnTo>
                  <a:pt x="611036" y="111397"/>
                </a:lnTo>
                <a:lnTo>
                  <a:pt x="640353" y="147528"/>
                </a:lnTo>
                <a:lnTo>
                  <a:pt x="664094" y="187340"/>
                </a:lnTo>
                <a:lnTo>
                  <a:pt x="681720" y="230332"/>
                </a:lnTo>
                <a:lnTo>
                  <a:pt x="692691" y="276003"/>
                </a:lnTo>
                <a:lnTo>
                  <a:pt x="696468" y="323850"/>
                </a:lnTo>
                <a:lnTo>
                  <a:pt x="692691" y="371696"/>
                </a:lnTo>
                <a:lnTo>
                  <a:pt x="681720" y="417367"/>
                </a:lnTo>
                <a:lnTo>
                  <a:pt x="664094" y="460359"/>
                </a:lnTo>
                <a:lnTo>
                  <a:pt x="640353" y="500171"/>
                </a:lnTo>
                <a:lnTo>
                  <a:pt x="611036" y="536302"/>
                </a:lnTo>
                <a:lnTo>
                  <a:pt x="576682" y="568251"/>
                </a:lnTo>
                <a:lnTo>
                  <a:pt x="537830" y="595515"/>
                </a:lnTo>
                <a:lnTo>
                  <a:pt x="495020" y="617593"/>
                </a:lnTo>
                <a:lnTo>
                  <a:pt x="448791" y="633985"/>
                </a:lnTo>
                <a:lnTo>
                  <a:pt x="399683" y="644187"/>
                </a:lnTo>
                <a:lnTo>
                  <a:pt x="348234" y="647700"/>
                </a:lnTo>
                <a:lnTo>
                  <a:pt x="296784" y="644187"/>
                </a:lnTo>
                <a:lnTo>
                  <a:pt x="247676" y="633985"/>
                </a:lnTo>
                <a:lnTo>
                  <a:pt x="201447" y="617593"/>
                </a:lnTo>
                <a:lnTo>
                  <a:pt x="158637" y="595515"/>
                </a:lnTo>
                <a:lnTo>
                  <a:pt x="119785" y="568251"/>
                </a:lnTo>
                <a:lnTo>
                  <a:pt x="85431" y="536302"/>
                </a:lnTo>
                <a:lnTo>
                  <a:pt x="56114" y="500171"/>
                </a:lnTo>
                <a:lnTo>
                  <a:pt x="32373" y="460359"/>
                </a:lnTo>
                <a:lnTo>
                  <a:pt x="14747" y="417367"/>
                </a:lnTo>
                <a:lnTo>
                  <a:pt x="3776" y="371696"/>
                </a:lnTo>
                <a:lnTo>
                  <a:pt x="0" y="3238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397121" y="4653737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42260" y="2265426"/>
            <a:ext cx="114300" cy="486409"/>
          </a:xfrm>
          <a:custGeom>
            <a:avLst/>
            <a:gdLst/>
            <a:ahLst/>
            <a:cxnLst/>
            <a:rect l="l" t="t" r="r" b="b"/>
            <a:pathLst>
              <a:path w="114300" h="486410">
                <a:moveTo>
                  <a:pt x="38100" y="295656"/>
                </a:moveTo>
                <a:lnTo>
                  <a:pt x="0" y="295656"/>
                </a:lnTo>
                <a:lnTo>
                  <a:pt x="57150" y="486156"/>
                </a:lnTo>
                <a:lnTo>
                  <a:pt x="108585" y="314706"/>
                </a:lnTo>
                <a:lnTo>
                  <a:pt x="38100" y="314706"/>
                </a:lnTo>
                <a:lnTo>
                  <a:pt x="38100" y="295656"/>
                </a:lnTo>
                <a:close/>
              </a:path>
              <a:path w="114300" h="486410">
                <a:moveTo>
                  <a:pt x="76200" y="0"/>
                </a:moveTo>
                <a:lnTo>
                  <a:pt x="38100" y="0"/>
                </a:lnTo>
                <a:lnTo>
                  <a:pt x="38100" y="314706"/>
                </a:lnTo>
                <a:lnTo>
                  <a:pt x="76200" y="314706"/>
                </a:lnTo>
                <a:lnTo>
                  <a:pt x="76200" y="0"/>
                </a:lnTo>
                <a:close/>
              </a:path>
              <a:path w="114300" h="486410">
                <a:moveTo>
                  <a:pt x="114300" y="295656"/>
                </a:moveTo>
                <a:lnTo>
                  <a:pt x="76200" y="295656"/>
                </a:lnTo>
                <a:lnTo>
                  <a:pt x="76200" y="314706"/>
                </a:lnTo>
                <a:lnTo>
                  <a:pt x="108585" y="314706"/>
                </a:lnTo>
                <a:lnTo>
                  <a:pt x="114300" y="295656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98648" y="3368802"/>
            <a:ext cx="114300" cy="487680"/>
          </a:xfrm>
          <a:custGeom>
            <a:avLst/>
            <a:gdLst/>
            <a:ahLst/>
            <a:cxnLst/>
            <a:rect l="l" t="t" r="r" b="b"/>
            <a:pathLst>
              <a:path w="114300" h="487679">
                <a:moveTo>
                  <a:pt x="38100" y="297180"/>
                </a:moveTo>
                <a:lnTo>
                  <a:pt x="0" y="297180"/>
                </a:lnTo>
                <a:lnTo>
                  <a:pt x="57150" y="487680"/>
                </a:lnTo>
                <a:lnTo>
                  <a:pt x="108585" y="316230"/>
                </a:lnTo>
                <a:lnTo>
                  <a:pt x="38100" y="316230"/>
                </a:lnTo>
                <a:lnTo>
                  <a:pt x="38100" y="297180"/>
                </a:lnTo>
                <a:close/>
              </a:path>
              <a:path w="114300" h="487679">
                <a:moveTo>
                  <a:pt x="76200" y="0"/>
                </a:moveTo>
                <a:lnTo>
                  <a:pt x="38100" y="0"/>
                </a:lnTo>
                <a:lnTo>
                  <a:pt x="38100" y="316230"/>
                </a:lnTo>
                <a:lnTo>
                  <a:pt x="76200" y="316230"/>
                </a:lnTo>
                <a:lnTo>
                  <a:pt x="76200" y="0"/>
                </a:lnTo>
                <a:close/>
              </a:path>
              <a:path w="114300" h="487679">
                <a:moveTo>
                  <a:pt x="114300" y="297180"/>
                </a:moveTo>
                <a:lnTo>
                  <a:pt x="76200" y="297180"/>
                </a:lnTo>
                <a:lnTo>
                  <a:pt x="76200" y="316230"/>
                </a:lnTo>
                <a:lnTo>
                  <a:pt x="108585" y="316230"/>
                </a:lnTo>
                <a:lnTo>
                  <a:pt x="114300" y="29718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88029" y="3108198"/>
            <a:ext cx="620395" cy="349250"/>
          </a:xfrm>
          <a:custGeom>
            <a:avLst/>
            <a:gdLst/>
            <a:ahLst/>
            <a:cxnLst/>
            <a:rect l="l" t="t" r="r" b="b"/>
            <a:pathLst>
              <a:path w="620395" h="349250">
                <a:moveTo>
                  <a:pt x="443775" y="274752"/>
                </a:moveTo>
                <a:lnTo>
                  <a:pt x="425577" y="308228"/>
                </a:lnTo>
                <a:lnTo>
                  <a:pt x="620268" y="348996"/>
                </a:lnTo>
                <a:lnTo>
                  <a:pt x="555644" y="283844"/>
                </a:lnTo>
                <a:lnTo>
                  <a:pt x="460502" y="283844"/>
                </a:lnTo>
                <a:lnTo>
                  <a:pt x="443775" y="274752"/>
                </a:lnTo>
                <a:close/>
              </a:path>
              <a:path w="620395" h="349250">
                <a:moveTo>
                  <a:pt x="462015" y="241198"/>
                </a:moveTo>
                <a:lnTo>
                  <a:pt x="443775" y="274752"/>
                </a:lnTo>
                <a:lnTo>
                  <a:pt x="460502" y="283844"/>
                </a:lnTo>
                <a:lnTo>
                  <a:pt x="478790" y="250316"/>
                </a:lnTo>
                <a:lnTo>
                  <a:pt x="462015" y="241198"/>
                </a:lnTo>
                <a:close/>
              </a:path>
              <a:path w="620395" h="349250">
                <a:moveTo>
                  <a:pt x="480187" y="207772"/>
                </a:moveTo>
                <a:lnTo>
                  <a:pt x="462015" y="241198"/>
                </a:lnTo>
                <a:lnTo>
                  <a:pt x="478790" y="250316"/>
                </a:lnTo>
                <a:lnTo>
                  <a:pt x="460502" y="283844"/>
                </a:lnTo>
                <a:lnTo>
                  <a:pt x="555644" y="283844"/>
                </a:lnTo>
                <a:lnTo>
                  <a:pt x="480187" y="207772"/>
                </a:lnTo>
                <a:close/>
              </a:path>
              <a:path w="620395" h="349250">
                <a:moveTo>
                  <a:pt x="18287" y="0"/>
                </a:moveTo>
                <a:lnTo>
                  <a:pt x="0" y="33527"/>
                </a:lnTo>
                <a:lnTo>
                  <a:pt x="443775" y="274752"/>
                </a:lnTo>
                <a:lnTo>
                  <a:pt x="462015" y="241198"/>
                </a:lnTo>
                <a:lnTo>
                  <a:pt x="18287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97173" y="3839336"/>
            <a:ext cx="517525" cy="259715"/>
          </a:xfrm>
          <a:custGeom>
            <a:avLst/>
            <a:gdLst/>
            <a:ahLst/>
            <a:cxnLst/>
            <a:rect l="l" t="t" r="r" b="b"/>
            <a:pathLst>
              <a:path w="517525" h="259714">
                <a:moveTo>
                  <a:pt x="147447" y="125983"/>
                </a:moveTo>
                <a:lnTo>
                  <a:pt x="0" y="259461"/>
                </a:lnTo>
                <a:lnTo>
                  <a:pt x="196596" y="229235"/>
                </a:lnTo>
                <a:lnTo>
                  <a:pt x="184082" y="202945"/>
                </a:lnTo>
                <a:lnTo>
                  <a:pt x="162940" y="202945"/>
                </a:lnTo>
                <a:lnTo>
                  <a:pt x="146558" y="168529"/>
                </a:lnTo>
                <a:lnTo>
                  <a:pt x="163796" y="160330"/>
                </a:lnTo>
                <a:lnTo>
                  <a:pt x="147447" y="125983"/>
                </a:lnTo>
                <a:close/>
              </a:path>
              <a:path w="517525" h="259714">
                <a:moveTo>
                  <a:pt x="163796" y="160330"/>
                </a:moveTo>
                <a:lnTo>
                  <a:pt x="146558" y="168529"/>
                </a:lnTo>
                <a:lnTo>
                  <a:pt x="162940" y="202945"/>
                </a:lnTo>
                <a:lnTo>
                  <a:pt x="180175" y="194739"/>
                </a:lnTo>
                <a:lnTo>
                  <a:pt x="163796" y="160330"/>
                </a:lnTo>
                <a:close/>
              </a:path>
              <a:path w="517525" h="259714">
                <a:moveTo>
                  <a:pt x="180175" y="194739"/>
                </a:moveTo>
                <a:lnTo>
                  <a:pt x="162940" y="202945"/>
                </a:lnTo>
                <a:lnTo>
                  <a:pt x="184082" y="202945"/>
                </a:lnTo>
                <a:lnTo>
                  <a:pt x="180175" y="194739"/>
                </a:lnTo>
                <a:close/>
              </a:path>
              <a:path w="517525" h="259714">
                <a:moveTo>
                  <a:pt x="500888" y="0"/>
                </a:moveTo>
                <a:lnTo>
                  <a:pt x="163796" y="160330"/>
                </a:lnTo>
                <a:lnTo>
                  <a:pt x="180175" y="194739"/>
                </a:lnTo>
                <a:lnTo>
                  <a:pt x="517143" y="34289"/>
                </a:lnTo>
                <a:lnTo>
                  <a:pt x="500888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287776" y="4326128"/>
            <a:ext cx="859790" cy="502920"/>
          </a:xfrm>
          <a:custGeom>
            <a:avLst/>
            <a:gdLst/>
            <a:ahLst/>
            <a:cxnLst/>
            <a:rect l="l" t="t" r="r" b="b"/>
            <a:pathLst>
              <a:path w="859789" h="502920">
                <a:moveTo>
                  <a:pt x="684941" y="424592"/>
                </a:moveTo>
                <a:lnTo>
                  <a:pt x="665988" y="457708"/>
                </a:lnTo>
                <a:lnTo>
                  <a:pt x="859789" y="502666"/>
                </a:lnTo>
                <a:lnTo>
                  <a:pt x="794593" y="434086"/>
                </a:lnTo>
                <a:lnTo>
                  <a:pt x="701548" y="434086"/>
                </a:lnTo>
                <a:lnTo>
                  <a:pt x="684941" y="424592"/>
                </a:lnTo>
                <a:close/>
              </a:path>
              <a:path w="859789" h="502920">
                <a:moveTo>
                  <a:pt x="703814" y="391616"/>
                </a:moveTo>
                <a:lnTo>
                  <a:pt x="684941" y="424592"/>
                </a:lnTo>
                <a:lnTo>
                  <a:pt x="701548" y="434086"/>
                </a:lnTo>
                <a:lnTo>
                  <a:pt x="720344" y="401066"/>
                </a:lnTo>
                <a:lnTo>
                  <a:pt x="703814" y="391616"/>
                </a:lnTo>
                <a:close/>
              </a:path>
              <a:path w="859789" h="502920">
                <a:moveTo>
                  <a:pt x="722757" y="358521"/>
                </a:moveTo>
                <a:lnTo>
                  <a:pt x="703814" y="391616"/>
                </a:lnTo>
                <a:lnTo>
                  <a:pt x="720344" y="401066"/>
                </a:lnTo>
                <a:lnTo>
                  <a:pt x="701548" y="434086"/>
                </a:lnTo>
                <a:lnTo>
                  <a:pt x="794593" y="434086"/>
                </a:lnTo>
                <a:lnTo>
                  <a:pt x="722757" y="358521"/>
                </a:lnTo>
                <a:close/>
              </a:path>
              <a:path w="859789" h="502920">
                <a:moveTo>
                  <a:pt x="18796" y="0"/>
                </a:moveTo>
                <a:lnTo>
                  <a:pt x="0" y="33020"/>
                </a:lnTo>
                <a:lnTo>
                  <a:pt x="684941" y="424592"/>
                </a:lnTo>
                <a:lnTo>
                  <a:pt x="703814" y="391616"/>
                </a:lnTo>
                <a:lnTo>
                  <a:pt x="18796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3466" y="4326128"/>
            <a:ext cx="800735" cy="476884"/>
          </a:xfrm>
          <a:custGeom>
            <a:avLst/>
            <a:gdLst/>
            <a:ahLst/>
            <a:cxnLst/>
            <a:rect l="l" t="t" r="r" b="b"/>
            <a:pathLst>
              <a:path w="800735" h="476885">
                <a:moveTo>
                  <a:pt x="135889" y="331597"/>
                </a:moveTo>
                <a:lnTo>
                  <a:pt x="0" y="476758"/>
                </a:lnTo>
                <a:lnTo>
                  <a:pt x="193420" y="430403"/>
                </a:lnTo>
                <a:lnTo>
                  <a:pt x="179814" y="407035"/>
                </a:lnTo>
                <a:lnTo>
                  <a:pt x="157733" y="407035"/>
                </a:lnTo>
                <a:lnTo>
                  <a:pt x="138556" y="374015"/>
                </a:lnTo>
                <a:lnTo>
                  <a:pt x="155013" y="364440"/>
                </a:lnTo>
                <a:lnTo>
                  <a:pt x="135889" y="331597"/>
                </a:lnTo>
                <a:close/>
              </a:path>
              <a:path w="800735" h="476885">
                <a:moveTo>
                  <a:pt x="155013" y="364440"/>
                </a:moveTo>
                <a:lnTo>
                  <a:pt x="138556" y="374015"/>
                </a:lnTo>
                <a:lnTo>
                  <a:pt x="157733" y="407035"/>
                </a:lnTo>
                <a:lnTo>
                  <a:pt x="174226" y="397437"/>
                </a:lnTo>
                <a:lnTo>
                  <a:pt x="155013" y="364440"/>
                </a:lnTo>
                <a:close/>
              </a:path>
              <a:path w="800735" h="476885">
                <a:moveTo>
                  <a:pt x="174226" y="397437"/>
                </a:moveTo>
                <a:lnTo>
                  <a:pt x="157733" y="407035"/>
                </a:lnTo>
                <a:lnTo>
                  <a:pt x="179814" y="407035"/>
                </a:lnTo>
                <a:lnTo>
                  <a:pt x="174226" y="397437"/>
                </a:lnTo>
                <a:close/>
              </a:path>
              <a:path w="800735" h="476885">
                <a:moveTo>
                  <a:pt x="781431" y="0"/>
                </a:moveTo>
                <a:lnTo>
                  <a:pt x="155013" y="364440"/>
                </a:lnTo>
                <a:lnTo>
                  <a:pt x="174226" y="397437"/>
                </a:lnTo>
                <a:lnTo>
                  <a:pt x="800481" y="33020"/>
                </a:lnTo>
                <a:lnTo>
                  <a:pt x="781431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05736" y="5174234"/>
            <a:ext cx="957580" cy="453390"/>
          </a:xfrm>
          <a:custGeom>
            <a:avLst/>
            <a:gdLst/>
            <a:ahLst/>
            <a:cxnLst/>
            <a:rect l="l" t="t" r="r" b="b"/>
            <a:pathLst>
              <a:path w="957580" h="453389">
                <a:moveTo>
                  <a:pt x="776399" y="390942"/>
                </a:moveTo>
                <a:lnTo>
                  <a:pt x="760476" y="425589"/>
                </a:lnTo>
                <a:lnTo>
                  <a:pt x="957452" y="453136"/>
                </a:lnTo>
                <a:lnTo>
                  <a:pt x="895888" y="398907"/>
                </a:lnTo>
                <a:lnTo>
                  <a:pt x="793750" y="398907"/>
                </a:lnTo>
                <a:lnTo>
                  <a:pt x="776399" y="390942"/>
                </a:lnTo>
                <a:close/>
              </a:path>
              <a:path w="957580" h="453389">
                <a:moveTo>
                  <a:pt x="792323" y="356295"/>
                </a:moveTo>
                <a:lnTo>
                  <a:pt x="776399" y="390942"/>
                </a:lnTo>
                <a:lnTo>
                  <a:pt x="793750" y="398907"/>
                </a:lnTo>
                <a:lnTo>
                  <a:pt x="809625" y="364236"/>
                </a:lnTo>
                <a:lnTo>
                  <a:pt x="792323" y="356295"/>
                </a:lnTo>
                <a:close/>
              </a:path>
              <a:path w="957580" h="453389">
                <a:moveTo>
                  <a:pt x="808227" y="321691"/>
                </a:moveTo>
                <a:lnTo>
                  <a:pt x="792323" y="356295"/>
                </a:lnTo>
                <a:lnTo>
                  <a:pt x="809625" y="364236"/>
                </a:lnTo>
                <a:lnTo>
                  <a:pt x="793750" y="398907"/>
                </a:lnTo>
                <a:lnTo>
                  <a:pt x="895888" y="398907"/>
                </a:lnTo>
                <a:lnTo>
                  <a:pt x="808227" y="321691"/>
                </a:lnTo>
                <a:close/>
              </a:path>
              <a:path w="957580" h="453389">
                <a:moveTo>
                  <a:pt x="16001" y="0"/>
                </a:moveTo>
                <a:lnTo>
                  <a:pt x="0" y="34544"/>
                </a:lnTo>
                <a:lnTo>
                  <a:pt x="776399" y="390942"/>
                </a:lnTo>
                <a:lnTo>
                  <a:pt x="792323" y="356295"/>
                </a:lnTo>
                <a:lnTo>
                  <a:pt x="16001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98648" y="4502658"/>
            <a:ext cx="114300" cy="814069"/>
          </a:xfrm>
          <a:custGeom>
            <a:avLst/>
            <a:gdLst/>
            <a:ahLst/>
            <a:cxnLst/>
            <a:rect l="l" t="t" r="r" b="b"/>
            <a:pathLst>
              <a:path w="114300" h="814070">
                <a:moveTo>
                  <a:pt x="76200" y="95250"/>
                </a:moveTo>
                <a:lnTo>
                  <a:pt x="38100" y="95250"/>
                </a:lnTo>
                <a:lnTo>
                  <a:pt x="38100" y="813816"/>
                </a:lnTo>
                <a:lnTo>
                  <a:pt x="76200" y="813816"/>
                </a:lnTo>
                <a:lnTo>
                  <a:pt x="76200" y="95250"/>
                </a:lnTo>
                <a:close/>
              </a:path>
              <a:path w="114300" h="81407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81407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027301" y="14732"/>
            <a:ext cx="16852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1510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Ch8	</a:t>
            </a:r>
            <a:r>
              <a:rPr sz="20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</a:t>
            </a:r>
            <a:r>
              <a:rPr sz="2000" b="1" dirty="0">
                <a:solidFill>
                  <a:srgbClr val="A15100"/>
                </a:solidFill>
                <a:latin typeface="华文新魏"/>
                <a:cs typeface="华文新魏"/>
              </a:rPr>
              <a:t>优化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746757" y="3048507"/>
            <a:ext cx="876935" cy="1111250"/>
          </a:xfrm>
          <a:custGeom>
            <a:avLst/>
            <a:gdLst/>
            <a:ahLst/>
            <a:cxnLst/>
            <a:rect l="l" t="t" r="r" b="b"/>
            <a:pathLst>
              <a:path w="876935" h="1111250">
                <a:moveTo>
                  <a:pt x="655762" y="73696"/>
                </a:moveTo>
                <a:lnTo>
                  <a:pt x="595376" y="106679"/>
                </a:lnTo>
                <a:lnTo>
                  <a:pt x="522097" y="147700"/>
                </a:lnTo>
                <a:lnTo>
                  <a:pt x="451231" y="188467"/>
                </a:lnTo>
                <a:lnTo>
                  <a:pt x="416814" y="208787"/>
                </a:lnTo>
                <a:lnTo>
                  <a:pt x="383286" y="229107"/>
                </a:lnTo>
                <a:lnTo>
                  <a:pt x="350647" y="249427"/>
                </a:lnTo>
                <a:lnTo>
                  <a:pt x="288290" y="289687"/>
                </a:lnTo>
                <a:lnTo>
                  <a:pt x="230378" y="329564"/>
                </a:lnTo>
                <a:lnTo>
                  <a:pt x="177419" y="369188"/>
                </a:lnTo>
                <a:lnTo>
                  <a:pt x="130302" y="408558"/>
                </a:lnTo>
                <a:lnTo>
                  <a:pt x="89154" y="447675"/>
                </a:lnTo>
                <a:lnTo>
                  <a:pt x="54991" y="486537"/>
                </a:lnTo>
                <a:lnTo>
                  <a:pt x="28193" y="525652"/>
                </a:lnTo>
                <a:lnTo>
                  <a:pt x="9906" y="564514"/>
                </a:lnTo>
                <a:lnTo>
                  <a:pt x="635" y="604392"/>
                </a:lnTo>
                <a:lnTo>
                  <a:pt x="0" y="614298"/>
                </a:lnTo>
                <a:lnTo>
                  <a:pt x="127" y="624204"/>
                </a:lnTo>
                <a:lnTo>
                  <a:pt x="7112" y="663066"/>
                </a:lnTo>
                <a:lnTo>
                  <a:pt x="24256" y="700150"/>
                </a:lnTo>
                <a:lnTo>
                  <a:pt x="49911" y="734694"/>
                </a:lnTo>
                <a:lnTo>
                  <a:pt x="83185" y="767841"/>
                </a:lnTo>
                <a:lnTo>
                  <a:pt x="123571" y="799337"/>
                </a:lnTo>
                <a:lnTo>
                  <a:pt x="170306" y="830198"/>
                </a:lnTo>
                <a:lnTo>
                  <a:pt x="222758" y="860170"/>
                </a:lnTo>
                <a:lnTo>
                  <a:pt x="280797" y="889507"/>
                </a:lnTo>
                <a:lnTo>
                  <a:pt x="343281" y="918209"/>
                </a:lnTo>
                <a:lnTo>
                  <a:pt x="410083" y="946530"/>
                </a:lnTo>
                <a:lnTo>
                  <a:pt x="480441" y="974470"/>
                </a:lnTo>
                <a:lnTo>
                  <a:pt x="553719" y="1002156"/>
                </a:lnTo>
                <a:lnTo>
                  <a:pt x="629412" y="1029588"/>
                </a:lnTo>
                <a:lnTo>
                  <a:pt x="864489" y="1110995"/>
                </a:lnTo>
                <a:lnTo>
                  <a:pt x="876935" y="1074927"/>
                </a:lnTo>
                <a:lnTo>
                  <a:pt x="641985" y="993647"/>
                </a:lnTo>
                <a:lnTo>
                  <a:pt x="529971" y="952626"/>
                </a:lnTo>
                <a:lnTo>
                  <a:pt x="494030" y="938910"/>
                </a:lnTo>
                <a:lnTo>
                  <a:pt x="424434" y="911224"/>
                </a:lnTo>
                <a:lnTo>
                  <a:pt x="358394" y="883284"/>
                </a:lnTo>
                <a:lnTo>
                  <a:pt x="296925" y="854963"/>
                </a:lnTo>
                <a:lnTo>
                  <a:pt x="240411" y="826261"/>
                </a:lnTo>
                <a:lnTo>
                  <a:pt x="189611" y="797432"/>
                </a:lnTo>
                <a:lnTo>
                  <a:pt x="145161" y="767968"/>
                </a:lnTo>
                <a:lnTo>
                  <a:pt x="107442" y="738377"/>
                </a:lnTo>
                <a:lnTo>
                  <a:pt x="77724" y="708659"/>
                </a:lnTo>
                <a:lnTo>
                  <a:pt x="48260" y="664336"/>
                </a:lnTo>
                <a:lnTo>
                  <a:pt x="38100" y="621664"/>
                </a:lnTo>
                <a:lnTo>
                  <a:pt x="38100" y="614298"/>
                </a:lnTo>
                <a:lnTo>
                  <a:pt x="45974" y="576579"/>
                </a:lnTo>
                <a:lnTo>
                  <a:pt x="72643" y="526668"/>
                </a:lnTo>
                <a:lnTo>
                  <a:pt x="100456" y="491616"/>
                </a:lnTo>
                <a:lnTo>
                  <a:pt x="135762" y="455294"/>
                </a:lnTo>
                <a:lnTo>
                  <a:pt x="177927" y="417956"/>
                </a:lnTo>
                <a:lnTo>
                  <a:pt x="226441" y="379729"/>
                </a:lnTo>
                <a:lnTo>
                  <a:pt x="280669" y="340867"/>
                </a:lnTo>
                <a:lnTo>
                  <a:pt x="339852" y="301497"/>
                </a:lnTo>
                <a:lnTo>
                  <a:pt x="403352" y="261492"/>
                </a:lnTo>
                <a:lnTo>
                  <a:pt x="436499" y="241426"/>
                </a:lnTo>
                <a:lnTo>
                  <a:pt x="505460" y="201040"/>
                </a:lnTo>
                <a:lnTo>
                  <a:pt x="577088" y="160400"/>
                </a:lnTo>
                <a:lnTo>
                  <a:pt x="673835" y="107217"/>
                </a:lnTo>
                <a:lnTo>
                  <a:pt x="655762" y="73696"/>
                </a:lnTo>
                <a:close/>
              </a:path>
              <a:path w="876935" h="1111250">
                <a:moveTo>
                  <a:pt x="767831" y="64642"/>
                </a:moveTo>
                <a:lnTo>
                  <a:pt x="672338" y="64642"/>
                </a:lnTo>
                <a:lnTo>
                  <a:pt x="690626" y="98043"/>
                </a:lnTo>
                <a:lnTo>
                  <a:pt x="673835" y="107217"/>
                </a:lnTo>
                <a:lnTo>
                  <a:pt x="691896" y="140715"/>
                </a:lnTo>
                <a:lnTo>
                  <a:pt x="767831" y="64642"/>
                </a:lnTo>
                <a:close/>
              </a:path>
              <a:path w="876935" h="1111250">
                <a:moveTo>
                  <a:pt x="672338" y="64642"/>
                </a:moveTo>
                <a:lnTo>
                  <a:pt x="655762" y="73696"/>
                </a:lnTo>
                <a:lnTo>
                  <a:pt x="673835" y="107217"/>
                </a:lnTo>
                <a:lnTo>
                  <a:pt x="690626" y="98043"/>
                </a:lnTo>
                <a:lnTo>
                  <a:pt x="672338" y="64642"/>
                </a:lnTo>
                <a:close/>
              </a:path>
              <a:path w="876935" h="1111250">
                <a:moveTo>
                  <a:pt x="832358" y="0"/>
                </a:moveTo>
                <a:lnTo>
                  <a:pt x="637667" y="40131"/>
                </a:lnTo>
                <a:lnTo>
                  <a:pt x="655762" y="73696"/>
                </a:lnTo>
                <a:lnTo>
                  <a:pt x="672338" y="64642"/>
                </a:lnTo>
                <a:lnTo>
                  <a:pt x="767831" y="64642"/>
                </a:lnTo>
                <a:lnTo>
                  <a:pt x="832358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426711" y="14732"/>
            <a:ext cx="3071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371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</a:t>
            </a:r>
            <a:r>
              <a:rPr sz="2000" b="1" u="sng" spc="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控制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流分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与循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查</a:t>
            </a:r>
            <a:r>
              <a:rPr sz="2000" b="1" u="sng" spc="-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找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840735" y="4501896"/>
            <a:ext cx="228600" cy="814069"/>
          </a:xfrm>
          <a:custGeom>
            <a:avLst/>
            <a:gdLst/>
            <a:ahLst/>
            <a:cxnLst/>
            <a:rect l="l" t="t" r="r" b="b"/>
            <a:pathLst>
              <a:path w="228600" h="814070">
                <a:moveTo>
                  <a:pt x="152400" y="190499"/>
                </a:moveTo>
                <a:lnTo>
                  <a:pt x="76200" y="190499"/>
                </a:lnTo>
                <a:lnTo>
                  <a:pt x="76200" y="813815"/>
                </a:lnTo>
                <a:lnTo>
                  <a:pt x="152400" y="813815"/>
                </a:lnTo>
                <a:lnTo>
                  <a:pt x="152400" y="190499"/>
                </a:lnTo>
                <a:close/>
              </a:path>
              <a:path w="228600" h="814070">
                <a:moveTo>
                  <a:pt x="114300" y="0"/>
                </a:moveTo>
                <a:lnTo>
                  <a:pt x="0" y="228599"/>
                </a:lnTo>
                <a:lnTo>
                  <a:pt x="76200" y="228599"/>
                </a:lnTo>
                <a:lnTo>
                  <a:pt x="76200" y="190499"/>
                </a:lnTo>
                <a:lnTo>
                  <a:pt x="209550" y="190499"/>
                </a:lnTo>
                <a:lnTo>
                  <a:pt x="114300" y="0"/>
                </a:lnTo>
                <a:close/>
              </a:path>
              <a:path w="228600" h="814070">
                <a:moveTo>
                  <a:pt x="209550" y="190499"/>
                </a:moveTo>
                <a:lnTo>
                  <a:pt x="152400" y="190499"/>
                </a:lnTo>
                <a:lnTo>
                  <a:pt x="152400" y="228599"/>
                </a:lnTo>
                <a:lnTo>
                  <a:pt x="228600" y="228599"/>
                </a:lnTo>
                <a:lnTo>
                  <a:pt x="209550" y="1904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66622" y="4618482"/>
            <a:ext cx="695325" cy="646430"/>
          </a:xfrm>
          <a:custGeom>
            <a:avLst/>
            <a:gdLst/>
            <a:ahLst/>
            <a:cxnLst/>
            <a:rect l="l" t="t" r="r" b="b"/>
            <a:pathLst>
              <a:path w="695325" h="646429">
                <a:moveTo>
                  <a:pt x="0" y="323088"/>
                </a:moveTo>
                <a:lnTo>
                  <a:pt x="3767" y="275344"/>
                </a:lnTo>
                <a:lnTo>
                  <a:pt x="14712" y="229776"/>
                </a:lnTo>
                <a:lnTo>
                  <a:pt x="32295" y="186882"/>
                </a:lnTo>
                <a:lnTo>
                  <a:pt x="55981" y="147163"/>
                </a:lnTo>
                <a:lnTo>
                  <a:pt x="85231" y="111119"/>
                </a:lnTo>
                <a:lnTo>
                  <a:pt x="119507" y="79248"/>
                </a:lnTo>
                <a:lnTo>
                  <a:pt x="158272" y="52051"/>
                </a:lnTo>
                <a:lnTo>
                  <a:pt x="200989" y="30028"/>
                </a:lnTo>
                <a:lnTo>
                  <a:pt x="247119" y="13679"/>
                </a:lnTo>
                <a:lnTo>
                  <a:pt x="296126" y="3503"/>
                </a:lnTo>
                <a:lnTo>
                  <a:pt x="347472" y="0"/>
                </a:lnTo>
                <a:lnTo>
                  <a:pt x="398817" y="3503"/>
                </a:lnTo>
                <a:lnTo>
                  <a:pt x="447824" y="13679"/>
                </a:lnTo>
                <a:lnTo>
                  <a:pt x="493954" y="30028"/>
                </a:lnTo>
                <a:lnTo>
                  <a:pt x="536671" y="52051"/>
                </a:lnTo>
                <a:lnTo>
                  <a:pt x="575436" y="79248"/>
                </a:lnTo>
                <a:lnTo>
                  <a:pt x="609712" y="111119"/>
                </a:lnTo>
                <a:lnTo>
                  <a:pt x="638962" y="147163"/>
                </a:lnTo>
                <a:lnTo>
                  <a:pt x="662648" y="186882"/>
                </a:lnTo>
                <a:lnTo>
                  <a:pt x="680231" y="229776"/>
                </a:lnTo>
                <a:lnTo>
                  <a:pt x="691176" y="275344"/>
                </a:lnTo>
                <a:lnTo>
                  <a:pt x="694944" y="323088"/>
                </a:lnTo>
                <a:lnTo>
                  <a:pt x="691176" y="370831"/>
                </a:lnTo>
                <a:lnTo>
                  <a:pt x="680231" y="416399"/>
                </a:lnTo>
                <a:lnTo>
                  <a:pt x="662648" y="459293"/>
                </a:lnTo>
                <a:lnTo>
                  <a:pt x="638962" y="499012"/>
                </a:lnTo>
                <a:lnTo>
                  <a:pt x="609712" y="535056"/>
                </a:lnTo>
                <a:lnTo>
                  <a:pt x="575436" y="566927"/>
                </a:lnTo>
                <a:lnTo>
                  <a:pt x="536671" y="594124"/>
                </a:lnTo>
                <a:lnTo>
                  <a:pt x="493954" y="616147"/>
                </a:lnTo>
                <a:lnTo>
                  <a:pt x="447824" y="632496"/>
                </a:lnTo>
                <a:lnTo>
                  <a:pt x="398817" y="642672"/>
                </a:lnTo>
                <a:lnTo>
                  <a:pt x="347472" y="646176"/>
                </a:lnTo>
                <a:lnTo>
                  <a:pt x="296126" y="642672"/>
                </a:lnTo>
                <a:lnTo>
                  <a:pt x="247119" y="632496"/>
                </a:lnTo>
                <a:lnTo>
                  <a:pt x="200989" y="616147"/>
                </a:lnTo>
                <a:lnTo>
                  <a:pt x="158272" y="594124"/>
                </a:lnTo>
                <a:lnTo>
                  <a:pt x="119507" y="566927"/>
                </a:lnTo>
                <a:lnTo>
                  <a:pt x="85231" y="535056"/>
                </a:lnTo>
                <a:lnTo>
                  <a:pt x="55981" y="499012"/>
                </a:lnTo>
                <a:lnTo>
                  <a:pt x="32295" y="459293"/>
                </a:lnTo>
                <a:lnTo>
                  <a:pt x="14712" y="416399"/>
                </a:lnTo>
                <a:lnTo>
                  <a:pt x="3767" y="370831"/>
                </a:lnTo>
                <a:lnTo>
                  <a:pt x="0" y="323088"/>
                </a:lnTo>
                <a:close/>
              </a:path>
            </a:pathLst>
          </a:custGeom>
          <a:ln w="38099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415033" y="4688535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50727" y="4697603"/>
            <a:ext cx="972819" cy="530225"/>
          </a:xfrm>
          <a:custGeom>
            <a:avLst/>
            <a:gdLst/>
            <a:ahLst/>
            <a:cxnLst/>
            <a:rect l="l" t="t" r="r" b="b"/>
            <a:pathLst>
              <a:path w="972819" h="530225">
                <a:moveTo>
                  <a:pt x="757811" y="36614"/>
                </a:moveTo>
                <a:lnTo>
                  <a:pt x="597975" y="84201"/>
                </a:lnTo>
                <a:lnTo>
                  <a:pt x="478544" y="121285"/>
                </a:lnTo>
                <a:lnTo>
                  <a:pt x="367495" y="157480"/>
                </a:lnTo>
                <a:lnTo>
                  <a:pt x="299309" y="180975"/>
                </a:lnTo>
                <a:lnTo>
                  <a:pt x="236431" y="203962"/>
                </a:lnTo>
                <a:lnTo>
                  <a:pt x="179866" y="226314"/>
                </a:lnTo>
                <a:lnTo>
                  <a:pt x="129713" y="248031"/>
                </a:lnTo>
                <a:lnTo>
                  <a:pt x="87016" y="269113"/>
                </a:lnTo>
                <a:lnTo>
                  <a:pt x="52180" y="289560"/>
                </a:lnTo>
                <a:lnTo>
                  <a:pt x="19630" y="315722"/>
                </a:lnTo>
                <a:lnTo>
                  <a:pt x="478" y="350139"/>
                </a:lnTo>
                <a:lnTo>
                  <a:pt x="249" y="351155"/>
                </a:lnTo>
                <a:lnTo>
                  <a:pt x="110" y="352425"/>
                </a:lnTo>
                <a:lnTo>
                  <a:pt x="0" y="359209"/>
                </a:lnTo>
                <a:lnTo>
                  <a:pt x="216" y="360934"/>
                </a:lnTo>
                <a:lnTo>
                  <a:pt x="20430" y="395224"/>
                </a:lnTo>
                <a:lnTo>
                  <a:pt x="53158" y="414782"/>
                </a:lnTo>
                <a:lnTo>
                  <a:pt x="98065" y="430784"/>
                </a:lnTo>
                <a:lnTo>
                  <a:pt x="142426" y="442341"/>
                </a:lnTo>
                <a:lnTo>
                  <a:pt x="194026" y="452882"/>
                </a:lnTo>
                <a:lnTo>
                  <a:pt x="252306" y="462661"/>
                </a:lnTo>
                <a:lnTo>
                  <a:pt x="316683" y="471805"/>
                </a:lnTo>
                <a:lnTo>
                  <a:pt x="460840" y="488188"/>
                </a:lnTo>
                <a:lnTo>
                  <a:pt x="580055" y="499364"/>
                </a:lnTo>
                <a:lnTo>
                  <a:pt x="969945" y="529717"/>
                </a:lnTo>
                <a:lnTo>
                  <a:pt x="972739" y="491617"/>
                </a:lnTo>
                <a:lnTo>
                  <a:pt x="583294" y="461391"/>
                </a:lnTo>
                <a:lnTo>
                  <a:pt x="427046" y="446405"/>
                </a:lnTo>
                <a:lnTo>
                  <a:pt x="321458" y="433959"/>
                </a:lnTo>
                <a:lnTo>
                  <a:pt x="257818" y="424942"/>
                </a:lnTo>
                <a:lnTo>
                  <a:pt x="200655" y="415290"/>
                </a:lnTo>
                <a:lnTo>
                  <a:pt x="150529" y="405130"/>
                </a:lnTo>
                <a:lnTo>
                  <a:pt x="108212" y="394081"/>
                </a:lnTo>
                <a:lnTo>
                  <a:pt x="68156" y="379730"/>
                </a:lnTo>
                <a:lnTo>
                  <a:pt x="39897" y="360934"/>
                </a:lnTo>
                <a:lnTo>
                  <a:pt x="39099" y="359791"/>
                </a:lnTo>
                <a:lnTo>
                  <a:pt x="38959" y="359791"/>
                </a:lnTo>
                <a:lnTo>
                  <a:pt x="38702" y="359156"/>
                </a:lnTo>
                <a:lnTo>
                  <a:pt x="38451" y="359156"/>
                </a:lnTo>
                <a:lnTo>
                  <a:pt x="38277" y="358394"/>
                </a:lnTo>
                <a:lnTo>
                  <a:pt x="38083" y="358394"/>
                </a:lnTo>
                <a:lnTo>
                  <a:pt x="38050" y="357886"/>
                </a:lnTo>
                <a:lnTo>
                  <a:pt x="37778" y="357886"/>
                </a:lnTo>
                <a:lnTo>
                  <a:pt x="37900" y="356825"/>
                </a:lnTo>
                <a:lnTo>
                  <a:pt x="37727" y="355981"/>
                </a:lnTo>
                <a:lnTo>
                  <a:pt x="37928" y="355981"/>
                </a:lnTo>
                <a:lnTo>
                  <a:pt x="37880" y="355219"/>
                </a:lnTo>
                <a:lnTo>
                  <a:pt x="38084" y="355219"/>
                </a:lnTo>
                <a:lnTo>
                  <a:pt x="38172" y="354457"/>
                </a:lnTo>
                <a:lnTo>
                  <a:pt x="38496" y="354457"/>
                </a:lnTo>
                <a:lnTo>
                  <a:pt x="67039" y="325501"/>
                </a:lnTo>
                <a:lnTo>
                  <a:pt x="105545" y="302387"/>
                </a:lnTo>
                <a:lnTo>
                  <a:pt x="146096" y="282448"/>
                </a:lnTo>
                <a:lnTo>
                  <a:pt x="194623" y="261493"/>
                </a:lnTo>
                <a:lnTo>
                  <a:pt x="250262" y="239395"/>
                </a:lnTo>
                <a:lnTo>
                  <a:pt x="312161" y="216789"/>
                </a:lnTo>
                <a:lnTo>
                  <a:pt x="415476" y="181610"/>
                </a:lnTo>
                <a:lnTo>
                  <a:pt x="609189" y="120650"/>
                </a:lnTo>
                <a:lnTo>
                  <a:pt x="768499" y="73227"/>
                </a:lnTo>
                <a:lnTo>
                  <a:pt x="757811" y="36614"/>
                </a:lnTo>
                <a:close/>
              </a:path>
              <a:path w="972819" h="530225">
                <a:moveTo>
                  <a:pt x="38771" y="359209"/>
                </a:moveTo>
                <a:lnTo>
                  <a:pt x="39785" y="360934"/>
                </a:lnTo>
                <a:lnTo>
                  <a:pt x="39473" y="360310"/>
                </a:lnTo>
                <a:lnTo>
                  <a:pt x="38771" y="359209"/>
                </a:lnTo>
                <a:close/>
              </a:path>
              <a:path w="972819" h="530225">
                <a:moveTo>
                  <a:pt x="39473" y="360310"/>
                </a:moveTo>
                <a:lnTo>
                  <a:pt x="39785" y="360934"/>
                </a:lnTo>
                <a:lnTo>
                  <a:pt x="39708" y="360680"/>
                </a:lnTo>
                <a:lnTo>
                  <a:pt x="39473" y="360310"/>
                </a:lnTo>
                <a:close/>
              </a:path>
              <a:path w="972819" h="530225">
                <a:moveTo>
                  <a:pt x="38494" y="358353"/>
                </a:moveTo>
                <a:lnTo>
                  <a:pt x="38705" y="359006"/>
                </a:lnTo>
                <a:lnTo>
                  <a:pt x="38820" y="359286"/>
                </a:lnTo>
                <a:lnTo>
                  <a:pt x="39473" y="360310"/>
                </a:lnTo>
                <a:lnTo>
                  <a:pt x="38494" y="358353"/>
                </a:lnTo>
                <a:close/>
              </a:path>
              <a:path w="972819" h="530225">
                <a:moveTo>
                  <a:pt x="38669" y="359075"/>
                </a:moveTo>
                <a:lnTo>
                  <a:pt x="38959" y="359791"/>
                </a:lnTo>
                <a:lnTo>
                  <a:pt x="38796" y="359286"/>
                </a:lnTo>
                <a:lnTo>
                  <a:pt x="38669" y="359075"/>
                </a:lnTo>
                <a:close/>
              </a:path>
              <a:path w="972819" h="530225">
                <a:moveTo>
                  <a:pt x="38796" y="359286"/>
                </a:moveTo>
                <a:lnTo>
                  <a:pt x="38959" y="359791"/>
                </a:lnTo>
                <a:lnTo>
                  <a:pt x="39099" y="359791"/>
                </a:lnTo>
                <a:lnTo>
                  <a:pt x="38796" y="359286"/>
                </a:lnTo>
                <a:close/>
              </a:path>
              <a:path w="972819" h="530225">
                <a:moveTo>
                  <a:pt x="38269" y="357903"/>
                </a:moveTo>
                <a:lnTo>
                  <a:pt x="38377" y="358353"/>
                </a:lnTo>
                <a:lnTo>
                  <a:pt x="38642" y="359006"/>
                </a:lnTo>
                <a:lnTo>
                  <a:pt x="38771" y="359209"/>
                </a:lnTo>
                <a:lnTo>
                  <a:pt x="38494" y="358353"/>
                </a:lnTo>
                <a:lnTo>
                  <a:pt x="38269" y="357903"/>
                </a:lnTo>
                <a:close/>
              </a:path>
              <a:path w="972819" h="530225">
                <a:moveTo>
                  <a:pt x="38127" y="357736"/>
                </a:moveTo>
                <a:lnTo>
                  <a:pt x="38451" y="359156"/>
                </a:lnTo>
                <a:lnTo>
                  <a:pt x="38311" y="358189"/>
                </a:lnTo>
                <a:lnTo>
                  <a:pt x="38127" y="357736"/>
                </a:lnTo>
                <a:close/>
              </a:path>
              <a:path w="972819" h="530225">
                <a:moveTo>
                  <a:pt x="38413" y="358648"/>
                </a:moveTo>
                <a:lnTo>
                  <a:pt x="38451" y="359156"/>
                </a:lnTo>
                <a:lnTo>
                  <a:pt x="38702" y="359156"/>
                </a:lnTo>
                <a:lnTo>
                  <a:pt x="38413" y="358648"/>
                </a:lnTo>
                <a:close/>
              </a:path>
              <a:path w="972819" h="530225">
                <a:moveTo>
                  <a:pt x="38496" y="358648"/>
                </a:moveTo>
                <a:lnTo>
                  <a:pt x="38642" y="359006"/>
                </a:lnTo>
                <a:lnTo>
                  <a:pt x="38496" y="358648"/>
                </a:lnTo>
                <a:close/>
              </a:path>
              <a:path w="972819" h="530225">
                <a:moveTo>
                  <a:pt x="38311" y="358189"/>
                </a:moveTo>
                <a:lnTo>
                  <a:pt x="38377" y="358648"/>
                </a:lnTo>
                <a:lnTo>
                  <a:pt x="38311" y="358189"/>
                </a:lnTo>
                <a:close/>
              </a:path>
              <a:path w="972819" h="530225">
                <a:moveTo>
                  <a:pt x="38099" y="357666"/>
                </a:moveTo>
                <a:lnTo>
                  <a:pt x="38083" y="358394"/>
                </a:lnTo>
                <a:lnTo>
                  <a:pt x="38277" y="358394"/>
                </a:lnTo>
                <a:lnTo>
                  <a:pt x="38099" y="357666"/>
                </a:lnTo>
                <a:close/>
              </a:path>
              <a:path w="972819" h="530225">
                <a:moveTo>
                  <a:pt x="38204" y="357457"/>
                </a:moveTo>
                <a:lnTo>
                  <a:pt x="38269" y="357903"/>
                </a:lnTo>
                <a:lnTo>
                  <a:pt x="38494" y="358353"/>
                </a:lnTo>
                <a:lnTo>
                  <a:pt x="38204" y="357457"/>
                </a:lnTo>
                <a:close/>
              </a:path>
              <a:path w="972819" h="530225">
                <a:moveTo>
                  <a:pt x="38101" y="357567"/>
                </a:moveTo>
                <a:lnTo>
                  <a:pt x="38188" y="357886"/>
                </a:lnTo>
                <a:lnTo>
                  <a:pt x="38311" y="358189"/>
                </a:lnTo>
                <a:lnTo>
                  <a:pt x="38186" y="357736"/>
                </a:lnTo>
                <a:lnTo>
                  <a:pt x="38101" y="357567"/>
                </a:lnTo>
                <a:close/>
              </a:path>
              <a:path w="972819" h="530225">
                <a:moveTo>
                  <a:pt x="38110" y="357166"/>
                </a:moveTo>
                <a:lnTo>
                  <a:pt x="38151" y="357666"/>
                </a:lnTo>
                <a:lnTo>
                  <a:pt x="38269" y="357903"/>
                </a:lnTo>
                <a:lnTo>
                  <a:pt x="38187" y="357403"/>
                </a:lnTo>
                <a:lnTo>
                  <a:pt x="38110" y="357166"/>
                </a:lnTo>
                <a:close/>
              </a:path>
              <a:path w="972819" h="530225">
                <a:moveTo>
                  <a:pt x="37880" y="357124"/>
                </a:moveTo>
                <a:lnTo>
                  <a:pt x="37778" y="357886"/>
                </a:lnTo>
                <a:lnTo>
                  <a:pt x="37879" y="357403"/>
                </a:lnTo>
                <a:lnTo>
                  <a:pt x="37880" y="357124"/>
                </a:lnTo>
                <a:close/>
              </a:path>
              <a:path w="972819" h="530225">
                <a:moveTo>
                  <a:pt x="37918" y="357218"/>
                </a:moveTo>
                <a:lnTo>
                  <a:pt x="37778" y="357886"/>
                </a:lnTo>
                <a:lnTo>
                  <a:pt x="38050" y="357886"/>
                </a:lnTo>
                <a:lnTo>
                  <a:pt x="37993" y="357403"/>
                </a:lnTo>
                <a:lnTo>
                  <a:pt x="37918" y="357218"/>
                </a:lnTo>
                <a:close/>
              </a:path>
              <a:path w="972819" h="530225">
                <a:moveTo>
                  <a:pt x="37938" y="357124"/>
                </a:moveTo>
                <a:close/>
              </a:path>
              <a:path w="972819" h="530225">
                <a:moveTo>
                  <a:pt x="37906" y="356767"/>
                </a:moveTo>
                <a:lnTo>
                  <a:pt x="37865" y="357124"/>
                </a:lnTo>
                <a:lnTo>
                  <a:pt x="37906" y="356767"/>
                </a:lnTo>
                <a:close/>
              </a:path>
              <a:path w="972819" h="530225">
                <a:moveTo>
                  <a:pt x="37727" y="355981"/>
                </a:moveTo>
                <a:lnTo>
                  <a:pt x="37906" y="356767"/>
                </a:lnTo>
                <a:lnTo>
                  <a:pt x="37796" y="356192"/>
                </a:lnTo>
                <a:lnTo>
                  <a:pt x="37727" y="355981"/>
                </a:lnTo>
                <a:close/>
              </a:path>
              <a:path w="972819" h="530225">
                <a:moveTo>
                  <a:pt x="37928" y="355981"/>
                </a:moveTo>
                <a:lnTo>
                  <a:pt x="37727" y="355981"/>
                </a:lnTo>
                <a:lnTo>
                  <a:pt x="37926" y="356596"/>
                </a:lnTo>
                <a:lnTo>
                  <a:pt x="37928" y="355981"/>
                </a:lnTo>
                <a:close/>
              </a:path>
              <a:path w="972819" h="530225">
                <a:moveTo>
                  <a:pt x="38496" y="354457"/>
                </a:moveTo>
                <a:lnTo>
                  <a:pt x="38172" y="354457"/>
                </a:lnTo>
                <a:lnTo>
                  <a:pt x="38132" y="356192"/>
                </a:lnTo>
                <a:lnTo>
                  <a:pt x="38496" y="354457"/>
                </a:lnTo>
                <a:close/>
              </a:path>
              <a:path w="972819" h="530225">
                <a:moveTo>
                  <a:pt x="38084" y="355219"/>
                </a:moveTo>
                <a:lnTo>
                  <a:pt x="37880" y="355219"/>
                </a:lnTo>
                <a:lnTo>
                  <a:pt x="37994" y="356006"/>
                </a:lnTo>
                <a:lnTo>
                  <a:pt x="38084" y="355219"/>
                </a:lnTo>
                <a:close/>
              </a:path>
              <a:path w="972819" h="530225">
                <a:moveTo>
                  <a:pt x="899992" y="31242"/>
                </a:moveTo>
                <a:lnTo>
                  <a:pt x="776029" y="31242"/>
                </a:lnTo>
                <a:lnTo>
                  <a:pt x="786824" y="67818"/>
                </a:lnTo>
                <a:lnTo>
                  <a:pt x="768499" y="73227"/>
                </a:lnTo>
                <a:lnTo>
                  <a:pt x="779153" y="109728"/>
                </a:lnTo>
                <a:lnTo>
                  <a:pt x="899992" y="31242"/>
                </a:lnTo>
                <a:close/>
              </a:path>
              <a:path w="972819" h="530225">
                <a:moveTo>
                  <a:pt x="776029" y="31242"/>
                </a:moveTo>
                <a:lnTo>
                  <a:pt x="757811" y="36614"/>
                </a:lnTo>
                <a:lnTo>
                  <a:pt x="768499" y="73227"/>
                </a:lnTo>
                <a:lnTo>
                  <a:pt x="786824" y="67818"/>
                </a:lnTo>
                <a:lnTo>
                  <a:pt x="776029" y="31242"/>
                </a:lnTo>
                <a:close/>
              </a:path>
              <a:path w="972819" h="530225">
                <a:moveTo>
                  <a:pt x="747124" y="0"/>
                </a:moveTo>
                <a:lnTo>
                  <a:pt x="757811" y="36614"/>
                </a:lnTo>
                <a:lnTo>
                  <a:pt x="776029" y="31242"/>
                </a:lnTo>
                <a:lnTo>
                  <a:pt x="899992" y="31242"/>
                </a:lnTo>
                <a:lnTo>
                  <a:pt x="945942" y="1397"/>
                </a:lnTo>
                <a:lnTo>
                  <a:pt x="747124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79844" y="4692141"/>
            <a:ext cx="1056005" cy="527685"/>
          </a:xfrm>
          <a:custGeom>
            <a:avLst/>
            <a:gdLst/>
            <a:ahLst/>
            <a:cxnLst/>
            <a:rect l="l" t="t" r="r" b="b"/>
            <a:pathLst>
              <a:path w="1056005" h="527685">
                <a:moveTo>
                  <a:pt x="635434" y="73421"/>
                </a:moveTo>
                <a:lnTo>
                  <a:pt x="515454" y="108838"/>
                </a:lnTo>
                <a:lnTo>
                  <a:pt x="436219" y="133349"/>
                </a:lnTo>
                <a:lnTo>
                  <a:pt x="326263" y="169036"/>
                </a:lnTo>
                <a:lnTo>
                  <a:pt x="229006" y="203580"/>
                </a:lnTo>
                <a:lnTo>
                  <a:pt x="172211" y="225805"/>
                </a:lnTo>
                <a:lnTo>
                  <a:pt x="122554" y="247395"/>
                </a:lnTo>
                <a:lnTo>
                  <a:pt x="80975" y="268350"/>
                </a:lnTo>
                <a:lnTo>
                  <a:pt x="46482" y="289940"/>
                </a:lnTo>
                <a:lnTo>
                  <a:pt x="13766" y="320928"/>
                </a:lnTo>
                <a:lnTo>
                  <a:pt x="0" y="365759"/>
                </a:lnTo>
                <a:lnTo>
                  <a:pt x="101" y="366902"/>
                </a:lnTo>
                <a:lnTo>
                  <a:pt x="507" y="369061"/>
                </a:lnTo>
                <a:lnTo>
                  <a:pt x="1168" y="372871"/>
                </a:lnTo>
                <a:lnTo>
                  <a:pt x="1600" y="375157"/>
                </a:lnTo>
                <a:lnTo>
                  <a:pt x="2247" y="377570"/>
                </a:lnTo>
                <a:lnTo>
                  <a:pt x="3111" y="379729"/>
                </a:lnTo>
                <a:lnTo>
                  <a:pt x="4533" y="383539"/>
                </a:lnTo>
                <a:lnTo>
                  <a:pt x="5315" y="385444"/>
                </a:lnTo>
                <a:lnTo>
                  <a:pt x="6121" y="387222"/>
                </a:lnTo>
                <a:lnTo>
                  <a:pt x="7124" y="388873"/>
                </a:lnTo>
                <a:lnTo>
                  <a:pt x="9220" y="392556"/>
                </a:lnTo>
                <a:lnTo>
                  <a:pt x="38595" y="420115"/>
                </a:lnTo>
                <a:lnTo>
                  <a:pt x="79375" y="438530"/>
                </a:lnTo>
                <a:lnTo>
                  <a:pt x="120192" y="450214"/>
                </a:lnTo>
                <a:lnTo>
                  <a:pt x="168440" y="460501"/>
                </a:lnTo>
                <a:lnTo>
                  <a:pt x="224091" y="469645"/>
                </a:lnTo>
                <a:lnTo>
                  <a:pt x="286753" y="477900"/>
                </a:lnTo>
                <a:lnTo>
                  <a:pt x="355701" y="485266"/>
                </a:lnTo>
                <a:lnTo>
                  <a:pt x="469544" y="495172"/>
                </a:lnTo>
                <a:lnTo>
                  <a:pt x="636905" y="506475"/>
                </a:lnTo>
                <a:lnTo>
                  <a:pt x="1051877" y="527557"/>
                </a:lnTo>
                <a:lnTo>
                  <a:pt x="1055433" y="451357"/>
                </a:lnTo>
                <a:lnTo>
                  <a:pt x="641350" y="430402"/>
                </a:lnTo>
                <a:lnTo>
                  <a:pt x="475145" y="419226"/>
                </a:lnTo>
                <a:lnTo>
                  <a:pt x="398830" y="412876"/>
                </a:lnTo>
                <a:lnTo>
                  <a:pt x="328256" y="405891"/>
                </a:lnTo>
                <a:lnTo>
                  <a:pt x="264020" y="398271"/>
                </a:lnTo>
                <a:lnTo>
                  <a:pt x="207136" y="389889"/>
                </a:lnTo>
                <a:lnTo>
                  <a:pt x="158280" y="380745"/>
                </a:lnTo>
                <a:lnTo>
                  <a:pt x="118490" y="370966"/>
                </a:lnTo>
                <a:lnTo>
                  <a:pt x="109611" y="368172"/>
                </a:lnTo>
                <a:lnTo>
                  <a:pt x="74371" y="368172"/>
                </a:lnTo>
                <a:lnTo>
                  <a:pt x="75590" y="363854"/>
                </a:lnTo>
                <a:lnTo>
                  <a:pt x="75646" y="363473"/>
                </a:lnTo>
                <a:lnTo>
                  <a:pt x="75878" y="360933"/>
                </a:lnTo>
                <a:lnTo>
                  <a:pt x="75760" y="358520"/>
                </a:lnTo>
                <a:lnTo>
                  <a:pt x="72199" y="350519"/>
                </a:lnTo>
                <a:lnTo>
                  <a:pt x="71526" y="349503"/>
                </a:lnTo>
                <a:lnTo>
                  <a:pt x="94234" y="349503"/>
                </a:lnTo>
                <a:lnTo>
                  <a:pt x="97561" y="347217"/>
                </a:lnTo>
                <a:lnTo>
                  <a:pt x="103797" y="343280"/>
                </a:lnTo>
                <a:lnTo>
                  <a:pt x="155752" y="315975"/>
                </a:lnTo>
                <a:lnTo>
                  <a:pt x="201930" y="295909"/>
                </a:lnTo>
                <a:lnTo>
                  <a:pt x="256197" y="274700"/>
                </a:lnTo>
                <a:lnTo>
                  <a:pt x="350964" y="241172"/>
                </a:lnTo>
                <a:lnTo>
                  <a:pt x="459320" y="205993"/>
                </a:lnTo>
                <a:lnTo>
                  <a:pt x="620382" y="157098"/>
                </a:lnTo>
                <a:lnTo>
                  <a:pt x="656262" y="146745"/>
                </a:lnTo>
                <a:lnTo>
                  <a:pt x="635434" y="73421"/>
                </a:lnTo>
                <a:close/>
              </a:path>
              <a:path w="1056005" h="527685">
                <a:moveTo>
                  <a:pt x="75621" y="363743"/>
                </a:moveTo>
                <a:lnTo>
                  <a:pt x="74371" y="368172"/>
                </a:lnTo>
                <a:lnTo>
                  <a:pt x="75490" y="365189"/>
                </a:lnTo>
                <a:lnTo>
                  <a:pt x="75621" y="363743"/>
                </a:lnTo>
                <a:close/>
              </a:path>
              <a:path w="1056005" h="527685">
                <a:moveTo>
                  <a:pt x="83234" y="357752"/>
                </a:moveTo>
                <a:lnTo>
                  <a:pt x="80200" y="360425"/>
                </a:lnTo>
                <a:lnTo>
                  <a:pt x="78193" y="362330"/>
                </a:lnTo>
                <a:lnTo>
                  <a:pt x="76720" y="363854"/>
                </a:lnTo>
                <a:lnTo>
                  <a:pt x="76136" y="364235"/>
                </a:lnTo>
                <a:lnTo>
                  <a:pt x="75847" y="364235"/>
                </a:lnTo>
                <a:lnTo>
                  <a:pt x="75599" y="364896"/>
                </a:lnTo>
                <a:lnTo>
                  <a:pt x="75438" y="365759"/>
                </a:lnTo>
                <a:lnTo>
                  <a:pt x="75276" y="365759"/>
                </a:lnTo>
                <a:lnTo>
                  <a:pt x="74371" y="368172"/>
                </a:lnTo>
                <a:lnTo>
                  <a:pt x="109611" y="368172"/>
                </a:lnTo>
                <a:lnTo>
                  <a:pt x="102401" y="365759"/>
                </a:lnTo>
                <a:lnTo>
                  <a:pt x="75438" y="365759"/>
                </a:lnTo>
                <a:lnTo>
                  <a:pt x="75490" y="365189"/>
                </a:lnTo>
                <a:lnTo>
                  <a:pt x="100866" y="365189"/>
                </a:lnTo>
                <a:lnTo>
                  <a:pt x="98302" y="364235"/>
                </a:lnTo>
                <a:lnTo>
                  <a:pt x="76136" y="364235"/>
                </a:lnTo>
                <a:lnTo>
                  <a:pt x="75895" y="364108"/>
                </a:lnTo>
                <a:lnTo>
                  <a:pt x="97961" y="364108"/>
                </a:lnTo>
                <a:lnTo>
                  <a:pt x="96253" y="363473"/>
                </a:lnTo>
                <a:lnTo>
                  <a:pt x="89954" y="360933"/>
                </a:lnTo>
                <a:lnTo>
                  <a:pt x="84899" y="358647"/>
                </a:lnTo>
                <a:lnTo>
                  <a:pt x="83234" y="357752"/>
                </a:lnTo>
                <a:close/>
              </a:path>
              <a:path w="1056005" h="527685">
                <a:moveTo>
                  <a:pt x="75599" y="364896"/>
                </a:moveTo>
                <a:lnTo>
                  <a:pt x="75490" y="365189"/>
                </a:lnTo>
                <a:lnTo>
                  <a:pt x="75438" y="365759"/>
                </a:lnTo>
                <a:lnTo>
                  <a:pt x="75599" y="364896"/>
                </a:lnTo>
                <a:close/>
              </a:path>
              <a:path w="1056005" h="527685">
                <a:moveTo>
                  <a:pt x="76079" y="362121"/>
                </a:moveTo>
                <a:lnTo>
                  <a:pt x="75697" y="363473"/>
                </a:lnTo>
                <a:lnTo>
                  <a:pt x="75611" y="363854"/>
                </a:lnTo>
                <a:lnTo>
                  <a:pt x="75490" y="365189"/>
                </a:lnTo>
                <a:lnTo>
                  <a:pt x="75599" y="364896"/>
                </a:lnTo>
                <a:lnTo>
                  <a:pt x="76080" y="362330"/>
                </a:lnTo>
                <a:lnTo>
                  <a:pt x="76079" y="362121"/>
                </a:lnTo>
                <a:close/>
              </a:path>
              <a:path w="1056005" h="527685">
                <a:moveTo>
                  <a:pt x="78862" y="361695"/>
                </a:moveTo>
                <a:lnTo>
                  <a:pt x="76200" y="361695"/>
                </a:lnTo>
                <a:lnTo>
                  <a:pt x="76098" y="362330"/>
                </a:lnTo>
                <a:lnTo>
                  <a:pt x="75599" y="364896"/>
                </a:lnTo>
                <a:lnTo>
                  <a:pt x="75895" y="364108"/>
                </a:lnTo>
                <a:lnTo>
                  <a:pt x="76331" y="364108"/>
                </a:lnTo>
                <a:lnTo>
                  <a:pt x="76720" y="363854"/>
                </a:lnTo>
                <a:lnTo>
                  <a:pt x="78483" y="362055"/>
                </a:lnTo>
                <a:lnTo>
                  <a:pt x="78862" y="361695"/>
                </a:lnTo>
                <a:close/>
              </a:path>
              <a:path w="1056005" h="527685">
                <a:moveTo>
                  <a:pt x="76331" y="364108"/>
                </a:moveTo>
                <a:lnTo>
                  <a:pt x="75895" y="364108"/>
                </a:lnTo>
                <a:lnTo>
                  <a:pt x="76136" y="364235"/>
                </a:lnTo>
                <a:lnTo>
                  <a:pt x="76331" y="364108"/>
                </a:lnTo>
                <a:close/>
              </a:path>
              <a:path w="1056005" h="527685">
                <a:moveTo>
                  <a:pt x="75927" y="360399"/>
                </a:moveTo>
                <a:lnTo>
                  <a:pt x="75621" y="363743"/>
                </a:lnTo>
                <a:lnTo>
                  <a:pt x="76020" y="362330"/>
                </a:lnTo>
                <a:lnTo>
                  <a:pt x="75927" y="360399"/>
                </a:lnTo>
                <a:close/>
              </a:path>
              <a:path w="1056005" h="527685">
                <a:moveTo>
                  <a:pt x="76092" y="362267"/>
                </a:moveTo>
                <a:close/>
              </a:path>
              <a:path w="1056005" h="527685">
                <a:moveTo>
                  <a:pt x="76056" y="358984"/>
                </a:moveTo>
                <a:lnTo>
                  <a:pt x="75974" y="360933"/>
                </a:lnTo>
                <a:lnTo>
                  <a:pt x="76079" y="362121"/>
                </a:lnTo>
                <a:lnTo>
                  <a:pt x="76056" y="358984"/>
                </a:lnTo>
                <a:close/>
              </a:path>
              <a:path w="1056005" h="527685">
                <a:moveTo>
                  <a:pt x="82362" y="358520"/>
                </a:moveTo>
                <a:lnTo>
                  <a:pt x="76098" y="358520"/>
                </a:lnTo>
                <a:lnTo>
                  <a:pt x="76174" y="359409"/>
                </a:lnTo>
                <a:lnTo>
                  <a:pt x="76098" y="362055"/>
                </a:lnTo>
                <a:lnTo>
                  <a:pt x="76200" y="361695"/>
                </a:lnTo>
                <a:lnTo>
                  <a:pt x="78862" y="361695"/>
                </a:lnTo>
                <a:lnTo>
                  <a:pt x="80231" y="360399"/>
                </a:lnTo>
                <a:lnTo>
                  <a:pt x="82362" y="358520"/>
                </a:lnTo>
                <a:close/>
              </a:path>
              <a:path w="1056005" h="527685">
                <a:moveTo>
                  <a:pt x="75682" y="357640"/>
                </a:moveTo>
                <a:lnTo>
                  <a:pt x="75927" y="360399"/>
                </a:lnTo>
                <a:lnTo>
                  <a:pt x="76042" y="359136"/>
                </a:lnTo>
                <a:lnTo>
                  <a:pt x="75927" y="358520"/>
                </a:lnTo>
                <a:lnTo>
                  <a:pt x="75682" y="357640"/>
                </a:lnTo>
                <a:close/>
              </a:path>
              <a:path w="1056005" h="527685">
                <a:moveTo>
                  <a:pt x="76098" y="359136"/>
                </a:moveTo>
                <a:lnTo>
                  <a:pt x="76098" y="359409"/>
                </a:lnTo>
                <a:lnTo>
                  <a:pt x="76098" y="359136"/>
                </a:lnTo>
                <a:close/>
              </a:path>
              <a:path w="1056005" h="527685">
                <a:moveTo>
                  <a:pt x="75519" y="355805"/>
                </a:moveTo>
                <a:lnTo>
                  <a:pt x="75670" y="357504"/>
                </a:lnTo>
                <a:lnTo>
                  <a:pt x="75713" y="357752"/>
                </a:lnTo>
                <a:lnTo>
                  <a:pt x="76056" y="358984"/>
                </a:lnTo>
                <a:lnTo>
                  <a:pt x="76017" y="358520"/>
                </a:lnTo>
                <a:lnTo>
                  <a:pt x="75613" y="356234"/>
                </a:lnTo>
                <a:lnTo>
                  <a:pt x="75519" y="355805"/>
                </a:lnTo>
                <a:close/>
              </a:path>
              <a:path w="1056005" h="527685">
                <a:moveTo>
                  <a:pt x="79326" y="355599"/>
                </a:moveTo>
                <a:lnTo>
                  <a:pt x="75501" y="355599"/>
                </a:lnTo>
                <a:lnTo>
                  <a:pt x="75548" y="355805"/>
                </a:lnTo>
                <a:lnTo>
                  <a:pt x="75666" y="356107"/>
                </a:lnTo>
                <a:lnTo>
                  <a:pt x="76070" y="358822"/>
                </a:lnTo>
                <a:lnTo>
                  <a:pt x="76098" y="358520"/>
                </a:lnTo>
                <a:lnTo>
                  <a:pt x="82362" y="358520"/>
                </a:lnTo>
                <a:lnTo>
                  <a:pt x="83234" y="357752"/>
                </a:lnTo>
                <a:lnTo>
                  <a:pt x="80416" y="356234"/>
                </a:lnTo>
                <a:lnTo>
                  <a:pt x="79326" y="355599"/>
                </a:lnTo>
                <a:close/>
              </a:path>
              <a:path w="1056005" h="527685">
                <a:moveTo>
                  <a:pt x="92386" y="350773"/>
                </a:moveTo>
                <a:lnTo>
                  <a:pt x="73075" y="350773"/>
                </a:lnTo>
                <a:lnTo>
                  <a:pt x="73605" y="351672"/>
                </a:lnTo>
                <a:lnTo>
                  <a:pt x="76276" y="353821"/>
                </a:lnTo>
                <a:lnTo>
                  <a:pt x="80416" y="356234"/>
                </a:lnTo>
                <a:lnTo>
                  <a:pt x="83234" y="357752"/>
                </a:lnTo>
                <a:lnTo>
                  <a:pt x="83515" y="357504"/>
                </a:lnTo>
                <a:lnTo>
                  <a:pt x="87236" y="354583"/>
                </a:lnTo>
                <a:lnTo>
                  <a:pt x="92386" y="350773"/>
                </a:lnTo>
                <a:close/>
              </a:path>
              <a:path w="1056005" h="527685">
                <a:moveTo>
                  <a:pt x="74705" y="354129"/>
                </a:moveTo>
                <a:lnTo>
                  <a:pt x="75682" y="357640"/>
                </a:lnTo>
                <a:lnTo>
                  <a:pt x="75557" y="356234"/>
                </a:lnTo>
                <a:lnTo>
                  <a:pt x="75472" y="355709"/>
                </a:lnTo>
                <a:lnTo>
                  <a:pt x="74705" y="354129"/>
                </a:lnTo>
                <a:close/>
              </a:path>
              <a:path w="1056005" h="527685">
                <a:moveTo>
                  <a:pt x="75548" y="355864"/>
                </a:moveTo>
                <a:lnTo>
                  <a:pt x="75591" y="356107"/>
                </a:lnTo>
                <a:lnTo>
                  <a:pt x="75548" y="355864"/>
                </a:lnTo>
                <a:close/>
              </a:path>
              <a:path w="1056005" h="527685">
                <a:moveTo>
                  <a:pt x="75528" y="355754"/>
                </a:moveTo>
                <a:lnTo>
                  <a:pt x="75666" y="356107"/>
                </a:lnTo>
                <a:lnTo>
                  <a:pt x="75528" y="355754"/>
                </a:lnTo>
                <a:close/>
              </a:path>
              <a:path w="1056005" h="527685">
                <a:moveTo>
                  <a:pt x="74480" y="353320"/>
                </a:moveTo>
                <a:lnTo>
                  <a:pt x="74705" y="354129"/>
                </a:lnTo>
                <a:lnTo>
                  <a:pt x="75519" y="355805"/>
                </a:lnTo>
                <a:lnTo>
                  <a:pt x="75468" y="355599"/>
                </a:lnTo>
                <a:lnTo>
                  <a:pt x="74712" y="353659"/>
                </a:lnTo>
                <a:lnTo>
                  <a:pt x="74480" y="353320"/>
                </a:lnTo>
                <a:close/>
              </a:path>
              <a:path w="1056005" h="527685">
                <a:moveTo>
                  <a:pt x="74712" y="353659"/>
                </a:moveTo>
                <a:lnTo>
                  <a:pt x="75511" y="355709"/>
                </a:lnTo>
                <a:lnTo>
                  <a:pt x="79326" y="355599"/>
                </a:lnTo>
                <a:lnTo>
                  <a:pt x="77147" y="354329"/>
                </a:lnTo>
                <a:lnTo>
                  <a:pt x="75171" y="354329"/>
                </a:lnTo>
                <a:lnTo>
                  <a:pt x="74712" y="353659"/>
                </a:lnTo>
                <a:close/>
              </a:path>
              <a:path w="1056005" h="527685">
                <a:moveTo>
                  <a:pt x="74588" y="353340"/>
                </a:moveTo>
                <a:lnTo>
                  <a:pt x="74712" y="353659"/>
                </a:lnTo>
                <a:lnTo>
                  <a:pt x="75171" y="354329"/>
                </a:lnTo>
                <a:lnTo>
                  <a:pt x="74588" y="353340"/>
                </a:lnTo>
                <a:close/>
              </a:path>
              <a:path w="1056005" h="527685">
                <a:moveTo>
                  <a:pt x="74523" y="352424"/>
                </a:moveTo>
                <a:lnTo>
                  <a:pt x="74231" y="352424"/>
                </a:lnTo>
                <a:lnTo>
                  <a:pt x="74588" y="353340"/>
                </a:lnTo>
                <a:lnTo>
                  <a:pt x="75171" y="354329"/>
                </a:lnTo>
                <a:lnTo>
                  <a:pt x="77147" y="354329"/>
                </a:lnTo>
                <a:lnTo>
                  <a:pt x="76276" y="353821"/>
                </a:lnTo>
                <a:lnTo>
                  <a:pt x="74523" y="352424"/>
                </a:lnTo>
                <a:close/>
              </a:path>
              <a:path w="1056005" h="527685">
                <a:moveTo>
                  <a:pt x="73901" y="352474"/>
                </a:moveTo>
                <a:lnTo>
                  <a:pt x="74705" y="354129"/>
                </a:lnTo>
                <a:lnTo>
                  <a:pt x="74480" y="353320"/>
                </a:lnTo>
                <a:lnTo>
                  <a:pt x="73901" y="352474"/>
                </a:lnTo>
                <a:close/>
              </a:path>
              <a:path w="1056005" h="527685">
                <a:moveTo>
                  <a:pt x="74394" y="353012"/>
                </a:moveTo>
                <a:lnTo>
                  <a:pt x="74494" y="353340"/>
                </a:lnTo>
                <a:lnTo>
                  <a:pt x="74712" y="353659"/>
                </a:lnTo>
                <a:lnTo>
                  <a:pt x="74576" y="353320"/>
                </a:lnTo>
                <a:lnTo>
                  <a:pt x="74394" y="353012"/>
                </a:lnTo>
                <a:close/>
              </a:path>
              <a:path w="1056005" h="527685">
                <a:moveTo>
                  <a:pt x="74231" y="352424"/>
                </a:moveTo>
                <a:lnTo>
                  <a:pt x="74394" y="353012"/>
                </a:lnTo>
                <a:lnTo>
                  <a:pt x="74588" y="353340"/>
                </a:lnTo>
                <a:lnTo>
                  <a:pt x="74231" y="352424"/>
                </a:lnTo>
                <a:close/>
              </a:path>
              <a:path w="1056005" h="527685">
                <a:moveTo>
                  <a:pt x="73450" y="351545"/>
                </a:moveTo>
                <a:lnTo>
                  <a:pt x="73901" y="352474"/>
                </a:lnTo>
                <a:lnTo>
                  <a:pt x="74480" y="353320"/>
                </a:lnTo>
                <a:lnTo>
                  <a:pt x="74394" y="353012"/>
                </a:lnTo>
                <a:lnTo>
                  <a:pt x="73605" y="351672"/>
                </a:lnTo>
                <a:lnTo>
                  <a:pt x="73450" y="351545"/>
                </a:lnTo>
                <a:close/>
              </a:path>
              <a:path w="1056005" h="527685">
                <a:moveTo>
                  <a:pt x="73605" y="351672"/>
                </a:moveTo>
                <a:lnTo>
                  <a:pt x="74394" y="353012"/>
                </a:lnTo>
                <a:lnTo>
                  <a:pt x="74231" y="352424"/>
                </a:lnTo>
                <a:lnTo>
                  <a:pt x="74523" y="352424"/>
                </a:lnTo>
                <a:lnTo>
                  <a:pt x="73605" y="351672"/>
                </a:lnTo>
                <a:close/>
              </a:path>
              <a:path w="1056005" h="527685">
                <a:moveTo>
                  <a:pt x="73030" y="351201"/>
                </a:moveTo>
                <a:lnTo>
                  <a:pt x="73901" y="352474"/>
                </a:lnTo>
                <a:lnTo>
                  <a:pt x="73450" y="351545"/>
                </a:lnTo>
                <a:lnTo>
                  <a:pt x="73030" y="351201"/>
                </a:lnTo>
                <a:close/>
              </a:path>
              <a:path w="1056005" h="527685">
                <a:moveTo>
                  <a:pt x="73075" y="350773"/>
                </a:moveTo>
                <a:lnTo>
                  <a:pt x="73450" y="351545"/>
                </a:lnTo>
                <a:lnTo>
                  <a:pt x="73605" y="351672"/>
                </a:lnTo>
                <a:lnTo>
                  <a:pt x="73075" y="350773"/>
                </a:lnTo>
                <a:close/>
              </a:path>
              <a:path w="1056005" h="527685">
                <a:moveTo>
                  <a:pt x="94234" y="349503"/>
                </a:moveTo>
                <a:lnTo>
                  <a:pt x="71869" y="349503"/>
                </a:lnTo>
                <a:lnTo>
                  <a:pt x="73030" y="351201"/>
                </a:lnTo>
                <a:lnTo>
                  <a:pt x="73450" y="351545"/>
                </a:lnTo>
                <a:lnTo>
                  <a:pt x="73075" y="350773"/>
                </a:lnTo>
                <a:lnTo>
                  <a:pt x="92386" y="350773"/>
                </a:lnTo>
                <a:lnTo>
                  <a:pt x="94234" y="349503"/>
                </a:lnTo>
                <a:close/>
              </a:path>
              <a:path w="1056005" h="527685">
                <a:moveTo>
                  <a:pt x="922925" y="62864"/>
                </a:moveTo>
                <a:lnTo>
                  <a:pt x="671906" y="62864"/>
                </a:lnTo>
                <a:lnTo>
                  <a:pt x="693000" y="136143"/>
                </a:lnTo>
                <a:lnTo>
                  <a:pt x="656262" y="146745"/>
                </a:lnTo>
                <a:lnTo>
                  <a:pt x="677024" y="219836"/>
                </a:lnTo>
                <a:lnTo>
                  <a:pt x="922925" y="62864"/>
                </a:lnTo>
                <a:close/>
              </a:path>
              <a:path w="1056005" h="527685">
                <a:moveTo>
                  <a:pt x="671906" y="62864"/>
                </a:moveTo>
                <a:lnTo>
                  <a:pt x="635434" y="73421"/>
                </a:lnTo>
                <a:lnTo>
                  <a:pt x="656262" y="146745"/>
                </a:lnTo>
                <a:lnTo>
                  <a:pt x="693000" y="136143"/>
                </a:lnTo>
                <a:lnTo>
                  <a:pt x="671906" y="62864"/>
                </a:lnTo>
                <a:close/>
              </a:path>
              <a:path w="1056005" h="527685">
                <a:moveTo>
                  <a:pt x="614578" y="0"/>
                </a:moveTo>
                <a:lnTo>
                  <a:pt x="635434" y="73421"/>
                </a:lnTo>
                <a:lnTo>
                  <a:pt x="671906" y="62864"/>
                </a:lnTo>
                <a:lnTo>
                  <a:pt x="922925" y="62864"/>
                </a:lnTo>
                <a:lnTo>
                  <a:pt x="1012253" y="5841"/>
                </a:lnTo>
                <a:lnTo>
                  <a:pt x="61457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701113" y="3047873"/>
            <a:ext cx="927735" cy="1115695"/>
          </a:xfrm>
          <a:custGeom>
            <a:avLst/>
            <a:gdLst/>
            <a:ahLst/>
            <a:cxnLst/>
            <a:rect l="l" t="t" r="r" b="b"/>
            <a:pathLst>
              <a:path w="927735" h="1115695">
                <a:moveTo>
                  <a:pt x="499120" y="149728"/>
                </a:moveTo>
                <a:lnTo>
                  <a:pt x="423723" y="193675"/>
                </a:lnTo>
                <a:lnTo>
                  <a:pt x="389814" y="214122"/>
                </a:lnTo>
                <a:lnTo>
                  <a:pt x="356921" y="234568"/>
                </a:lnTo>
                <a:lnTo>
                  <a:pt x="293802" y="275209"/>
                </a:lnTo>
                <a:lnTo>
                  <a:pt x="235382" y="315594"/>
                </a:lnTo>
                <a:lnTo>
                  <a:pt x="181661" y="355853"/>
                </a:lnTo>
                <a:lnTo>
                  <a:pt x="133782" y="395859"/>
                </a:lnTo>
                <a:lnTo>
                  <a:pt x="91745" y="435863"/>
                </a:lnTo>
                <a:lnTo>
                  <a:pt x="56439" y="476250"/>
                </a:lnTo>
                <a:lnTo>
                  <a:pt x="28499" y="517651"/>
                </a:lnTo>
                <a:lnTo>
                  <a:pt x="9449" y="559562"/>
                </a:lnTo>
                <a:lnTo>
                  <a:pt x="432" y="603503"/>
                </a:lnTo>
                <a:lnTo>
                  <a:pt x="0" y="612901"/>
                </a:lnTo>
                <a:lnTo>
                  <a:pt x="49" y="618363"/>
                </a:lnTo>
                <a:lnTo>
                  <a:pt x="6274" y="659002"/>
                </a:lnTo>
                <a:lnTo>
                  <a:pt x="30404" y="709802"/>
                </a:lnTo>
                <a:lnTo>
                  <a:pt x="59233" y="745870"/>
                </a:lnTo>
                <a:lnTo>
                  <a:pt x="95555" y="779526"/>
                </a:lnTo>
                <a:lnTo>
                  <a:pt x="138481" y="811402"/>
                </a:lnTo>
                <a:lnTo>
                  <a:pt x="187884" y="842009"/>
                </a:lnTo>
                <a:lnTo>
                  <a:pt x="242875" y="871601"/>
                </a:lnTo>
                <a:lnTo>
                  <a:pt x="302946" y="900302"/>
                </a:lnTo>
                <a:lnTo>
                  <a:pt x="367716" y="928496"/>
                </a:lnTo>
                <a:lnTo>
                  <a:pt x="436677" y="956056"/>
                </a:lnTo>
                <a:lnTo>
                  <a:pt x="472491" y="969644"/>
                </a:lnTo>
                <a:lnTo>
                  <a:pt x="546532" y="996695"/>
                </a:lnTo>
                <a:lnTo>
                  <a:pt x="662483" y="1036574"/>
                </a:lnTo>
                <a:lnTo>
                  <a:pt x="903910" y="1115440"/>
                </a:lnTo>
                <a:lnTo>
                  <a:pt x="927278" y="1042796"/>
                </a:lnTo>
                <a:lnTo>
                  <a:pt x="686486" y="964310"/>
                </a:lnTo>
                <a:lnTo>
                  <a:pt x="647624" y="951229"/>
                </a:lnTo>
                <a:lnTo>
                  <a:pt x="571932" y="924813"/>
                </a:lnTo>
                <a:lnTo>
                  <a:pt x="498907" y="898270"/>
                </a:lnTo>
                <a:lnTo>
                  <a:pt x="429565" y="871474"/>
                </a:lnTo>
                <a:lnTo>
                  <a:pt x="364668" y="844295"/>
                </a:lnTo>
                <a:lnTo>
                  <a:pt x="304470" y="816990"/>
                </a:lnTo>
                <a:lnTo>
                  <a:pt x="249860" y="789304"/>
                </a:lnTo>
                <a:lnTo>
                  <a:pt x="201473" y="761491"/>
                </a:lnTo>
                <a:lnTo>
                  <a:pt x="160198" y="733425"/>
                </a:lnTo>
                <a:lnTo>
                  <a:pt x="126543" y="705612"/>
                </a:lnTo>
                <a:lnTo>
                  <a:pt x="92380" y="665352"/>
                </a:lnTo>
                <a:lnTo>
                  <a:pt x="77521" y="629919"/>
                </a:lnTo>
                <a:lnTo>
                  <a:pt x="76124" y="618363"/>
                </a:lnTo>
                <a:lnTo>
                  <a:pt x="76124" y="612901"/>
                </a:lnTo>
                <a:lnTo>
                  <a:pt x="88316" y="567563"/>
                </a:lnTo>
                <a:lnTo>
                  <a:pt x="117907" y="521462"/>
                </a:lnTo>
                <a:lnTo>
                  <a:pt x="147752" y="487552"/>
                </a:lnTo>
                <a:lnTo>
                  <a:pt x="185217" y="451992"/>
                </a:lnTo>
                <a:lnTo>
                  <a:pt x="229667" y="415036"/>
                </a:lnTo>
                <a:lnTo>
                  <a:pt x="280467" y="377063"/>
                </a:lnTo>
                <a:lnTo>
                  <a:pt x="336601" y="338200"/>
                </a:lnTo>
                <a:lnTo>
                  <a:pt x="397815" y="298830"/>
                </a:lnTo>
                <a:lnTo>
                  <a:pt x="463093" y="258952"/>
                </a:lnTo>
                <a:lnTo>
                  <a:pt x="497256" y="238760"/>
                </a:lnTo>
                <a:lnTo>
                  <a:pt x="532054" y="218566"/>
                </a:lnTo>
                <a:lnTo>
                  <a:pt x="535725" y="216549"/>
                </a:lnTo>
                <a:lnTo>
                  <a:pt x="499120" y="149728"/>
                </a:lnTo>
                <a:close/>
              </a:path>
              <a:path w="927735" h="1115695">
                <a:moveTo>
                  <a:pt x="722151" y="131317"/>
                </a:moveTo>
                <a:lnTo>
                  <a:pt x="532435" y="131317"/>
                </a:lnTo>
                <a:lnTo>
                  <a:pt x="569265" y="198119"/>
                </a:lnTo>
                <a:lnTo>
                  <a:pt x="535725" y="216549"/>
                </a:lnTo>
                <a:lnTo>
                  <a:pt x="572313" y="283337"/>
                </a:lnTo>
                <a:lnTo>
                  <a:pt x="722151" y="131317"/>
                </a:lnTo>
                <a:close/>
              </a:path>
              <a:path w="927735" h="1115695">
                <a:moveTo>
                  <a:pt x="532435" y="131317"/>
                </a:moveTo>
                <a:lnTo>
                  <a:pt x="499120" y="149728"/>
                </a:lnTo>
                <a:lnTo>
                  <a:pt x="535725" y="216549"/>
                </a:lnTo>
                <a:lnTo>
                  <a:pt x="569265" y="198119"/>
                </a:lnTo>
                <a:lnTo>
                  <a:pt x="532435" y="131317"/>
                </a:lnTo>
                <a:close/>
              </a:path>
              <a:path w="927735" h="1115695">
                <a:moveTo>
                  <a:pt x="851586" y="0"/>
                </a:moveTo>
                <a:lnTo>
                  <a:pt x="462458" y="82803"/>
                </a:lnTo>
                <a:lnTo>
                  <a:pt x="499120" y="149728"/>
                </a:lnTo>
                <a:lnTo>
                  <a:pt x="532435" y="131317"/>
                </a:lnTo>
                <a:lnTo>
                  <a:pt x="722151" y="131317"/>
                </a:lnTo>
                <a:lnTo>
                  <a:pt x="85158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988052" y="766038"/>
            <a:ext cx="3895090" cy="464375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5"/>
              </a:spcBef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流图中的循环：</a:t>
            </a:r>
            <a:endParaRPr sz="3200">
              <a:latin typeface="宋体"/>
              <a:cs typeface="宋体"/>
            </a:endParaRPr>
          </a:p>
          <a:p>
            <a:pPr marL="965835">
              <a:lnSpc>
                <a:spcPct val="100000"/>
              </a:lnSpc>
              <a:spcBef>
                <a:spcPts val="755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&lt;4, 2&gt;</a:t>
            </a:r>
            <a:r>
              <a:rPr sz="32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baseline="-23148" dirty="0">
                <a:solidFill>
                  <a:srgbClr val="FFFF00"/>
                </a:solidFill>
                <a:latin typeface="Times New Roman"/>
                <a:cs typeface="Times New Roman"/>
              </a:rPr>
              <a:t>loop</a:t>
            </a:r>
            <a:endParaRPr sz="3600" baseline="-23148">
              <a:latin typeface="Times New Roman"/>
              <a:cs typeface="Times New Roman"/>
            </a:endParaRPr>
          </a:p>
          <a:p>
            <a:pPr marL="863600">
              <a:lnSpc>
                <a:spcPct val="100000"/>
              </a:lnSpc>
              <a:spcBef>
                <a:spcPts val="1950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= {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, 4, 3, 7, 5,</a:t>
            </a:r>
            <a:r>
              <a:rPr sz="32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6}</a:t>
            </a:r>
            <a:endParaRPr sz="3200">
              <a:latin typeface="Times New Roman"/>
              <a:cs typeface="Times New Roman"/>
            </a:endParaRPr>
          </a:p>
          <a:p>
            <a:pPr marL="965835">
              <a:lnSpc>
                <a:spcPct val="100000"/>
              </a:lnSpc>
              <a:spcBef>
                <a:spcPts val="355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&lt;6, 6&gt;</a:t>
            </a:r>
            <a:r>
              <a:rPr sz="3200" b="1" spc="-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baseline="-32407" dirty="0">
                <a:solidFill>
                  <a:srgbClr val="FFFF00"/>
                </a:solidFill>
                <a:latin typeface="Times New Roman"/>
                <a:cs typeface="Times New Roman"/>
              </a:rPr>
              <a:t>loop</a:t>
            </a:r>
            <a:endParaRPr sz="3600" baseline="-32407">
              <a:latin typeface="Times New Roman"/>
              <a:cs typeface="Times New Roman"/>
            </a:endParaRPr>
          </a:p>
          <a:p>
            <a:pPr marL="863600">
              <a:lnSpc>
                <a:spcPts val="3825"/>
              </a:lnSpc>
              <a:spcBef>
                <a:spcPts val="2340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= {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sz="3200" b="1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965835">
              <a:lnSpc>
                <a:spcPts val="3515"/>
              </a:lnSpc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&lt;7,</a:t>
            </a:r>
            <a:r>
              <a:rPr sz="3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4&gt;</a:t>
            </a:r>
            <a:endParaRPr sz="3200">
              <a:latin typeface="Times New Roman"/>
              <a:cs typeface="Times New Roman"/>
            </a:endParaRPr>
          </a:p>
          <a:p>
            <a:pPr marL="2152650">
              <a:lnSpc>
                <a:spcPts val="2570"/>
              </a:lnSpc>
            </a:pP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loop</a:t>
            </a:r>
            <a:endParaRPr sz="2400">
              <a:latin typeface="Times New Roman"/>
              <a:cs typeface="Times New Roman"/>
            </a:endParaRPr>
          </a:p>
          <a:p>
            <a:pPr marL="933450">
              <a:lnSpc>
                <a:spcPct val="100000"/>
              </a:lnSpc>
              <a:spcBef>
                <a:spcPts val="1100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= {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, 7 , 5, 6</a:t>
            </a:r>
            <a:r>
              <a:rPr sz="32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58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12316"/>
            <a:ext cx="6626860" cy="37215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0230" indent="-558165">
              <a:lnSpc>
                <a:spcPct val="100000"/>
              </a:lnSpc>
              <a:spcBef>
                <a:spcPts val="100"/>
              </a:spcBef>
              <a:buClr>
                <a:srgbClr val="FFFF66"/>
              </a:buClr>
              <a:buSzPct val="97222"/>
              <a:buFont typeface="Wingdings"/>
              <a:buChar char=""/>
              <a:tabLst>
                <a:tab pos="570230" algn="l"/>
                <a:tab pos="570865" algn="l"/>
                <a:tab pos="2654300" algn="l"/>
              </a:tabLst>
            </a:pPr>
            <a:r>
              <a:rPr sz="3600" b="1" dirty="0">
                <a:solidFill>
                  <a:srgbClr val="FFFF00"/>
                </a:solidFill>
                <a:latin typeface="Times New Roman"/>
                <a:cs typeface="Times New Roman"/>
              </a:rPr>
              <a:t>summary	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查找循环步骤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FF66"/>
              </a:buClr>
              <a:buFont typeface="Wingdings"/>
              <a:buChar char=""/>
            </a:pPr>
            <a:endParaRPr sz="4300" dirty="0">
              <a:latin typeface="Times New Roman"/>
              <a:cs typeface="Times New Roman"/>
            </a:endParaRPr>
          </a:p>
          <a:p>
            <a:pPr marL="1334770" lvl="1" indent="-509905"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  <a:tabLst>
                <a:tab pos="1334770" algn="l"/>
                <a:tab pos="1335405" algn="l"/>
              </a:tabLst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确定</a:t>
            </a: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G</a:t>
            </a:r>
            <a:r>
              <a:rPr sz="3200" b="1" spc="5" dirty="0">
                <a:solidFill>
                  <a:srgbClr val="66FFFF"/>
                </a:solidFill>
                <a:latin typeface="宋体"/>
                <a:cs typeface="宋体"/>
              </a:rPr>
              <a:t>的</a:t>
            </a:r>
            <a:r>
              <a:rPr sz="3200" b="1" spc="-5" dirty="0">
                <a:solidFill>
                  <a:srgbClr val="66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D(n)</a:t>
            </a:r>
            <a:r>
              <a:rPr lang="zh-CN" altLang="en-US" sz="3200" b="1" spc="-5" dirty="0">
                <a:solidFill>
                  <a:srgbClr val="66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（控制流图）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；</a:t>
            </a:r>
            <a:endParaRPr sz="3200" dirty="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66FFFF"/>
              </a:buClr>
              <a:buFont typeface="Times New Roman"/>
              <a:buAutoNum type="arabicPeriod"/>
            </a:pPr>
            <a:endParaRPr sz="3300" dirty="0">
              <a:latin typeface="宋体"/>
              <a:cs typeface="宋体"/>
            </a:endParaRPr>
          </a:p>
          <a:p>
            <a:pPr marL="1334770" lvl="1" indent="-509905"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  <a:tabLst>
                <a:tab pos="1334770" algn="l"/>
                <a:tab pos="1335405" algn="l"/>
              </a:tabLst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由</a:t>
            </a: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D(n)</a:t>
            </a:r>
            <a:r>
              <a:rPr sz="3200" b="1" dirty="0">
                <a:solidFill>
                  <a:srgbClr val="66FFFF"/>
                </a:solidFill>
                <a:highlight>
                  <a:srgbClr val="808000"/>
                </a:highlight>
                <a:latin typeface="宋体"/>
                <a:cs typeface="宋体"/>
              </a:rPr>
              <a:t>找回边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；</a:t>
            </a:r>
            <a:endParaRPr sz="3200" dirty="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66FFFF"/>
              </a:buClr>
              <a:buFont typeface="Times New Roman"/>
              <a:buAutoNum type="arabicPeriod"/>
            </a:pPr>
            <a:endParaRPr sz="3300" dirty="0">
              <a:latin typeface="宋体"/>
              <a:cs typeface="宋体"/>
            </a:endParaRPr>
          </a:p>
          <a:p>
            <a:pPr marL="1334770" lvl="1" indent="-509905">
              <a:lnSpc>
                <a:spcPct val="100000"/>
              </a:lnSpc>
              <a:buFont typeface="Times New Roman"/>
              <a:buAutoNum type="arabicPeriod"/>
              <a:tabLst>
                <a:tab pos="1334770" algn="l"/>
                <a:tab pos="1335405" algn="l"/>
              </a:tabLst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通过回边</a:t>
            </a:r>
            <a:r>
              <a:rPr sz="3200" b="1" dirty="0">
                <a:solidFill>
                  <a:srgbClr val="66FFFF"/>
                </a:solidFill>
                <a:highlight>
                  <a:srgbClr val="808000"/>
                </a:highlight>
                <a:latin typeface="宋体"/>
                <a:cs typeface="宋体"/>
              </a:rPr>
              <a:t>确定循环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27301" y="14732"/>
            <a:ext cx="16852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1510" algn="l"/>
              </a:tabLst>
            </a:pP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Ch8	</a:t>
            </a:r>
            <a:r>
              <a:rPr sz="20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</a:t>
            </a:r>
            <a:r>
              <a:rPr sz="2000" b="1" dirty="0">
                <a:solidFill>
                  <a:srgbClr val="A15100"/>
                </a:solidFill>
                <a:latin typeface="华文新魏"/>
                <a:cs typeface="华文新魏"/>
              </a:rPr>
              <a:t>优化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59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26711" y="14732"/>
            <a:ext cx="3071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371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	</a:t>
            </a:r>
            <a:r>
              <a:rPr sz="2000" b="1" u="sng" spc="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控制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流分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与循</a:t>
            </a:r>
            <a:r>
              <a:rPr sz="2000" b="1" u="sng" spc="-1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查</a:t>
            </a:r>
            <a:r>
              <a:rPr sz="2000" b="1" u="sng" spc="-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找</a:t>
            </a:r>
            <a:endParaRPr sz="20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2043" y="858393"/>
            <a:ext cx="734504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u="none" spc="-15" dirty="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sz="3800" u="none" spc="-965" dirty="0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sz="3800" u="none" dirty="0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sz="3800" u="none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800" u="none" spc="-15" dirty="0">
                <a:solidFill>
                  <a:srgbClr val="FFFF00"/>
                </a:solidFill>
                <a:latin typeface="黑体"/>
                <a:cs typeface="黑体"/>
              </a:rPr>
              <a:t>章</a:t>
            </a:r>
            <a:r>
              <a:rPr sz="3800" u="none" spc="935" dirty="0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sz="3800" u="none" dirty="0">
                <a:solidFill>
                  <a:srgbClr val="FFFF00"/>
                </a:solidFill>
                <a:latin typeface="黑体"/>
                <a:cs typeface="黑体"/>
              </a:rPr>
              <a:t>代码</a:t>
            </a:r>
            <a:r>
              <a:rPr sz="3800" u="none" spc="-10" dirty="0">
                <a:solidFill>
                  <a:srgbClr val="FFFF00"/>
                </a:solidFill>
                <a:latin typeface="黑体"/>
                <a:cs typeface="黑体"/>
              </a:rPr>
              <a:t>优</a:t>
            </a:r>
            <a:r>
              <a:rPr sz="3800" u="none" spc="-15" dirty="0">
                <a:solidFill>
                  <a:srgbClr val="FFFF00"/>
                </a:solidFill>
                <a:latin typeface="黑体"/>
                <a:cs typeface="黑体"/>
              </a:rPr>
              <a:t>化</a:t>
            </a:r>
            <a:r>
              <a:rPr sz="3800" u="none" spc="-5" dirty="0">
                <a:solidFill>
                  <a:srgbClr val="FFFF00"/>
                </a:solidFill>
                <a:latin typeface="黑体"/>
                <a:cs typeface="黑体"/>
              </a:rPr>
              <a:t>（</a:t>
            </a:r>
            <a:r>
              <a:rPr sz="3800" u="none" spc="-5" dirty="0">
                <a:solidFill>
                  <a:srgbClr val="FFFF00"/>
                </a:solidFill>
                <a:latin typeface="Times New Roman"/>
                <a:cs typeface="Times New Roman"/>
              </a:rPr>
              <a:t>optimization</a:t>
            </a:r>
            <a:r>
              <a:rPr sz="3800" u="none" spc="-5" dirty="0">
                <a:solidFill>
                  <a:srgbClr val="FFFF00"/>
                </a:solidFill>
                <a:latin typeface="黑体"/>
                <a:cs typeface="黑体"/>
              </a:rPr>
              <a:t>）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7647" y="1985207"/>
            <a:ext cx="5718175" cy="3904615"/>
          </a:xfrm>
          <a:prstGeom prst="rect">
            <a:avLst/>
          </a:prstGeom>
        </p:spPr>
        <p:txBody>
          <a:bodyPr vert="horz" wrap="square" lIns="0" tIns="245745" rIns="0" bIns="0" rtlCol="0">
            <a:spAutoFit/>
          </a:bodyPr>
          <a:lstStyle/>
          <a:p>
            <a:pPr marL="1257935" lvl="1" indent="-1233805">
              <a:lnSpc>
                <a:spcPct val="100000"/>
              </a:lnSpc>
              <a:spcBef>
                <a:spcPts val="1935"/>
              </a:spcBef>
              <a:buSzPct val="102857"/>
              <a:buFont typeface="Times New Roman"/>
              <a:buAutoNum type="arabicPeriod"/>
              <a:tabLst>
                <a:tab pos="1257935" algn="l"/>
                <a:tab pos="1258570" algn="l"/>
              </a:tabLst>
            </a:pPr>
            <a:r>
              <a:rPr sz="3500" b="1" spc="-5" dirty="0">
                <a:solidFill>
                  <a:srgbClr val="FFFF00"/>
                </a:solidFill>
                <a:latin typeface="宋体"/>
                <a:cs typeface="宋体"/>
              </a:rPr>
              <a:t>代码优化综述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914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00"/>
                </a:solidFill>
                <a:latin typeface="宋体"/>
                <a:cs typeface="宋体"/>
              </a:rPr>
              <a:t>局部优化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885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00"/>
                </a:solidFill>
                <a:latin typeface="宋体"/>
                <a:cs typeface="宋体"/>
              </a:rPr>
              <a:t>控制流分析与循环查找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895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FF"/>
                </a:solidFill>
                <a:latin typeface="宋体"/>
                <a:cs typeface="宋体"/>
              </a:rPr>
              <a:t>数据流分析基础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890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FF"/>
                </a:solidFill>
                <a:latin typeface="宋体"/>
                <a:cs typeface="宋体"/>
              </a:rPr>
              <a:t>循环优化的实施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43934" y="26923"/>
            <a:ext cx="1692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80532" y="4506467"/>
            <a:ext cx="1725295" cy="722630"/>
          </a:xfrm>
          <a:custGeom>
            <a:avLst/>
            <a:gdLst/>
            <a:ahLst/>
            <a:cxnLst/>
            <a:rect l="l" t="t" r="r" b="b"/>
            <a:pathLst>
              <a:path w="1725295" h="722629">
                <a:moveTo>
                  <a:pt x="431418" y="0"/>
                </a:moveTo>
                <a:lnTo>
                  <a:pt x="0" y="361187"/>
                </a:lnTo>
                <a:lnTo>
                  <a:pt x="431418" y="722375"/>
                </a:lnTo>
                <a:lnTo>
                  <a:pt x="431418" y="541781"/>
                </a:lnTo>
                <a:lnTo>
                  <a:pt x="1725167" y="541781"/>
                </a:lnTo>
                <a:lnTo>
                  <a:pt x="1725167" y="180593"/>
                </a:lnTo>
                <a:lnTo>
                  <a:pt x="431418" y="180593"/>
                </a:lnTo>
                <a:lnTo>
                  <a:pt x="431418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80532" y="4506467"/>
            <a:ext cx="1725295" cy="722630"/>
          </a:xfrm>
          <a:custGeom>
            <a:avLst/>
            <a:gdLst/>
            <a:ahLst/>
            <a:cxnLst/>
            <a:rect l="l" t="t" r="r" b="b"/>
            <a:pathLst>
              <a:path w="1725295" h="722629">
                <a:moveTo>
                  <a:pt x="0" y="361187"/>
                </a:moveTo>
                <a:lnTo>
                  <a:pt x="431418" y="0"/>
                </a:lnTo>
                <a:lnTo>
                  <a:pt x="431418" y="180593"/>
                </a:lnTo>
                <a:lnTo>
                  <a:pt x="1725167" y="180593"/>
                </a:lnTo>
                <a:lnTo>
                  <a:pt x="1725167" y="541781"/>
                </a:lnTo>
                <a:lnTo>
                  <a:pt x="431418" y="541781"/>
                </a:lnTo>
                <a:lnTo>
                  <a:pt x="431418" y="722375"/>
                </a:lnTo>
                <a:lnTo>
                  <a:pt x="0" y="361187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60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01164" y="11378"/>
            <a:ext cx="6121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3463290" algn="l"/>
                <a:tab pos="3970654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61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53541" y="1417228"/>
            <a:ext cx="7374255" cy="3971925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810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数据流分析</a:t>
            </a:r>
            <a:endParaRPr sz="3200" dirty="0">
              <a:latin typeface="宋体"/>
              <a:cs typeface="宋体"/>
            </a:endParaRPr>
          </a:p>
          <a:p>
            <a:pPr marL="12700" marR="5080" indent="812165" algn="just">
              <a:lnSpc>
                <a:spcPct val="130000"/>
              </a:lnSpc>
              <a:spcBef>
                <a:spcPts val="555"/>
              </a:spcBef>
            </a:pPr>
            <a:r>
              <a:rPr sz="32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涉及多个基本块范围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的优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化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编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译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程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序需要收集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整个程序范围</a:t>
            </a:r>
            <a:r>
              <a:rPr sz="3200" b="1" spc="5" dirty="0">
                <a:solidFill>
                  <a:srgbClr val="FFFF00"/>
                </a:solidFill>
                <a:latin typeface="宋体"/>
                <a:cs typeface="宋体"/>
              </a:rPr>
              <a:t>内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有关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信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及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分布在程序流程图每个基本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的信息，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这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些信息是程序中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数据流信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息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这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工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作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称为数据流分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76731" y="802005"/>
            <a:ext cx="35979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5805" algn="l"/>
              </a:tabLst>
            </a:pP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一</a:t>
            </a:r>
            <a:r>
              <a:rPr sz="3200" u="none" dirty="0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数据流分析基础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9722" y="3774218"/>
            <a:ext cx="1452880" cy="180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900"/>
              </a:lnSpc>
              <a:spcBef>
                <a:spcPts val="100"/>
              </a:spcBef>
              <a:tabLst>
                <a:tab pos="1000125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例如 </a:t>
            </a:r>
            <a:r>
              <a:rPr sz="3200" b="1" dirty="0">
                <a:solidFill>
                  <a:srgbClr val="CCEBFF"/>
                </a:solidFill>
                <a:latin typeface="Times New Roman"/>
                <a:cs typeface="Times New Roman"/>
              </a:rPr>
              <a:t>x=a*b;  </a:t>
            </a:r>
            <a:r>
              <a:rPr sz="3200" b="1" spc="-10" dirty="0">
                <a:solidFill>
                  <a:srgbClr val="CCEBFF"/>
                </a:solidFill>
                <a:latin typeface="Times New Roman"/>
                <a:cs typeface="Times New Roman"/>
              </a:rPr>
              <a:t>read	</a:t>
            </a:r>
            <a:r>
              <a:rPr sz="3200" b="1" dirty="0">
                <a:solidFill>
                  <a:srgbClr val="CCEBFF"/>
                </a:solidFill>
                <a:latin typeface="Times New Roman"/>
                <a:cs typeface="Times New Roman"/>
              </a:rPr>
              <a:t>x</a:t>
            </a:r>
            <a:r>
              <a:rPr sz="3200" b="1" spc="-110" dirty="0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CEBFF"/>
                </a:solidFill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28622" y="4728971"/>
            <a:ext cx="1146175" cy="114300"/>
          </a:xfrm>
          <a:custGeom>
            <a:avLst/>
            <a:gdLst/>
            <a:ahLst/>
            <a:cxnLst/>
            <a:rect l="l" t="t" r="r" b="b"/>
            <a:pathLst>
              <a:path w="1146175" h="114300">
                <a:moveTo>
                  <a:pt x="1031747" y="0"/>
                </a:moveTo>
                <a:lnTo>
                  <a:pt x="1031747" y="114300"/>
                </a:lnTo>
                <a:lnTo>
                  <a:pt x="1107947" y="76200"/>
                </a:lnTo>
                <a:lnTo>
                  <a:pt x="1050797" y="76200"/>
                </a:lnTo>
                <a:lnTo>
                  <a:pt x="1050797" y="38100"/>
                </a:lnTo>
                <a:lnTo>
                  <a:pt x="1107947" y="38100"/>
                </a:lnTo>
                <a:lnTo>
                  <a:pt x="1031747" y="0"/>
                </a:lnTo>
                <a:close/>
              </a:path>
              <a:path w="1146175" h="114300">
                <a:moveTo>
                  <a:pt x="10317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31747" y="76200"/>
                </a:lnTo>
                <a:lnTo>
                  <a:pt x="1031747" y="38100"/>
                </a:lnTo>
                <a:close/>
              </a:path>
              <a:path w="1146175" h="114300">
                <a:moveTo>
                  <a:pt x="1107947" y="38100"/>
                </a:moveTo>
                <a:lnTo>
                  <a:pt x="1050797" y="38100"/>
                </a:lnTo>
                <a:lnTo>
                  <a:pt x="1050797" y="76200"/>
                </a:lnTo>
                <a:lnTo>
                  <a:pt x="1107947" y="76200"/>
                </a:lnTo>
                <a:lnTo>
                  <a:pt x="1146047" y="57150"/>
                </a:lnTo>
                <a:lnTo>
                  <a:pt x="1107947" y="3810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3242" y="0"/>
            <a:ext cx="7904480" cy="3764279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432434" algn="ctr">
              <a:lnSpc>
                <a:spcPct val="100000"/>
              </a:lnSpc>
              <a:spcBef>
                <a:spcPts val="1035"/>
              </a:spcBef>
              <a:tabLst>
                <a:tab pos="1075055" algn="l"/>
                <a:tab pos="3883025" algn="l"/>
                <a:tab pos="439039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 dirty="0">
              <a:latin typeface="华文新魏"/>
              <a:cs typeface="华文新魏"/>
            </a:endParaRPr>
          </a:p>
          <a:p>
            <a:pPr marL="318770" indent="-306705">
              <a:lnSpc>
                <a:spcPct val="100000"/>
              </a:lnSpc>
              <a:spcBef>
                <a:spcPts val="1680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sz="3200" b="1" dirty="0">
                <a:solidFill>
                  <a:srgbClr val="FFFF00"/>
                </a:solidFill>
                <a:highlight>
                  <a:srgbClr val="808000"/>
                </a:highlight>
                <a:latin typeface="宋体"/>
                <a:cs typeface="宋体"/>
              </a:rPr>
              <a:t>点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sz="3000" b="1" spc="-5" dirty="0">
                <a:solidFill>
                  <a:srgbClr val="FFFFCC"/>
                </a:solidFill>
                <a:highlight>
                  <a:srgbClr val="808000"/>
                </a:highlight>
                <a:latin typeface="宋体"/>
                <a:cs typeface="宋体"/>
              </a:rPr>
              <a:t>语句在流图基本块中的位置</a:t>
            </a:r>
            <a:r>
              <a:rPr sz="3000" b="1" spc="-5" dirty="0">
                <a:solidFill>
                  <a:srgbClr val="FFFFCC"/>
                </a:solidFill>
                <a:latin typeface="宋体"/>
                <a:cs typeface="宋体"/>
              </a:rPr>
              <a:t>。</a:t>
            </a:r>
            <a:endParaRPr sz="3000" dirty="0">
              <a:latin typeface="宋体"/>
              <a:cs typeface="宋体"/>
            </a:endParaRPr>
          </a:p>
          <a:p>
            <a:pPr marL="114300" algn="just">
              <a:lnSpc>
                <a:spcPct val="100000"/>
              </a:lnSpc>
              <a:spcBef>
                <a:spcPts val="1505"/>
              </a:spcBef>
            </a:pPr>
            <a:r>
              <a:rPr sz="3200" b="1" spc="-10" dirty="0">
                <a:solidFill>
                  <a:srgbClr val="FF0000"/>
                </a:solidFill>
                <a:latin typeface="宋体"/>
                <a:cs typeface="宋体"/>
              </a:rPr>
              <a:t>或</a:t>
            </a:r>
            <a:r>
              <a:rPr sz="3200" b="1" spc="-844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30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一个中间语言语句在其代码序列中的位置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000" dirty="0">
              <a:latin typeface="宋体"/>
              <a:cs typeface="宋体"/>
            </a:endParaRPr>
          </a:p>
          <a:p>
            <a:pPr marL="113664" marR="290195" indent="711835" algn="just">
              <a:lnSpc>
                <a:spcPct val="130000"/>
              </a:lnSpc>
              <a:spcBef>
                <a:spcPts val="1650"/>
              </a:spcBef>
            </a:pP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如，入口点指基本块第一个中间</a:t>
            </a:r>
            <a:r>
              <a:rPr sz="2800" b="1" dirty="0">
                <a:solidFill>
                  <a:srgbClr val="66FFFF"/>
                </a:solidFill>
                <a:latin typeface="宋体"/>
                <a:cs typeface="宋体"/>
              </a:rPr>
              <a:t>代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码的</a:t>
            </a:r>
            <a:r>
              <a:rPr sz="2800" b="1" dirty="0">
                <a:solidFill>
                  <a:srgbClr val="66FFFF"/>
                </a:solidFill>
                <a:latin typeface="宋体"/>
                <a:cs typeface="宋体"/>
              </a:rPr>
              <a:t>前</a:t>
            </a:r>
            <a:r>
              <a:rPr sz="2800" b="1" spc="-15" dirty="0">
                <a:solidFill>
                  <a:srgbClr val="66FFFF"/>
                </a:solidFill>
                <a:latin typeface="宋体"/>
                <a:cs typeface="宋体"/>
              </a:rPr>
              <a:t>位 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置；出口点指基本块最后一个</a:t>
            </a:r>
            <a:r>
              <a:rPr sz="2800" b="1" spc="5" dirty="0">
                <a:solidFill>
                  <a:srgbClr val="66FFFF"/>
                </a:solidFill>
                <a:latin typeface="宋体"/>
                <a:cs typeface="宋体"/>
              </a:rPr>
              <a:t>中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间代</a:t>
            </a:r>
            <a:r>
              <a:rPr sz="2800" b="1" spc="5" dirty="0">
                <a:solidFill>
                  <a:srgbClr val="66FFFF"/>
                </a:solidFill>
                <a:latin typeface="宋体"/>
                <a:cs typeface="宋体"/>
              </a:rPr>
              <a:t>码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后</a:t>
            </a:r>
            <a:r>
              <a:rPr sz="2800" b="1" spc="5" dirty="0">
                <a:solidFill>
                  <a:srgbClr val="66FFFF"/>
                </a:solidFill>
                <a:latin typeface="宋体"/>
                <a:cs typeface="宋体"/>
              </a:rPr>
              <a:t>位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置； 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相邻点指两个中间代码之间的</a:t>
            </a:r>
            <a:r>
              <a:rPr sz="2800" b="1" dirty="0">
                <a:solidFill>
                  <a:srgbClr val="66FFFF"/>
                </a:solidFill>
                <a:latin typeface="宋体"/>
                <a:cs typeface="宋体"/>
              </a:rPr>
              <a:t>点</a:t>
            </a:r>
            <a:r>
              <a:rPr sz="2800" b="1" spc="-15" dirty="0">
                <a:solidFill>
                  <a:srgbClr val="66FFFF"/>
                </a:solidFill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3868" y="4273641"/>
            <a:ext cx="802005" cy="200025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8100" marR="30480" indent="150495">
              <a:lnSpc>
                <a:spcPct val="132200"/>
              </a:lnSpc>
              <a:spcBef>
                <a:spcPts val="409"/>
              </a:spcBef>
            </a:pP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3150" b="1" spc="-7" baseline="-15873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:  </a:t>
            </a:r>
            <a:r>
              <a:rPr sz="4800" b="1" spc="-15" baseline="10416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21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i+</a:t>
            </a:r>
            <a:r>
              <a:rPr sz="2100" b="1" spc="15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4800" b="1" baseline="10416" dirty="0">
                <a:solidFill>
                  <a:srgbClr val="FFFF00"/>
                </a:solidFill>
                <a:latin typeface="Times New Roman"/>
                <a:cs typeface="Times New Roman"/>
              </a:rPr>
              <a:t>:  </a:t>
            </a:r>
            <a:r>
              <a:rPr sz="4800" b="1" spc="-15" baseline="13888" dirty="0">
                <a:solidFill>
                  <a:srgbClr val="FFCC00"/>
                </a:solidFill>
                <a:latin typeface="Times New Roman"/>
                <a:cs typeface="Times New Roman"/>
              </a:rPr>
              <a:t>d</a:t>
            </a:r>
            <a:r>
              <a:rPr sz="2100" b="1" spc="5" dirty="0">
                <a:solidFill>
                  <a:srgbClr val="FFCC00"/>
                </a:solidFill>
                <a:latin typeface="Times New Roman"/>
                <a:cs typeface="Times New Roman"/>
              </a:rPr>
              <a:t>i+</a:t>
            </a:r>
            <a:r>
              <a:rPr sz="2100" b="1" spc="15" dirty="0">
                <a:solidFill>
                  <a:srgbClr val="FFCC00"/>
                </a:solidFill>
                <a:latin typeface="Times New Roman"/>
                <a:cs typeface="Times New Roman"/>
              </a:rPr>
              <a:t>2</a:t>
            </a:r>
            <a:r>
              <a:rPr sz="4800" b="1" baseline="13888" dirty="0">
                <a:solidFill>
                  <a:srgbClr val="FFCC00"/>
                </a:solidFill>
                <a:latin typeface="Times New Roman"/>
                <a:cs typeface="Times New Roman"/>
              </a:rPr>
              <a:t>:</a:t>
            </a:r>
            <a:endParaRPr sz="4800" baseline="13888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78914" y="5355335"/>
            <a:ext cx="1146175" cy="114300"/>
          </a:xfrm>
          <a:custGeom>
            <a:avLst/>
            <a:gdLst/>
            <a:ahLst/>
            <a:cxnLst/>
            <a:rect l="l" t="t" r="r" b="b"/>
            <a:pathLst>
              <a:path w="1146175" h="114300">
                <a:moveTo>
                  <a:pt x="1031748" y="0"/>
                </a:moveTo>
                <a:lnTo>
                  <a:pt x="1031748" y="114300"/>
                </a:lnTo>
                <a:lnTo>
                  <a:pt x="1107948" y="76200"/>
                </a:lnTo>
                <a:lnTo>
                  <a:pt x="1050798" y="76200"/>
                </a:lnTo>
                <a:lnTo>
                  <a:pt x="1050798" y="38100"/>
                </a:lnTo>
                <a:lnTo>
                  <a:pt x="1107948" y="38100"/>
                </a:lnTo>
                <a:lnTo>
                  <a:pt x="1031748" y="0"/>
                </a:lnTo>
                <a:close/>
              </a:path>
              <a:path w="1146175" h="114300">
                <a:moveTo>
                  <a:pt x="10317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31748" y="76200"/>
                </a:lnTo>
                <a:lnTo>
                  <a:pt x="1031748" y="38100"/>
                </a:lnTo>
                <a:close/>
              </a:path>
              <a:path w="1146175" h="114300">
                <a:moveTo>
                  <a:pt x="1107948" y="38100"/>
                </a:moveTo>
                <a:lnTo>
                  <a:pt x="1050798" y="38100"/>
                </a:lnTo>
                <a:lnTo>
                  <a:pt x="1050798" y="76200"/>
                </a:lnTo>
                <a:lnTo>
                  <a:pt x="1107948" y="76200"/>
                </a:lnTo>
                <a:lnTo>
                  <a:pt x="1146048" y="57150"/>
                </a:lnTo>
                <a:lnTo>
                  <a:pt x="1107948" y="3810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49957" y="5939028"/>
            <a:ext cx="1146175" cy="114300"/>
          </a:xfrm>
          <a:custGeom>
            <a:avLst/>
            <a:gdLst/>
            <a:ahLst/>
            <a:cxnLst/>
            <a:rect l="l" t="t" r="r" b="b"/>
            <a:pathLst>
              <a:path w="1146175" h="114300">
                <a:moveTo>
                  <a:pt x="1031748" y="0"/>
                </a:moveTo>
                <a:lnTo>
                  <a:pt x="1031748" y="114300"/>
                </a:lnTo>
                <a:lnTo>
                  <a:pt x="1107948" y="76200"/>
                </a:lnTo>
                <a:lnTo>
                  <a:pt x="1050798" y="76200"/>
                </a:lnTo>
                <a:lnTo>
                  <a:pt x="1050798" y="38100"/>
                </a:lnTo>
                <a:lnTo>
                  <a:pt x="1107948" y="38100"/>
                </a:lnTo>
                <a:lnTo>
                  <a:pt x="1031748" y="0"/>
                </a:lnTo>
                <a:close/>
              </a:path>
              <a:path w="1146175" h="114300">
                <a:moveTo>
                  <a:pt x="10317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31748" y="76200"/>
                </a:lnTo>
                <a:lnTo>
                  <a:pt x="1031748" y="38100"/>
                </a:lnTo>
                <a:close/>
              </a:path>
              <a:path w="1146175" h="114300">
                <a:moveTo>
                  <a:pt x="1107948" y="38100"/>
                </a:moveTo>
                <a:lnTo>
                  <a:pt x="1050798" y="38100"/>
                </a:lnTo>
                <a:lnTo>
                  <a:pt x="1050798" y="76200"/>
                </a:lnTo>
                <a:lnTo>
                  <a:pt x="1107948" y="76200"/>
                </a:lnTo>
                <a:lnTo>
                  <a:pt x="1146048" y="57150"/>
                </a:lnTo>
                <a:lnTo>
                  <a:pt x="1107948" y="3810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62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6642" y="4224985"/>
            <a:ext cx="16592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定值方式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54273" y="3899153"/>
            <a:ext cx="190500" cy="1485900"/>
          </a:xfrm>
          <a:custGeom>
            <a:avLst/>
            <a:gdLst/>
            <a:ahLst/>
            <a:cxnLst/>
            <a:rect l="l" t="t" r="r" b="b"/>
            <a:pathLst>
              <a:path w="190500" h="1485900">
                <a:moveTo>
                  <a:pt x="190500" y="1485900"/>
                </a:moveTo>
                <a:lnTo>
                  <a:pt x="153435" y="1476160"/>
                </a:lnTo>
                <a:lnTo>
                  <a:pt x="123158" y="1449609"/>
                </a:lnTo>
                <a:lnTo>
                  <a:pt x="102739" y="1410247"/>
                </a:lnTo>
                <a:lnTo>
                  <a:pt x="95250" y="1362075"/>
                </a:lnTo>
                <a:lnTo>
                  <a:pt x="95250" y="866775"/>
                </a:lnTo>
                <a:lnTo>
                  <a:pt x="87760" y="818602"/>
                </a:lnTo>
                <a:lnTo>
                  <a:pt x="67341" y="779240"/>
                </a:lnTo>
                <a:lnTo>
                  <a:pt x="37064" y="752689"/>
                </a:lnTo>
                <a:lnTo>
                  <a:pt x="0" y="742950"/>
                </a:lnTo>
                <a:lnTo>
                  <a:pt x="37064" y="733210"/>
                </a:lnTo>
                <a:lnTo>
                  <a:pt x="67341" y="706659"/>
                </a:lnTo>
                <a:lnTo>
                  <a:pt x="87760" y="667297"/>
                </a:lnTo>
                <a:lnTo>
                  <a:pt x="95250" y="619125"/>
                </a:lnTo>
                <a:lnTo>
                  <a:pt x="95250" y="123825"/>
                </a:lnTo>
                <a:lnTo>
                  <a:pt x="102739" y="75652"/>
                </a:lnTo>
                <a:lnTo>
                  <a:pt x="123158" y="36290"/>
                </a:lnTo>
                <a:lnTo>
                  <a:pt x="153435" y="9739"/>
                </a:lnTo>
                <a:lnTo>
                  <a:pt x="1905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17875" y="4328540"/>
            <a:ext cx="16592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输入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语句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8697" y="5106670"/>
            <a:ext cx="49269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函数调用的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形参与实参结合</a:t>
            </a:r>
            <a:endParaRPr sz="3200" dirty="0">
              <a:highlight>
                <a:srgbClr val="808000"/>
              </a:highlight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7842" y="0"/>
            <a:ext cx="7443470" cy="4300855"/>
          </a:xfrm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1145540">
              <a:lnSpc>
                <a:spcPct val="100000"/>
              </a:lnSpc>
              <a:spcBef>
                <a:spcPts val="1690"/>
              </a:spcBef>
              <a:tabLst>
                <a:tab pos="1788795" algn="l"/>
                <a:tab pos="4596765" algn="l"/>
                <a:tab pos="510413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 dirty="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 dirty="0">
              <a:latin typeface="华文新魏"/>
              <a:cs typeface="华文新魏"/>
            </a:endParaRPr>
          </a:p>
          <a:p>
            <a:pPr marL="344170" indent="-306705">
              <a:lnSpc>
                <a:spcPct val="100000"/>
              </a:lnSpc>
              <a:buClr>
                <a:srgbClr val="66FFFF"/>
              </a:buClr>
              <a:buSzPct val="109375"/>
              <a:buFont typeface="Wingdings"/>
              <a:buChar char=""/>
              <a:tabLst>
                <a:tab pos="344805" algn="l"/>
              </a:tabLst>
            </a:pPr>
            <a:r>
              <a:rPr sz="3200" b="1" dirty="0">
                <a:solidFill>
                  <a:srgbClr val="FFFF00"/>
                </a:solidFill>
                <a:highlight>
                  <a:srgbClr val="808000"/>
                </a:highlight>
                <a:latin typeface="宋体"/>
                <a:cs typeface="宋体"/>
              </a:rPr>
              <a:t>定值点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 dirty="0">
              <a:latin typeface="宋体"/>
              <a:cs typeface="宋体"/>
            </a:endParaRPr>
          </a:p>
          <a:p>
            <a:pPr marL="139700" marR="30480" indent="709930">
              <a:lnSpc>
                <a:spcPct val="125000"/>
              </a:lnSpc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获得值的中间代码</a:t>
            </a:r>
            <a:r>
              <a:rPr sz="32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00"/>
                </a:solidFill>
                <a:highlight>
                  <a:srgbClr val="808000"/>
                </a:highlight>
                <a:latin typeface="宋体"/>
                <a:cs typeface="宋体"/>
              </a:rPr>
              <a:t>位置</a:t>
            </a:r>
            <a:r>
              <a:rPr sz="3200" b="1" spc="-10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d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称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的定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点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  <a:p>
            <a:pPr marL="819150">
              <a:lnSpc>
                <a:spcPct val="100000"/>
              </a:lnSpc>
              <a:spcBef>
                <a:spcPts val="2320"/>
              </a:spcBef>
              <a:tabLst>
                <a:tab pos="5007610" algn="l"/>
                <a:tab pos="5661025" algn="l"/>
                <a:tab pos="6647815" algn="l"/>
              </a:tabLst>
            </a:pP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例如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3150" b="1" spc="-7" baseline="-15873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r>
              <a:rPr sz="3200" b="1" spc="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x=a*b+c;	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3150" b="1" baseline="-15873" dirty="0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:	</a:t>
            </a:r>
            <a:r>
              <a:rPr sz="3200" b="1" spc="-15" dirty="0">
                <a:solidFill>
                  <a:srgbClr val="66FFFF"/>
                </a:solidFill>
                <a:latin typeface="Times New Roman"/>
                <a:cs typeface="Times New Roman"/>
              </a:rPr>
              <a:t>read	</a:t>
            </a: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x</a:t>
            </a:r>
            <a:r>
              <a:rPr sz="3200" b="1" spc="-40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;</a:t>
            </a:r>
            <a:endParaRPr sz="3200" dirty="0">
              <a:latin typeface="Times New Roman"/>
              <a:cs typeface="Times New Roman"/>
            </a:endParaRPr>
          </a:p>
          <a:p>
            <a:pPr marR="275590" algn="ctr">
              <a:lnSpc>
                <a:spcPct val="100000"/>
              </a:lnSpc>
              <a:spcBef>
                <a:spcPts val="3110"/>
              </a:spcBef>
            </a:pPr>
            <a:r>
              <a:rPr sz="32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赋值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语句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63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90494" y="2932557"/>
            <a:ext cx="750570" cy="384175"/>
          </a:xfrm>
          <a:custGeom>
            <a:avLst/>
            <a:gdLst/>
            <a:ahLst/>
            <a:cxnLst/>
            <a:rect l="l" t="t" r="r" b="b"/>
            <a:pathLst>
              <a:path w="750570" h="384175">
                <a:moveTo>
                  <a:pt x="77216" y="281177"/>
                </a:moveTo>
                <a:lnTo>
                  <a:pt x="0" y="382904"/>
                </a:lnTo>
                <a:lnTo>
                  <a:pt x="127761" y="383666"/>
                </a:lnTo>
                <a:lnTo>
                  <a:pt x="115047" y="357885"/>
                </a:lnTo>
                <a:lnTo>
                  <a:pt x="93853" y="357885"/>
                </a:lnTo>
                <a:lnTo>
                  <a:pt x="76961" y="323722"/>
                </a:lnTo>
                <a:lnTo>
                  <a:pt x="94046" y="315303"/>
                </a:lnTo>
                <a:lnTo>
                  <a:pt x="77216" y="281177"/>
                </a:lnTo>
                <a:close/>
              </a:path>
              <a:path w="750570" h="384175">
                <a:moveTo>
                  <a:pt x="94046" y="315303"/>
                </a:moveTo>
                <a:lnTo>
                  <a:pt x="76961" y="323722"/>
                </a:lnTo>
                <a:lnTo>
                  <a:pt x="93853" y="357885"/>
                </a:lnTo>
                <a:lnTo>
                  <a:pt x="110903" y="349484"/>
                </a:lnTo>
                <a:lnTo>
                  <a:pt x="94046" y="315303"/>
                </a:lnTo>
                <a:close/>
              </a:path>
              <a:path w="750570" h="384175">
                <a:moveTo>
                  <a:pt x="110903" y="349484"/>
                </a:moveTo>
                <a:lnTo>
                  <a:pt x="93853" y="357885"/>
                </a:lnTo>
                <a:lnTo>
                  <a:pt x="115047" y="357885"/>
                </a:lnTo>
                <a:lnTo>
                  <a:pt x="110903" y="349484"/>
                </a:lnTo>
                <a:close/>
              </a:path>
              <a:path w="750570" h="384175">
                <a:moveTo>
                  <a:pt x="733806" y="0"/>
                </a:moveTo>
                <a:lnTo>
                  <a:pt x="94046" y="315303"/>
                </a:lnTo>
                <a:lnTo>
                  <a:pt x="110903" y="349484"/>
                </a:lnTo>
                <a:lnTo>
                  <a:pt x="750569" y="34289"/>
                </a:lnTo>
                <a:lnTo>
                  <a:pt x="73380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4159" y="2931667"/>
            <a:ext cx="1054735" cy="400050"/>
          </a:xfrm>
          <a:custGeom>
            <a:avLst/>
            <a:gdLst/>
            <a:ahLst/>
            <a:cxnLst/>
            <a:rect l="l" t="t" r="r" b="b"/>
            <a:pathLst>
              <a:path w="1054735" h="400050">
                <a:moveTo>
                  <a:pt x="940492" y="364187"/>
                </a:moveTo>
                <a:lnTo>
                  <a:pt x="927988" y="400050"/>
                </a:lnTo>
                <a:lnTo>
                  <a:pt x="1054735" y="383794"/>
                </a:lnTo>
                <a:lnTo>
                  <a:pt x="1041751" y="370459"/>
                </a:lnTo>
                <a:lnTo>
                  <a:pt x="958468" y="370459"/>
                </a:lnTo>
                <a:lnTo>
                  <a:pt x="940492" y="364187"/>
                </a:lnTo>
                <a:close/>
              </a:path>
              <a:path w="1054735" h="400050">
                <a:moveTo>
                  <a:pt x="953066" y="328120"/>
                </a:moveTo>
                <a:lnTo>
                  <a:pt x="940492" y="364187"/>
                </a:lnTo>
                <a:lnTo>
                  <a:pt x="958468" y="370459"/>
                </a:lnTo>
                <a:lnTo>
                  <a:pt x="971041" y="334391"/>
                </a:lnTo>
                <a:lnTo>
                  <a:pt x="953066" y="328120"/>
                </a:lnTo>
                <a:close/>
              </a:path>
              <a:path w="1054735" h="400050">
                <a:moveTo>
                  <a:pt x="965580" y="292227"/>
                </a:moveTo>
                <a:lnTo>
                  <a:pt x="953066" y="328120"/>
                </a:lnTo>
                <a:lnTo>
                  <a:pt x="971041" y="334391"/>
                </a:lnTo>
                <a:lnTo>
                  <a:pt x="958468" y="370459"/>
                </a:lnTo>
                <a:lnTo>
                  <a:pt x="1041751" y="370459"/>
                </a:lnTo>
                <a:lnTo>
                  <a:pt x="965580" y="292227"/>
                </a:lnTo>
                <a:close/>
              </a:path>
              <a:path w="1054735" h="400050">
                <a:moveTo>
                  <a:pt x="12445" y="0"/>
                </a:moveTo>
                <a:lnTo>
                  <a:pt x="0" y="36068"/>
                </a:lnTo>
                <a:lnTo>
                  <a:pt x="940492" y="364187"/>
                </a:lnTo>
                <a:lnTo>
                  <a:pt x="953066" y="328120"/>
                </a:lnTo>
                <a:lnTo>
                  <a:pt x="1244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22191" y="4943094"/>
            <a:ext cx="114300" cy="364490"/>
          </a:xfrm>
          <a:custGeom>
            <a:avLst/>
            <a:gdLst/>
            <a:ahLst/>
            <a:cxnLst/>
            <a:rect l="l" t="t" r="r" b="b"/>
            <a:pathLst>
              <a:path w="114300" h="364489">
                <a:moveTo>
                  <a:pt x="38100" y="249935"/>
                </a:moveTo>
                <a:lnTo>
                  <a:pt x="0" y="249935"/>
                </a:lnTo>
                <a:lnTo>
                  <a:pt x="57150" y="364235"/>
                </a:lnTo>
                <a:lnTo>
                  <a:pt x="104775" y="268985"/>
                </a:lnTo>
                <a:lnTo>
                  <a:pt x="38100" y="268985"/>
                </a:lnTo>
                <a:lnTo>
                  <a:pt x="38100" y="249935"/>
                </a:lnTo>
                <a:close/>
              </a:path>
              <a:path w="114300" h="364489">
                <a:moveTo>
                  <a:pt x="76200" y="0"/>
                </a:moveTo>
                <a:lnTo>
                  <a:pt x="38100" y="0"/>
                </a:lnTo>
                <a:lnTo>
                  <a:pt x="38100" y="268985"/>
                </a:lnTo>
                <a:lnTo>
                  <a:pt x="76200" y="268985"/>
                </a:lnTo>
                <a:lnTo>
                  <a:pt x="76200" y="0"/>
                </a:lnTo>
                <a:close/>
              </a:path>
              <a:path w="114300" h="364489">
                <a:moveTo>
                  <a:pt x="114300" y="249935"/>
                </a:moveTo>
                <a:lnTo>
                  <a:pt x="76200" y="249935"/>
                </a:lnTo>
                <a:lnTo>
                  <a:pt x="76200" y="268985"/>
                </a:lnTo>
                <a:lnTo>
                  <a:pt x="104775" y="268985"/>
                </a:lnTo>
                <a:lnTo>
                  <a:pt x="114300" y="24993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0542" y="0"/>
            <a:ext cx="7723505" cy="585787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132840">
              <a:lnSpc>
                <a:spcPct val="100000"/>
              </a:lnSpc>
              <a:spcBef>
                <a:spcPts val="755"/>
              </a:spcBef>
              <a:tabLst>
                <a:tab pos="1776095" algn="l"/>
                <a:tab pos="4584065" algn="l"/>
                <a:tab pos="509143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 dirty="0">
              <a:latin typeface="华文新魏"/>
              <a:cs typeface="华文新魏"/>
            </a:endParaRPr>
          </a:p>
          <a:p>
            <a:pPr marL="342265" indent="-317500">
              <a:lnSpc>
                <a:spcPct val="100000"/>
              </a:lnSpc>
              <a:spcBef>
                <a:spcPts val="1490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42900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引用点：</a:t>
            </a:r>
            <a:endParaRPr sz="3200" dirty="0">
              <a:latin typeface="宋体"/>
              <a:cs typeface="宋体"/>
            </a:endParaRPr>
          </a:p>
          <a:p>
            <a:pPr marL="330200" marR="17780" indent="608965">
              <a:lnSpc>
                <a:spcPts val="4420"/>
              </a:lnSpc>
              <a:spcBef>
                <a:spcPts val="240"/>
              </a:spcBef>
            </a:pP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引用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32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的中间代码</a:t>
            </a:r>
            <a:r>
              <a:rPr sz="32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的</a:t>
            </a:r>
            <a:r>
              <a:rPr sz="32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位</a:t>
            </a:r>
            <a:r>
              <a:rPr sz="32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置</a:t>
            </a:r>
            <a:r>
              <a:rPr sz="3200" b="1" spc="-10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d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称为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x 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的引用点。</a:t>
            </a:r>
            <a:endParaRPr sz="3200" dirty="0">
              <a:latin typeface="宋体"/>
              <a:cs typeface="宋体"/>
            </a:endParaRPr>
          </a:p>
          <a:p>
            <a:pPr marL="1030605">
              <a:lnSpc>
                <a:spcPct val="100000"/>
              </a:lnSpc>
              <a:spcBef>
                <a:spcPts val="1839"/>
              </a:spcBef>
              <a:tabLst>
                <a:tab pos="2252980" algn="l"/>
                <a:tab pos="3122930" algn="l"/>
              </a:tabLst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如</a:t>
            </a: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，	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3150" b="1" baseline="-15873" dirty="0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sz="3150" b="1" spc="15" baseline="-15873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:	</a:t>
            </a:r>
            <a:r>
              <a:rPr sz="3200" b="1" u="heavy" dirty="0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i =</a:t>
            </a:r>
            <a:r>
              <a:rPr sz="3200" b="1" u="heavy" spc="-25" dirty="0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i+1</a:t>
            </a:r>
            <a:endParaRPr sz="3200" dirty="0">
              <a:latin typeface="Times New Roman"/>
              <a:cs typeface="Times New Roman"/>
            </a:endParaRPr>
          </a:p>
          <a:p>
            <a:pPr marL="2186305">
              <a:lnSpc>
                <a:spcPct val="100000"/>
              </a:lnSpc>
              <a:spcBef>
                <a:spcPts val="2760"/>
              </a:spcBef>
              <a:tabLst>
                <a:tab pos="4319905" algn="l"/>
              </a:tabLst>
            </a:pP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值	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引用</a:t>
            </a:r>
            <a:endParaRPr sz="32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000" dirty="0">
              <a:latin typeface="宋体"/>
              <a:cs typeface="宋体"/>
            </a:endParaRPr>
          </a:p>
          <a:p>
            <a:pPr marL="948055">
              <a:lnSpc>
                <a:spcPct val="100000"/>
              </a:lnSpc>
              <a:tabLst>
                <a:tab pos="2170430" algn="l"/>
                <a:tab pos="3069590" algn="l"/>
              </a:tabLst>
            </a:pP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如</a:t>
            </a: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，	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3150" b="1" baseline="-15873" dirty="0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:	</a:t>
            </a:r>
            <a:r>
              <a:rPr sz="3200" b="1" u="heavy" dirty="0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i</a:t>
            </a:r>
            <a:r>
              <a:rPr sz="3200" b="1" u="heavy" spc="-110" dirty="0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+</a:t>
            </a: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+</a:t>
            </a:r>
            <a:endParaRPr sz="3200" dirty="0">
              <a:latin typeface="Times New Roman"/>
              <a:cs typeface="Times New Roman"/>
            </a:endParaRPr>
          </a:p>
          <a:p>
            <a:pPr marL="2131695">
              <a:lnSpc>
                <a:spcPct val="100000"/>
              </a:lnSpc>
              <a:spcBef>
                <a:spcPts val="284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引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定值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64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60854" y="362178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3990" y="255374"/>
                </a:lnTo>
                <a:lnTo>
                  <a:pt x="15544" y="208483"/>
                </a:lnTo>
                <a:lnTo>
                  <a:pt x="34032" y="164753"/>
                </a:lnTo>
                <a:lnTo>
                  <a:pt x="58826" y="124815"/>
                </a:lnTo>
                <a:lnTo>
                  <a:pt x="89296" y="89296"/>
                </a:lnTo>
                <a:lnTo>
                  <a:pt x="124815" y="58826"/>
                </a:lnTo>
                <a:lnTo>
                  <a:pt x="164753" y="34032"/>
                </a:lnTo>
                <a:lnTo>
                  <a:pt x="208483" y="15544"/>
                </a:lnTo>
                <a:lnTo>
                  <a:pt x="255374" y="3990"/>
                </a:lnTo>
                <a:lnTo>
                  <a:pt x="304800" y="0"/>
                </a:lnTo>
                <a:lnTo>
                  <a:pt x="354225" y="3990"/>
                </a:lnTo>
                <a:lnTo>
                  <a:pt x="401116" y="15544"/>
                </a:lnTo>
                <a:lnTo>
                  <a:pt x="444846" y="34032"/>
                </a:lnTo>
                <a:lnTo>
                  <a:pt x="484784" y="58826"/>
                </a:lnTo>
                <a:lnTo>
                  <a:pt x="520303" y="89296"/>
                </a:lnTo>
                <a:lnTo>
                  <a:pt x="550773" y="124815"/>
                </a:lnTo>
                <a:lnTo>
                  <a:pt x="575567" y="164753"/>
                </a:lnTo>
                <a:lnTo>
                  <a:pt x="594055" y="208483"/>
                </a:lnTo>
                <a:lnTo>
                  <a:pt x="605609" y="255374"/>
                </a:lnTo>
                <a:lnTo>
                  <a:pt x="609600" y="304800"/>
                </a:lnTo>
                <a:lnTo>
                  <a:pt x="605609" y="354225"/>
                </a:lnTo>
                <a:lnTo>
                  <a:pt x="594055" y="401116"/>
                </a:lnTo>
                <a:lnTo>
                  <a:pt x="575567" y="444846"/>
                </a:lnTo>
                <a:lnTo>
                  <a:pt x="550773" y="484784"/>
                </a:lnTo>
                <a:lnTo>
                  <a:pt x="520303" y="520303"/>
                </a:lnTo>
                <a:lnTo>
                  <a:pt x="484784" y="550773"/>
                </a:lnTo>
                <a:lnTo>
                  <a:pt x="444846" y="575567"/>
                </a:lnTo>
                <a:lnTo>
                  <a:pt x="401116" y="594055"/>
                </a:lnTo>
                <a:lnTo>
                  <a:pt x="354225" y="605609"/>
                </a:lnTo>
                <a:lnTo>
                  <a:pt x="304800" y="609600"/>
                </a:lnTo>
                <a:lnTo>
                  <a:pt x="255374" y="605609"/>
                </a:lnTo>
                <a:lnTo>
                  <a:pt x="208483" y="594055"/>
                </a:lnTo>
                <a:lnTo>
                  <a:pt x="164753" y="575567"/>
                </a:lnTo>
                <a:lnTo>
                  <a:pt x="124815" y="550773"/>
                </a:lnTo>
                <a:lnTo>
                  <a:pt x="89296" y="520303"/>
                </a:lnTo>
                <a:lnTo>
                  <a:pt x="58826" y="484784"/>
                </a:lnTo>
                <a:lnTo>
                  <a:pt x="34032" y="444846"/>
                </a:lnTo>
                <a:lnTo>
                  <a:pt x="15544" y="401116"/>
                </a:lnTo>
                <a:lnTo>
                  <a:pt x="3990" y="354225"/>
                </a:lnTo>
                <a:lnTo>
                  <a:pt x="0" y="30480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8965" y="3006089"/>
            <a:ext cx="6880859" cy="1225550"/>
          </a:xfrm>
          <a:custGeom>
            <a:avLst/>
            <a:gdLst/>
            <a:ahLst/>
            <a:cxnLst/>
            <a:rect l="l" t="t" r="r" b="b"/>
            <a:pathLst>
              <a:path w="6880859" h="1225550">
                <a:moveTo>
                  <a:pt x="0" y="1225296"/>
                </a:moveTo>
                <a:lnTo>
                  <a:pt x="6880859" y="1225296"/>
                </a:lnTo>
                <a:lnTo>
                  <a:pt x="6880859" y="0"/>
                </a:lnTo>
                <a:lnTo>
                  <a:pt x="0" y="0"/>
                </a:lnTo>
                <a:lnTo>
                  <a:pt x="0" y="122529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40507" y="1726692"/>
            <a:ext cx="1117600" cy="0"/>
          </a:xfrm>
          <a:custGeom>
            <a:avLst/>
            <a:gdLst/>
            <a:ahLst/>
            <a:cxnLst/>
            <a:rect l="l" t="t" r="r" b="b"/>
            <a:pathLst>
              <a:path w="1117600">
                <a:moveTo>
                  <a:pt x="0" y="0"/>
                </a:moveTo>
                <a:lnTo>
                  <a:pt x="1117092" y="0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87667" y="1726692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8204" y="2388107"/>
            <a:ext cx="718185" cy="0"/>
          </a:xfrm>
          <a:custGeom>
            <a:avLst/>
            <a:gdLst/>
            <a:ahLst/>
            <a:cxnLst/>
            <a:rect l="l" t="t" r="r" b="b"/>
            <a:pathLst>
              <a:path w="718185">
                <a:moveTo>
                  <a:pt x="0" y="0"/>
                </a:moveTo>
                <a:lnTo>
                  <a:pt x="717804" y="0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80276" y="6477000"/>
            <a:ext cx="483234" cy="281940"/>
          </a:xfrm>
          <a:custGeom>
            <a:avLst/>
            <a:gdLst/>
            <a:ahLst/>
            <a:cxnLst/>
            <a:rect l="l" t="t" r="r" b="b"/>
            <a:pathLst>
              <a:path w="483234" h="281940">
                <a:moveTo>
                  <a:pt x="483107" y="0"/>
                </a:moveTo>
                <a:lnTo>
                  <a:pt x="0" y="0"/>
                </a:lnTo>
                <a:lnTo>
                  <a:pt x="0" y="281940"/>
                </a:lnTo>
                <a:lnTo>
                  <a:pt x="483107" y="281940"/>
                </a:lnTo>
                <a:lnTo>
                  <a:pt x="483107" y="246697"/>
                </a:lnTo>
                <a:lnTo>
                  <a:pt x="135763" y="246697"/>
                </a:lnTo>
                <a:lnTo>
                  <a:pt x="135763" y="35242"/>
                </a:lnTo>
                <a:lnTo>
                  <a:pt x="483107" y="35242"/>
                </a:lnTo>
                <a:lnTo>
                  <a:pt x="483107" y="0"/>
                </a:lnTo>
                <a:close/>
              </a:path>
              <a:path w="483234" h="281940">
                <a:moveTo>
                  <a:pt x="483107" y="35242"/>
                </a:moveTo>
                <a:lnTo>
                  <a:pt x="135763" y="35242"/>
                </a:lnTo>
                <a:lnTo>
                  <a:pt x="347218" y="140970"/>
                </a:lnTo>
                <a:lnTo>
                  <a:pt x="135763" y="246697"/>
                </a:lnTo>
                <a:lnTo>
                  <a:pt x="483107" y="246697"/>
                </a:lnTo>
                <a:lnTo>
                  <a:pt x="483107" y="35242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16039" y="6512242"/>
            <a:ext cx="211454" cy="211454"/>
          </a:xfrm>
          <a:custGeom>
            <a:avLst/>
            <a:gdLst/>
            <a:ahLst/>
            <a:cxnLst/>
            <a:rect l="l" t="t" r="r" b="b"/>
            <a:pathLst>
              <a:path w="211454" h="211454">
                <a:moveTo>
                  <a:pt x="0" y="0"/>
                </a:moveTo>
                <a:lnTo>
                  <a:pt x="0" y="211455"/>
                </a:lnTo>
                <a:lnTo>
                  <a:pt x="211454" y="105727"/>
                </a:lnTo>
                <a:lnTo>
                  <a:pt x="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821169" y="6510629"/>
            <a:ext cx="4019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  <a:hlinkClick r:id="rId3" action="ppaction://hlinksldjump"/>
              </a:rPr>
              <a:t>ud</a:t>
            </a:r>
            <a:r>
              <a:rPr sz="1400" b="1" spc="-5" dirty="0">
                <a:latin typeface="宋体"/>
                <a:cs typeface="宋体"/>
                <a:hlinkClick r:id="rId3" action="ppaction://hlinksldjump"/>
              </a:rPr>
              <a:t>链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93341" y="4376165"/>
            <a:ext cx="688975" cy="434340"/>
          </a:xfrm>
          <a:custGeom>
            <a:avLst/>
            <a:gdLst/>
            <a:ahLst/>
            <a:cxnLst/>
            <a:rect l="l" t="t" r="r" b="b"/>
            <a:pathLst>
              <a:path w="688975" h="434339">
                <a:moveTo>
                  <a:pt x="0" y="217169"/>
                </a:moveTo>
                <a:lnTo>
                  <a:pt x="17556" y="148547"/>
                </a:lnTo>
                <a:lnTo>
                  <a:pt x="66446" y="88934"/>
                </a:lnTo>
                <a:lnTo>
                  <a:pt x="100869" y="63626"/>
                </a:lnTo>
                <a:lnTo>
                  <a:pt x="141000" y="41916"/>
                </a:lnTo>
                <a:lnTo>
                  <a:pt x="186129" y="24249"/>
                </a:lnTo>
                <a:lnTo>
                  <a:pt x="235549" y="11076"/>
                </a:lnTo>
                <a:lnTo>
                  <a:pt x="288550" y="2843"/>
                </a:lnTo>
                <a:lnTo>
                  <a:pt x="344424" y="0"/>
                </a:lnTo>
                <a:lnTo>
                  <a:pt x="400297" y="2843"/>
                </a:lnTo>
                <a:lnTo>
                  <a:pt x="453298" y="11076"/>
                </a:lnTo>
                <a:lnTo>
                  <a:pt x="502718" y="24249"/>
                </a:lnTo>
                <a:lnTo>
                  <a:pt x="547847" y="41916"/>
                </a:lnTo>
                <a:lnTo>
                  <a:pt x="587978" y="63626"/>
                </a:lnTo>
                <a:lnTo>
                  <a:pt x="622401" y="88934"/>
                </a:lnTo>
                <a:lnTo>
                  <a:pt x="650408" y="117390"/>
                </a:lnTo>
                <a:lnTo>
                  <a:pt x="684340" y="181956"/>
                </a:lnTo>
                <a:lnTo>
                  <a:pt x="688847" y="217169"/>
                </a:lnTo>
                <a:lnTo>
                  <a:pt x="684340" y="252383"/>
                </a:lnTo>
                <a:lnTo>
                  <a:pt x="650408" y="316949"/>
                </a:lnTo>
                <a:lnTo>
                  <a:pt x="622401" y="345405"/>
                </a:lnTo>
                <a:lnTo>
                  <a:pt x="587978" y="370712"/>
                </a:lnTo>
                <a:lnTo>
                  <a:pt x="547847" y="392423"/>
                </a:lnTo>
                <a:lnTo>
                  <a:pt x="502718" y="410090"/>
                </a:lnTo>
                <a:lnTo>
                  <a:pt x="453298" y="423263"/>
                </a:lnTo>
                <a:lnTo>
                  <a:pt x="400297" y="431496"/>
                </a:lnTo>
                <a:lnTo>
                  <a:pt x="344424" y="434339"/>
                </a:lnTo>
                <a:lnTo>
                  <a:pt x="288550" y="431496"/>
                </a:lnTo>
                <a:lnTo>
                  <a:pt x="235549" y="423263"/>
                </a:lnTo>
                <a:lnTo>
                  <a:pt x="186129" y="410090"/>
                </a:lnTo>
                <a:lnTo>
                  <a:pt x="141000" y="392423"/>
                </a:lnTo>
                <a:lnTo>
                  <a:pt x="100869" y="370712"/>
                </a:lnTo>
                <a:lnTo>
                  <a:pt x="66446" y="345405"/>
                </a:lnTo>
                <a:lnTo>
                  <a:pt x="38439" y="316949"/>
                </a:lnTo>
                <a:lnTo>
                  <a:pt x="4507" y="252383"/>
                </a:lnTo>
                <a:lnTo>
                  <a:pt x="0" y="217169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77696" y="4859273"/>
            <a:ext cx="114300" cy="1015365"/>
          </a:xfrm>
          <a:custGeom>
            <a:avLst/>
            <a:gdLst/>
            <a:ahLst/>
            <a:cxnLst/>
            <a:rect l="l" t="t" r="r" b="b"/>
            <a:pathLst>
              <a:path w="114300" h="1015364">
                <a:moveTo>
                  <a:pt x="76200" y="0"/>
                </a:moveTo>
                <a:lnTo>
                  <a:pt x="38100" y="0"/>
                </a:lnTo>
                <a:lnTo>
                  <a:pt x="38100" y="152400"/>
                </a:lnTo>
                <a:lnTo>
                  <a:pt x="76200" y="152400"/>
                </a:lnTo>
                <a:lnTo>
                  <a:pt x="76200" y="0"/>
                </a:lnTo>
                <a:close/>
              </a:path>
              <a:path w="114300" h="1015364">
                <a:moveTo>
                  <a:pt x="76200" y="266700"/>
                </a:moveTo>
                <a:lnTo>
                  <a:pt x="38100" y="266700"/>
                </a:lnTo>
                <a:lnTo>
                  <a:pt x="38100" y="419100"/>
                </a:lnTo>
                <a:lnTo>
                  <a:pt x="76200" y="419100"/>
                </a:lnTo>
                <a:lnTo>
                  <a:pt x="76200" y="266700"/>
                </a:lnTo>
                <a:close/>
              </a:path>
              <a:path w="114300" h="1015364">
                <a:moveTo>
                  <a:pt x="76200" y="533400"/>
                </a:moveTo>
                <a:lnTo>
                  <a:pt x="38100" y="533400"/>
                </a:lnTo>
                <a:lnTo>
                  <a:pt x="38100" y="685800"/>
                </a:lnTo>
                <a:lnTo>
                  <a:pt x="76200" y="685800"/>
                </a:lnTo>
                <a:lnTo>
                  <a:pt x="76200" y="533400"/>
                </a:lnTo>
                <a:close/>
              </a:path>
              <a:path w="114300" h="1015364">
                <a:moveTo>
                  <a:pt x="38100" y="900684"/>
                </a:moveTo>
                <a:lnTo>
                  <a:pt x="0" y="900684"/>
                </a:lnTo>
                <a:lnTo>
                  <a:pt x="57150" y="1014984"/>
                </a:lnTo>
                <a:lnTo>
                  <a:pt x="104775" y="919734"/>
                </a:lnTo>
                <a:lnTo>
                  <a:pt x="38100" y="919734"/>
                </a:lnTo>
                <a:lnTo>
                  <a:pt x="38100" y="900684"/>
                </a:lnTo>
                <a:close/>
              </a:path>
              <a:path w="114300" h="1015364">
                <a:moveTo>
                  <a:pt x="76200" y="800100"/>
                </a:moveTo>
                <a:lnTo>
                  <a:pt x="38100" y="800100"/>
                </a:lnTo>
                <a:lnTo>
                  <a:pt x="38100" y="919734"/>
                </a:lnTo>
                <a:lnTo>
                  <a:pt x="76200" y="919734"/>
                </a:lnTo>
                <a:lnTo>
                  <a:pt x="76200" y="800100"/>
                </a:lnTo>
                <a:close/>
              </a:path>
              <a:path w="114300" h="1015364">
                <a:moveTo>
                  <a:pt x="114300" y="900684"/>
                </a:moveTo>
                <a:lnTo>
                  <a:pt x="76200" y="900684"/>
                </a:lnTo>
                <a:lnTo>
                  <a:pt x="76200" y="919734"/>
                </a:lnTo>
                <a:lnTo>
                  <a:pt x="104775" y="919734"/>
                </a:lnTo>
                <a:lnTo>
                  <a:pt x="114300" y="90068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16735" y="5197602"/>
            <a:ext cx="1157351" cy="3688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88210" y="5289803"/>
            <a:ext cx="85725" cy="1844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02486" y="5289803"/>
            <a:ext cx="42862" cy="1844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16735" y="5197602"/>
            <a:ext cx="1157605" cy="368935"/>
          </a:xfrm>
          <a:custGeom>
            <a:avLst/>
            <a:gdLst/>
            <a:ahLst/>
            <a:cxnLst/>
            <a:rect l="l" t="t" r="r" b="b"/>
            <a:pathLst>
              <a:path w="1157605" h="368935">
                <a:moveTo>
                  <a:pt x="814451" y="0"/>
                </a:moveTo>
                <a:lnTo>
                  <a:pt x="814451" y="92202"/>
                </a:lnTo>
                <a:lnTo>
                  <a:pt x="0" y="92202"/>
                </a:lnTo>
                <a:lnTo>
                  <a:pt x="0" y="276606"/>
                </a:lnTo>
                <a:lnTo>
                  <a:pt x="814451" y="276606"/>
                </a:lnTo>
                <a:lnTo>
                  <a:pt x="814451" y="368808"/>
                </a:lnTo>
                <a:lnTo>
                  <a:pt x="1157351" y="184404"/>
                </a:lnTo>
                <a:lnTo>
                  <a:pt x="814451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88210" y="5289803"/>
            <a:ext cx="85725" cy="184785"/>
          </a:xfrm>
          <a:custGeom>
            <a:avLst/>
            <a:gdLst/>
            <a:ahLst/>
            <a:cxnLst/>
            <a:rect l="l" t="t" r="r" b="b"/>
            <a:pathLst>
              <a:path w="85725" h="184785">
                <a:moveTo>
                  <a:pt x="0" y="184404"/>
                </a:moveTo>
                <a:lnTo>
                  <a:pt x="85725" y="184404"/>
                </a:lnTo>
                <a:lnTo>
                  <a:pt x="85725" y="0"/>
                </a:lnTo>
                <a:lnTo>
                  <a:pt x="0" y="0"/>
                </a:lnTo>
                <a:lnTo>
                  <a:pt x="0" y="1844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23917" y="5270753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0"/>
                </a:moveTo>
                <a:lnTo>
                  <a:pt x="0" y="222504"/>
                </a:lnTo>
              </a:path>
            </a:pathLst>
          </a:custGeom>
          <a:ln w="80962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1541" y="0"/>
            <a:ext cx="8562340" cy="635254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621790">
              <a:lnSpc>
                <a:spcPct val="100000"/>
              </a:lnSpc>
              <a:spcBef>
                <a:spcPts val="705"/>
              </a:spcBef>
              <a:tabLst>
                <a:tab pos="2265045" algn="l"/>
                <a:tab pos="5073015" algn="l"/>
                <a:tab pos="558038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  <a:p>
            <a:pPr marL="318770" indent="-306705" algn="just">
              <a:lnSpc>
                <a:spcPct val="100000"/>
              </a:lnSpc>
              <a:spcBef>
                <a:spcPts val="1195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到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达</a:t>
            </a:r>
            <a:r>
              <a:rPr sz="3200" b="1" spc="-81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sz="32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定值：</a:t>
            </a:r>
            <a:endParaRPr sz="3200">
              <a:latin typeface="宋体"/>
              <a:cs typeface="宋体"/>
            </a:endParaRPr>
          </a:p>
          <a:p>
            <a:pPr marL="12700" marR="42545" algn="just">
              <a:lnSpc>
                <a:spcPct val="130000"/>
              </a:lnSpc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设有流图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，变量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某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点</a:t>
            </a:r>
            <a:r>
              <a:rPr sz="32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定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值到</a:t>
            </a:r>
            <a:r>
              <a:rPr sz="3200" b="1" spc="10" dirty="0">
                <a:solidFill>
                  <a:srgbClr val="FFFF00"/>
                </a:solidFill>
                <a:latin typeface="宋体"/>
                <a:cs typeface="宋体"/>
              </a:rPr>
              <a:t>达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另一 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点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是指流图中从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有一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通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路到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达</a:t>
            </a:r>
            <a:r>
              <a:rPr sz="3200" b="1" spc="10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且该通 路上没有对变量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的再定值。</a:t>
            </a:r>
            <a:endParaRPr sz="3200">
              <a:latin typeface="宋体"/>
              <a:cs typeface="宋体"/>
            </a:endParaRPr>
          </a:p>
          <a:p>
            <a:pPr marR="1786889" algn="r">
              <a:lnSpc>
                <a:spcPct val="100000"/>
              </a:lnSpc>
              <a:spcBef>
                <a:spcPts val="425"/>
              </a:spcBef>
              <a:tabLst>
                <a:tab pos="1935480" algn="l"/>
                <a:tab pos="2895600" algn="l"/>
                <a:tab pos="3505200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约定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	</a:t>
            </a:r>
            <a:r>
              <a:rPr sz="32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&lt;</a:t>
            </a:r>
            <a:r>
              <a:rPr sz="32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&gt;	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—	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对变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的引用；</a:t>
            </a:r>
            <a:endParaRPr sz="3200">
              <a:latin typeface="宋体"/>
              <a:cs typeface="宋体"/>
            </a:endParaRPr>
          </a:p>
          <a:p>
            <a:pPr marR="1791970" algn="r">
              <a:lnSpc>
                <a:spcPct val="100000"/>
              </a:lnSpc>
              <a:spcBef>
                <a:spcPts val="1150"/>
              </a:spcBef>
              <a:tabLst>
                <a:tab pos="678180" algn="l"/>
                <a:tab pos="1287780" algn="l"/>
              </a:tabLst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A	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—	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对变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的定值；</a:t>
            </a:r>
            <a:endParaRPr sz="3200">
              <a:latin typeface="宋体"/>
              <a:cs typeface="宋体"/>
            </a:endParaRPr>
          </a:p>
          <a:p>
            <a:pPr marL="873125">
              <a:lnSpc>
                <a:spcPct val="100000"/>
              </a:lnSpc>
              <a:spcBef>
                <a:spcPts val="1335"/>
              </a:spcBef>
              <a:tabLst>
                <a:tab pos="1710689" algn="l"/>
              </a:tabLst>
            </a:pPr>
            <a:r>
              <a:rPr sz="3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d:	A</a:t>
            </a:r>
            <a:endParaRPr sz="3600">
              <a:latin typeface="Times New Roman"/>
              <a:cs typeface="Times New Roman"/>
            </a:endParaRPr>
          </a:p>
          <a:p>
            <a:pPr marL="2945130">
              <a:lnSpc>
                <a:spcPct val="100000"/>
              </a:lnSpc>
              <a:spcBef>
                <a:spcPts val="2510"/>
              </a:spcBef>
            </a:pP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有此路径，且无对变</a:t>
            </a:r>
            <a:r>
              <a:rPr sz="2800" b="1" dirty="0">
                <a:solidFill>
                  <a:srgbClr val="66FFFF"/>
                </a:solidFill>
                <a:latin typeface="宋体"/>
                <a:cs typeface="宋体"/>
              </a:rPr>
              <a:t>量</a:t>
            </a:r>
            <a:r>
              <a:rPr sz="28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的</a:t>
            </a:r>
            <a:r>
              <a:rPr sz="2800" b="1" spc="5" dirty="0">
                <a:solidFill>
                  <a:srgbClr val="66FFFF"/>
                </a:solidFill>
                <a:latin typeface="宋体"/>
                <a:cs typeface="宋体"/>
              </a:rPr>
              <a:t>其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他定</a:t>
            </a:r>
            <a:r>
              <a:rPr sz="2800" b="1" spc="-15" dirty="0">
                <a:solidFill>
                  <a:srgbClr val="66FFFF"/>
                </a:solidFill>
                <a:latin typeface="宋体"/>
                <a:cs typeface="宋体"/>
              </a:rPr>
              <a:t>值</a:t>
            </a:r>
            <a:endParaRPr sz="2800">
              <a:latin typeface="宋体"/>
              <a:cs typeface="宋体"/>
            </a:endParaRPr>
          </a:p>
          <a:p>
            <a:pPr marL="821690">
              <a:lnSpc>
                <a:spcPct val="100000"/>
              </a:lnSpc>
              <a:spcBef>
                <a:spcPts val="1700"/>
              </a:spcBef>
              <a:tabLst>
                <a:tab pos="1385570" algn="l"/>
              </a:tabLst>
            </a:pP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p:	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65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99965" y="1219961"/>
            <a:ext cx="2133600" cy="1143000"/>
          </a:xfrm>
          <a:custGeom>
            <a:avLst/>
            <a:gdLst/>
            <a:ahLst/>
            <a:cxnLst/>
            <a:rect l="l" t="t" r="r" b="b"/>
            <a:pathLst>
              <a:path w="2133600" h="1143000">
                <a:moveTo>
                  <a:pt x="0" y="1143000"/>
                </a:moveTo>
                <a:lnTo>
                  <a:pt x="2133600" y="1143000"/>
                </a:lnTo>
                <a:lnTo>
                  <a:pt x="21336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16678" y="1218946"/>
            <a:ext cx="176276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804545" algn="l"/>
              </a:tabLst>
            </a:pP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2400" b="1" spc="-7" baseline="-15625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:	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i =</a:t>
            </a:r>
            <a:r>
              <a:rPr sz="24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m-1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tabLst>
                <a:tab pos="804545" algn="l"/>
              </a:tabLst>
            </a:pP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2400" b="1" spc="-7" baseline="-15625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:	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j =</a:t>
            </a:r>
            <a:r>
              <a:rPr sz="24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tabLst>
                <a:tab pos="804545" algn="l"/>
              </a:tabLst>
            </a:pP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2400" b="1" spc="-7" baseline="-15625" dirty="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:	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a =</a:t>
            </a:r>
            <a:r>
              <a:rPr sz="24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c1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99965" y="2820161"/>
            <a:ext cx="2133600" cy="533400"/>
          </a:xfrm>
          <a:custGeom>
            <a:avLst/>
            <a:gdLst/>
            <a:ahLst/>
            <a:cxnLst/>
            <a:rect l="l" t="t" r="r" b="b"/>
            <a:pathLst>
              <a:path w="2133600" h="533400">
                <a:moveTo>
                  <a:pt x="0" y="533400"/>
                </a:moveTo>
                <a:lnTo>
                  <a:pt x="2133600" y="533400"/>
                </a:lnTo>
                <a:lnTo>
                  <a:pt x="21336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28565" y="2880182"/>
            <a:ext cx="16637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28345" algn="l"/>
              </a:tabLst>
            </a:pP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2400" b="1" spc="-7" baseline="-15625" dirty="0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i = i</a:t>
            </a:r>
            <a:r>
              <a:rPr sz="24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99965" y="3810761"/>
            <a:ext cx="2133600" cy="533400"/>
          </a:xfrm>
          <a:custGeom>
            <a:avLst/>
            <a:gdLst/>
            <a:ahLst/>
            <a:cxnLst/>
            <a:rect l="l" t="t" r="r" b="b"/>
            <a:pathLst>
              <a:path w="2133600" h="533400">
                <a:moveTo>
                  <a:pt x="0" y="533400"/>
                </a:moveTo>
                <a:lnTo>
                  <a:pt x="2133600" y="533400"/>
                </a:lnTo>
                <a:lnTo>
                  <a:pt x="21336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08753" y="3871341"/>
            <a:ext cx="1701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27710" algn="l"/>
              </a:tabLst>
            </a:pP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2400" b="1" spc="-7" baseline="-15625" dirty="0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j = j -</a:t>
            </a:r>
            <a:r>
              <a:rPr sz="24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99965" y="4801361"/>
            <a:ext cx="2133600" cy="533400"/>
          </a:xfrm>
          <a:custGeom>
            <a:avLst/>
            <a:gdLst/>
            <a:ahLst/>
            <a:cxnLst/>
            <a:rect l="l" t="t" r="r" b="b"/>
            <a:pathLst>
              <a:path w="2133600" h="533400">
                <a:moveTo>
                  <a:pt x="0" y="533400"/>
                </a:moveTo>
                <a:lnTo>
                  <a:pt x="2133600" y="533400"/>
                </a:lnTo>
                <a:lnTo>
                  <a:pt x="21336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48250" y="4862321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56966" y="5791961"/>
            <a:ext cx="1828800" cy="533400"/>
          </a:xfrm>
          <a:custGeom>
            <a:avLst/>
            <a:gdLst/>
            <a:ahLst/>
            <a:cxnLst/>
            <a:rect l="l" t="t" r="r" b="b"/>
            <a:pathLst>
              <a:path w="1828800" h="533400">
                <a:moveTo>
                  <a:pt x="0" y="533400"/>
                </a:moveTo>
                <a:lnTo>
                  <a:pt x="1828800" y="533400"/>
                </a:lnTo>
                <a:lnTo>
                  <a:pt x="18288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47765" y="5791961"/>
            <a:ext cx="1828800" cy="533400"/>
          </a:xfrm>
          <a:custGeom>
            <a:avLst/>
            <a:gdLst/>
            <a:ahLst/>
            <a:cxnLst/>
            <a:rect l="l" t="t" r="r" b="b"/>
            <a:pathLst>
              <a:path w="1828800" h="533400">
                <a:moveTo>
                  <a:pt x="0" y="533400"/>
                </a:moveTo>
                <a:lnTo>
                  <a:pt x="1828799" y="533400"/>
                </a:lnTo>
                <a:lnTo>
                  <a:pt x="18287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09615" y="2362961"/>
            <a:ext cx="114300" cy="457200"/>
          </a:xfrm>
          <a:custGeom>
            <a:avLst/>
            <a:gdLst/>
            <a:ahLst/>
            <a:cxnLst/>
            <a:rect l="l" t="t" r="r" b="b"/>
            <a:pathLst>
              <a:path w="114300" h="457200">
                <a:moveTo>
                  <a:pt x="38100" y="342900"/>
                </a:moveTo>
                <a:lnTo>
                  <a:pt x="0" y="342900"/>
                </a:lnTo>
                <a:lnTo>
                  <a:pt x="57150" y="457200"/>
                </a:lnTo>
                <a:lnTo>
                  <a:pt x="104775" y="361950"/>
                </a:lnTo>
                <a:lnTo>
                  <a:pt x="38100" y="361950"/>
                </a:lnTo>
                <a:lnTo>
                  <a:pt x="38100" y="342900"/>
                </a:lnTo>
                <a:close/>
              </a:path>
              <a:path w="114300" h="457200">
                <a:moveTo>
                  <a:pt x="76200" y="0"/>
                </a:moveTo>
                <a:lnTo>
                  <a:pt x="38100" y="0"/>
                </a:lnTo>
                <a:lnTo>
                  <a:pt x="38100" y="361950"/>
                </a:lnTo>
                <a:lnTo>
                  <a:pt x="76200" y="361950"/>
                </a:lnTo>
                <a:lnTo>
                  <a:pt x="76200" y="0"/>
                </a:lnTo>
                <a:close/>
              </a:path>
              <a:path w="114300" h="457200">
                <a:moveTo>
                  <a:pt x="114300" y="342900"/>
                </a:moveTo>
                <a:lnTo>
                  <a:pt x="76200" y="342900"/>
                </a:lnTo>
                <a:lnTo>
                  <a:pt x="76200" y="361950"/>
                </a:lnTo>
                <a:lnTo>
                  <a:pt x="104775" y="361950"/>
                </a:lnTo>
                <a:lnTo>
                  <a:pt x="114300" y="342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09615" y="3353561"/>
            <a:ext cx="114300" cy="457200"/>
          </a:xfrm>
          <a:custGeom>
            <a:avLst/>
            <a:gdLst/>
            <a:ahLst/>
            <a:cxnLst/>
            <a:rect l="l" t="t" r="r" b="b"/>
            <a:pathLst>
              <a:path w="114300" h="457200">
                <a:moveTo>
                  <a:pt x="38100" y="342900"/>
                </a:moveTo>
                <a:lnTo>
                  <a:pt x="0" y="342900"/>
                </a:lnTo>
                <a:lnTo>
                  <a:pt x="57150" y="457200"/>
                </a:lnTo>
                <a:lnTo>
                  <a:pt x="104775" y="361950"/>
                </a:lnTo>
                <a:lnTo>
                  <a:pt x="38100" y="361950"/>
                </a:lnTo>
                <a:lnTo>
                  <a:pt x="38100" y="342900"/>
                </a:lnTo>
                <a:close/>
              </a:path>
              <a:path w="114300" h="457200">
                <a:moveTo>
                  <a:pt x="76200" y="0"/>
                </a:moveTo>
                <a:lnTo>
                  <a:pt x="38100" y="0"/>
                </a:lnTo>
                <a:lnTo>
                  <a:pt x="38100" y="361950"/>
                </a:lnTo>
                <a:lnTo>
                  <a:pt x="76200" y="361950"/>
                </a:lnTo>
                <a:lnTo>
                  <a:pt x="76200" y="0"/>
                </a:lnTo>
                <a:close/>
              </a:path>
              <a:path w="114300" h="457200">
                <a:moveTo>
                  <a:pt x="114300" y="342900"/>
                </a:moveTo>
                <a:lnTo>
                  <a:pt x="76200" y="342900"/>
                </a:lnTo>
                <a:lnTo>
                  <a:pt x="76200" y="361950"/>
                </a:lnTo>
                <a:lnTo>
                  <a:pt x="104775" y="361950"/>
                </a:lnTo>
                <a:lnTo>
                  <a:pt x="114300" y="342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09615" y="4344161"/>
            <a:ext cx="114300" cy="457200"/>
          </a:xfrm>
          <a:custGeom>
            <a:avLst/>
            <a:gdLst/>
            <a:ahLst/>
            <a:cxnLst/>
            <a:rect l="l" t="t" r="r" b="b"/>
            <a:pathLst>
              <a:path w="114300" h="457200">
                <a:moveTo>
                  <a:pt x="38100" y="342900"/>
                </a:moveTo>
                <a:lnTo>
                  <a:pt x="0" y="342900"/>
                </a:lnTo>
                <a:lnTo>
                  <a:pt x="57150" y="457200"/>
                </a:lnTo>
                <a:lnTo>
                  <a:pt x="104775" y="361950"/>
                </a:lnTo>
                <a:lnTo>
                  <a:pt x="38100" y="361950"/>
                </a:lnTo>
                <a:lnTo>
                  <a:pt x="38100" y="342900"/>
                </a:lnTo>
                <a:close/>
              </a:path>
              <a:path w="114300" h="457200">
                <a:moveTo>
                  <a:pt x="76200" y="0"/>
                </a:moveTo>
                <a:lnTo>
                  <a:pt x="38100" y="0"/>
                </a:lnTo>
                <a:lnTo>
                  <a:pt x="38100" y="361950"/>
                </a:lnTo>
                <a:lnTo>
                  <a:pt x="76200" y="361950"/>
                </a:lnTo>
                <a:lnTo>
                  <a:pt x="76200" y="0"/>
                </a:lnTo>
                <a:close/>
              </a:path>
              <a:path w="114300" h="457200">
                <a:moveTo>
                  <a:pt x="114300" y="342900"/>
                </a:moveTo>
                <a:lnTo>
                  <a:pt x="76200" y="342900"/>
                </a:lnTo>
                <a:lnTo>
                  <a:pt x="76200" y="361950"/>
                </a:lnTo>
                <a:lnTo>
                  <a:pt x="104775" y="361950"/>
                </a:lnTo>
                <a:lnTo>
                  <a:pt x="114300" y="342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95165" y="5317997"/>
            <a:ext cx="847725" cy="474345"/>
          </a:xfrm>
          <a:custGeom>
            <a:avLst/>
            <a:gdLst/>
            <a:ahLst/>
            <a:cxnLst/>
            <a:rect l="l" t="t" r="r" b="b"/>
            <a:pathLst>
              <a:path w="847725" h="474345">
                <a:moveTo>
                  <a:pt x="73025" y="369061"/>
                </a:moveTo>
                <a:lnTo>
                  <a:pt x="0" y="473963"/>
                </a:lnTo>
                <a:lnTo>
                  <a:pt x="127762" y="469404"/>
                </a:lnTo>
                <a:lnTo>
                  <a:pt x="114488" y="445071"/>
                </a:lnTo>
                <a:lnTo>
                  <a:pt x="92710" y="445071"/>
                </a:lnTo>
                <a:lnTo>
                  <a:pt x="74549" y="411632"/>
                </a:lnTo>
                <a:lnTo>
                  <a:pt x="91270" y="402509"/>
                </a:lnTo>
                <a:lnTo>
                  <a:pt x="73025" y="369061"/>
                </a:lnTo>
                <a:close/>
              </a:path>
              <a:path w="847725" h="474345">
                <a:moveTo>
                  <a:pt x="91270" y="402509"/>
                </a:moveTo>
                <a:lnTo>
                  <a:pt x="74549" y="411632"/>
                </a:lnTo>
                <a:lnTo>
                  <a:pt x="92710" y="445071"/>
                </a:lnTo>
                <a:lnTo>
                  <a:pt x="109494" y="435917"/>
                </a:lnTo>
                <a:lnTo>
                  <a:pt x="91270" y="402509"/>
                </a:lnTo>
                <a:close/>
              </a:path>
              <a:path w="847725" h="474345">
                <a:moveTo>
                  <a:pt x="109494" y="435917"/>
                </a:moveTo>
                <a:lnTo>
                  <a:pt x="92710" y="445071"/>
                </a:lnTo>
                <a:lnTo>
                  <a:pt x="114488" y="445071"/>
                </a:lnTo>
                <a:lnTo>
                  <a:pt x="109494" y="435917"/>
                </a:lnTo>
                <a:close/>
              </a:path>
              <a:path w="847725" h="474345">
                <a:moveTo>
                  <a:pt x="829056" y="0"/>
                </a:moveTo>
                <a:lnTo>
                  <a:pt x="91270" y="402509"/>
                </a:lnTo>
                <a:lnTo>
                  <a:pt x="109494" y="435917"/>
                </a:lnTo>
                <a:lnTo>
                  <a:pt x="847344" y="33527"/>
                </a:lnTo>
                <a:lnTo>
                  <a:pt x="8290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91021" y="5317997"/>
            <a:ext cx="847725" cy="474345"/>
          </a:xfrm>
          <a:custGeom>
            <a:avLst/>
            <a:gdLst/>
            <a:ahLst/>
            <a:cxnLst/>
            <a:rect l="l" t="t" r="r" b="b"/>
            <a:pathLst>
              <a:path w="847725" h="474345">
                <a:moveTo>
                  <a:pt x="737849" y="435917"/>
                </a:moveTo>
                <a:lnTo>
                  <a:pt x="719581" y="469404"/>
                </a:lnTo>
                <a:lnTo>
                  <a:pt x="847344" y="473963"/>
                </a:lnTo>
                <a:lnTo>
                  <a:pt x="827231" y="445071"/>
                </a:lnTo>
                <a:lnTo>
                  <a:pt x="754633" y="445071"/>
                </a:lnTo>
                <a:lnTo>
                  <a:pt x="737849" y="435917"/>
                </a:lnTo>
                <a:close/>
              </a:path>
              <a:path w="847725" h="474345">
                <a:moveTo>
                  <a:pt x="756073" y="402509"/>
                </a:moveTo>
                <a:lnTo>
                  <a:pt x="737849" y="435917"/>
                </a:lnTo>
                <a:lnTo>
                  <a:pt x="754633" y="445071"/>
                </a:lnTo>
                <a:lnTo>
                  <a:pt x="772795" y="411632"/>
                </a:lnTo>
                <a:lnTo>
                  <a:pt x="756073" y="402509"/>
                </a:lnTo>
                <a:close/>
              </a:path>
              <a:path w="847725" h="474345">
                <a:moveTo>
                  <a:pt x="774319" y="369061"/>
                </a:moveTo>
                <a:lnTo>
                  <a:pt x="756073" y="402509"/>
                </a:lnTo>
                <a:lnTo>
                  <a:pt x="772795" y="411632"/>
                </a:lnTo>
                <a:lnTo>
                  <a:pt x="754633" y="445071"/>
                </a:lnTo>
                <a:lnTo>
                  <a:pt x="827231" y="445071"/>
                </a:lnTo>
                <a:lnTo>
                  <a:pt x="774319" y="369061"/>
                </a:lnTo>
                <a:close/>
              </a:path>
              <a:path w="847725" h="474345">
                <a:moveTo>
                  <a:pt x="18287" y="0"/>
                </a:moveTo>
                <a:lnTo>
                  <a:pt x="0" y="33527"/>
                </a:lnTo>
                <a:lnTo>
                  <a:pt x="737849" y="435917"/>
                </a:lnTo>
                <a:lnTo>
                  <a:pt x="756073" y="402509"/>
                </a:lnTo>
                <a:lnTo>
                  <a:pt x="182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376165" y="3353561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47565" y="3505961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147565" y="2667761"/>
            <a:ext cx="0" cy="838200"/>
          </a:xfrm>
          <a:custGeom>
            <a:avLst/>
            <a:gdLst/>
            <a:ahLst/>
            <a:cxnLst/>
            <a:rect l="l" t="t" r="r" b="b"/>
            <a:pathLst>
              <a:path h="838200">
                <a:moveTo>
                  <a:pt x="0" y="83820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47565" y="2667761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19015" y="266776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38100"/>
                </a:moveTo>
                <a:lnTo>
                  <a:pt x="0" y="38100"/>
                </a:lnTo>
                <a:lnTo>
                  <a:pt x="57150" y="152400"/>
                </a:lnTo>
                <a:lnTo>
                  <a:pt x="104775" y="57150"/>
                </a:lnTo>
                <a:lnTo>
                  <a:pt x="38100" y="57150"/>
                </a:lnTo>
                <a:lnTo>
                  <a:pt x="38100" y="38100"/>
                </a:lnTo>
                <a:close/>
              </a:path>
              <a:path w="114300" h="152400">
                <a:moveTo>
                  <a:pt x="76200" y="0"/>
                </a:moveTo>
                <a:lnTo>
                  <a:pt x="38100" y="0"/>
                </a:lnTo>
                <a:lnTo>
                  <a:pt x="38100" y="57150"/>
                </a:lnTo>
                <a:lnTo>
                  <a:pt x="76200" y="57150"/>
                </a:lnTo>
                <a:lnTo>
                  <a:pt x="76200" y="0"/>
                </a:lnTo>
                <a:close/>
              </a:path>
              <a:path w="114300" h="152400">
                <a:moveTo>
                  <a:pt x="114300" y="38100"/>
                </a:moveTo>
                <a:lnTo>
                  <a:pt x="76200" y="38100"/>
                </a:lnTo>
                <a:lnTo>
                  <a:pt x="76200" y="57150"/>
                </a:lnTo>
                <a:lnTo>
                  <a:pt x="104775" y="57150"/>
                </a:lnTo>
                <a:lnTo>
                  <a:pt x="114300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76165" y="4344161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47565" y="4496561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147565" y="3658361"/>
            <a:ext cx="0" cy="838200"/>
          </a:xfrm>
          <a:custGeom>
            <a:avLst/>
            <a:gdLst/>
            <a:ahLst/>
            <a:cxnLst/>
            <a:rect l="l" t="t" r="r" b="b"/>
            <a:pathLst>
              <a:path h="838200">
                <a:moveTo>
                  <a:pt x="0" y="83820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47565" y="3658361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19015" y="365836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38100"/>
                </a:moveTo>
                <a:lnTo>
                  <a:pt x="0" y="38100"/>
                </a:lnTo>
                <a:lnTo>
                  <a:pt x="57150" y="152400"/>
                </a:lnTo>
                <a:lnTo>
                  <a:pt x="104775" y="57150"/>
                </a:lnTo>
                <a:lnTo>
                  <a:pt x="38100" y="57150"/>
                </a:lnTo>
                <a:lnTo>
                  <a:pt x="38100" y="38100"/>
                </a:lnTo>
                <a:close/>
              </a:path>
              <a:path w="114300" h="152400">
                <a:moveTo>
                  <a:pt x="76200" y="0"/>
                </a:moveTo>
                <a:lnTo>
                  <a:pt x="38100" y="0"/>
                </a:lnTo>
                <a:lnTo>
                  <a:pt x="38100" y="57150"/>
                </a:lnTo>
                <a:lnTo>
                  <a:pt x="76200" y="57150"/>
                </a:lnTo>
                <a:lnTo>
                  <a:pt x="76200" y="0"/>
                </a:lnTo>
                <a:close/>
              </a:path>
              <a:path w="114300" h="152400">
                <a:moveTo>
                  <a:pt x="114300" y="38100"/>
                </a:moveTo>
                <a:lnTo>
                  <a:pt x="76200" y="38100"/>
                </a:lnTo>
                <a:lnTo>
                  <a:pt x="76200" y="57150"/>
                </a:lnTo>
                <a:lnTo>
                  <a:pt x="104775" y="57150"/>
                </a:lnTo>
                <a:lnTo>
                  <a:pt x="114300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09365" y="6325361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852166" y="6630161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4571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52166" y="2591561"/>
            <a:ext cx="0" cy="4038600"/>
          </a:xfrm>
          <a:custGeom>
            <a:avLst/>
            <a:gdLst/>
            <a:ahLst/>
            <a:cxnLst/>
            <a:rect l="l" t="t" r="r" b="b"/>
            <a:pathLst>
              <a:path h="4038600">
                <a:moveTo>
                  <a:pt x="0" y="403860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52166" y="2591561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>
                <a:moveTo>
                  <a:pt x="0" y="0"/>
                </a:moveTo>
                <a:lnTo>
                  <a:pt x="1752599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547615" y="2591561"/>
            <a:ext cx="1143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120898" y="5431989"/>
            <a:ext cx="1709420" cy="81280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15"/>
              </a:spcBef>
            </a:pPr>
            <a:r>
              <a:rPr sz="20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B5</a:t>
            </a:r>
            <a:endParaRPr sz="2000">
              <a:latin typeface="Times New Roman"/>
              <a:cs typeface="Times New Roman"/>
            </a:endParaRPr>
          </a:p>
          <a:p>
            <a:pPr marL="227965">
              <a:lnSpc>
                <a:spcPct val="100000"/>
              </a:lnSpc>
              <a:spcBef>
                <a:spcPts val="500"/>
              </a:spcBef>
              <a:tabLst>
                <a:tab pos="905510" algn="l"/>
              </a:tabLst>
            </a:pP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2400" b="1" spc="-7" baseline="-15625" dirty="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a =</a:t>
            </a:r>
            <a:r>
              <a:rPr sz="24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c2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43903" y="4900421"/>
            <a:ext cx="777240" cy="1344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B4</a:t>
            </a:r>
            <a:endParaRPr sz="2400">
              <a:latin typeface="Times New Roman"/>
              <a:cs typeface="Times New Roman"/>
            </a:endParaRPr>
          </a:p>
          <a:p>
            <a:pPr marL="415925">
              <a:lnSpc>
                <a:spcPct val="100000"/>
              </a:lnSpc>
              <a:spcBef>
                <a:spcPts val="1725"/>
              </a:spcBef>
            </a:pPr>
            <a:r>
              <a:rPr sz="20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B6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64832" y="3833241"/>
            <a:ext cx="380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B3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64832" y="2918282"/>
            <a:ext cx="3803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B2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64832" y="1699386"/>
            <a:ext cx="380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B1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3339" y="597153"/>
            <a:ext cx="9429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例</a:t>
            </a:r>
            <a:r>
              <a:rPr sz="3200" b="1" dirty="0">
                <a:solidFill>
                  <a:srgbClr val="FFFF66"/>
                </a:solidFill>
                <a:latin typeface="Times New Roman"/>
                <a:cs typeface="Times New Roman"/>
              </a:rPr>
              <a:t>8.6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74367" y="597153"/>
            <a:ext cx="24765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设有如下流图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074158" y="1245869"/>
            <a:ext cx="361315" cy="360045"/>
          </a:xfrm>
          <a:custGeom>
            <a:avLst/>
            <a:gdLst/>
            <a:ahLst/>
            <a:cxnLst/>
            <a:rect l="l" t="t" r="r" b="b"/>
            <a:pathLst>
              <a:path w="361314" h="360044">
                <a:moveTo>
                  <a:pt x="0" y="179831"/>
                </a:moveTo>
                <a:lnTo>
                  <a:pt x="6454" y="132027"/>
                </a:lnTo>
                <a:lnTo>
                  <a:pt x="24666" y="89069"/>
                </a:lnTo>
                <a:lnTo>
                  <a:pt x="52911" y="52673"/>
                </a:lnTo>
                <a:lnTo>
                  <a:pt x="89464" y="24553"/>
                </a:lnTo>
                <a:lnTo>
                  <a:pt x="132600" y="6424"/>
                </a:lnTo>
                <a:lnTo>
                  <a:pt x="180593" y="0"/>
                </a:lnTo>
                <a:lnTo>
                  <a:pt x="228587" y="6424"/>
                </a:lnTo>
                <a:lnTo>
                  <a:pt x="271723" y="24553"/>
                </a:lnTo>
                <a:lnTo>
                  <a:pt x="308276" y="52673"/>
                </a:lnTo>
                <a:lnTo>
                  <a:pt x="336521" y="89069"/>
                </a:lnTo>
                <a:lnTo>
                  <a:pt x="354733" y="132027"/>
                </a:lnTo>
                <a:lnTo>
                  <a:pt x="361188" y="179831"/>
                </a:lnTo>
                <a:lnTo>
                  <a:pt x="354733" y="227636"/>
                </a:lnTo>
                <a:lnTo>
                  <a:pt x="336521" y="270594"/>
                </a:lnTo>
                <a:lnTo>
                  <a:pt x="308276" y="306990"/>
                </a:lnTo>
                <a:lnTo>
                  <a:pt x="271723" y="335110"/>
                </a:lnTo>
                <a:lnTo>
                  <a:pt x="228587" y="353239"/>
                </a:lnTo>
                <a:lnTo>
                  <a:pt x="180593" y="359663"/>
                </a:lnTo>
                <a:lnTo>
                  <a:pt x="132600" y="353239"/>
                </a:lnTo>
                <a:lnTo>
                  <a:pt x="89464" y="335110"/>
                </a:lnTo>
                <a:lnTo>
                  <a:pt x="52911" y="306990"/>
                </a:lnTo>
                <a:lnTo>
                  <a:pt x="24666" y="270594"/>
                </a:lnTo>
                <a:lnTo>
                  <a:pt x="6454" y="227636"/>
                </a:lnTo>
                <a:lnTo>
                  <a:pt x="0" y="17983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135117" y="2908554"/>
            <a:ext cx="360045" cy="361315"/>
          </a:xfrm>
          <a:custGeom>
            <a:avLst/>
            <a:gdLst/>
            <a:ahLst/>
            <a:cxnLst/>
            <a:rect l="l" t="t" r="r" b="b"/>
            <a:pathLst>
              <a:path w="360045" h="361314">
                <a:moveTo>
                  <a:pt x="0" y="180594"/>
                </a:moveTo>
                <a:lnTo>
                  <a:pt x="6424" y="132600"/>
                </a:lnTo>
                <a:lnTo>
                  <a:pt x="24553" y="89464"/>
                </a:lnTo>
                <a:lnTo>
                  <a:pt x="52673" y="52911"/>
                </a:lnTo>
                <a:lnTo>
                  <a:pt x="89069" y="24666"/>
                </a:lnTo>
                <a:lnTo>
                  <a:pt x="132027" y="6454"/>
                </a:lnTo>
                <a:lnTo>
                  <a:pt x="179832" y="0"/>
                </a:lnTo>
                <a:lnTo>
                  <a:pt x="227636" y="6454"/>
                </a:lnTo>
                <a:lnTo>
                  <a:pt x="270594" y="24666"/>
                </a:lnTo>
                <a:lnTo>
                  <a:pt x="306990" y="52911"/>
                </a:lnTo>
                <a:lnTo>
                  <a:pt x="335110" y="89464"/>
                </a:lnTo>
                <a:lnTo>
                  <a:pt x="353239" y="132600"/>
                </a:lnTo>
                <a:lnTo>
                  <a:pt x="359664" y="180594"/>
                </a:lnTo>
                <a:lnTo>
                  <a:pt x="353239" y="228587"/>
                </a:lnTo>
                <a:lnTo>
                  <a:pt x="335110" y="271723"/>
                </a:lnTo>
                <a:lnTo>
                  <a:pt x="306990" y="308276"/>
                </a:lnTo>
                <a:lnTo>
                  <a:pt x="270594" y="336521"/>
                </a:lnTo>
                <a:lnTo>
                  <a:pt x="227636" y="354733"/>
                </a:lnTo>
                <a:lnTo>
                  <a:pt x="179832" y="361188"/>
                </a:lnTo>
                <a:lnTo>
                  <a:pt x="132027" y="354733"/>
                </a:lnTo>
                <a:lnTo>
                  <a:pt x="89069" y="336521"/>
                </a:lnTo>
                <a:lnTo>
                  <a:pt x="52673" y="308276"/>
                </a:lnTo>
                <a:lnTo>
                  <a:pt x="24553" y="271723"/>
                </a:lnTo>
                <a:lnTo>
                  <a:pt x="6424" y="228587"/>
                </a:lnTo>
                <a:lnTo>
                  <a:pt x="0" y="18059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100065" y="1643633"/>
            <a:ext cx="360045" cy="361315"/>
          </a:xfrm>
          <a:custGeom>
            <a:avLst/>
            <a:gdLst/>
            <a:ahLst/>
            <a:cxnLst/>
            <a:rect l="l" t="t" r="r" b="b"/>
            <a:pathLst>
              <a:path w="360045" h="361314">
                <a:moveTo>
                  <a:pt x="0" y="180593"/>
                </a:moveTo>
                <a:lnTo>
                  <a:pt x="6424" y="132600"/>
                </a:lnTo>
                <a:lnTo>
                  <a:pt x="24553" y="89464"/>
                </a:lnTo>
                <a:lnTo>
                  <a:pt x="52673" y="52911"/>
                </a:lnTo>
                <a:lnTo>
                  <a:pt x="89069" y="24666"/>
                </a:lnTo>
                <a:lnTo>
                  <a:pt x="132027" y="6454"/>
                </a:lnTo>
                <a:lnTo>
                  <a:pt x="179832" y="0"/>
                </a:lnTo>
                <a:lnTo>
                  <a:pt x="227636" y="6454"/>
                </a:lnTo>
                <a:lnTo>
                  <a:pt x="270594" y="24666"/>
                </a:lnTo>
                <a:lnTo>
                  <a:pt x="306990" y="52911"/>
                </a:lnTo>
                <a:lnTo>
                  <a:pt x="335110" y="89464"/>
                </a:lnTo>
                <a:lnTo>
                  <a:pt x="353239" y="132600"/>
                </a:lnTo>
                <a:lnTo>
                  <a:pt x="359663" y="180593"/>
                </a:lnTo>
                <a:lnTo>
                  <a:pt x="353239" y="228587"/>
                </a:lnTo>
                <a:lnTo>
                  <a:pt x="335110" y="271723"/>
                </a:lnTo>
                <a:lnTo>
                  <a:pt x="306990" y="308276"/>
                </a:lnTo>
                <a:lnTo>
                  <a:pt x="270594" y="336521"/>
                </a:lnTo>
                <a:lnTo>
                  <a:pt x="227636" y="354733"/>
                </a:lnTo>
                <a:lnTo>
                  <a:pt x="179832" y="361188"/>
                </a:lnTo>
                <a:lnTo>
                  <a:pt x="132027" y="354733"/>
                </a:lnTo>
                <a:lnTo>
                  <a:pt x="89069" y="336521"/>
                </a:lnTo>
                <a:lnTo>
                  <a:pt x="52673" y="308276"/>
                </a:lnTo>
                <a:lnTo>
                  <a:pt x="24553" y="271723"/>
                </a:lnTo>
                <a:lnTo>
                  <a:pt x="6424" y="228587"/>
                </a:lnTo>
                <a:lnTo>
                  <a:pt x="0" y="180593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097017" y="392049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179832"/>
                </a:moveTo>
                <a:lnTo>
                  <a:pt x="6424" y="132027"/>
                </a:lnTo>
                <a:lnTo>
                  <a:pt x="24553" y="89069"/>
                </a:lnTo>
                <a:lnTo>
                  <a:pt x="52673" y="52673"/>
                </a:lnTo>
                <a:lnTo>
                  <a:pt x="89069" y="24553"/>
                </a:lnTo>
                <a:lnTo>
                  <a:pt x="132027" y="6424"/>
                </a:lnTo>
                <a:lnTo>
                  <a:pt x="179832" y="0"/>
                </a:lnTo>
                <a:lnTo>
                  <a:pt x="227636" y="6424"/>
                </a:lnTo>
                <a:lnTo>
                  <a:pt x="270594" y="24553"/>
                </a:lnTo>
                <a:lnTo>
                  <a:pt x="306990" y="52673"/>
                </a:lnTo>
                <a:lnTo>
                  <a:pt x="335110" y="89069"/>
                </a:lnTo>
                <a:lnTo>
                  <a:pt x="353239" y="132027"/>
                </a:lnTo>
                <a:lnTo>
                  <a:pt x="359664" y="179832"/>
                </a:lnTo>
                <a:lnTo>
                  <a:pt x="353239" y="227636"/>
                </a:lnTo>
                <a:lnTo>
                  <a:pt x="335110" y="270594"/>
                </a:lnTo>
                <a:lnTo>
                  <a:pt x="306990" y="306990"/>
                </a:lnTo>
                <a:lnTo>
                  <a:pt x="270594" y="335110"/>
                </a:lnTo>
                <a:lnTo>
                  <a:pt x="227636" y="353239"/>
                </a:lnTo>
                <a:lnTo>
                  <a:pt x="179832" y="359664"/>
                </a:lnTo>
                <a:lnTo>
                  <a:pt x="132027" y="353239"/>
                </a:lnTo>
                <a:lnTo>
                  <a:pt x="89069" y="335110"/>
                </a:lnTo>
                <a:lnTo>
                  <a:pt x="52673" y="306990"/>
                </a:lnTo>
                <a:lnTo>
                  <a:pt x="24553" y="270594"/>
                </a:lnTo>
                <a:lnTo>
                  <a:pt x="6424" y="227636"/>
                </a:lnTo>
                <a:lnTo>
                  <a:pt x="0" y="179832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1701164" y="11378"/>
            <a:ext cx="1895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2000" u="none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u="none" dirty="0">
                <a:latin typeface="Times New Roman"/>
                <a:cs typeface="Times New Roman"/>
              </a:rPr>
              <a:t>h8	</a:t>
            </a:r>
            <a:r>
              <a:rPr u="none" spc="10" dirty="0"/>
              <a:t>代码优化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152135" y="11378"/>
            <a:ext cx="2670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522976" y="2819654"/>
            <a:ext cx="439547" cy="4403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498591" y="3863594"/>
            <a:ext cx="444246" cy="43878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66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70823"/>
            <a:ext cx="8325484" cy="2707005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421005" indent="-408940">
              <a:lnSpc>
                <a:spcPct val="100000"/>
              </a:lnSpc>
              <a:spcBef>
                <a:spcPts val="1814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421005" algn="l"/>
                <a:tab pos="421640" algn="l"/>
                <a:tab pos="1951355" algn="l"/>
              </a:tabLst>
            </a:pP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sz="3200" u="none" dirty="0">
                <a:solidFill>
                  <a:srgbClr val="FFFF00"/>
                </a:solidFill>
                <a:latin typeface="Times New Roman"/>
                <a:cs typeface="Times New Roman"/>
              </a:rPr>
              <a:t>8.6	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3200" u="none" spc="-5" dirty="0">
                <a:solidFill>
                  <a:srgbClr val="FFFFFF"/>
                </a:solidFill>
                <a:latin typeface="Times New Roman"/>
                <a:cs typeface="Times New Roman"/>
              </a:rPr>
              <a:t>ud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链）</a:t>
            </a:r>
            <a:endParaRPr sz="3200">
              <a:latin typeface="宋体"/>
              <a:cs typeface="宋体"/>
            </a:endParaRPr>
          </a:p>
          <a:p>
            <a:pPr marL="12700" marR="5080" indent="819785">
              <a:lnSpc>
                <a:spcPct val="135000"/>
              </a:lnSpc>
            </a:pP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假设在程序中</a:t>
            </a:r>
            <a:r>
              <a:rPr sz="3200" u="none" spc="5" dirty="0">
                <a:solidFill>
                  <a:srgbClr val="FFFFFF"/>
                </a:solidFill>
                <a:latin typeface="宋体"/>
                <a:cs typeface="宋体"/>
              </a:rPr>
              <a:t>某</a:t>
            </a: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点</a:t>
            </a:r>
            <a:r>
              <a:rPr sz="3200" u="none" spc="-5" dirty="0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sz="3200" u="none" spc="-10" dirty="0">
                <a:solidFill>
                  <a:srgbClr val="FFFF00"/>
                </a:solidFill>
                <a:latin typeface="宋体"/>
                <a:cs typeface="宋体"/>
              </a:rPr>
              <a:t>引</a:t>
            </a: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用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了变</a:t>
            </a:r>
            <a:r>
              <a:rPr sz="3200" u="none" spc="-1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3200" u="none" dirty="0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则 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把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中能</a:t>
            </a: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到达</a:t>
            </a:r>
            <a:r>
              <a:rPr sz="3200" u="none" spc="-5" dirty="0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sz="3200" u="none" dirty="0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sz="3200" u="none" spc="-10" dirty="0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sz="3200" u="none" spc="-5" dirty="0">
                <a:solidFill>
                  <a:srgbClr val="FFFF00"/>
                </a:solidFill>
                <a:latin typeface="宋体"/>
                <a:cs typeface="宋体"/>
              </a:rPr>
              <a:t>定值点</a:t>
            </a:r>
            <a:r>
              <a:rPr sz="3200" u="none" spc="-10" dirty="0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sz="3200" u="none" spc="-5" dirty="0">
                <a:solidFill>
                  <a:srgbClr val="FFFF00"/>
                </a:solidFill>
                <a:latin typeface="宋体"/>
                <a:cs typeface="宋体"/>
              </a:rPr>
              <a:t>全</a:t>
            </a:r>
            <a:r>
              <a:rPr sz="3200" u="none" spc="10" dirty="0">
                <a:solidFill>
                  <a:srgbClr val="FFFF00"/>
                </a:solidFill>
                <a:latin typeface="宋体"/>
                <a:cs typeface="宋体"/>
              </a:rPr>
              <a:t>体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sz="3200" u="none" spc="5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在 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引用点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引用─定值</a:t>
            </a:r>
            <a:r>
              <a:rPr sz="3200" u="none" spc="-5" dirty="0">
                <a:solidFill>
                  <a:srgbClr val="FFFF00"/>
                </a:solidFill>
                <a:latin typeface="宋体"/>
                <a:cs typeface="宋体"/>
              </a:rPr>
              <a:t>链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sz="3200" u="none" spc="-10" dirty="0">
                <a:solidFill>
                  <a:srgbClr val="FFFF00"/>
                </a:solidFill>
                <a:latin typeface="Times New Roman"/>
                <a:cs typeface="Times New Roman"/>
              </a:rPr>
              <a:t>ud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链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）。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5161" y="3544061"/>
            <a:ext cx="1714500" cy="71056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380"/>
              </a:spcBef>
              <a:tabLst>
                <a:tab pos="905510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:	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35073" y="3658361"/>
            <a:ext cx="475615" cy="485140"/>
          </a:xfrm>
          <a:custGeom>
            <a:avLst/>
            <a:gdLst/>
            <a:ahLst/>
            <a:cxnLst/>
            <a:rect l="l" t="t" r="r" b="b"/>
            <a:pathLst>
              <a:path w="475614" h="485139">
                <a:moveTo>
                  <a:pt x="0" y="242315"/>
                </a:moveTo>
                <a:lnTo>
                  <a:pt x="4829" y="193472"/>
                </a:lnTo>
                <a:lnTo>
                  <a:pt x="18680" y="147982"/>
                </a:lnTo>
                <a:lnTo>
                  <a:pt x="40598" y="106821"/>
                </a:lnTo>
                <a:lnTo>
                  <a:pt x="69627" y="70961"/>
                </a:lnTo>
                <a:lnTo>
                  <a:pt x="104812" y="41375"/>
                </a:lnTo>
                <a:lnTo>
                  <a:pt x="145196" y="19038"/>
                </a:lnTo>
                <a:lnTo>
                  <a:pt x="189825" y="4921"/>
                </a:lnTo>
                <a:lnTo>
                  <a:pt x="237744" y="0"/>
                </a:lnTo>
                <a:lnTo>
                  <a:pt x="285662" y="4921"/>
                </a:lnTo>
                <a:lnTo>
                  <a:pt x="330291" y="19038"/>
                </a:lnTo>
                <a:lnTo>
                  <a:pt x="370675" y="41375"/>
                </a:lnTo>
                <a:lnTo>
                  <a:pt x="405860" y="70961"/>
                </a:lnTo>
                <a:lnTo>
                  <a:pt x="434889" y="106821"/>
                </a:lnTo>
                <a:lnTo>
                  <a:pt x="456807" y="147982"/>
                </a:lnTo>
                <a:lnTo>
                  <a:pt x="470658" y="193472"/>
                </a:lnTo>
                <a:lnTo>
                  <a:pt x="475488" y="242315"/>
                </a:lnTo>
                <a:lnTo>
                  <a:pt x="470658" y="291159"/>
                </a:lnTo>
                <a:lnTo>
                  <a:pt x="456807" y="336649"/>
                </a:lnTo>
                <a:lnTo>
                  <a:pt x="434889" y="377810"/>
                </a:lnTo>
                <a:lnTo>
                  <a:pt x="405860" y="413670"/>
                </a:lnTo>
                <a:lnTo>
                  <a:pt x="370675" y="443256"/>
                </a:lnTo>
                <a:lnTo>
                  <a:pt x="330291" y="465593"/>
                </a:lnTo>
                <a:lnTo>
                  <a:pt x="285662" y="479710"/>
                </a:lnTo>
                <a:lnTo>
                  <a:pt x="237744" y="484631"/>
                </a:lnTo>
                <a:lnTo>
                  <a:pt x="189825" y="479710"/>
                </a:lnTo>
                <a:lnTo>
                  <a:pt x="145196" y="465593"/>
                </a:lnTo>
                <a:lnTo>
                  <a:pt x="104812" y="443256"/>
                </a:lnTo>
                <a:lnTo>
                  <a:pt x="69627" y="413670"/>
                </a:lnTo>
                <a:lnTo>
                  <a:pt x="40598" y="377810"/>
                </a:lnTo>
                <a:lnTo>
                  <a:pt x="18680" y="336649"/>
                </a:lnTo>
                <a:lnTo>
                  <a:pt x="4829" y="291159"/>
                </a:lnTo>
                <a:lnTo>
                  <a:pt x="0" y="24231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59073" y="3547109"/>
            <a:ext cx="1714500" cy="71056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380"/>
              </a:spcBef>
              <a:tabLst>
                <a:tab pos="905510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:	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77461" y="3661409"/>
            <a:ext cx="477520" cy="485140"/>
          </a:xfrm>
          <a:custGeom>
            <a:avLst/>
            <a:gdLst/>
            <a:ahLst/>
            <a:cxnLst/>
            <a:rect l="l" t="t" r="r" b="b"/>
            <a:pathLst>
              <a:path w="477520" h="485139">
                <a:moveTo>
                  <a:pt x="0" y="242315"/>
                </a:moveTo>
                <a:lnTo>
                  <a:pt x="4846" y="193472"/>
                </a:lnTo>
                <a:lnTo>
                  <a:pt x="18746" y="147982"/>
                </a:lnTo>
                <a:lnTo>
                  <a:pt x="40739" y="106821"/>
                </a:lnTo>
                <a:lnTo>
                  <a:pt x="69865" y="70961"/>
                </a:lnTo>
                <a:lnTo>
                  <a:pt x="105165" y="41375"/>
                </a:lnTo>
                <a:lnTo>
                  <a:pt x="145678" y="19038"/>
                </a:lnTo>
                <a:lnTo>
                  <a:pt x="190445" y="4921"/>
                </a:lnTo>
                <a:lnTo>
                  <a:pt x="238505" y="0"/>
                </a:lnTo>
                <a:lnTo>
                  <a:pt x="286566" y="4921"/>
                </a:lnTo>
                <a:lnTo>
                  <a:pt x="331333" y="19038"/>
                </a:lnTo>
                <a:lnTo>
                  <a:pt x="371846" y="41375"/>
                </a:lnTo>
                <a:lnTo>
                  <a:pt x="407146" y="70961"/>
                </a:lnTo>
                <a:lnTo>
                  <a:pt x="436272" y="106821"/>
                </a:lnTo>
                <a:lnTo>
                  <a:pt x="458265" y="147982"/>
                </a:lnTo>
                <a:lnTo>
                  <a:pt x="472165" y="193472"/>
                </a:lnTo>
                <a:lnTo>
                  <a:pt x="477012" y="242315"/>
                </a:lnTo>
                <a:lnTo>
                  <a:pt x="472165" y="291159"/>
                </a:lnTo>
                <a:lnTo>
                  <a:pt x="458265" y="336649"/>
                </a:lnTo>
                <a:lnTo>
                  <a:pt x="436272" y="377810"/>
                </a:lnTo>
                <a:lnTo>
                  <a:pt x="407146" y="413670"/>
                </a:lnTo>
                <a:lnTo>
                  <a:pt x="371846" y="443256"/>
                </a:lnTo>
                <a:lnTo>
                  <a:pt x="331333" y="465593"/>
                </a:lnTo>
                <a:lnTo>
                  <a:pt x="286566" y="479710"/>
                </a:lnTo>
                <a:lnTo>
                  <a:pt x="238505" y="484631"/>
                </a:lnTo>
                <a:lnTo>
                  <a:pt x="190445" y="479710"/>
                </a:lnTo>
                <a:lnTo>
                  <a:pt x="145678" y="465593"/>
                </a:lnTo>
                <a:lnTo>
                  <a:pt x="105165" y="443256"/>
                </a:lnTo>
                <a:lnTo>
                  <a:pt x="69865" y="413670"/>
                </a:lnTo>
                <a:lnTo>
                  <a:pt x="40739" y="377810"/>
                </a:lnTo>
                <a:lnTo>
                  <a:pt x="18746" y="336649"/>
                </a:lnTo>
                <a:lnTo>
                  <a:pt x="4846" y="291159"/>
                </a:lnTo>
                <a:lnTo>
                  <a:pt x="0" y="24231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77661" y="3547109"/>
            <a:ext cx="1714500" cy="71056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80"/>
              </a:spcBef>
              <a:tabLst>
                <a:tab pos="906144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:	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97573" y="3661409"/>
            <a:ext cx="475615" cy="485140"/>
          </a:xfrm>
          <a:custGeom>
            <a:avLst/>
            <a:gdLst/>
            <a:ahLst/>
            <a:cxnLst/>
            <a:rect l="l" t="t" r="r" b="b"/>
            <a:pathLst>
              <a:path w="475615" h="485139">
                <a:moveTo>
                  <a:pt x="0" y="242315"/>
                </a:moveTo>
                <a:lnTo>
                  <a:pt x="4829" y="193472"/>
                </a:lnTo>
                <a:lnTo>
                  <a:pt x="18680" y="147982"/>
                </a:lnTo>
                <a:lnTo>
                  <a:pt x="40598" y="106821"/>
                </a:lnTo>
                <a:lnTo>
                  <a:pt x="69627" y="70961"/>
                </a:lnTo>
                <a:lnTo>
                  <a:pt x="104812" y="41375"/>
                </a:lnTo>
                <a:lnTo>
                  <a:pt x="145196" y="19038"/>
                </a:lnTo>
                <a:lnTo>
                  <a:pt x="189825" y="4921"/>
                </a:lnTo>
                <a:lnTo>
                  <a:pt x="237744" y="0"/>
                </a:lnTo>
                <a:lnTo>
                  <a:pt x="285662" y="4921"/>
                </a:lnTo>
                <a:lnTo>
                  <a:pt x="330291" y="19038"/>
                </a:lnTo>
                <a:lnTo>
                  <a:pt x="370675" y="41375"/>
                </a:lnTo>
                <a:lnTo>
                  <a:pt x="405860" y="70961"/>
                </a:lnTo>
                <a:lnTo>
                  <a:pt x="434889" y="106821"/>
                </a:lnTo>
                <a:lnTo>
                  <a:pt x="456807" y="147982"/>
                </a:lnTo>
                <a:lnTo>
                  <a:pt x="470658" y="193472"/>
                </a:lnTo>
                <a:lnTo>
                  <a:pt x="475487" y="242315"/>
                </a:lnTo>
                <a:lnTo>
                  <a:pt x="470658" y="291159"/>
                </a:lnTo>
                <a:lnTo>
                  <a:pt x="456807" y="336649"/>
                </a:lnTo>
                <a:lnTo>
                  <a:pt x="434889" y="377810"/>
                </a:lnTo>
                <a:lnTo>
                  <a:pt x="405860" y="413670"/>
                </a:lnTo>
                <a:lnTo>
                  <a:pt x="370675" y="443256"/>
                </a:lnTo>
                <a:lnTo>
                  <a:pt x="330291" y="465593"/>
                </a:lnTo>
                <a:lnTo>
                  <a:pt x="285662" y="479710"/>
                </a:lnTo>
                <a:lnTo>
                  <a:pt x="237744" y="484631"/>
                </a:lnTo>
                <a:lnTo>
                  <a:pt x="189825" y="479710"/>
                </a:lnTo>
                <a:lnTo>
                  <a:pt x="145196" y="465593"/>
                </a:lnTo>
                <a:lnTo>
                  <a:pt x="104812" y="443256"/>
                </a:lnTo>
                <a:lnTo>
                  <a:pt x="69627" y="413670"/>
                </a:lnTo>
                <a:lnTo>
                  <a:pt x="40598" y="377810"/>
                </a:lnTo>
                <a:lnTo>
                  <a:pt x="18680" y="336649"/>
                </a:lnTo>
                <a:lnTo>
                  <a:pt x="4829" y="291159"/>
                </a:lnTo>
                <a:lnTo>
                  <a:pt x="0" y="24231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149473" y="5602325"/>
            <a:ext cx="14732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76910" algn="l"/>
              </a:tabLst>
            </a:pP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150" b="1" spc="-7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&lt;A&gt;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57905" y="5566409"/>
            <a:ext cx="1714500" cy="710565"/>
          </a:xfrm>
          <a:custGeom>
            <a:avLst/>
            <a:gdLst/>
            <a:ahLst/>
            <a:cxnLst/>
            <a:rect l="l" t="t" r="r" b="b"/>
            <a:pathLst>
              <a:path w="1714500" h="710564">
                <a:moveTo>
                  <a:pt x="0" y="710183"/>
                </a:moveTo>
                <a:lnTo>
                  <a:pt x="1714499" y="710183"/>
                </a:lnTo>
                <a:lnTo>
                  <a:pt x="1714499" y="0"/>
                </a:lnTo>
                <a:lnTo>
                  <a:pt x="0" y="0"/>
                </a:lnTo>
                <a:lnTo>
                  <a:pt x="0" y="71018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8701" y="4240021"/>
            <a:ext cx="1498600" cy="1326515"/>
          </a:xfrm>
          <a:custGeom>
            <a:avLst/>
            <a:gdLst/>
            <a:ahLst/>
            <a:cxnLst/>
            <a:rect l="l" t="t" r="r" b="b"/>
            <a:pathLst>
              <a:path w="1498600" h="1326514">
                <a:moveTo>
                  <a:pt x="25146" y="0"/>
                </a:moveTo>
                <a:lnTo>
                  <a:pt x="0" y="28447"/>
                </a:lnTo>
                <a:lnTo>
                  <a:pt x="114173" y="129412"/>
                </a:lnTo>
                <a:lnTo>
                  <a:pt x="139446" y="100837"/>
                </a:lnTo>
                <a:lnTo>
                  <a:pt x="25146" y="0"/>
                </a:lnTo>
                <a:close/>
              </a:path>
              <a:path w="1498600" h="1326514">
                <a:moveTo>
                  <a:pt x="225044" y="176529"/>
                </a:moveTo>
                <a:lnTo>
                  <a:pt x="199898" y="204977"/>
                </a:lnTo>
                <a:lnTo>
                  <a:pt x="314071" y="305942"/>
                </a:lnTo>
                <a:lnTo>
                  <a:pt x="339344" y="277367"/>
                </a:lnTo>
                <a:lnTo>
                  <a:pt x="225044" y="176529"/>
                </a:lnTo>
                <a:close/>
              </a:path>
              <a:path w="1498600" h="1326514">
                <a:moveTo>
                  <a:pt x="424942" y="353059"/>
                </a:moveTo>
                <a:lnTo>
                  <a:pt x="399796" y="381634"/>
                </a:lnTo>
                <a:lnTo>
                  <a:pt x="513969" y="482472"/>
                </a:lnTo>
                <a:lnTo>
                  <a:pt x="539242" y="453897"/>
                </a:lnTo>
                <a:lnTo>
                  <a:pt x="424942" y="353059"/>
                </a:lnTo>
                <a:close/>
              </a:path>
              <a:path w="1498600" h="1326514">
                <a:moveTo>
                  <a:pt x="624967" y="529589"/>
                </a:moveTo>
                <a:lnTo>
                  <a:pt x="599694" y="558164"/>
                </a:lnTo>
                <a:lnTo>
                  <a:pt x="713867" y="659002"/>
                </a:lnTo>
                <a:lnTo>
                  <a:pt x="739140" y="630427"/>
                </a:lnTo>
                <a:lnTo>
                  <a:pt x="624967" y="529589"/>
                </a:lnTo>
                <a:close/>
              </a:path>
              <a:path w="1498600" h="1326514">
                <a:moveTo>
                  <a:pt x="824865" y="706119"/>
                </a:moveTo>
                <a:lnTo>
                  <a:pt x="799592" y="734694"/>
                </a:lnTo>
                <a:lnTo>
                  <a:pt x="913892" y="835532"/>
                </a:lnTo>
                <a:lnTo>
                  <a:pt x="939038" y="806957"/>
                </a:lnTo>
                <a:lnTo>
                  <a:pt x="824865" y="706119"/>
                </a:lnTo>
                <a:close/>
              </a:path>
              <a:path w="1498600" h="1326514">
                <a:moveTo>
                  <a:pt x="1024763" y="882650"/>
                </a:moveTo>
                <a:lnTo>
                  <a:pt x="999490" y="911225"/>
                </a:lnTo>
                <a:lnTo>
                  <a:pt x="1113790" y="1012062"/>
                </a:lnTo>
                <a:lnTo>
                  <a:pt x="1138936" y="983488"/>
                </a:lnTo>
                <a:lnTo>
                  <a:pt x="1024763" y="882650"/>
                </a:lnTo>
                <a:close/>
              </a:path>
              <a:path w="1498600" h="1326514">
                <a:moveTo>
                  <a:pt x="1224661" y="1059180"/>
                </a:moveTo>
                <a:lnTo>
                  <a:pt x="1199388" y="1087755"/>
                </a:lnTo>
                <a:lnTo>
                  <a:pt x="1313688" y="1188592"/>
                </a:lnTo>
                <a:lnTo>
                  <a:pt x="1338834" y="1160017"/>
                </a:lnTo>
                <a:lnTo>
                  <a:pt x="1224661" y="1059180"/>
                </a:lnTo>
                <a:close/>
              </a:path>
              <a:path w="1498600" h="1326514">
                <a:moveTo>
                  <a:pt x="1400190" y="1265076"/>
                </a:moveTo>
                <a:lnTo>
                  <a:pt x="1375029" y="1293621"/>
                </a:lnTo>
                <a:lnTo>
                  <a:pt x="1498473" y="1326387"/>
                </a:lnTo>
                <a:lnTo>
                  <a:pt x="1478767" y="1277619"/>
                </a:lnTo>
                <a:lnTo>
                  <a:pt x="1414526" y="1277619"/>
                </a:lnTo>
                <a:lnTo>
                  <a:pt x="1400190" y="1265076"/>
                </a:lnTo>
                <a:close/>
              </a:path>
              <a:path w="1498600" h="1326514">
                <a:moveTo>
                  <a:pt x="1425413" y="1236463"/>
                </a:moveTo>
                <a:lnTo>
                  <a:pt x="1400190" y="1265076"/>
                </a:lnTo>
                <a:lnTo>
                  <a:pt x="1414526" y="1277619"/>
                </a:lnTo>
                <a:lnTo>
                  <a:pt x="1439672" y="1249044"/>
                </a:lnTo>
                <a:lnTo>
                  <a:pt x="1425413" y="1236463"/>
                </a:lnTo>
                <a:close/>
              </a:path>
              <a:path w="1498600" h="1326514">
                <a:moveTo>
                  <a:pt x="1450594" y="1207896"/>
                </a:moveTo>
                <a:lnTo>
                  <a:pt x="1425413" y="1236463"/>
                </a:lnTo>
                <a:lnTo>
                  <a:pt x="1439672" y="1249044"/>
                </a:lnTo>
                <a:lnTo>
                  <a:pt x="1414526" y="1277619"/>
                </a:lnTo>
                <a:lnTo>
                  <a:pt x="1478767" y="1277619"/>
                </a:lnTo>
                <a:lnTo>
                  <a:pt x="1450594" y="1207896"/>
                </a:lnTo>
                <a:close/>
              </a:path>
              <a:path w="1498600" h="1326514">
                <a:moveTo>
                  <a:pt x="1424559" y="1235709"/>
                </a:moveTo>
                <a:lnTo>
                  <a:pt x="1399286" y="1264284"/>
                </a:lnTo>
                <a:lnTo>
                  <a:pt x="1400190" y="1265076"/>
                </a:lnTo>
                <a:lnTo>
                  <a:pt x="1425413" y="1236463"/>
                </a:lnTo>
                <a:lnTo>
                  <a:pt x="1424559" y="1235709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91711" y="4254246"/>
            <a:ext cx="114300" cy="1312545"/>
          </a:xfrm>
          <a:custGeom>
            <a:avLst/>
            <a:gdLst/>
            <a:ahLst/>
            <a:cxnLst/>
            <a:rect l="l" t="t" r="r" b="b"/>
            <a:pathLst>
              <a:path w="114300" h="1312545">
                <a:moveTo>
                  <a:pt x="76200" y="0"/>
                </a:moveTo>
                <a:lnTo>
                  <a:pt x="38100" y="0"/>
                </a:lnTo>
                <a:lnTo>
                  <a:pt x="38100" y="152399"/>
                </a:lnTo>
                <a:lnTo>
                  <a:pt x="76200" y="152399"/>
                </a:lnTo>
                <a:lnTo>
                  <a:pt x="76200" y="0"/>
                </a:lnTo>
                <a:close/>
              </a:path>
              <a:path w="114300" h="1312545">
                <a:moveTo>
                  <a:pt x="76200" y="266699"/>
                </a:moveTo>
                <a:lnTo>
                  <a:pt x="38100" y="266699"/>
                </a:lnTo>
                <a:lnTo>
                  <a:pt x="38100" y="419099"/>
                </a:lnTo>
                <a:lnTo>
                  <a:pt x="76200" y="419099"/>
                </a:lnTo>
                <a:lnTo>
                  <a:pt x="76200" y="266699"/>
                </a:lnTo>
                <a:close/>
              </a:path>
              <a:path w="114300" h="1312545">
                <a:moveTo>
                  <a:pt x="76200" y="533399"/>
                </a:moveTo>
                <a:lnTo>
                  <a:pt x="38100" y="533399"/>
                </a:lnTo>
                <a:lnTo>
                  <a:pt x="38100" y="685799"/>
                </a:lnTo>
                <a:lnTo>
                  <a:pt x="76200" y="685799"/>
                </a:lnTo>
                <a:lnTo>
                  <a:pt x="76200" y="533399"/>
                </a:lnTo>
                <a:close/>
              </a:path>
              <a:path w="114300" h="1312545">
                <a:moveTo>
                  <a:pt x="76200" y="800099"/>
                </a:moveTo>
                <a:lnTo>
                  <a:pt x="38100" y="800099"/>
                </a:lnTo>
                <a:lnTo>
                  <a:pt x="38100" y="952499"/>
                </a:lnTo>
                <a:lnTo>
                  <a:pt x="76200" y="952499"/>
                </a:lnTo>
                <a:lnTo>
                  <a:pt x="76200" y="800099"/>
                </a:lnTo>
                <a:close/>
              </a:path>
              <a:path w="114300" h="1312545">
                <a:moveTo>
                  <a:pt x="38100" y="1197863"/>
                </a:moveTo>
                <a:lnTo>
                  <a:pt x="0" y="1197863"/>
                </a:lnTo>
                <a:lnTo>
                  <a:pt x="57150" y="1312163"/>
                </a:lnTo>
                <a:lnTo>
                  <a:pt x="104775" y="1216913"/>
                </a:lnTo>
                <a:lnTo>
                  <a:pt x="38100" y="1216913"/>
                </a:lnTo>
                <a:lnTo>
                  <a:pt x="38100" y="1197863"/>
                </a:lnTo>
                <a:close/>
              </a:path>
              <a:path w="114300" h="1312545">
                <a:moveTo>
                  <a:pt x="76200" y="1066799"/>
                </a:moveTo>
                <a:lnTo>
                  <a:pt x="38100" y="1066799"/>
                </a:lnTo>
                <a:lnTo>
                  <a:pt x="38100" y="1216913"/>
                </a:lnTo>
                <a:lnTo>
                  <a:pt x="76200" y="1216913"/>
                </a:lnTo>
                <a:lnTo>
                  <a:pt x="76200" y="1066799"/>
                </a:lnTo>
                <a:close/>
              </a:path>
              <a:path w="114300" h="1312545">
                <a:moveTo>
                  <a:pt x="114300" y="1197863"/>
                </a:moveTo>
                <a:lnTo>
                  <a:pt x="76200" y="1197863"/>
                </a:lnTo>
                <a:lnTo>
                  <a:pt x="76200" y="1216913"/>
                </a:lnTo>
                <a:lnTo>
                  <a:pt x="104775" y="1216913"/>
                </a:lnTo>
                <a:lnTo>
                  <a:pt x="114300" y="1197863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54473" y="4239386"/>
            <a:ext cx="1650364" cy="1327150"/>
          </a:xfrm>
          <a:custGeom>
            <a:avLst/>
            <a:gdLst/>
            <a:ahLst/>
            <a:cxnLst/>
            <a:rect l="l" t="t" r="r" b="b"/>
            <a:pathLst>
              <a:path w="1650364" h="1327150">
                <a:moveTo>
                  <a:pt x="1626362" y="0"/>
                </a:moveTo>
                <a:lnTo>
                  <a:pt x="1507489" y="95250"/>
                </a:lnTo>
                <a:lnTo>
                  <a:pt x="1531239" y="124968"/>
                </a:lnTo>
                <a:lnTo>
                  <a:pt x="1650238" y="29718"/>
                </a:lnTo>
                <a:lnTo>
                  <a:pt x="1626362" y="0"/>
                </a:lnTo>
                <a:close/>
              </a:path>
              <a:path w="1650364" h="1327150">
                <a:moveTo>
                  <a:pt x="1418209" y="166750"/>
                </a:moveTo>
                <a:lnTo>
                  <a:pt x="1299337" y="262000"/>
                </a:lnTo>
                <a:lnTo>
                  <a:pt x="1323086" y="291719"/>
                </a:lnTo>
                <a:lnTo>
                  <a:pt x="1442085" y="196469"/>
                </a:lnTo>
                <a:lnTo>
                  <a:pt x="1418209" y="166750"/>
                </a:lnTo>
                <a:close/>
              </a:path>
              <a:path w="1650364" h="1327150">
                <a:moveTo>
                  <a:pt x="1210055" y="333375"/>
                </a:moveTo>
                <a:lnTo>
                  <a:pt x="1091056" y="428751"/>
                </a:lnTo>
                <a:lnTo>
                  <a:pt x="1114933" y="458469"/>
                </a:lnTo>
                <a:lnTo>
                  <a:pt x="1233931" y="363219"/>
                </a:lnTo>
                <a:lnTo>
                  <a:pt x="1210055" y="333375"/>
                </a:lnTo>
                <a:close/>
              </a:path>
              <a:path w="1650364" h="1327150">
                <a:moveTo>
                  <a:pt x="1001902" y="500125"/>
                </a:moveTo>
                <a:lnTo>
                  <a:pt x="882903" y="595376"/>
                </a:lnTo>
                <a:lnTo>
                  <a:pt x="906779" y="625220"/>
                </a:lnTo>
                <a:lnTo>
                  <a:pt x="1025778" y="529844"/>
                </a:lnTo>
                <a:lnTo>
                  <a:pt x="1001902" y="500125"/>
                </a:lnTo>
                <a:close/>
              </a:path>
              <a:path w="1650364" h="1327150">
                <a:moveTo>
                  <a:pt x="793750" y="666876"/>
                </a:moveTo>
                <a:lnTo>
                  <a:pt x="674751" y="762126"/>
                </a:lnTo>
                <a:lnTo>
                  <a:pt x="698626" y="791844"/>
                </a:lnTo>
                <a:lnTo>
                  <a:pt x="817499" y="696594"/>
                </a:lnTo>
                <a:lnTo>
                  <a:pt x="793750" y="666876"/>
                </a:lnTo>
                <a:close/>
              </a:path>
              <a:path w="1650364" h="1327150">
                <a:moveTo>
                  <a:pt x="585597" y="833627"/>
                </a:moveTo>
                <a:lnTo>
                  <a:pt x="466598" y="928877"/>
                </a:lnTo>
                <a:lnTo>
                  <a:pt x="490474" y="958595"/>
                </a:lnTo>
                <a:lnTo>
                  <a:pt x="609346" y="863345"/>
                </a:lnTo>
                <a:lnTo>
                  <a:pt x="585597" y="833627"/>
                </a:lnTo>
                <a:close/>
              </a:path>
              <a:path w="1650364" h="1327150">
                <a:moveTo>
                  <a:pt x="377443" y="1000379"/>
                </a:moveTo>
                <a:lnTo>
                  <a:pt x="258445" y="1095629"/>
                </a:lnTo>
                <a:lnTo>
                  <a:pt x="282321" y="1125347"/>
                </a:lnTo>
                <a:lnTo>
                  <a:pt x="401192" y="1030097"/>
                </a:lnTo>
                <a:lnTo>
                  <a:pt x="377443" y="1000379"/>
                </a:lnTo>
                <a:close/>
              </a:path>
              <a:path w="1650364" h="1327150">
                <a:moveTo>
                  <a:pt x="53466" y="1210945"/>
                </a:moveTo>
                <a:lnTo>
                  <a:pt x="0" y="1327023"/>
                </a:lnTo>
                <a:lnTo>
                  <a:pt x="124967" y="1300226"/>
                </a:lnTo>
                <a:lnTo>
                  <a:pt x="110627" y="1282319"/>
                </a:lnTo>
                <a:lnTo>
                  <a:pt x="86233" y="1282319"/>
                </a:lnTo>
                <a:lnTo>
                  <a:pt x="62484" y="1252601"/>
                </a:lnTo>
                <a:lnTo>
                  <a:pt x="77311" y="1240718"/>
                </a:lnTo>
                <a:lnTo>
                  <a:pt x="53466" y="1210945"/>
                </a:lnTo>
                <a:close/>
              </a:path>
              <a:path w="1650364" h="1327150">
                <a:moveTo>
                  <a:pt x="77311" y="1240718"/>
                </a:moveTo>
                <a:lnTo>
                  <a:pt x="62484" y="1252601"/>
                </a:lnTo>
                <a:lnTo>
                  <a:pt x="86233" y="1282319"/>
                </a:lnTo>
                <a:lnTo>
                  <a:pt x="101099" y="1270422"/>
                </a:lnTo>
                <a:lnTo>
                  <a:pt x="77311" y="1240718"/>
                </a:lnTo>
                <a:close/>
              </a:path>
              <a:path w="1650364" h="1327150">
                <a:moveTo>
                  <a:pt x="101099" y="1270422"/>
                </a:moveTo>
                <a:lnTo>
                  <a:pt x="86233" y="1282319"/>
                </a:lnTo>
                <a:lnTo>
                  <a:pt x="110627" y="1282319"/>
                </a:lnTo>
                <a:lnTo>
                  <a:pt x="101099" y="1270422"/>
                </a:lnTo>
                <a:close/>
              </a:path>
              <a:path w="1650364" h="1327150">
                <a:moveTo>
                  <a:pt x="169290" y="1167003"/>
                </a:moveTo>
                <a:lnTo>
                  <a:pt x="77311" y="1240718"/>
                </a:lnTo>
                <a:lnTo>
                  <a:pt x="101099" y="1270422"/>
                </a:lnTo>
                <a:lnTo>
                  <a:pt x="193039" y="1196848"/>
                </a:lnTo>
                <a:lnTo>
                  <a:pt x="169290" y="1167003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05855" y="5196840"/>
            <a:ext cx="3362325" cy="533400"/>
          </a:xfrm>
          <a:custGeom>
            <a:avLst/>
            <a:gdLst/>
            <a:ahLst/>
            <a:cxnLst/>
            <a:rect l="l" t="t" r="r" b="b"/>
            <a:pathLst>
              <a:path w="3362325" h="533400">
                <a:moveTo>
                  <a:pt x="0" y="533400"/>
                </a:moveTo>
                <a:lnTo>
                  <a:pt x="3361944" y="533400"/>
                </a:lnTo>
                <a:lnTo>
                  <a:pt x="3361944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759830" y="5233822"/>
            <a:ext cx="3160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800" b="1" baseline="12152" dirty="0">
                <a:latin typeface="Times New Roman"/>
                <a:cs typeface="Times New Roman"/>
              </a:rPr>
              <a:t>d</a:t>
            </a:r>
            <a:r>
              <a:rPr sz="2400" b="1" dirty="0">
                <a:latin typeface="Times New Roman"/>
                <a:cs typeface="Times New Roman"/>
              </a:rPr>
              <a:t>i-(A)ud</a:t>
            </a:r>
            <a:r>
              <a:rPr sz="5400" b="1" baseline="10802" dirty="0">
                <a:latin typeface="Times New Roman"/>
                <a:cs typeface="Times New Roman"/>
              </a:rPr>
              <a:t>={</a:t>
            </a:r>
            <a:r>
              <a:rPr sz="4800" b="1" baseline="12152" dirty="0">
                <a:latin typeface="Times New Roman"/>
                <a:cs typeface="Times New Roman"/>
              </a:rPr>
              <a:t>d</a:t>
            </a:r>
            <a:r>
              <a:rPr sz="3150" b="1" baseline="2645" dirty="0">
                <a:latin typeface="Times New Roman"/>
                <a:cs typeface="Times New Roman"/>
              </a:rPr>
              <a:t>1</a:t>
            </a:r>
            <a:r>
              <a:rPr sz="4800" b="1" baseline="12152" dirty="0">
                <a:latin typeface="Times New Roman"/>
                <a:cs typeface="Times New Roman"/>
              </a:rPr>
              <a:t>,d</a:t>
            </a:r>
            <a:r>
              <a:rPr sz="3150" b="1" baseline="2645" dirty="0">
                <a:latin typeface="Times New Roman"/>
                <a:cs typeface="Times New Roman"/>
              </a:rPr>
              <a:t>2</a:t>
            </a:r>
            <a:r>
              <a:rPr sz="4800" b="1" baseline="12152" dirty="0">
                <a:latin typeface="Times New Roman"/>
                <a:cs typeface="Times New Roman"/>
              </a:rPr>
              <a:t>,d</a:t>
            </a:r>
            <a:r>
              <a:rPr sz="3150" b="1" baseline="2645" dirty="0">
                <a:latin typeface="Times New Roman"/>
                <a:cs typeface="Times New Roman"/>
              </a:rPr>
              <a:t>3</a:t>
            </a:r>
            <a:r>
              <a:rPr sz="5400" b="1" baseline="10802" dirty="0">
                <a:latin typeface="Times New Roman"/>
                <a:cs typeface="Times New Roman"/>
              </a:rPr>
              <a:t>}</a:t>
            </a:r>
            <a:endParaRPr sz="5400" baseline="10802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701164" y="11378"/>
            <a:ext cx="6121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3463290" algn="l"/>
                <a:tab pos="3970654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8495" y="5000244"/>
            <a:ext cx="2306320" cy="1690370"/>
          </a:xfrm>
          <a:prstGeom prst="rect">
            <a:avLst/>
          </a:prstGeom>
          <a:ln w="57150">
            <a:solidFill>
              <a:srgbClr val="FF66FF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1440" marR="166370">
              <a:lnSpc>
                <a:spcPct val="120000"/>
              </a:lnSpc>
              <a:spcBef>
                <a:spcPts val="215"/>
              </a:spcBef>
            </a:pP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有此路径，  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且无对变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量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A 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的其他定值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797304" y="4458842"/>
            <a:ext cx="260985" cy="541655"/>
          </a:xfrm>
          <a:custGeom>
            <a:avLst/>
            <a:gdLst/>
            <a:ahLst/>
            <a:cxnLst/>
            <a:rect l="l" t="t" r="r" b="b"/>
            <a:pathLst>
              <a:path w="260985" h="541654">
                <a:moveTo>
                  <a:pt x="0" y="350138"/>
                </a:moveTo>
                <a:lnTo>
                  <a:pt x="13207" y="541400"/>
                </a:lnTo>
                <a:lnTo>
                  <a:pt x="153098" y="420496"/>
                </a:lnTo>
                <a:lnTo>
                  <a:pt x="94487" y="420496"/>
                </a:lnTo>
                <a:lnTo>
                  <a:pt x="41782" y="398525"/>
                </a:lnTo>
                <a:lnTo>
                  <a:pt x="52779" y="372123"/>
                </a:lnTo>
                <a:lnTo>
                  <a:pt x="0" y="350138"/>
                </a:lnTo>
                <a:close/>
              </a:path>
              <a:path w="260985" h="541654">
                <a:moveTo>
                  <a:pt x="52779" y="372123"/>
                </a:moveTo>
                <a:lnTo>
                  <a:pt x="41782" y="398525"/>
                </a:lnTo>
                <a:lnTo>
                  <a:pt x="94487" y="420496"/>
                </a:lnTo>
                <a:lnTo>
                  <a:pt x="105501" y="394083"/>
                </a:lnTo>
                <a:lnTo>
                  <a:pt x="52779" y="372123"/>
                </a:lnTo>
                <a:close/>
              </a:path>
              <a:path w="260985" h="541654">
                <a:moveTo>
                  <a:pt x="105501" y="394083"/>
                </a:moveTo>
                <a:lnTo>
                  <a:pt x="94487" y="420496"/>
                </a:lnTo>
                <a:lnTo>
                  <a:pt x="153098" y="420496"/>
                </a:lnTo>
                <a:lnTo>
                  <a:pt x="158241" y="416051"/>
                </a:lnTo>
                <a:lnTo>
                  <a:pt x="105501" y="394083"/>
                </a:lnTo>
                <a:close/>
              </a:path>
              <a:path w="260985" h="541654">
                <a:moveTo>
                  <a:pt x="207771" y="0"/>
                </a:moveTo>
                <a:lnTo>
                  <a:pt x="52779" y="372123"/>
                </a:lnTo>
                <a:lnTo>
                  <a:pt x="105501" y="394083"/>
                </a:lnTo>
                <a:lnTo>
                  <a:pt x="260603" y="22097"/>
                </a:lnTo>
                <a:lnTo>
                  <a:pt x="207771" y="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64307" y="4709414"/>
            <a:ext cx="1393190" cy="514984"/>
          </a:xfrm>
          <a:custGeom>
            <a:avLst/>
            <a:gdLst/>
            <a:ahLst/>
            <a:cxnLst/>
            <a:rect l="l" t="t" r="r" b="b"/>
            <a:pathLst>
              <a:path w="1393189" h="514985">
                <a:moveTo>
                  <a:pt x="135636" y="351917"/>
                </a:moveTo>
                <a:lnTo>
                  <a:pt x="0" y="487425"/>
                </a:lnTo>
                <a:lnTo>
                  <a:pt x="189737" y="514604"/>
                </a:lnTo>
                <a:lnTo>
                  <a:pt x="174702" y="469392"/>
                </a:lnTo>
                <a:lnTo>
                  <a:pt x="144653" y="469392"/>
                </a:lnTo>
                <a:lnTo>
                  <a:pt x="126492" y="415163"/>
                </a:lnTo>
                <a:lnTo>
                  <a:pt x="153663" y="406126"/>
                </a:lnTo>
                <a:lnTo>
                  <a:pt x="135636" y="351917"/>
                </a:lnTo>
                <a:close/>
              </a:path>
              <a:path w="1393189" h="514985">
                <a:moveTo>
                  <a:pt x="153663" y="406126"/>
                </a:moveTo>
                <a:lnTo>
                  <a:pt x="126492" y="415163"/>
                </a:lnTo>
                <a:lnTo>
                  <a:pt x="144653" y="469392"/>
                </a:lnTo>
                <a:lnTo>
                  <a:pt x="171709" y="460392"/>
                </a:lnTo>
                <a:lnTo>
                  <a:pt x="153663" y="406126"/>
                </a:lnTo>
                <a:close/>
              </a:path>
              <a:path w="1393189" h="514985">
                <a:moveTo>
                  <a:pt x="171709" y="460392"/>
                </a:moveTo>
                <a:lnTo>
                  <a:pt x="144653" y="469392"/>
                </a:lnTo>
                <a:lnTo>
                  <a:pt x="174702" y="469392"/>
                </a:lnTo>
                <a:lnTo>
                  <a:pt x="171709" y="460392"/>
                </a:lnTo>
                <a:close/>
              </a:path>
              <a:path w="1393189" h="514985">
                <a:moveTo>
                  <a:pt x="1374775" y="0"/>
                </a:moveTo>
                <a:lnTo>
                  <a:pt x="153663" y="406126"/>
                </a:lnTo>
                <a:lnTo>
                  <a:pt x="171709" y="460392"/>
                </a:lnTo>
                <a:lnTo>
                  <a:pt x="1392808" y="54229"/>
                </a:lnTo>
                <a:lnTo>
                  <a:pt x="1374775" y="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64307" y="4709033"/>
            <a:ext cx="3067685" cy="894715"/>
          </a:xfrm>
          <a:custGeom>
            <a:avLst/>
            <a:gdLst/>
            <a:ahLst/>
            <a:cxnLst/>
            <a:rect l="l" t="t" r="r" b="b"/>
            <a:pathLst>
              <a:path w="3067685" h="894714">
                <a:moveTo>
                  <a:pt x="143129" y="728980"/>
                </a:moveTo>
                <a:lnTo>
                  <a:pt x="0" y="856615"/>
                </a:lnTo>
                <a:lnTo>
                  <a:pt x="187960" y="894524"/>
                </a:lnTo>
                <a:lnTo>
                  <a:pt x="175045" y="846836"/>
                </a:lnTo>
                <a:lnTo>
                  <a:pt x="145415" y="846836"/>
                </a:lnTo>
                <a:lnTo>
                  <a:pt x="130429" y="791718"/>
                </a:lnTo>
                <a:lnTo>
                  <a:pt x="158089" y="784224"/>
                </a:lnTo>
                <a:lnTo>
                  <a:pt x="143129" y="728980"/>
                </a:lnTo>
                <a:close/>
              </a:path>
              <a:path w="3067685" h="894714">
                <a:moveTo>
                  <a:pt x="158089" y="784224"/>
                </a:moveTo>
                <a:lnTo>
                  <a:pt x="130429" y="791718"/>
                </a:lnTo>
                <a:lnTo>
                  <a:pt x="145415" y="846836"/>
                </a:lnTo>
                <a:lnTo>
                  <a:pt x="173020" y="839357"/>
                </a:lnTo>
                <a:lnTo>
                  <a:pt x="158089" y="784224"/>
                </a:lnTo>
                <a:close/>
              </a:path>
              <a:path w="3067685" h="894714">
                <a:moveTo>
                  <a:pt x="173020" y="839357"/>
                </a:moveTo>
                <a:lnTo>
                  <a:pt x="145415" y="846836"/>
                </a:lnTo>
                <a:lnTo>
                  <a:pt x="175045" y="846836"/>
                </a:lnTo>
                <a:lnTo>
                  <a:pt x="173020" y="839357"/>
                </a:lnTo>
                <a:close/>
              </a:path>
              <a:path w="3067685" h="894714">
                <a:moveTo>
                  <a:pt x="3052699" y="0"/>
                </a:moveTo>
                <a:lnTo>
                  <a:pt x="158089" y="784224"/>
                </a:lnTo>
                <a:lnTo>
                  <a:pt x="173020" y="839357"/>
                </a:lnTo>
                <a:lnTo>
                  <a:pt x="3067685" y="55118"/>
                </a:lnTo>
                <a:lnTo>
                  <a:pt x="3052699" y="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67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840" y="745616"/>
            <a:ext cx="69221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1045" algn="l"/>
              </a:tabLst>
            </a:pPr>
            <a:r>
              <a:rPr sz="3600" b="0" u="none" dirty="0">
                <a:solidFill>
                  <a:srgbClr val="66FFFF"/>
                </a:solidFill>
                <a:latin typeface="Wingdings"/>
                <a:cs typeface="Wingdings"/>
              </a:rPr>
              <a:t></a:t>
            </a:r>
            <a:r>
              <a:rPr sz="3600" b="0" u="none" dirty="0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sz="3200" u="none" spc="-10" dirty="0">
                <a:solidFill>
                  <a:srgbClr val="FFFF00"/>
                </a:solidFill>
                <a:latin typeface="Times New Roman"/>
                <a:cs typeface="Times New Roman"/>
              </a:rPr>
              <a:t>ud</a:t>
            </a: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链是相对于引用点的定值</a:t>
            </a:r>
            <a:r>
              <a:rPr sz="3200" u="none" spc="-15" dirty="0">
                <a:solidFill>
                  <a:srgbClr val="FFFF00"/>
                </a:solidFill>
                <a:latin typeface="宋体"/>
                <a:cs typeface="宋体"/>
              </a:rPr>
              <a:t>情</a:t>
            </a: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况。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242" y="1341729"/>
            <a:ext cx="7893684" cy="129413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变量</a:t>
            </a: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在点</a:t>
            </a:r>
            <a:r>
              <a:rPr sz="32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的引用的</a:t>
            </a:r>
            <a:r>
              <a:rPr sz="32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ud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链，</a:t>
            </a: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是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变</a:t>
            </a:r>
            <a:r>
              <a:rPr sz="3200" b="1" spc="10" dirty="0">
                <a:solidFill>
                  <a:srgbClr val="66FFFF"/>
                </a:solidFill>
                <a:latin typeface="宋体"/>
                <a:cs typeface="宋体"/>
              </a:rPr>
              <a:t>量</a:t>
            </a:r>
            <a:r>
              <a:rPr sz="32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引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用前所有可能</a:t>
            </a:r>
            <a:r>
              <a:rPr sz="3200" b="1" u="heavy" dirty="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2" action="ppaction://hlinksldjump"/>
              </a:rPr>
              <a:t>到达</a:t>
            </a:r>
            <a:r>
              <a:rPr sz="3200" b="1" u="heavy" spc="-10" dirty="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2" action="ppaction://hlinksldjump"/>
              </a:rPr>
              <a:t>d</a:t>
            </a:r>
            <a:r>
              <a:rPr sz="3200" b="1" u="heavy" dirty="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2" action="ppaction://hlinksldjump"/>
              </a:rPr>
              <a:t>点的对</a:t>
            </a:r>
            <a:r>
              <a:rPr sz="3200" b="1" u="heavy" spc="-10" dirty="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2" action="ppaction://hlinksldjump"/>
              </a:rPr>
              <a:t>A</a:t>
            </a:r>
            <a:r>
              <a:rPr sz="3200" b="1" u="heavy" spc="-5" dirty="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2" action="ppaction://hlinksldjump"/>
              </a:rPr>
              <a:t>定值的</a:t>
            </a:r>
            <a:r>
              <a:rPr sz="3200" b="1" u="heavy" spc="-10" dirty="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2" action="ppaction://hlinksldjump"/>
              </a:rPr>
              <a:t>定</a:t>
            </a:r>
            <a:r>
              <a:rPr sz="3200" b="1" u="heavy" spc="-5" dirty="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2" action="ppaction://hlinksldjump"/>
              </a:rPr>
              <a:t>值</a:t>
            </a:r>
            <a:r>
              <a:rPr sz="3200" b="1" u="heavy" spc="10" dirty="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2" action="ppaction://hlinksldjump"/>
              </a:rPr>
              <a:t>点</a:t>
            </a: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9358" y="3277361"/>
            <a:ext cx="1714500" cy="7747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434"/>
              </a:spcBef>
              <a:tabLst>
                <a:tab pos="906144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:	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9270" y="3402329"/>
            <a:ext cx="475615" cy="528955"/>
          </a:xfrm>
          <a:custGeom>
            <a:avLst/>
            <a:gdLst/>
            <a:ahLst/>
            <a:cxnLst/>
            <a:rect l="l" t="t" r="r" b="b"/>
            <a:pathLst>
              <a:path w="475614" h="528954">
                <a:moveTo>
                  <a:pt x="0" y="264414"/>
                </a:moveTo>
                <a:lnTo>
                  <a:pt x="3829" y="216880"/>
                </a:lnTo>
                <a:lnTo>
                  <a:pt x="14872" y="172144"/>
                </a:lnTo>
                <a:lnTo>
                  <a:pt x="32455" y="130951"/>
                </a:lnTo>
                <a:lnTo>
                  <a:pt x="55909" y="94047"/>
                </a:lnTo>
                <a:lnTo>
                  <a:pt x="84562" y="62180"/>
                </a:lnTo>
                <a:lnTo>
                  <a:pt x="117743" y="36096"/>
                </a:lnTo>
                <a:lnTo>
                  <a:pt x="154781" y="16540"/>
                </a:lnTo>
                <a:lnTo>
                  <a:pt x="195005" y="4259"/>
                </a:lnTo>
                <a:lnTo>
                  <a:pt x="237744" y="0"/>
                </a:lnTo>
                <a:lnTo>
                  <a:pt x="280482" y="4259"/>
                </a:lnTo>
                <a:lnTo>
                  <a:pt x="320706" y="16540"/>
                </a:lnTo>
                <a:lnTo>
                  <a:pt x="357744" y="36096"/>
                </a:lnTo>
                <a:lnTo>
                  <a:pt x="390925" y="62180"/>
                </a:lnTo>
                <a:lnTo>
                  <a:pt x="419578" y="94047"/>
                </a:lnTo>
                <a:lnTo>
                  <a:pt x="443032" y="130951"/>
                </a:lnTo>
                <a:lnTo>
                  <a:pt x="460615" y="172144"/>
                </a:lnTo>
                <a:lnTo>
                  <a:pt x="471658" y="216880"/>
                </a:lnTo>
                <a:lnTo>
                  <a:pt x="475488" y="264414"/>
                </a:lnTo>
                <a:lnTo>
                  <a:pt x="471658" y="311947"/>
                </a:lnTo>
                <a:lnTo>
                  <a:pt x="460615" y="356683"/>
                </a:lnTo>
                <a:lnTo>
                  <a:pt x="443032" y="397876"/>
                </a:lnTo>
                <a:lnTo>
                  <a:pt x="419578" y="434780"/>
                </a:lnTo>
                <a:lnTo>
                  <a:pt x="390925" y="466647"/>
                </a:lnTo>
                <a:lnTo>
                  <a:pt x="357744" y="492731"/>
                </a:lnTo>
                <a:lnTo>
                  <a:pt x="320706" y="512287"/>
                </a:lnTo>
                <a:lnTo>
                  <a:pt x="280482" y="524568"/>
                </a:lnTo>
                <a:lnTo>
                  <a:pt x="237744" y="528828"/>
                </a:lnTo>
                <a:lnTo>
                  <a:pt x="195005" y="524568"/>
                </a:lnTo>
                <a:lnTo>
                  <a:pt x="154781" y="512287"/>
                </a:lnTo>
                <a:lnTo>
                  <a:pt x="117743" y="492731"/>
                </a:lnTo>
                <a:lnTo>
                  <a:pt x="84562" y="466647"/>
                </a:lnTo>
                <a:lnTo>
                  <a:pt x="55909" y="434780"/>
                </a:lnTo>
                <a:lnTo>
                  <a:pt x="32455" y="397876"/>
                </a:lnTo>
                <a:lnTo>
                  <a:pt x="14872" y="356683"/>
                </a:lnTo>
                <a:lnTo>
                  <a:pt x="3829" y="311947"/>
                </a:lnTo>
                <a:lnTo>
                  <a:pt x="0" y="26441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65170" y="3033522"/>
            <a:ext cx="1714500" cy="7747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430"/>
              </a:spcBef>
              <a:tabLst>
                <a:tab pos="905510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:	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83558" y="3156966"/>
            <a:ext cx="477520" cy="528955"/>
          </a:xfrm>
          <a:custGeom>
            <a:avLst/>
            <a:gdLst/>
            <a:ahLst/>
            <a:cxnLst/>
            <a:rect l="l" t="t" r="r" b="b"/>
            <a:pathLst>
              <a:path w="477520" h="528954">
                <a:moveTo>
                  <a:pt x="0" y="264413"/>
                </a:moveTo>
                <a:lnTo>
                  <a:pt x="3843" y="216880"/>
                </a:lnTo>
                <a:lnTo>
                  <a:pt x="14924" y="172144"/>
                </a:lnTo>
                <a:lnTo>
                  <a:pt x="32568" y="130951"/>
                </a:lnTo>
                <a:lnTo>
                  <a:pt x="56101" y="94047"/>
                </a:lnTo>
                <a:lnTo>
                  <a:pt x="84849" y="62180"/>
                </a:lnTo>
                <a:lnTo>
                  <a:pt x="118138" y="36096"/>
                </a:lnTo>
                <a:lnTo>
                  <a:pt x="155293" y="16540"/>
                </a:lnTo>
                <a:lnTo>
                  <a:pt x="195640" y="4259"/>
                </a:lnTo>
                <a:lnTo>
                  <a:pt x="238505" y="0"/>
                </a:lnTo>
                <a:lnTo>
                  <a:pt x="281371" y="4259"/>
                </a:lnTo>
                <a:lnTo>
                  <a:pt x="321718" y="16540"/>
                </a:lnTo>
                <a:lnTo>
                  <a:pt x="358873" y="36096"/>
                </a:lnTo>
                <a:lnTo>
                  <a:pt x="392162" y="62180"/>
                </a:lnTo>
                <a:lnTo>
                  <a:pt x="420910" y="94047"/>
                </a:lnTo>
                <a:lnTo>
                  <a:pt x="444443" y="130951"/>
                </a:lnTo>
                <a:lnTo>
                  <a:pt x="462087" y="172144"/>
                </a:lnTo>
                <a:lnTo>
                  <a:pt x="473168" y="216880"/>
                </a:lnTo>
                <a:lnTo>
                  <a:pt x="477012" y="264413"/>
                </a:lnTo>
                <a:lnTo>
                  <a:pt x="473168" y="311947"/>
                </a:lnTo>
                <a:lnTo>
                  <a:pt x="462087" y="356683"/>
                </a:lnTo>
                <a:lnTo>
                  <a:pt x="444443" y="397876"/>
                </a:lnTo>
                <a:lnTo>
                  <a:pt x="420910" y="434780"/>
                </a:lnTo>
                <a:lnTo>
                  <a:pt x="392162" y="466647"/>
                </a:lnTo>
                <a:lnTo>
                  <a:pt x="358873" y="492731"/>
                </a:lnTo>
                <a:lnTo>
                  <a:pt x="321718" y="512287"/>
                </a:lnTo>
                <a:lnTo>
                  <a:pt x="281371" y="524568"/>
                </a:lnTo>
                <a:lnTo>
                  <a:pt x="238505" y="528828"/>
                </a:lnTo>
                <a:lnTo>
                  <a:pt x="195640" y="524568"/>
                </a:lnTo>
                <a:lnTo>
                  <a:pt x="155293" y="512287"/>
                </a:lnTo>
                <a:lnTo>
                  <a:pt x="118138" y="492731"/>
                </a:lnTo>
                <a:lnTo>
                  <a:pt x="84849" y="466647"/>
                </a:lnTo>
                <a:lnTo>
                  <a:pt x="56101" y="434780"/>
                </a:lnTo>
                <a:lnTo>
                  <a:pt x="32568" y="397876"/>
                </a:lnTo>
                <a:lnTo>
                  <a:pt x="14924" y="356683"/>
                </a:lnTo>
                <a:lnTo>
                  <a:pt x="3843" y="311947"/>
                </a:lnTo>
                <a:lnTo>
                  <a:pt x="0" y="26441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21858" y="3280409"/>
            <a:ext cx="1714500" cy="7747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434"/>
              </a:spcBef>
              <a:tabLst>
                <a:tab pos="906780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:	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41769" y="3405378"/>
            <a:ext cx="475615" cy="528955"/>
          </a:xfrm>
          <a:custGeom>
            <a:avLst/>
            <a:gdLst/>
            <a:ahLst/>
            <a:cxnLst/>
            <a:rect l="l" t="t" r="r" b="b"/>
            <a:pathLst>
              <a:path w="475615" h="528954">
                <a:moveTo>
                  <a:pt x="0" y="264414"/>
                </a:moveTo>
                <a:lnTo>
                  <a:pt x="3829" y="216880"/>
                </a:lnTo>
                <a:lnTo>
                  <a:pt x="14872" y="172144"/>
                </a:lnTo>
                <a:lnTo>
                  <a:pt x="32455" y="130951"/>
                </a:lnTo>
                <a:lnTo>
                  <a:pt x="55909" y="94047"/>
                </a:lnTo>
                <a:lnTo>
                  <a:pt x="84562" y="62180"/>
                </a:lnTo>
                <a:lnTo>
                  <a:pt x="117743" y="36096"/>
                </a:lnTo>
                <a:lnTo>
                  <a:pt x="154781" y="16540"/>
                </a:lnTo>
                <a:lnTo>
                  <a:pt x="195005" y="4259"/>
                </a:lnTo>
                <a:lnTo>
                  <a:pt x="237744" y="0"/>
                </a:lnTo>
                <a:lnTo>
                  <a:pt x="280482" y="4259"/>
                </a:lnTo>
                <a:lnTo>
                  <a:pt x="320706" y="16540"/>
                </a:lnTo>
                <a:lnTo>
                  <a:pt x="357744" y="36096"/>
                </a:lnTo>
                <a:lnTo>
                  <a:pt x="390925" y="62180"/>
                </a:lnTo>
                <a:lnTo>
                  <a:pt x="419578" y="94047"/>
                </a:lnTo>
                <a:lnTo>
                  <a:pt x="443032" y="130951"/>
                </a:lnTo>
                <a:lnTo>
                  <a:pt x="460615" y="172144"/>
                </a:lnTo>
                <a:lnTo>
                  <a:pt x="471658" y="216880"/>
                </a:lnTo>
                <a:lnTo>
                  <a:pt x="475487" y="264414"/>
                </a:lnTo>
                <a:lnTo>
                  <a:pt x="471658" y="311947"/>
                </a:lnTo>
                <a:lnTo>
                  <a:pt x="460615" y="356683"/>
                </a:lnTo>
                <a:lnTo>
                  <a:pt x="443032" y="397876"/>
                </a:lnTo>
                <a:lnTo>
                  <a:pt x="419578" y="434780"/>
                </a:lnTo>
                <a:lnTo>
                  <a:pt x="390925" y="466647"/>
                </a:lnTo>
                <a:lnTo>
                  <a:pt x="357744" y="492731"/>
                </a:lnTo>
                <a:lnTo>
                  <a:pt x="320706" y="512287"/>
                </a:lnTo>
                <a:lnTo>
                  <a:pt x="280482" y="524568"/>
                </a:lnTo>
                <a:lnTo>
                  <a:pt x="237744" y="528828"/>
                </a:lnTo>
                <a:lnTo>
                  <a:pt x="195005" y="524568"/>
                </a:lnTo>
                <a:lnTo>
                  <a:pt x="154781" y="512287"/>
                </a:lnTo>
                <a:lnTo>
                  <a:pt x="117743" y="492731"/>
                </a:lnTo>
                <a:lnTo>
                  <a:pt x="84562" y="466647"/>
                </a:lnTo>
                <a:lnTo>
                  <a:pt x="55909" y="434780"/>
                </a:lnTo>
                <a:lnTo>
                  <a:pt x="32455" y="397876"/>
                </a:lnTo>
                <a:lnTo>
                  <a:pt x="14872" y="356683"/>
                </a:lnTo>
                <a:lnTo>
                  <a:pt x="3829" y="311947"/>
                </a:lnTo>
                <a:lnTo>
                  <a:pt x="0" y="26441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236214" y="5482590"/>
            <a:ext cx="1714500" cy="7747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425"/>
              </a:spcBef>
              <a:tabLst>
                <a:tab pos="767715" algn="l"/>
              </a:tabLst>
            </a:pP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3150" b="1" spc="-7" baseline="-15873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:	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&lt;A&gt;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42897" y="4037329"/>
            <a:ext cx="1631314" cy="1445260"/>
          </a:xfrm>
          <a:custGeom>
            <a:avLst/>
            <a:gdLst/>
            <a:ahLst/>
            <a:cxnLst/>
            <a:rect l="l" t="t" r="r" b="b"/>
            <a:pathLst>
              <a:path w="1631314" h="1445260">
                <a:moveTo>
                  <a:pt x="25145" y="0"/>
                </a:moveTo>
                <a:lnTo>
                  <a:pt x="0" y="28448"/>
                </a:lnTo>
                <a:lnTo>
                  <a:pt x="114172" y="129413"/>
                </a:lnTo>
                <a:lnTo>
                  <a:pt x="139319" y="100838"/>
                </a:lnTo>
                <a:lnTo>
                  <a:pt x="25145" y="0"/>
                </a:lnTo>
                <a:close/>
              </a:path>
              <a:path w="1631314" h="1445260">
                <a:moveTo>
                  <a:pt x="225044" y="176657"/>
                </a:moveTo>
                <a:lnTo>
                  <a:pt x="199770" y="205105"/>
                </a:lnTo>
                <a:lnTo>
                  <a:pt x="313944" y="306070"/>
                </a:lnTo>
                <a:lnTo>
                  <a:pt x="339216" y="277622"/>
                </a:lnTo>
                <a:lnTo>
                  <a:pt x="225044" y="176657"/>
                </a:lnTo>
                <a:close/>
              </a:path>
              <a:path w="1631314" h="1445260">
                <a:moveTo>
                  <a:pt x="424814" y="353314"/>
                </a:moveTo>
                <a:lnTo>
                  <a:pt x="399541" y="381762"/>
                </a:lnTo>
                <a:lnTo>
                  <a:pt x="513714" y="482727"/>
                </a:lnTo>
                <a:lnTo>
                  <a:pt x="538988" y="454279"/>
                </a:lnTo>
                <a:lnTo>
                  <a:pt x="424814" y="353314"/>
                </a:lnTo>
                <a:close/>
              </a:path>
              <a:path w="1631314" h="1445260">
                <a:moveTo>
                  <a:pt x="624585" y="529971"/>
                </a:moveTo>
                <a:lnTo>
                  <a:pt x="599313" y="558419"/>
                </a:lnTo>
                <a:lnTo>
                  <a:pt x="713485" y="659384"/>
                </a:lnTo>
                <a:lnTo>
                  <a:pt x="738758" y="630936"/>
                </a:lnTo>
                <a:lnTo>
                  <a:pt x="624585" y="529971"/>
                </a:lnTo>
                <a:close/>
              </a:path>
              <a:path w="1631314" h="1445260">
                <a:moveTo>
                  <a:pt x="824357" y="706628"/>
                </a:moveTo>
                <a:lnTo>
                  <a:pt x="799210" y="735076"/>
                </a:lnTo>
                <a:lnTo>
                  <a:pt x="913383" y="836041"/>
                </a:lnTo>
                <a:lnTo>
                  <a:pt x="938529" y="807593"/>
                </a:lnTo>
                <a:lnTo>
                  <a:pt x="824357" y="706628"/>
                </a:lnTo>
                <a:close/>
              </a:path>
              <a:path w="1631314" h="1445260">
                <a:moveTo>
                  <a:pt x="1024254" y="883285"/>
                </a:moveTo>
                <a:lnTo>
                  <a:pt x="998982" y="911733"/>
                </a:lnTo>
                <a:lnTo>
                  <a:pt x="1113154" y="1012698"/>
                </a:lnTo>
                <a:lnTo>
                  <a:pt x="1138427" y="984250"/>
                </a:lnTo>
                <a:lnTo>
                  <a:pt x="1024254" y="883285"/>
                </a:lnTo>
                <a:close/>
              </a:path>
              <a:path w="1631314" h="1445260">
                <a:moveTo>
                  <a:pt x="1224026" y="1059942"/>
                </a:moveTo>
                <a:lnTo>
                  <a:pt x="1198752" y="1088390"/>
                </a:lnTo>
                <a:lnTo>
                  <a:pt x="1312926" y="1189355"/>
                </a:lnTo>
                <a:lnTo>
                  <a:pt x="1338198" y="1160907"/>
                </a:lnTo>
                <a:lnTo>
                  <a:pt x="1224026" y="1059942"/>
                </a:lnTo>
                <a:close/>
              </a:path>
              <a:path w="1631314" h="1445260">
                <a:moveTo>
                  <a:pt x="1583308" y="1326769"/>
                </a:moveTo>
                <a:lnTo>
                  <a:pt x="1507616" y="1412367"/>
                </a:lnTo>
                <a:lnTo>
                  <a:pt x="1631061" y="1445260"/>
                </a:lnTo>
                <a:lnTo>
                  <a:pt x="1583308" y="1326769"/>
                </a:lnTo>
                <a:close/>
              </a:path>
              <a:path w="1631314" h="1445260">
                <a:moveTo>
                  <a:pt x="1423797" y="1236599"/>
                </a:moveTo>
                <a:lnTo>
                  <a:pt x="1398523" y="1265174"/>
                </a:lnTo>
                <a:lnTo>
                  <a:pt x="1512697" y="1366012"/>
                </a:lnTo>
                <a:lnTo>
                  <a:pt x="1537969" y="1337564"/>
                </a:lnTo>
                <a:lnTo>
                  <a:pt x="1423797" y="1236599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98670" y="4037203"/>
            <a:ext cx="1651000" cy="1445895"/>
          </a:xfrm>
          <a:custGeom>
            <a:avLst/>
            <a:gdLst/>
            <a:ahLst/>
            <a:cxnLst/>
            <a:rect l="l" t="t" r="r" b="b"/>
            <a:pathLst>
              <a:path w="1651000" h="1445895">
                <a:moveTo>
                  <a:pt x="1625727" y="0"/>
                </a:moveTo>
                <a:lnTo>
                  <a:pt x="1511045" y="100203"/>
                </a:lnTo>
                <a:lnTo>
                  <a:pt x="1536064" y="128905"/>
                </a:lnTo>
                <a:lnTo>
                  <a:pt x="1650872" y="28702"/>
                </a:lnTo>
                <a:lnTo>
                  <a:pt x="1625727" y="0"/>
                </a:lnTo>
                <a:close/>
              </a:path>
              <a:path w="1651000" h="1445895">
                <a:moveTo>
                  <a:pt x="1424939" y="175514"/>
                </a:moveTo>
                <a:lnTo>
                  <a:pt x="1310131" y="275717"/>
                </a:lnTo>
                <a:lnTo>
                  <a:pt x="1335151" y="304419"/>
                </a:lnTo>
                <a:lnTo>
                  <a:pt x="1449958" y="204089"/>
                </a:lnTo>
                <a:lnTo>
                  <a:pt x="1424939" y="175514"/>
                </a:lnTo>
                <a:close/>
              </a:path>
              <a:path w="1651000" h="1445895">
                <a:moveTo>
                  <a:pt x="1224026" y="350901"/>
                </a:moveTo>
                <a:lnTo>
                  <a:pt x="1109217" y="451104"/>
                </a:lnTo>
                <a:lnTo>
                  <a:pt x="1134364" y="479806"/>
                </a:lnTo>
                <a:lnTo>
                  <a:pt x="1249044" y="379603"/>
                </a:lnTo>
                <a:lnTo>
                  <a:pt x="1224026" y="350901"/>
                </a:lnTo>
                <a:close/>
              </a:path>
              <a:path w="1651000" h="1445895">
                <a:moveTo>
                  <a:pt x="1023238" y="526415"/>
                </a:moveTo>
                <a:lnTo>
                  <a:pt x="908430" y="626618"/>
                </a:lnTo>
                <a:lnTo>
                  <a:pt x="933450" y="655320"/>
                </a:lnTo>
                <a:lnTo>
                  <a:pt x="1048257" y="554990"/>
                </a:lnTo>
                <a:lnTo>
                  <a:pt x="1023238" y="526415"/>
                </a:lnTo>
                <a:close/>
              </a:path>
              <a:path w="1651000" h="1445895">
                <a:moveTo>
                  <a:pt x="822325" y="701802"/>
                </a:moveTo>
                <a:lnTo>
                  <a:pt x="707516" y="802005"/>
                </a:lnTo>
                <a:lnTo>
                  <a:pt x="732663" y="830707"/>
                </a:lnTo>
                <a:lnTo>
                  <a:pt x="847343" y="730504"/>
                </a:lnTo>
                <a:lnTo>
                  <a:pt x="822325" y="701802"/>
                </a:lnTo>
                <a:close/>
              </a:path>
              <a:path w="1651000" h="1445895">
                <a:moveTo>
                  <a:pt x="621410" y="877316"/>
                </a:moveTo>
                <a:lnTo>
                  <a:pt x="506729" y="977519"/>
                </a:lnTo>
                <a:lnTo>
                  <a:pt x="531749" y="1006221"/>
                </a:lnTo>
                <a:lnTo>
                  <a:pt x="646556" y="905891"/>
                </a:lnTo>
                <a:lnTo>
                  <a:pt x="621410" y="877316"/>
                </a:lnTo>
                <a:close/>
              </a:path>
              <a:path w="1651000" h="1445895">
                <a:moveTo>
                  <a:pt x="420624" y="1052703"/>
                </a:moveTo>
                <a:lnTo>
                  <a:pt x="305815" y="1152906"/>
                </a:lnTo>
                <a:lnTo>
                  <a:pt x="330834" y="1181608"/>
                </a:lnTo>
                <a:lnTo>
                  <a:pt x="445642" y="1081405"/>
                </a:lnTo>
                <a:lnTo>
                  <a:pt x="420624" y="1052703"/>
                </a:lnTo>
                <a:close/>
              </a:path>
              <a:path w="1651000" h="1445895">
                <a:moveTo>
                  <a:pt x="48513" y="1327150"/>
                </a:moveTo>
                <a:lnTo>
                  <a:pt x="0" y="1445387"/>
                </a:lnTo>
                <a:lnTo>
                  <a:pt x="123697" y="1413256"/>
                </a:lnTo>
                <a:lnTo>
                  <a:pt x="48513" y="1327150"/>
                </a:lnTo>
                <a:close/>
              </a:path>
              <a:path w="1651000" h="1445895">
                <a:moveTo>
                  <a:pt x="219709" y="1228217"/>
                </a:moveTo>
                <a:lnTo>
                  <a:pt x="104901" y="1328420"/>
                </a:lnTo>
                <a:lnTo>
                  <a:pt x="130047" y="1357122"/>
                </a:lnTo>
                <a:lnTo>
                  <a:pt x="244855" y="1256792"/>
                </a:lnTo>
                <a:lnTo>
                  <a:pt x="219709" y="1228217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227070" y="4252721"/>
            <a:ext cx="1714500" cy="7747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430"/>
              </a:spcBef>
              <a:tabLst>
                <a:tab pos="905510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:	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45458" y="4376165"/>
            <a:ext cx="477520" cy="528955"/>
          </a:xfrm>
          <a:custGeom>
            <a:avLst/>
            <a:gdLst/>
            <a:ahLst/>
            <a:cxnLst/>
            <a:rect l="l" t="t" r="r" b="b"/>
            <a:pathLst>
              <a:path w="477520" h="528954">
                <a:moveTo>
                  <a:pt x="0" y="264413"/>
                </a:moveTo>
                <a:lnTo>
                  <a:pt x="3843" y="216880"/>
                </a:lnTo>
                <a:lnTo>
                  <a:pt x="14924" y="172144"/>
                </a:lnTo>
                <a:lnTo>
                  <a:pt x="32568" y="130951"/>
                </a:lnTo>
                <a:lnTo>
                  <a:pt x="56101" y="94047"/>
                </a:lnTo>
                <a:lnTo>
                  <a:pt x="84849" y="62180"/>
                </a:lnTo>
                <a:lnTo>
                  <a:pt x="118138" y="36096"/>
                </a:lnTo>
                <a:lnTo>
                  <a:pt x="155293" y="16540"/>
                </a:lnTo>
                <a:lnTo>
                  <a:pt x="195640" y="4259"/>
                </a:lnTo>
                <a:lnTo>
                  <a:pt x="238505" y="0"/>
                </a:lnTo>
                <a:lnTo>
                  <a:pt x="281371" y="4259"/>
                </a:lnTo>
                <a:lnTo>
                  <a:pt x="321718" y="16540"/>
                </a:lnTo>
                <a:lnTo>
                  <a:pt x="358873" y="36096"/>
                </a:lnTo>
                <a:lnTo>
                  <a:pt x="392162" y="62180"/>
                </a:lnTo>
                <a:lnTo>
                  <a:pt x="420910" y="94047"/>
                </a:lnTo>
                <a:lnTo>
                  <a:pt x="444443" y="130951"/>
                </a:lnTo>
                <a:lnTo>
                  <a:pt x="462087" y="172144"/>
                </a:lnTo>
                <a:lnTo>
                  <a:pt x="473168" y="216880"/>
                </a:lnTo>
                <a:lnTo>
                  <a:pt x="477012" y="264413"/>
                </a:lnTo>
                <a:lnTo>
                  <a:pt x="473168" y="311947"/>
                </a:lnTo>
                <a:lnTo>
                  <a:pt x="462087" y="356683"/>
                </a:lnTo>
                <a:lnTo>
                  <a:pt x="444443" y="397876"/>
                </a:lnTo>
                <a:lnTo>
                  <a:pt x="420910" y="434780"/>
                </a:lnTo>
                <a:lnTo>
                  <a:pt x="392162" y="466647"/>
                </a:lnTo>
                <a:lnTo>
                  <a:pt x="358873" y="492731"/>
                </a:lnTo>
                <a:lnTo>
                  <a:pt x="321718" y="512287"/>
                </a:lnTo>
                <a:lnTo>
                  <a:pt x="281371" y="524568"/>
                </a:lnTo>
                <a:lnTo>
                  <a:pt x="238505" y="528827"/>
                </a:lnTo>
                <a:lnTo>
                  <a:pt x="195640" y="524568"/>
                </a:lnTo>
                <a:lnTo>
                  <a:pt x="155293" y="512287"/>
                </a:lnTo>
                <a:lnTo>
                  <a:pt x="118138" y="492731"/>
                </a:lnTo>
                <a:lnTo>
                  <a:pt x="84849" y="466647"/>
                </a:lnTo>
                <a:lnTo>
                  <a:pt x="56101" y="434780"/>
                </a:lnTo>
                <a:lnTo>
                  <a:pt x="32568" y="397876"/>
                </a:lnTo>
                <a:lnTo>
                  <a:pt x="14924" y="356683"/>
                </a:lnTo>
                <a:lnTo>
                  <a:pt x="3843" y="311947"/>
                </a:lnTo>
                <a:lnTo>
                  <a:pt x="0" y="26441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88308" y="3807714"/>
            <a:ext cx="114300" cy="445134"/>
          </a:xfrm>
          <a:custGeom>
            <a:avLst/>
            <a:gdLst/>
            <a:ahLst/>
            <a:cxnLst/>
            <a:rect l="l" t="t" r="r" b="b"/>
            <a:pathLst>
              <a:path w="114300" h="445135">
                <a:moveTo>
                  <a:pt x="76200" y="0"/>
                </a:moveTo>
                <a:lnTo>
                  <a:pt x="38100" y="0"/>
                </a:lnTo>
                <a:lnTo>
                  <a:pt x="38100" y="152400"/>
                </a:lnTo>
                <a:lnTo>
                  <a:pt x="76200" y="152400"/>
                </a:lnTo>
                <a:lnTo>
                  <a:pt x="76200" y="0"/>
                </a:lnTo>
                <a:close/>
              </a:path>
              <a:path w="114300" h="445135">
                <a:moveTo>
                  <a:pt x="38100" y="330708"/>
                </a:moveTo>
                <a:lnTo>
                  <a:pt x="0" y="330708"/>
                </a:lnTo>
                <a:lnTo>
                  <a:pt x="57150" y="445008"/>
                </a:lnTo>
                <a:lnTo>
                  <a:pt x="104775" y="349758"/>
                </a:lnTo>
                <a:lnTo>
                  <a:pt x="38100" y="349758"/>
                </a:lnTo>
                <a:lnTo>
                  <a:pt x="38100" y="330708"/>
                </a:lnTo>
                <a:close/>
              </a:path>
              <a:path w="114300" h="445135">
                <a:moveTo>
                  <a:pt x="76200" y="266700"/>
                </a:moveTo>
                <a:lnTo>
                  <a:pt x="38100" y="266700"/>
                </a:lnTo>
                <a:lnTo>
                  <a:pt x="38100" y="349758"/>
                </a:lnTo>
                <a:lnTo>
                  <a:pt x="76200" y="349758"/>
                </a:lnTo>
                <a:lnTo>
                  <a:pt x="76200" y="266700"/>
                </a:lnTo>
                <a:close/>
              </a:path>
              <a:path w="114300" h="445135">
                <a:moveTo>
                  <a:pt x="114300" y="330708"/>
                </a:moveTo>
                <a:lnTo>
                  <a:pt x="76200" y="330708"/>
                </a:lnTo>
                <a:lnTo>
                  <a:pt x="76200" y="349758"/>
                </a:lnTo>
                <a:lnTo>
                  <a:pt x="104775" y="349758"/>
                </a:lnTo>
                <a:lnTo>
                  <a:pt x="114300" y="330708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88308" y="5026914"/>
            <a:ext cx="114300" cy="445134"/>
          </a:xfrm>
          <a:custGeom>
            <a:avLst/>
            <a:gdLst/>
            <a:ahLst/>
            <a:cxnLst/>
            <a:rect l="l" t="t" r="r" b="b"/>
            <a:pathLst>
              <a:path w="114300" h="445135">
                <a:moveTo>
                  <a:pt x="76200" y="0"/>
                </a:moveTo>
                <a:lnTo>
                  <a:pt x="38100" y="0"/>
                </a:lnTo>
                <a:lnTo>
                  <a:pt x="38100" y="152400"/>
                </a:lnTo>
                <a:lnTo>
                  <a:pt x="76200" y="152400"/>
                </a:lnTo>
                <a:lnTo>
                  <a:pt x="76200" y="0"/>
                </a:lnTo>
                <a:close/>
              </a:path>
              <a:path w="114300" h="445135">
                <a:moveTo>
                  <a:pt x="38100" y="330708"/>
                </a:moveTo>
                <a:lnTo>
                  <a:pt x="0" y="330708"/>
                </a:lnTo>
                <a:lnTo>
                  <a:pt x="57150" y="445008"/>
                </a:lnTo>
                <a:lnTo>
                  <a:pt x="104775" y="349758"/>
                </a:lnTo>
                <a:lnTo>
                  <a:pt x="38100" y="349758"/>
                </a:lnTo>
                <a:lnTo>
                  <a:pt x="38100" y="330708"/>
                </a:lnTo>
                <a:close/>
              </a:path>
              <a:path w="114300" h="445135">
                <a:moveTo>
                  <a:pt x="76200" y="266700"/>
                </a:moveTo>
                <a:lnTo>
                  <a:pt x="38100" y="266700"/>
                </a:lnTo>
                <a:lnTo>
                  <a:pt x="38100" y="349758"/>
                </a:lnTo>
                <a:lnTo>
                  <a:pt x="76200" y="349758"/>
                </a:lnTo>
                <a:lnTo>
                  <a:pt x="76200" y="266700"/>
                </a:lnTo>
                <a:close/>
              </a:path>
              <a:path w="114300" h="445135">
                <a:moveTo>
                  <a:pt x="114300" y="330708"/>
                </a:moveTo>
                <a:lnTo>
                  <a:pt x="76200" y="330708"/>
                </a:lnTo>
                <a:lnTo>
                  <a:pt x="76200" y="349758"/>
                </a:lnTo>
                <a:lnTo>
                  <a:pt x="104775" y="349758"/>
                </a:lnTo>
                <a:lnTo>
                  <a:pt x="114300" y="330708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21096" y="5026152"/>
            <a:ext cx="3423285" cy="533400"/>
          </a:xfrm>
          <a:custGeom>
            <a:avLst/>
            <a:gdLst/>
            <a:ahLst/>
            <a:cxnLst/>
            <a:rect l="l" t="t" r="r" b="b"/>
            <a:pathLst>
              <a:path w="3423284" h="533400">
                <a:moveTo>
                  <a:pt x="0" y="533400"/>
                </a:moveTo>
                <a:lnTo>
                  <a:pt x="3422904" y="533400"/>
                </a:lnTo>
                <a:lnTo>
                  <a:pt x="3422904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775705" y="4971999"/>
            <a:ext cx="32169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1E2D52"/>
                </a:solidFill>
                <a:latin typeface="Times New Roman"/>
                <a:cs typeface="Times New Roman"/>
              </a:rPr>
              <a:t>d</a:t>
            </a:r>
            <a:r>
              <a:rPr sz="3600" b="1" spc="-7" baseline="-16203" dirty="0">
                <a:solidFill>
                  <a:srgbClr val="1E2D52"/>
                </a:solidFill>
                <a:latin typeface="Times New Roman"/>
                <a:cs typeface="Times New Roman"/>
              </a:rPr>
              <a:t>i- </a:t>
            </a:r>
            <a:r>
              <a:rPr sz="2775" b="1" spc="15" baseline="-16516" dirty="0">
                <a:latin typeface="Times New Roman"/>
                <a:cs typeface="Times New Roman"/>
              </a:rPr>
              <a:t>(A)</a:t>
            </a:r>
            <a:r>
              <a:rPr sz="2775" b="1" spc="89" baseline="-16516" dirty="0">
                <a:latin typeface="Times New Roman"/>
                <a:cs typeface="Times New Roman"/>
              </a:rPr>
              <a:t> </a:t>
            </a:r>
            <a:r>
              <a:rPr sz="3600" b="1" baseline="-16203" dirty="0">
                <a:solidFill>
                  <a:srgbClr val="1E2D52"/>
                </a:solidFill>
                <a:latin typeface="Times New Roman"/>
                <a:cs typeface="Times New Roman"/>
              </a:rPr>
              <a:t>ud</a:t>
            </a:r>
            <a:r>
              <a:rPr sz="3600" b="1" dirty="0">
                <a:solidFill>
                  <a:srgbClr val="1E2D52"/>
                </a:solidFill>
                <a:latin typeface="Times New Roman"/>
                <a:cs typeface="Times New Roman"/>
              </a:rPr>
              <a:t>={</a:t>
            </a:r>
            <a:r>
              <a:rPr sz="3200" b="1" dirty="0">
                <a:solidFill>
                  <a:srgbClr val="1E2D52"/>
                </a:solidFill>
                <a:latin typeface="Times New Roman"/>
                <a:cs typeface="Times New Roman"/>
              </a:rPr>
              <a:t>d</a:t>
            </a:r>
            <a:r>
              <a:rPr sz="3150" b="1" baseline="-15873" dirty="0">
                <a:solidFill>
                  <a:srgbClr val="1E2D52"/>
                </a:solidFill>
                <a:latin typeface="Times New Roman"/>
                <a:cs typeface="Times New Roman"/>
              </a:rPr>
              <a:t>1</a:t>
            </a:r>
            <a:r>
              <a:rPr sz="3200" b="1" dirty="0">
                <a:solidFill>
                  <a:srgbClr val="1E2D52"/>
                </a:solidFill>
                <a:latin typeface="Times New Roman"/>
                <a:cs typeface="Times New Roman"/>
              </a:rPr>
              <a:t>,d</a:t>
            </a:r>
            <a:r>
              <a:rPr sz="3150" b="1" baseline="-18518" dirty="0">
                <a:solidFill>
                  <a:srgbClr val="1E2D52"/>
                </a:solidFill>
                <a:latin typeface="Times New Roman"/>
                <a:cs typeface="Times New Roman"/>
              </a:rPr>
              <a:t>4</a:t>
            </a:r>
            <a:r>
              <a:rPr sz="3200" b="1" dirty="0">
                <a:solidFill>
                  <a:srgbClr val="1E2D52"/>
                </a:solidFill>
                <a:latin typeface="Times New Roman"/>
                <a:cs typeface="Times New Roman"/>
              </a:rPr>
              <a:t>,d</a:t>
            </a:r>
            <a:r>
              <a:rPr sz="3150" b="1" baseline="-15873" dirty="0">
                <a:solidFill>
                  <a:srgbClr val="1E2D52"/>
                </a:solidFill>
                <a:latin typeface="Times New Roman"/>
                <a:cs typeface="Times New Roman"/>
              </a:rPr>
              <a:t>3</a:t>
            </a:r>
            <a:r>
              <a:rPr sz="3600" b="1" dirty="0">
                <a:solidFill>
                  <a:srgbClr val="1E2D52"/>
                </a:solidFill>
                <a:latin typeface="Times New Roman"/>
                <a:cs typeface="Times New Roman"/>
              </a:rPr>
              <a:t>}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951469" y="4918709"/>
            <a:ext cx="431800" cy="911860"/>
          </a:xfrm>
          <a:custGeom>
            <a:avLst/>
            <a:gdLst/>
            <a:ahLst/>
            <a:cxnLst/>
            <a:rect l="l" t="t" r="r" b="b"/>
            <a:pathLst>
              <a:path w="431800" h="911860">
                <a:moveTo>
                  <a:pt x="0" y="455675"/>
                </a:moveTo>
                <a:lnTo>
                  <a:pt x="1968" y="393832"/>
                </a:lnTo>
                <a:lnTo>
                  <a:pt x="7701" y="334521"/>
                </a:lnTo>
                <a:lnTo>
                  <a:pt x="16942" y="278284"/>
                </a:lnTo>
                <a:lnTo>
                  <a:pt x="29435" y="225664"/>
                </a:lnTo>
                <a:lnTo>
                  <a:pt x="44924" y="177204"/>
                </a:lnTo>
                <a:lnTo>
                  <a:pt x="63150" y="133445"/>
                </a:lnTo>
                <a:lnTo>
                  <a:pt x="83859" y="94930"/>
                </a:lnTo>
                <a:lnTo>
                  <a:pt x="106792" y="62201"/>
                </a:lnTo>
                <a:lnTo>
                  <a:pt x="158309" y="16273"/>
                </a:lnTo>
                <a:lnTo>
                  <a:pt x="215646" y="0"/>
                </a:lnTo>
                <a:lnTo>
                  <a:pt x="244913" y="4158"/>
                </a:lnTo>
                <a:lnTo>
                  <a:pt x="299596" y="35802"/>
                </a:lnTo>
                <a:lnTo>
                  <a:pt x="347432" y="94930"/>
                </a:lnTo>
                <a:lnTo>
                  <a:pt x="368141" y="133445"/>
                </a:lnTo>
                <a:lnTo>
                  <a:pt x="386367" y="177204"/>
                </a:lnTo>
                <a:lnTo>
                  <a:pt x="401856" y="225664"/>
                </a:lnTo>
                <a:lnTo>
                  <a:pt x="414349" y="278284"/>
                </a:lnTo>
                <a:lnTo>
                  <a:pt x="423590" y="334521"/>
                </a:lnTo>
                <a:lnTo>
                  <a:pt x="429323" y="393832"/>
                </a:lnTo>
                <a:lnTo>
                  <a:pt x="431291" y="455675"/>
                </a:lnTo>
                <a:lnTo>
                  <a:pt x="429323" y="517508"/>
                </a:lnTo>
                <a:lnTo>
                  <a:pt x="423590" y="576812"/>
                </a:lnTo>
                <a:lnTo>
                  <a:pt x="414349" y="633045"/>
                </a:lnTo>
                <a:lnTo>
                  <a:pt x="401856" y="685664"/>
                </a:lnTo>
                <a:lnTo>
                  <a:pt x="386367" y="734126"/>
                </a:lnTo>
                <a:lnTo>
                  <a:pt x="368141" y="777887"/>
                </a:lnTo>
                <a:lnTo>
                  <a:pt x="347432" y="816406"/>
                </a:lnTo>
                <a:lnTo>
                  <a:pt x="324499" y="849138"/>
                </a:lnTo>
                <a:lnTo>
                  <a:pt x="272982" y="895074"/>
                </a:lnTo>
                <a:lnTo>
                  <a:pt x="215646" y="911351"/>
                </a:lnTo>
                <a:lnTo>
                  <a:pt x="186378" y="907192"/>
                </a:lnTo>
                <a:lnTo>
                  <a:pt x="131695" y="875542"/>
                </a:lnTo>
                <a:lnTo>
                  <a:pt x="83859" y="816406"/>
                </a:lnTo>
                <a:lnTo>
                  <a:pt x="63150" y="777887"/>
                </a:lnTo>
                <a:lnTo>
                  <a:pt x="44924" y="734126"/>
                </a:lnTo>
                <a:lnTo>
                  <a:pt x="29435" y="685664"/>
                </a:lnTo>
                <a:lnTo>
                  <a:pt x="16942" y="633045"/>
                </a:lnTo>
                <a:lnTo>
                  <a:pt x="7701" y="576812"/>
                </a:lnTo>
                <a:lnTo>
                  <a:pt x="1968" y="517508"/>
                </a:lnTo>
                <a:lnTo>
                  <a:pt x="0" y="455675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286753" y="5807455"/>
            <a:ext cx="1781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sz="2775" b="1" baseline="-15015" dirty="0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注销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掉</a:t>
            </a: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sz="2775" b="1" spc="7" baseline="-15015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2775" baseline="-15015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26307" y="2889504"/>
            <a:ext cx="1981200" cy="1019810"/>
          </a:xfrm>
          <a:custGeom>
            <a:avLst/>
            <a:gdLst/>
            <a:ahLst/>
            <a:cxnLst/>
            <a:rect l="l" t="t" r="r" b="b"/>
            <a:pathLst>
              <a:path w="1981200" h="1019810">
                <a:moveTo>
                  <a:pt x="0" y="0"/>
                </a:moveTo>
                <a:lnTo>
                  <a:pt x="1981200" y="1019556"/>
                </a:lnTo>
              </a:path>
            </a:pathLst>
          </a:custGeom>
          <a:ln w="7620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701164" y="11378"/>
            <a:ext cx="6121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3463290" algn="l"/>
                <a:tab pos="3970654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545842" y="4098797"/>
            <a:ext cx="2971800" cy="1092835"/>
          </a:xfrm>
          <a:custGeom>
            <a:avLst/>
            <a:gdLst/>
            <a:ahLst/>
            <a:cxnLst/>
            <a:rect l="l" t="t" r="r" b="b"/>
            <a:pathLst>
              <a:path w="2971800" h="1092835">
                <a:moveTo>
                  <a:pt x="0" y="546353"/>
                </a:moveTo>
                <a:lnTo>
                  <a:pt x="6072" y="496623"/>
                </a:lnTo>
                <a:lnTo>
                  <a:pt x="23938" y="448143"/>
                </a:lnTo>
                <a:lnTo>
                  <a:pt x="53075" y="401108"/>
                </a:lnTo>
                <a:lnTo>
                  <a:pt x="92957" y="355709"/>
                </a:lnTo>
                <a:lnTo>
                  <a:pt x="143061" y="312140"/>
                </a:lnTo>
                <a:lnTo>
                  <a:pt x="202861" y="270594"/>
                </a:lnTo>
                <a:lnTo>
                  <a:pt x="236233" y="250640"/>
                </a:lnTo>
                <a:lnTo>
                  <a:pt x="271833" y="231263"/>
                </a:lnTo>
                <a:lnTo>
                  <a:pt x="309595" y="212489"/>
                </a:lnTo>
                <a:lnTo>
                  <a:pt x="349453" y="194341"/>
                </a:lnTo>
                <a:lnTo>
                  <a:pt x="391342" y="176843"/>
                </a:lnTo>
                <a:lnTo>
                  <a:pt x="435197" y="160020"/>
                </a:lnTo>
                <a:lnTo>
                  <a:pt x="480951" y="143895"/>
                </a:lnTo>
                <a:lnTo>
                  <a:pt x="528539" y="128492"/>
                </a:lnTo>
                <a:lnTo>
                  <a:pt x="577896" y="113836"/>
                </a:lnTo>
                <a:lnTo>
                  <a:pt x="628956" y="99952"/>
                </a:lnTo>
                <a:lnTo>
                  <a:pt x="681653" y="86862"/>
                </a:lnTo>
                <a:lnTo>
                  <a:pt x="735922" y="74591"/>
                </a:lnTo>
                <a:lnTo>
                  <a:pt x="791698" y="63163"/>
                </a:lnTo>
                <a:lnTo>
                  <a:pt x="848914" y="52603"/>
                </a:lnTo>
                <a:lnTo>
                  <a:pt x="907506" y="42933"/>
                </a:lnTo>
                <a:lnTo>
                  <a:pt x="967407" y="34180"/>
                </a:lnTo>
                <a:lnTo>
                  <a:pt x="1028553" y="26366"/>
                </a:lnTo>
                <a:lnTo>
                  <a:pt x="1090877" y="19515"/>
                </a:lnTo>
                <a:lnTo>
                  <a:pt x="1154314" y="13652"/>
                </a:lnTo>
                <a:lnTo>
                  <a:pt x="1218798" y="8802"/>
                </a:lnTo>
                <a:lnTo>
                  <a:pt x="1284265" y="4987"/>
                </a:lnTo>
                <a:lnTo>
                  <a:pt x="1350647" y="2232"/>
                </a:lnTo>
                <a:lnTo>
                  <a:pt x="1417881" y="562"/>
                </a:lnTo>
                <a:lnTo>
                  <a:pt x="1485899" y="0"/>
                </a:lnTo>
                <a:lnTo>
                  <a:pt x="1553918" y="562"/>
                </a:lnTo>
                <a:lnTo>
                  <a:pt x="1621152" y="2232"/>
                </a:lnTo>
                <a:lnTo>
                  <a:pt x="1687534" y="4987"/>
                </a:lnTo>
                <a:lnTo>
                  <a:pt x="1753001" y="8802"/>
                </a:lnTo>
                <a:lnTo>
                  <a:pt x="1817485" y="13652"/>
                </a:lnTo>
                <a:lnTo>
                  <a:pt x="1880922" y="19515"/>
                </a:lnTo>
                <a:lnTo>
                  <a:pt x="1943246" y="26366"/>
                </a:lnTo>
                <a:lnTo>
                  <a:pt x="2004392" y="34180"/>
                </a:lnTo>
                <a:lnTo>
                  <a:pt x="2064293" y="42933"/>
                </a:lnTo>
                <a:lnTo>
                  <a:pt x="2122885" y="52603"/>
                </a:lnTo>
                <a:lnTo>
                  <a:pt x="2180101" y="63163"/>
                </a:lnTo>
                <a:lnTo>
                  <a:pt x="2235877" y="74591"/>
                </a:lnTo>
                <a:lnTo>
                  <a:pt x="2290146" y="86862"/>
                </a:lnTo>
                <a:lnTo>
                  <a:pt x="2342843" y="99952"/>
                </a:lnTo>
                <a:lnTo>
                  <a:pt x="2393903" y="113836"/>
                </a:lnTo>
                <a:lnTo>
                  <a:pt x="2443260" y="128492"/>
                </a:lnTo>
                <a:lnTo>
                  <a:pt x="2490848" y="143895"/>
                </a:lnTo>
                <a:lnTo>
                  <a:pt x="2536602" y="160019"/>
                </a:lnTo>
                <a:lnTo>
                  <a:pt x="2580457" y="176843"/>
                </a:lnTo>
                <a:lnTo>
                  <a:pt x="2622346" y="194341"/>
                </a:lnTo>
                <a:lnTo>
                  <a:pt x="2662204" y="212489"/>
                </a:lnTo>
                <a:lnTo>
                  <a:pt x="2699966" y="231263"/>
                </a:lnTo>
                <a:lnTo>
                  <a:pt x="2735566" y="250640"/>
                </a:lnTo>
                <a:lnTo>
                  <a:pt x="2768938" y="270594"/>
                </a:lnTo>
                <a:lnTo>
                  <a:pt x="2828738" y="312140"/>
                </a:lnTo>
                <a:lnTo>
                  <a:pt x="2878842" y="355709"/>
                </a:lnTo>
                <a:lnTo>
                  <a:pt x="2918724" y="401108"/>
                </a:lnTo>
                <a:lnTo>
                  <a:pt x="2947861" y="448143"/>
                </a:lnTo>
                <a:lnTo>
                  <a:pt x="2965727" y="496623"/>
                </a:lnTo>
                <a:lnTo>
                  <a:pt x="2971799" y="546353"/>
                </a:lnTo>
                <a:lnTo>
                  <a:pt x="2970271" y="571363"/>
                </a:lnTo>
                <a:lnTo>
                  <a:pt x="2958236" y="620492"/>
                </a:lnTo>
                <a:lnTo>
                  <a:pt x="2934668" y="668274"/>
                </a:lnTo>
                <a:lnTo>
                  <a:pt x="2900093" y="714515"/>
                </a:lnTo>
                <a:lnTo>
                  <a:pt x="2855035" y="759023"/>
                </a:lnTo>
                <a:lnTo>
                  <a:pt x="2800018" y="801605"/>
                </a:lnTo>
                <a:lnTo>
                  <a:pt x="2735566" y="842067"/>
                </a:lnTo>
                <a:lnTo>
                  <a:pt x="2699966" y="861444"/>
                </a:lnTo>
                <a:lnTo>
                  <a:pt x="2662204" y="880218"/>
                </a:lnTo>
                <a:lnTo>
                  <a:pt x="2622346" y="898366"/>
                </a:lnTo>
                <a:lnTo>
                  <a:pt x="2580457" y="915864"/>
                </a:lnTo>
                <a:lnTo>
                  <a:pt x="2536602" y="932687"/>
                </a:lnTo>
                <a:lnTo>
                  <a:pt x="2490848" y="948812"/>
                </a:lnTo>
                <a:lnTo>
                  <a:pt x="2443260" y="964215"/>
                </a:lnTo>
                <a:lnTo>
                  <a:pt x="2393903" y="978871"/>
                </a:lnTo>
                <a:lnTo>
                  <a:pt x="2342843" y="992755"/>
                </a:lnTo>
                <a:lnTo>
                  <a:pt x="2290146" y="1005845"/>
                </a:lnTo>
                <a:lnTo>
                  <a:pt x="2235877" y="1018116"/>
                </a:lnTo>
                <a:lnTo>
                  <a:pt x="2180101" y="1029544"/>
                </a:lnTo>
                <a:lnTo>
                  <a:pt x="2122885" y="1040104"/>
                </a:lnTo>
                <a:lnTo>
                  <a:pt x="2064293" y="1049774"/>
                </a:lnTo>
                <a:lnTo>
                  <a:pt x="2004392" y="1058527"/>
                </a:lnTo>
                <a:lnTo>
                  <a:pt x="1943246" y="1066341"/>
                </a:lnTo>
                <a:lnTo>
                  <a:pt x="1880922" y="1073192"/>
                </a:lnTo>
                <a:lnTo>
                  <a:pt x="1817485" y="1079055"/>
                </a:lnTo>
                <a:lnTo>
                  <a:pt x="1753001" y="1083905"/>
                </a:lnTo>
                <a:lnTo>
                  <a:pt x="1687534" y="1087720"/>
                </a:lnTo>
                <a:lnTo>
                  <a:pt x="1621152" y="1090475"/>
                </a:lnTo>
                <a:lnTo>
                  <a:pt x="1553918" y="1092145"/>
                </a:lnTo>
                <a:lnTo>
                  <a:pt x="1485899" y="1092708"/>
                </a:lnTo>
                <a:lnTo>
                  <a:pt x="1417881" y="1092145"/>
                </a:lnTo>
                <a:lnTo>
                  <a:pt x="1350647" y="1090475"/>
                </a:lnTo>
                <a:lnTo>
                  <a:pt x="1284265" y="1087720"/>
                </a:lnTo>
                <a:lnTo>
                  <a:pt x="1218798" y="1083905"/>
                </a:lnTo>
                <a:lnTo>
                  <a:pt x="1154314" y="1079055"/>
                </a:lnTo>
                <a:lnTo>
                  <a:pt x="1090877" y="1073192"/>
                </a:lnTo>
                <a:lnTo>
                  <a:pt x="1028553" y="1066341"/>
                </a:lnTo>
                <a:lnTo>
                  <a:pt x="967407" y="1058527"/>
                </a:lnTo>
                <a:lnTo>
                  <a:pt x="907506" y="1049774"/>
                </a:lnTo>
                <a:lnTo>
                  <a:pt x="848914" y="1040104"/>
                </a:lnTo>
                <a:lnTo>
                  <a:pt x="791698" y="1029544"/>
                </a:lnTo>
                <a:lnTo>
                  <a:pt x="735922" y="1018116"/>
                </a:lnTo>
                <a:lnTo>
                  <a:pt x="681653" y="1005845"/>
                </a:lnTo>
                <a:lnTo>
                  <a:pt x="628956" y="992755"/>
                </a:lnTo>
                <a:lnTo>
                  <a:pt x="577896" y="978871"/>
                </a:lnTo>
                <a:lnTo>
                  <a:pt x="528539" y="964215"/>
                </a:lnTo>
                <a:lnTo>
                  <a:pt x="480951" y="948812"/>
                </a:lnTo>
                <a:lnTo>
                  <a:pt x="435197" y="932688"/>
                </a:lnTo>
                <a:lnTo>
                  <a:pt x="391342" y="915864"/>
                </a:lnTo>
                <a:lnTo>
                  <a:pt x="349453" y="898366"/>
                </a:lnTo>
                <a:lnTo>
                  <a:pt x="309595" y="880218"/>
                </a:lnTo>
                <a:lnTo>
                  <a:pt x="271833" y="861444"/>
                </a:lnTo>
                <a:lnTo>
                  <a:pt x="236233" y="842067"/>
                </a:lnTo>
                <a:lnTo>
                  <a:pt x="202861" y="822113"/>
                </a:lnTo>
                <a:lnTo>
                  <a:pt x="143061" y="780567"/>
                </a:lnTo>
                <a:lnTo>
                  <a:pt x="92957" y="736998"/>
                </a:lnTo>
                <a:lnTo>
                  <a:pt x="53075" y="691599"/>
                </a:lnTo>
                <a:lnTo>
                  <a:pt x="23938" y="644564"/>
                </a:lnTo>
                <a:lnTo>
                  <a:pt x="6072" y="596084"/>
                </a:lnTo>
                <a:lnTo>
                  <a:pt x="0" y="546353"/>
                </a:lnTo>
                <a:close/>
              </a:path>
            </a:pathLst>
          </a:custGeom>
          <a:ln w="38100">
            <a:solidFill>
              <a:srgbClr val="FF66F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68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5173" y="3394709"/>
            <a:ext cx="1714500" cy="71056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380"/>
              </a:spcBef>
              <a:tabLst>
                <a:tab pos="839469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b="1" spc="-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:	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53561" y="3509009"/>
            <a:ext cx="477520" cy="485140"/>
          </a:xfrm>
          <a:custGeom>
            <a:avLst/>
            <a:gdLst/>
            <a:ahLst/>
            <a:cxnLst/>
            <a:rect l="l" t="t" r="r" b="b"/>
            <a:pathLst>
              <a:path w="477520" h="485139">
                <a:moveTo>
                  <a:pt x="0" y="242315"/>
                </a:moveTo>
                <a:lnTo>
                  <a:pt x="4846" y="193472"/>
                </a:lnTo>
                <a:lnTo>
                  <a:pt x="18746" y="147982"/>
                </a:lnTo>
                <a:lnTo>
                  <a:pt x="40739" y="106821"/>
                </a:lnTo>
                <a:lnTo>
                  <a:pt x="69865" y="70961"/>
                </a:lnTo>
                <a:lnTo>
                  <a:pt x="105165" y="41375"/>
                </a:lnTo>
                <a:lnTo>
                  <a:pt x="145678" y="19038"/>
                </a:lnTo>
                <a:lnTo>
                  <a:pt x="190445" y="4921"/>
                </a:lnTo>
                <a:lnTo>
                  <a:pt x="238505" y="0"/>
                </a:lnTo>
                <a:lnTo>
                  <a:pt x="286566" y="4921"/>
                </a:lnTo>
                <a:lnTo>
                  <a:pt x="331333" y="19038"/>
                </a:lnTo>
                <a:lnTo>
                  <a:pt x="371846" y="41375"/>
                </a:lnTo>
                <a:lnTo>
                  <a:pt x="407146" y="70961"/>
                </a:lnTo>
                <a:lnTo>
                  <a:pt x="436272" y="106821"/>
                </a:lnTo>
                <a:lnTo>
                  <a:pt x="458265" y="147982"/>
                </a:lnTo>
                <a:lnTo>
                  <a:pt x="472165" y="193472"/>
                </a:lnTo>
                <a:lnTo>
                  <a:pt x="477012" y="242315"/>
                </a:lnTo>
                <a:lnTo>
                  <a:pt x="472165" y="291159"/>
                </a:lnTo>
                <a:lnTo>
                  <a:pt x="458265" y="336649"/>
                </a:lnTo>
                <a:lnTo>
                  <a:pt x="436272" y="377810"/>
                </a:lnTo>
                <a:lnTo>
                  <a:pt x="407146" y="413670"/>
                </a:lnTo>
                <a:lnTo>
                  <a:pt x="371846" y="443256"/>
                </a:lnTo>
                <a:lnTo>
                  <a:pt x="331333" y="465593"/>
                </a:lnTo>
                <a:lnTo>
                  <a:pt x="286566" y="479710"/>
                </a:lnTo>
                <a:lnTo>
                  <a:pt x="238505" y="484631"/>
                </a:lnTo>
                <a:lnTo>
                  <a:pt x="190445" y="479710"/>
                </a:lnTo>
                <a:lnTo>
                  <a:pt x="145678" y="465593"/>
                </a:lnTo>
                <a:lnTo>
                  <a:pt x="105165" y="443256"/>
                </a:lnTo>
                <a:lnTo>
                  <a:pt x="69865" y="413670"/>
                </a:lnTo>
                <a:lnTo>
                  <a:pt x="40739" y="377810"/>
                </a:lnTo>
                <a:lnTo>
                  <a:pt x="18746" y="336649"/>
                </a:lnTo>
                <a:lnTo>
                  <a:pt x="4846" y="291159"/>
                </a:lnTo>
                <a:lnTo>
                  <a:pt x="0" y="24231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67561" y="5892546"/>
            <a:ext cx="1714500" cy="58864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275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3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&lt;A&gt;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63517" y="5892546"/>
            <a:ext cx="1714500" cy="58864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275"/>
              </a:spcBef>
              <a:tabLst>
                <a:tab pos="828675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:	&lt;A&gt;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11273" y="4114927"/>
            <a:ext cx="1311275" cy="1778000"/>
          </a:xfrm>
          <a:custGeom>
            <a:avLst/>
            <a:gdLst/>
            <a:ahLst/>
            <a:cxnLst/>
            <a:rect l="l" t="t" r="r" b="b"/>
            <a:pathLst>
              <a:path w="1311275" h="1778000">
                <a:moveTo>
                  <a:pt x="1280033" y="0"/>
                </a:moveTo>
                <a:lnTo>
                  <a:pt x="1189863" y="122936"/>
                </a:lnTo>
                <a:lnTo>
                  <a:pt x="1220596" y="145415"/>
                </a:lnTo>
                <a:lnTo>
                  <a:pt x="1310767" y="22606"/>
                </a:lnTo>
                <a:lnTo>
                  <a:pt x="1280033" y="0"/>
                </a:lnTo>
                <a:close/>
              </a:path>
              <a:path w="1311275" h="1778000">
                <a:moveTo>
                  <a:pt x="1122299" y="215137"/>
                </a:moveTo>
                <a:lnTo>
                  <a:pt x="1032128" y="337947"/>
                </a:lnTo>
                <a:lnTo>
                  <a:pt x="1062863" y="360553"/>
                </a:lnTo>
                <a:lnTo>
                  <a:pt x="1153033" y="237617"/>
                </a:lnTo>
                <a:lnTo>
                  <a:pt x="1122299" y="215137"/>
                </a:lnTo>
                <a:close/>
              </a:path>
              <a:path w="1311275" h="1778000">
                <a:moveTo>
                  <a:pt x="964564" y="430149"/>
                </a:moveTo>
                <a:lnTo>
                  <a:pt x="874521" y="553085"/>
                </a:lnTo>
                <a:lnTo>
                  <a:pt x="905128" y="575564"/>
                </a:lnTo>
                <a:lnTo>
                  <a:pt x="995299" y="452755"/>
                </a:lnTo>
                <a:lnTo>
                  <a:pt x="964564" y="430149"/>
                </a:lnTo>
                <a:close/>
              </a:path>
              <a:path w="1311275" h="1778000">
                <a:moveTo>
                  <a:pt x="806831" y="645160"/>
                </a:moveTo>
                <a:lnTo>
                  <a:pt x="716788" y="768096"/>
                </a:lnTo>
                <a:lnTo>
                  <a:pt x="747521" y="790702"/>
                </a:lnTo>
                <a:lnTo>
                  <a:pt x="837564" y="667766"/>
                </a:lnTo>
                <a:lnTo>
                  <a:pt x="806831" y="645160"/>
                </a:lnTo>
                <a:close/>
              </a:path>
              <a:path w="1311275" h="1778000">
                <a:moveTo>
                  <a:pt x="649096" y="860298"/>
                </a:moveTo>
                <a:lnTo>
                  <a:pt x="559053" y="983234"/>
                </a:lnTo>
                <a:lnTo>
                  <a:pt x="589788" y="1005713"/>
                </a:lnTo>
                <a:lnTo>
                  <a:pt x="679831" y="882777"/>
                </a:lnTo>
                <a:lnTo>
                  <a:pt x="649096" y="860298"/>
                </a:lnTo>
                <a:close/>
              </a:path>
              <a:path w="1311275" h="1778000">
                <a:moveTo>
                  <a:pt x="491363" y="1075309"/>
                </a:moveTo>
                <a:lnTo>
                  <a:pt x="401319" y="1198245"/>
                </a:lnTo>
                <a:lnTo>
                  <a:pt x="432053" y="1220724"/>
                </a:lnTo>
                <a:lnTo>
                  <a:pt x="522096" y="1097915"/>
                </a:lnTo>
                <a:lnTo>
                  <a:pt x="491363" y="1075309"/>
                </a:lnTo>
                <a:close/>
              </a:path>
              <a:path w="1311275" h="1778000">
                <a:moveTo>
                  <a:pt x="333628" y="1290447"/>
                </a:moveTo>
                <a:lnTo>
                  <a:pt x="243586" y="1413256"/>
                </a:lnTo>
                <a:lnTo>
                  <a:pt x="274319" y="1435862"/>
                </a:lnTo>
                <a:lnTo>
                  <a:pt x="364363" y="1312926"/>
                </a:lnTo>
                <a:lnTo>
                  <a:pt x="333628" y="1290447"/>
                </a:lnTo>
                <a:close/>
              </a:path>
              <a:path w="1311275" h="1778000">
                <a:moveTo>
                  <a:pt x="66548" y="1590205"/>
                </a:moveTo>
                <a:lnTo>
                  <a:pt x="0" y="1777619"/>
                </a:lnTo>
                <a:lnTo>
                  <a:pt x="158750" y="1657794"/>
                </a:lnTo>
                <a:lnTo>
                  <a:pt x="148978" y="1650631"/>
                </a:lnTo>
                <a:lnTo>
                  <a:pt x="116712" y="1650631"/>
                </a:lnTo>
                <a:lnTo>
                  <a:pt x="85978" y="1628101"/>
                </a:lnTo>
                <a:lnTo>
                  <a:pt x="97269" y="1612725"/>
                </a:lnTo>
                <a:lnTo>
                  <a:pt x="66548" y="1590205"/>
                </a:lnTo>
                <a:close/>
              </a:path>
              <a:path w="1311275" h="1778000">
                <a:moveTo>
                  <a:pt x="97269" y="1612725"/>
                </a:moveTo>
                <a:lnTo>
                  <a:pt x="85978" y="1628101"/>
                </a:lnTo>
                <a:lnTo>
                  <a:pt x="116712" y="1650631"/>
                </a:lnTo>
                <a:lnTo>
                  <a:pt x="127992" y="1635247"/>
                </a:lnTo>
                <a:lnTo>
                  <a:pt x="97269" y="1612725"/>
                </a:lnTo>
                <a:close/>
              </a:path>
              <a:path w="1311275" h="1778000">
                <a:moveTo>
                  <a:pt x="127992" y="1635247"/>
                </a:moveTo>
                <a:lnTo>
                  <a:pt x="116712" y="1650631"/>
                </a:lnTo>
                <a:lnTo>
                  <a:pt x="148978" y="1650631"/>
                </a:lnTo>
                <a:lnTo>
                  <a:pt x="127992" y="1635247"/>
                </a:lnTo>
                <a:close/>
              </a:path>
              <a:path w="1311275" h="1778000">
                <a:moveTo>
                  <a:pt x="176021" y="1505470"/>
                </a:moveTo>
                <a:lnTo>
                  <a:pt x="97269" y="1612725"/>
                </a:lnTo>
                <a:lnTo>
                  <a:pt x="127992" y="1635247"/>
                </a:lnTo>
                <a:lnTo>
                  <a:pt x="206628" y="1528000"/>
                </a:lnTo>
                <a:lnTo>
                  <a:pt x="176021" y="150547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84853" y="4092702"/>
            <a:ext cx="998219" cy="1800225"/>
          </a:xfrm>
          <a:custGeom>
            <a:avLst/>
            <a:gdLst/>
            <a:ahLst/>
            <a:cxnLst/>
            <a:rect l="l" t="t" r="r" b="b"/>
            <a:pathLst>
              <a:path w="998220" h="1800225">
                <a:moveTo>
                  <a:pt x="33528" y="0"/>
                </a:moveTo>
                <a:lnTo>
                  <a:pt x="0" y="18287"/>
                </a:lnTo>
                <a:lnTo>
                  <a:pt x="73279" y="151892"/>
                </a:lnTo>
                <a:lnTo>
                  <a:pt x="106680" y="133604"/>
                </a:lnTo>
                <a:lnTo>
                  <a:pt x="33528" y="0"/>
                </a:lnTo>
                <a:close/>
              </a:path>
              <a:path w="998220" h="1800225">
                <a:moveTo>
                  <a:pt x="161671" y="233806"/>
                </a:moveTo>
                <a:lnTo>
                  <a:pt x="128270" y="252222"/>
                </a:lnTo>
                <a:lnTo>
                  <a:pt x="201549" y="385825"/>
                </a:lnTo>
                <a:lnTo>
                  <a:pt x="234950" y="367538"/>
                </a:lnTo>
                <a:lnTo>
                  <a:pt x="161671" y="233806"/>
                </a:lnTo>
                <a:close/>
              </a:path>
              <a:path w="998220" h="1800225">
                <a:moveTo>
                  <a:pt x="289813" y="467741"/>
                </a:moveTo>
                <a:lnTo>
                  <a:pt x="256412" y="486029"/>
                </a:lnTo>
                <a:lnTo>
                  <a:pt x="329692" y="619633"/>
                </a:lnTo>
                <a:lnTo>
                  <a:pt x="363093" y="601345"/>
                </a:lnTo>
                <a:lnTo>
                  <a:pt x="289813" y="467741"/>
                </a:lnTo>
                <a:close/>
              </a:path>
              <a:path w="998220" h="1800225">
                <a:moveTo>
                  <a:pt x="417957" y="701675"/>
                </a:moveTo>
                <a:lnTo>
                  <a:pt x="384556" y="719963"/>
                </a:lnTo>
                <a:lnTo>
                  <a:pt x="457835" y="853567"/>
                </a:lnTo>
                <a:lnTo>
                  <a:pt x="491236" y="835279"/>
                </a:lnTo>
                <a:lnTo>
                  <a:pt x="417957" y="701675"/>
                </a:lnTo>
                <a:close/>
              </a:path>
              <a:path w="998220" h="1800225">
                <a:moveTo>
                  <a:pt x="546226" y="935482"/>
                </a:moveTo>
                <a:lnTo>
                  <a:pt x="512825" y="953770"/>
                </a:lnTo>
                <a:lnTo>
                  <a:pt x="585978" y="1087501"/>
                </a:lnTo>
                <a:lnTo>
                  <a:pt x="619506" y="1069086"/>
                </a:lnTo>
                <a:lnTo>
                  <a:pt x="546226" y="935482"/>
                </a:lnTo>
                <a:close/>
              </a:path>
              <a:path w="998220" h="1800225">
                <a:moveTo>
                  <a:pt x="674370" y="1169416"/>
                </a:moveTo>
                <a:lnTo>
                  <a:pt x="640969" y="1187704"/>
                </a:lnTo>
                <a:lnTo>
                  <a:pt x="714248" y="1321308"/>
                </a:lnTo>
                <a:lnTo>
                  <a:pt x="747649" y="1303020"/>
                </a:lnTo>
                <a:lnTo>
                  <a:pt x="674370" y="1169416"/>
                </a:lnTo>
                <a:close/>
              </a:path>
              <a:path w="998220" h="1800225">
                <a:moveTo>
                  <a:pt x="802513" y="1403223"/>
                </a:moveTo>
                <a:lnTo>
                  <a:pt x="769112" y="1421511"/>
                </a:lnTo>
                <a:lnTo>
                  <a:pt x="842391" y="1555191"/>
                </a:lnTo>
                <a:lnTo>
                  <a:pt x="875792" y="1536877"/>
                </a:lnTo>
                <a:lnTo>
                  <a:pt x="802513" y="1403223"/>
                </a:lnTo>
                <a:close/>
              </a:path>
              <a:path w="998220" h="1800225">
                <a:moveTo>
                  <a:pt x="956818" y="1605318"/>
                </a:moveTo>
                <a:lnTo>
                  <a:pt x="856488" y="1660258"/>
                </a:lnTo>
                <a:lnTo>
                  <a:pt x="998220" y="1799844"/>
                </a:lnTo>
                <a:lnTo>
                  <a:pt x="968167" y="1658645"/>
                </a:lnTo>
                <a:lnTo>
                  <a:pt x="899160" y="1658645"/>
                </a:lnTo>
                <a:lnTo>
                  <a:pt x="897382" y="1655432"/>
                </a:lnTo>
                <a:lnTo>
                  <a:pt x="930783" y="1637118"/>
                </a:lnTo>
                <a:lnTo>
                  <a:pt x="963586" y="1637118"/>
                </a:lnTo>
                <a:lnTo>
                  <a:pt x="956818" y="1605318"/>
                </a:lnTo>
                <a:close/>
              </a:path>
              <a:path w="998220" h="1800225">
                <a:moveTo>
                  <a:pt x="930783" y="1637118"/>
                </a:moveTo>
                <a:lnTo>
                  <a:pt x="897382" y="1655432"/>
                </a:lnTo>
                <a:lnTo>
                  <a:pt x="899160" y="1658645"/>
                </a:lnTo>
                <a:lnTo>
                  <a:pt x="932561" y="1640344"/>
                </a:lnTo>
                <a:lnTo>
                  <a:pt x="930783" y="1637118"/>
                </a:lnTo>
                <a:close/>
              </a:path>
              <a:path w="998220" h="1800225">
                <a:moveTo>
                  <a:pt x="963586" y="1637118"/>
                </a:moveTo>
                <a:lnTo>
                  <a:pt x="930783" y="1637118"/>
                </a:lnTo>
                <a:lnTo>
                  <a:pt x="932561" y="1640344"/>
                </a:lnTo>
                <a:lnTo>
                  <a:pt x="899160" y="1658645"/>
                </a:lnTo>
                <a:lnTo>
                  <a:pt x="968167" y="1658645"/>
                </a:lnTo>
                <a:lnTo>
                  <a:pt x="963586" y="1637118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26542" y="0"/>
            <a:ext cx="8570595" cy="309562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299720" algn="ctr">
              <a:lnSpc>
                <a:spcPct val="100000"/>
              </a:lnSpc>
              <a:spcBef>
                <a:spcPts val="969"/>
              </a:spcBef>
              <a:tabLst>
                <a:tab pos="942975" algn="l"/>
                <a:tab pos="3750310" algn="l"/>
                <a:tab pos="425831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  <a:p>
            <a:pPr marL="318770" indent="-306705">
              <a:lnSpc>
                <a:spcPct val="100000"/>
              </a:lnSpc>
              <a:spcBef>
                <a:spcPts val="1595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活跃变量：</a:t>
            </a:r>
            <a:endParaRPr sz="3200">
              <a:latin typeface="宋体"/>
              <a:cs typeface="宋体"/>
            </a:endParaRPr>
          </a:p>
          <a:p>
            <a:pPr marL="12700" marR="5080" indent="819785">
              <a:lnSpc>
                <a:spcPct val="130000"/>
              </a:lnSpc>
              <a:spcBef>
                <a:spcPts val="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在程序中对某变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某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如果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存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一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条从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开始的通路，其中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引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了</a:t>
            </a:r>
            <a:r>
              <a:rPr sz="32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在点</a:t>
            </a:r>
            <a:r>
              <a:rPr sz="32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的值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，则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在点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是活跃的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，否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死亡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的。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53361" y="4554473"/>
            <a:ext cx="1714500" cy="7086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375"/>
              </a:spcBef>
              <a:tabLst>
                <a:tab pos="850900" algn="l"/>
              </a:tabLst>
            </a:pP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d'</a:t>
            </a:r>
            <a:r>
              <a:rPr sz="3200" b="1" spc="-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:	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73273" y="4668773"/>
            <a:ext cx="475615" cy="483234"/>
          </a:xfrm>
          <a:custGeom>
            <a:avLst/>
            <a:gdLst/>
            <a:ahLst/>
            <a:cxnLst/>
            <a:rect l="l" t="t" r="r" b="b"/>
            <a:pathLst>
              <a:path w="475614" h="483235">
                <a:moveTo>
                  <a:pt x="0" y="241553"/>
                </a:moveTo>
                <a:lnTo>
                  <a:pt x="4829" y="192888"/>
                </a:lnTo>
                <a:lnTo>
                  <a:pt x="18680" y="147554"/>
                </a:lnTo>
                <a:lnTo>
                  <a:pt x="40598" y="106523"/>
                </a:lnTo>
                <a:lnTo>
                  <a:pt x="69627" y="70770"/>
                </a:lnTo>
                <a:lnTo>
                  <a:pt x="104812" y="41268"/>
                </a:lnTo>
                <a:lnTo>
                  <a:pt x="145196" y="18990"/>
                </a:lnTo>
                <a:lnTo>
                  <a:pt x="189825" y="4909"/>
                </a:lnTo>
                <a:lnTo>
                  <a:pt x="237744" y="0"/>
                </a:lnTo>
                <a:lnTo>
                  <a:pt x="285662" y="4909"/>
                </a:lnTo>
                <a:lnTo>
                  <a:pt x="330291" y="18990"/>
                </a:lnTo>
                <a:lnTo>
                  <a:pt x="370675" y="41268"/>
                </a:lnTo>
                <a:lnTo>
                  <a:pt x="405860" y="70770"/>
                </a:lnTo>
                <a:lnTo>
                  <a:pt x="434889" y="106523"/>
                </a:lnTo>
                <a:lnTo>
                  <a:pt x="456807" y="147554"/>
                </a:lnTo>
                <a:lnTo>
                  <a:pt x="470658" y="192888"/>
                </a:lnTo>
                <a:lnTo>
                  <a:pt x="475488" y="241553"/>
                </a:lnTo>
                <a:lnTo>
                  <a:pt x="470658" y="290219"/>
                </a:lnTo>
                <a:lnTo>
                  <a:pt x="456807" y="335553"/>
                </a:lnTo>
                <a:lnTo>
                  <a:pt x="434889" y="376584"/>
                </a:lnTo>
                <a:lnTo>
                  <a:pt x="405860" y="412337"/>
                </a:lnTo>
                <a:lnTo>
                  <a:pt x="370675" y="441839"/>
                </a:lnTo>
                <a:lnTo>
                  <a:pt x="330291" y="464117"/>
                </a:lnTo>
                <a:lnTo>
                  <a:pt x="285662" y="478198"/>
                </a:lnTo>
                <a:lnTo>
                  <a:pt x="237744" y="483107"/>
                </a:lnTo>
                <a:lnTo>
                  <a:pt x="189825" y="478198"/>
                </a:lnTo>
                <a:lnTo>
                  <a:pt x="145196" y="464117"/>
                </a:lnTo>
                <a:lnTo>
                  <a:pt x="104812" y="441839"/>
                </a:lnTo>
                <a:lnTo>
                  <a:pt x="69627" y="412337"/>
                </a:lnTo>
                <a:lnTo>
                  <a:pt x="40598" y="376584"/>
                </a:lnTo>
                <a:lnTo>
                  <a:pt x="18680" y="335553"/>
                </a:lnTo>
                <a:lnTo>
                  <a:pt x="4829" y="290219"/>
                </a:lnTo>
                <a:lnTo>
                  <a:pt x="0" y="24155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67100" y="5689091"/>
            <a:ext cx="2333625" cy="791210"/>
          </a:xfrm>
          <a:custGeom>
            <a:avLst/>
            <a:gdLst/>
            <a:ahLst/>
            <a:cxnLst/>
            <a:rect l="l" t="t" r="r" b="b"/>
            <a:pathLst>
              <a:path w="2333625" h="791210">
                <a:moveTo>
                  <a:pt x="0" y="0"/>
                </a:moveTo>
                <a:lnTo>
                  <a:pt x="2333244" y="790956"/>
                </a:lnTo>
              </a:path>
            </a:pathLst>
          </a:custGeom>
          <a:ln w="7620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29811" y="4668011"/>
            <a:ext cx="1163320" cy="594360"/>
          </a:xfrm>
          <a:custGeom>
            <a:avLst/>
            <a:gdLst/>
            <a:ahLst/>
            <a:cxnLst/>
            <a:rect l="l" t="t" r="r" b="b"/>
            <a:pathLst>
              <a:path w="1163320" h="594360">
                <a:moveTo>
                  <a:pt x="0" y="0"/>
                </a:moveTo>
                <a:lnTo>
                  <a:pt x="1162812" y="594360"/>
                </a:lnTo>
              </a:path>
            </a:pathLst>
          </a:custGeom>
          <a:ln w="7620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80353" y="3606165"/>
            <a:ext cx="2747645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在点</a:t>
            </a:r>
            <a:r>
              <a:rPr sz="32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活跃</a:t>
            </a:r>
            <a:endParaRPr sz="3200">
              <a:latin typeface="宋体"/>
              <a:cs typeface="宋体"/>
            </a:endParaRPr>
          </a:p>
          <a:p>
            <a:pPr marL="41275">
              <a:lnSpc>
                <a:spcPct val="100000"/>
              </a:lnSpc>
              <a:spcBef>
                <a:spcPts val="2325"/>
              </a:spcBef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在点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d,</a:t>
            </a:r>
            <a:r>
              <a:rPr sz="3200" b="1" spc="-9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d'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活跃</a:t>
            </a:r>
            <a:endParaRPr sz="3200">
              <a:latin typeface="宋体"/>
              <a:cs typeface="宋体"/>
            </a:endParaRPr>
          </a:p>
          <a:p>
            <a:pPr marL="41275" marR="22860">
              <a:lnSpc>
                <a:spcPct val="100000"/>
              </a:lnSpc>
              <a:spcBef>
                <a:spcPts val="2115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在点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活跃， 在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死亡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69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726439"/>
            <a:ext cx="3641090" cy="5613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421005" indent="-408940">
              <a:lnSpc>
                <a:spcPct val="100000"/>
              </a:lnSpc>
              <a:spcBef>
                <a:spcPts val="415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421005" algn="l"/>
                <a:tab pos="421640" algn="l"/>
                <a:tab pos="1951355" algn="l"/>
              </a:tabLst>
            </a:pP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sz="3200" u="none" dirty="0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sz="3200" u="none" spc="5"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sz="3200" u="none" dirty="0">
                <a:solidFill>
                  <a:srgbClr val="FFFF00"/>
                </a:solidFill>
                <a:latin typeface="Times New Roman"/>
                <a:cs typeface="Times New Roman"/>
              </a:rPr>
              <a:t>7	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32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链）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742" y="1254607"/>
            <a:ext cx="8369300" cy="4302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19785" algn="just">
              <a:lnSpc>
                <a:spcPct val="135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假设在程序中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某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点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一个变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定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值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，则 把该定值能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到达的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引用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点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的全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体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，称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在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定值点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定值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引用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链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sz="32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du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链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）。</a:t>
            </a:r>
            <a:endParaRPr sz="3200">
              <a:latin typeface="宋体"/>
              <a:cs typeface="宋体"/>
            </a:endParaRPr>
          </a:p>
          <a:p>
            <a:pPr marL="241300" indent="76200">
              <a:lnSpc>
                <a:spcPct val="100000"/>
              </a:lnSpc>
              <a:spcBef>
                <a:spcPts val="2640"/>
              </a:spcBef>
              <a:tabLst>
                <a:tab pos="1045844" algn="l"/>
              </a:tabLst>
            </a:pPr>
            <a:r>
              <a:rPr sz="3600" dirty="0">
                <a:solidFill>
                  <a:srgbClr val="FF66FF"/>
                </a:solidFill>
                <a:latin typeface="Wingdings"/>
                <a:cs typeface="Wingdings"/>
              </a:rPr>
              <a:t></a:t>
            </a:r>
            <a:r>
              <a:rPr sz="3600" dirty="0">
                <a:solidFill>
                  <a:srgbClr val="FF66FF"/>
                </a:solidFill>
                <a:latin typeface="Times New Roman"/>
                <a:cs typeface="Times New Roman"/>
              </a:rPr>
              <a:t>	</a:t>
            </a:r>
            <a:r>
              <a:rPr sz="32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du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链是相对于定值点的引用</a:t>
            </a:r>
            <a:r>
              <a:rPr sz="3200" b="1" spc="-15" dirty="0">
                <a:solidFill>
                  <a:srgbClr val="FFFF00"/>
                </a:solidFill>
                <a:latin typeface="宋体"/>
                <a:cs typeface="宋体"/>
              </a:rPr>
              <a:t>情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况。</a:t>
            </a:r>
            <a:endParaRPr sz="3200">
              <a:latin typeface="宋体"/>
              <a:cs typeface="宋体"/>
            </a:endParaRPr>
          </a:p>
          <a:p>
            <a:pPr marL="241300" marR="1140460">
              <a:lnSpc>
                <a:spcPct val="130000"/>
              </a:lnSpc>
              <a:spcBef>
                <a:spcPts val="1180"/>
              </a:spcBef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变量</a:t>
            </a: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在点</a:t>
            </a:r>
            <a:r>
              <a:rPr sz="32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的定值的</a:t>
            </a:r>
            <a:r>
              <a:rPr sz="32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du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链，</a:t>
            </a: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是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变</a:t>
            </a:r>
            <a:r>
              <a:rPr sz="3200" b="1" spc="10" dirty="0">
                <a:solidFill>
                  <a:srgbClr val="66FFFF"/>
                </a:solidFill>
                <a:latin typeface="宋体"/>
                <a:cs typeface="宋体"/>
              </a:rPr>
              <a:t>量</a:t>
            </a:r>
            <a:r>
              <a:rPr sz="32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定 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值后所有可能的引用点。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01164" y="11378"/>
            <a:ext cx="6121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3463290" algn="l"/>
                <a:tab pos="3970654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70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8269" y="3954017"/>
            <a:ext cx="1714500" cy="7086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380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3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&lt;A&gt;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64357" y="1934717"/>
            <a:ext cx="1714500" cy="7086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375"/>
              </a:spcBef>
              <a:tabLst>
                <a:tab pos="941705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b="1" spc="-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:	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84270" y="2049017"/>
            <a:ext cx="475615" cy="483234"/>
          </a:xfrm>
          <a:custGeom>
            <a:avLst/>
            <a:gdLst/>
            <a:ahLst/>
            <a:cxnLst/>
            <a:rect l="l" t="t" r="r" b="b"/>
            <a:pathLst>
              <a:path w="475614" h="483235">
                <a:moveTo>
                  <a:pt x="0" y="241554"/>
                </a:moveTo>
                <a:lnTo>
                  <a:pt x="4829" y="192888"/>
                </a:lnTo>
                <a:lnTo>
                  <a:pt x="18680" y="147554"/>
                </a:lnTo>
                <a:lnTo>
                  <a:pt x="40598" y="106523"/>
                </a:lnTo>
                <a:lnTo>
                  <a:pt x="69627" y="70770"/>
                </a:lnTo>
                <a:lnTo>
                  <a:pt x="104812" y="41268"/>
                </a:lnTo>
                <a:lnTo>
                  <a:pt x="145196" y="18990"/>
                </a:lnTo>
                <a:lnTo>
                  <a:pt x="189825" y="4909"/>
                </a:lnTo>
                <a:lnTo>
                  <a:pt x="237743" y="0"/>
                </a:lnTo>
                <a:lnTo>
                  <a:pt x="285662" y="4909"/>
                </a:lnTo>
                <a:lnTo>
                  <a:pt x="330291" y="18990"/>
                </a:lnTo>
                <a:lnTo>
                  <a:pt x="370675" y="41268"/>
                </a:lnTo>
                <a:lnTo>
                  <a:pt x="405860" y="70770"/>
                </a:lnTo>
                <a:lnTo>
                  <a:pt x="434889" y="106523"/>
                </a:lnTo>
                <a:lnTo>
                  <a:pt x="456807" y="147554"/>
                </a:lnTo>
                <a:lnTo>
                  <a:pt x="470658" y="192888"/>
                </a:lnTo>
                <a:lnTo>
                  <a:pt x="475488" y="241554"/>
                </a:lnTo>
                <a:lnTo>
                  <a:pt x="470658" y="290219"/>
                </a:lnTo>
                <a:lnTo>
                  <a:pt x="456807" y="335553"/>
                </a:lnTo>
                <a:lnTo>
                  <a:pt x="434889" y="376584"/>
                </a:lnTo>
                <a:lnTo>
                  <a:pt x="405860" y="412337"/>
                </a:lnTo>
                <a:lnTo>
                  <a:pt x="370675" y="441839"/>
                </a:lnTo>
                <a:lnTo>
                  <a:pt x="330291" y="464117"/>
                </a:lnTo>
                <a:lnTo>
                  <a:pt x="285662" y="478198"/>
                </a:lnTo>
                <a:lnTo>
                  <a:pt x="237743" y="483108"/>
                </a:lnTo>
                <a:lnTo>
                  <a:pt x="189825" y="478198"/>
                </a:lnTo>
                <a:lnTo>
                  <a:pt x="145196" y="464117"/>
                </a:lnTo>
                <a:lnTo>
                  <a:pt x="104812" y="441839"/>
                </a:lnTo>
                <a:lnTo>
                  <a:pt x="69627" y="412337"/>
                </a:lnTo>
                <a:lnTo>
                  <a:pt x="40598" y="376584"/>
                </a:lnTo>
                <a:lnTo>
                  <a:pt x="18680" y="335553"/>
                </a:lnTo>
                <a:lnTo>
                  <a:pt x="4829" y="290219"/>
                </a:lnTo>
                <a:lnTo>
                  <a:pt x="0" y="24155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92702" y="3954017"/>
            <a:ext cx="1714500" cy="7086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80"/>
              </a:spcBef>
              <a:tabLst>
                <a:tab pos="829944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:	&lt;A&gt;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40457" y="2646679"/>
            <a:ext cx="1309370" cy="1307465"/>
          </a:xfrm>
          <a:custGeom>
            <a:avLst/>
            <a:gdLst/>
            <a:ahLst/>
            <a:cxnLst/>
            <a:rect l="l" t="t" r="r" b="b"/>
            <a:pathLst>
              <a:path w="1309370" h="1307464">
                <a:moveTo>
                  <a:pt x="1281938" y="0"/>
                </a:moveTo>
                <a:lnTo>
                  <a:pt x="1174115" y="107696"/>
                </a:lnTo>
                <a:lnTo>
                  <a:pt x="1201039" y="134620"/>
                </a:lnTo>
                <a:lnTo>
                  <a:pt x="1308862" y="26924"/>
                </a:lnTo>
                <a:lnTo>
                  <a:pt x="1281938" y="0"/>
                </a:lnTo>
                <a:close/>
              </a:path>
              <a:path w="1309370" h="1307464">
                <a:moveTo>
                  <a:pt x="1093216" y="188468"/>
                </a:moveTo>
                <a:lnTo>
                  <a:pt x="985393" y="296164"/>
                </a:lnTo>
                <a:lnTo>
                  <a:pt x="1012317" y="323088"/>
                </a:lnTo>
                <a:lnTo>
                  <a:pt x="1120140" y="215392"/>
                </a:lnTo>
                <a:lnTo>
                  <a:pt x="1093216" y="188468"/>
                </a:lnTo>
                <a:close/>
              </a:path>
              <a:path w="1309370" h="1307464">
                <a:moveTo>
                  <a:pt x="904494" y="376936"/>
                </a:moveTo>
                <a:lnTo>
                  <a:pt x="796671" y="484632"/>
                </a:lnTo>
                <a:lnTo>
                  <a:pt x="823594" y="511556"/>
                </a:lnTo>
                <a:lnTo>
                  <a:pt x="931418" y="403860"/>
                </a:lnTo>
                <a:lnTo>
                  <a:pt x="904494" y="376936"/>
                </a:lnTo>
                <a:close/>
              </a:path>
              <a:path w="1309370" h="1307464">
                <a:moveTo>
                  <a:pt x="715899" y="565404"/>
                </a:moveTo>
                <a:lnTo>
                  <a:pt x="608076" y="673100"/>
                </a:lnTo>
                <a:lnTo>
                  <a:pt x="635000" y="700024"/>
                </a:lnTo>
                <a:lnTo>
                  <a:pt x="742823" y="592328"/>
                </a:lnTo>
                <a:lnTo>
                  <a:pt x="715899" y="565404"/>
                </a:lnTo>
                <a:close/>
              </a:path>
              <a:path w="1309370" h="1307464">
                <a:moveTo>
                  <a:pt x="527177" y="753872"/>
                </a:moveTo>
                <a:lnTo>
                  <a:pt x="419354" y="861568"/>
                </a:lnTo>
                <a:lnTo>
                  <a:pt x="446278" y="888492"/>
                </a:lnTo>
                <a:lnTo>
                  <a:pt x="554101" y="780796"/>
                </a:lnTo>
                <a:lnTo>
                  <a:pt x="527177" y="753872"/>
                </a:lnTo>
                <a:close/>
              </a:path>
              <a:path w="1309370" h="1307464">
                <a:moveTo>
                  <a:pt x="338455" y="942340"/>
                </a:moveTo>
                <a:lnTo>
                  <a:pt x="230631" y="1050036"/>
                </a:lnTo>
                <a:lnTo>
                  <a:pt x="257556" y="1076960"/>
                </a:lnTo>
                <a:lnTo>
                  <a:pt x="365379" y="969264"/>
                </a:lnTo>
                <a:lnTo>
                  <a:pt x="338455" y="942340"/>
                </a:lnTo>
                <a:close/>
              </a:path>
              <a:path w="1309370" h="1307464">
                <a:moveTo>
                  <a:pt x="94361" y="1132332"/>
                </a:moveTo>
                <a:lnTo>
                  <a:pt x="0" y="1307338"/>
                </a:lnTo>
                <a:lnTo>
                  <a:pt x="175133" y="1213104"/>
                </a:lnTo>
                <a:lnTo>
                  <a:pt x="161671" y="1199642"/>
                </a:lnTo>
                <a:lnTo>
                  <a:pt x="134747" y="1199642"/>
                </a:lnTo>
                <a:lnTo>
                  <a:pt x="107823" y="1172718"/>
                </a:lnTo>
                <a:lnTo>
                  <a:pt x="121285" y="1159256"/>
                </a:lnTo>
                <a:lnTo>
                  <a:pt x="94361" y="1132332"/>
                </a:lnTo>
                <a:close/>
              </a:path>
              <a:path w="1309370" h="1307464">
                <a:moveTo>
                  <a:pt x="121285" y="1159256"/>
                </a:moveTo>
                <a:lnTo>
                  <a:pt x="107823" y="1172718"/>
                </a:lnTo>
                <a:lnTo>
                  <a:pt x="134747" y="1199642"/>
                </a:lnTo>
                <a:lnTo>
                  <a:pt x="148209" y="1186180"/>
                </a:lnTo>
                <a:lnTo>
                  <a:pt x="121285" y="1159256"/>
                </a:lnTo>
                <a:close/>
              </a:path>
              <a:path w="1309370" h="1307464">
                <a:moveTo>
                  <a:pt x="148209" y="1186180"/>
                </a:moveTo>
                <a:lnTo>
                  <a:pt x="134747" y="1199642"/>
                </a:lnTo>
                <a:lnTo>
                  <a:pt x="161671" y="1199642"/>
                </a:lnTo>
                <a:lnTo>
                  <a:pt x="148209" y="1186180"/>
                </a:lnTo>
                <a:close/>
              </a:path>
              <a:path w="1309370" h="1307464">
                <a:moveTo>
                  <a:pt x="149733" y="1130808"/>
                </a:moveTo>
                <a:lnTo>
                  <a:pt x="121285" y="1159256"/>
                </a:lnTo>
                <a:lnTo>
                  <a:pt x="148209" y="1186180"/>
                </a:lnTo>
                <a:lnTo>
                  <a:pt x="176656" y="1157732"/>
                </a:lnTo>
                <a:lnTo>
                  <a:pt x="149733" y="1130808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15561" y="2628900"/>
            <a:ext cx="996950" cy="1325245"/>
          </a:xfrm>
          <a:custGeom>
            <a:avLst/>
            <a:gdLst/>
            <a:ahLst/>
            <a:cxnLst/>
            <a:rect l="l" t="t" r="r" b="b"/>
            <a:pathLst>
              <a:path w="996950" h="1325245">
                <a:moveTo>
                  <a:pt x="30479" y="0"/>
                </a:moveTo>
                <a:lnTo>
                  <a:pt x="0" y="22860"/>
                </a:lnTo>
                <a:lnTo>
                  <a:pt x="91186" y="144907"/>
                </a:lnTo>
                <a:lnTo>
                  <a:pt x="121665" y="122174"/>
                </a:lnTo>
                <a:lnTo>
                  <a:pt x="30479" y="0"/>
                </a:lnTo>
                <a:close/>
              </a:path>
              <a:path w="996950" h="1325245">
                <a:moveTo>
                  <a:pt x="190118" y="213740"/>
                </a:moveTo>
                <a:lnTo>
                  <a:pt x="159638" y="236474"/>
                </a:lnTo>
                <a:lnTo>
                  <a:pt x="250825" y="358521"/>
                </a:lnTo>
                <a:lnTo>
                  <a:pt x="281304" y="335788"/>
                </a:lnTo>
                <a:lnTo>
                  <a:pt x="190118" y="213740"/>
                </a:lnTo>
                <a:close/>
              </a:path>
              <a:path w="996950" h="1325245">
                <a:moveTo>
                  <a:pt x="349758" y="427354"/>
                </a:moveTo>
                <a:lnTo>
                  <a:pt x="319277" y="450088"/>
                </a:lnTo>
                <a:lnTo>
                  <a:pt x="410463" y="572262"/>
                </a:lnTo>
                <a:lnTo>
                  <a:pt x="440943" y="549401"/>
                </a:lnTo>
                <a:lnTo>
                  <a:pt x="349758" y="427354"/>
                </a:lnTo>
                <a:close/>
              </a:path>
              <a:path w="996950" h="1325245">
                <a:moveTo>
                  <a:pt x="509397" y="640969"/>
                </a:moveTo>
                <a:lnTo>
                  <a:pt x="478789" y="663828"/>
                </a:lnTo>
                <a:lnTo>
                  <a:pt x="570102" y="785876"/>
                </a:lnTo>
                <a:lnTo>
                  <a:pt x="600583" y="763142"/>
                </a:lnTo>
                <a:lnTo>
                  <a:pt x="509397" y="640969"/>
                </a:lnTo>
                <a:close/>
              </a:path>
              <a:path w="996950" h="1325245">
                <a:moveTo>
                  <a:pt x="669036" y="854710"/>
                </a:moveTo>
                <a:lnTo>
                  <a:pt x="638428" y="877442"/>
                </a:lnTo>
                <a:lnTo>
                  <a:pt x="729741" y="999489"/>
                </a:lnTo>
                <a:lnTo>
                  <a:pt x="760222" y="976757"/>
                </a:lnTo>
                <a:lnTo>
                  <a:pt x="669036" y="854710"/>
                </a:lnTo>
                <a:close/>
              </a:path>
              <a:path w="996950" h="1325245">
                <a:moveTo>
                  <a:pt x="867471" y="1183922"/>
                </a:moveTo>
                <a:lnTo>
                  <a:pt x="836929" y="1206754"/>
                </a:lnTo>
                <a:lnTo>
                  <a:pt x="996696" y="1325118"/>
                </a:lnTo>
                <a:lnTo>
                  <a:pt x="950704" y="1199133"/>
                </a:lnTo>
                <a:lnTo>
                  <a:pt x="878839" y="1199133"/>
                </a:lnTo>
                <a:lnTo>
                  <a:pt x="867471" y="1183922"/>
                </a:lnTo>
                <a:close/>
              </a:path>
              <a:path w="996950" h="1325245">
                <a:moveTo>
                  <a:pt x="897937" y="1161146"/>
                </a:moveTo>
                <a:lnTo>
                  <a:pt x="867471" y="1183922"/>
                </a:lnTo>
                <a:lnTo>
                  <a:pt x="878839" y="1199133"/>
                </a:lnTo>
                <a:lnTo>
                  <a:pt x="909320" y="1176401"/>
                </a:lnTo>
                <a:lnTo>
                  <a:pt x="897937" y="1161146"/>
                </a:lnTo>
                <a:close/>
              </a:path>
              <a:path w="996950" h="1325245">
                <a:moveTo>
                  <a:pt x="928497" y="1138301"/>
                </a:moveTo>
                <a:lnTo>
                  <a:pt x="897937" y="1161146"/>
                </a:lnTo>
                <a:lnTo>
                  <a:pt x="909320" y="1176401"/>
                </a:lnTo>
                <a:lnTo>
                  <a:pt x="878839" y="1199133"/>
                </a:lnTo>
                <a:lnTo>
                  <a:pt x="950704" y="1199133"/>
                </a:lnTo>
                <a:lnTo>
                  <a:pt x="928497" y="1138301"/>
                </a:lnTo>
                <a:close/>
              </a:path>
              <a:path w="996950" h="1325245">
                <a:moveTo>
                  <a:pt x="828675" y="1068324"/>
                </a:moveTo>
                <a:lnTo>
                  <a:pt x="798067" y="1091057"/>
                </a:lnTo>
                <a:lnTo>
                  <a:pt x="867471" y="1183922"/>
                </a:lnTo>
                <a:lnTo>
                  <a:pt x="897937" y="1161146"/>
                </a:lnTo>
                <a:lnTo>
                  <a:pt x="828675" y="1068324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15304" y="2183108"/>
            <a:ext cx="2733040" cy="120459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65"/>
              </a:spcBef>
            </a:pP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对变量</a:t>
            </a:r>
            <a:r>
              <a:rPr sz="28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393065">
              <a:lnSpc>
                <a:spcPct val="100000"/>
              </a:lnSpc>
              <a:spcBef>
                <a:spcPts val="1115"/>
              </a:spcBef>
            </a:pPr>
            <a:r>
              <a:rPr sz="2800" b="1" spc="10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3200" b="1" spc="10" dirty="0">
                <a:solidFill>
                  <a:srgbClr val="FFFF00"/>
                </a:solidFill>
                <a:latin typeface="Times New Roman"/>
                <a:cs typeface="Times New Roman"/>
              </a:rPr>
              <a:t>-</a:t>
            </a:r>
            <a:r>
              <a:rPr sz="3150" b="1" spc="15" baseline="-21164" dirty="0">
                <a:solidFill>
                  <a:srgbClr val="FFFF00"/>
                </a:solidFill>
                <a:latin typeface="Times New Roman"/>
                <a:cs typeface="Times New Roman"/>
              </a:rPr>
              <a:t>(A)</a:t>
            </a:r>
            <a:r>
              <a:rPr sz="3150" b="1" spc="15" baseline="-15873" dirty="0">
                <a:solidFill>
                  <a:srgbClr val="FFFF00"/>
                </a:solidFill>
                <a:latin typeface="Times New Roman"/>
                <a:cs typeface="Times New Roman"/>
              </a:rPr>
              <a:t>du</a:t>
            </a:r>
            <a:r>
              <a:rPr sz="2775" b="1" spc="15" baseline="-16516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775" b="1" spc="637" baseline="-1651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{d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,d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3443" y="775461"/>
            <a:ext cx="1406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6720" indent="-414655">
              <a:lnSpc>
                <a:spcPct val="100000"/>
              </a:lnSpc>
              <a:spcBef>
                <a:spcPts val="100"/>
              </a:spcBef>
              <a:buClr>
                <a:srgbClr val="66FFFF"/>
              </a:buClr>
              <a:buSzPct val="112500"/>
              <a:buFont typeface="Wingdings"/>
              <a:buChar char=""/>
              <a:tabLst>
                <a:tab pos="427355" algn="l"/>
              </a:tabLst>
            </a:pPr>
            <a:r>
              <a:rPr sz="36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du</a:t>
            </a:r>
            <a:r>
              <a:rPr sz="3600" b="1" spc="-15" dirty="0">
                <a:solidFill>
                  <a:srgbClr val="FFFF00"/>
                </a:solidFill>
                <a:latin typeface="宋体"/>
                <a:cs typeface="宋体"/>
              </a:rPr>
              <a:t>链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701164" y="11378"/>
            <a:ext cx="1895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代码优化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71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152135" y="11378"/>
            <a:ext cx="2670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3339" y="597153"/>
            <a:ext cx="28803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33170" algn="l"/>
              </a:tabLst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例</a:t>
            </a:r>
            <a:r>
              <a:rPr sz="3200" b="1" dirty="0">
                <a:solidFill>
                  <a:srgbClr val="FFFF66"/>
                </a:solidFill>
                <a:latin typeface="Times New Roman"/>
                <a:cs typeface="Times New Roman"/>
              </a:rPr>
              <a:t>8.7	</a:t>
            </a: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设有流图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42253" y="762762"/>
            <a:ext cx="2133600" cy="506095"/>
          </a:xfrm>
          <a:custGeom>
            <a:avLst/>
            <a:gdLst/>
            <a:ahLst/>
            <a:cxnLst/>
            <a:rect l="l" t="t" r="r" b="b"/>
            <a:pathLst>
              <a:path w="2133600" h="506094">
                <a:moveTo>
                  <a:pt x="0" y="505968"/>
                </a:moveTo>
                <a:lnTo>
                  <a:pt x="2133600" y="505968"/>
                </a:lnTo>
                <a:lnTo>
                  <a:pt x="2133600" y="0"/>
                </a:lnTo>
                <a:lnTo>
                  <a:pt x="0" y="0"/>
                </a:lnTo>
                <a:lnTo>
                  <a:pt x="0" y="50596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4965" y="1773173"/>
            <a:ext cx="1447800" cy="381000"/>
          </a:xfrm>
          <a:custGeom>
            <a:avLst/>
            <a:gdLst/>
            <a:ahLst/>
            <a:cxnLst/>
            <a:rect l="l" t="t" r="r" b="b"/>
            <a:pathLst>
              <a:path w="1447800" h="381000">
                <a:moveTo>
                  <a:pt x="0" y="381000"/>
                </a:moveTo>
                <a:lnTo>
                  <a:pt x="1447799" y="381000"/>
                </a:lnTo>
                <a:lnTo>
                  <a:pt x="1447799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38619" y="1706372"/>
            <a:ext cx="3810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85153" y="2629661"/>
            <a:ext cx="1522730" cy="460375"/>
          </a:xfrm>
          <a:custGeom>
            <a:avLst/>
            <a:gdLst/>
            <a:ahLst/>
            <a:cxnLst/>
            <a:rect l="l" t="t" r="r" b="b"/>
            <a:pathLst>
              <a:path w="1522729" h="460375">
                <a:moveTo>
                  <a:pt x="0" y="460248"/>
                </a:moveTo>
                <a:lnTo>
                  <a:pt x="1522476" y="460248"/>
                </a:lnTo>
                <a:lnTo>
                  <a:pt x="1522476" y="0"/>
                </a:lnTo>
                <a:lnTo>
                  <a:pt x="0" y="0"/>
                </a:lnTo>
                <a:lnTo>
                  <a:pt x="0" y="46024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21502" y="3551682"/>
            <a:ext cx="2133600" cy="937260"/>
          </a:xfrm>
          <a:custGeom>
            <a:avLst/>
            <a:gdLst/>
            <a:ahLst/>
            <a:cxnLst/>
            <a:rect l="l" t="t" r="r" b="b"/>
            <a:pathLst>
              <a:path w="2133600" h="937260">
                <a:moveTo>
                  <a:pt x="0" y="937259"/>
                </a:moveTo>
                <a:lnTo>
                  <a:pt x="2133600" y="937259"/>
                </a:lnTo>
                <a:lnTo>
                  <a:pt x="2133600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51904" y="1268730"/>
            <a:ext cx="114300" cy="457200"/>
          </a:xfrm>
          <a:custGeom>
            <a:avLst/>
            <a:gdLst/>
            <a:ahLst/>
            <a:cxnLst/>
            <a:rect l="l" t="t" r="r" b="b"/>
            <a:pathLst>
              <a:path w="114300" h="457200">
                <a:moveTo>
                  <a:pt x="38100" y="342900"/>
                </a:moveTo>
                <a:lnTo>
                  <a:pt x="0" y="342900"/>
                </a:lnTo>
                <a:lnTo>
                  <a:pt x="57150" y="457200"/>
                </a:lnTo>
                <a:lnTo>
                  <a:pt x="104775" y="361950"/>
                </a:lnTo>
                <a:lnTo>
                  <a:pt x="38100" y="361950"/>
                </a:lnTo>
                <a:lnTo>
                  <a:pt x="38100" y="342900"/>
                </a:lnTo>
                <a:close/>
              </a:path>
              <a:path w="114300" h="457200">
                <a:moveTo>
                  <a:pt x="76200" y="0"/>
                </a:moveTo>
                <a:lnTo>
                  <a:pt x="38100" y="0"/>
                </a:lnTo>
                <a:lnTo>
                  <a:pt x="38100" y="361950"/>
                </a:lnTo>
                <a:lnTo>
                  <a:pt x="76200" y="361950"/>
                </a:lnTo>
                <a:lnTo>
                  <a:pt x="76200" y="0"/>
                </a:lnTo>
                <a:close/>
              </a:path>
              <a:path w="114300" h="457200">
                <a:moveTo>
                  <a:pt x="114300" y="342900"/>
                </a:moveTo>
                <a:lnTo>
                  <a:pt x="76200" y="342900"/>
                </a:lnTo>
                <a:lnTo>
                  <a:pt x="76200" y="361950"/>
                </a:lnTo>
                <a:lnTo>
                  <a:pt x="104775" y="361950"/>
                </a:lnTo>
                <a:lnTo>
                  <a:pt x="114300" y="342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03719" y="2172461"/>
            <a:ext cx="114300" cy="457200"/>
          </a:xfrm>
          <a:custGeom>
            <a:avLst/>
            <a:gdLst/>
            <a:ahLst/>
            <a:cxnLst/>
            <a:rect l="l" t="t" r="r" b="b"/>
            <a:pathLst>
              <a:path w="114300" h="457200">
                <a:moveTo>
                  <a:pt x="38100" y="342900"/>
                </a:moveTo>
                <a:lnTo>
                  <a:pt x="0" y="342900"/>
                </a:lnTo>
                <a:lnTo>
                  <a:pt x="57150" y="457200"/>
                </a:lnTo>
                <a:lnTo>
                  <a:pt x="104775" y="361950"/>
                </a:lnTo>
                <a:lnTo>
                  <a:pt x="38100" y="361950"/>
                </a:lnTo>
                <a:lnTo>
                  <a:pt x="38100" y="342900"/>
                </a:lnTo>
                <a:close/>
              </a:path>
              <a:path w="114300" h="457200">
                <a:moveTo>
                  <a:pt x="76200" y="0"/>
                </a:moveTo>
                <a:lnTo>
                  <a:pt x="38100" y="0"/>
                </a:lnTo>
                <a:lnTo>
                  <a:pt x="38100" y="361950"/>
                </a:lnTo>
                <a:lnTo>
                  <a:pt x="76200" y="361950"/>
                </a:lnTo>
                <a:lnTo>
                  <a:pt x="76200" y="0"/>
                </a:lnTo>
                <a:close/>
              </a:path>
              <a:path w="114300" h="457200">
                <a:moveTo>
                  <a:pt x="114300" y="342900"/>
                </a:moveTo>
                <a:lnTo>
                  <a:pt x="76200" y="342900"/>
                </a:lnTo>
                <a:lnTo>
                  <a:pt x="76200" y="361950"/>
                </a:lnTo>
                <a:lnTo>
                  <a:pt x="104775" y="361950"/>
                </a:lnTo>
                <a:lnTo>
                  <a:pt x="114300" y="342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75857" y="2549087"/>
            <a:ext cx="661035" cy="95186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66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B4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64655" y="2205304"/>
            <a:ext cx="3803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B3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72555" y="608728"/>
            <a:ext cx="661035" cy="113093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20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75" b="1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267970">
              <a:lnSpc>
                <a:spcPct val="100000"/>
              </a:lnSpc>
              <a:spcBef>
                <a:spcPts val="1140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B2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37732" y="6272885"/>
            <a:ext cx="14547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92810" algn="l"/>
              </a:tabLst>
            </a:pP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75" b="1" spc="15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k+2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&lt;t&gt;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50203" y="3532454"/>
            <a:ext cx="1609090" cy="2742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 marR="43180">
              <a:lnSpc>
                <a:spcPct val="100000"/>
              </a:lnSpc>
              <a:spcBef>
                <a:spcPts val="95"/>
              </a:spcBef>
              <a:tabLst>
                <a:tab pos="1034415" algn="l"/>
                <a:tab pos="1171575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75" b="1" spc="7" baseline="-18018" dirty="0">
                <a:solidFill>
                  <a:srgbClr val="FFFFFF"/>
                </a:solidFill>
                <a:latin typeface="Times New Roman"/>
                <a:cs typeface="Times New Roman"/>
              </a:rPr>
              <a:t>j 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&lt;t&gt;  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75" b="1" spc="7" baseline="-16516" dirty="0">
                <a:solidFill>
                  <a:srgbClr val="FFFFFF"/>
                </a:solidFill>
                <a:latin typeface="Times New Roman"/>
                <a:cs typeface="Times New Roman"/>
              </a:rPr>
              <a:t>j+1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:		</a:t>
            </a:r>
            <a:r>
              <a:rPr sz="2600" b="1" dirty="0">
                <a:solidFill>
                  <a:srgbClr val="99FFCC"/>
                </a:solidFill>
                <a:latin typeface="Times New Roman"/>
                <a:cs typeface="Times New Roman"/>
              </a:rPr>
              <a:t>t</a:t>
            </a:r>
            <a:endParaRPr sz="2600">
              <a:latin typeface="Times New Roman"/>
              <a:cs typeface="Times New Roman"/>
            </a:endParaRPr>
          </a:p>
          <a:p>
            <a:pPr marR="23495" algn="ctr">
              <a:lnSpc>
                <a:spcPct val="100000"/>
              </a:lnSpc>
              <a:spcBef>
                <a:spcPts val="1440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B5</a:t>
            </a:r>
            <a:endParaRPr sz="2400">
              <a:latin typeface="Times New Roman"/>
              <a:cs typeface="Times New Roman"/>
            </a:endParaRPr>
          </a:p>
          <a:p>
            <a:pPr marL="248920">
              <a:lnSpc>
                <a:spcPct val="100000"/>
              </a:lnSpc>
              <a:tabLst>
                <a:tab pos="1003300" algn="l"/>
              </a:tabLst>
            </a:pP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75" b="1" spc="15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&lt;t&gt;</a:t>
            </a:r>
            <a:endParaRPr sz="2600">
              <a:latin typeface="Times New Roman"/>
              <a:cs typeface="Times New Roman"/>
            </a:endParaRPr>
          </a:p>
          <a:p>
            <a:pPr marL="248920">
              <a:lnSpc>
                <a:spcPts val="3835"/>
              </a:lnSpc>
              <a:spcBef>
                <a:spcPts val="290"/>
              </a:spcBef>
              <a:tabLst>
                <a:tab pos="1239520" algn="l"/>
              </a:tabLst>
            </a:pPr>
            <a:r>
              <a:rPr sz="4200" b="1" spc="15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185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k+1</a:t>
            </a:r>
            <a:r>
              <a:rPr sz="4200" b="1" spc="15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sz="4800" b="1" baseline="8680" dirty="0">
                <a:solidFill>
                  <a:srgbClr val="99FFCC"/>
                </a:solidFill>
                <a:latin typeface="Times New Roman"/>
                <a:cs typeface="Times New Roman"/>
              </a:rPr>
              <a:t>t</a:t>
            </a:r>
            <a:endParaRPr sz="4800" baseline="8680">
              <a:latin typeface="Times New Roman"/>
              <a:cs typeface="Times New Roman"/>
            </a:endParaRPr>
          </a:p>
          <a:p>
            <a:pPr marL="420370">
              <a:lnSpc>
                <a:spcPts val="2875"/>
              </a:lnSpc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B6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99326" y="820674"/>
            <a:ext cx="381000" cy="372110"/>
          </a:xfrm>
          <a:custGeom>
            <a:avLst/>
            <a:gdLst/>
            <a:ahLst/>
            <a:cxnLst/>
            <a:rect l="l" t="t" r="r" b="b"/>
            <a:pathLst>
              <a:path w="381000" h="372109">
                <a:moveTo>
                  <a:pt x="0" y="185927"/>
                </a:moveTo>
                <a:lnTo>
                  <a:pt x="6808" y="136480"/>
                </a:lnTo>
                <a:lnTo>
                  <a:pt x="26020" y="92060"/>
                </a:lnTo>
                <a:lnTo>
                  <a:pt x="55816" y="54435"/>
                </a:lnTo>
                <a:lnTo>
                  <a:pt x="94375" y="25371"/>
                </a:lnTo>
                <a:lnTo>
                  <a:pt x="139876" y="6637"/>
                </a:lnTo>
                <a:lnTo>
                  <a:pt x="190500" y="0"/>
                </a:lnTo>
                <a:lnTo>
                  <a:pt x="241123" y="6637"/>
                </a:lnTo>
                <a:lnTo>
                  <a:pt x="286624" y="25371"/>
                </a:lnTo>
                <a:lnTo>
                  <a:pt x="325183" y="54435"/>
                </a:lnTo>
                <a:lnTo>
                  <a:pt x="354979" y="92060"/>
                </a:lnTo>
                <a:lnTo>
                  <a:pt x="374191" y="136480"/>
                </a:lnTo>
                <a:lnTo>
                  <a:pt x="381000" y="185927"/>
                </a:lnTo>
                <a:lnTo>
                  <a:pt x="374191" y="235375"/>
                </a:lnTo>
                <a:lnTo>
                  <a:pt x="354979" y="279795"/>
                </a:lnTo>
                <a:lnTo>
                  <a:pt x="325183" y="317420"/>
                </a:lnTo>
                <a:lnTo>
                  <a:pt x="286624" y="346484"/>
                </a:lnTo>
                <a:lnTo>
                  <a:pt x="241123" y="365218"/>
                </a:lnTo>
                <a:lnTo>
                  <a:pt x="190500" y="371855"/>
                </a:lnTo>
                <a:lnTo>
                  <a:pt x="139876" y="365218"/>
                </a:lnTo>
                <a:lnTo>
                  <a:pt x="94375" y="346484"/>
                </a:lnTo>
                <a:lnTo>
                  <a:pt x="55816" y="317420"/>
                </a:lnTo>
                <a:lnTo>
                  <a:pt x="26020" y="279795"/>
                </a:lnTo>
                <a:lnTo>
                  <a:pt x="6808" y="235375"/>
                </a:lnTo>
                <a:lnTo>
                  <a:pt x="0" y="18592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44311" y="1474647"/>
            <a:ext cx="3295904" cy="5337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910831" y="722452"/>
            <a:ext cx="1612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99FFCC"/>
                </a:solidFill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26048" y="2147061"/>
            <a:ext cx="590550" cy="1358900"/>
          </a:xfrm>
          <a:custGeom>
            <a:avLst/>
            <a:gdLst/>
            <a:ahLst/>
            <a:cxnLst/>
            <a:rect l="l" t="t" r="r" b="b"/>
            <a:pathLst>
              <a:path w="590550" h="1358900">
                <a:moveTo>
                  <a:pt x="409662" y="1298362"/>
                </a:moveTo>
                <a:lnTo>
                  <a:pt x="393191" y="1333500"/>
                </a:lnTo>
                <a:lnTo>
                  <a:pt x="590168" y="1358900"/>
                </a:lnTo>
                <a:lnTo>
                  <a:pt x="530428" y="1308100"/>
                </a:lnTo>
                <a:lnTo>
                  <a:pt x="424561" y="1308100"/>
                </a:lnTo>
                <a:lnTo>
                  <a:pt x="409662" y="1298362"/>
                </a:lnTo>
                <a:close/>
              </a:path>
              <a:path w="590550" h="1358900">
                <a:moveTo>
                  <a:pt x="424901" y="1265854"/>
                </a:moveTo>
                <a:lnTo>
                  <a:pt x="409662" y="1298362"/>
                </a:lnTo>
                <a:lnTo>
                  <a:pt x="424561" y="1308100"/>
                </a:lnTo>
                <a:lnTo>
                  <a:pt x="444118" y="1282700"/>
                </a:lnTo>
                <a:lnTo>
                  <a:pt x="424688" y="1270000"/>
                </a:lnTo>
                <a:lnTo>
                  <a:pt x="426974" y="1270000"/>
                </a:lnTo>
                <a:lnTo>
                  <a:pt x="424901" y="1265854"/>
                </a:lnTo>
                <a:close/>
              </a:path>
              <a:path w="590550" h="1358900">
                <a:moveTo>
                  <a:pt x="440816" y="1231900"/>
                </a:moveTo>
                <a:lnTo>
                  <a:pt x="424901" y="1265854"/>
                </a:lnTo>
                <a:lnTo>
                  <a:pt x="426974" y="1270000"/>
                </a:lnTo>
                <a:lnTo>
                  <a:pt x="424688" y="1270000"/>
                </a:lnTo>
                <a:lnTo>
                  <a:pt x="444118" y="1282700"/>
                </a:lnTo>
                <a:lnTo>
                  <a:pt x="424561" y="1308100"/>
                </a:lnTo>
                <a:lnTo>
                  <a:pt x="530428" y="1308100"/>
                </a:lnTo>
                <a:lnTo>
                  <a:pt x="440816" y="1231900"/>
                </a:lnTo>
                <a:close/>
              </a:path>
              <a:path w="590550" h="1358900">
                <a:moveTo>
                  <a:pt x="420624" y="1257300"/>
                </a:moveTo>
                <a:lnTo>
                  <a:pt x="345566" y="1257300"/>
                </a:lnTo>
                <a:lnTo>
                  <a:pt x="361188" y="1270000"/>
                </a:lnTo>
                <a:lnTo>
                  <a:pt x="382270" y="1270000"/>
                </a:lnTo>
                <a:lnTo>
                  <a:pt x="389636" y="1282700"/>
                </a:lnTo>
                <a:lnTo>
                  <a:pt x="394588" y="1282700"/>
                </a:lnTo>
                <a:lnTo>
                  <a:pt x="398779" y="1295400"/>
                </a:lnTo>
                <a:lnTo>
                  <a:pt x="405129" y="1295400"/>
                </a:lnTo>
                <a:lnTo>
                  <a:pt x="409662" y="1298362"/>
                </a:lnTo>
                <a:lnTo>
                  <a:pt x="424901" y="1265854"/>
                </a:lnTo>
                <a:lnTo>
                  <a:pt x="420624" y="1257300"/>
                </a:lnTo>
                <a:close/>
              </a:path>
              <a:path w="590550" h="1358900">
                <a:moveTo>
                  <a:pt x="412623" y="1244600"/>
                </a:moveTo>
                <a:lnTo>
                  <a:pt x="293242" y="1244600"/>
                </a:lnTo>
                <a:lnTo>
                  <a:pt x="311276" y="1257300"/>
                </a:lnTo>
                <a:lnTo>
                  <a:pt x="418591" y="1257300"/>
                </a:lnTo>
                <a:lnTo>
                  <a:pt x="412623" y="1244600"/>
                </a:lnTo>
                <a:close/>
              </a:path>
              <a:path w="590550" h="1358900">
                <a:moveTo>
                  <a:pt x="393953" y="1231900"/>
                </a:moveTo>
                <a:lnTo>
                  <a:pt x="265811" y="1231900"/>
                </a:lnTo>
                <a:lnTo>
                  <a:pt x="275209" y="1244600"/>
                </a:lnTo>
                <a:lnTo>
                  <a:pt x="402716" y="1244600"/>
                </a:lnTo>
                <a:lnTo>
                  <a:pt x="393953" y="1231900"/>
                </a:lnTo>
                <a:close/>
              </a:path>
              <a:path w="590550" h="1358900">
                <a:moveTo>
                  <a:pt x="357250" y="1219200"/>
                </a:moveTo>
                <a:lnTo>
                  <a:pt x="249174" y="1219200"/>
                </a:lnTo>
                <a:lnTo>
                  <a:pt x="256921" y="1231900"/>
                </a:lnTo>
                <a:lnTo>
                  <a:pt x="375792" y="1231900"/>
                </a:lnTo>
                <a:lnTo>
                  <a:pt x="357250" y="1219200"/>
                </a:lnTo>
                <a:close/>
              </a:path>
              <a:path w="590550" h="1358900">
                <a:moveTo>
                  <a:pt x="304291" y="1206500"/>
                </a:moveTo>
                <a:lnTo>
                  <a:pt x="229870" y="1206500"/>
                </a:lnTo>
                <a:lnTo>
                  <a:pt x="242062" y="1219200"/>
                </a:lnTo>
                <a:lnTo>
                  <a:pt x="321055" y="1219200"/>
                </a:lnTo>
                <a:lnTo>
                  <a:pt x="304291" y="1206500"/>
                </a:lnTo>
                <a:close/>
              </a:path>
              <a:path w="590550" h="1358900">
                <a:moveTo>
                  <a:pt x="211836" y="1130300"/>
                </a:moveTo>
                <a:lnTo>
                  <a:pt x="155955" y="1130300"/>
                </a:lnTo>
                <a:lnTo>
                  <a:pt x="163575" y="1143000"/>
                </a:lnTo>
                <a:lnTo>
                  <a:pt x="170052" y="1143000"/>
                </a:lnTo>
                <a:lnTo>
                  <a:pt x="176275" y="1155700"/>
                </a:lnTo>
                <a:lnTo>
                  <a:pt x="182117" y="1155700"/>
                </a:lnTo>
                <a:lnTo>
                  <a:pt x="194563" y="1168400"/>
                </a:lnTo>
                <a:lnTo>
                  <a:pt x="201802" y="1181100"/>
                </a:lnTo>
                <a:lnTo>
                  <a:pt x="209930" y="1193800"/>
                </a:lnTo>
                <a:lnTo>
                  <a:pt x="219201" y="1206500"/>
                </a:lnTo>
                <a:lnTo>
                  <a:pt x="282701" y="1206500"/>
                </a:lnTo>
                <a:lnTo>
                  <a:pt x="276225" y="1193800"/>
                </a:lnTo>
                <a:lnTo>
                  <a:pt x="264033" y="1193800"/>
                </a:lnTo>
                <a:lnTo>
                  <a:pt x="253364" y="1181100"/>
                </a:lnTo>
                <a:lnTo>
                  <a:pt x="244475" y="1168400"/>
                </a:lnTo>
                <a:lnTo>
                  <a:pt x="236854" y="1168400"/>
                </a:lnTo>
                <a:lnTo>
                  <a:pt x="230124" y="1155700"/>
                </a:lnTo>
                <a:lnTo>
                  <a:pt x="224027" y="1143000"/>
                </a:lnTo>
                <a:lnTo>
                  <a:pt x="211836" y="1130300"/>
                </a:lnTo>
                <a:close/>
              </a:path>
              <a:path w="590550" h="1358900">
                <a:moveTo>
                  <a:pt x="188722" y="1104900"/>
                </a:moveTo>
                <a:lnTo>
                  <a:pt x="98551" y="1104900"/>
                </a:lnTo>
                <a:lnTo>
                  <a:pt x="102997" y="1117600"/>
                </a:lnTo>
                <a:lnTo>
                  <a:pt x="136525" y="1117600"/>
                </a:lnTo>
                <a:lnTo>
                  <a:pt x="147065" y="1130300"/>
                </a:lnTo>
                <a:lnTo>
                  <a:pt x="204977" y="1130300"/>
                </a:lnTo>
                <a:lnTo>
                  <a:pt x="197612" y="1117600"/>
                </a:lnTo>
                <a:lnTo>
                  <a:pt x="188722" y="1104900"/>
                </a:lnTo>
                <a:close/>
              </a:path>
              <a:path w="590550" h="1358900">
                <a:moveTo>
                  <a:pt x="115076" y="1042811"/>
                </a:moveTo>
                <a:lnTo>
                  <a:pt x="115188" y="1054100"/>
                </a:lnTo>
                <a:lnTo>
                  <a:pt x="113284" y="1054100"/>
                </a:lnTo>
                <a:lnTo>
                  <a:pt x="111125" y="1066800"/>
                </a:lnTo>
                <a:lnTo>
                  <a:pt x="85725" y="1066800"/>
                </a:lnTo>
                <a:lnTo>
                  <a:pt x="88773" y="1079500"/>
                </a:lnTo>
                <a:lnTo>
                  <a:pt x="92328" y="1092200"/>
                </a:lnTo>
                <a:lnTo>
                  <a:pt x="96392" y="1104900"/>
                </a:lnTo>
                <a:lnTo>
                  <a:pt x="178562" y="1104900"/>
                </a:lnTo>
                <a:lnTo>
                  <a:pt x="167131" y="1092200"/>
                </a:lnTo>
                <a:lnTo>
                  <a:pt x="132206" y="1092200"/>
                </a:lnTo>
                <a:lnTo>
                  <a:pt x="120014" y="1079500"/>
                </a:lnTo>
                <a:lnTo>
                  <a:pt x="128270" y="1079500"/>
                </a:lnTo>
                <a:lnTo>
                  <a:pt x="124333" y="1066800"/>
                </a:lnTo>
                <a:lnTo>
                  <a:pt x="119252" y="1054100"/>
                </a:lnTo>
                <a:lnTo>
                  <a:pt x="115076" y="1042811"/>
                </a:lnTo>
                <a:close/>
              </a:path>
              <a:path w="590550" h="1358900">
                <a:moveTo>
                  <a:pt x="128270" y="1079500"/>
                </a:moveTo>
                <a:lnTo>
                  <a:pt x="120014" y="1079500"/>
                </a:lnTo>
                <a:lnTo>
                  <a:pt x="132206" y="1092200"/>
                </a:lnTo>
                <a:lnTo>
                  <a:pt x="128270" y="1079500"/>
                </a:lnTo>
                <a:close/>
              </a:path>
              <a:path w="590550" h="1358900">
                <a:moveTo>
                  <a:pt x="145668" y="1079500"/>
                </a:moveTo>
                <a:lnTo>
                  <a:pt x="128270" y="1079500"/>
                </a:lnTo>
                <a:lnTo>
                  <a:pt x="132206" y="1092200"/>
                </a:lnTo>
                <a:lnTo>
                  <a:pt x="153415" y="1092200"/>
                </a:lnTo>
                <a:lnTo>
                  <a:pt x="145668" y="1079500"/>
                </a:lnTo>
                <a:close/>
              </a:path>
              <a:path w="590550" h="1358900">
                <a:moveTo>
                  <a:pt x="114553" y="1041400"/>
                </a:moveTo>
                <a:lnTo>
                  <a:pt x="78231" y="1041400"/>
                </a:lnTo>
                <a:lnTo>
                  <a:pt x="77067" y="1053041"/>
                </a:lnTo>
                <a:lnTo>
                  <a:pt x="77088" y="1054100"/>
                </a:lnTo>
                <a:lnTo>
                  <a:pt x="78739" y="1066800"/>
                </a:lnTo>
                <a:lnTo>
                  <a:pt x="81279" y="1066800"/>
                </a:lnTo>
                <a:lnTo>
                  <a:pt x="79755" y="1054100"/>
                </a:lnTo>
                <a:lnTo>
                  <a:pt x="115188" y="1054100"/>
                </a:lnTo>
                <a:lnTo>
                  <a:pt x="115076" y="1042811"/>
                </a:lnTo>
                <a:lnTo>
                  <a:pt x="114553" y="1041400"/>
                </a:lnTo>
                <a:close/>
              </a:path>
              <a:path w="590550" h="1358900">
                <a:moveTo>
                  <a:pt x="113284" y="1054100"/>
                </a:moveTo>
                <a:lnTo>
                  <a:pt x="79755" y="1054100"/>
                </a:lnTo>
                <a:lnTo>
                  <a:pt x="81279" y="1066800"/>
                </a:lnTo>
                <a:lnTo>
                  <a:pt x="111125" y="1066800"/>
                </a:lnTo>
                <a:lnTo>
                  <a:pt x="113284" y="1054100"/>
                </a:lnTo>
                <a:close/>
              </a:path>
              <a:path w="590550" h="1358900">
                <a:moveTo>
                  <a:pt x="76708" y="1041400"/>
                </a:moveTo>
                <a:lnTo>
                  <a:pt x="67055" y="1041400"/>
                </a:lnTo>
                <a:lnTo>
                  <a:pt x="70865" y="1054100"/>
                </a:lnTo>
                <a:lnTo>
                  <a:pt x="76962" y="1054100"/>
                </a:lnTo>
                <a:lnTo>
                  <a:pt x="77057" y="1053041"/>
                </a:lnTo>
                <a:lnTo>
                  <a:pt x="76708" y="1041400"/>
                </a:lnTo>
                <a:close/>
              </a:path>
              <a:path w="590550" h="1358900">
                <a:moveTo>
                  <a:pt x="76835" y="1041400"/>
                </a:moveTo>
                <a:lnTo>
                  <a:pt x="77059" y="1053123"/>
                </a:lnTo>
                <a:lnTo>
                  <a:pt x="76835" y="1041400"/>
                </a:lnTo>
                <a:close/>
              </a:path>
              <a:path w="590550" h="1358900">
                <a:moveTo>
                  <a:pt x="78231" y="1041400"/>
                </a:moveTo>
                <a:lnTo>
                  <a:pt x="76835" y="1041400"/>
                </a:lnTo>
                <a:lnTo>
                  <a:pt x="77067" y="1053041"/>
                </a:lnTo>
                <a:lnTo>
                  <a:pt x="78231" y="1041400"/>
                </a:lnTo>
                <a:close/>
              </a:path>
              <a:path w="590550" h="1358900">
                <a:moveTo>
                  <a:pt x="115062" y="1041400"/>
                </a:moveTo>
                <a:lnTo>
                  <a:pt x="114553" y="1041400"/>
                </a:lnTo>
                <a:lnTo>
                  <a:pt x="115076" y="1042811"/>
                </a:lnTo>
                <a:lnTo>
                  <a:pt x="115062" y="1041400"/>
                </a:lnTo>
                <a:close/>
              </a:path>
              <a:path w="590550" h="1358900">
                <a:moveTo>
                  <a:pt x="77803" y="1028700"/>
                </a:moveTo>
                <a:lnTo>
                  <a:pt x="58547" y="1028700"/>
                </a:lnTo>
                <a:lnTo>
                  <a:pt x="63246" y="1041400"/>
                </a:lnTo>
                <a:lnTo>
                  <a:pt x="75860" y="1041400"/>
                </a:lnTo>
                <a:lnTo>
                  <a:pt x="77803" y="1028700"/>
                </a:lnTo>
                <a:close/>
              </a:path>
              <a:path w="590550" h="1358900">
                <a:moveTo>
                  <a:pt x="90170" y="1028700"/>
                </a:moveTo>
                <a:lnTo>
                  <a:pt x="77803" y="1028700"/>
                </a:lnTo>
                <a:lnTo>
                  <a:pt x="75860" y="1041400"/>
                </a:lnTo>
                <a:lnTo>
                  <a:pt x="77597" y="1041400"/>
                </a:lnTo>
                <a:lnTo>
                  <a:pt x="90170" y="1028700"/>
                </a:lnTo>
                <a:close/>
              </a:path>
              <a:path w="590550" h="1358900">
                <a:moveTo>
                  <a:pt x="104139" y="1028700"/>
                </a:moveTo>
                <a:lnTo>
                  <a:pt x="90170" y="1028700"/>
                </a:lnTo>
                <a:lnTo>
                  <a:pt x="77597" y="1041400"/>
                </a:lnTo>
                <a:lnTo>
                  <a:pt x="106425" y="1041400"/>
                </a:lnTo>
                <a:lnTo>
                  <a:pt x="104139" y="1028700"/>
                </a:lnTo>
                <a:close/>
              </a:path>
              <a:path w="590550" h="1358900">
                <a:moveTo>
                  <a:pt x="104648" y="1028700"/>
                </a:moveTo>
                <a:lnTo>
                  <a:pt x="104139" y="1028700"/>
                </a:lnTo>
                <a:lnTo>
                  <a:pt x="106425" y="1041400"/>
                </a:lnTo>
                <a:lnTo>
                  <a:pt x="104648" y="1028700"/>
                </a:lnTo>
                <a:close/>
              </a:path>
              <a:path w="590550" h="1358900">
                <a:moveTo>
                  <a:pt x="109150" y="1028700"/>
                </a:moveTo>
                <a:lnTo>
                  <a:pt x="104648" y="1028700"/>
                </a:lnTo>
                <a:lnTo>
                  <a:pt x="106425" y="1041400"/>
                </a:lnTo>
                <a:lnTo>
                  <a:pt x="112902" y="1041400"/>
                </a:lnTo>
                <a:lnTo>
                  <a:pt x="109150" y="1028700"/>
                </a:lnTo>
                <a:close/>
              </a:path>
              <a:path w="590550" h="1358900">
                <a:moveTo>
                  <a:pt x="37718" y="838200"/>
                </a:moveTo>
                <a:lnTo>
                  <a:pt x="126" y="838200"/>
                </a:lnTo>
                <a:lnTo>
                  <a:pt x="1777" y="850900"/>
                </a:lnTo>
                <a:lnTo>
                  <a:pt x="3175" y="863600"/>
                </a:lnTo>
                <a:lnTo>
                  <a:pt x="9525" y="901700"/>
                </a:lnTo>
                <a:lnTo>
                  <a:pt x="13462" y="914400"/>
                </a:lnTo>
                <a:lnTo>
                  <a:pt x="18287" y="939800"/>
                </a:lnTo>
                <a:lnTo>
                  <a:pt x="24256" y="965200"/>
                </a:lnTo>
                <a:lnTo>
                  <a:pt x="31496" y="977900"/>
                </a:lnTo>
                <a:lnTo>
                  <a:pt x="35940" y="990600"/>
                </a:lnTo>
                <a:lnTo>
                  <a:pt x="40639" y="1003300"/>
                </a:lnTo>
                <a:lnTo>
                  <a:pt x="47243" y="1016000"/>
                </a:lnTo>
                <a:lnTo>
                  <a:pt x="53212" y="1028700"/>
                </a:lnTo>
                <a:lnTo>
                  <a:pt x="98678" y="1028700"/>
                </a:lnTo>
                <a:lnTo>
                  <a:pt x="94868" y="1016000"/>
                </a:lnTo>
                <a:lnTo>
                  <a:pt x="90677" y="1016000"/>
                </a:lnTo>
                <a:lnTo>
                  <a:pt x="85851" y="1003300"/>
                </a:lnTo>
                <a:lnTo>
                  <a:pt x="80137" y="990600"/>
                </a:lnTo>
                <a:lnTo>
                  <a:pt x="73660" y="977900"/>
                </a:lnTo>
                <a:lnTo>
                  <a:pt x="69723" y="977900"/>
                </a:lnTo>
                <a:lnTo>
                  <a:pt x="66421" y="965200"/>
                </a:lnTo>
                <a:lnTo>
                  <a:pt x="60325" y="952500"/>
                </a:lnTo>
                <a:lnTo>
                  <a:pt x="54990" y="927100"/>
                </a:lnTo>
                <a:lnTo>
                  <a:pt x="50673" y="914400"/>
                </a:lnTo>
                <a:lnTo>
                  <a:pt x="46989" y="889000"/>
                </a:lnTo>
                <a:lnTo>
                  <a:pt x="43687" y="876300"/>
                </a:lnTo>
                <a:lnTo>
                  <a:pt x="40766" y="850900"/>
                </a:lnTo>
                <a:lnTo>
                  <a:pt x="39242" y="850900"/>
                </a:lnTo>
                <a:lnTo>
                  <a:pt x="37718" y="838200"/>
                </a:lnTo>
                <a:close/>
              </a:path>
              <a:path w="590550" h="1358900">
                <a:moveTo>
                  <a:pt x="543940" y="0"/>
                </a:moveTo>
                <a:lnTo>
                  <a:pt x="527558" y="0"/>
                </a:lnTo>
                <a:lnTo>
                  <a:pt x="512190" y="12700"/>
                </a:lnTo>
                <a:lnTo>
                  <a:pt x="497966" y="25400"/>
                </a:lnTo>
                <a:lnTo>
                  <a:pt x="484504" y="25400"/>
                </a:lnTo>
                <a:lnTo>
                  <a:pt x="449834" y="63500"/>
                </a:lnTo>
                <a:lnTo>
                  <a:pt x="420115" y="101600"/>
                </a:lnTo>
                <a:lnTo>
                  <a:pt x="402081" y="114300"/>
                </a:lnTo>
                <a:lnTo>
                  <a:pt x="384301" y="139700"/>
                </a:lnTo>
                <a:lnTo>
                  <a:pt x="365378" y="165100"/>
                </a:lnTo>
                <a:lnTo>
                  <a:pt x="371093" y="165100"/>
                </a:lnTo>
                <a:lnTo>
                  <a:pt x="341375" y="177800"/>
                </a:lnTo>
                <a:lnTo>
                  <a:pt x="311658" y="203200"/>
                </a:lnTo>
                <a:lnTo>
                  <a:pt x="282448" y="228600"/>
                </a:lnTo>
                <a:lnTo>
                  <a:pt x="253873" y="241300"/>
                </a:lnTo>
                <a:lnTo>
                  <a:pt x="201040" y="292100"/>
                </a:lnTo>
                <a:lnTo>
                  <a:pt x="166242" y="330200"/>
                </a:lnTo>
                <a:lnTo>
                  <a:pt x="156337" y="342900"/>
                </a:lnTo>
                <a:lnTo>
                  <a:pt x="142493" y="342900"/>
                </a:lnTo>
                <a:lnTo>
                  <a:pt x="109347" y="368300"/>
                </a:lnTo>
                <a:lnTo>
                  <a:pt x="69214" y="406400"/>
                </a:lnTo>
                <a:lnTo>
                  <a:pt x="40004" y="444500"/>
                </a:lnTo>
                <a:lnTo>
                  <a:pt x="32385" y="469900"/>
                </a:lnTo>
                <a:lnTo>
                  <a:pt x="25780" y="482600"/>
                </a:lnTo>
                <a:lnTo>
                  <a:pt x="20065" y="495300"/>
                </a:lnTo>
                <a:lnTo>
                  <a:pt x="15239" y="508000"/>
                </a:lnTo>
                <a:lnTo>
                  <a:pt x="11429" y="520700"/>
                </a:lnTo>
                <a:lnTo>
                  <a:pt x="8127" y="546100"/>
                </a:lnTo>
                <a:lnTo>
                  <a:pt x="5461" y="558800"/>
                </a:lnTo>
                <a:lnTo>
                  <a:pt x="2031" y="584200"/>
                </a:lnTo>
                <a:lnTo>
                  <a:pt x="380" y="622300"/>
                </a:lnTo>
                <a:lnTo>
                  <a:pt x="0" y="647700"/>
                </a:lnTo>
                <a:lnTo>
                  <a:pt x="380" y="685800"/>
                </a:lnTo>
                <a:lnTo>
                  <a:pt x="1015" y="723900"/>
                </a:lnTo>
                <a:lnTo>
                  <a:pt x="1524" y="762000"/>
                </a:lnTo>
                <a:lnTo>
                  <a:pt x="1397" y="800100"/>
                </a:lnTo>
                <a:lnTo>
                  <a:pt x="0" y="838200"/>
                </a:lnTo>
                <a:lnTo>
                  <a:pt x="38100" y="838200"/>
                </a:lnTo>
                <a:lnTo>
                  <a:pt x="39370" y="800100"/>
                </a:lnTo>
                <a:lnTo>
                  <a:pt x="39624" y="762000"/>
                </a:lnTo>
                <a:lnTo>
                  <a:pt x="39115" y="723900"/>
                </a:lnTo>
                <a:lnTo>
                  <a:pt x="38480" y="685800"/>
                </a:lnTo>
                <a:lnTo>
                  <a:pt x="38100" y="647700"/>
                </a:lnTo>
                <a:lnTo>
                  <a:pt x="40131" y="584200"/>
                </a:lnTo>
                <a:lnTo>
                  <a:pt x="45592" y="546100"/>
                </a:lnTo>
                <a:lnTo>
                  <a:pt x="56387" y="508000"/>
                </a:lnTo>
                <a:lnTo>
                  <a:pt x="73533" y="469900"/>
                </a:lnTo>
                <a:lnTo>
                  <a:pt x="98805" y="431800"/>
                </a:lnTo>
                <a:lnTo>
                  <a:pt x="121030" y="406400"/>
                </a:lnTo>
                <a:lnTo>
                  <a:pt x="133985" y="406400"/>
                </a:lnTo>
                <a:lnTo>
                  <a:pt x="148336" y="393700"/>
                </a:lnTo>
                <a:lnTo>
                  <a:pt x="164211" y="381000"/>
                </a:lnTo>
                <a:lnTo>
                  <a:pt x="181355" y="368300"/>
                </a:lnTo>
                <a:lnTo>
                  <a:pt x="184912" y="368300"/>
                </a:lnTo>
                <a:lnTo>
                  <a:pt x="196214" y="355600"/>
                </a:lnTo>
                <a:lnTo>
                  <a:pt x="206248" y="342900"/>
                </a:lnTo>
                <a:lnTo>
                  <a:pt x="156337" y="342900"/>
                </a:lnTo>
                <a:lnTo>
                  <a:pt x="161289" y="330200"/>
                </a:lnTo>
                <a:lnTo>
                  <a:pt x="216788" y="330200"/>
                </a:lnTo>
                <a:lnTo>
                  <a:pt x="228091" y="317500"/>
                </a:lnTo>
                <a:lnTo>
                  <a:pt x="252349" y="292100"/>
                </a:lnTo>
                <a:lnTo>
                  <a:pt x="278002" y="279400"/>
                </a:lnTo>
                <a:lnTo>
                  <a:pt x="305053" y="254000"/>
                </a:lnTo>
                <a:lnTo>
                  <a:pt x="333121" y="228600"/>
                </a:lnTo>
                <a:lnTo>
                  <a:pt x="390525" y="203200"/>
                </a:lnTo>
                <a:lnTo>
                  <a:pt x="392811" y="203200"/>
                </a:lnTo>
                <a:lnTo>
                  <a:pt x="394715" y="190500"/>
                </a:lnTo>
                <a:lnTo>
                  <a:pt x="396239" y="190500"/>
                </a:lnTo>
                <a:lnTo>
                  <a:pt x="415036" y="165100"/>
                </a:lnTo>
                <a:lnTo>
                  <a:pt x="433070" y="139700"/>
                </a:lnTo>
                <a:lnTo>
                  <a:pt x="450596" y="114300"/>
                </a:lnTo>
                <a:lnTo>
                  <a:pt x="468629" y="101600"/>
                </a:lnTo>
                <a:lnTo>
                  <a:pt x="477774" y="88900"/>
                </a:lnTo>
                <a:lnTo>
                  <a:pt x="487425" y="76200"/>
                </a:lnTo>
                <a:lnTo>
                  <a:pt x="497713" y="63500"/>
                </a:lnTo>
                <a:lnTo>
                  <a:pt x="508508" y="63500"/>
                </a:lnTo>
                <a:lnTo>
                  <a:pt x="520064" y="50800"/>
                </a:lnTo>
                <a:lnTo>
                  <a:pt x="532511" y="50800"/>
                </a:lnTo>
                <a:lnTo>
                  <a:pt x="545973" y="38100"/>
                </a:lnTo>
                <a:lnTo>
                  <a:pt x="560451" y="25400"/>
                </a:lnTo>
                <a:lnTo>
                  <a:pt x="54394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61" y="0"/>
            <a:ext cx="9143238" cy="4823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61" y="463295"/>
            <a:ext cx="9143365" cy="38100"/>
          </a:xfrm>
          <a:custGeom>
            <a:avLst/>
            <a:gdLst/>
            <a:ahLst/>
            <a:cxnLst/>
            <a:rect l="l" t="t" r="r" b="b"/>
            <a:pathLst>
              <a:path w="9143365" h="38100">
                <a:moveTo>
                  <a:pt x="0" y="38100"/>
                </a:moveTo>
                <a:lnTo>
                  <a:pt x="9143238" y="38100"/>
                </a:lnTo>
                <a:lnTo>
                  <a:pt x="9143238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61" y="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346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701164" y="0"/>
            <a:ext cx="1895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代码优化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731002" y="6474714"/>
            <a:ext cx="376555" cy="157480"/>
          </a:xfrm>
          <a:custGeom>
            <a:avLst/>
            <a:gdLst/>
            <a:ahLst/>
            <a:cxnLst/>
            <a:rect l="l" t="t" r="r" b="b"/>
            <a:pathLst>
              <a:path w="376554" h="157479">
                <a:moveTo>
                  <a:pt x="282448" y="0"/>
                </a:moveTo>
                <a:lnTo>
                  <a:pt x="0" y="0"/>
                </a:lnTo>
                <a:lnTo>
                  <a:pt x="93980" y="78486"/>
                </a:lnTo>
                <a:lnTo>
                  <a:pt x="0" y="156972"/>
                </a:lnTo>
                <a:lnTo>
                  <a:pt x="282448" y="156972"/>
                </a:lnTo>
                <a:lnTo>
                  <a:pt x="376427" y="78486"/>
                </a:lnTo>
                <a:lnTo>
                  <a:pt x="282448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152135" y="0"/>
            <a:ext cx="2670175" cy="8058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  <a:tabLst>
                <a:tab pos="520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  <a:p>
            <a:pPr marR="283210" algn="ctr">
              <a:lnSpc>
                <a:spcPct val="100000"/>
              </a:lnSpc>
              <a:spcBef>
                <a:spcPts val="190"/>
              </a:spcBef>
            </a:pPr>
            <a:r>
              <a:rPr sz="24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B1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731002" y="6474714"/>
            <a:ext cx="376555" cy="157480"/>
          </a:xfrm>
          <a:custGeom>
            <a:avLst/>
            <a:gdLst/>
            <a:ahLst/>
            <a:cxnLst/>
            <a:rect l="l" t="t" r="r" b="b"/>
            <a:pathLst>
              <a:path w="376554" h="157479">
                <a:moveTo>
                  <a:pt x="0" y="0"/>
                </a:moveTo>
                <a:lnTo>
                  <a:pt x="282448" y="0"/>
                </a:lnTo>
                <a:lnTo>
                  <a:pt x="376427" y="78486"/>
                </a:lnTo>
                <a:lnTo>
                  <a:pt x="282448" y="156972"/>
                </a:lnTo>
                <a:lnTo>
                  <a:pt x="0" y="156972"/>
                </a:lnTo>
                <a:lnTo>
                  <a:pt x="93980" y="78486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94426" y="5065014"/>
            <a:ext cx="376555" cy="157480"/>
          </a:xfrm>
          <a:custGeom>
            <a:avLst/>
            <a:gdLst/>
            <a:ahLst/>
            <a:cxnLst/>
            <a:rect l="l" t="t" r="r" b="b"/>
            <a:pathLst>
              <a:path w="376554" h="157479">
                <a:moveTo>
                  <a:pt x="282448" y="0"/>
                </a:moveTo>
                <a:lnTo>
                  <a:pt x="0" y="0"/>
                </a:lnTo>
                <a:lnTo>
                  <a:pt x="93979" y="78486"/>
                </a:lnTo>
                <a:lnTo>
                  <a:pt x="0" y="156972"/>
                </a:lnTo>
                <a:lnTo>
                  <a:pt x="282448" y="156972"/>
                </a:lnTo>
                <a:lnTo>
                  <a:pt x="376427" y="78486"/>
                </a:lnTo>
                <a:lnTo>
                  <a:pt x="282448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694426" y="5065014"/>
            <a:ext cx="376555" cy="157480"/>
          </a:xfrm>
          <a:custGeom>
            <a:avLst/>
            <a:gdLst/>
            <a:ahLst/>
            <a:cxnLst/>
            <a:rect l="l" t="t" r="r" b="b"/>
            <a:pathLst>
              <a:path w="376554" h="157479">
                <a:moveTo>
                  <a:pt x="0" y="0"/>
                </a:moveTo>
                <a:lnTo>
                  <a:pt x="282448" y="0"/>
                </a:lnTo>
                <a:lnTo>
                  <a:pt x="376427" y="78486"/>
                </a:lnTo>
                <a:lnTo>
                  <a:pt x="282448" y="156972"/>
                </a:lnTo>
                <a:lnTo>
                  <a:pt x="0" y="156972"/>
                </a:lnTo>
                <a:lnTo>
                  <a:pt x="93979" y="7848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65826" y="960882"/>
            <a:ext cx="376555" cy="157480"/>
          </a:xfrm>
          <a:custGeom>
            <a:avLst/>
            <a:gdLst/>
            <a:ahLst/>
            <a:cxnLst/>
            <a:rect l="l" t="t" r="r" b="b"/>
            <a:pathLst>
              <a:path w="376554" h="157480">
                <a:moveTo>
                  <a:pt x="282448" y="0"/>
                </a:moveTo>
                <a:lnTo>
                  <a:pt x="0" y="0"/>
                </a:lnTo>
                <a:lnTo>
                  <a:pt x="93979" y="78485"/>
                </a:lnTo>
                <a:lnTo>
                  <a:pt x="0" y="156971"/>
                </a:lnTo>
                <a:lnTo>
                  <a:pt x="282448" y="156971"/>
                </a:lnTo>
                <a:lnTo>
                  <a:pt x="376427" y="78485"/>
                </a:lnTo>
                <a:lnTo>
                  <a:pt x="282448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465826" y="960882"/>
            <a:ext cx="376555" cy="157480"/>
          </a:xfrm>
          <a:custGeom>
            <a:avLst/>
            <a:gdLst/>
            <a:ahLst/>
            <a:cxnLst/>
            <a:rect l="l" t="t" r="r" b="b"/>
            <a:pathLst>
              <a:path w="376554" h="157480">
                <a:moveTo>
                  <a:pt x="0" y="0"/>
                </a:moveTo>
                <a:lnTo>
                  <a:pt x="282448" y="0"/>
                </a:lnTo>
                <a:lnTo>
                  <a:pt x="376427" y="78485"/>
                </a:lnTo>
                <a:lnTo>
                  <a:pt x="282448" y="156971"/>
                </a:lnTo>
                <a:lnTo>
                  <a:pt x="0" y="156971"/>
                </a:lnTo>
                <a:lnTo>
                  <a:pt x="93979" y="7848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90209" y="4173473"/>
            <a:ext cx="413384" cy="155575"/>
          </a:xfrm>
          <a:custGeom>
            <a:avLst/>
            <a:gdLst/>
            <a:ahLst/>
            <a:cxnLst/>
            <a:rect l="l" t="t" r="r" b="b"/>
            <a:pathLst>
              <a:path w="413385" h="155575">
                <a:moveTo>
                  <a:pt x="309879" y="0"/>
                </a:moveTo>
                <a:lnTo>
                  <a:pt x="0" y="0"/>
                </a:lnTo>
                <a:lnTo>
                  <a:pt x="103124" y="77724"/>
                </a:lnTo>
                <a:lnTo>
                  <a:pt x="0" y="155448"/>
                </a:lnTo>
                <a:lnTo>
                  <a:pt x="309879" y="155448"/>
                </a:lnTo>
                <a:lnTo>
                  <a:pt x="413003" y="77724"/>
                </a:lnTo>
                <a:lnTo>
                  <a:pt x="309879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90209" y="4173473"/>
            <a:ext cx="413384" cy="155575"/>
          </a:xfrm>
          <a:custGeom>
            <a:avLst/>
            <a:gdLst/>
            <a:ahLst/>
            <a:cxnLst/>
            <a:rect l="l" t="t" r="r" b="b"/>
            <a:pathLst>
              <a:path w="413385" h="155575">
                <a:moveTo>
                  <a:pt x="0" y="0"/>
                </a:moveTo>
                <a:lnTo>
                  <a:pt x="309879" y="0"/>
                </a:lnTo>
                <a:lnTo>
                  <a:pt x="413003" y="77724"/>
                </a:lnTo>
                <a:lnTo>
                  <a:pt x="309879" y="155448"/>
                </a:lnTo>
                <a:lnTo>
                  <a:pt x="0" y="155448"/>
                </a:lnTo>
                <a:lnTo>
                  <a:pt x="103124" y="77724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63042" y="1621282"/>
            <a:ext cx="50311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在点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3600" b="1" baseline="-16203" dirty="0">
                <a:solidFill>
                  <a:srgbClr val="FFFF00"/>
                </a:solidFill>
                <a:latin typeface="Times New Roman"/>
                <a:cs typeface="Times New Roman"/>
              </a:rPr>
              <a:t>k+2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的</a:t>
            </a:r>
            <a:r>
              <a:rPr sz="32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ud</a:t>
            </a: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链</a:t>
            </a:r>
            <a:r>
              <a:rPr sz="3200" b="1" spc="-975" dirty="0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sz="4800" b="1" spc="7" baseline="-16493" dirty="0">
                <a:solidFill>
                  <a:srgbClr val="66FFFF"/>
                </a:solidFill>
                <a:latin typeface="Times New Roman"/>
                <a:cs typeface="Times New Roman"/>
              </a:rPr>
              <a:t>={d</a:t>
            </a:r>
            <a:r>
              <a:rPr sz="3150" b="1" spc="7" baseline="-46296" dirty="0">
                <a:solidFill>
                  <a:srgbClr val="66FFFF"/>
                </a:solidFill>
                <a:latin typeface="Times New Roman"/>
                <a:cs typeface="Times New Roman"/>
              </a:rPr>
              <a:t>j+1</a:t>
            </a:r>
            <a:r>
              <a:rPr sz="4800" b="1" spc="7" baseline="-16493" dirty="0">
                <a:solidFill>
                  <a:srgbClr val="66FFFF"/>
                </a:solidFill>
                <a:latin typeface="Times New Roman"/>
                <a:cs typeface="Times New Roman"/>
              </a:rPr>
              <a:t>,d</a:t>
            </a:r>
            <a:r>
              <a:rPr sz="3150" b="1" spc="7" baseline="-46296" dirty="0">
                <a:solidFill>
                  <a:srgbClr val="66FFFF"/>
                </a:solidFill>
                <a:latin typeface="Times New Roman"/>
                <a:cs typeface="Times New Roman"/>
              </a:rPr>
              <a:t>k+1</a:t>
            </a:r>
            <a:r>
              <a:rPr sz="4800" b="1" spc="7" baseline="-16493" dirty="0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4800" baseline="-16493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2242" y="2332482"/>
            <a:ext cx="41871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在点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3600" b="1" spc="-7" baseline="-16203" dirty="0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sz="3200" b="1" spc="5" dirty="0">
                <a:solidFill>
                  <a:srgbClr val="66FFFF"/>
                </a:solidFill>
                <a:latin typeface="宋体"/>
                <a:cs typeface="宋体"/>
              </a:rPr>
              <a:t>的</a:t>
            </a:r>
            <a:r>
              <a:rPr sz="32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ud</a:t>
            </a:r>
            <a:r>
              <a:rPr sz="3200" b="1" spc="185" dirty="0">
                <a:solidFill>
                  <a:srgbClr val="66FFFF"/>
                </a:solidFill>
                <a:latin typeface="宋体"/>
                <a:cs typeface="宋体"/>
              </a:rPr>
              <a:t>链</a:t>
            </a:r>
            <a:r>
              <a:rPr sz="4800" b="1" spc="-7" baseline="-14756" dirty="0">
                <a:solidFill>
                  <a:srgbClr val="66FFFF"/>
                </a:solidFill>
                <a:latin typeface="Times New Roman"/>
                <a:cs typeface="Times New Roman"/>
              </a:rPr>
              <a:t>={d</a:t>
            </a:r>
            <a:r>
              <a:rPr sz="3600" b="1" spc="-7" baseline="-37037" dirty="0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sz="4800" b="1" spc="-7" baseline="-14756" dirty="0">
                <a:solidFill>
                  <a:srgbClr val="66FFFF"/>
                </a:solidFill>
                <a:latin typeface="Times New Roman"/>
                <a:cs typeface="Times New Roman"/>
              </a:rPr>
              <a:t>,d</a:t>
            </a:r>
            <a:r>
              <a:rPr sz="3600" b="1" spc="-7" baseline="-37037" dirty="0">
                <a:solidFill>
                  <a:srgbClr val="66FFFF"/>
                </a:solidFill>
                <a:latin typeface="Times New Roman"/>
                <a:cs typeface="Times New Roman"/>
              </a:rPr>
              <a:t>j+1</a:t>
            </a:r>
            <a:endParaRPr sz="3600" baseline="-37037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323841" y="2442718"/>
            <a:ext cx="10617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,d</a:t>
            </a:r>
            <a:r>
              <a:rPr sz="3600" b="1" spc="-7" baseline="-16203" dirty="0">
                <a:solidFill>
                  <a:srgbClr val="66FFFF"/>
                </a:solidFill>
                <a:latin typeface="Times New Roman"/>
                <a:cs typeface="Times New Roman"/>
              </a:rPr>
              <a:t>k+1</a:t>
            </a:r>
            <a:r>
              <a:rPr sz="32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0342" y="4136516"/>
            <a:ext cx="43370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在点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3600" b="1" spc="-7" baseline="-16203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链</a:t>
            </a:r>
            <a:r>
              <a:rPr sz="3200" b="1" spc="-105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4800" b="1" spc="-7" baseline="-14756" dirty="0">
                <a:solidFill>
                  <a:srgbClr val="FFFFFF"/>
                </a:solidFill>
                <a:latin typeface="Times New Roman"/>
                <a:cs typeface="Times New Roman"/>
              </a:rPr>
              <a:t>={d</a:t>
            </a:r>
            <a:r>
              <a:rPr sz="3600" b="1" spc="-7" baseline="-37037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3600" b="1" spc="-22" baseline="-3703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b="1" baseline="-14756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4800" b="1" spc="-22" baseline="-1475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b="1" spc="-15" baseline="-14756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600" b="1" spc="-15" baseline="-37037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3600" b="1" spc="-7" baseline="-3703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b="1" baseline="-14756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4800" baseline="-14756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3042" y="5135321"/>
            <a:ext cx="2950210" cy="1011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在点</a:t>
            </a:r>
            <a:r>
              <a:rPr sz="32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3600" b="1" baseline="-16203" dirty="0">
                <a:solidFill>
                  <a:srgbClr val="FFFF00"/>
                </a:solidFill>
                <a:latin typeface="Times New Roman"/>
                <a:cs typeface="Times New Roman"/>
              </a:rPr>
              <a:t>j+1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链</a:t>
            </a:r>
            <a:endParaRPr sz="3200">
              <a:latin typeface="宋体"/>
              <a:cs typeface="宋体"/>
            </a:endParaRPr>
          </a:p>
          <a:p>
            <a:pPr marR="33655" algn="r">
              <a:lnSpc>
                <a:spcPct val="100000"/>
              </a:lnSpc>
              <a:spcBef>
                <a:spcPts val="75"/>
              </a:spcBef>
            </a:pP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sz="32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57473" y="5825134"/>
            <a:ext cx="521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k+2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703954" y="5582818"/>
            <a:ext cx="1543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600" b="1" spc="-7" baseline="-16203" dirty="0">
                <a:solidFill>
                  <a:srgbClr val="FFFFFF"/>
                </a:solidFill>
                <a:latin typeface="Times New Roman"/>
                <a:cs typeface="Times New Roman"/>
              </a:rPr>
              <a:t>j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600" b="1" spc="-7" baseline="-16203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3600" b="1" spc="-135" baseline="-1620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490209" y="3740658"/>
            <a:ext cx="413384" cy="155575"/>
          </a:xfrm>
          <a:custGeom>
            <a:avLst/>
            <a:gdLst/>
            <a:ahLst/>
            <a:cxnLst/>
            <a:rect l="l" t="t" r="r" b="b"/>
            <a:pathLst>
              <a:path w="413385" h="155575">
                <a:moveTo>
                  <a:pt x="309879" y="0"/>
                </a:moveTo>
                <a:lnTo>
                  <a:pt x="0" y="0"/>
                </a:lnTo>
                <a:lnTo>
                  <a:pt x="103124" y="77724"/>
                </a:lnTo>
                <a:lnTo>
                  <a:pt x="0" y="155448"/>
                </a:lnTo>
                <a:lnTo>
                  <a:pt x="309879" y="155448"/>
                </a:lnTo>
                <a:lnTo>
                  <a:pt x="413003" y="77724"/>
                </a:lnTo>
                <a:lnTo>
                  <a:pt x="309879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490209" y="3740658"/>
            <a:ext cx="413384" cy="155575"/>
          </a:xfrm>
          <a:custGeom>
            <a:avLst/>
            <a:gdLst/>
            <a:ahLst/>
            <a:cxnLst/>
            <a:rect l="l" t="t" r="r" b="b"/>
            <a:pathLst>
              <a:path w="413385" h="155575">
                <a:moveTo>
                  <a:pt x="0" y="0"/>
                </a:moveTo>
                <a:lnTo>
                  <a:pt x="309879" y="0"/>
                </a:lnTo>
                <a:lnTo>
                  <a:pt x="413003" y="77724"/>
                </a:lnTo>
                <a:lnTo>
                  <a:pt x="309879" y="155448"/>
                </a:lnTo>
                <a:lnTo>
                  <a:pt x="0" y="155448"/>
                </a:lnTo>
                <a:lnTo>
                  <a:pt x="103124" y="77724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86842" y="3155137"/>
            <a:ext cx="50863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在点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3600" b="1" spc="-7" baseline="-16203" dirty="0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的</a:t>
            </a:r>
            <a:r>
              <a:rPr sz="32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ud</a:t>
            </a:r>
            <a:r>
              <a:rPr sz="3200" b="1" spc="135" dirty="0">
                <a:solidFill>
                  <a:srgbClr val="66FFFF"/>
                </a:solidFill>
                <a:latin typeface="宋体"/>
                <a:cs typeface="宋体"/>
              </a:rPr>
              <a:t>链</a:t>
            </a:r>
            <a:r>
              <a:rPr sz="4800" b="1" spc="-7" baseline="-6076" dirty="0">
                <a:solidFill>
                  <a:srgbClr val="66FFFF"/>
                </a:solidFill>
                <a:latin typeface="Times New Roman"/>
                <a:cs typeface="Times New Roman"/>
              </a:rPr>
              <a:t>={d</a:t>
            </a:r>
            <a:r>
              <a:rPr sz="3600" b="1" spc="-7" baseline="-24305" dirty="0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sz="4800" b="1" spc="-7" baseline="-6076" dirty="0">
                <a:solidFill>
                  <a:srgbClr val="66FFFF"/>
                </a:solidFill>
                <a:latin typeface="Times New Roman"/>
                <a:cs typeface="Times New Roman"/>
              </a:rPr>
              <a:t>,d</a:t>
            </a:r>
            <a:r>
              <a:rPr sz="3600" b="1" spc="-7" baseline="-24305" dirty="0">
                <a:solidFill>
                  <a:srgbClr val="66FFFF"/>
                </a:solidFill>
                <a:latin typeface="Times New Roman"/>
                <a:cs typeface="Times New Roman"/>
              </a:rPr>
              <a:t>j+1</a:t>
            </a:r>
            <a:r>
              <a:rPr sz="4800" b="1" spc="-7" baseline="-6076" dirty="0">
                <a:solidFill>
                  <a:srgbClr val="66FFFF"/>
                </a:solidFill>
                <a:latin typeface="Times New Roman"/>
                <a:cs typeface="Times New Roman"/>
              </a:rPr>
              <a:t>,d</a:t>
            </a:r>
            <a:r>
              <a:rPr sz="3600" b="1" spc="-7" baseline="-24305" dirty="0">
                <a:solidFill>
                  <a:srgbClr val="66FFFF"/>
                </a:solidFill>
                <a:latin typeface="Times New Roman"/>
                <a:cs typeface="Times New Roman"/>
              </a:rPr>
              <a:t>k+1</a:t>
            </a:r>
            <a:r>
              <a:rPr sz="4800" b="1" spc="-7" baseline="-6076" dirty="0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4800" baseline="-6076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72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5642" y="3247745"/>
            <a:ext cx="7628890" cy="289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9115" marR="5080" indent="-508000">
              <a:lnSpc>
                <a:spcPct val="130000"/>
              </a:lnSpc>
              <a:spcBef>
                <a:spcPts val="100"/>
              </a:spcBef>
              <a:buClr>
                <a:srgbClr val="66FFFF"/>
              </a:buClr>
              <a:buSzPct val="104687"/>
              <a:buFont typeface="Wingdings"/>
              <a:buChar char=""/>
              <a:tabLst>
                <a:tab pos="574040" algn="l"/>
                <a:tab pos="574675" algn="l"/>
              </a:tabLst>
            </a:pPr>
            <a:r>
              <a:rPr dirty="0"/>
              <a:t>	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到达定值信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sz="32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完成常量合并，删除无 用赋值；</a:t>
            </a:r>
            <a:endParaRPr sz="3200">
              <a:latin typeface="宋体"/>
              <a:cs typeface="宋体"/>
            </a:endParaRPr>
          </a:p>
          <a:p>
            <a:pPr marL="554990" indent="-542925">
              <a:lnSpc>
                <a:spcPct val="100000"/>
              </a:lnSpc>
              <a:spcBef>
                <a:spcPts val="2270"/>
              </a:spcBef>
              <a:buClr>
                <a:srgbClr val="66FFFF"/>
              </a:buClr>
              <a:buSzPct val="104687"/>
              <a:buFont typeface="Wingdings"/>
              <a:buChar char=""/>
              <a:tabLst>
                <a:tab pos="554990" algn="l"/>
                <a:tab pos="555625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活跃变量信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sz="3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寄存器优化；</a:t>
            </a:r>
            <a:endParaRPr sz="3200">
              <a:latin typeface="宋体"/>
              <a:cs typeface="宋体"/>
            </a:endParaRPr>
          </a:p>
          <a:p>
            <a:pPr marL="554990" indent="-542925">
              <a:lnSpc>
                <a:spcPct val="100000"/>
              </a:lnSpc>
              <a:spcBef>
                <a:spcPts val="2610"/>
              </a:spcBef>
              <a:buClr>
                <a:srgbClr val="66FFFF"/>
              </a:buClr>
              <a:buSzPct val="104687"/>
              <a:buFont typeface="Wingdings"/>
              <a:buChar char=""/>
              <a:tabLst>
                <a:tab pos="554990" algn="l"/>
                <a:tab pos="555625" algn="l"/>
                <a:tab pos="4429760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公共子表达式信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—	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删除冗余运算。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9234" y="598677"/>
            <a:ext cx="37001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7405" algn="l"/>
              </a:tabLst>
            </a:pP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二</a:t>
            </a:r>
            <a:r>
              <a:rPr sz="3200" u="none" dirty="0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重要数据流方程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5561" y="1437894"/>
            <a:ext cx="8630412" cy="1709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5561" y="1437894"/>
            <a:ext cx="8630920" cy="1710055"/>
          </a:xfrm>
          <a:prstGeom prst="rect">
            <a:avLst/>
          </a:prstGeom>
          <a:ln w="38100">
            <a:solidFill>
              <a:srgbClr val="DDDDD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2969">
              <a:lnSpc>
                <a:spcPts val="3575"/>
              </a:lnSpc>
            </a:pPr>
            <a:r>
              <a:rPr sz="3000" b="1" spc="-5" dirty="0">
                <a:latin typeface="宋体"/>
                <a:cs typeface="宋体"/>
              </a:rPr>
              <a:t>编译器把程序的一部分或全部看作一个整体</a:t>
            </a:r>
            <a:endParaRPr sz="3000" dirty="0">
              <a:latin typeface="宋体"/>
              <a:cs typeface="宋体"/>
            </a:endParaRPr>
          </a:p>
          <a:p>
            <a:pPr marL="90170" marR="499745">
              <a:lnSpc>
                <a:spcPct val="130000"/>
              </a:lnSpc>
              <a:spcBef>
                <a:spcPts val="70"/>
              </a:spcBef>
            </a:pPr>
            <a:r>
              <a:rPr sz="3000" b="1" spc="-5" dirty="0">
                <a:latin typeface="宋体"/>
                <a:cs typeface="宋体"/>
              </a:rPr>
              <a:t>来收集信息，并把收集的信息分配给流图中的各 个基本块。</a:t>
            </a:r>
            <a:endParaRPr sz="3000" dirty="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01164" y="11378"/>
            <a:ext cx="1895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代码优化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73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152135" y="11378"/>
            <a:ext cx="2670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3242" y="0"/>
            <a:ext cx="7959725" cy="6233795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377190" algn="ctr">
              <a:lnSpc>
                <a:spcPct val="100000"/>
              </a:lnSpc>
              <a:spcBef>
                <a:spcPts val="1380"/>
              </a:spcBef>
              <a:tabLst>
                <a:tab pos="1020444" algn="l"/>
                <a:tab pos="3828415" algn="l"/>
                <a:tab pos="433578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  <a:p>
            <a:pPr marL="318770" indent="-306705">
              <a:lnSpc>
                <a:spcPct val="100000"/>
              </a:lnSpc>
              <a:spcBef>
                <a:spcPts val="2195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典型的数据流方程</a:t>
            </a:r>
            <a:endParaRPr sz="3200">
              <a:latin typeface="宋体"/>
              <a:cs typeface="宋体"/>
            </a:endParaRPr>
          </a:p>
          <a:p>
            <a:pPr marL="151130" algn="ctr">
              <a:lnSpc>
                <a:spcPct val="100000"/>
              </a:lnSpc>
              <a:spcBef>
                <a:spcPts val="1255"/>
              </a:spcBef>
            </a:pPr>
            <a:r>
              <a:rPr sz="36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out</a:t>
            </a:r>
            <a:r>
              <a:rPr sz="3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[B] </a:t>
            </a:r>
            <a:r>
              <a:rPr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sz="3600" b="1" dirty="0">
                <a:solidFill>
                  <a:srgbClr val="FFFF00"/>
                </a:solidFill>
                <a:latin typeface="Times New Roman"/>
                <a:cs typeface="Times New Roman"/>
              </a:rPr>
              <a:t>gen</a:t>
            </a:r>
            <a:r>
              <a:rPr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[B] </a:t>
            </a:r>
            <a:r>
              <a:rPr sz="3600" b="1" spc="-15" dirty="0">
                <a:solidFill>
                  <a:srgbClr val="66FFFF"/>
                </a:solidFill>
                <a:latin typeface="宋体"/>
                <a:cs typeface="宋体"/>
              </a:rPr>
              <a:t>∪</a:t>
            </a:r>
            <a:r>
              <a:rPr sz="3600" b="1" spc="-915" dirty="0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( </a:t>
            </a:r>
            <a:r>
              <a:rPr sz="36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in</a:t>
            </a:r>
            <a:r>
              <a:rPr sz="3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[B] </a:t>
            </a:r>
            <a:r>
              <a:rPr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– </a:t>
            </a:r>
            <a:r>
              <a:rPr sz="36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kill</a:t>
            </a:r>
            <a:r>
              <a:rPr sz="3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[B] </a:t>
            </a:r>
            <a:r>
              <a:rPr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6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2290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其中：</a:t>
            </a:r>
            <a:endParaRPr sz="2800">
              <a:latin typeface="宋体"/>
              <a:cs typeface="宋体"/>
            </a:endParaRPr>
          </a:p>
          <a:p>
            <a:pPr marL="108585" algn="ctr">
              <a:lnSpc>
                <a:spcPct val="100000"/>
              </a:lnSpc>
              <a:spcBef>
                <a:spcPts val="675"/>
              </a:spcBef>
            </a:pPr>
            <a:r>
              <a:rPr sz="28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表示</a:t>
            </a:r>
            <a:r>
              <a:rPr sz="28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G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中某个基本块，也可以为</a:t>
            </a:r>
            <a:r>
              <a:rPr sz="2800" b="1" spc="5" dirty="0">
                <a:solidFill>
                  <a:srgbClr val="66FFFF"/>
                </a:solidFill>
                <a:latin typeface="宋体"/>
                <a:cs typeface="宋体"/>
              </a:rPr>
              <a:t>语</a:t>
            </a:r>
            <a:r>
              <a:rPr sz="2800" b="1" spc="-15" dirty="0">
                <a:solidFill>
                  <a:srgbClr val="66FFFF"/>
                </a:solidFill>
                <a:latin typeface="宋体"/>
                <a:cs typeface="宋体"/>
              </a:rPr>
              <a:t>句</a:t>
            </a:r>
            <a:r>
              <a:rPr sz="2800" b="1" spc="-655" dirty="0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66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110"/>
              </a:spcBef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含义：</a:t>
            </a:r>
            <a:endParaRPr sz="3200">
              <a:latin typeface="宋体"/>
              <a:cs typeface="宋体"/>
            </a:endParaRPr>
          </a:p>
          <a:p>
            <a:pPr marL="12700" marR="5080" indent="799465">
              <a:lnSpc>
                <a:spcPct val="130000"/>
              </a:lnSpc>
              <a:spcBef>
                <a:spcPts val="5"/>
              </a:spcBef>
            </a:pP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当控制流通过一个基本块时，</a:t>
            </a:r>
            <a:r>
              <a:rPr sz="2800" b="1" spc="5" dirty="0">
                <a:solidFill>
                  <a:srgbClr val="FFFF99"/>
                </a:solidFill>
                <a:latin typeface="宋体"/>
                <a:cs typeface="宋体"/>
              </a:rPr>
              <a:t>在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基本</a:t>
            </a:r>
            <a:r>
              <a:rPr sz="2800" b="1" spc="5" dirty="0">
                <a:solidFill>
                  <a:srgbClr val="FFFF99"/>
                </a:solidFill>
                <a:latin typeface="宋体"/>
                <a:cs typeface="宋体"/>
              </a:rPr>
              <a:t>块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末</a:t>
            </a:r>
            <a:r>
              <a:rPr sz="2800" b="1" spc="5" dirty="0">
                <a:solidFill>
                  <a:srgbClr val="FFFF99"/>
                </a:solidFill>
                <a:latin typeface="宋体"/>
                <a:cs typeface="宋体"/>
              </a:rPr>
              <a:t>尾</a:t>
            </a:r>
            <a:r>
              <a:rPr sz="2800" b="1" spc="-15" dirty="0">
                <a:solidFill>
                  <a:srgbClr val="FFFF99"/>
                </a:solidFill>
                <a:latin typeface="宋体"/>
                <a:cs typeface="宋体"/>
              </a:rPr>
              <a:t>得 </a:t>
            </a:r>
            <a:r>
              <a:rPr sz="2800" b="1" spc="-10" dirty="0">
                <a:solidFill>
                  <a:srgbClr val="FFFF99"/>
                </a:solidFill>
                <a:latin typeface="宋体"/>
                <a:cs typeface="宋体"/>
              </a:rPr>
              <a:t>到的信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息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(out)</a:t>
            </a:r>
            <a:r>
              <a:rPr sz="2800" b="1" spc="-10" dirty="0">
                <a:solidFill>
                  <a:srgbClr val="FFFF99"/>
                </a:solidFill>
                <a:latin typeface="宋体"/>
                <a:cs typeface="宋体"/>
              </a:rPr>
              <a:t>是在该基本块中产</a:t>
            </a:r>
            <a:r>
              <a:rPr sz="2800" b="1" dirty="0">
                <a:solidFill>
                  <a:srgbClr val="FFFF99"/>
                </a:solidFill>
                <a:latin typeface="宋体"/>
                <a:cs typeface="宋体"/>
              </a:rPr>
              <a:t>生</a:t>
            </a:r>
            <a:r>
              <a:rPr sz="2800" b="1" spc="-10" dirty="0">
                <a:solidFill>
                  <a:srgbClr val="FFFF99"/>
                </a:solidFill>
                <a:latin typeface="宋体"/>
                <a:cs typeface="宋体"/>
              </a:rPr>
              <a:t>的信</a:t>
            </a:r>
            <a:r>
              <a:rPr sz="2800" b="1" dirty="0">
                <a:solidFill>
                  <a:srgbClr val="FFFF99"/>
                </a:solidFill>
                <a:latin typeface="宋体"/>
                <a:cs typeface="宋体"/>
              </a:rPr>
              <a:t>息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(gen)</a:t>
            </a:r>
            <a:r>
              <a:rPr sz="2800" b="1" dirty="0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sz="2800" b="1" spc="-15" dirty="0">
                <a:solidFill>
                  <a:srgbClr val="FFFF99"/>
                </a:solidFill>
                <a:latin typeface="宋体"/>
                <a:cs typeface="宋体"/>
              </a:rPr>
              <a:t>或 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是进入基本块开始</a:t>
            </a:r>
            <a:r>
              <a:rPr sz="2800" b="1" dirty="0">
                <a:solidFill>
                  <a:srgbClr val="FFFF99"/>
                </a:solidFill>
                <a:latin typeface="宋体"/>
                <a:cs typeface="宋体"/>
              </a:rPr>
              <a:t>点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(in)</a:t>
            </a:r>
            <a:r>
              <a:rPr sz="2800" b="1" spc="-10" dirty="0">
                <a:solidFill>
                  <a:srgbClr val="FFFF99"/>
                </a:solidFill>
                <a:latin typeface="宋体"/>
                <a:cs typeface="宋体"/>
              </a:rPr>
              <a:t>且没有被</a:t>
            </a:r>
            <a:r>
              <a:rPr sz="2800" b="1" spc="5" dirty="0">
                <a:solidFill>
                  <a:srgbClr val="FFFF99"/>
                </a:solidFill>
                <a:latin typeface="宋体"/>
                <a:cs typeface="宋体"/>
              </a:rPr>
              <a:t>该</a:t>
            </a:r>
            <a:r>
              <a:rPr sz="2800" b="1" spc="-10" dirty="0">
                <a:solidFill>
                  <a:srgbClr val="FFFF99"/>
                </a:solidFill>
                <a:latin typeface="宋体"/>
                <a:cs typeface="宋体"/>
              </a:rPr>
              <a:t>基本</a:t>
            </a:r>
            <a:r>
              <a:rPr sz="2800" b="1" spc="5" dirty="0">
                <a:solidFill>
                  <a:srgbClr val="FFFF99"/>
                </a:solidFill>
                <a:latin typeface="宋体"/>
                <a:cs typeface="宋体"/>
              </a:rPr>
              <a:t>块</a:t>
            </a:r>
            <a:r>
              <a:rPr sz="2800" b="1" spc="-10" dirty="0">
                <a:solidFill>
                  <a:srgbClr val="FFFF99"/>
                </a:solidFill>
                <a:latin typeface="宋体"/>
                <a:cs typeface="宋体"/>
              </a:rPr>
              <a:t>注</a:t>
            </a:r>
            <a:r>
              <a:rPr sz="2800" b="1" spc="5" dirty="0">
                <a:solidFill>
                  <a:srgbClr val="FFFF99"/>
                </a:solidFill>
                <a:latin typeface="宋体"/>
                <a:cs typeface="宋体"/>
              </a:rPr>
              <a:t>销</a:t>
            </a:r>
            <a:r>
              <a:rPr sz="2800" b="1" spc="-15" dirty="0">
                <a:solidFill>
                  <a:srgbClr val="FFFF99"/>
                </a:solidFill>
                <a:latin typeface="宋体"/>
                <a:cs typeface="宋体"/>
              </a:rPr>
              <a:t>的 </a:t>
            </a:r>
            <a:r>
              <a:rPr sz="2800" b="1" spc="-10" dirty="0">
                <a:solidFill>
                  <a:srgbClr val="FFFF99"/>
                </a:solidFill>
                <a:latin typeface="宋体"/>
                <a:cs typeface="宋体"/>
              </a:rPr>
              <a:t>信息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(kill)</a:t>
            </a:r>
            <a:r>
              <a:rPr sz="2800" b="1" spc="2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rgbClr val="FFFF99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74</a:t>
            </a:r>
            <a:r>
              <a:rPr sz="14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2842" y="2993263"/>
            <a:ext cx="165353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33170" algn="l"/>
              </a:tabLst>
            </a:pP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前	后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96973" y="3247644"/>
            <a:ext cx="666115" cy="114300"/>
          </a:xfrm>
          <a:custGeom>
            <a:avLst/>
            <a:gdLst/>
            <a:ahLst/>
            <a:cxnLst/>
            <a:rect l="l" t="t" r="r" b="b"/>
            <a:pathLst>
              <a:path w="666114" h="114300">
                <a:moveTo>
                  <a:pt x="551688" y="0"/>
                </a:moveTo>
                <a:lnTo>
                  <a:pt x="551688" y="114300"/>
                </a:lnTo>
                <a:lnTo>
                  <a:pt x="627888" y="76200"/>
                </a:lnTo>
                <a:lnTo>
                  <a:pt x="570738" y="76200"/>
                </a:lnTo>
                <a:lnTo>
                  <a:pt x="570738" y="38100"/>
                </a:lnTo>
                <a:lnTo>
                  <a:pt x="627888" y="38100"/>
                </a:lnTo>
                <a:lnTo>
                  <a:pt x="551688" y="0"/>
                </a:lnTo>
                <a:close/>
              </a:path>
              <a:path w="666114" h="114300">
                <a:moveTo>
                  <a:pt x="5516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1688" y="76200"/>
                </a:lnTo>
                <a:lnTo>
                  <a:pt x="551688" y="38100"/>
                </a:lnTo>
                <a:close/>
              </a:path>
              <a:path w="666114" h="114300">
                <a:moveTo>
                  <a:pt x="627888" y="38100"/>
                </a:moveTo>
                <a:lnTo>
                  <a:pt x="570738" y="38100"/>
                </a:lnTo>
                <a:lnTo>
                  <a:pt x="570738" y="76200"/>
                </a:lnTo>
                <a:lnTo>
                  <a:pt x="627888" y="76200"/>
                </a:lnTo>
                <a:lnTo>
                  <a:pt x="665988" y="57150"/>
                </a:lnTo>
                <a:lnTo>
                  <a:pt x="6278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63875" y="2878353"/>
            <a:ext cx="5380355" cy="1135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30480" indent="-355600">
              <a:lnSpc>
                <a:spcPct val="13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（每个基本块</a:t>
            </a: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sz="3150" b="1" baseline="-14550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的有关信息利用其 前驱基本块的信息来计算）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7116" y="4264533"/>
            <a:ext cx="6802120" cy="1550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如，到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达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定值，可用表达式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复写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传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播。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700">
              <a:latin typeface="宋体"/>
              <a:cs typeface="宋体"/>
            </a:endParaRPr>
          </a:p>
          <a:p>
            <a:pPr marL="127000">
              <a:lnSpc>
                <a:spcPct val="100000"/>
              </a:lnSpc>
            </a:pPr>
            <a:r>
              <a:rPr sz="3200" b="1" u="heavy" spc="5" dirty="0">
                <a:solidFill>
                  <a:srgbClr val="99FF33"/>
                </a:solidFill>
                <a:uFill>
                  <a:solidFill>
                    <a:srgbClr val="99FF33"/>
                  </a:solidFill>
                </a:uFill>
                <a:latin typeface="宋体"/>
                <a:cs typeface="宋体"/>
              </a:rPr>
              <a:t>由</a:t>
            </a:r>
            <a:r>
              <a:rPr sz="3200" b="1" u="heavy" dirty="0">
                <a:solidFill>
                  <a:srgbClr val="99FF33"/>
                </a:solidFill>
                <a:uFill>
                  <a:solidFill>
                    <a:srgbClr val="99FF33"/>
                  </a:solidFill>
                </a:uFill>
                <a:latin typeface="Times New Roman"/>
                <a:cs typeface="Times New Roman"/>
              </a:rPr>
              <a:t>in[B]</a:t>
            </a:r>
            <a:r>
              <a:rPr sz="3200" b="1" u="heavy" spc="-35" dirty="0">
                <a:solidFill>
                  <a:srgbClr val="99FF33"/>
                </a:solidFill>
                <a:uFill>
                  <a:solidFill>
                    <a:srgbClr val="99FF33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solidFill>
                  <a:srgbClr val="99FF33"/>
                </a:solidFill>
                <a:uFill>
                  <a:solidFill>
                    <a:srgbClr val="99FF33"/>
                  </a:solidFill>
                </a:uFill>
                <a:latin typeface="宋体"/>
                <a:cs typeface="宋体"/>
              </a:rPr>
              <a:t>决定</a:t>
            </a:r>
            <a:r>
              <a:rPr sz="3200" b="1" u="heavy" dirty="0">
                <a:solidFill>
                  <a:srgbClr val="99FF33"/>
                </a:solidFill>
                <a:uFill>
                  <a:solidFill>
                    <a:srgbClr val="99FF33"/>
                  </a:solidFill>
                </a:uFill>
                <a:latin typeface="Times New Roman"/>
                <a:cs typeface="Times New Roman"/>
              </a:rPr>
              <a:t>out[B]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3242" y="0"/>
            <a:ext cx="8231505" cy="25761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05410" algn="ctr">
              <a:lnSpc>
                <a:spcPct val="100000"/>
              </a:lnSpc>
              <a:spcBef>
                <a:spcPts val="620"/>
              </a:spcBef>
              <a:tabLst>
                <a:tab pos="748665" algn="l"/>
                <a:tab pos="3556000" algn="l"/>
                <a:tab pos="406400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>
              <a:latin typeface="华文新魏"/>
              <a:cs typeface="华文新魏"/>
            </a:endParaRPr>
          </a:p>
          <a:p>
            <a:pPr marL="485140" indent="-472440">
              <a:lnSpc>
                <a:spcPct val="100000"/>
              </a:lnSpc>
              <a:buClr>
                <a:srgbClr val="66FFFF"/>
              </a:buClr>
              <a:buSzPct val="145312"/>
              <a:buFont typeface="Wingdings"/>
              <a:buChar char=""/>
              <a:tabLst>
                <a:tab pos="485140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制约建立和求解数据流方程的</a:t>
            </a:r>
            <a:r>
              <a:rPr sz="3200" b="1" spc="-15" dirty="0">
                <a:solidFill>
                  <a:srgbClr val="FFFF00"/>
                </a:solidFill>
                <a:latin typeface="宋体"/>
                <a:cs typeface="宋体"/>
              </a:rPr>
              <a:t>因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素</a:t>
            </a:r>
            <a:endParaRPr sz="3200">
              <a:latin typeface="宋体"/>
              <a:cs typeface="宋体"/>
            </a:endParaRPr>
          </a:p>
          <a:p>
            <a:pPr marL="767715" marR="5080" lvl="1" indent="-508000">
              <a:lnSpc>
                <a:spcPct val="130000"/>
              </a:lnSpc>
              <a:spcBef>
                <a:spcPts val="405"/>
              </a:spcBef>
              <a:buClr>
                <a:srgbClr val="FFFFFF"/>
              </a:buClr>
              <a:buFont typeface="Times New Roman"/>
              <a:buAutoNum type="arabicPeriod"/>
              <a:tabLst>
                <a:tab pos="869950" algn="l"/>
                <a:tab pos="870585" algn="l"/>
              </a:tabLst>
            </a:pPr>
            <a:r>
              <a:rPr dirty="0"/>
              <a:t>	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产生、注销的概念依赖所需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的信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，考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虑数据流方向：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75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4742" y="954405"/>
            <a:ext cx="43243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后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85822" y="954405"/>
            <a:ext cx="43243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前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58873" y="1208532"/>
            <a:ext cx="666115" cy="114300"/>
          </a:xfrm>
          <a:custGeom>
            <a:avLst/>
            <a:gdLst/>
            <a:ahLst/>
            <a:cxnLst/>
            <a:rect l="l" t="t" r="r" b="b"/>
            <a:pathLst>
              <a:path w="666114" h="114300">
                <a:moveTo>
                  <a:pt x="551688" y="0"/>
                </a:moveTo>
                <a:lnTo>
                  <a:pt x="551688" y="114300"/>
                </a:lnTo>
                <a:lnTo>
                  <a:pt x="627888" y="76200"/>
                </a:lnTo>
                <a:lnTo>
                  <a:pt x="570738" y="76200"/>
                </a:lnTo>
                <a:lnTo>
                  <a:pt x="570738" y="38100"/>
                </a:lnTo>
                <a:lnTo>
                  <a:pt x="627888" y="38100"/>
                </a:lnTo>
                <a:lnTo>
                  <a:pt x="551688" y="0"/>
                </a:lnTo>
                <a:close/>
              </a:path>
              <a:path w="666114" h="114300">
                <a:moveTo>
                  <a:pt x="5516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1688" y="76200"/>
                </a:lnTo>
                <a:lnTo>
                  <a:pt x="551688" y="38100"/>
                </a:lnTo>
                <a:close/>
              </a:path>
              <a:path w="666114" h="114300">
                <a:moveTo>
                  <a:pt x="627888" y="38100"/>
                </a:moveTo>
                <a:lnTo>
                  <a:pt x="570738" y="38100"/>
                </a:lnTo>
                <a:lnTo>
                  <a:pt x="570738" y="76200"/>
                </a:lnTo>
                <a:lnTo>
                  <a:pt x="627888" y="76200"/>
                </a:lnTo>
                <a:lnTo>
                  <a:pt x="665988" y="57150"/>
                </a:lnTo>
                <a:lnTo>
                  <a:pt x="6278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38475" y="839495"/>
            <a:ext cx="5354955" cy="1135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17780" indent="-355600">
              <a:lnSpc>
                <a:spcPct val="130000"/>
              </a:lnSpc>
              <a:spcBef>
                <a:spcPts val="100"/>
              </a:spcBef>
            </a:pPr>
            <a:r>
              <a:rPr sz="2800" u="none" spc="-5" dirty="0">
                <a:solidFill>
                  <a:srgbClr val="FFFF00"/>
                </a:solidFill>
                <a:latin typeface="宋体"/>
                <a:cs typeface="宋体"/>
              </a:rPr>
              <a:t>（每个基本块</a:t>
            </a:r>
            <a:r>
              <a:rPr sz="2800" u="none" spc="-10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sz="3150" u="none" baseline="-15873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sz="2800" u="none" spc="-5" dirty="0">
                <a:solidFill>
                  <a:srgbClr val="FFFF00"/>
                </a:solidFill>
                <a:latin typeface="宋体"/>
                <a:cs typeface="宋体"/>
              </a:rPr>
              <a:t>的有关信息利用其 后继基本块的信息来计算）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1416" y="2149601"/>
            <a:ext cx="5374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如，活跃变量，非常忙表达式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7840" y="3691737"/>
            <a:ext cx="7983855" cy="1294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2300" marR="5080" indent="-610235">
              <a:lnSpc>
                <a:spcPct val="130100"/>
              </a:lnSpc>
              <a:spcBef>
                <a:spcPts val="95"/>
              </a:spcBef>
              <a:tabLst>
                <a:tab pos="622300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2.	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由于数据沿流图的控制路径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动，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故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数据 流分析受程序控制结构影响。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24100" y="2993135"/>
            <a:ext cx="3816350" cy="483234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0" rIns="0" bIns="0" rtlCol="0">
            <a:spAutoFit/>
          </a:bodyPr>
          <a:lstStyle/>
          <a:p>
            <a:pPr marL="353060">
              <a:lnSpc>
                <a:spcPts val="3654"/>
              </a:lnSpc>
            </a:pPr>
            <a:r>
              <a:rPr sz="3200" b="1" dirty="0">
                <a:latin typeface="宋体"/>
                <a:cs typeface="宋体"/>
              </a:rPr>
              <a:t>由</a:t>
            </a:r>
            <a:r>
              <a:rPr sz="3200" b="1" dirty="0">
                <a:latin typeface="Times New Roman"/>
                <a:cs typeface="Times New Roman"/>
              </a:rPr>
              <a:t>out[B]</a:t>
            </a:r>
            <a:r>
              <a:rPr sz="3200" b="1" dirty="0">
                <a:latin typeface="宋体"/>
                <a:cs typeface="宋体"/>
              </a:rPr>
              <a:t>决定</a:t>
            </a:r>
            <a:r>
              <a:rPr sz="3200" b="1" spc="-5" dirty="0">
                <a:latin typeface="Times New Roman"/>
                <a:cs typeface="Times New Roman"/>
              </a:rPr>
              <a:t>in[B]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01164" y="11378"/>
            <a:ext cx="6121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3463290" algn="l"/>
                <a:tab pos="3970654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76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3341" y="2590926"/>
            <a:ext cx="11677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in(B</a:t>
            </a:r>
            <a:r>
              <a:rPr sz="3150" b="1" spc="-7" baseline="-15873" dirty="0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sz="32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):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18080" y="2543108"/>
            <a:ext cx="6136005" cy="1098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7470" marR="30480" indent="-40005">
              <a:lnSpc>
                <a:spcPct val="110000"/>
              </a:lnSpc>
              <a:spcBef>
                <a:spcPts val="9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能到达基本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入口点之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的各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个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变量的所有定值点集。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541" y="3820134"/>
            <a:ext cx="7615555" cy="2561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2730" marR="43180" indent="-1434465">
              <a:lnSpc>
                <a:spcPct val="114999"/>
              </a:lnSpc>
              <a:spcBef>
                <a:spcPts val="100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out(B</a:t>
            </a:r>
            <a:r>
              <a:rPr sz="3150" b="1" baseline="-15873" dirty="0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):</a:t>
            </a:r>
            <a:r>
              <a:rPr sz="3200" b="1" spc="-90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能到达基本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150" b="1" spc="-7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出口之后的各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变量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定值点的集合。</a:t>
            </a:r>
            <a:endParaRPr sz="3200" dirty="0">
              <a:latin typeface="宋体"/>
              <a:cs typeface="宋体"/>
            </a:endParaRPr>
          </a:p>
          <a:p>
            <a:pPr marL="1484630" marR="92710" indent="-1434465">
              <a:lnSpc>
                <a:spcPct val="130100"/>
              </a:lnSpc>
              <a:spcBef>
                <a:spcPts val="1145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gen(B</a:t>
            </a:r>
            <a:r>
              <a:rPr sz="3150" b="1" baseline="-15873" dirty="0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):</a:t>
            </a:r>
            <a:r>
              <a:rPr sz="3200" b="1" spc="-6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中定值且能到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达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150" b="1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出口之后的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所有定值点集。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3540" y="0"/>
            <a:ext cx="8225790" cy="248285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530860" algn="ctr">
              <a:lnSpc>
                <a:spcPct val="100000"/>
              </a:lnSpc>
              <a:spcBef>
                <a:spcPts val="730"/>
              </a:spcBef>
              <a:tabLst>
                <a:tab pos="1173480" algn="l"/>
                <a:tab pos="3981450" algn="l"/>
                <a:tab pos="4488815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 dirty="0">
              <a:latin typeface="华文新魏"/>
              <a:cs typeface="华文新魏"/>
            </a:endParaRPr>
          </a:p>
          <a:p>
            <a:pPr marL="329565" indent="-317500">
              <a:lnSpc>
                <a:spcPct val="100000"/>
              </a:lnSpc>
              <a:spcBef>
                <a:spcPts val="1460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到</a:t>
            </a:r>
            <a:r>
              <a:rPr sz="32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达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—</a:t>
            </a:r>
            <a:r>
              <a:rPr sz="32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定值数据流方程</a:t>
            </a:r>
            <a:endParaRPr sz="3200" dirty="0">
              <a:latin typeface="宋体"/>
              <a:cs typeface="宋体"/>
            </a:endParaRPr>
          </a:p>
          <a:p>
            <a:pPr marL="864235">
              <a:lnSpc>
                <a:spcPct val="100000"/>
              </a:lnSpc>
              <a:spcBef>
                <a:spcPts val="170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在数据流分析中采集程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中量的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值情况</a:t>
            </a:r>
            <a:endParaRPr sz="3200" dirty="0">
              <a:latin typeface="宋体"/>
              <a:cs typeface="宋体"/>
            </a:endParaRPr>
          </a:p>
          <a:p>
            <a:pPr marL="152400">
              <a:lnSpc>
                <a:spcPct val="100000"/>
              </a:lnSpc>
              <a:spcBef>
                <a:spcPts val="1150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32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即到达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点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的各变量的全部</a:t>
            </a:r>
            <a:r>
              <a:rPr sz="3200" b="1" spc="-15" dirty="0">
                <a:solidFill>
                  <a:srgbClr val="FFFF00"/>
                </a:solidFill>
                <a:latin typeface="宋体"/>
                <a:cs typeface="宋体"/>
              </a:rPr>
              <a:t>定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值点</a:t>
            </a:r>
            <a:r>
              <a:rPr sz="3200" b="1" spc="-15" dirty="0">
                <a:solidFill>
                  <a:srgbClr val="FFFF00"/>
                </a:solidFill>
                <a:latin typeface="宋体"/>
                <a:cs typeface="宋体"/>
              </a:rPr>
              <a:t>信</a:t>
            </a:r>
            <a:r>
              <a:rPr sz="3200" b="1" spc="770" dirty="0">
                <a:solidFill>
                  <a:srgbClr val="FFFF00"/>
                </a:solidFill>
                <a:latin typeface="宋体"/>
                <a:cs typeface="宋体"/>
              </a:rPr>
              <a:t>息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77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3798" y="1854784"/>
            <a:ext cx="52012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out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(B)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(in(B)</a:t>
            </a:r>
            <a:r>
              <a:rPr sz="2800" b="1" spc="-3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–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kill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(B))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∪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gen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(B)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15198" y="1906600"/>
            <a:ext cx="707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.1)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3798" y="2708910"/>
            <a:ext cx="25946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in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(B) =</a:t>
            </a:r>
            <a:r>
              <a:rPr sz="2800" b="1" spc="-5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∪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out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03952" y="2760725"/>
            <a:ext cx="3091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96490" algn="l"/>
              </a:tabLst>
            </a:pPr>
            <a:r>
              <a:rPr sz="28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∈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sz="2800" b="1" spc="-65" dirty="0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ed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(B)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7040" y="504922"/>
            <a:ext cx="8037195" cy="1195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49400" marR="17780" indent="-1524635">
              <a:lnSpc>
                <a:spcPct val="120000"/>
              </a:lnSpc>
              <a:spcBef>
                <a:spcPts val="95"/>
              </a:spcBef>
              <a:tabLst>
                <a:tab pos="1543050" algn="l"/>
              </a:tabLst>
            </a:pPr>
            <a:r>
              <a:rPr sz="3200" u="none" dirty="0">
                <a:solidFill>
                  <a:srgbClr val="66FFFF"/>
                </a:solidFill>
                <a:latin typeface="Times New Roman"/>
                <a:cs typeface="Times New Roman"/>
              </a:rPr>
              <a:t>ki</a:t>
            </a:r>
            <a:r>
              <a:rPr sz="3200" u="none" spc="-10" dirty="0">
                <a:solidFill>
                  <a:srgbClr val="66FFFF"/>
                </a:solidFill>
                <a:latin typeface="Times New Roman"/>
                <a:cs typeface="Times New Roman"/>
              </a:rPr>
              <a:t>l</a:t>
            </a:r>
            <a:r>
              <a:rPr sz="3200" u="none" dirty="0">
                <a:solidFill>
                  <a:srgbClr val="66FFFF"/>
                </a:solidFill>
                <a:latin typeface="Times New Roman"/>
                <a:cs typeface="Times New Roman"/>
              </a:rPr>
              <a:t>l(</a:t>
            </a:r>
            <a:r>
              <a:rPr sz="3200" u="none" spc="-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u="none" baseline="-15873" dirty="0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sz="3200" u="none" dirty="0">
                <a:solidFill>
                  <a:srgbClr val="66FFFF"/>
                </a:solidFill>
                <a:latin typeface="Times New Roman"/>
                <a:cs typeface="Times New Roman"/>
              </a:rPr>
              <a:t>):	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在基本</a:t>
            </a:r>
            <a:r>
              <a:rPr sz="3200" u="none" spc="5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3200" u="none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150" u="none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定值的量在其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它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地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点的集合。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06117" y="2058161"/>
            <a:ext cx="295910" cy="1066800"/>
          </a:xfrm>
          <a:custGeom>
            <a:avLst/>
            <a:gdLst/>
            <a:ahLst/>
            <a:cxnLst/>
            <a:rect l="l" t="t" r="r" b="b"/>
            <a:pathLst>
              <a:path w="295910" h="1066800">
                <a:moveTo>
                  <a:pt x="295656" y="1066800"/>
                </a:moveTo>
                <a:lnTo>
                  <a:pt x="238107" y="1059801"/>
                </a:lnTo>
                <a:lnTo>
                  <a:pt x="191119" y="1040717"/>
                </a:lnTo>
                <a:lnTo>
                  <a:pt x="159442" y="1012418"/>
                </a:lnTo>
                <a:lnTo>
                  <a:pt x="147827" y="977773"/>
                </a:lnTo>
                <a:lnTo>
                  <a:pt x="147827" y="622426"/>
                </a:lnTo>
                <a:lnTo>
                  <a:pt x="136213" y="587781"/>
                </a:lnTo>
                <a:lnTo>
                  <a:pt x="104536" y="559482"/>
                </a:lnTo>
                <a:lnTo>
                  <a:pt x="57548" y="540398"/>
                </a:lnTo>
                <a:lnTo>
                  <a:pt x="0" y="533400"/>
                </a:lnTo>
                <a:lnTo>
                  <a:pt x="57548" y="526401"/>
                </a:lnTo>
                <a:lnTo>
                  <a:pt x="104536" y="507317"/>
                </a:lnTo>
                <a:lnTo>
                  <a:pt x="136213" y="479018"/>
                </a:lnTo>
                <a:lnTo>
                  <a:pt x="147827" y="444373"/>
                </a:lnTo>
                <a:lnTo>
                  <a:pt x="147827" y="89026"/>
                </a:lnTo>
                <a:lnTo>
                  <a:pt x="159442" y="54381"/>
                </a:lnTo>
                <a:lnTo>
                  <a:pt x="191119" y="26082"/>
                </a:lnTo>
                <a:lnTo>
                  <a:pt x="238107" y="6998"/>
                </a:lnTo>
                <a:lnTo>
                  <a:pt x="295656" y="0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9740" y="2034700"/>
            <a:ext cx="1248410" cy="976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 marR="5080" indent="-76200">
              <a:lnSpc>
                <a:spcPct val="130000"/>
              </a:lnSpc>
              <a:spcBef>
                <a:spcPts val="95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到达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定 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值方程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7042" y="3378493"/>
            <a:ext cx="7614284" cy="246824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230"/>
              </a:spcBef>
            </a:pP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其中：</a:t>
            </a:r>
            <a:endParaRPr sz="2800">
              <a:latin typeface="宋体"/>
              <a:cs typeface="宋体"/>
            </a:endParaRPr>
          </a:p>
          <a:p>
            <a:pPr marL="12700" marR="5080" indent="621665">
              <a:lnSpc>
                <a:spcPct val="130000"/>
              </a:lnSpc>
              <a:spcBef>
                <a:spcPts val="12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gen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sz="2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ill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B)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可从其定义出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，直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接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从给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定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的代码求出。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宋体"/>
              <a:cs typeface="宋体"/>
            </a:endParaRPr>
          </a:p>
          <a:p>
            <a:pPr marL="831850">
              <a:lnSpc>
                <a:spcPct val="100000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P(B)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表示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的所有前驱基本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的集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701164" y="11378"/>
            <a:ext cx="6121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3463290" algn="l"/>
                <a:tab pos="3970654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78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3339" y="597153"/>
            <a:ext cx="9429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例</a:t>
            </a:r>
            <a:r>
              <a:rPr sz="3200" b="1" dirty="0">
                <a:solidFill>
                  <a:srgbClr val="FFFF66"/>
                </a:solidFill>
                <a:latin typeface="Times New Roman"/>
                <a:cs typeface="Times New Roman"/>
              </a:rPr>
              <a:t>8.8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74367" y="597153"/>
            <a:ext cx="16592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设有流图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56654" y="866394"/>
            <a:ext cx="1666239" cy="107315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112395" marR="212725" indent="-12700">
              <a:lnSpc>
                <a:spcPct val="88100"/>
              </a:lnSpc>
              <a:spcBef>
                <a:spcPts val="18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d1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i=m-1 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d2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 j=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  d3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a=u1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22797" y="4147565"/>
            <a:ext cx="1537970" cy="45275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d6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a=u2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24878" y="5144261"/>
            <a:ext cx="1591310" cy="452755"/>
          </a:xfrm>
          <a:custGeom>
            <a:avLst/>
            <a:gdLst/>
            <a:ahLst/>
            <a:cxnLst/>
            <a:rect l="l" t="t" r="r" b="b"/>
            <a:pathLst>
              <a:path w="1591309" h="452754">
                <a:moveTo>
                  <a:pt x="0" y="452628"/>
                </a:moveTo>
                <a:lnTo>
                  <a:pt x="1591055" y="452628"/>
                </a:lnTo>
                <a:lnTo>
                  <a:pt x="1591055" y="0"/>
                </a:lnTo>
                <a:lnTo>
                  <a:pt x="0" y="0"/>
                </a:lnTo>
                <a:lnTo>
                  <a:pt x="0" y="45262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74507" y="406653"/>
            <a:ext cx="381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99FFCC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20833" dirty="0">
                <a:solidFill>
                  <a:srgbClr val="99FFCC"/>
                </a:solidFill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49311" y="1939289"/>
            <a:ext cx="114300" cy="622300"/>
          </a:xfrm>
          <a:custGeom>
            <a:avLst/>
            <a:gdLst/>
            <a:ahLst/>
            <a:cxnLst/>
            <a:rect l="l" t="t" r="r" b="b"/>
            <a:pathLst>
              <a:path w="114300" h="622300">
                <a:moveTo>
                  <a:pt x="38100" y="431292"/>
                </a:moveTo>
                <a:lnTo>
                  <a:pt x="0" y="431292"/>
                </a:lnTo>
                <a:lnTo>
                  <a:pt x="57150" y="621792"/>
                </a:lnTo>
                <a:lnTo>
                  <a:pt x="108584" y="450342"/>
                </a:lnTo>
                <a:lnTo>
                  <a:pt x="38100" y="450342"/>
                </a:lnTo>
                <a:lnTo>
                  <a:pt x="38100" y="431292"/>
                </a:lnTo>
                <a:close/>
              </a:path>
              <a:path w="114300" h="622300">
                <a:moveTo>
                  <a:pt x="76200" y="0"/>
                </a:moveTo>
                <a:lnTo>
                  <a:pt x="38100" y="0"/>
                </a:lnTo>
                <a:lnTo>
                  <a:pt x="38100" y="450342"/>
                </a:lnTo>
                <a:lnTo>
                  <a:pt x="76200" y="450342"/>
                </a:lnTo>
                <a:lnTo>
                  <a:pt x="76200" y="0"/>
                </a:lnTo>
                <a:close/>
              </a:path>
              <a:path w="114300" h="622300">
                <a:moveTo>
                  <a:pt x="114300" y="431292"/>
                </a:moveTo>
                <a:lnTo>
                  <a:pt x="76200" y="431292"/>
                </a:lnTo>
                <a:lnTo>
                  <a:pt x="76200" y="450342"/>
                </a:lnTo>
                <a:lnTo>
                  <a:pt x="108584" y="450342"/>
                </a:lnTo>
                <a:lnTo>
                  <a:pt x="114300" y="43129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17741" y="3475101"/>
            <a:ext cx="708025" cy="649605"/>
          </a:xfrm>
          <a:custGeom>
            <a:avLst/>
            <a:gdLst/>
            <a:ahLst/>
            <a:cxnLst/>
            <a:rect l="l" t="t" r="r" b="b"/>
            <a:pathLst>
              <a:path w="708025" h="649604">
                <a:moveTo>
                  <a:pt x="101981" y="478917"/>
                </a:moveTo>
                <a:lnTo>
                  <a:pt x="0" y="649605"/>
                </a:lnTo>
                <a:lnTo>
                  <a:pt x="179197" y="563244"/>
                </a:lnTo>
                <a:lnTo>
                  <a:pt x="165242" y="548005"/>
                </a:lnTo>
                <a:lnTo>
                  <a:pt x="139319" y="548005"/>
                </a:lnTo>
                <a:lnTo>
                  <a:pt x="113665" y="519811"/>
                </a:lnTo>
                <a:lnTo>
                  <a:pt x="127686" y="506989"/>
                </a:lnTo>
                <a:lnTo>
                  <a:pt x="101981" y="478917"/>
                </a:lnTo>
                <a:close/>
              </a:path>
              <a:path w="708025" h="649604">
                <a:moveTo>
                  <a:pt x="127686" y="506989"/>
                </a:moveTo>
                <a:lnTo>
                  <a:pt x="113665" y="519811"/>
                </a:lnTo>
                <a:lnTo>
                  <a:pt x="139319" y="548005"/>
                </a:lnTo>
                <a:lnTo>
                  <a:pt x="153428" y="535102"/>
                </a:lnTo>
                <a:lnTo>
                  <a:pt x="127686" y="506989"/>
                </a:lnTo>
                <a:close/>
              </a:path>
              <a:path w="708025" h="649604">
                <a:moveTo>
                  <a:pt x="153428" y="535102"/>
                </a:moveTo>
                <a:lnTo>
                  <a:pt x="139319" y="548005"/>
                </a:lnTo>
                <a:lnTo>
                  <a:pt x="165242" y="548005"/>
                </a:lnTo>
                <a:lnTo>
                  <a:pt x="153428" y="535102"/>
                </a:lnTo>
                <a:close/>
              </a:path>
              <a:path w="708025" h="649604">
                <a:moveTo>
                  <a:pt x="682116" y="0"/>
                </a:moveTo>
                <a:lnTo>
                  <a:pt x="127686" y="506989"/>
                </a:lnTo>
                <a:lnTo>
                  <a:pt x="153428" y="535102"/>
                </a:lnTo>
                <a:lnTo>
                  <a:pt x="707771" y="28194"/>
                </a:lnTo>
                <a:lnTo>
                  <a:pt x="68211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09995" y="4594986"/>
            <a:ext cx="1196975" cy="549275"/>
          </a:xfrm>
          <a:custGeom>
            <a:avLst/>
            <a:gdLst/>
            <a:ahLst/>
            <a:cxnLst/>
            <a:rect l="l" t="t" r="r" b="b"/>
            <a:pathLst>
              <a:path w="1196975" h="549275">
                <a:moveTo>
                  <a:pt x="1014783" y="488934"/>
                </a:moveTo>
                <a:lnTo>
                  <a:pt x="999235" y="523620"/>
                </a:lnTo>
                <a:lnTo>
                  <a:pt x="1196466" y="549275"/>
                </a:lnTo>
                <a:lnTo>
                  <a:pt x="1135562" y="496696"/>
                </a:lnTo>
                <a:lnTo>
                  <a:pt x="1032128" y="496696"/>
                </a:lnTo>
                <a:lnTo>
                  <a:pt x="1014783" y="488934"/>
                </a:lnTo>
                <a:close/>
              </a:path>
              <a:path w="1196975" h="549275">
                <a:moveTo>
                  <a:pt x="1030384" y="454128"/>
                </a:moveTo>
                <a:lnTo>
                  <a:pt x="1014783" y="488934"/>
                </a:lnTo>
                <a:lnTo>
                  <a:pt x="1032128" y="496696"/>
                </a:lnTo>
                <a:lnTo>
                  <a:pt x="1047750" y="461899"/>
                </a:lnTo>
                <a:lnTo>
                  <a:pt x="1030384" y="454128"/>
                </a:lnTo>
                <a:close/>
              </a:path>
              <a:path w="1196975" h="549275">
                <a:moveTo>
                  <a:pt x="1045972" y="419354"/>
                </a:moveTo>
                <a:lnTo>
                  <a:pt x="1030384" y="454128"/>
                </a:lnTo>
                <a:lnTo>
                  <a:pt x="1047750" y="461899"/>
                </a:lnTo>
                <a:lnTo>
                  <a:pt x="1032128" y="496696"/>
                </a:lnTo>
                <a:lnTo>
                  <a:pt x="1135562" y="496696"/>
                </a:lnTo>
                <a:lnTo>
                  <a:pt x="1045972" y="419354"/>
                </a:lnTo>
                <a:close/>
              </a:path>
              <a:path w="1196975" h="549275">
                <a:moveTo>
                  <a:pt x="15493" y="0"/>
                </a:moveTo>
                <a:lnTo>
                  <a:pt x="0" y="34798"/>
                </a:lnTo>
                <a:lnTo>
                  <a:pt x="1014783" y="488934"/>
                </a:lnTo>
                <a:lnTo>
                  <a:pt x="1030384" y="454128"/>
                </a:lnTo>
                <a:lnTo>
                  <a:pt x="1549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56654" y="2541270"/>
            <a:ext cx="1612900" cy="927100"/>
          </a:xfrm>
          <a:custGeom>
            <a:avLst/>
            <a:gdLst/>
            <a:ahLst/>
            <a:cxnLst/>
            <a:rect l="l" t="t" r="r" b="b"/>
            <a:pathLst>
              <a:path w="1612900" h="927100">
                <a:moveTo>
                  <a:pt x="0" y="926591"/>
                </a:moveTo>
                <a:lnTo>
                  <a:pt x="1612392" y="926591"/>
                </a:lnTo>
                <a:lnTo>
                  <a:pt x="1612392" y="0"/>
                </a:lnTo>
                <a:lnTo>
                  <a:pt x="0" y="0"/>
                </a:lnTo>
                <a:lnTo>
                  <a:pt x="0" y="926591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56654" y="2541270"/>
            <a:ext cx="1612900" cy="927100"/>
          </a:xfrm>
          <a:custGeom>
            <a:avLst/>
            <a:gdLst/>
            <a:ahLst/>
            <a:cxnLst/>
            <a:rect l="l" t="t" r="r" b="b"/>
            <a:pathLst>
              <a:path w="1612900" h="927100">
                <a:moveTo>
                  <a:pt x="0" y="926591"/>
                </a:moveTo>
                <a:lnTo>
                  <a:pt x="1612392" y="926591"/>
                </a:lnTo>
                <a:lnTo>
                  <a:pt x="1612392" y="0"/>
                </a:lnTo>
                <a:lnTo>
                  <a:pt x="0" y="0"/>
                </a:lnTo>
                <a:lnTo>
                  <a:pt x="0" y="92659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716904" y="2030222"/>
            <a:ext cx="2677795" cy="2091689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R="207645" algn="r">
              <a:lnSpc>
                <a:spcPct val="100000"/>
              </a:lnSpc>
              <a:spcBef>
                <a:spcPts val="720"/>
              </a:spcBef>
            </a:pPr>
            <a:r>
              <a:rPr sz="2400" b="1" spc="-5" dirty="0">
                <a:solidFill>
                  <a:srgbClr val="99FFCC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20833" dirty="0">
                <a:solidFill>
                  <a:srgbClr val="99FFCC"/>
                </a:solidFill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  <a:p>
            <a:pPr marL="1166495" marR="257175">
              <a:lnSpc>
                <a:spcPct val="100000"/>
              </a:lnSpc>
              <a:spcBef>
                <a:spcPts val="62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d4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i=i+1 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d5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j=j-1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400" b="1" spc="-5" dirty="0">
                <a:solidFill>
                  <a:srgbClr val="99FFCC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20833" dirty="0">
                <a:solidFill>
                  <a:srgbClr val="99FFCC"/>
                </a:solidFill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25156" y="3467861"/>
            <a:ext cx="114300" cy="1676400"/>
          </a:xfrm>
          <a:custGeom>
            <a:avLst/>
            <a:gdLst/>
            <a:ahLst/>
            <a:cxnLst/>
            <a:rect l="l" t="t" r="r" b="b"/>
            <a:pathLst>
              <a:path w="114300" h="1676400">
                <a:moveTo>
                  <a:pt x="38100" y="1485900"/>
                </a:moveTo>
                <a:lnTo>
                  <a:pt x="0" y="1485900"/>
                </a:lnTo>
                <a:lnTo>
                  <a:pt x="57150" y="1676400"/>
                </a:lnTo>
                <a:lnTo>
                  <a:pt x="108584" y="1504950"/>
                </a:lnTo>
                <a:lnTo>
                  <a:pt x="38100" y="1504950"/>
                </a:lnTo>
                <a:lnTo>
                  <a:pt x="38100" y="1485900"/>
                </a:lnTo>
                <a:close/>
              </a:path>
              <a:path w="114300" h="1676400">
                <a:moveTo>
                  <a:pt x="7620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76200" y="1504950"/>
                </a:lnTo>
                <a:lnTo>
                  <a:pt x="76200" y="0"/>
                </a:lnTo>
                <a:close/>
              </a:path>
              <a:path w="114300" h="1676400">
                <a:moveTo>
                  <a:pt x="114300" y="1485900"/>
                </a:moveTo>
                <a:lnTo>
                  <a:pt x="76200" y="1485900"/>
                </a:lnTo>
                <a:lnTo>
                  <a:pt x="76200" y="1504950"/>
                </a:lnTo>
                <a:lnTo>
                  <a:pt x="108584" y="1504950"/>
                </a:lnTo>
                <a:lnTo>
                  <a:pt x="114300" y="14859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210931" y="2343505"/>
            <a:ext cx="889000" cy="3619500"/>
          </a:xfrm>
          <a:custGeom>
            <a:avLst/>
            <a:gdLst/>
            <a:ahLst/>
            <a:cxnLst/>
            <a:rect l="l" t="t" r="r" b="b"/>
            <a:pathLst>
              <a:path w="889000" h="3619500">
                <a:moveTo>
                  <a:pt x="247015" y="3568700"/>
                </a:moveTo>
                <a:lnTo>
                  <a:pt x="162178" y="3568700"/>
                </a:lnTo>
                <a:lnTo>
                  <a:pt x="181610" y="3581400"/>
                </a:lnTo>
                <a:lnTo>
                  <a:pt x="200278" y="3594100"/>
                </a:lnTo>
                <a:lnTo>
                  <a:pt x="218440" y="3606800"/>
                </a:lnTo>
                <a:lnTo>
                  <a:pt x="236220" y="3606800"/>
                </a:lnTo>
                <a:lnTo>
                  <a:pt x="253619" y="3619500"/>
                </a:lnTo>
                <a:lnTo>
                  <a:pt x="484250" y="3619500"/>
                </a:lnTo>
                <a:lnTo>
                  <a:pt x="509016" y="3606800"/>
                </a:lnTo>
                <a:lnTo>
                  <a:pt x="528954" y="3594100"/>
                </a:lnTo>
                <a:lnTo>
                  <a:pt x="465582" y="3594100"/>
                </a:lnTo>
                <a:lnTo>
                  <a:pt x="477393" y="3581400"/>
                </a:lnTo>
                <a:lnTo>
                  <a:pt x="261874" y="3581400"/>
                </a:lnTo>
                <a:lnTo>
                  <a:pt x="247015" y="3568700"/>
                </a:lnTo>
                <a:close/>
              </a:path>
              <a:path w="889000" h="3619500">
                <a:moveTo>
                  <a:pt x="749300" y="2882900"/>
                </a:moveTo>
                <a:lnTo>
                  <a:pt x="711453" y="2882900"/>
                </a:lnTo>
                <a:lnTo>
                  <a:pt x="706120" y="2921000"/>
                </a:lnTo>
                <a:lnTo>
                  <a:pt x="695960" y="3022600"/>
                </a:lnTo>
                <a:lnTo>
                  <a:pt x="690499" y="3073400"/>
                </a:lnTo>
                <a:lnTo>
                  <a:pt x="684276" y="3124200"/>
                </a:lnTo>
                <a:lnTo>
                  <a:pt x="676910" y="3175000"/>
                </a:lnTo>
                <a:lnTo>
                  <a:pt x="668147" y="3225800"/>
                </a:lnTo>
                <a:lnTo>
                  <a:pt x="657351" y="3276600"/>
                </a:lnTo>
                <a:lnTo>
                  <a:pt x="644651" y="3327400"/>
                </a:lnTo>
                <a:lnTo>
                  <a:pt x="637286" y="3340100"/>
                </a:lnTo>
                <a:lnTo>
                  <a:pt x="629285" y="3365500"/>
                </a:lnTo>
                <a:lnTo>
                  <a:pt x="620522" y="3390900"/>
                </a:lnTo>
                <a:lnTo>
                  <a:pt x="610997" y="3416300"/>
                </a:lnTo>
                <a:lnTo>
                  <a:pt x="600710" y="3429000"/>
                </a:lnTo>
                <a:lnTo>
                  <a:pt x="589661" y="3454400"/>
                </a:lnTo>
                <a:lnTo>
                  <a:pt x="577596" y="3479800"/>
                </a:lnTo>
                <a:lnTo>
                  <a:pt x="564642" y="3492500"/>
                </a:lnTo>
                <a:lnTo>
                  <a:pt x="550799" y="3517900"/>
                </a:lnTo>
                <a:lnTo>
                  <a:pt x="535940" y="3530600"/>
                </a:lnTo>
                <a:lnTo>
                  <a:pt x="519938" y="3543300"/>
                </a:lnTo>
                <a:lnTo>
                  <a:pt x="503047" y="3568700"/>
                </a:lnTo>
                <a:lnTo>
                  <a:pt x="484886" y="3581400"/>
                </a:lnTo>
                <a:lnTo>
                  <a:pt x="465582" y="3594100"/>
                </a:lnTo>
                <a:lnTo>
                  <a:pt x="528954" y="3594100"/>
                </a:lnTo>
                <a:lnTo>
                  <a:pt x="547624" y="3568700"/>
                </a:lnTo>
                <a:lnTo>
                  <a:pt x="565023" y="3556000"/>
                </a:lnTo>
                <a:lnTo>
                  <a:pt x="581151" y="3530600"/>
                </a:lnTo>
                <a:lnTo>
                  <a:pt x="596265" y="3517900"/>
                </a:lnTo>
                <a:lnTo>
                  <a:pt x="610235" y="3492500"/>
                </a:lnTo>
                <a:lnTo>
                  <a:pt x="623062" y="3467100"/>
                </a:lnTo>
                <a:lnTo>
                  <a:pt x="635000" y="3454400"/>
                </a:lnTo>
                <a:lnTo>
                  <a:pt x="656082" y="3403600"/>
                </a:lnTo>
                <a:lnTo>
                  <a:pt x="673608" y="3352800"/>
                </a:lnTo>
                <a:lnTo>
                  <a:pt x="688213" y="3302000"/>
                </a:lnTo>
                <a:lnTo>
                  <a:pt x="705612" y="3225800"/>
                </a:lnTo>
                <a:lnTo>
                  <a:pt x="714628" y="3175000"/>
                </a:lnTo>
                <a:lnTo>
                  <a:pt x="721995" y="3124200"/>
                </a:lnTo>
                <a:lnTo>
                  <a:pt x="728345" y="3073400"/>
                </a:lnTo>
                <a:lnTo>
                  <a:pt x="733933" y="3022600"/>
                </a:lnTo>
                <a:lnTo>
                  <a:pt x="738886" y="2984500"/>
                </a:lnTo>
                <a:lnTo>
                  <a:pt x="743966" y="2933700"/>
                </a:lnTo>
                <a:lnTo>
                  <a:pt x="749300" y="2882900"/>
                </a:lnTo>
                <a:close/>
              </a:path>
              <a:path w="889000" h="3619500">
                <a:moveTo>
                  <a:pt x="41844" y="3297403"/>
                </a:moveTo>
                <a:lnTo>
                  <a:pt x="37846" y="3302000"/>
                </a:lnTo>
                <a:lnTo>
                  <a:pt x="4572" y="3302000"/>
                </a:lnTo>
                <a:lnTo>
                  <a:pt x="5842" y="3314700"/>
                </a:lnTo>
                <a:lnTo>
                  <a:pt x="9017" y="3327400"/>
                </a:lnTo>
                <a:lnTo>
                  <a:pt x="13080" y="3340100"/>
                </a:lnTo>
                <a:lnTo>
                  <a:pt x="17779" y="3352800"/>
                </a:lnTo>
                <a:lnTo>
                  <a:pt x="22987" y="3365500"/>
                </a:lnTo>
                <a:lnTo>
                  <a:pt x="26289" y="3365500"/>
                </a:lnTo>
                <a:lnTo>
                  <a:pt x="29464" y="3378200"/>
                </a:lnTo>
                <a:lnTo>
                  <a:pt x="92837" y="3467100"/>
                </a:lnTo>
                <a:lnTo>
                  <a:pt x="124460" y="3517900"/>
                </a:lnTo>
                <a:lnTo>
                  <a:pt x="157861" y="3568700"/>
                </a:lnTo>
                <a:lnTo>
                  <a:pt x="231901" y="3568700"/>
                </a:lnTo>
                <a:lnTo>
                  <a:pt x="216280" y="3556000"/>
                </a:lnTo>
                <a:lnTo>
                  <a:pt x="199771" y="3556000"/>
                </a:lnTo>
                <a:lnTo>
                  <a:pt x="182245" y="3543300"/>
                </a:lnTo>
                <a:lnTo>
                  <a:pt x="188087" y="3543300"/>
                </a:lnTo>
                <a:lnTo>
                  <a:pt x="156083" y="3492500"/>
                </a:lnTo>
                <a:lnTo>
                  <a:pt x="124714" y="3454400"/>
                </a:lnTo>
                <a:lnTo>
                  <a:pt x="61214" y="3352800"/>
                </a:lnTo>
                <a:lnTo>
                  <a:pt x="57403" y="3352800"/>
                </a:lnTo>
                <a:lnTo>
                  <a:pt x="52959" y="3340100"/>
                </a:lnTo>
                <a:lnTo>
                  <a:pt x="49022" y="3327400"/>
                </a:lnTo>
                <a:lnTo>
                  <a:pt x="45593" y="3314700"/>
                </a:lnTo>
                <a:lnTo>
                  <a:pt x="42672" y="3302000"/>
                </a:lnTo>
                <a:lnTo>
                  <a:pt x="41844" y="3297403"/>
                </a:lnTo>
                <a:close/>
              </a:path>
              <a:path w="889000" h="3619500">
                <a:moveTo>
                  <a:pt x="38735" y="3289300"/>
                </a:moveTo>
                <a:lnTo>
                  <a:pt x="1397" y="3289300"/>
                </a:lnTo>
                <a:lnTo>
                  <a:pt x="1904" y="3302000"/>
                </a:lnTo>
                <a:lnTo>
                  <a:pt x="30479" y="3302000"/>
                </a:lnTo>
                <a:lnTo>
                  <a:pt x="38735" y="3289300"/>
                </a:lnTo>
                <a:close/>
              </a:path>
              <a:path w="889000" h="3619500">
                <a:moveTo>
                  <a:pt x="40386" y="3289300"/>
                </a:moveTo>
                <a:lnTo>
                  <a:pt x="38735" y="3289300"/>
                </a:lnTo>
                <a:lnTo>
                  <a:pt x="30479" y="3302000"/>
                </a:lnTo>
                <a:lnTo>
                  <a:pt x="37846" y="3302000"/>
                </a:lnTo>
                <a:lnTo>
                  <a:pt x="41844" y="3297403"/>
                </a:lnTo>
                <a:lnTo>
                  <a:pt x="40386" y="3289300"/>
                </a:lnTo>
                <a:close/>
              </a:path>
              <a:path w="889000" h="3619500">
                <a:moveTo>
                  <a:pt x="48895" y="3289300"/>
                </a:moveTo>
                <a:lnTo>
                  <a:pt x="40386" y="3289300"/>
                </a:lnTo>
                <a:lnTo>
                  <a:pt x="41844" y="3297403"/>
                </a:lnTo>
                <a:lnTo>
                  <a:pt x="48895" y="3289300"/>
                </a:lnTo>
                <a:close/>
              </a:path>
              <a:path w="889000" h="3619500">
                <a:moveTo>
                  <a:pt x="66928" y="3276600"/>
                </a:moveTo>
                <a:lnTo>
                  <a:pt x="3175" y="3276600"/>
                </a:lnTo>
                <a:lnTo>
                  <a:pt x="0" y="3289300"/>
                </a:lnTo>
                <a:lnTo>
                  <a:pt x="62992" y="3289300"/>
                </a:lnTo>
                <a:lnTo>
                  <a:pt x="66928" y="3276600"/>
                </a:lnTo>
                <a:close/>
              </a:path>
              <a:path w="889000" h="3619500">
                <a:moveTo>
                  <a:pt x="80391" y="3263900"/>
                </a:moveTo>
                <a:lnTo>
                  <a:pt x="16764" y="3263900"/>
                </a:lnTo>
                <a:lnTo>
                  <a:pt x="9525" y="3276600"/>
                </a:lnTo>
                <a:lnTo>
                  <a:pt x="76962" y="3276600"/>
                </a:lnTo>
                <a:lnTo>
                  <a:pt x="80391" y="3263900"/>
                </a:lnTo>
                <a:close/>
              </a:path>
              <a:path w="889000" h="3619500">
                <a:moveTo>
                  <a:pt x="57150" y="3238500"/>
                </a:moveTo>
                <a:lnTo>
                  <a:pt x="52959" y="3238500"/>
                </a:lnTo>
                <a:lnTo>
                  <a:pt x="49911" y="3251200"/>
                </a:lnTo>
                <a:lnTo>
                  <a:pt x="35941" y="3251200"/>
                </a:lnTo>
                <a:lnTo>
                  <a:pt x="32766" y="3263900"/>
                </a:lnTo>
                <a:lnTo>
                  <a:pt x="84200" y="3263900"/>
                </a:lnTo>
                <a:lnTo>
                  <a:pt x="57150" y="3238500"/>
                </a:lnTo>
                <a:close/>
              </a:path>
              <a:path w="889000" h="3619500">
                <a:moveTo>
                  <a:pt x="503174" y="12700"/>
                </a:moveTo>
                <a:lnTo>
                  <a:pt x="187071" y="12700"/>
                </a:lnTo>
                <a:lnTo>
                  <a:pt x="167894" y="25400"/>
                </a:lnTo>
                <a:lnTo>
                  <a:pt x="242316" y="25400"/>
                </a:lnTo>
                <a:lnTo>
                  <a:pt x="238378" y="38100"/>
                </a:lnTo>
                <a:lnTo>
                  <a:pt x="422783" y="38100"/>
                </a:lnTo>
                <a:lnTo>
                  <a:pt x="449199" y="50800"/>
                </a:lnTo>
                <a:lnTo>
                  <a:pt x="493522" y="50800"/>
                </a:lnTo>
                <a:lnTo>
                  <a:pt x="513715" y="63500"/>
                </a:lnTo>
                <a:lnTo>
                  <a:pt x="532765" y="76200"/>
                </a:lnTo>
                <a:lnTo>
                  <a:pt x="550672" y="76200"/>
                </a:lnTo>
                <a:lnTo>
                  <a:pt x="567690" y="88900"/>
                </a:lnTo>
                <a:lnTo>
                  <a:pt x="583692" y="101600"/>
                </a:lnTo>
                <a:lnTo>
                  <a:pt x="598804" y="114300"/>
                </a:lnTo>
                <a:lnTo>
                  <a:pt x="613028" y="139700"/>
                </a:lnTo>
                <a:lnTo>
                  <a:pt x="626491" y="152400"/>
                </a:lnTo>
                <a:lnTo>
                  <a:pt x="639318" y="165100"/>
                </a:lnTo>
                <a:lnTo>
                  <a:pt x="651255" y="190500"/>
                </a:lnTo>
                <a:lnTo>
                  <a:pt x="662432" y="203200"/>
                </a:lnTo>
                <a:lnTo>
                  <a:pt x="673100" y="228600"/>
                </a:lnTo>
                <a:lnTo>
                  <a:pt x="683005" y="241300"/>
                </a:lnTo>
                <a:lnTo>
                  <a:pt x="692403" y="266700"/>
                </a:lnTo>
                <a:lnTo>
                  <a:pt x="701040" y="292100"/>
                </a:lnTo>
                <a:lnTo>
                  <a:pt x="709295" y="304800"/>
                </a:lnTo>
                <a:lnTo>
                  <a:pt x="724153" y="355600"/>
                </a:lnTo>
                <a:lnTo>
                  <a:pt x="737362" y="393700"/>
                </a:lnTo>
                <a:lnTo>
                  <a:pt x="749046" y="444500"/>
                </a:lnTo>
                <a:lnTo>
                  <a:pt x="759587" y="495300"/>
                </a:lnTo>
                <a:lnTo>
                  <a:pt x="774065" y="558800"/>
                </a:lnTo>
                <a:lnTo>
                  <a:pt x="778764" y="571500"/>
                </a:lnTo>
                <a:lnTo>
                  <a:pt x="783336" y="596900"/>
                </a:lnTo>
                <a:lnTo>
                  <a:pt x="787908" y="609600"/>
                </a:lnTo>
                <a:lnTo>
                  <a:pt x="795020" y="685800"/>
                </a:lnTo>
                <a:lnTo>
                  <a:pt x="803275" y="749300"/>
                </a:lnTo>
                <a:lnTo>
                  <a:pt x="820420" y="889000"/>
                </a:lnTo>
                <a:lnTo>
                  <a:pt x="828928" y="965200"/>
                </a:lnTo>
                <a:lnTo>
                  <a:pt x="837057" y="1028700"/>
                </a:lnTo>
                <a:lnTo>
                  <a:pt x="844423" y="1104900"/>
                </a:lnTo>
                <a:lnTo>
                  <a:pt x="850900" y="1168400"/>
                </a:lnTo>
                <a:lnTo>
                  <a:pt x="847978" y="1384300"/>
                </a:lnTo>
                <a:lnTo>
                  <a:pt x="845693" y="1600200"/>
                </a:lnTo>
                <a:lnTo>
                  <a:pt x="842772" y="1816100"/>
                </a:lnTo>
                <a:lnTo>
                  <a:pt x="840740" y="1930400"/>
                </a:lnTo>
                <a:lnTo>
                  <a:pt x="838073" y="2032000"/>
                </a:lnTo>
                <a:lnTo>
                  <a:pt x="835533" y="2082800"/>
                </a:lnTo>
                <a:lnTo>
                  <a:pt x="830579" y="2120900"/>
                </a:lnTo>
                <a:lnTo>
                  <a:pt x="823849" y="2171700"/>
                </a:lnTo>
                <a:lnTo>
                  <a:pt x="815975" y="2222500"/>
                </a:lnTo>
                <a:lnTo>
                  <a:pt x="807847" y="2273300"/>
                </a:lnTo>
                <a:lnTo>
                  <a:pt x="799846" y="2311400"/>
                </a:lnTo>
                <a:lnTo>
                  <a:pt x="792861" y="2362200"/>
                </a:lnTo>
                <a:lnTo>
                  <a:pt x="789940" y="2387600"/>
                </a:lnTo>
                <a:lnTo>
                  <a:pt x="787526" y="2413000"/>
                </a:lnTo>
                <a:lnTo>
                  <a:pt x="784351" y="2451100"/>
                </a:lnTo>
                <a:lnTo>
                  <a:pt x="781558" y="2476500"/>
                </a:lnTo>
                <a:lnTo>
                  <a:pt x="778764" y="2514600"/>
                </a:lnTo>
                <a:lnTo>
                  <a:pt x="773176" y="2565400"/>
                </a:lnTo>
                <a:lnTo>
                  <a:pt x="770382" y="2603500"/>
                </a:lnTo>
                <a:lnTo>
                  <a:pt x="763777" y="2654300"/>
                </a:lnTo>
                <a:lnTo>
                  <a:pt x="755396" y="2705100"/>
                </a:lnTo>
                <a:lnTo>
                  <a:pt x="750316" y="2730500"/>
                </a:lnTo>
                <a:lnTo>
                  <a:pt x="744601" y="2768600"/>
                </a:lnTo>
                <a:lnTo>
                  <a:pt x="737997" y="2794000"/>
                </a:lnTo>
                <a:lnTo>
                  <a:pt x="730503" y="2819400"/>
                </a:lnTo>
                <a:lnTo>
                  <a:pt x="721868" y="2844800"/>
                </a:lnTo>
                <a:lnTo>
                  <a:pt x="711835" y="2882900"/>
                </a:lnTo>
                <a:lnTo>
                  <a:pt x="748538" y="2882900"/>
                </a:lnTo>
                <a:lnTo>
                  <a:pt x="758444" y="2857500"/>
                </a:lnTo>
                <a:lnTo>
                  <a:pt x="767207" y="2832100"/>
                </a:lnTo>
                <a:lnTo>
                  <a:pt x="774953" y="2794000"/>
                </a:lnTo>
                <a:lnTo>
                  <a:pt x="781939" y="2768600"/>
                </a:lnTo>
                <a:lnTo>
                  <a:pt x="787780" y="2743200"/>
                </a:lnTo>
                <a:lnTo>
                  <a:pt x="792988" y="2717800"/>
                </a:lnTo>
                <a:lnTo>
                  <a:pt x="797560" y="2692400"/>
                </a:lnTo>
                <a:lnTo>
                  <a:pt x="801624" y="2654300"/>
                </a:lnTo>
                <a:lnTo>
                  <a:pt x="805179" y="2628900"/>
                </a:lnTo>
                <a:lnTo>
                  <a:pt x="808354" y="2603500"/>
                </a:lnTo>
                <a:lnTo>
                  <a:pt x="811149" y="2578100"/>
                </a:lnTo>
                <a:lnTo>
                  <a:pt x="813943" y="2540000"/>
                </a:lnTo>
                <a:lnTo>
                  <a:pt x="816737" y="2514600"/>
                </a:lnTo>
                <a:lnTo>
                  <a:pt x="819403" y="2476500"/>
                </a:lnTo>
                <a:lnTo>
                  <a:pt x="822325" y="2451100"/>
                </a:lnTo>
                <a:lnTo>
                  <a:pt x="825500" y="2413000"/>
                </a:lnTo>
                <a:lnTo>
                  <a:pt x="827786" y="2387600"/>
                </a:lnTo>
                <a:lnTo>
                  <a:pt x="830579" y="2362200"/>
                </a:lnTo>
                <a:lnTo>
                  <a:pt x="837311" y="2324100"/>
                </a:lnTo>
                <a:lnTo>
                  <a:pt x="845312" y="2273300"/>
                </a:lnTo>
                <a:lnTo>
                  <a:pt x="853567" y="2222500"/>
                </a:lnTo>
                <a:lnTo>
                  <a:pt x="861568" y="2171700"/>
                </a:lnTo>
                <a:lnTo>
                  <a:pt x="868299" y="2133600"/>
                </a:lnTo>
                <a:lnTo>
                  <a:pt x="873505" y="2082800"/>
                </a:lnTo>
                <a:lnTo>
                  <a:pt x="876173" y="2032000"/>
                </a:lnTo>
                <a:lnTo>
                  <a:pt x="878840" y="1930400"/>
                </a:lnTo>
                <a:lnTo>
                  <a:pt x="880872" y="1816100"/>
                </a:lnTo>
                <a:lnTo>
                  <a:pt x="883793" y="1600200"/>
                </a:lnTo>
                <a:lnTo>
                  <a:pt x="885951" y="1384300"/>
                </a:lnTo>
                <a:lnTo>
                  <a:pt x="888746" y="1168400"/>
                </a:lnTo>
                <a:lnTo>
                  <a:pt x="882269" y="1092200"/>
                </a:lnTo>
                <a:lnTo>
                  <a:pt x="874776" y="1028700"/>
                </a:lnTo>
                <a:lnTo>
                  <a:pt x="866775" y="952500"/>
                </a:lnTo>
                <a:lnTo>
                  <a:pt x="858266" y="889000"/>
                </a:lnTo>
                <a:lnTo>
                  <a:pt x="841121" y="749300"/>
                </a:lnTo>
                <a:lnTo>
                  <a:pt x="832993" y="673100"/>
                </a:lnTo>
                <a:lnTo>
                  <a:pt x="824992" y="609600"/>
                </a:lnTo>
                <a:lnTo>
                  <a:pt x="820420" y="584200"/>
                </a:lnTo>
                <a:lnTo>
                  <a:pt x="815975" y="571500"/>
                </a:lnTo>
                <a:lnTo>
                  <a:pt x="806576" y="520700"/>
                </a:lnTo>
                <a:lnTo>
                  <a:pt x="796671" y="482600"/>
                </a:lnTo>
                <a:lnTo>
                  <a:pt x="786002" y="431800"/>
                </a:lnTo>
                <a:lnTo>
                  <a:pt x="773938" y="393700"/>
                </a:lnTo>
                <a:lnTo>
                  <a:pt x="760349" y="342900"/>
                </a:lnTo>
                <a:lnTo>
                  <a:pt x="744982" y="292100"/>
                </a:lnTo>
                <a:lnTo>
                  <a:pt x="736473" y="266700"/>
                </a:lnTo>
                <a:lnTo>
                  <a:pt x="727201" y="254000"/>
                </a:lnTo>
                <a:lnTo>
                  <a:pt x="717296" y="228600"/>
                </a:lnTo>
                <a:lnTo>
                  <a:pt x="706627" y="203200"/>
                </a:lnTo>
                <a:lnTo>
                  <a:pt x="695198" y="177800"/>
                </a:lnTo>
                <a:lnTo>
                  <a:pt x="683005" y="165100"/>
                </a:lnTo>
                <a:lnTo>
                  <a:pt x="669798" y="139700"/>
                </a:lnTo>
                <a:lnTo>
                  <a:pt x="655701" y="127000"/>
                </a:lnTo>
                <a:lnTo>
                  <a:pt x="640588" y="101600"/>
                </a:lnTo>
                <a:lnTo>
                  <a:pt x="624332" y="88900"/>
                </a:lnTo>
                <a:lnTo>
                  <a:pt x="588645" y="63500"/>
                </a:lnTo>
                <a:lnTo>
                  <a:pt x="548386" y="38100"/>
                </a:lnTo>
                <a:lnTo>
                  <a:pt x="526415" y="25400"/>
                </a:lnTo>
                <a:lnTo>
                  <a:pt x="503174" y="12700"/>
                </a:lnTo>
                <a:close/>
              </a:path>
              <a:path w="889000" h="3619500">
                <a:moveTo>
                  <a:pt x="98171" y="12700"/>
                </a:moveTo>
                <a:lnTo>
                  <a:pt x="7239" y="190500"/>
                </a:lnTo>
                <a:lnTo>
                  <a:pt x="180467" y="88900"/>
                </a:lnTo>
                <a:lnTo>
                  <a:pt x="166751" y="76200"/>
                </a:lnTo>
                <a:lnTo>
                  <a:pt x="139446" y="76200"/>
                </a:lnTo>
                <a:lnTo>
                  <a:pt x="112775" y="50800"/>
                </a:lnTo>
                <a:lnTo>
                  <a:pt x="126521" y="38950"/>
                </a:lnTo>
                <a:lnTo>
                  <a:pt x="98171" y="12700"/>
                </a:lnTo>
                <a:close/>
              </a:path>
              <a:path w="889000" h="3619500">
                <a:moveTo>
                  <a:pt x="126521" y="38950"/>
                </a:moveTo>
                <a:lnTo>
                  <a:pt x="112775" y="50800"/>
                </a:lnTo>
                <a:lnTo>
                  <a:pt x="139446" y="76200"/>
                </a:lnTo>
                <a:lnTo>
                  <a:pt x="153586" y="64010"/>
                </a:lnTo>
                <a:lnTo>
                  <a:pt x="126521" y="38950"/>
                </a:lnTo>
                <a:close/>
              </a:path>
              <a:path w="889000" h="3619500">
                <a:moveTo>
                  <a:pt x="153586" y="64010"/>
                </a:moveTo>
                <a:lnTo>
                  <a:pt x="139446" y="76200"/>
                </a:lnTo>
                <a:lnTo>
                  <a:pt x="149098" y="76200"/>
                </a:lnTo>
                <a:lnTo>
                  <a:pt x="153869" y="64272"/>
                </a:lnTo>
                <a:lnTo>
                  <a:pt x="153586" y="64010"/>
                </a:lnTo>
                <a:close/>
              </a:path>
              <a:path w="889000" h="3619500">
                <a:moveTo>
                  <a:pt x="153869" y="64272"/>
                </a:moveTo>
                <a:lnTo>
                  <a:pt x="149098" y="76200"/>
                </a:lnTo>
                <a:lnTo>
                  <a:pt x="155469" y="65754"/>
                </a:lnTo>
                <a:lnTo>
                  <a:pt x="153869" y="64272"/>
                </a:lnTo>
                <a:close/>
              </a:path>
              <a:path w="889000" h="3619500">
                <a:moveTo>
                  <a:pt x="155469" y="65754"/>
                </a:moveTo>
                <a:lnTo>
                  <a:pt x="149098" y="76200"/>
                </a:lnTo>
                <a:lnTo>
                  <a:pt x="166751" y="76200"/>
                </a:lnTo>
                <a:lnTo>
                  <a:pt x="155469" y="65754"/>
                </a:lnTo>
                <a:close/>
              </a:path>
              <a:path w="889000" h="3619500">
                <a:moveTo>
                  <a:pt x="156845" y="63500"/>
                </a:moveTo>
                <a:lnTo>
                  <a:pt x="154177" y="63500"/>
                </a:lnTo>
                <a:lnTo>
                  <a:pt x="153869" y="64272"/>
                </a:lnTo>
                <a:lnTo>
                  <a:pt x="155469" y="65754"/>
                </a:lnTo>
                <a:lnTo>
                  <a:pt x="156845" y="63500"/>
                </a:lnTo>
                <a:close/>
              </a:path>
              <a:path w="889000" h="3619500">
                <a:moveTo>
                  <a:pt x="210693" y="38100"/>
                </a:moveTo>
                <a:lnTo>
                  <a:pt x="127508" y="38100"/>
                </a:lnTo>
                <a:lnTo>
                  <a:pt x="126521" y="38950"/>
                </a:lnTo>
                <a:lnTo>
                  <a:pt x="153586" y="64010"/>
                </a:lnTo>
                <a:lnTo>
                  <a:pt x="154177" y="63500"/>
                </a:lnTo>
                <a:lnTo>
                  <a:pt x="164973" y="63500"/>
                </a:lnTo>
                <a:lnTo>
                  <a:pt x="183134" y="50800"/>
                </a:lnTo>
                <a:lnTo>
                  <a:pt x="201802" y="50800"/>
                </a:lnTo>
                <a:lnTo>
                  <a:pt x="210693" y="38100"/>
                </a:lnTo>
                <a:close/>
              </a:path>
              <a:path w="889000" h="3619500">
                <a:moveTo>
                  <a:pt x="242316" y="25400"/>
                </a:moveTo>
                <a:lnTo>
                  <a:pt x="149351" y="25400"/>
                </a:lnTo>
                <a:lnTo>
                  <a:pt x="140462" y="38100"/>
                </a:lnTo>
                <a:lnTo>
                  <a:pt x="234569" y="38100"/>
                </a:lnTo>
                <a:lnTo>
                  <a:pt x="242316" y="25400"/>
                </a:lnTo>
                <a:close/>
              </a:path>
              <a:path w="889000" h="3619500">
                <a:moveTo>
                  <a:pt x="242316" y="25400"/>
                </a:moveTo>
                <a:lnTo>
                  <a:pt x="234569" y="38100"/>
                </a:lnTo>
                <a:lnTo>
                  <a:pt x="238378" y="38100"/>
                </a:lnTo>
                <a:lnTo>
                  <a:pt x="242316" y="25400"/>
                </a:lnTo>
                <a:close/>
              </a:path>
              <a:path w="889000" h="3619500">
                <a:moveTo>
                  <a:pt x="426085" y="0"/>
                </a:moveTo>
                <a:lnTo>
                  <a:pt x="204850" y="0"/>
                </a:lnTo>
                <a:lnTo>
                  <a:pt x="196088" y="12700"/>
                </a:lnTo>
                <a:lnTo>
                  <a:pt x="453390" y="12700"/>
                </a:lnTo>
                <a:lnTo>
                  <a:pt x="42608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701164" y="11378"/>
            <a:ext cx="1895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2000" u="none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u="none" dirty="0">
                <a:latin typeface="Times New Roman"/>
                <a:cs typeface="Times New Roman"/>
              </a:rPr>
              <a:t>h8	</a:t>
            </a:r>
            <a:r>
              <a:rPr u="none" spc="10" dirty="0"/>
              <a:t>代码优化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79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262318" y="1390078"/>
          <a:ext cx="5260975" cy="3695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4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800" b="1" spc="-5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gen(B)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800" b="1" spc="-5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kill(B)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1184">
                <a:tc>
                  <a:txBody>
                    <a:bodyPr/>
                    <a:lstStyle/>
                    <a:p>
                      <a:pPr marR="166370" algn="r">
                        <a:lnSpc>
                          <a:spcPct val="100000"/>
                        </a:lnSpc>
                        <a:spcBef>
                          <a:spcPts val="2650"/>
                        </a:spcBef>
                      </a:pPr>
                      <a:r>
                        <a:rPr sz="2800" b="1" spc="-5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775" b="1" baseline="-2102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3655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270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1(i)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2(j)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3(a)</a:t>
                      </a:r>
                      <a:r>
                        <a:rPr sz="2800" b="1" spc="-5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9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4(i)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5(j)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2766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6(a)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,d</a:t>
                      </a:r>
                      <a:r>
                        <a:rPr sz="28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7(j)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415">
                <a:tc>
                  <a:txBody>
                    <a:bodyPr/>
                    <a:lstStyle/>
                    <a:p>
                      <a:pPr marR="166370" algn="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b="1" spc="-5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775" b="1" baseline="-2102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6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4(i)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8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5(j)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124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1(i)</a:t>
                      </a:r>
                      <a:r>
                        <a:rPr sz="2800" b="1" spc="-1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2(j)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,d</a:t>
                      </a:r>
                      <a:r>
                        <a:rPr sz="28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7(j)</a:t>
                      </a:r>
                      <a:r>
                        <a:rPr sz="2800" b="1" spc="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683">
                <a:tc>
                  <a:txBody>
                    <a:bodyPr/>
                    <a:lstStyle/>
                    <a:p>
                      <a:pPr marR="166370"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800" b="1" spc="-5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775" b="1" baseline="-2102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6(a)</a:t>
                      </a:r>
                      <a:r>
                        <a:rPr sz="2800" b="1" spc="-1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</a:t>
                      </a:r>
                      <a:r>
                        <a:rPr sz="28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3(a)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marR="166370" algn="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b="1" spc="-5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775" b="1" baseline="-2102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</a:t>
                      </a:r>
                      <a:r>
                        <a:rPr sz="28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2800" b="1" spc="-1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(j)}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5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2(j)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 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5(j)</a:t>
                      </a:r>
                      <a:r>
                        <a:rPr sz="2800" b="1" spc="-3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5152135" y="11378"/>
            <a:ext cx="2670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640" y="4529080"/>
            <a:ext cx="8482965" cy="211455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R="55880" algn="r">
              <a:lnSpc>
                <a:spcPct val="100000"/>
              </a:lnSpc>
              <a:spcBef>
                <a:spcPts val="1135"/>
              </a:spcBef>
            </a:pPr>
            <a:r>
              <a:rPr sz="2400" b="1" spc="-5" dirty="0">
                <a:solidFill>
                  <a:srgbClr val="99FFCC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20833" dirty="0">
                <a:solidFill>
                  <a:srgbClr val="99FFCC"/>
                </a:solidFill>
                <a:latin typeface="Times New Roman"/>
                <a:cs typeface="Times New Roman"/>
              </a:rPr>
              <a:t>4</a:t>
            </a:r>
            <a:endParaRPr sz="2400" baseline="-20833">
              <a:latin typeface="Times New Roman"/>
              <a:cs typeface="Times New Roman"/>
            </a:endParaRPr>
          </a:p>
          <a:p>
            <a:pPr marR="52069" algn="r">
              <a:lnSpc>
                <a:spcPct val="100000"/>
              </a:lnSpc>
              <a:spcBef>
                <a:spcPts val="103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d7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 j=</a:t>
            </a:r>
            <a:r>
              <a:rPr sz="24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u3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265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gen(B</a:t>
            </a:r>
            <a:r>
              <a:rPr sz="2400" b="1" spc="-7" baseline="-15625" dirty="0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): 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1562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中定值且能到</a:t>
            </a:r>
            <a:r>
              <a:rPr sz="2400" b="1" spc="5" dirty="0">
                <a:solidFill>
                  <a:srgbClr val="FFFFFF"/>
                </a:solidFill>
                <a:latin typeface="宋体"/>
                <a:cs typeface="宋体"/>
              </a:rPr>
              <a:t>达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1562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出口之后的所有定值点集。</a:t>
            </a:r>
            <a:endParaRPr sz="2400">
              <a:latin typeface="宋体"/>
              <a:cs typeface="宋体"/>
            </a:endParaRPr>
          </a:p>
          <a:p>
            <a:pPr marL="127000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kill(B</a:t>
            </a:r>
            <a:r>
              <a:rPr sz="2400" b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):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在基本块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1562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400" b="1" spc="5" dirty="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定值的量在其它地方的定</a:t>
            </a:r>
            <a:r>
              <a:rPr sz="2400" b="1" spc="5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点的集合。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140" y="574293"/>
            <a:ext cx="49180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none" spc="-5" dirty="0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sz="2800" u="none" spc="-5" dirty="0">
                <a:solidFill>
                  <a:srgbClr val="FFFF00"/>
                </a:solidFill>
                <a:latin typeface="Times New Roman"/>
                <a:cs typeface="Times New Roman"/>
              </a:rPr>
              <a:t>out(B)</a:t>
            </a:r>
            <a:r>
              <a:rPr sz="2800" u="none" spc="-5" dirty="0">
                <a:solidFill>
                  <a:srgbClr val="FFFF00"/>
                </a:solidFill>
                <a:latin typeface="宋体"/>
                <a:cs typeface="宋体"/>
              </a:rPr>
              <a:t>，可由以下条件得到：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6140" y="1000022"/>
            <a:ext cx="8221980" cy="484568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r>
              <a:rPr sz="2800" b="1" spc="-6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如果某定值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in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(B)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而且被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定值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变量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endParaRPr sz="2800" dirty="0">
              <a:latin typeface="宋体"/>
              <a:cs typeface="宋体"/>
            </a:endParaRPr>
          </a:p>
          <a:p>
            <a:pPr marL="545465">
              <a:lnSpc>
                <a:spcPct val="100000"/>
              </a:lnSpc>
              <a:spcBef>
                <a:spcPts val="1010"/>
              </a:spcBef>
            </a:pP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中未被重新定值，则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也在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out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(B)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中；</a:t>
            </a:r>
            <a:endParaRPr sz="2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②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如果定值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gen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(B)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则它一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out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(B)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中；</a:t>
            </a:r>
            <a:endParaRPr sz="2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③</a:t>
            </a:r>
            <a:r>
              <a:rPr sz="2800" b="1" spc="-3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除以上两种情况外，没有其它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2800" b="1" spc="-3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out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(B)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835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in(B)</a:t>
            </a:r>
            <a:r>
              <a:rPr sz="28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2800" dirty="0">
              <a:latin typeface="Times New Roman"/>
              <a:cs typeface="Times New Roman"/>
            </a:endParaRPr>
          </a:p>
          <a:p>
            <a:pPr marL="550545" marR="94615">
              <a:lnSpc>
                <a:spcPct val="130000"/>
              </a:lnSpc>
              <a:spcBef>
                <a:spcPts val="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可知，</a:t>
            </a:r>
            <a:r>
              <a:rPr sz="28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某定值</a:t>
            </a:r>
            <a:r>
              <a:rPr sz="2800" b="1" spc="-1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点</a:t>
            </a:r>
            <a:r>
              <a:rPr sz="2800" b="1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d</a:t>
            </a:r>
            <a:r>
              <a:rPr sz="28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到达基本</a:t>
            </a:r>
            <a:r>
              <a:rPr sz="2800" b="1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块</a:t>
            </a:r>
            <a:r>
              <a:rPr sz="2800" b="1" spc="-10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B</a:t>
            </a:r>
            <a:r>
              <a:rPr sz="2800" b="1" spc="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的</a:t>
            </a:r>
            <a:r>
              <a:rPr sz="28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入</a:t>
            </a:r>
            <a:r>
              <a:rPr sz="2800" b="1" spc="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口</a:t>
            </a:r>
            <a:r>
              <a:rPr sz="28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点，</a:t>
            </a:r>
            <a:r>
              <a:rPr sz="2800" b="1" spc="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当</a:t>
            </a:r>
            <a:r>
              <a:rPr sz="28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且</a:t>
            </a:r>
            <a:r>
              <a:rPr sz="2800" b="1" spc="-1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仅 </a:t>
            </a:r>
            <a:r>
              <a:rPr sz="28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当它到</a:t>
            </a:r>
            <a:r>
              <a:rPr sz="28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达</a:t>
            </a:r>
            <a:r>
              <a:rPr sz="2800" b="1" spc="-10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B</a:t>
            </a:r>
            <a:r>
              <a:rPr sz="28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的某一前驱基本块</a:t>
            </a:r>
            <a:r>
              <a:rPr sz="2800" b="1" spc="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的</a:t>
            </a:r>
            <a:r>
              <a:rPr sz="28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出口</a:t>
            </a:r>
            <a:r>
              <a:rPr sz="2800" b="1" spc="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点</a:t>
            </a:r>
            <a:r>
              <a:rPr sz="28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。所</a:t>
            </a:r>
            <a:r>
              <a:rPr sz="2800" b="1" spc="2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以</a:t>
            </a:r>
            <a:r>
              <a:rPr sz="2800" b="1" spc="-1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是</a:t>
            </a:r>
            <a:endParaRPr sz="2800" dirty="0">
              <a:highlight>
                <a:srgbClr val="808000"/>
              </a:highlight>
              <a:latin typeface="宋体"/>
              <a:cs typeface="宋体"/>
            </a:endParaRPr>
          </a:p>
          <a:p>
            <a:pPr marL="545465">
              <a:lnSpc>
                <a:spcPct val="100000"/>
              </a:lnSpc>
              <a:spcBef>
                <a:spcPts val="1110"/>
              </a:spcBef>
            </a:pPr>
            <a:r>
              <a:rPr sz="2800" b="1" spc="-10" dirty="0">
                <a:solidFill>
                  <a:srgbClr val="FFFFFF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B</a:t>
            </a:r>
            <a:r>
              <a:rPr sz="28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的所有前驱基本块</a:t>
            </a:r>
            <a:r>
              <a:rPr sz="2800" b="1" spc="-5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00"/>
                </a:solidFill>
                <a:highlight>
                  <a:srgbClr val="808000"/>
                </a:highlight>
                <a:latin typeface="Times New Roman"/>
                <a:cs typeface="Times New Roman"/>
              </a:rPr>
              <a:t>out</a:t>
            </a:r>
            <a:r>
              <a:rPr sz="2800" b="1" spc="-10" dirty="0">
                <a:solidFill>
                  <a:srgbClr val="FFFFFF"/>
                </a:solidFill>
                <a:highlight>
                  <a:srgbClr val="808000"/>
                </a:highlight>
                <a:latin typeface="宋体"/>
                <a:cs typeface="宋体"/>
              </a:rPr>
              <a:t>之和。</a:t>
            </a:r>
            <a:endParaRPr sz="2800" dirty="0">
              <a:highlight>
                <a:srgbClr val="808000"/>
              </a:highlight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01164" y="11378"/>
            <a:ext cx="6121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3463290" algn="l"/>
                <a:tab pos="3970654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223757" y="6710689"/>
            <a:ext cx="712470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81</a:t>
            </a:r>
            <a:r>
              <a:rPr sz="1400" b="1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760"/>
            <a:ext cx="9143365" cy="6857365"/>
          </a:xfrm>
          <a:custGeom>
            <a:avLst/>
            <a:gdLst/>
            <a:ahLst/>
            <a:cxnLst/>
            <a:rect l="l" t="t" r="r" b="b"/>
            <a:pathLst>
              <a:path w="9143365" h="6857365">
                <a:moveTo>
                  <a:pt x="9143238" y="6857236"/>
                </a:moveTo>
                <a:lnTo>
                  <a:pt x="9143238" y="0"/>
                </a:lnTo>
                <a:lnTo>
                  <a:pt x="0" y="0"/>
                </a:lnTo>
                <a:lnTo>
                  <a:pt x="0" y="6857236"/>
                </a:lnTo>
                <a:lnTo>
                  <a:pt x="9143238" y="6857236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760"/>
            <a:ext cx="9143365" cy="6857365"/>
          </a:xfrm>
          <a:custGeom>
            <a:avLst/>
            <a:gdLst/>
            <a:ahLst/>
            <a:cxnLst/>
            <a:rect l="l" t="t" r="r" b="b"/>
            <a:pathLst>
              <a:path w="9143365" h="6857365">
                <a:moveTo>
                  <a:pt x="9143238" y="0"/>
                </a:moveTo>
                <a:lnTo>
                  <a:pt x="0" y="0"/>
                </a:lnTo>
                <a:lnTo>
                  <a:pt x="0" y="685723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8442" y="0"/>
            <a:ext cx="1489075" cy="56134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815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319405" algn="l"/>
              </a:tabLst>
            </a:pPr>
            <a:r>
              <a:rPr sz="2800" u="none" spc="-5" dirty="0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sz="2800" u="none" spc="-5" dirty="0">
                <a:solidFill>
                  <a:srgbClr val="FFFF00"/>
                </a:solidFill>
                <a:latin typeface="Times New Roman"/>
                <a:cs typeface="Times New Roman"/>
              </a:rPr>
              <a:t>8.2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0061" y="10794"/>
            <a:ext cx="2611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99"/>
                </a:solidFill>
                <a:latin typeface="宋体"/>
                <a:cs typeface="宋体"/>
              </a:rPr>
              <a:t>（</a:t>
            </a:r>
            <a:r>
              <a:rPr sz="2800" b="1" spc="-780" dirty="0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到达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—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定值）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4631" y="414019"/>
            <a:ext cx="7993380" cy="2379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1820545">
              <a:lnSpc>
                <a:spcPct val="114599"/>
              </a:lnSpc>
              <a:spcBef>
                <a:spcPts val="100"/>
              </a:spcBef>
            </a:pPr>
            <a:r>
              <a:rPr sz="2400" b="1" dirty="0">
                <a:solidFill>
                  <a:srgbClr val="66FFFF"/>
                </a:solidFill>
                <a:latin typeface="宋体"/>
                <a:cs typeface="宋体"/>
              </a:rPr>
              <a:t>输入：</a:t>
            </a:r>
            <a:r>
              <a:rPr sz="2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及</a:t>
            </a:r>
            <a:r>
              <a:rPr sz="2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中每个基本</a:t>
            </a:r>
            <a:r>
              <a:rPr sz="2400" b="1" spc="5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ki</a:t>
            </a:r>
            <a:r>
              <a:rPr sz="2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l[B]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gen[B] </a:t>
            </a:r>
            <a:r>
              <a:rPr sz="2400" b="1" dirty="0">
                <a:solidFill>
                  <a:srgbClr val="66FFFF"/>
                </a:solidFill>
                <a:latin typeface="宋体"/>
                <a:cs typeface="宋体"/>
              </a:rPr>
              <a:t>输出：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中每个基本</a:t>
            </a:r>
            <a:r>
              <a:rPr sz="2400" b="1" spc="5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in[B]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out[B]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ts val="2340"/>
              </a:lnSpc>
              <a:spcBef>
                <a:spcPts val="409"/>
              </a:spcBef>
            </a:pPr>
            <a:r>
              <a:rPr sz="2000" b="1" dirty="0">
                <a:solidFill>
                  <a:srgbClr val="99FF33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356235">
              <a:lnSpc>
                <a:spcPts val="228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(i=1;i&lt;=N;i++)</a:t>
            </a:r>
            <a:endParaRPr sz="2000">
              <a:latin typeface="Times New Roman"/>
              <a:cs typeface="Times New Roman"/>
            </a:endParaRPr>
          </a:p>
          <a:p>
            <a:pPr marL="483234">
              <a:lnSpc>
                <a:spcPts val="228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737870">
              <a:lnSpc>
                <a:spcPts val="2280"/>
              </a:lnSpc>
              <a:tabLst>
                <a:tab pos="4523740" algn="l"/>
              </a:tabLst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in[B</a:t>
            </a:r>
            <a:r>
              <a:rPr sz="1950" b="1" baseline="-14957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]=Φ;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out[B</a:t>
            </a:r>
            <a:r>
              <a:rPr sz="1950" b="1" baseline="-14957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]=gen[B</a:t>
            </a:r>
            <a:r>
              <a:rPr sz="1950" b="1" baseline="-14957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];	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/*</a:t>
            </a:r>
            <a:r>
              <a:rPr sz="2000" b="1" spc="-3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in[B</a:t>
            </a:r>
            <a:r>
              <a:rPr sz="1950" b="1" baseline="-14957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]</a:t>
            </a:r>
            <a:r>
              <a:rPr sz="2000" b="1" spc="5" dirty="0">
                <a:solidFill>
                  <a:srgbClr val="FFFF00"/>
                </a:solidFill>
                <a:latin typeface="宋体"/>
                <a:cs typeface="宋体"/>
              </a:rPr>
              <a:t>和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out[B</a:t>
            </a:r>
            <a:r>
              <a:rPr sz="1950" b="1" baseline="-14957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]</a:t>
            </a:r>
            <a:r>
              <a:rPr sz="2000" b="1" spc="-5" dirty="0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sz="2000" b="1" spc="5" dirty="0">
                <a:solidFill>
                  <a:srgbClr val="FFFF00"/>
                </a:solidFill>
                <a:latin typeface="宋体"/>
                <a:cs typeface="宋体"/>
              </a:rPr>
              <a:t>迭代</a:t>
            </a:r>
            <a:r>
              <a:rPr sz="2000" b="1" spc="-5" dirty="0">
                <a:solidFill>
                  <a:srgbClr val="FFFF00"/>
                </a:solidFill>
                <a:latin typeface="宋体"/>
                <a:cs typeface="宋体"/>
              </a:rPr>
              <a:t>初</a:t>
            </a:r>
            <a:r>
              <a:rPr sz="2000" b="1" spc="475" dirty="0">
                <a:solidFill>
                  <a:srgbClr val="FFFF00"/>
                </a:solidFill>
                <a:latin typeface="宋体"/>
                <a:cs typeface="宋体"/>
              </a:rPr>
              <a:t>值</a:t>
            </a:r>
            <a:r>
              <a:rPr sz="20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  <a:p>
            <a:pPr marL="483234">
              <a:lnSpc>
                <a:spcPts val="234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40" y="2965526"/>
            <a:ext cx="407670" cy="834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00"/>
                </a:solidFill>
                <a:latin typeface="宋体"/>
                <a:cs typeface="宋体"/>
              </a:rPr>
              <a:t>”</a:t>
            </a:r>
            <a:r>
              <a:rPr sz="2000" b="1" spc="-59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3148" y="2752470"/>
            <a:ext cx="8054340" cy="1626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change=“</a:t>
            </a:r>
            <a:r>
              <a:rPr sz="2000" b="1" spc="5" dirty="0">
                <a:solidFill>
                  <a:srgbClr val="FFFFFF"/>
                </a:solidFill>
                <a:latin typeface="宋体"/>
                <a:cs typeface="宋体"/>
              </a:rPr>
              <a:t>真</a:t>
            </a: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r>
              <a:rPr sz="2000" b="1" spc="4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/*change</a:t>
            </a:r>
            <a:r>
              <a:rPr sz="2000" b="1" spc="5" dirty="0">
                <a:solidFill>
                  <a:srgbClr val="FFFF00"/>
                </a:solidFill>
                <a:latin typeface="宋体"/>
                <a:cs typeface="宋体"/>
              </a:rPr>
              <a:t>记</a:t>
            </a:r>
            <a:r>
              <a:rPr sz="2000" b="1" spc="-5" dirty="0">
                <a:solidFill>
                  <a:srgbClr val="FFFF00"/>
                </a:solidFill>
                <a:latin typeface="宋体"/>
                <a:cs typeface="宋体"/>
              </a:rPr>
              <a:t>录</a:t>
            </a:r>
            <a:r>
              <a:rPr sz="2000" b="1" spc="5" dirty="0">
                <a:solidFill>
                  <a:srgbClr val="FFFF00"/>
                </a:solidFill>
                <a:latin typeface="宋体"/>
                <a:cs typeface="宋体"/>
              </a:rPr>
              <a:t>相</a:t>
            </a:r>
            <a:r>
              <a:rPr sz="2000" b="1" spc="10" dirty="0">
                <a:solidFill>
                  <a:srgbClr val="FFFF00"/>
                </a:solidFill>
                <a:latin typeface="宋体"/>
                <a:cs typeface="宋体"/>
              </a:rPr>
              <a:t>继</a:t>
            </a:r>
            <a:r>
              <a:rPr sz="20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sz="2000" b="1" spc="5" dirty="0">
                <a:solidFill>
                  <a:srgbClr val="FFFF00"/>
                </a:solidFill>
                <a:latin typeface="宋体"/>
                <a:cs typeface="宋体"/>
              </a:rPr>
              <a:t>次迭</a:t>
            </a:r>
            <a:r>
              <a:rPr sz="2000" b="1" spc="-5" dirty="0">
                <a:solidFill>
                  <a:srgbClr val="FFFF00"/>
                </a:solidFill>
                <a:latin typeface="宋体"/>
                <a:cs typeface="宋体"/>
              </a:rPr>
              <a:t>代</a:t>
            </a:r>
            <a:r>
              <a:rPr sz="2000" b="1" spc="5" dirty="0">
                <a:solidFill>
                  <a:srgbClr val="FFFF00"/>
                </a:solidFill>
                <a:latin typeface="宋体"/>
                <a:cs typeface="宋体"/>
              </a:rPr>
              <a:t>所得</a:t>
            </a:r>
            <a:r>
              <a:rPr sz="2000" b="1" dirty="0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in[B</a:t>
            </a:r>
            <a:r>
              <a:rPr sz="1950" b="1" baseline="-14957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]</a:t>
            </a:r>
            <a:r>
              <a:rPr sz="2000" b="1" spc="5" dirty="0">
                <a:solidFill>
                  <a:srgbClr val="FFFF00"/>
                </a:solidFill>
                <a:latin typeface="宋体"/>
                <a:cs typeface="宋体"/>
              </a:rPr>
              <a:t>之</a:t>
            </a:r>
            <a:r>
              <a:rPr sz="2000" b="1" spc="-5" dirty="0">
                <a:solidFill>
                  <a:srgbClr val="FFFF00"/>
                </a:solidFill>
                <a:latin typeface="宋体"/>
                <a:cs typeface="宋体"/>
              </a:rPr>
              <a:t>值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sz="2000" b="1" spc="5" dirty="0">
                <a:solidFill>
                  <a:srgbClr val="FFFF00"/>
                </a:solidFill>
                <a:latin typeface="宋体"/>
                <a:cs typeface="宋体"/>
              </a:rPr>
              <a:t>不等</a:t>
            </a:r>
            <a:r>
              <a:rPr sz="2000" b="1" spc="-5" dirty="0">
                <a:solidFill>
                  <a:srgbClr val="FFFF00"/>
                </a:solidFill>
                <a:latin typeface="宋体"/>
                <a:cs typeface="宋体"/>
              </a:rPr>
              <a:t>则</a:t>
            </a:r>
            <a:r>
              <a:rPr sz="2000" b="1" spc="10" dirty="0">
                <a:solidFill>
                  <a:srgbClr val="FFFF00"/>
                </a:solidFill>
                <a:latin typeface="宋体"/>
                <a:cs typeface="宋体"/>
              </a:rPr>
              <a:t>为</a:t>
            </a:r>
            <a:r>
              <a:rPr sz="20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“</a:t>
            </a:r>
            <a:r>
              <a:rPr sz="2000" b="1" spc="-5" dirty="0">
                <a:solidFill>
                  <a:srgbClr val="FFFF00"/>
                </a:solidFill>
                <a:latin typeface="宋体"/>
                <a:cs typeface="宋体"/>
              </a:rPr>
              <a:t>真</a:t>
            </a:r>
            <a:endParaRPr sz="2000">
              <a:latin typeface="宋体"/>
              <a:cs typeface="宋体"/>
            </a:endParaRPr>
          </a:p>
          <a:p>
            <a:pPr marL="100330">
              <a:lnSpc>
                <a:spcPct val="100000"/>
              </a:lnSpc>
              <a:spcBef>
                <a:spcPts val="1560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while</a:t>
            </a:r>
            <a:r>
              <a:rPr sz="2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(change)</a:t>
            </a:r>
            <a:r>
              <a:rPr sz="20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5" dirty="0">
                <a:solidFill>
                  <a:srgbClr val="FFFF00"/>
                </a:solidFill>
                <a:latin typeface="宋体"/>
                <a:cs typeface="宋体"/>
              </a:rPr>
              <a:t>需要继续迭代；若相等，则</a:t>
            </a:r>
            <a:r>
              <a:rPr sz="2000" b="1" spc="-5" dirty="0">
                <a:solidFill>
                  <a:srgbClr val="FFFF00"/>
                </a:solidFill>
                <a:latin typeface="宋体"/>
                <a:cs typeface="宋体"/>
              </a:rPr>
              <a:t>迭</a:t>
            </a:r>
            <a:r>
              <a:rPr sz="2000" b="1" spc="5" dirty="0">
                <a:solidFill>
                  <a:srgbClr val="FFFF00"/>
                </a:solidFill>
                <a:latin typeface="宋体"/>
                <a:cs typeface="宋体"/>
              </a:rPr>
              <a:t>代过程</a:t>
            </a:r>
            <a:r>
              <a:rPr sz="2000" b="1" spc="-5" dirty="0">
                <a:solidFill>
                  <a:srgbClr val="FFFF00"/>
                </a:solidFill>
                <a:latin typeface="宋体"/>
                <a:cs typeface="宋体"/>
              </a:rPr>
              <a:t>结</a:t>
            </a:r>
            <a:r>
              <a:rPr sz="2000" b="1" spc="5" dirty="0">
                <a:solidFill>
                  <a:srgbClr val="FFFF00"/>
                </a:solidFill>
                <a:latin typeface="宋体"/>
                <a:cs typeface="宋体"/>
              </a:rPr>
              <a:t>束，</a:t>
            </a:r>
            <a:r>
              <a:rPr sz="2000" b="1" spc="-5" dirty="0">
                <a:solidFill>
                  <a:srgbClr val="FFFF00"/>
                </a:solidFill>
                <a:latin typeface="宋体"/>
                <a:cs typeface="宋体"/>
              </a:rPr>
              <a:t>其</a:t>
            </a:r>
            <a:r>
              <a:rPr sz="2000" b="1" spc="5" dirty="0">
                <a:solidFill>
                  <a:srgbClr val="FFFF00"/>
                </a:solidFill>
                <a:latin typeface="宋体"/>
                <a:cs typeface="宋体"/>
              </a:rPr>
              <a:t>值</a:t>
            </a:r>
            <a:r>
              <a:rPr sz="2000" b="1" spc="-40" dirty="0">
                <a:solidFill>
                  <a:srgbClr val="FFFF00"/>
                </a:solidFill>
                <a:latin typeface="宋体"/>
                <a:cs typeface="宋体"/>
              </a:rPr>
              <a:t>为</a:t>
            </a:r>
            <a:r>
              <a:rPr sz="20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“</a:t>
            </a:r>
            <a:r>
              <a:rPr sz="2000" b="1" spc="5" dirty="0">
                <a:solidFill>
                  <a:srgbClr val="FFFF00"/>
                </a:solidFill>
                <a:latin typeface="宋体"/>
                <a:cs typeface="宋体"/>
              </a:rPr>
              <a:t>假”</a:t>
            </a:r>
            <a:endParaRPr sz="2000">
              <a:latin typeface="宋体"/>
              <a:cs typeface="宋体"/>
            </a:endParaRPr>
          </a:p>
          <a:p>
            <a:pPr marL="800100" marR="5280660" indent="-190500">
              <a:lnSpc>
                <a:spcPts val="2280"/>
              </a:lnSpc>
              <a:spcBef>
                <a:spcPts val="1735"/>
              </a:spcBef>
            </a:pPr>
            <a:r>
              <a:rPr sz="2000" b="1" dirty="0">
                <a:solidFill>
                  <a:srgbClr val="66FFFF"/>
                </a:solidFill>
                <a:latin typeface="Times New Roman"/>
                <a:cs typeface="Times New Roman"/>
              </a:rPr>
              <a:t>{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change= </a:t>
            </a:r>
            <a:r>
              <a:rPr sz="2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“ </a:t>
            </a:r>
            <a:r>
              <a:rPr sz="2000" b="1" spc="5" dirty="0">
                <a:solidFill>
                  <a:srgbClr val="FFFFFF"/>
                </a:solidFill>
                <a:latin typeface="宋体"/>
                <a:cs typeface="宋体"/>
              </a:rPr>
              <a:t>假 </a:t>
            </a:r>
            <a:r>
              <a:rPr sz="2000" b="1" dirty="0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;  for</a:t>
            </a:r>
            <a:r>
              <a:rPr sz="20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(i=1;i&lt;=N;i++)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8636" y="4337380"/>
            <a:ext cx="8253730" cy="2648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4535">
              <a:lnSpc>
                <a:spcPts val="2340"/>
              </a:lnSpc>
              <a:spcBef>
                <a:spcPts val="105"/>
              </a:spcBef>
              <a:tabLst>
                <a:tab pos="3446779" algn="l"/>
                <a:tab pos="3834129" algn="l"/>
              </a:tabLst>
            </a:pP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{ 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NEWIN=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00"/>
                </a:solidFill>
                <a:latin typeface="宋体"/>
                <a:cs typeface="宋体"/>
              </a:rPr>
              <a:t>∪</a:t>
            </a:r>
            <a:r>
              <a:rPr sz="2000" b="1" spc="-484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out[</a:t>
            </a:r>
            <a:r>
              <a:rPr sz="2000" b="1" dirty="0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];	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/*	</a:t>
            </a:r>
            <a:r>
              <a:rPr sz="20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sz="2000" b="1" spc="-5" dirty="0">
                <a:solidFill>
                  <a:srgbClr val="FFFF00"/>
                </a:solidFill>
                <a:latin typeface="宋体"/>
                <a:cs typeface="宋体"/>
              </a:rPr>
              <a:t>∈</a:t>
            </a:r>
            <a:r>
              <a:rPr sz="20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Pred(B</a:t>
            </a:r>
            <a:r>
              <a:rPr sz="1950" b="1" spc="-7" baseline="-14957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sz="20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) 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  <a:p>
            <a:pPr marL="977265">
              <a:lnSpc>
                <a:spcPts val="228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( NEWIN</a:t>
            </a:r>
            <a:r>
              <a:rPr sz="2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!=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in[B</a:t>
            </a:r>
            <a:r>
              <a:rPr sz="1950" b="1" baseline="-14957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sz="2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/*</a:t>
            </a:r>
            <a:r>
              <a:rPr sz="20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NEWIN</a:t>
            </a:r>
            <a:r>
              <a:rPr sz="2000" b="1" spc="5" dirty="0">
                <a:solidFill>
                  <a:srgbClr val="FFFF00"/>
                </a:solidFill>
                <a:latin typeface="宋体"/>
                <a:cs typeface="宋体"/>
              </a:rPr>
              <a:t>记录每次迭代</a:t>
            </a:r>
            <a:r>
              <a:rPr sz="2000" b="1" spc="10" dirty="0">
                <a:solidFill>
                  <a:srgbClr val="FFFF00"/>
                </a:solidFill>
                <a:latin typeface="宋体"/>
                <a:cs typeface="宋体"/>
              </a:rPr>
              <a:t>后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IN[B</a:t>
            </a:r>
            <a:r>
              <a:rPr sz="1950" b="1" baseline="-14957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]</a:t>
            </a:r>
            <a:r>
              <a:rPr sz="2000" b="1" spc="-4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000" b="1" spc="5" dirty="0">
                <a:solidFill>
                  <a:srgbClr val="FFFF00"/>
                </a:solidFill>
                <a:latin typeface="宋体"/>
                <a:cs typeface="宋体"/>
              </a:rPr>
              <a:t>的新</a:t>
            </a:r>
            <a:r>
              <a:rPr sz="2000" b="1" spc="-5" dirty="0">
                <a:solidFill>
                  <a:srgbClr val="FFFF00"/>
                </a:solidFill>
                <a:latin typeface="宋体"/>
                <a:cs typeface="宋体"/>
              </a:rPr>
              <a:t>值</a:t>
            </a:r>
            <a:r>
              <a:rPr sz="2000" b="1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0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  <a:p>
            <a:pPr marL="1548765" marR="4915535" indent="-253365">
              <a:lnSpc>
                <a:spcPts val="2280"/>
              </a:lnSpc>
              <a:spcBef>
                <a:spcPts val="114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sz="2000" b="1" spc="4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change=</a:t>
            </a: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“</a:t>
            </a:r>
            <a:r>
              <a:rPr sz="2000" b="1" spc="5" dirty="0">
                <a:solidFill>
                  <a:srgbClr val="FFFFFF"/>
                </a:solidFill>
                <a:latin typeface="宋体"/>
                <a:cs typeface="宋体"/>
              </a:rPr>
              <a:t>真</a:t>
            </a:r>
            <a:r>
              <a:rPr sz="2000" b="1" dirty="0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;  in[B</a:t>
            </a:r>
            <a:r>
              <a:rPr sz="1950" b="1" baseline="-14957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]=</a:t>
            </a:r>
            <a:r>
              <a:rPr sz="20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NEWIN;</a:t>
            </a:r>
            <a:endParaRPr sz="2000">
              <a:latin typeface="Times New Roman"/>
              <a:cs typeface="Times New Roman"/>
            </a:endParaRPr>
          </a:p>
          <a:p>
            <a:pPr marL="1548765">
              <a:lnSpc>
                <a:spcPts val="216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out[B</a:t>
            </a:r>
            <a:r>
              <a:rPr sz="1950" b="1" baseline="-14957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]=gen[B</a:t>
            </a:r>
            <a:r>
              <a:rPr sz="1950" b="1" baseline="-14957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] </a:t>
            </a:r>
            <a:r>
              <a:rPr sz="2000" b="1" dirty="0">
                <a:solidFill>
                  <a:srgbClr val="FFFF00"/>
                </a:solidFill>
                <a:latin typeface="宋体"/>
                <a:cs typeface="宋体"/>
              </a:rPr>
              <a:t>∪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in[B</a:t>
            </a:r>
            <a:r>
              <a:rPr sz="1950" b="1" baseline="-14957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]-kill[B</a:t>
            </a:r>
            <a:r>
              <a:rPr sz="1950" b="1" baseline="-14957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]);</a:t>
            </a:r>
            <a:endParaRPr sz="2000">
              <a:latin typeface="Times New Roman"/>
              <a:cs typeface="Times New Roman"/>
            </a:endParaRPr>
          </a:p>
          <a:p>
            <a:pPr marL="1296035">
              <a:lnSpc>
                <a:spcPts val="228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915035">
              <a:lnSpc>
                <a:spcPts val="2280"/>
              </a:lnSpc>
            </a:pP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534035">
              <a:lnSpc>
                <a:spcPts val="2280"/>
              </a:lnSpc>
            </a:pPr>
            <a:r>
              <a:rPr sz="2000" b="1" dirty="0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25400">
              <a:lnSpc>
                <a:spcPts val="2340"/>
              </a:lnSpc>
            </a:pPr>
            <a:r>
              <a:rPr sz="2000" b="1" dirty="0">
                <a:solidFill>
                  <a:srgbClr val="99FF33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840" y="584453"/>
            <a:ext cx="9429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none" dirty="0">
                <a:solidFill>
                  <a:srgbClr val="FFFF66"/>
                </a:solidFill>
                <a:latin typeface="宋体"/>
                <a:cs typeface="宋体"/>
              </a:rPr>
              <a:t>例</a:t>
            </a:r>
            <a:r>
              <a:rPr sz="3200" u="none" dirty="0">
                <a:solidFill>
                  <a:srgbClr val="FFFF66"/>
                </a:solidFill>
                <a:latin typeface="Times New Roman"/>
                <a:cs typeface="Times New Roman"/>
              </a:rPr>
              <a:t>8.8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840" y="1218133"/>
            <a:ext cx="61474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66"/>
                </a:solidFill>
                <a:latin typeface="宋体"/>
                <a:cs typeface="宋体"/>
              </a:rPr>
              <a:t>求每个基本块的到</a:t>
            </a: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达</a:t>
            </a:r>
            <a:r>
              <a:rPr sz="3200" b="1" dirty="0">
                <a:solidFill>
                  <a:srgbClr val="FFFF66"/>
                </a:solidFill>
                <a:latin typeface="Times New Roman"/>
                <a:cs typeface="Times New Roman"/>
              </a:rPr>
              <a:t>——</a:t>
            </a:r>
            <a:r>
              <a:rPr sz="3200" b="1" spc="-10" dirty="0">
                <a:solidFill>
                  <a:srgbClr val="FFFF66"/>
                </a:solidFill>
                <a:latin typeface="宋体"/>
                <a:cs typeface="宋体"/>
              </a:rPr>
              <a:t>定</a:t>
            </a:r>
            <a:r>
              <a:rPr sz="3200" b="1" spc="-5" dirty="0">
                <a:solidFill>
                  <a:srgbClr val="FFFF66"/>
                </a:solidFill>
                <a:latin typeface="宋体"/>
                <a:cs typeface="宋体"/>
              </a:rPr>
              <a:t>值信</a:t>
            </a:r>
            <a:r>
              <a:rPr sz="3200" b="1" spc="-10" dirty="0">
                <a:solidFill>
                  <a:srgbClr val="FFFF66"/>
                </a:solidFill>
                <a:latin typeface="宋体"/>
                <a:cs typeface="宋体"/>
              </a:rPr>
              <a:t>息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770" y="3104578"/>
          <a:ext cx="5161915" cy="34670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3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2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95"/>
                        </a:lnSpc>
                      </a:pPr>
                      <a:r>
                        <a:rPr sz="2800" b="1" spc="-5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gen(B)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 algn="ctr">
                        <a:lnSpc>
                          <a:spcPts val="2895"/>
                        </a:lnSpc>
                      </a:pPr>
                      <a:r>
                        <a:rPr sz="2800" b="1" spc="-5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kill(B)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4608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2855"/>
                        </a:spcBef>
                      </a:pPr>
                      <a:r>
                        <a:rPr sz="2800" b="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775" b="1" baseline="-2102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6258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270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1(i)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2(j)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3(a)</a:t>
                      </a:r>
                      <a:r>
                        <a:rPr sz="2800" b="1" spc="-5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93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4(i)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5(j)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2766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6(a)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7(j)</a:t>
                      </a:r>
                      <a:r>
                        <a:rPr sz="28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2791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800" b="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775" b="1" baseline="-2102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13398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4(i)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8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5(j)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1(i)</a:t>
                      </a:r>
                      <a:r>
                        <a:rPr sz="2800" b="1" spc="-2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9060" algn="ctr">
                        <a:lnSpc>
                          <a:spcPct val="10000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2(j)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,d</a:t>
                      </a:r>
                      <a:r>
                        <a:rPr sz="28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7(j)</a:t>
                      </a:r>
                      <a:r>
                        <a:rPr sz="2800" b="1" spc="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800" b="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775" b="1" baseline="-2102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6(a)</a:t>
                      </a:r>
                      <a:r>
                        <a:rPr sz="2800" b="1" spc="-1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3(a)</a:t>
                      </a:r>
                      <a:r>
                        <a:rPr sz="2800" b="1" spc="-2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253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775" b="1" baseline="-21021" dirty="0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</a:t>
                      </a:r>
                      <a:r>
                        <a:rPr sz="28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2800" b="1" spc="-1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(j)}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965" algn="ctr">
                        <a:lnSpc>
                          <a:spcPts val="3145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</a:t>
                      </a:r>
                      <a:r>
                        <a:rPr sz="28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2(j)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5(j)</a:t>
                      </a:r>
                      <a:r>
                        <a:rPr sz="2800" b="1" spc="-4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572894" y="0"/>
            <a:ext cx="7374255" cy="124206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1325"/>
              </a:spcBef>
              <a:tabLst>
                <a:tab pos="783590" algn="l"/>
                <a:tab pos="3591560" algn="l"/>
                <a:tab pos="4098925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8.4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数据流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分析基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础</a:t>
            </a:r>
            <a:endParaRPr sz="24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设有程序的流图及每个流图</a:t>
            </a:r>
            <a:r>
              <a:rPr sz="3200" b="1" spc="-15" dirty="0">
                <a:solidFill>
                  <a:srgbClr val="FFFF66"/>
                </a:solidFill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数据</a:t>
            </a:r>
            <a:r>
              <a:rPr sz="3200" b="1" spc="-15" dirty="0">
                <a:solidFill>
                  <a:srgbClr val="FFFF66"/>
                </a:solidFill>
                <a:latin typeface="宋体"/>
                <a:cs typeface="宋体"/>
              </a:rPr>
              <a:t>信</a:t>
            </a: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息，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82823" y="1700783"/>
            <a:ext cx="469900" cy="466725"/>
          </a:xfrm>
          <a:custGeom>
            <a:avLst/>
            <a:gdLst/>
            <a:ahLst/>
            <a:cxnLst/>
            <a:rect l="l" t="t" r="r" b="b"/>
            <a:pathLst>
              <a:path w="469900" h="466725">
                <a:moveTo>
                  <a:pt x="234695" y="0"/>
                </a:moveTo>
                <a:lnTo>
                  <a:pt x="187382" y="4737"/>
                </a:lnTo>
                <a:lnTo>
                  <a:pt x="143321" y="18323"/>
                </a:lnTo>
                <a:lnTo>
                  <a:pt x="103454" y="39821"/>
                </a:lnTo>
                <a:lnTo>
                  <a:pt x="68722" y="68294"/>
                </a:lnTo>
                <a:lnTo>
                  <a:pt x="40069" y="102803"/>
                </a:lnTo>
                <a:lnTo>
                  <a:pt x="18436" y="142410"/>
                </a:lnTo>
                <a:lnTo>
                  <a:pt x="4766" y="186179"/>
                </a:lnTo>
                <a:lnTo>
                  <a:pt x="0" y="233171"/>
                </a:lnTo>
                <a:lnTo>
                  <a:pt x="4766" y="280164"/>
                </a:lnTo>
                <a:lnTo>
                  <a:pt x="18436" y="323933"/>
                </a:lnTo>
                <a:lnTo>
                  <a:pt x="40069" y="363540"/>
                </a:lnTo>
                <a:lnTo>
                  <a:pt x="68722" y="398049"/>
                </a:lnTo>
                <a:lnTo>
                  <a:pt x="103454" y="426522"/>
                </a:lnTo>
                <a:lnTo>
                  <a:pt x="143321" y="448020"/>
                </a:lnTo>
                <a:lnTo>
                  <a:pt x="187382" y="461606"/>
                </a:lnTo>
                <a:lnTo>
                  <a:pt x="234695" y="466343"/>
                </a:lnTo>
                <a:lnTo>
                  <a:pt x="282009" y="461606"/>
                </a:lnTo>
                <a:lnTo>
                  <a:pt x="326070" y="448020"/>
                </a:lnTo>
                <a:lnTo>
                  <a:pt x="365937" y="426522"/>
                </a:lnTo>
                <a:lnTo>
                  <a:pt x="400669" y="398049"/>
                </a:lnTo>
                <a:lnTo>
                  <a:pt x="429322" y="363540"/>
                </a:lnTo>
                <a:lnTo>
                  <a:pt x="450955" y="323933"/>
                </a:lnTo>
                <a:lnTo>
                  <a:pt x="464625" y="280164"/>
                </a:lnTo>
                <a:lnTo>
                  <a:pt x="469391" y="233171"/>
                </a:lnTo>
                <a:lnTo>
                  <a:pt x="464625" y="186179"/>
                </a:lnTo>
                <a:lnTo>
                  <a:pt x="450955" y="142410"/>
                </a:lnTo>
                <a:lnTo>
                  <a:pt x="429322" y="102803"/>
                </a:lnTo>
                <a:lnTo>
                  <a:pt x="400669" y="68294"/>
                </a:lnTo>
                <a:lnTo>
                  <a:pt x="365937" y="39821"/>
                </a:lnTo>
                <a:lnTo>
                  <a:pt x="326070" y="18323"/>
                </a:lnTo>
                <a:lnTo>
                  <a:pt x="282009" y="4737"/>
                </a:lnTo>
                <a:lnTo>
                  <a:pt x="234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82823" y="1700783"/>
            <a:ext cx="469900" cy="466725"/>
          </a:xfrm>
          <a:custGeom>
            <a:avLst/>
            <a:gdLst/>
            <a:ahLst/>
            <a:cxnLst/>
            <a:rect l="l" t="t" r="r" b="b"/>
            <a:pathLst>
              <a:path w="469900" h="466725">
                <a:moveTo>
                  <a:pt x="0" y="233171"/>
                </a:moveTo>
                <a:lnTo>
                  <a:pt x="4766" y="186179"/>
                </a:lnTo>
                <a:lnTo>
                  <a:pt x="18436" y="142410"/>
                </a:lnTo>
                <a:lnTo>
                  <a:pt x="40069" y="102803"/>
                </a:lnTo>
                <a:lnTo>
                  <a:pt x="68722" y="68294"/>
                </a:lnTo>
                <a:lnTo>
                  <a:pt x="103454" y="39821"/>
                </a:lnTo>
                <a:lnTo>
                  <a:pt x="143321" y="18323"/>
                </a:lnTo>
                <a:lnTo>
                  <a:pt x="187382" y="4737"/>
                </a:lnTo>
                <a:lnTo>
                  <a:pt x="234695" y="0"/>
                </a:lnTo>
                <a:lnTo>
                  <a:pt x="282009" y="4737"/>
                </a:lnTo>
                <a:lnTo>
                  <a:pt x="326070" y="18323"/>
                </a:lnTo>
                <a:lnTo>
                  <a:pt x="365937" y="39821"/>
                </a:lnTo>
                <a:lnTo>
                  <a:pt x="400669" y="68294"/>
                </a:lnTo>
                <a:lnTo>
                  <a:pt x="429322" y="102803"/>
                </a:lnTo>
                <a:lnTo>
                  <a:pt x="450955" y="142410"/>
                </a:lnTo>
                <a:lnTo>
                  <a:pt x="464625" y="186179"/>
                </a:lnTo>
                <a:lnTo>
                  <a:pt x="469391" y="233171"/>
                </a:lnTo>
                <a:lnTo>
                  <a:pt x="464625" y="280164"/>
                </a:lnTo>
                <a:lnTo>
                  <a:pt x="450955" y="323933"/>
                </a:lnTo>
                <a:lnTo>
                  <a:pt x="429322" y="363540"/>
                </a:lnTo>
                <a:lnTo>
                  <a:pt x="400669" y="398049"/>
                </a:lnTo>
                <a:lnTo>
                  <a:pt x="365937" y="426522"/>
                </a:lnTo>
                <a:lnTo>
                  <a:pt x="326070" y="448020"/>
                </a:lnTo>
                <a:lnTo>
                  <a:pt x="282009" y="461606"/>
                </a:lnTo>
                <a:lnTo>
                  <a:pt x="234695" y="466343"/>
                </a:lnTo>
                <a:lnTo>
                  <a:pt x="187382" y="461606"/>
                </a:lnTo>
                <a:lnTo>
                  <a:pt x="143321" y="448020"/>
                </a:lnTo>
                <a:lnTo>
                  <a:pt x="103454" y="426522"/>
                </a:lnTo>
                <a:lnTo>
                  <a:pt x="68722" y="398049"/>
                </a:lnTo>
                <a:lnTo>
                  <a:pt x="40069" y="363540"/>
                </a:lnTo>
                <a:lnTo>
                  <a:pt x="18436" y="323933"/>
                </a:lnTo>
                <a:lnTo>
                  <a:pt x="4766" y="280164"/>
                </a:lnTo>
                <a:lnTo>
                  <a:pt x="0" y="233171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11779" y="2490216"/>
            <a:ext cx="469900" cy="513715"/>
          </a:xfrm>
          <a:custGeom>
            <a:avLst/>
            <a:gdLst/>
            <a:ahLst/>
            <a:cxnLst/>
            <a:rect l="l" t="t" r="r" b="b"/>
            <a:pathLst>
              <a:path w="469900" h="513714">
                <a:moveTo>
                  <a:pt x="234695" y="0"/>
                </a:moveTo>
                <a:lnTo>
                  <a:pt x="187382" y="5215"/>
                </a:lnTo>
                <a:lnTo>
                  <a:pt x="143321" y="20175"/>
                </a:lnTo>
                <a:lnTo>
                  <a:pt x="103454" y="43846"/>
                </a:lnTo>
                <a:lnTo>
                  <a:pt x="68722" y="75199"/>
                </a:lnTo>
                <a:lnTo>
                  <a:pt x="40069" y="113202"/>
                </a:lnTo>
                <a:lnTo>
                  <a:pt x="18436" y="156823"/>
                </a:lnTo>
                <a:lnTo>
                  <a:pt x="4766" y="205030"/>
                </a:lnTo>
                <a:lnTo>
                  <a:pt x="0" y="256794"/>
                </a:lnTo>
                <a:lnTo>
                  <a:pt x="4766" y="308557"/>
                </a:lnTo>
                <a:lnTo>
                  <a:pt x="18436" y="356764"/>
                </a:lnTo>
                <a:lnTo>
                  <a:pt x="40069" y="400385"/>
                </a:lnTo>
                <a:lnTo>
                  <a:pt x="68722" y="438388"/>
                </a:lnTo>
                <a:lnTo>
                  <a:pt x="103454" y="469741"/>
                </a:lnTo>
                <a:lnTo>
                  <a:pt x="143321" y="493412"/>
                </a:lnTo>
                <a:lnTo>
                  <a:pt x="187382" y="508372"/>
                </a:lnTo>
                <a:lnTo>
                  <a:pt x="234695" y="513588"/>
                </a:lnTo>
                <a:lnTo>
                  <a:pt x="282009" y="508372"/>
                </a:lnTo>
                <a:lnTo>
                  <a:pt x="326070" y="493412"/>
                </a:lnTo>
                <a:lnTo>
                  <a:pt x="365937" y="469741"/>
                </a:lnTo>
                <a:lnTo>
                  <a:pt x="400669" y="438388"/>
                </a:lnTo>
                <a:lnTo>
                  <a:pt x="429322" y="400385"/>
                </a:lnTo>
                <a:lnTo>
                  <a:pt x="450955" y="356764"/>
                </a:lnTo>
                <a:lnTo>
                  <a:pt x="464625" y="308557"/>
                </a:lnTo>
                <a:lnTo>
                  <a:pt x="469392" y="256794"/>
                </a:lnTo>
                <a:lnTo>
                  <a:pt x="464625" y="205030"/>
                </a:lnTo>
                <a:lnTo>
                  <a:pt x="450955" y="156823"/>
                </a:lnTo>
                <a:lnTo>
                  <a:pt x="429322" y="113202"/>
                </a:lnTo>
                <a:lnTo>
                  <a:pt x="400669" y="75199"/>
                </a:lnTo>
                <a:lnTo>
                  <a:pt x="365937" y="43846"/>
                </a:lnTo>
                <a:lnTo>
                  <a:pt x="326070" y="20175"/>
                </a:lnTo>
                <a:lnTo>
                  <a:pt x="282009" y="5215"/>
                </a:lnTo>
                <a:lnTo>
                  <a:pt x="234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11779" y="2490216"/>
            <a:ext cx="469900" cy="513715"/>
          </a:xfrm>
          <a:custGeom>
            <a:avLst/>
            <a:gdLst/>
            <a:ahLst/>
            <a:cxnLst/>
            <a:rect l="l" t="t" r="r" b="b"/>
            <a:pathLst>
              <a:path w="469900" h="513714">
                <a:moveTo>
                  <a:pt x="0" y="256794"/>
                </a:moveTo>
                <a:lnTo>
                  <a:pt x="4766" y="205030"/>
                </a:lnTo>
                <a:lnTo>
                  <a:pt x="18436" y="156823"/>
                </a:lnTo>
                <a:lnTo>
                  <a:pt x="40069" y="113202"/>
                </a:lnTo>
                <a:lnTo>
                  <a:pt x="68722" y="75199"/>
                </a:lnTo>
                <a:lnTo>
                  <a:pt x="103454" y="43846"/>
                </a:lnTo>
                <a:lnTo>
                  <a:pt x="143321" y="20175"/>
                </a:lnTo>
                <a:lnTo>
                  <a:pt x="187382" y="5215"/>
                </a:lnTo>
                <a:lnTo>
                  <a:pt x="234695" y="0"/>
                </a:lnTo>
                <a:lnTo>
                  <a:pt x="282009" y="5215"/>
                </a:lnTo>
                <a:lnTo>
                  <a:pt x="326070" y="20175"/>
                </a:lnTo>
                <a:lnTo>
                  <a:pt x="365937" y="43846"/>
                </a:lnTo>
                <a:lnTo>
                  <a:pt x="400669" y="75199"/>
                </a:lnTo>
                <a:lnTo>
                  <a:pt x="429322" y="113202"/>
                </a:lnTo>
                <a:lnTo>
                  <a:pt x="450955" y="156823"/>
                </a:lnTo>
                <a:lnTo>
                  <a:pt x="464625" y="205030"/>
                </a:lnTo>
                <a:lnTo>
                  <a:pt x="469392" y="256794"/>
                </a:lnTo>
                <a:lnTo>
                  <a:pt x="464625" y="308557"/>
                </a:lnTo>
                <a:lnTo>
                  <a:pt x="450955" y="356764"/>
                </a:lnTo>
                <a:lnTo>
                  <a:pt x="429322" y="400385"/>
                </a:lnTo>
                <a:lnTo>
                  <a:pt x="400669" y="438388"/>
                </a:lnTo>
                <a:lnTo>
                  <a:pt x="365937" y="469741"/>
                </a:lnTo>
                <a:lnTo>
                  <a:pt x="326070" y="493412"/>
                </a:lnTo>
                <a:lnTo>
                  <a:pt x="282009" y="508372"/>
                </a:lnTo>
                <a:lnTo>
                  <a:pt x="234695" y="513588"/>
                </a:lnTo>
                <a:lnTo>
                  <a:pt x="187382" y="508372"/>
                </a:lnTo>
                <a:lnTo>
                  <a:pt x="143321" y="493412"/>
                </a:lnTo>
                <a:lnTo>
                  <a:pt x="103454" y="469741"/>
                </a:lnTo>
                <a:lnTo>
                  <a:pt x="68722" y="438388"/>
                </a:lnTo>
                <a:lnTo>
                  <a:pt x="40069" y="400385"/>
                </a:lnTo>
                <a:lnTo>
                  <a:pt x="18436" y="356764"/>
                </a:lnTo>
                <a:lnTo>
                  <a:pt x="4766" y="308557"/>
                </a:lnTo>
                <a:lnTo>
                  <a:pt x="0" y="256794"/>
                </a:lnTo>
                <a:close/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81911" y="2097023"/>
            <a:ext cx="469900" cy="513715"/>
          </a:xfrm>
          <a:custGeom>
            <a:avLst/>
            <a:gdLst/>
            <a:ahLst/>
            <a:cxnLst/>
            <a:rect l="l" t="t" r="r" b="b"/>
            <a:pathLst>
              <a:path w="469900" h="513714">
                <a:moveTo>
                  <a:pt x="234695" y="0"/>
                </a:moveTo>
                <a:lnTo>
                  <a:pt x="187382" y="5215"/>
                </a:lnTo>
                <a:lnTo>
                  <a:pt x="143321" y="20175"/>
                </a:lnTo>
                <a:lnTo>
                  <a:pt x="103454" y="43846"/>
                </a:lnTo>
                <a:lnTo>
                  <a:pt x="68722" y="75199"/>
                </a:lnTo>
                <a:lnTo>
                  <a:pt x="40069" y="113202"/>
                </a:lnTo>
                <a:lnTo>
                  <a:pt x="18436" y="156823"/>
                </a:lnTo>
                <a:lnTo>
                  <a:pt x="4766" y="205030"/>
                </a:lnTo>
                <a:lnTo>
                  <a:pt x="0" y="256793"/>
                </a:lnTo>
                <a:lnTo>
                  <a:pt x="4766" y="308557"/>
                </a:lnTo>
                <a:lnTo>
                  <a:pt x="18436" y="356764"/>
                </a:lnTo>
                <a:lnTo>
                  <a:pt x="40069" y="400385"/>
                </a:lnTo>
                <a:lnTo>
                  <a:pt x="68722" y="438388"/>
                </a:lnTo>
                <a:lnTo>
                  <a:pt x="103454" y="469741"/>
                </a:lnTo>
                <a:lnTo>
                  <a:pt x="143321" y="493412"/>
                </a:lnTo>
                <a:lnTo>
                  <a:pt x="187382" y="508372"/>
                </a:lnTo>
                <a:lnTo>
                  <a:pt x="234695" y="513588"/>
                </a:lnTo>
                <a:lnTo>
                  <a:pt x="282009" y="508372"/>
                </a:lnTo>
                <a:lnTo>
                  <a:pt x="326070" y="493412"/>
                </a:lnTo>
                <a:lnTo>
                  <a:pt x="365937" y="469741"/>
                </a:lnTo>
                <a:lnTo>
                  <a:pt x="400669" y="438388"/>
                </a:lnTo>
                <a:lnTo>
                  <a:pt x="429322" y="400385"/>
                </a:lnTo>
                <a:lnTo>
                  <a:pt x="450955" y="356764"/>
                </a:lnTo>
                <a:lnTo>
                  <a:pt x="464625" y="308557"/>
                </a:lnTo>
                <a:lnTo>
                  <a:pt x="469392" y="256793"/>
                </a:lnTo>
                <a:lnTo>
                  <a:pt x="464625" y="205030"/>
                </a:lnTo>
                <a:lnTo>
                  <a:pt x="450955" y="156823"/>
                </a:lnTo>
                <a:lnTo>
                  <a:pt x="429322" y="113202"/>
                </a:lnTo>
                <a:lnTo>
                  <a:pt x="400669" y="75199"/>
                </a:lnTo>
                <a:lnTo>
                  <a:pt x="365937" y="43846"/>
                </a:lnTo>
                <a:lnTo>
                  <a:pt x="326070" y="20175"/>
                </a:lnTo>
                <a:lnTo>
                  <a:pt x="282009" y="5215"/>
                </a:lnTo>
                <a:lnTo>
                  <a:pt x="234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81911" y="2097023"/>
            <a:ext cx="469900" cy="513715"/>
          </a:xfrm>
          <a:custGeom>
            <a:avLst/>
            <a:gdLst/>
            <a:ahLst/>
            <a:cxnLst/>
            <a:rect l="l" t="t" r="r" b="b"/>
            <a:pathLst>
              <a:path w="469900" h="513714">
                <a:moveTo>
                  <a:pt x="0" y="256793"/>
                </a:moveTo>
                <a:lnTo>
                  <a:pt x="4766" y="205030"/>
                </a:lnTo>
                <a:lnTo>
                  <a:pt x="18436" y="156823"/>
                </a:lnTo>
                <a:lnTo>
                  <a:pt x="40069" y="113202"/>
                </a:lnTo>
                <a:lnTo>
                  <a:pt x="68722" y="75199"/>
                </a:lnTo>
                <a:lnTo>
                  <a:pt x="103454" y="43846"/>
                </a:lnTo>
                <a:lnTo>
                  <a:pt x="143321" y="20175"/>
                </a:lnTo>
                <a:lnTo>
                  <a:pt x="187382" y="5215"/>
                </a:lnTo>
                <a:lnTo>
                  <a:pt x="234695" y="0"/>
                </a:lnTo>
                <a:lnTo>
                  <a:pt x="282009" y="5215"/>
                </a:lnTo>
                <a:lnTo>
                  <a:pt x="326070" y="20175"/>
                </a:lnTo>
                <a:lnTo>
                  <a:pt x="365937" y="43846"/>
                </a:lnTo>
                <a:lnTo>
                  <a:pt x="400669" y="75199"/>
                </a:lnTo>
                <a:lnTo>
                  <a:pt x="429322" y="113202"/>
                </a:lnTo>
                <a:lnTo>
                  <a:pt x="450955" y="156823"/>
                </a:lnTo>
                <a:lnTo>
                  <a:pt x="464625" y="205030"/>
                </a:lnTo>
                <a:lnTo>
                  <a:pt x="469392" y="256793"/>
                </a:lnTo>
                <a:lnTo>
                  <a:pt x="464625" y="308557"/>
                </a:lnTo>
                <a:lnTo>
                  <a:pt x="450955" y="356764"/>
                </a:lnTo>
                <a:lnTo>
                  <a:pt x="429322" y="400385"/>
                </a:lnTo>
                <a:lnTo>
                  <a:pt x="400669" y="438388"/>
                </a:lnTo>
                <a:lnTo>
                  <a:pt x="365937" y="469741"/>
                </a:lnTo>
                <a:lnTo>
                  <a:pt x="326070" y="493412"/>
                </a:lnTo>
                <a:lnTo>
                  <a:pt x="282009" y="508372"/>
                </a:lnTo>
                <a:lnTo>
                  <a:pt x="234695" y="513588"/>
                </a:lnTo>
                <a:lnTo>
                  <a:pt x="187382" y="508372"/>
                </a:lnTo>
                <a:lnTo>
                  <a:pt x="143321" y="493412"/>
                </a:lnTo>
                <a:lnTo>
                  <a:pt x="103454" y="469741"/>
                </a:lnTo>
                <a:lnTo>
                  <a:pt x="68722" y="438388"/>
                </a:lnTo>
                <a:lnTo>
                  <a:pt x="40069" y="400385"/>
                </a:lnTo>
                <a:lnTo>
                  <a:pt x="18436" y="356764"/>
                </a:lnTo>
                <a:lnTo>
                  <a:pt x="4766" y="308557"/>
                </a:lnTo>
                <a:lnTo>
                  <a:pt x="0" y="256793"/>
                </a:lnTo>
                <a:close/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9100" y="2097023"/>
            <a:ext cx="469900" cy="513715"/>
          </a:xfrm>
          <a:custGeom>
            <a:avLst/>
            <a:gdLst/>
            <a:ahLst/>
            <a:cxnLst/>
            <a:rect l="l" t="t" r="r" b="b"/>
            <a:pathLst>
              <a:path w="469900" h="513714">
                <a:moveTo>
                  <a:pt x="234695" y="0"/>
                </a:moveTo>
                <a:lnTo>
                  <a:pt x="187397" y="5215"/>
                </a:lnTo>
                <a:lnTo>
                  <a:pt x="143342" y="20175"/>
                </a:lnTo>
                <a:lnTo>
                  <a:pt x="103476" y="43846"/>
                </a:lnTo>
                <a:lnTo>
                  <a:pt x="68741" y="75199"/>
                </a:lnTo>
                <a:lnTo>
                  <a:pt x="40083" y="113202"/>
                </a:lnTo>
                <a:lnTo>
                  <a:pt x="18443" y="156823"/>
                </a:lnTo>
                <a:lnTo>
                  <a:pt x="4768" y="205030"/>
                </a:lnTo>
                <a:lnTo>
                  <a:pt x="0" y="256793"/>
                </a:lnTo>
                <a:lnTo>
                  <a:pt x="4768" y="308557"/>
                </a:lnTo>
                <a:lnTo>
                  <a:pt x="18443" y="356764"/>
                </a:lnTo>
                <a:lnTo>
                  <a:pt x="40083" y="400385"/>
                </a:lnTo>
                <a:lnTo>
                  <a:pt x="68741" y="438388"/>
                </a:lnTo>
                <a:lnTo>
                  <a:pt x="103476" y="469741"/>
                </a:lnTo>
                <a:lnTo>
                  <a:pt x="143342" y="493412"/>
                </a:lnTo>
                <a:lnTo>
                  <a:pt x="187397" y="508372"/>
                </a:lnTo>
                <a:lnTo>
                  <a:pt x="234695" y="513588"/>
                </a:lnTo>
                <a:lnTo>
                  <a:pt x="281994" y="508372"/>
                </a:lnTo>
                <a:lnTo>
                  <a:pt x="326049" y="493412"/>
                </a:lnTo>
                <a:lnTo>
                  <a:pt x="365915" y="469741"/>
                </a:lnTo>
                <a:lnTo>
                  <a:pt x="400650" y="438388"/>
                </a:lnTo>
                <a:lnTo>
                  <a:pt x="429308" y="400385"/>
                </a:lnTo>
                <a:lnTo>
                  <a:pt x="450948" y="356764"/>
                </a:lnTo>
                <a:lnTo>
                  <a:pt x="464623" y="308557"/>
                </a:lnTo>
                <a:lnTo>
                  <a:pt x="469391" y="256793"/>
                </a:lnTo>
                <a:lnTo>
                  <a:pt x="464623" y="205030"/>
                </a:lnTo>
                <a:lnTo>
                  <a:pt x="450948" y="156823"/>
                </a:lnTo>
                <a:lnTo>
                  <a:pt x="429308" y="113202"/>
                </a:lnTo>
                <a:lnTo>
                  <a:pt x="400650" y="75199"/>
                </a:lnTo>
                <a:lnTo>
                  <a:pt x="365915" y="43846"/>
                </a:lnTo>
                <a:lnTo>
                  <a:pt x="326049" y="20175"/>
                </a:lnTo>
                <a:lnTo>
                  <a:pt x="281994" y="5215"/>
                </a:lnTo>
                <a:lnTo>
                  <a:pt x="234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9100" y="2097023"/>
            <a:ext cx="469900" cy="513715"/>
          </a:xfrm>
          <a:custGeom>
            <a:avLst/>
            <a:gdLst/>
            <a:ahLst/>
            <a:cxnLst/>
            <a:rect l="l" t="t" r="r" b="b"/>
            <a:pathLst>
              <a:path w="469900" h="513714">
                <a:moveTo>
                  <a:pt x="0" y="256793"/>
                </a:moveTo>
                <a:lnTo>
                  <a:pt x="4768" y="205030"/>
                </a:lnTo>
                <a:lnTo>
                  <a:pt x="18443" y="156823"/>
                </a:lnTo>
                <a:lnTo>
                  <a:pt x="40083" y="113202"/>
                </a:lnTo>
                <a:lnTo>
                  <a:pt x="68741" y="75199"/>
                </a:lnTo>
                <a:lnTo>
                  <a:pt x="103476" y="43846"/>
                </a:lnTo>
                <a:lnTo>
                  <a:pt x="143342" y="20175"/>
                </a:lnTo>
                <a:lnTo>
                  <a:pt x="187397" y="5215"/>
                </a:lnTo>
                <a:lnTo>
                  <a:pt x="234695" y="0"/>
                </a:lnTo>
                <a:lnTo>
                  <a:pt x="281994" y="5215"/>
                </a:lnTo>
                <a:lnTo>
                  <a:pt x="326049" y="20175"/>
                </a:lnTo>
                <a:lnTo>
                  <a:pt x="365915" y="43846"/>
                </a:lnTo>
                <a:lnTo>
                  <a:pt x="400650" y="75199"/>
                </a:lnTo>
                <a:lnTo>
                  <a:pt x="429308" y="113202"/>
                </a:lnTo>
                <a:lnTo>
                  <a:pt x="450948" y="156823"/>
                </a:lnTo>
                <a:lnTo>
                  <a:pt x="464623" y="205030"/>
                </a:lnTo>
                <a:lnTo>
                  <a:pt x="469391" y="256793"/>
                </a:lnTo>
                <a:lnTo>
                  <a:pt x="464623" y="308557"/>
                </a:lnTo>
                <a:lnTo>
                  <a:pt x="450948" y="356764"/>
                </a:lnTo>
                <a:lnTo>
                  <a:pt x="429308" y="400385"/>
                </a:lnTo>
                <a:lnTo>
                  <a:pt x="400650" y="438388"/>
                </a:lnTo>
                <a:lnTo>
                  <a:pt x="365915" y="469741"/>
                </a:lnTo>
                <a:lnTo>
                  <a:pt x="326049" y="493412"/>
                </a:lnTo>
                <a:lnTo>
                  <a:pt x="281994" y="508372"/>
                </a:lnTo>
                <a:lnTo>
                  <a:pt x="234695" y="513588"/>
                </a:lnTo>
                <a:lnTo>
                  <a:pt x="187397" y="508372"/>
                </a:lnTo>
                <a:lnTo>
                  <a:pt x="143342" y="493412"/>
                </a:lnTo>
                <a:lnTo>
                  <a:pt x="103476" y="469741"/>
                </a:lnTo>
                <a:lnTo>
                  <a:pt x="68741" y="438388"/>
                </a:lnTo>
                <a:lnTo>
                  <a:pt x="40083" y="400385"/>
                </a:lnTo>
                <a:lnTo>
                  <a:pt x="18443" y="356764"/>
                </a:lnTo>
                <a:lnTo>
                  <a:pt x="4768" y="308557"/>
                </a:lnTo>
                <a:lnTo>
                  <a:pt x="0" y="256793"/>
                </a:lnTo>
                <a:close/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2089" y="1602423"/>
            <a:ext cx="2837180" cy="133477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462530">
              <a:lnSpc>
                <a:spcPct val="100000"/>
              </a:lnSpc>
              <a:spcBef>
                <a:spcPts val="670"/>
              </a:spcBef>
            </a:pPr>
            <a:r>
              <a:rPr sz="2400" b="1" spc="-5" dirty="0">
                <a:solidFill>
                  <a:srgbClr val="99FFCC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20833" dirty="0">
                <a:solidFill>
                  <a:srgbClr val="99FFCC"/>
                </a:solidFill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575"/>
              </a:spcBef>
              <a:tabLst>
                <a:tab pos="1260475" algn="l"/>
              </a:tabLst>
            </a:pPr>
            <a:r>
              <a:rPr sz="2400" b="1" spc="-5" dirty="0">
                <a:solidFill>
                  <a:srgbClr val="99FFCC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19097" dirty="0">
                <a:solidFill>
                  <a:srgbClr val="99FFCC"/>
                </a:solidFill>
                <a:latin typeface="Times New Roman"/>
                <a:cs typeface="Times New Roman"/>
              </a:rPr>
              <a:t>1	</a:t>
            </a:r>
            <a:r>
              <a:rPr sz="2400" b="1" spc="-5" dirty="0">
                <a:solidFill>
                  <a:srgbClr val="99FFCC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20833" dirty="0">
                <a:solidFill>
                  <a:srgbClr val="99FFCC"/>
                </a:solidFill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  <a:p>
            <a:pPr marL="2481580">
              <a:lnSpc>
                <a:spcPct val="100000"/>
              </a:lnSpc>
              <a:spcBef>
                <a:spcPts val="520"/>
              </a:spcBef>
            </a:pPr>
            <a:r>
              <a:rPr sz="2400" b="1" spc="-5" dirty="0">
                <a:solidFill>
                  <a:srgbClr val="99FFCC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20833" dirty="0">
                <a:solidFill>
                  <a:srgbClr val="99FFCC"/>
                </a:solidFill>
                <a:latin typeface="Times New Roman"/>
                <a:cs typeface="Times New Roman"/>
              </a:rPr>
              <a:t>4</a:t>
            </a:r>
            <a:endParaRPr sz="2400" baseline="-20833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789612" y="2103437"/>
          <a:ext cx="3136900" cy="40402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3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in(B1)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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499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out(B1)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{d1(i),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d2(j)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,d3(a)</a:t>
                      </a:r>
                      <a:r>
                        <a:rPr sz="24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3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in(B2)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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35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out(B2)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{d4(i),</a:t>
                      </a:r>
                      <a:r>
                        <a:rPr sz="24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d5(j)}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23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in(B3)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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3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out(B3)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{d6(a)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in(B4)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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out(B4)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{d7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(j)}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918210" y="2298192"/>
            <a:ext cx="635000" cy="114300"/>
          </a:xfrm>
          <a:custGeom>
            <a:avLst/>
            <a:gdLst/>
            <a:ahLst/>
            <a:cxnLst/>
            <a:rect l="l" t="t" r="r" b="b"/>
            <a:pathLst>
              <a:path w="635000" h="114300">
                <a:moveTo>
                  <a:pt x="520700" y="0"/>
                </a:moveTo>
                <a:lnTo>
                  <a:pt x="520700" y="114300"/>
                </a:lnTo>
                <a:lnTo>
                  <a:pt x="596900" y="76200"/>
                </a:lnTo>
                <a:lnTo>
                  <a:pt x="539750" y="76200"/>
                </a:lnTo>
                <a:lnTo>
                  <a:pt x="539750" y="38100"/>
                </a:lnTo>
                <a:lnTo>
                  <a:pt x="596900" y="38100"/>
                </a:lnTo>
                <a:lnTo>
                  <a:pt x="520700" y="0"/>
                </a:lnTo>
                <a:close/>
              </a:path>
              <a:path w="635000" h="114300">
                <a:moveTo>
                  <a:pt x="5207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20700" y="76200"/>
                </a:lnTo>
                <a:lnTo>
                  <a:pt x="520700" y="38100"/>
                </a:lnTo>
                <a:close/>
              </a:path>
              <a:path w="635000" h="114300">
                <a:moveTo>
                  <a:pt x="596900" y="38100"/>
                </a:moveTo>
                <a:lnTo>
                  <a:pt x="539750" y="38100"/>
                </a:lnTo>
                <a:lnTo>
                  <a:pt x="539750" y="76200"/>
                </a:lnTo>
                <a:lnTo>
                  <a:pt x="596900" y="76200"/>
                </a:lnTo>
                <a:lnTo>
                  <a:pt x="635000" y="57150"/>
                </a:lnTo>
                <a:lnTo>
                  <a:pt x="5969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78532" y="1909572"/>
            <a:ext cx="776605" cy="253365"/>
          </a:xfrm>
          <a:custGeom>
            <a:avLst/>
            <a:gdLst/>
            <a:ahLst/>
            <a:cxnLst/>
            <a:rect l="l" t="t" r="r" b="b"/>
            <a:pathLst>
              <a:path w="776605" h="253364">
                <a:moveTo>
                  <a:pt x="661202" y="36739"/>
                </a:moveTo>
                <a:lnTo>
                  <a:pt x="0" y="216280"/>
                </a:lnTo>
                <a:lnTo>
                  <a:pt x="9906" y="253111"/>
                </a:lnTo>
                <a:lnTo>
                  <a:pt x="671146" y="73468"/>
                </a:lnTo>
                <a:lnTo>
                  <a:pt x="661202" y="36739"/>
                </a:lnTo>
                <a:close/>
              </a:path>
              <a:path w="776605" h="253364">
                <a:moveTo>
                  <a:pt x="769075" y="31750"/>
                </a:moveTo>
                <a:lnTo>
                  <a:pt x="679577" y="31750"/>
                </a:lnTo>
                <a:lnTo>
                  <a:pt x="689610" y="68452"/>
                </a:lnTo>
                <a:lnTo>
                  <a:pt x="671146" y="73468"/>
                </a:lnTo>
                <a:lnTo>
                  <a:pt x="681101" y="110236"/>
                </a:lnTo>
                <a:lnTo>
                  <a:pt x="769075" y="31750"/>
                </a:lnTo>
                <a:close/>
              </a:path>
              <a:path w="776605" h="253364">
                <a:moveTo>
                  <a:pt x="679577" y="31750"/>
                </a:moveTo>
                <a:lnTo>
                  <a:pt x="661202" y="36739"/>
                </a:lnTo>
                <a:lnTo>
                  <a:pt x="671146" y="73468"/>
                </a:lnTo>
                <a:lnTo>
                  <a:pt x="689610" y="68452"/>
                </a:lnTo>
                <a:lnTo>
                  <a:pt x="679577" y="31750"/>
                </a:lnTo>
                <a:close/>
              </a:path>
              <a:path w="776605" h="253364">
                <a:moveTo>
                  <a:pt x="651256" y="0"/>
                </a:moveTo>
                <a:lnTo>
                  <a:pt x="661202" y="36739"/>
                </a:lnTo>
                <a:lnTo>
                  <a:pt x="679577" y="31750"/>
                </a:lnTo>
                <a:lnTo>
                  <a:pt x="769075" y="31750"/>
                </a:lnTo>
                <a:lnTo>
                  <a:pt x="776478" y="25145"/>
                </a:lnTo>
                <a:lnTo>
                  <a:pt x="65125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9167" y="2545588"/>
            <a:ext cx="804545" cy="233045"/>
          </a:xfrm>
          <a:custGeom>
            <a:avLst/>
            <a:gdLst/>
            <a:ahLst/>
            <a:cxnLst/>
            <a:rect l="l" t="t" r="r" b="b"/>
            <a:pathLst>
              <a:path w="804544" h="233044">
                <a:moveTo>
                  <a:pt x="688768" y="195640"/>
                </a:moveTo>
                <a:lnTo>
                  <a:pt x="680212" y="232790"/>
                </a:lnTo>
                <a:lnTo>
                  <a:pt x="804418" y="202691"/>
                </a:lnTo>
                <a:lnTo>
                  <a:pt x="801030" y="199898"/>
                </a:lnTo>
                <a:lnTo>
                  <a:pt x="707263" y="199898"/>
                </a:lnTo>
                <a:lnTo>
                  <a:pt x="688768" y="195640"/>
                </a:lnTo>
                <a:close/>
              </a:path>
              <a:path w="804544" h="233044">
                <a:moveTo>
                  <a:pt x="697315" y="158535"/>
                </a:moveTo>
                <a:lnTo>
                  <a:pt x="688768" y="195640"/>
                </a:lnTo>
                <a:lnTo>
                  <a:pt x="707263" y="199898"/>
                </a:lnTo>
                <a:lnTo>
                  <a:pt x="715899" y="162813"/>
                </a:lnTo>
                <a:lnTo>
                  <a:pt x="697315" y="158535"/>
                </a:lnTo>
                <a:close/>
              </a:path>
              <a:path w="804544" h="233044">
                <a:moveTo>
                  <a:pt x="705865" y="121412"/>
                </a:moveTo>
                <a:lnTo>
                  <a:pt x="697315" y="158535"/>
                </a:lnTo>
                <a:lnTo>
                  <a:pt x="715899" y="162813"/>
                </a:lnTo>
                <a:lnTo>
                  <a:pt x="707263" y="199898"/>
                </a:lnTo>
                <a:lnTo>
                  <a:pt x="801030" y="199898"/>
                </a:lnTo>
                <a:lnTo>
                  <a:pt x="705865" y="121412"/>
                </a:lnTo>
                <a:close/>
              </a:path>
              <a:path w="804544" h="233044">
                <a:moveTo>
                  <a:pt x="8636" y="0"/>
                </a:moveTo>
                <a:lnTo>
                  <a:pt x="0" y="37084"/>
                </a:lnTo>
                <a:lnTo>
                  <a:pt x="688768" y="195640"/>
                </a:lnTo>
                <a:lnTo>
                  <a:pt x="697315" y="158535"/>
                </a:lnTo>
                <a:lnTo>
                  <a:pt x="86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00479" y="2638805"/>
            <a:ext cx="1089025" cy="346075"/>
          </a:xfrm>
          <a:custGeom>
            <a:avLst/>
            <a:gdLst/>
            <a:ahLst/>
            <a:cxnLst/>
            <a:rect l="l" t="t" r="r" b="b"/>
            <a:pathLst>
              <a:path w="1089025" h="346075">
                <a:moveTo>
                  <a:pt x="74514" y="101051"/>
                </a:moveTo>
                <a:lnTo>
                  <a:pt x="38135" y="113533"/>
                </a:lnTo>
                <a:lnTo>
                  <a:pt x="46100" y="129794"/>
                </a:lnTo>
                <a:lnTo>
                  <a:pt x="46862" y="130937"/>
                </a:lnTo>
                <a:lnTo>
                  <a:pt x="73151" y="161671"/>
                </a:lnTo>
                <a:lnTo>
                  <a:pt x="102869" y="189992"/>
                </a:lnTo>
                <a:lnTo>
                  <a:pt x="136397" y="216662"/>
                </a:lnTo>
                <a:lnTo>
                  <a:pt x="173481" y="241300"/>
                </a:lnTo>
                <a:lnTo>
                  <a:pt x="213487" y="263906"/>
                </a:lnTo>
                <a:lnTo>
                  <a:pt x="256285" y="284226"/>
                </a:lnTo>
                <a:lnTo>
                  <a:pt x="301382" y="302136"/>
                </a:lnTo>
                <a:lnTo>
                  <a:pt x="348614" y="317373"/>
                </a:lnTo>
                <a:lnTo>
                  <a:pt x="397128" y="329565"/>
                </a:lnTo>
                <a:lnTo>
                  <a:pt x="447166" y="338709"/>
                </a:lnTo>
                <a:lnTo>
                  <a:pt x="497839" y="344170"/>
                </a:lnTo>
                <a:lnTo>
                  <a:pt x="548766" y="346075"/>
                </a:lnTo>
                <a:lnTo>
                  <a:pt x="598551" y="346075"/>
                </a:lnTo>
                <a:lnTo>
                  <a:pt x="812419" y="344932"/>
                </a:lnTo>
                <a:lnTo>
                  <a:pt x="834008" y="344551"/>
                </a:lnTo>
                <a:lnTo>
                  <a:pt x="932941" y="343408"/>
                </a:lnTo>
                <a:lnTo>
                  <a:pt x="1035557" y="341122"/>
                </a:lnTo>
                <a:lnTo>
                  <a:pt x="1075689" y="339217"/>
                </a:lnTo>
                <a:lnTo>
                  <a:pt x="1082928" y="338201"/>
                </a:lnTo>
                <a:lnTo>
                  <a:pt x="1084833" y="337947"/>
                </a:lnTo>
                <a:lnTo>
                  <a:pt x="1086612" y="337312"/>
                </a:lnTo>
                <a:lnTo>
                  <a:pt x="1088263" y="336550"/>
                </a:lnTo>
                <a:lnTo>
                  <a:pt x="1089025" y="336169"/>
                </a:lnTo>
                <a:lnTo>
                  <a:pt x="1074980" y="307975"/>
                </a:lnTo>
                <a:lnTo>
                  <a:pt x="548766" y="307975"/>
                </a:lnTo>
                <a:lnTo>
                  <a:pt x="524128" y="307594"/>
                </a:lnTo>
                <a:lnTo>
                  <a:pt x="475995" y="303911"/>
                </a:lnTo>
                <a:lnTo>
                  <a:pt x="428244" y="296926"/>
                </a:lnTo>
                <a:lnTo>
                  <a:pt x="381381" y="286766"/>
                </a:lnTo>
                <a:lnTo>
                  <a:pt x="335788" y="273685"/>
                </a:lnTo>
                <a:lnTo>
                  <a:pt x="291972" y="257937"/>
                </a:lnTo>
                <a:lnTo>
                  <a:pt x="250316" y="239776"/>
                </a:lnTo>
                <a:lnTo>
                  <a:pt x="211200" y="219329"/>
                </a:lnTo>
                <a:lnTo>
                  <a:pt x="175132" y="197104"/>
                </a:lnTo>
                <a:lnTo>
                  <a:pt x="142239" y="173228"/>
                </a:lnTo>
                <a:lnTo>
                  <a:pt x="113156" y="147828"/>
                </a:lnTo>
                <a:lnTo>
                  <a:pt x="80314" y="111760"/>
                </a:lnTo>
                <a:lnTo>
                  <a:pt x="79756" y="111760"/>
                </a:lnTo>
                <a:lnTo>
                  <a:pt x="77469" y="108204"/>
                </a:lnTo>
                <a:lnTo>
                  <a:pt x="78015" y="108204"/>
                </a:lnTo>
                <a:lnTo>
                  <a:pt x="74514" y="101051"/>
                </a:lnTo>
                <a:close/>
              </a:path>
              <a:path w="1089025" h="346075">
                <a:moveTo>
                  <a:pt x="1076706" y="300736"/>
                </a:moveTo>
                <a:lnTo>
                  <a:pt x="1074420" y="301117"/>
                </a:lnTo>
                <a:lnTo>
                  <a:pt x="1071879" y="301244"/>
                </a:lnTo>
                <a:lnTo>
                  <a:pt x="1067181" y="301625"/>
                </a:lnTo>
                <a:lnTo>
                  <a:pt x="1060958" y="302006"/>
                </a:lnTo>
                <a:lnTo>
                  <a:pt x="1057161" y="302136"/>
                </a:lnTo>
                <a:lnTo>
                  <a:pt x="1034160" y="303022"/>
                </a:lnTo>
                <a:lnTo>
                  <a:pt x="949706" y="305054"/>
                </a:lnTo>
                <a:lnTo>
                  <a:pt x="598423" y="307975"/>
                </a:lnTo>
                <a:lnTo>
                  <a:pt x="1074980" y="307975"/>
                </a:lnTo>
                <a:lnTo>
                  <a:pt x="1072196" y="302387"/>
                </a:lnTo>
                <a:lnTo>
                  <a:pt x="1071245" y="302387"/>
                </a:lnTo>
                <a:lnTo>
                  <a:pt x="1072007" y="302006"/>
                </a:lnTo>
                <a:lnTo>
                  <a:pt x="1072505" y="302006"/>
                </a:lnTo>
                <a:lnTo>
                  <a:pt x="1076706" y="300736"/>
                </a:lnTo>
                <a:close/>
              </a:path>
              <a:path w="1089025" h="346075">
                <a:moveTo>
                  <a:pt x="1072007" y="302006"/>
                </a:moveTo>
                <a:lnTo>
                  <a:pt x="1071245" y="302387"/>
                </a:lnTo>
                <a:lnTo>
                  <a:pt x="1072072" y="302136"/>
                </a:lnTo>
                <a:lnTo>
                  <a:pt x="1072007" y="302006"/>
                </a:lnTo>
                <a:close/>
              </a:path>
              <a:path w="1089025" h="346075">
                <a:moveTo>
                  <a:pt x="1072072" y="302136"/>
                </a:moveTo>
                <a:lnTo>
                  <a:pt x="1071245" y="302387"/>
                </a:lnTo>
                <a:lnTo>
                  <a:pt x="1072196" y="302387"/>
                </a:lnTo>
                <a:lnTo>
                  <a:pt x="1072072" y="302136"/>
                </a:lnTo>
                <a:close/>
              </a:path>
              <a:path w="1089025" h="346075">
                <a:moveTo>
                  <a:pt x="1072505" y="302006"/>
                </a:moveTo>
                <a:lnTo>
                  <a:pt x="1072007" y="302006"/>
                </a:lnTo>
                <a:lnTo>
                  <a:pt x="1072072" y="302136"/>
                </a:lnTo>
                <a:lnTo>
                  <a:pt x="1072505" y="302006"/>
                </a:lnTo>
                <a:close/>
              </a:path>
              <a:path w="1089025" h="346075">
                <a:moveTo>
                  <a:pt x="16890" y="0"/>
                </a:moveTo>
                <a:lnTo>
                  <a:pt x="0" y="126619"/>
                </a:lnTo>
                <a:lnTo>
                  <a:pt x="38135" y="113533"/>
                </a:lnTo>
                <a:lnTo>
                  <a:pt x="30733" y="98425"/>
                </a:lnTo>
                <a:lnTo>
                  <a:pt x="65023" y="81661"/>
                </a:lnTo>
                <a:lnTo>
                  <a:pt x="100057" y="81661"/>
                </a:lnTo>
                <a:lnTo>
                  <a:pt x="16890" y="0"/>
                </a:lnTo>
                <a:close/>
              </a:path>
              <a:path w="1089025" h="346075">
                <a:moveTo>
                  <a:pt x="65023" y="81661"/>
                </a:moveTo>
                <a:lnTo>
                  <a:pt x="30733" y="98425"/>
                </a:lnTo>
                <a:lnTo>
                  <a:pt x="38135" y="113533"/>
                </a:lnTo>
                <a:lnTo>
                  <a:pt x="74514" y="101051"/>
                </a:lnTo>
                <a:lnTo>
                  <a:pt x="65023" y="81661"/>
                </a:lnTo>
                <a:close/>
              </a:path>
              <a:path w="1089025" h="346075">
                <a:moveTo>
                  <a:pt x="77469" y="108204"/>
                </a:moveTo>
                <a:lnTo>
                  <a:pt x="79756" y="111760"/>
                </a:lnTo>
                <a:lnTo>
                  <a:pt x="78875" y="109960"/>
                </a:lnTo>
                <a:lnTo>
                  <a:pt x="77469" y="108204"/>
                </a:lnTo>
                <a:close/>
              </a:path>
              <a:path w="1089025" h="346075">
                <a:moveTo>
                  <a:pt x="78875" y="109960"/>
                </a:moveTo>
                <a:lnTo>
                  <a:pt x="79756" y="111760"/>
                </a:lnTo>
                <a:lnTo>
                  <a:pt x="80314" y="111760"/>
                </a:lnTo>
                <a:lnTo>
                  <a:pt x="78875" y="109960"/>
                </a:lnTo>
                <a:close/>
              </a:path>
              <a:path w="1089025" h="346075">
                <a:moveTo>
                  <a:pt x="78015" y="108204"/>
                </a:moveTo>
                <a:lnTo>
                  <a:pt x="77469" y="108204"/>
                </a:lnTo>
                <a:lnTo>
                  <a:pt x="78875" y="109960"/>
                </a:lnTo>
                <a:lnTo>
                  <a:pt x="78015" y="108204"/>
                </a:lnTo>
                <a:close/>
              </a:path>
              <a:path w="1089025" h="346075">
                <a:moveTo>
                  <a:pt x="100057" y="81661"/>
                </a:moveTo>
                <a:lnTo>
                  <a:pt x="65023" y="81661"/>
                </a:lnTo>
                <a:lnTo>
                  <a:pt x="74514" y="101051"/>
                </a:lnTo>
                <a:lnTo>
                  <a:pt x="108076" y="89535"/>
                </a:lnTo>
                <a:lnTo>
                  <a:pt x="100057" y="8166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77895" y="2194814"/>
            <a:ext cx="113664" cy="269240"/>
          </a:xfrm>
          <a:custGeom>
            <a:avLst/>
            <a:gdLst/>
            <a:ahLst/>
            <a:cxnLst/>
            <a:rect l="l" t="t" r="r" b="b"/>
            <a:pathLst>
              <a:path w="113664" h="269239">
                <a:moveTo>
                  <a:pt x="37851" y="157102"/>
                </a:moveTo>
                <a:lnTo>
                  <a:pt x="0" y="161162"/>
                </a:lnTo>
                <a:lnTo>
                  <a:pt x="68961" y="268732"/>
                </a:lnTo>
                <a:lnTo>
                  <a:pt x="103567" y="176022"/>
                </a:lnTo>
                <a:lnTo>
                  <a:pt x="39878" y="176022"/>
                </a:lnTo>
                <a:lnTo>
                  <a:pt x="37851" y="157102"/>
                </a:lnTo>
                <a:close/>
              </a:path>
              <a:path w="113664" h="269239">
                <a:moveTo>
                  <a:pt x="75698" y="153043"/>
                </a:moveTo>
                <a:lnTo>
                  <a:pt x="37851" y="157102"/>
                </a:lnTo>
                <a:lnTo>
                  <a:pt x="39878" y="176022"/>
                </a:lnTo>
                <a:lnTo>
                  <a:pt x="77724" y="171958"/>
                </a:lnTo>
                <a:lnTo>
                  <a:pt x="75698" y="153043"/>
                </a:lnTo>
                <a:close/>
              </a:path>
              <a:path w="113664" h="269239">
                <a:moveTo>
                  <a:pt x="113665" y="148971"/>
                </a:moveTo>
                <a:lnTo>
                  <a:pt x="75698" y="153043"/>
                </a:lnTo>
                <a:lnTo>
                  <a:pt x="77724" y="171958"/>
                </a:lnTo>
                <a:lnTo>
                  <a:pt x="39878" y="176022"/>
                </a:lnTo>
                <a:lnTo>
                  <a:pt x="103567" y="176022"/>
                </a:lnTo>
                <a:lnTo>
                  <a:pt x="113665" y="148971"/>
                </a:lnTo>
                <a:close/>
              </a:path>
              <a:path w="113664" h="269239">
                <a:moveTo>
                  <a:pt x="59309" y="0"/>
                </a:moveTo>
                <a:lnTo>
                  <a:pt x="21462" y="4063"/>
                </a:lnTo>
                <a:lnTo>
                  <a:pt x="37851" y="157102"/>
                </a:lnTo>
                <a:lnTo>
                  <a:pt x="75698" y="153043"/>
                </a:lnTo>
                <a:lnTo>
                  <a:pt x="5930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82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01164" y="11378"/>
            <a:ext cx="1895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代码优化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52135" y="11378"/>
            <a:ext cx="2670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dirty="0">
                <a:latin typeface="Times New Roman"/>
                <a:cs typeface="Times New Roman"/>
              </a:rPr>
              <a:t>8</a:t>
            </a:r>
            <a:r>
              <a:rPr sz="2000" spc="5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4	</a:t>
            </a:r>
            <a:r>
              <a:rPr spc="5" dirty="0"/>
              <a:t>数据流</a:t>
            </a:r>
            <a:r>
              <a:rPr dirty="0"/>
              <a:t>分析基</a:t>
            </a:r>
            <a:r>
              <a:rPr spc="-10" dirty="0"/>
              <a:t>础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6623" y="2700020"/>
            <a:ext cx="1749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{d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2(j)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5(j)</a:t>
            </a:r>
            <a:r>
              <a:rPr sz="2400" b="1" spc="-7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5176" y="2628646"/>
            <a:ext cx="972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{d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r>
              <a:rPr sz="2400" b="1" spc="-6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(j)}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2562" y="2713101"/>
            <a:ext cx="381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20833" dirty="0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70859" y="2267458"/>
            <a:ext cx="1021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{d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3(a)</a:t>
            </a:r>
            <a:r>
              <a:rPr sz="2400" b="1" spc="-6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3956" y="2267458"/>
            <a:ext cx="380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20833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11576" y="1821941"/>
            <a:ext cx="2512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{d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1(i)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2(j)</a:t>
            </a:r>
            <a:r>
              <a:rPr sz="2400" b="1" spc="-3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,d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7(j)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0448" y="1801727"/>
            <a:ext cx="1656080" cy="82105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{d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4(i)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4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5(j)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  <a:spcBef>
                <a:spcPts val="25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{d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6(a)</a:t>
            </a:r>
            <a:r>
              <a:rPr sz="24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3359" y="1785315"/>
            <a:ext cx="3803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2400" b="1" spc="-15" baseline="-20833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79775" y="906014"/>
            <a:ext cx="1603375" cy="90296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67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{d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4(i)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,d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5(j)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6(a)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,d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7(j)</a:t>
            </a:r>
            <a:r>
              <a:rPr sz="2400" b="1" spc="-8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1888" y="954785"/>
            <a:ext cx="8331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1(</a:t>
            </a:r>
            <a:r>
              <a:rPr sz="24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i)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1888" y="1320241"/>
            <a:ext cx="16027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2(j)</a:t>
            </a:r>
            <a:r>
              <a:rPr sz="2400" b="1" spc="-7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,d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3(a)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7263" y="1231772"/>
            <a:ext cx="381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20833" dirty="0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51630" y="485013"/>
            <a:ext cx="8585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ki</a:t>
            </a:r>
            <a:r>
              <a:rPr sz="24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l</a:t>
            </a: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l</a:t>
            </a:r>
            <a:r>
              <a:rPr sz="24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B)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77188" y="485013"/>
            <a:ext cx="889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gen(B)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8965" y="534162"/>
            <a:ext cx="5113020" cy="0"/>
          </a:xfrm>
          <a:custGeom>
            <a:avLst/>
            <a:gdLst/>
            <a:ahLst/>
            <a:cxnLst/>
            <a:rect l="l" t="t" r="r" b="b"/>
            <a:pathLst>
              <a:path w="5113020">
                <a:moveTo>
                  <a:pt x="0" y="0"/>
                </a:moveTo>
                <a:lnTo>
                  <a:pt x="511302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8204" y="894588"/>
            <a:ext cx="5113020" cy="0"/>
          </a:xfrm>
          <a:custGeom>
            <a:avLst/>
            <a:gdLst/>
            <a:ahLst/>
            <a:cxnLst/>
            <a:rect l="l" t="t" r="r" b="b"/>
            <a:pathLst>
              <a:path w="5113020">
                <a:moveTo>
                  <a:pt x="0" y="0"/>
                </a:moveTo>
                <a:lnTo>
                  <a:pt x="511302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8204" y="1761744"/>
            <a:ext cx="5113020" cy="0"/>
          </a:xfrm>
          <a:custGeom>
            <a:avLst/>
            <a:gdLst/>
            <a:ahLst/>
            <a:cxnLst/>
            <a:rect l="l" t="t" r="r" b="b"/>
            <a:pathLst>
              <a:path w="5113020">
                <a:moveTo>
                  <a:pt x="0" y="0"/>
                </a:moveTo>
                <a:lnTo>
                  <a:pt x="511302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8204" y="2279904"/>
            <a:ext cx="5113020" cy="0"/>
          </a:xfrm>
          <a:custGeom>
            <a:avLst/>
            <a:gdLst/>
            <a:ahLst/>
            <a:cxnLst/>
            <a:rect l="l" t="t" r="r" b="b"/>
            <a:pathLst>
              <a:path w="5113020">
                <a:moveTo>
                  <a:pt x="0" y="0"/>
                </a:moveTo>
                <a:lnTo>
                  <a:pt x="511302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8204" y="2700527"/>
            <a:ext cx="5113020" cy="0"/>
          </a:xfrm>
          <a:custGeom>
            <a:avLst/>
            <a:gdLst/>
            <a:ahLst/>
            <a:cxnLst/>
            <a:rect l="l" t="t" r="r" b="b"/>
            <a:pathLst>
              <a:path w="5113020">
                <a:moveTo>
                  <a:pt x="0" y="0"/>
                </a:moveTo>
                <a:lnTo>
                  <a:pt x="511302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8965" y="3160014"/>
            <a:ext cx="5113020" cy="0"/>
          </a:xfrm>
          <a:custGeom>
            <a:avLst/>
            <a:gdLst/>
            <a:ahLst/>
            <a:cxnLst/>
            <a:rect l="l" t="t" r="r" b="b"/>
            <a:pathLst>
              <a:path w="5113020">
                <a:moveTo>
                  <a:pt x="0" y="0"/>
                </a:moveTo>
                <a:lnTo>
                  <a:pt x="511302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4394" y="534162"/>
            <a:ext cx="20320" cy="2626360"/>
          </a:xfrm>
          <a:custGeom>
            <a:avLst/>
            <a:gdLst/>
            <a:ahLst/>
            <a:cxnLst/>
            <a:rect l="l" t="t" r="r" b="b"/>
            <a:pathLst>
              <a:path w="20319" h="2626360">
                <a:moveTo>
                  <a:pt x="0" y="0"/>
                </a:moveTo>
                <a:lnTo>
                  <a:pt x="19811" y="2625852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52272" y="533400"/>
            <a:ext cx="0" cy="2626360"/>
          </a:xfrm>
          <a:custGeom>
            <a:avLst/>
            <a:gdLst/>
            <a:ahLst/>
            <a:cxnLst/>
            <a:rect l="l" t="t" r="r" b="b"/>
            <a:pathLst>
              <a:path h="2626360">
                <a:moveTo>
                  <a:pt x="0" y="0"/>
                </a:moveTo>
                <a:lnTo>
                  <a:pt x="0" y="262585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464307" y="533400"/>
            <a:ext cx="0" cy="2626360"/>
          </a:xfrm>
          <a:custGeom>
            <a:avLst/>
            <a:gdLst/>
            <a:ahLst/>
            <a:cxnLst/>
            <a:rect l="l" t="t" r="r" b="b"/>
            <a:pathLst>
              <a:path h="2626360">
                <a:moveTo>
                  <a:pt x="0" y="0"/>
                </a:moveTo>
                <a:lnTo>
                  <a:pt x="0" y="262585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221985" y="534162"/>
            <a:ext cx="0" cy="2626360"/>
          </a:xfrm>
          <a:custGeom>
            <a:avLst/>
            <a:gdLst/>
            <a:ahLst/>
            <a:cxnLst/>
            <a:rect l="l" t="t" r="r" b="b"/>
            <a:pathLst>
              <a:path h="2626360">
                <a:moveTo>
                  <a:pt x="0" y="0"/>
                </a:moveTo>
                <a:lnTo>
                  <a:pt x="0" y="2625852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5332666" y="1929574"/>
          <a:ext cx="3695700" cy="4753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1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43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in(B1)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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out(B1)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{d1(i),d2(j)</a:t>
                      </a:r>
                      <a:r>
                        <a:rPr sz="24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,d3(a)}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in(B2)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7493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{d1(i),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d2(j),d3(a)</a:t>
                      </a:r>
                      <a:r>
                        <a:rPr sz="24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  d7(j)}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out(B2)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{d4(i),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d5(j),d3(a)}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in(B3)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{d4(i),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d5(j),d3(a)}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out(B3)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{d4(i), d5(j),</a:t>
                      </a:r>
                      <a:r>
                        <a:rPr sz="2400" b="1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d6(a)}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143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in(B4)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{d4(i),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d5(j),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d3(a),d6(a)}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372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out(B4)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15113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{d7(j),d4(i),</a:t>
                      </a:r>
                      <a:r>
                        <a:rPr sz="2400" b="1" spc="-10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d3(a),  d6(a)}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" name="object 31"/>
          <p:cNvSpPr/>
          <p:nvPr/>
        </p:nvSpPr>
        <p:spPr>
          <a:xfrm>
            <a:off x="8139683" y="522731"/>
            <a:ext cx="469900" cy="466725"/>
          </a:xfrm>
          <a:custGeom>
            <a:avLst/>
            <a:gdLst/>
            <a:ahLst/>
            <a:cxnLst/>
            <a:rect l="l" t="t" r="r" b="b"/>
            <a:pathLst>
              <a:path w="469900" h="466725">
                <a:moveTo>
                  <a:pt x="234696" y="0"/>
                </a:moveTo>
                <a:lnTo>
                  <a:pt x="187382" y="4737"/>
                </a:lnTo>
                <a:lnTo>
                  <a:pt x="143321" y="18323"/>
                </a:lnTo>
                <a:lnTo>
                  <a:pt x="103454" y="39821"/>
                </a:lnTo>
                <a:lnTo>
                  <a:pt x="68722" y="68294"/>
                </a:lnTo>
                <a:lnTo>
                  <a:pt x="40069" y="102803"/>
                </a:lnTo>
                <a:lnTo>
                  <a:pt x="18436" y="142410"/>
                </a:lnTo>
                <a:lnTo>
                  <a:pt x="4766" y="186179"/>
                </a:lnTo>
                <a:lnTo>
                  <a:pt x="0" y="233171"/>
                </a:lnTo>
                <a:lnTo>
                  <a:pt x="4766" y="280164"/>
                </a:lnTo>
                <a:lnTo>
                  <a:pt x="18436" y="323933"/>
                </a:lnTo>
                <a:lnTo>
                  <a:pt x="40069" y="363540"/>
                </a:lnTo>
                <a:lnTo>
                  <a:pt x="68722" y="398049"/>
                </a:lnTo>
                <a:lnTo>
                  <a:pt x="103454" y="426522"/>
                </a:lnTo>
                <a:lnTo>
                  <a:pt x="143321" y="448020"/>
                </a:lnTo>
                <a:lnTo>
                  <a:pt x="187382" y="461606"/>
                </a:lnTo>
                <a:lnTo>
                  <a:pt x="234696" y="466343"/>
                </a:lnTo>
                <a:lnTo>
                  <a:pt x="282009" y="461606"/>
                </a:lnTo>
                <a:lnTo>
                  <a:pt x="326070" y="448020"/>
                </a:lnTo>
                <a:lnTo>
                  <a:pt x="365937" y="426522"/>
                </a:lnTo>
                <a:lnTo>
                  <a:pt x="400669" y="398049"/>
                </a:lnTo>
                <a:lnTo>
                  <a:pt x="429322" y="363540"/>
                </a:lnTo>
                <a:lnTo>
                  <a:pt x="450955" y="323933"/>
                </a:lnTo>
                <a:lnTo>
                  <a:pt x="464625" y="280164"/>
                </a:lnTo>
                <a:lnTo>
                  <a:pt x="469392" y="233171"/>
                </a:lnTo>
                <a:lnTo>
                  <a:pt x="464625" y="186179"/>
                </a:lnTo>
                <a:lnTo>
                  <a:pt x="450955" y="142410"/>
                </a:lnTo>
                <a:lnTo>
                  <a:pt x="429322" y="102803"/>
                </a:lnTo>
                <a:lnTo>
                  <a:pt x="400669" y="68294"/>
                </a:lnTo>
                <a:lnTo>
                  <a:pt x="365937" y="39821"/>
                </a:lnTo>
                <a:lnTo>
                  <a:pt x="326070" y="18323"/>
                </a:lnTo>
                <a:lnTo>
                  <a:pt x="282009" y="4737"/>
                </a:lnTo>
                <a:lnTo>
                  <a:pt x="234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139683" y="522731"/>
            <a:ext cx="469900" cy="466725"/>
          </a:xfrm>
          <a:custGeom>
            <a:avLst/>
            <a:gdLst/>
            <a:ahLst/>
            <a:cxnLst/>
            <a:rect l="l" t="t" r="r" b="b"/>
            <a:pathLst>
              <a:path w="469900" h="466725">
                <a:moveTo>
                  <a:pt x="0" y="233171"/>
                </a:moveTo>
                <a:lnTo>
                  <a:pt x="4766" y="186179"/>
                </a:lnTo>
                <a:lnTo>
                  <a:pt x="18436" y="142410"/>
                </a:lnTo>
                <a:lnTo>
                  <a:pt x="40069" y="102803"/>
                </a:lnTo>
                <a:lnTo>
                  <a:pt x="68722" y="68294"/>
                </a:lnTo>
                <a:lnTo>
                  <a:pt x="103454" y="39821"/>
                </a:lnTo>
                <a:lnTo>
                  <a:pt x="143321" y="18323"/>
                </a:lnTo>
                <a:lnTo>
                  <a:pt x="187382" y="4737"/>
                </a:lnTo>
                <a:lnTo>
                  <a:pt x="234696" y="0"/>
                </a:lnTo>
                <a:lnTo>
                  <a:pt x="282009" y="4737"/>
                </a:lnTo>
                <a:lnTo>
                  <a:pt x="326070" y="18323"/>
                </a:lnTo>
                <a:lnTo>
                  <a:pt x="365937" y="39821"/>
                </a:lnTo>
                <a:lnTo>
                  <a:pt x="400669" y="68294"/>
                </a:lnTo>
                <a:lnTo>
                  <a:pt x="429322" y="102803"/>
                </a:lnTo>
                <a:lnTo>
                  <a:pt x="450955" y="142410"/>
                </a:lnTo>
                <a:lnTo>
                  <a:pt x="464625" y="186179"/>
                </a:lnTo>
                <a:lnTo>
                  <a:pt x="469392" y="233171"/>
                </a:lnTo>
                <a:lnTo>
                  <a:pt x="464625" y="280164"/>
                </a:lnTo>
                <a:lnTo>
                  <a:pt x="450955" y="323933"/>
                </a:lnTo>
                <a:lnTo>
                  <a:pt x="429322" y="363540"/>
                </a:lnTo>
                <a:lnTo>
                  <a:pt x="400669" y="398049"/>
                </a:lnTo>
                <a:lnTo>
                  <a:pt x="365937" y="426522"/>
                </a:lnTo>
                <a:lnTo>
                  <a:pt x="326070" y="448020"/>
                </a:lnTo>
                <a:lnTo>
                  <a:pt x="282009" y="461606"/>
                </a:lnTo>
                <a:lnTo>
                  <a:pt x="234696" y="466343"/>
                </a:lnTo>
                <a:lnTo>
                  <a:pt x="187382" y="461606"/>
                </a:lnTo>
                <a:lnTo>
                  <a:pt x="143321" y="448020"/>
                </a:lnTo>
                <a:lnTo>
                  <a:pt x="103454" y="426522"/>
                </a:lnTo>
                <a:lnTo>
                  <a:pt x="68722" y="398049"/>
                </a:lnTo>
                <a:lnTo>
                  <a:pt x="40069" y="363540"/>
                </a:lnTo>
                <a:lnTo>
                  <a:pt x="18436" y="323933"/>
                </a:lnTo>
                <a:lnTo>
                  <a:pt x="4766" y="280164"/>
                </a:lnTo>
                <a:lnTo>
                  <a:pt x="0" y="233171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193913" y="497204"/>
            <a:ext cx="380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99FFCC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20833" dirty="0">
                <a:solidFill>
                  <a:srgbClr val="99FFCC"/>
                </a:solidFill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167116" y="1312163"/>
            <a:ext cx="471170" cy="513715"/>
          </a:xfrm>
          <a:custGeom>
            <a:avLst/>
            <a:gdLst/>
            <a:ahLst/>
            <a:cxnLst/>
            <a:rect l="l" t="t" r="r" b="b"/>
            <a:pathLst>
              <a:path w="471170" h="513714">
                <a:moveTo>
                  <a:pt x="235457" y="0"/>
                </a:moveTo>
                <a:lnTo>
                  <a:pt x="188002" y="5215"/>
                </a:lnTo>
                <a:lnTo>
                  <a:pt x="143803" y="20175"/>
                </a:lnTo>
                <a:lnTo>
                  <a:pt x="103807" y="43846"/>
                </a:lnTo>
                <a:lnTo>
                  <a:pt x="68961" y="75199"/>
                </a:lnTo>
                <a:lnTo>
                  <a:pt x="40210" y="113202"/>
                </a:lnTo>
                <a:lnTo>
                  <a:pt x="18502" y="156823"/>
                </a:lnTo>
                <a:lnTo>
                  <a:pt x="4783" y="205030"/>
                </a:lnTo>
                <a:lnTo>
                  <a:pt x="0" y="256794"/>
                </a:lnTo>
                <a:lnTo>
                  <a:pt x="4783" y="308557"/>
                </a:lnTo>
                <a:lnTo>
                  <a:pt x="18502" y="356764"/>
                </a:lnTo>
                <a:lnTo>
                  <a:pt x="40210" y="400385"/>
                </a:lnTo>
                <a:lnTo>
                  <a:pt x="68961" y="438388"/>
                </a:lnTo>
                <a:lnTo>
                  <a:pt x="103807" y="469741"/>
                </a:lnTo>
                <a:lnTo>
                  <a:pt x="143803" y="493412"/>
                </a:lnTo>
                <a:lnTo>
                  <a:pt x="188002" y="508372"/>
                </a:lnTo>
                <a:lnTo>
                  <a:pt x="235457" y="513588"/>
                </a:lnTo>
                <a:lnTo>
                  <a:pt x="282913" y="508372"/>
                </a:lnTo>
                <a:lnTo>
                  <a:pt x="327112" y="493412"/>
                </a:lnTo>
                <a:lnTo>
                  <a:pt x="367108" y="469741"/>
                </a:lnTo>
                <a:lnTo>
                  <a:pt x="401954" y="438388"/>
                </a:lnTo>
                <a:lnTo>
                  <a:pt x="430705" y="400385"/>
                </a:lnTo>
                <a:lnTo>
                  <a:pt x="452413" y="356764"/>
                </a:lnTo>
                <a:lnTo>
                  <a:pt x="466132" y="308557"/>
                </a:lnTo>
                <a:lnTo>
                  <a:pt x="470915" y="256794"/>
                </a:lnTo>
                <a:lnTo>
                  <a:pt x="466132" y="205030"/>
                </a:lnTo>
                <a:lnTo>
                  <a:pt x="452413" y="156823"/>
                </a:lnTo>
                <a:lnTo>
                  <a:pt x="430705" y="113202"/>
                </a:lnTo>
                <a:lnTo>
                  <a:pt x="401954" y="75199"/>
                </a:lnTo>
                <a:lnTo>
                  <a:pt x="367108" y="43846"/>
                </a:lnTo>
                <a:lnTo>
                  <a:pt x="327112" y="20175"/>
                </a:lnTo>
                <a:lnTo>
                  <a:pt x="282913" y="5215"/>
                </a:lnTo>
                <a:lnTo>
                  <a:pt x="2354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167116" y="1312163"/>
            <a:ext cx="471170" cy="513715"/>
          </a:xfrm>
          <a:custGeom>
            <a:avLst/>
            <a:gdLst/>
            <a:ahLst/>
            <a:cxnLst/>
            <a:rect l="l" t="t" r="r" b="b"/>
            <a:pathLst>
              <a:path w="471170" h="513714">
                <a:moveTo>
                  <a:pt x="0" y="256794"/>
                </a:moveTo>
                <a:lnTo>
                  <a:pt x="4783" y="205030"/>
                </a:lnTo>
                <a:lnTo>
                  <a:pt x="18502" y="156823"/>
                </a:lnTo>
                <a:lnTo>
                  <a:pt x="40210" y="113202"/>
                </a:lnTo>
                <a:lnTo>
                  <a:pt x="68961" y="75199"/>
                </a:lnTo>
                <a:lnTo>
                  <a:pt x="103807" y="43846"/>
                </a:lnTo>
                <a:lnTo>
                  <a:pt x="143803" y="20175"/>
                </a:lnTo>
                <a:lnTo>
                  <a:pt x="188002" y="5215"/>
                </a:lnTo>
                <a:lnTo>
                  <a:pt x="235457" y="0"/>
                </a:lnTo>
                <a:lnTo>
                  <a:pt x="282913" y="5215"/>
                </a:lnTo>
                <a:lnTo>
                  <a:pt x="327112" y="20175"/>
                </a:lnTo>
                <a:lnTo>
                  <a:pt x="367108" y="43846"/>
                </a:lnTo>
                <a:lnTo>
                  <a:pt x="401954" y="75199"/>
                </a:lnTo>
                <a:lnTo>
                  <a:pt x="430705" y="113202"/>
                </a:lnTo>
                <a:lnTo>
                  <a:pt x="452413" y="156823"/>
                </a:lnTo>
                <a:lnTo>
                  <a:pt x="466132" y="205030"/>
                </a:lnTo>
                <a:lnTo>
                  <a:pt x="470915" y="256794"/>
                </a:lnTo>
                <a:lnTo>
                  <a:pt x="466132" y="308557"/>
                </a:lnTo>
                <a:lnTo>
                  <a:pt x="452413" y="356764"/>
                </a:lnTo>
                <a:lnTo>
                  <a:pt x="430705" y="400385"/>
                </a:lnTo>
                <a:lnTo>
                  <a:pt x="401954" y="438388"/>
                </a:lnTo>
                <a:lnTo>
                  <a:pt x="367108" y="469741"/>
                </a:lnTo>
                <a:lnTo>
                  <a:pt x="327112" y="493412"/>
                </a:lnTo>
                <a:lnTo>
                  <a:pt x="282913" y="508372"/>
                </a:lnTo>
                <a:lnTo>
                  <a:pt x="235457" y="513588"/>
                </a:lnTo>
                <a:lnTo>
                  <a:pt x="188002" y="508372"/>
                </a:lnTo>
                <a:lnTo>
                  <a:pt x="143803" y="493412"/>
                </a:lnTo>
                <a:lnTo>
                  <a:pt x="103807" y="469741"/>
                </a:lnTo>
                <a:lnTo>
                  <a:pt x="68961" y="438388"/>
                </a:lnTo>
                <a:lnTo>
                  <a:pt x="40210" y="400385"/>
                </a:lnTo>
                <a:lnTo>
                  <a:pt x="18502" y="356764"/>
                </a:lnTo>
                <a:lnTo>
                  <a:pt x="4783" y="308557"/>
                </a:lnTo>
                <a:lnTo>
                  <a:pt x="0" y="256794"/>
                </a:lnTo>
                <a:close/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212835" y="1367409"/>
            <a:ext cx="380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99FFCC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20833" dirty="0">
                <a:solidFill>
                  <a:srgbClr val="99FFCC"/>
                </a:solidFill>
                <a:latin typeface="Times New Roman"/>
                <a:cs typeface="Times New Roman"/>
              </a:rPr>
              <a:t>4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937247" y="918972"/>
            <a:ext cx="469900" cy="513715"/>
          </a:xfrm>
          <a:custGeom>
            <a:avLst/>
            <a:gdLst/>
            <a:ahLst/>
            <a:cxnLst/>
            <a:rect l="l" t="t" r="r" b="b"/>
            <a:pathLst>
              <a:path w="469900" h="513715">
                <a:moveTo>
                  <a:pt x="234696" y="0"/>
                </a:moveTo>
                <a:lnTo>
                  <a:pt x="187382" y="5215"/>
                </a:lnTo>
                <a:lnTo>
                  <a:pt x="143321" y="20175"/>
                </a:lnTo>
                <a:lnTo>
                  <a:pt x="103454" y="43846"/>
                </a:lnTo>
                <a:lnTo>
                  <a:pt x="68722" y="75199"/>
                </a:lnTo>
                <a:lnTo>
                  <a:pt x="40069" y="113202"/>
                </a:lnTo>
                <a:lnTo>
                  <a:pt x="18436" y="156823"/>
                </a:lnTo>
                <a:lnTo>
                  <a:pt x="4766" y="205030"/>
                </a:lnTo>
                <a:lnTo>
                  <a:pt x="0" y="256793"/>
                </a:lnTo>
                <a:lnTo>
                  <a:pt x="4766" y="308557"/>
                </a:lnTo>
                <a:lnTo>
                  <a:pt x="18436" y="356764"/>
                </a:lnTo>
                <a:lnTo>
                  <a:pt x="40069" y="400385"/>
                </a:lnTo>
                <a:lnTo>
                  <a:pt x="68722" y="438388"/>
                </a:lnTo>
                <a:lnTo>
                  <a:pt x="103454" y="469741"/>
                </a:lnTo>
                <a:lnTo>
                  <a:pt x="143321" y="493412"/>
                </a:lnTo>
                <a:lnTo>
                  <a:pt x="187382" y="508372"/>
                </a:lnTo>
                <a:lnTo>
                  <a:pt x="234696" y="513588"/>
                </a:lnTo>
                <a:lnTo>
                  <a:pt x="282009" y="508372"/>
                </a:lnTo>
                <a:lnTo>
                  <a:pt x="326070" y="493412"/>
                </a:lnTo>
                <a:lnTo>
                  <a:pt x="365937" y="469741"/>
                </a:lnTo>
                <a:lnTo>
                  <a:pt x="400669" y="438388"/>
                </a:lnTo>
                <a:lnTo>
                  <a:pt x="429322" y="400385"/>
                </a:lnTo>
                <a:lnTo>
                  <a:pt x="450955" y="356764"/>
                </a:lnTo>
                <a:lnTo>
                  <a:pt x="464625" y="308557"/>
                </a:lnTo>
                <a:lnTo>
                  <a:pt x="469392" y="256793"/>
                </a:lnTo>
                <a:lnTo>
                  <a:pt x="464625" y="205030"/>
                </a:lnTo>
                <a:lnTo>
                  <a:pt x="450955" y="156823"/>
                </a:lnTo>
                <a:lnTo>
                  <a:pt x="429322" y="113202"/>
                </a:lnTo>
                <a:lnTo>
                  <a:pt x="400669" y="75199"/>
                </a:lnTo>
                <a:lnTo>
                  <a:pt x="365937" y="43846"/>
                </a:lnTo>
                <a:lnTo>
                  <a:pt x="326070" y="20175"/>
                </a:lnTo>
                <a:lnTo>
                  <a:pt x="282009" y="5215"/>
                </a:lnTo>
                <a:lnTo>
                  <a:pt x="234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937247" y="918972"/>
            <a:ext cx="469900" cy="513715"/>
          </a:xfrm>
          <a:custGeom>
            <a:avLst/>
            <a:gdLst/>
            <a:ahLst/>
            <a:cxnLst/>
            <a:rect l="l" t="t" r="r" b="b"/>
            <a:pathLst>
              <a:path w="469900" h="513715">
                <a:moveTo>
                  <a:pt x="0" y="256793"/>
                </a:moveTo>
                <a:lnTo>
                  <a:pt x="4766" y="205030"/>
                </a:lnTo>
                <a:lnTo>
                  <a:pt x="18436" y="156823"/>
                </a:lnTo>
                <a:lnTo>
                  <a:pt x="40069" y="113202"/>
                </a:lnTo>
                <a:lnTo>
                  <a:pt x="68722" y="75199"/>
                </a:lnTo>
                <a:lnTo>
                  <a:pt x="103454" y="43846"/>
                </a:lnTo>
                <a:lnTo>
                  <a:pt x="143321" y="20175"/>
                </a:lnTo>
                <a:lnTo>
                  <a:pt x="187382" y="5215"/>
                </a:lnTo>
                <a:lnTo>
                  <a:pt x="234696" y="0"/>
                </a:lnTo>
                <a:lnTo>
                  <a:pt x="282009" y="5215"/>
                </a:lnTo>
                <a:lnTo>
                  <a:pt x="326070" y="20175"/>
                </a:lnTo>
                <a:lnTo>
                  <a:pt x="365937" y="43846"/>
                </a:lnTo>
                <a:lnTo>
                  <a:pt x="400669" y="75199"/>
                </a:lnTo>
                <a:lnTo>
                  <a:pt x="429322" y="113202"/>
                </a:lnTo>
                <a:lnTo>
                  <a:pt x="450955" y="156823"/>
                </a:lnTo>
                <a:lnTo>
                  <a:pt x="464625" y="205030"/>
                </a:lnTo>
                <a:lnTo>
                  <a:pt x="469392" y="256793"/>
                </a:lnTo>
                <a:lnTo>
                  <a:pt x="464625" y="308557"/>
                </a:lnTo>
                <a:lnTo>
                  <a:pt x="450955" y="356764"/>
                </a:lnTo>
                <a:lnTo>
                  <a:pt x="429322" y="400385"/>
                </a:lnTo>
                <a:lnTo>
                  <a:pt x="400669" y="438388"/>
                </a:lnTo>
                <a:lnTo>
                  <a:pt x="365937" y="469741"/>
                </a:lnTo>
                <a:lnTo>
                  <a:pt x="326070" y="493412"/>
                </a:lnTo>
                <a:lnTo>
                  <a:pt x="282009" y="508372"/>
                </a:lnTo>
                <a:lnTo>
                  <a:pt x="234696" y="513588"/>
                </a:lnTo>
                <a:lnTo>
                  <a:pt x="187382" y="508372"/>
                </a:lnTo>
                <a:lnTo>
                  <a:pt x="143321" y="493412"/>
                </a:lnTo>
                <a:lnTo>
                  <a:pt x="103454" y="469741"/>
                </a:lnTo>
                <a:lnTo>
                  <a:pt x="68722" y="438388"/>
                </a:lnTo>
                <a:lnTo>
                  <a:pt x="40069" y="400385"/>
                </a:lnTo>
                <a:lnTo>
                  <a:pt x="18436" y="356764"/>
                </a:lnTo>
                <a:lnTo>
                  <a:pt x="4766" y="308557"/>
                </a:lnTo>
                <a:lnTo>
                  <a:pt x="0" y="256793"/>
                </a:lnTo>
                <a:close/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775959" y="918972"/>
            <a:ext cx="469900" cy="513715"/>
          </a:xfrm>
          <a:custGeom>
            <a:avLst/>
            <a:gdLst/>
            <a:ahLst/>
            <a:cxnLst/>
            <a:rect l="l" t="t" r="r" b="b"/>
            <a:pathLst>
              <a:path w="469900" h="513715">
                <a:moveTo>
                  <a:pt x="234695" y="0"/>
                </a:moveTo>
                <a:lnTo>
                  <a:pt x="187382" y="5215"/>
                </a:lnTo>
                <a:lnTo>
                  <a:pt x="143321" y="20175"/>
                </a:lnTo>
                <a:lnTo>
                  <a:pt x="103454" y="43846"/>
                </a:lnTo>
                <a:lnTo>
                  <a:pt x="68722" y="75199"/>
                </a:lnTo>
                <a:lnTo>
                  <a:pt x="40069" y="113202"/>
                </a:lnTo>
                <a:lnTo>
                  <a:pt x="18436" y="156823"/>
                </a:lnTo>
                <a:lnTo>
                  <a:pt x="4766" y="205030"/>
                </a:lnTo>
                <a:lnTo>
                  <a:pt x="0" y="256793"/>
                </a:lnTo>
                <a:lnTo>
                  <a:pt x="4766" y="308557"/>
                </a:lnTo>
                <a:lnTo>
                  <a:pt x="18436" y="356764"/>
                </a:lnTo>
                <a:lnTo>
                  <a:pt x="40069" y="400385"/>
                </a:lnTo>
                <a:lnTo>
                  <a:pt x="68722" y="438388"/>
                </a:lnTo>
                <a:lnTo>
                  <a:pt x="103454" y="469741"/>
                </a:lnTo>
                <a:lnTo>
                  <a:pt x="143321" y="493412"/>
                </a:lnTo>
                <a:lnTo>
                  <a:pt x="187382" y="508372"/>
                </a:lnTo>
                <a:lnTo>
                  <a:pt x="234695" y="513588"/>
                </a:lnTo>
                <a:lnTo>
                  <a:pt x="282009" y="508372"/>
                </a:lnTo>
                <a:lnTo>
                  <a:pt x="326070" y="493412"/>
                </a:lnTo>
                <a:lnTo>
                  <a:pt x="365937" y="469741"/>
                </a:lnTo>
                <a:lnTo>
                  <a:pt x="400669" y="438388"/>
                </a:lnTo>
                <a:lnTo>
                  <a:pt x="429322" y="400385"/>
                </a:lnTo>
                <a:lnTo>
                  <a:pt x="450955" y="356764"/>
                </a:lnTo>
                <a:lnTo>
                  <a:pt x="464625" y="308557"/>
                </a:lnTo>
                <a:lnTo>
                  <a:pt x="469391" y="256793"/>
                </a:lnTo>
                <a:lnTo>
                  <a:pt x="464625" y="205030"/>
                </a:lnTo>
                <a:lnTo>
                  <a:pt x="450955" y="156823"/>
                </a:lnTo>
                <a:lnTo>
                  <a:pt x="429322" y="113202"/>
                </a:lnTo>
                <a:lnTo>
                  <a:pt x="400669" y="75199"/>
                </a:lnTo>
                <a:lnTo>
                  <a:pt x="365937" y="43846"/>
                </a:lnTo>
                <a:lnTo>
                  <a:pt x="326070" y="20175"/>
                </a:lnTo>
                <a:lnTo>
                  <a:pt x="282009" y="5215"/>
                </a:lnTo>
                <a:lnTo>
                  <a:pt x="234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75959" y="918972"/>
            <a:ext cx="469900" cy="513715"/>
          </a:xfrm>
          <a:custGeom>
            <a:avLst/>
            <a:gdLst/>
            <a:ahLst/>
            <a:cxnLst/>
            <a:rect l="l" t="t" r="r" b="b"/>
            <a:pathLst>
              <a:path w="469900" h="513715">
                <a:moveTo>
                  <a:pt x="0" y="256793"/>
                </a:moveTo>
                <a:lnTo>
                  <a:pt x="4766" y="205030"/>
                </a:lnTo>
                <a:lnTo>
                  <a:pt x="18436" y="156823"/>
                </a:lnTo>
                <a:lnTo>
                  <a:pt x="40069" y="113202"/>
                </a:lnTo>
                <a:lnTo>
                  <a:pt x="68722" y="75199"/>
                </a:lnTo>
                <a:lnTo>
                  <a:pt x="103454" y="43846"/>
                </a:lnTo>
                <a:lnTo>
                  <a:pt x="143321" y="20175"/>
                </a:lnTo>
                <a:lnTo>
                  <a:pt x="187382" y="5215"/>
                </a:lnTo>
                <a:lnTo>
                  <a:pt x="234695" y="0"/>
                </a:lnTo>
                <a:lnTo>
                  <a:pt x="282009" y="5215"/>
                </a:lnTo>
                <a:lnTo>
                  <a:pt x="326070" y="20175"/>
                </a:lnTo>
                <a:lnTo>
                  <a:pt x="365937" y="43846"/>
                </a:lnTo>
                <a:lnTo>
                  <a:pt x="400669" y="75199"/>
                </a:lnTo>
                <a:lnTo>
                  <a:pt x="429322" y="113202"/>
                </a:lnTo>
                <a:lnTo>
                  <a:pt x="450955" y="156823"/>
                </a:lnTo>
                <a:lnTo>
                  <a:pt x="464625" y="205030"/>
                </a:lnTo>
                <a:lnTo>
                  <a:pt x="469391" y="256793"/>
                </a:lnTo>
                <a:lnTo>
                  <a:pt x="464625" y="308557"/>
                </a:lnTo>
                <a:lnTo>
                  <a:pt x="450955" y="356764"/>
                </a:lnTo>
                <a:lnTo>
                  <a:pt x="429322" y="400385"/>
                </a:lnTo>
                <a:lnTo>
                  <a:pt x="400669" y="438388"/>
                </a:lnTo>
                <a:lnTo>
                  <a:pt x="365937" y="469741"/>
                </a:lnTo>
                <a:lnTo>
                  <a:pt x="326070" y="493412"/>
                </a:lnTo>
                <a:lnTo>
                  <a:pt x="282009" y="508372"/>
                </a:lnTo>
                <a:lnTo>
                  <a:pt x="234695" y="513588"/>
                </a:lnTo>
                <a:lnTo>
                  <a:pt x="187382" y="508372"/>
                </a:lnTo>
                <a:lnTo>
                  <a:pt x="143321" y="493412"/>
                </a:lnTo>
                <a:lnTo>
                  <a:pt x="103454" y="469741"/>
                </a:lnTo>
                <a:lnTo>
                  <a:pt x="68722" y="438388"/>
                </a:lnTo>
                <a:lnTo>
                  <a:pt x="40069" y="400385"/>
                </a:lnTo>
                <a:lnTo>
                  <a:pt x="18436" y="356764"/>
                </a:lnTo>
                <a:lnTo>
                  <a:pt x="4766" y="308557"/>
                </a:lnTo>
                <a:lnTo>
                  <a:pt x="0" y="256793"/>
                </a:lnTo>
                <a:close/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820028" y="935177"/>
            <a:ext cx="15398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209675" algn="l"/>
              </a:tabLst>
            </a:pPr>
            <a:r>
              <a:rPr sz="3600" b="1" spc="-7" baseline="1157" dirty="0">
                <a:solidFill>
                  <a:srgbClr val="99FFCC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19097" dirty="0">
                <a:solidFill>
                  <a:srgbClr val="99FFCC"/>
                </a:solidFill>
                <a:latin typeface="Times New Roman"/>
                <a:cs typeface="Times New Roman"/>
              </a:rPr>
              <a:t>1	</a:t>
            </a:r>
            <a:r>
              <a:rPr sz="2400" b="1" spc="-5" dirty="0">
                <a:solidFill>
                  <a:srgbClr val="99FFCC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20833" dirty="0">
                <a:solidFill>
                  <a:srgbClr val="99FFCC"/>
                </a:solidFill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275070" y="1120139"/>
            <a:ext cx="635000" cy="114300"/>
          </a:xfrm>
          <a:custGeom>
            <a:avLst/>
            <a:gdLst/>
            <a:ahLst/>
            <a:cxnLst/>
            <a:rect l="l" t="t" r="r" b="b"/>
            <a:pathLst>
              <a:path w="635000" h="114300">
                <a:moveTo>
                  <a:pt x="520700" y="0"/>
                </a:moveTo>
                <a:lnTo>
                  <a:pt x="520700" y="114300"/>
                </a:lnTo>
                <a:lnTo>
                  <a:pt x="596900" y="76200"/>
                </a:lnTo>
                <a:lnTo>
                  <a:pt x="539750" y="76200"/>
                </a:lnTo>
                <a:lnTo>
                  <a:pt x="539750" y="38100"/>
                </a:lnTo>
                <a:lnTo>
                  <a:pt x="596900" y="38100"/>
                </a:lnTo>
                <a:lnTo>
                  <a:pt x="520700" y="0"/>
                </a:lnTo>
                <a:close/>
              </a:path>
              <a:path w="635000" h="114300">
                <a:moveTo>
                  <a:pt x="5207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20700" y="76200"/>
                </a:lnTo>
                <a:lnTo>
                  <a:pt x="520700" y="38100"/>
                </a:lnTo>
                <a:close/>
              </a:path>
              <a:path w="635000" h="114300">
                <a:moveTo>
                  <a:pt x="596900" y="38100"/>
                </a:moveTo>
                <a:lnTo>
                  <a:pt x="539750" y="38100"/>
                </a:lnTo>
                <a:lnTo>
                  <a:pt x="539750" y="76200"/>
                </a:lnTo>
                <a:lnTo>
                  <a:pt x="596900" y="76200"/>
                </a:lnTo>
                <a:lnTo>
                  <a:pt x="635000" y="57150"/>
                </a:lnTo>
                <a:lnTo>
                  <a:pt x="5969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335393" y="731519"/>
            <a:ext cx="776605" cy="253365"/>
          </a:xfrm>
          <a:custGeom>
            <a:avLst/>
            <a:gdLst/>
            <a:ahLst/>
            <a:cxnLst/>
            <a:rect l="l" t="t" r="r" b="b"/>
            <a:pathLst>
              <a:path w="776604" h="253365">
                <a:moveTo>
                  <a:pt x="661123" y="36760"/>
                </a:moveTo>
                <a:lnTo>
                  <a:pt x="0" y="216280"/>
                </a:lnTo>
                <a:lnTo>
                  <a:pt x="9905" y="253110"/>
                </a:lnTo>
                <a:lnTo>
                  <a:pt x="671107" y="73479"/>
                </a:lnTo>
                <a:lnTo>
                  <a:pt x="661123" y="36760"/>
                </a:lnTo>
                <a:close/>
              </a:path>
              <a:path w="776604" h="253365">
                <a:moveTo>
                  <a:pt x="769075" y="31750"/>
                </a:moveTo>
                <a:lnTo>
                  <a:pt x="679576" y="31750"/>
                </a:lnTo>
                <a:lnTo>
                  <a:pt x="689609" y="68452"/>
                </a:lnTo>
                <a:lnTo>
                  <a:pt x="671107" y="73479"/>
                </a:lnTo>
                <a:lnTo>
                  <a:pt x="681101" y="110235"/>
                </a:lnTo>
                <a:lnTo>
                  <a:pt x="769075" y="31750"/>
                </a:lnTo>
                <a:close/>
              </a:path>
              <a:path w="776604" h="253365">
                <a:moveTo>
                  <a:pt x="679576" y="31750"/>
                </a:moveTo>
                <a:lnTo>
                  <a:pt x="661123" y="36760"/>
                </a:lnTo>
                <a:lnTo>
                  <a:pt x="671107" y="73479"/>
                </a:lnTo>
                <a:lnTo>
                  <a:pt x="689609" y="68452"/>
                </a:lnTo>
                <a:lnTo>
                  <a:pt x="679576" y="31750"/>
                </a:lnTo>
                <a:close/>
              </a:path>
              <a:path w="776604" h="253365">
                <a:moveTo>
                  <a:pt x="651128" y="0"/>
                </a:moveTo>
                <a:lnTo>
                  <a:pt x="661123" y="36760"/>
                </a:lnTo>
                <a:lnTo>
                  <a:pt x="679576" y="31750"/>
                </a:lnTo>
                <a:lnTo>
                  <a:pt x="769075" y="31750"/>
                </a:lnTo>
                <a:lnTo>
                  <a:pt x="776477" y="25145"/>
                </a:lnTo>
                <a:lnTo>
                  <a:pt x="65112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36028" y="1367536"/>
            <a:ext cx="804545" cy="233045"/>
          </a:xfrm>
          <a:custGeom>
            <a:avLst/>
            <a:gdLst/>
            <a:ahLst/>
            <a:cxnLst/>
            <a:rect l="l" t="t" r="r" b="b"/>
            <a:pathLst>
              <a:path w="804545" h="233044">
                <a:moveTo>
                  <a:pt x="688768" y="195640"/>
                </a:moveTo>
                <a:lnTo>
                  <a:pt x="680212" y="232790"/>
                </a:lnTo>
                <a:lnTo>
                  <a:pt x="804418" y="202691"/>
                </a:lnTo>
                <a:lnTo>
                  <a:pt x="801030" y="199898"/>
                </a:lnTo>
                <a:lnTo>
                  <a:pt x="707263" y="199898"/>
                </a:lnTo>
                <a:lnTo>
                  <a:pt x="688768" y="195640"/>
                </a:lnTo>
                <a:close/>
              </a:path>
              <a:path w="804545" h="233044">
                <a:moveTo>
                  <a:pt x="697315" y="158535"/>
                </a:moveTo>
                <a:lnTo>
                  <a:pt x="688768" y="195640"/>
                </a:lnTo>
                <a:lnTo>
                  <a:pt x="707263" y="199898"/>
                </a:lnTo>
                <a:lnTo>
                  <a:pt x="715899" y="162813"/>
                </a:lnTo>
                <a:lnTo>
                  <a:pt x="697315" y="158535"/>
                </a:lnTo>
                <a:close/>
              </a:path>
              <a:path w="804545" h="233044">
                <a:moveTo>
                  <a:pt x="705866" y="121412"/>
                </a:moveTo>
                <a:lnTo>
                  <a:pt x="697315" y="158535"/>
                </a:lnTo>
                <a:lnTo>
                  <a:pt x="715899" y="162813"/>
                </a:lnTo>
                <a:lnTo>
                  <a:pt x="707263" y="199898"/>
                </a:lnTo>
                <a:lnTo>
                  <a:pt x="801030" y="199898"/>
                </a:lnTo>
                <a:lnTo>
                  <a:pt x="705866" y="121412"/>
                </a:lnTo>
                <a:close/>
              </a:path>
              <a:path w="804545" h="233044">
                <a:moveTo>
                  <a:pt x="8636" y="0"/>
                </a:moveTo>
                <a:lnTo>
                  <a:pt x="0" y="37084"/>
                </a:lnTo>
                <a:lnTo>
                  <a:pt x="688768" y="195640"/>
                </a:lnTo>
                <a:lnTo>
                  <a:pt x="697315" y="158535"/>
                </a:lnTo>
                <a:lnTo>
                  <a:pt x="86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55815" y="1462277"/>
            <a:ext cx="1089025" cy="346075"/>
          </a:xfrm>
          <a:custGeom>
            <a:avLst/>
            <a:gdLst/>
            <a:ahLst/>
            <a:cxnLst/>
            <a:rect l="l" t="t" r="r" b="b"/>
            <a:pathLst>
              <a:path w="1089025" h="346075">
                <a:moveTo>
                  <a:pt x="74514" y="101051"/>
                </a:moveTo>
                <a:lnTo>
                  <a:pt x="38135" y="113533"/>
                </a:lnTo>
                <a:lnTo>
                  <a:pt x="46100" y="129794"/>
                </a:lnTo>
                <a:lnTo>
                  <a:pt x="46862" y="130937"/>
                </a:lnTo>
                <a:lnTo>
                  <a:pt x="73151" y="161671"/>
                </a:lnTo>
                <a:lnTo>
                  <a:pt x="102869" y="189992"/>
                </a:lnTo>
                <a:lnTo>
                  <a:pt x="136398" y="216662"/>
                </a:lnTo>
                <a:lnTo>
                  <a:pt x="173481" y="241300"/>
                </a:lnTo>
                <a:lnTo>
                  <a:pt x="213486" y="263906"/>
                </a:lnTo>
                <a:lnTo>
                  <a:pt x="256285" y="284225"/>
                </a:lnTo>
                <a:lnTo>
                  <a:pt x="301382" y="302136"/>
                </a:lnTo>
                <a:lnTo>
                  <a:pt x="348614" y="317373"/>
                </a:lnTo>
                <a:lnTo>
                  <a:pt x="397128" y="329564"/>
                </a:lnTo>
                <a:lnTo>
                  <a:pt x="447166" y="338709"/>
                </a:lnTo>
                <a:lnTo>
                  <a:pt x="497839" y="344170"/>
                </a:lnTo>
                <a:lnTo>
                  <a:pt x="548766" y="346075"/>
                </a:lnTo>
                <a:lnTo>
                  <a:pt x="598551" y="346075"/>
                </a:lnTo>
                <a:lnTo>
                  <a:pt x="812418" y="344932"/>
                </a:lnTo>
                <a:lnTo>
                  <a:pt x="834008" y="344550"/>
                </a:lnTo>
                <a:lnTo>
                  <a:pt x="932941" y="343408"/>
                </a:lnTo>
                <a:lnTo>
                  <a:pt x="1035557" y="341122"/>
                </a:lnTo>
                <a:lnTo>
                  <a:pt x="1075689" y="339217"/>
                </a:lnTo>
                <a:lnTo>
                  <a:pt x="1082928" y="338200"/>
                </a:lnTo>
                <a:lnTo>
                  <a:pt x="1084833" y="337947"/>
                </a:lnTo>
                <a:lnTo>
                  <a:pt x="1086611" y="337312"/>
                </a:lnTo>
                <a:lnTo>
                  <a:pt x="1088262" y="336550"/>
                </a:lnTo>
                <a:lnTo>
                  <a:pt x="1089025" y="336169"/>
                </a:lnTo>
                <a:lnTo>
                  <a:pt x="1074980" y="307975"/>
                </a:lnTo>
                <a:lnTo>
                  <a:pt x="548766" y="307975"/>
                </a:lnTo>
                <a:lnTo>
                  <a:pt x="524128" y="307594"/>
                </a:lnTo>
                <a:lnTo>
                  <a:pt x="475995" y="303911"/>
                </a:lnTo>
                <a:lnTo>
                  <a:pt x="428243" y="296925"/>
                </a:lnTo>
                <a:lnTo>
                  <a:pt x="381380" y="286766"/>
                </a:lnTo>
                <a:lnTo>
                  <a:pt x="335787" y="273685"/>
                </a:lnTo>
                <a:lnTo>
                  <a:pt x="291973" y="257937"/>
                </a:lnTo>
                <a:lnTo>
                  <a:pt x="250316" y="239775"/>
                </a:lnTo>
                <a:lnTo>
                  <a:pt x="211200" y="219329"/>
                </a:lnTo>
                <a:lnTo>
                  <a:pt x="175132" y="197104"/>
                </a:lnTo>
                <a:lnTo>
                  <a:pt x="142239" y="173227"/>
                </a:lnTo>
                <a:lnTo>
                  <a:pt x="113156" y="147827"/>
                </a:lnTo>
                <a:lnTo>
                  <a:pt x="80314" y="111760"/>
                </a:lnTo>
                <a:lnTo>
                  <a:pt x="79755" y="111760"/>
                </a:lnTo>
                <a:lnTo>
                  <a:pt x="77469" y="108204"/>
                </a:lnTo>
                <a:lnTo>
                  <a:pt x="78015" y="108204"/>
                </a:lnTo>
                <a:lnTo>
                  <a:pt x="74514" y="101051"/>
                </a:lnTo>
                <a:close/>
              </a:path>
              <a:path w="1089025" h="346075">
                <a:moveTo>
                  <a:pt x="1076705" y="300736"/>
                </a:moveTo>
                <a:lnTo>
                  <a:pt x="1074419" y="301117"/>
                </a:lnTo>
                <a:lnTo>
                  <a:pt x="1071879" y="301244"/>
                </a:lnTo>
                <a:lnTo>
                  <a:pt x="1067180" y="301625"/>
                </a:lnTo>
                <a:lnTo>
                  <a:pt x="1060957" y="302006"/>
                </a:lnTo>
                <a:lnTo>
                  <a:pt x="1057161" y="302136"/>
                </a:lnTo>
                <a:lnTo>
                  <a:pt x="1034160" y="303022"/>
                </a:lnTo>
                <a:lnTo>
                  <a:pt x="949705" y="305054"/>
                </a:lnTo>
                <a:lnTo>
                  <a:pt x="598424" y="307975"/>
                </a:lnTo>
                <a:lnTo>
                  <a:pt x="1074980" y="307975"/>
                </a:lnTo>
                <a:lnTo>
                  <a:pt x="1072196" y="302387"/>
                </a:lnTo>
                <a:lnTo>
                  <a:pt x="1071244" y="302387"/>
                </a:lnTo>
                <a:lnTo>
                  <a:pt x="1072006" y="302006"/>
                </a:lnTo>
                <a:lnTo>
                  <a:pt x="1072505" y="302006"/>
                </a:lnTo>
                <a:lnTo>
                  <a:pt x="1076705" y="300736"/>
                </a:lnTo>
                <a:close/>
              </a:path>
              <a:path w="1089025" h="346075">
                <a:moveTo>
                  <a:pt x="1072006" y="302006"/>
                </a:moveTo>
                <a:lnTo>
                  <a:pt x="1071244" y="302387"/>
                </a:lnTo>
                <a:lnTo>
                  <a:pt x="1072072" y="302136"/>
                </a:lnTo>
                <a:lnTo>
                  <a:pt x="1072006" y="302006"/>
                </a:lnTo>
                <a:close/>
              </a:path>
              <a:path w="1089025" h="346075">
                <a:moveTo>
                  <a:pt x="1072072" y="302136"/>
                </a:moveTo>
                <a:lnTo>
                  <a:pt x="1071244" y="302387"/>
                </a:lnTo>
                <a:lnTo>
                  <a:pt x="1072196" y="302387"/>
                </a:lnTo>
                <a:lnTo>
                  <a:pt x="1072072" y="302136"/>
                </a:lnTo>
                <a:close/>
              </a:path>
              <a:path w="1089025" h="346075">
                <a:moveTo>
                  <a:pt x="1072505" y="302006"/>
                </a:moveTo>
                <a:lnTo>
                  <a:pt x="1072006" y="302006"/>
                </a:lnTo>
                <a:lnTo>
                  <a:pt x="1072072" y="302136"/>
                </a:lnTo>
                <a:lnTo>
                  <a:pt x="1072505" y="302006"/>
                </a:lnTo>
                <a:close/>
              </a:path>
              <a:path w="1089025" h="346075">
                <a:moveTo>
                  <a:pt x="16890" y="0"/>
                </a:moveTo>
                <a:lnTo>
                  <a:pt x="0" y="126619"/>
                </a:lnTo>
                <a:lnTo>
                  <a:pt x="38135" y="113533"/>
                </a:lnTo>
                <a:lnTo>
                  <a:pt x="30733" y="98425"/>
                </a:lnTo>
                <a:lnTo>
                  <a:pt x="65024" y="81661"/>
                </a:lnTo>
                <a:lnTo>
                  <a:pt x="100057" y="81661"/>
                </a:lnTo>
                <a:lnTo>
                  <a:pt x="16890" y="0"/>
                </a:lnTo>
                <a:close/>
              </a:path>
              <a:path w="1089025" h="346075">
                <a:moveTo>
                  <a:pt x="65024" y="81661"/>
                </a:moveTo>
                <a:lnTo>
                  <a:pt x="30733" y="98425"/>
                </a:lnTo>
                <a:lnTo>
                  <a:pt x="38135" y="113533"/>
                </a:lnTo>
                <a:lnTo>
                  <a:pt x="74514" y="101051"/>
                </a:lnTo>
                <a:lnTo>
                  <a:pt x="65024" y="81661"/>
                </a:lnTo>
                <a:close/>
              </a:path>
              <a:path w="1089025" h="346075">
                <a:moveTo>
                  <a:pt x="77469" y="108204"/>
                </a:moveTo>
                <a:lnTo>
                  <a:pt x="79755" y="111760"/>
                </a:lnTo>
                <a:lnTo>
                  <a:pt x="78875" y="109960"/>
                </a:lnTo>
                <a:lnTo>
                  <a:pt x="77469" y="108204"/>
                </a:lnTo>
                <a:close/>
              </a:path>
              <a:path w="1089025" h="346075">
                <a:moveTo>
                  <a:pt x="78875" y="109960"/>
                </a:moveTo>
                <a:lnTo>
                  <a:pt x="79755" y="111760"/>
                </a:lnTo>
                <a:lnTo>
                  <a:pt x="80314" y="111760"/>
                </a:lnTo>
                <a:lnTo>
                  <a:pt x="78875" y="109960"/>
                </a:lnTo>
                <a:close/>
              </a:path>
              <a:path w="1089025" h="346075">
                <a:moveTo>
                  <a:pt x="78015" y="108204"/>
                </a:moveTo>
                <a:lnTo>
                  <a:pt x="77469" y="108204"/>
                </a:lnTo>
                <a:lnTo>
                  <a:pt x="78875" y="109960"/>
                </a:lnTo>
                <a:lnTo>
                  <a:pt x="78015" y="108204"/>
                </a:lnTo>
                <a:close/>
              </a:path>
              <a:path w="1089025" h="346075">
                <a:moveTo>
                  <a:pt x="100057" y="81661"/>
                </a:moveTo>
                <a:lnTo>
                  <a:pt x="65024" y="81661"/>
                </a:lnTo>
                <a:lnTo>
                  <a:pt x="74514" y="101051"/>
                </a:lnTo>
                <a:lnTo>
                  <a:pt x="108076" y="89535"/>
                </a:lnTo>
                <a:lnTo>
                  <a:pt x="100057" y="8166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334756" y="1016761"/>
            <a:ext cx="113664" cy="269240"/>
          </a:xfrm>
          <a:custGeom>
            <a:avLst/>
            <a:gdLst/>
            <a:ahLst/>
            <a:cxnLst/>
            <a:rect l="l" t="t" r="r" b="b"/>
            <a:pathLst>
              <a:path w="113665" h="269240">
                <a:moveTo>
                  <a:pt x="37851" y="157102"/>
                </a:moveTo>
                <a:lnTo>
                  <a:pt x="0" y="161162"/>
                </a:lnTo>
                <a:lnTo>
                  <a:pt x="68961" y="268732"/>
                </a:lnTo>
                <a:lnTo>
                  <a:pt x="103567" y="176022"/>
                </a:lnTo>
                <a:lnTo>
                  <a:pt x="39877" y="176022"/>
                </a:lnTo>
                <a:lnTo>
                  <a:pt x="37851" y="157102"/>
                </a:lnTo>
                <a:close/>
              </a:path>
              <a:path w="113665" h="269240">
                <a:moveTo>
                  <a:pt x="75698" y="153043"/>
                </a:moveTo>
                <a:lnTo>
                  <a:pt x="37851" y="157102"/>
                </a:lnTo>
                <a:lnTo>
                  <a:pt x="39877" y="176022"/>
                </a:lnTo>
                <a:lnTo>
                  <a:pt x="77724" y="171958"/>
                </a:lnTo>
                <a:lnTo>
                  <a:pt x="75698" y="153043"/>
                </a:lnTo>
                <a:close/>
              </a:path>
              <a:path w="113665" h="269240">
                <a:moveTo>
                  <a:pt x="113665" y="148971"/>
                </a:moveTo>
                <a:lnTo>
                  <a:pt x="75698" y="153043"/>
                </a:lnTo>
                <a:lnTo>
                  <a:pt x="77724" y="171958"/>
                </a:lnTo>
                <a:lnTo>
                  <a:pt x="39877" y="176022"/>
                </a:lnTo>
                <a:lnTo>
                  <a:pt x="103567" y="176022"/>
                </a:lnTo>
                <a:lnTo>
                  <a:pt x="113665" y="148971"/>
                </a:lnTo>
                <a:close/>
              </a:path>
              <a:path w="113665" h="269240">
                <a:moveTo>
                  <a:pt x="59309" y="0"/>
                </a:moveTo>
                <a:lnTo>
                  <a:pt x="21463" y="4063"/>
                </a:lnTo>
                <a:lnTo>
                  <a:pt x="37851" y="157102"/>
                </a:lnTo>
                <a:lnTo>
                  <a:pt x="75698" y="153043"/>
                </a:lnTo>
                <a:lnTo>
                  <a:pt x="5930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68287" y="3647059"/>
            <a:ext cx="4403725" cy="0"/>
          </a:xfrm>
          <a:custGeom>
            <a:avLst/>
            <a:gdLst/>
            <a:ahLst/>
            <a:cxnLst/>
            <a:rect l="l" t="t" r="r" b="b"/>
            <a:pathLst>
              <a:path w="4403725">
                <a:moveTo>
                  <a:pt x="0" y="0"/>
                </a:moveTo>
                <a:lnTo>
                  <a:pt x="440372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68287" y="4106417"/>
            <a:ext cx="4403725" cy="0"/>
          </a:xfrm>
          <a:custGeom>
            <a:avLst/>
            <a:gdLst/>
            <a:ahLst/>
            <a:cxnLst/>
            <a:rect l="l" t="t" r="r" b="b"/>
            <a:pathLst>
              <a:path w="4403725">
                <a:moveTo>
                  <a:pt x="0" y="0"/>
                </a:moveTo>
                <a:lnTo>
                  <a:pt x="440372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68287" y="4565903"/>
            <a:ext cx="4403725" cy="0"/>
          </a:xfrm>
          <a:custGeom>
            <a:avLst/>
            <a:gdLst/>
            <a:ahLst/>
            <a:cxnLst/>
            <a:rect l="l" t="t" r="r" b="b"/>
            <a:pathLst>
              <a:path w="4403725">
                <a:moveTo>
                  <a:pt x="0" y="0"/>
                </a:moveTo>
                <a:lnTo>
                  <a:pt x="440372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68287" y="5025263"/>
            <a:ext cx="4403725" cy="0"/>
          </a:xfrm>
          <a:custGeom>
            <a:avLst/>
            <a:gdLst/>
            <a:ahLst/>
            <a:cxnLst/>
            <a:rect l="l" t="t" r="r" b="b"/>
            <a:pathLst>
              <a:path w="4403725">
                <a:moveTo>
                  <a:pt x="0" y="0"/>
                </a:moveTo>
                <a:lnTo>
                  <a:pt x="440372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68287" y="5484621"/>
            <a:ext cx="4403725" cy="0"/>
          </a:xfrm>
          <a:custGeom>
            <a:avLst/>
            <a:gdLst/>
            <a:ahLst/>
            <a:cxnLst/>
            <a:rect l="l" t="t" r="r" b="b"/>
            <a:pathLst>
              <a:path w="4403725">
                <a:moveTo>
                  <a:pt x="0" y="0"/>
                </a:moveTo>
                <a:lnTo>
                  <a:pt x="440372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68287" y="5943993"/>
            <a:ext cx="4403725" cy="0"/>
          </a:xfrm>
          <a:custGeom>
            <a:avLst/>
            <a:gdLst/>
            <a:ahLst/>
            <a:cxnLst/>
            <a:rect l="l" t="t" r="r" b="b"/>
            <a:pathLst>
              <a:path w="4403725">
                <a:moveTo>
                  <a:pt x="0" y="0"/>
                </a:moveTo>
                <a:lnTo>
                  <a:pt x="440372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68287" y="6403378"/>
            <a:ext cx="4403725" cy="0"/>
          </a:xfrm>
          <a:custGeom>
            <a:avLst/>
            <a:gdLst/>
            <a:ahLst/>
            <a:cxnLst/>
            <a:rect l="l" t="t" r="r" b="b"/>
            <a:pathLst>
              <a:path w="4403725">
                <a:moveTo>
                  <a:pt x="0" y="0"/>
                </a:moveTo>
                <a:lnTo>
                  <a:pt x="440372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686300" y="3173476"/>
            <a:ext cx="0" cy="3684904"/>
          </a:xfrm>
          <a:custGeom>
            <a:avLst/>
            <a:gdLst/>
            <a:ahLst/>
            <a:cxnLst/>
            <a:rect l="l" t="t" r="r" b="b"/>
            <a:pathLst>
              <a:path h="3684904">
                <a:moveTo>
                  <a:pt x="0" y="0"/>
                </a:moveTo>
                <a:lnTo>
                  <a:pt x="0" y="3684521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39712" y="3187700"/>
            <a:ext cx="4460875" cy="0"/>
          </a:xfrm>
          <a:custGeom>
            <a:avLst/>
            <a:gdLst/>
            <a:ahLst/>
            <a:cxnLst/>
            <a:rect l="l" t="t" r="r" b="b"/>
            <a:pathLst>
              <a:path w="4460875">
                <a:moveTo>
                  <a:pt x="0" y="0"/>
                </a:moveTo>
                <a:lnTo>
                  <a:pt x="4460811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253888" y="3173857"/>
          <a:ext cx="3845560" cy="36841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0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20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in(B1)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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3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out(B1)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{d1(i),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d2(j)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,d3(a)</a:t>
                      </a:r>
                      <a:r>
                        <a:rPr sz="24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48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in(B2)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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35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out(B2)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{d4(i),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d5(j)}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3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in(B3)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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37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out(B3)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{d6(a)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3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in(B4)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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6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out(B4)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{d7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(j)}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83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7340" y="26923"/>
            <a:ext cx="8291195" cy="5263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7670">
              <a:lnSpc>
                <a:spcPct val="100000"/>
              </a:lnSpc>
              <a:spcBef>
                <a:spcPts val="100"/>
              </a:spcBef>
              <a:tabLst>
                <a:tab pos="2320925" algn="l"/>
                <a:tab pos="4930140" algn="l"/>
                <a:tab pos="543941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8.4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数据流分析基础</a:t>
            </a:r>
            <a:endParaRPr sz="2000" dirty="0">
              <a:latin typeface="宋体"/>
              <a:cs typeface="宋体"/>
            </a:endParaRPr>
          </a:p>
          <a:p>
            <a:pPr marL="384175" indent="-372110">
              <a:lnSpc>
                <a:spcPct val="100000"/>
              </a:lnSpc>
              <a:spcBef>
                <a:spcPts val="1680"/>
              </a:spcBef>
              <a:buClr>
                <a:srgbClr val="66FFFF"/>
              </a:buClr>
              <a:buSzPct val="145312"/>
              <a:buFont typeface="Wingdings"/>
              <a:buChar char=""/>
              <a:tabLst>
                <a:tab pos="384810" algn="l"/>
              </a:tabLst>
            </a:pP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利用到达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—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定值信息计</a:t>
            </a:r>
            <a:r>
              <a:rPr sz="3200" b="1" u="heavy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算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ud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链</a:t>
            </a:r>
            <a:endParaRPr sz="3200" dirty="0">
              <a:latin typeface="宋体"/>
              <a:cs typeface="宋体"/>
            </a:endParaRPr>
          </a:p>
          <a:p>
            <a:pPr marL="1079500" marR="5080" lvl="1" indent="-560070">
              <a:lnSpc>
                <a:spcPct val="151800"/>
              </a:lnSpc>
              <a:spcBef>
                <a:spcPts val="545"/>
              </a:spcBef>
              <a:buClr>
                <a:srgbClr val="FFFFFF"/>
              </a:buClr>
              <a:buFont typeface="Times New Roman"/>
              <a:buAutoNum type="arabicParenBoth"/>
              <a:tabLst>
                <a:tab pos="1114425" algn="l"/>
                <a:tab pos="1115060" algn="l"/>
              </a:tabLst>
            </a:pPr>
            <a:r>
              <a:rPr dirty="0"/>
              <a:t>	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若在基本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中，某变量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引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之前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有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的定值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，且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的定值点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到达</a:t>
            </a:r>
            <a:r>
              <a:rPr sz="2800" b="1" spc="20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u,</a:t>
            </a:r>
            <a:r>
              <a:rPr sz="2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u 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点的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ud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链为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{d}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 dirty="0">
              <a:latin typeface="宋体"/>
              <a:cs typeface="宋体"/>
            </a:endParaRPr>
          </a:p>
          <a:p>
            <a:pPr marL="1079500" marR="12700" lvl="1" indent="-534035">
              <a:lnSpc>
                <a:spcPct val="130000"/>
              </a:lnSpc>
              <a:buClr>
                <a:srgbClr val="FFFFFF"/>
              </a:buClr>
              <a:buFont typeface="Times New Roman"/>
              <a:buAutoNum type="arabicParenBoth"/>
              <a:tabLst>
                <a:tab pos="1140460" algn="l"/>
                <a:tab pos="1141095" algn="l"/>
              </a:tabLst>
            </a:pPr>
            <a:r>
              <a:rPr dirty="0"/>
              <a:t>	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若在基本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中，某变量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的引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用点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之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无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的定值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，则包含在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全部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点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均可到达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u,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所以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in[B]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中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的这些</a:t>
            </a: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的定值点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组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点的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ud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链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468" y="497586"/>
            <a:ext cx="5732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例：如图所示的流图的到达定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信息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20065"/>
          </a:xfrm>
          <a:custGeom>
            <a:avLst/>
            <a:gdLst/>
            <a:ahLst/>
            <a:cxnLst/>
            <a:rect l="l" t="t" r="r" b="b"/>
            <a:pathLst>
              <a:path w="9144000" h="520065">
                <a:moveTo>
                  <a:pt x="0" y="519684"/>
                </a:moveTo>
                <a:lnTo>
                  <a:pt x="9144000" y="519684"/>
                </a:lnTo>
                <a:lnTo>
                  <a:pt x="9144000" y="0"/>
                </a:lnTo>
                <a:lnTo>
                  <a:pt x="0" y="0"/>
                </a:lnTo>
                <a:lnTo>
                  <a:pt x="0" y="519684"/>
                </a:lnTo>
                <a:close/>
              </a:path>
            </a:pathLst>
          </a:custGeom>
          <a:solidFill>
            <a:srgbClr val="DCDC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0"/>
            <a:ext cx="41262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none" spc="-10" dirty="0">
                <a:solidFill>
                  <a:srgbClr val="800000"/>
                </a:solidFill>
                <a:latin typeface="宋体"/>
                <a:cs typeface="宋体"/>
              </a:rPr>
              <a:t>第八章习题讲解</a:t>
            </a:r>
            <a:r>
              <a:rPr sz="2800" u="none" spc="-5" dirty="0">
                <a:solidFill>
                  <a:srgbClr val="800000"/>
                </a:solidFill>
                <a:latin typeface="宋体"/>
                <a:cs typeface="宋体"/>
              </a:rPr>
              <a:t>（</a:t>
            </a:r>
            <a:r>
              <a:rPr sz="2800" u="none" spc="-5" dirty="0">
                <a:solidFill>
                  <a:srgbClr val="800000"/>
                </a:solidFill>
                <a:latin typeface="Times New Roman"/>
                <a:cs typeface="Times New Roman"/>
              </a:rPr>
              <a:t>8</a:t>
            </a:r>
            <a:r>
              <a:rPr sz="2800" u="none" spc="-5" dirty="0">
                <a:solidFill>
                  <a:srgbClr val="800000"/>
                </a:solidFill>
                <a:latin typeface="宋体"/>
                <a:cs typeface="宋体"/>
              </a:rPr>
              <a:t>－</a:t>
            </a:r>
            <a:r>
              <a:rPr sz="2800" u="none" spc="-5" dirty="0">
                <a:solidFill>
                  <a:srgbClr val="800000"/>
                </a:solidFill>
                <a:latin typeface="Times New Roman"/>
                <a:cs typeface="Times New Roman"/>
              </a:rPr>
              <a:t>13</a:t>
            </a:r>
            <a:r>
              <a:rPr sz="2800" u="none" spc="-5" dirty="0">
                <a:solidFill>
                  <a:srgbClr val="800000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2875" y="995362"/>
          <a:ext cx="5043170" cy="55133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2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48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in(B1)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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3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out(B1)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1(b),2(c)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in(B2)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1(b),2(c),3(a),4(d),5(d),6(c),7(e)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48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out(B2)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1(b),2(c),3(a),4(d),6(c),7(e)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48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in(B3)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1(b),2(c),3(a),4(d),6(c),7(e),8(d),9(e)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3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out(B3)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1(b),2(c),3(a),5(d),6(c),7(e),9(e)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48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in(B4)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1(b),2(c),3(a),4(d),5(d),6(c),7(e),9(e)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out(B4)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1(b),3(a),4(d),5(d),6(c),7(e)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3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in(B5)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1(b),2(c),3(a),5(d),6(c),7(e),9(e)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949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out(B5)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1(b),2(c),3(a),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6(c),</a:t>
                      </a:r>
                      <a:r>
                        <a:rPr sz="20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8(d),9(e)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944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in(B6)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1(b),3(a),4(d),5(d),6(c),7(e)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944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out(B6)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3(a),4(d),5(d), 7(e), 10(b),</a:t>
                      </a:r>
                      <a:r>
                        <a:rPr sz="2000" b="1" spc="-1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11(c)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972300" y="571500"/>
            <a:ext cx="1104900" cy="685800"/>
          </a:xfrm>
          <a:prstGeom prst="rect">
            <a:avLst/>
          </a:prstGeom>
          <a:ln w="57150">
            <a:solidFill>
              <a:srgbClr val="99FF3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585"/>
              </a:lnSpc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:b=1</a:t>
            </a:r>
            <a:endParaRPr sz="2400">
              <a:latin typeface="Times New Roman"/>
              <a:cs typeface="Times New Roman"/>
            </a:endParaRPr>
          </a:p>
          <a:p>
            <a:pPr marL="92075">
              <a:lnSpc>
                <a:spcPts val="2595"/>
              </a:lnSpc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:c=4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19900" y="1645920"/>
            <a:ext cx="1371600" cy="685800"/>
          </a:xfrm>
          <a:custGeom>
            <a:avLst/>
            <a:gdLst/>
            <a:ahLst/>
            <a:cxnLst/>
            <a:rect l="l" t="t" r="r" b="b"/>
            <a:pathLst>
              <a:path w="1371600" h="685800">
                <a:moveTo>
                  <a:pt x="0" y="685800"/>
                </a:moveTo>
                <a:lnTo>
                  <a:pt x="1371600" y="685800"/>
                </a:lnTo>
                <a:lnTo>
                  <a:pt x="13716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57150">
            <a:solidFill>
              <a:srgbClr val="99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22107" y="2712720"/>
            <a:ext cx="1371600" cy="685800"/>
          </a:xfrm>
          <a:custGeom>
            <a:avLst/>
            <a:gdLst/>
            <a:ahLst/>
            <a:cxnLst/>
            <a:rect l="l" t="t" r="r" b="b"/>
            <a:pathLst>
              <a:path w="1371600" h="685800">
                <a:moveTo>
                  <a:pt x="0" y="685800"/>
                </a:moveTo>
                <a:lnTo>
                  <a:pt x="1371600" y="685800"/>
                </a:lnTo>
                <a:lnTo>
                  <a:pt x="13716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57150">
            <a:solidFill>
              <a:srgbClr val="99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776336" y="2700020"/>
            <a:ext cx="1236980" cy="68389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 marR="30480">
              <a:lnSpc>
                <a:spcPts val="2300"/>
              </a:lnSpc>
              <a:spcBef>
                <a:spcPts val="660"/>
              </a:spcBef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:c=b+c 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:e=a-b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22847" y="2891027"/>
            <a:ext cx="1371600" cy="342900"/>
          </a:xfrm>
          <a:custGeom>
            <a:avLst/>
            <a:gdLst/>
            <a:ahLst/>
            <a:cxnLst/>
            <a:rect l="l" t="t" r="r" b="b"/>
            <a:pathLst>
              <a:path w="1371600" h="342900">
                <a:moveTo>
                  <a:pt x="0" y="342900"/>
                </a:moveTo>
                <a:lnTo>
                  <a:pt x="1371600" y="342900"/>
                </a:lnTo>
                <a:lnTo>
                  <a:pt x="1371600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99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72021" y="3054172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02858" y="2877388"/>
            <a:ext cx="11493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:d=c-d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77911" y="3995928"/>
            <a:ext cx="1466215" cy="685800"/>
          </a:xfrm>
          <a:custGeom>
            <a:avLst/>
            <a:gdLst/>
            <a:ahLst/>
            <a:cxnLst/>
            <a:rect l="l" t="t" r="r" b="b"/>
            <a:pathLst>
              <a:path w="1466215" h="685800">
                <a:moveTo>
                  <a:pt x="0" y="685800"/>
                </a:moveTo>
                <a:lnTo>
                  <a:pt x="1466088" y="685800"/>
                </a:lnTo>
                <a:lnTo>
                  <a:pt x="1466088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57150">
            <a:solidFill>
              <a:srgbClr val="99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731886" y="3982669"/>
            <a:ext cx="1302385" cy="68453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 marR="30480">
              <a:lnSpc>
                <a:spcPts val="2300"/>
              </a:lnSpc>
              <a:spcBef>
                <a:spcPts val="66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:b=c-d 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spc="-12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400" b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:c=b-d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6940" y="4055364"/>
            <a:ext cx="1485900" cy="685800"/>
          </a:xfrm>
          <a:prstGeom prst="rect">
            <a:avLst/>
          </a:prstGeom>
          <a:ln w="57150">
            <a:solidFill>
              <a:srgbClr val="99FF33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92710" marR="189865">
              <a:lnSpc>
                <a:spcPts val="2300"/>
              </a:lnSpc>
              <a:spcBef>
                <a:spcPts val="565"/>
              </a:spcBef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:d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b+c 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:e=e+1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88469" y="1255902"/>
            <a:ext cx="256540" cy="390525"/>
          </a:xfrm>
          <a:custGeom>
            <a:avLst/>
            <a:gdLst/>
            <a:ahLst/>
            <a:cxnLst/>
            <a:rect l="l" t="t" r="r" b="b"/>
            <a:pathLst>
              <a:path w="256540" h="390525">
                <a:moveTo>
                  <a:pt x="26265" y="129220"/>
                </a:moveTo>
                <a:lnTo>
                  <a:pt x="15376" y="132334"/>
                </a:lnTo>
                <a:lnTo>
                  <a:pt x="6488" y="139436"/>
                </a:lnTo>
                <a:lnTo>
                  <a:pt x="1232" y="149050"/>
                </a:lnTo>
                <a:lnTo>
                  <a:pt x="0" y="159926"/>
                </a:lnTo>
                <a:lnTo>
                  <a:pt x="3184" y="170814"/>
                </a:lnTo>
                <a:lnTo>
                  <a:pt x="117230" y="390525"/>
                </a:lnTo>
                <a:lnTo>
                  <a:pt x="153170" y="335280"/>
                </a:lnTo>
                <a:lnTo>
                  <a:pt x="148599" y="335280"/>
                </a:lnTo>
                <a:lnTo>
                  <a:pt x="91449" y="332486"/>
                </a:lnTo>
                <a:lnTo>
                  <a:pt x="96612" y="226888"/>
                </a:lnTo>
                <a:lnTo>
                  <a:pt x="53857" y="144525"/>
                </a:lnTo>
                <a:lnTo>
                  <a:pt x="46755" y="135709"/>
                </a:lnTo>
                <a:lnTo>
                  <a:pt x="37141" y="130476"/>
                </a:lnTo>
                <a:lnTo>
                  <a:pt x="26265" y="129220"/>
                </a:lnTo>
                <a:close/>
              </a:path>
              <a:path w="256540" h="390525">
                <a:moveTo>
                  <a:pt x="96612" y="226888"/>
                </a:moveTo>
                <a:lnTo>
                  <a:pt x="91449" y="332486"/>
                </a:lnTo>
                <a:lnTo>
                  <a:pt x="148599" y="335280"/>
                </a:lnTo>
                <a:lnTo>
                  <a:pt x="149313" y="320675"/>
                </a:lnTo>
                <a:lnTo>
                  <a:pt x="145297" y="320675"/>
                </a:lnTo>
                <a:lnTo>
                  <a:pt x="96021" y="318262"/>
                </a:lnTo>
                <a:lnTo>
                  <a:pt x="122742" y="277225"/>
                </a:lnTo>
                <a:lnTo>
                  <a:pt x="96612" y="226888"/>
                </a:lnTo>
                <a:close/>
              </a:path>
              <a:path w="256540" h="390525">
                <a:moveTo>
                  <a:pt x="233320" y="139319"/>
                </a:moveTo>
                <a:lnTo>
                  <a:pt x="153767" y="229578"/>
                </a:lnTo>
                <a:lnTo>
                  <a:pt x="148599" y="335280"/>
                </a:lnTo>
                <a:lnTo>
                  <a:pt x="153170" y="335280"/>
                </a:lnTo>
                <a:lnTo>
                  <a:pt x="252231" y="183007"/>
                </a:lnTo>
                <a:lnTo>
                  <a:pt x="256422" y="172477"/>
                </a:lnTo>
                <a:lnTo>
                  <a:pt x="256232" y="161544"/>
                </a:lnTo>
                <a:lnTo>
                  <a:pt x="251946" y="151467"/>
                </a:lnTo>
                <a:lnTo>
                  <a:pt x="243849" y="143510"/>
                </a:lnTo>
                <a:lnTo>
                  <a:pt x="233320" y="139319"/>
                </a:lnTo>
                <a:close/>
              </a:path>
              <a:path w="256540" h="390525">
                <a:moveTo>
                  <a:pt x="122742" y="277225"/>
                </a:moveTo>
                <a:lnTo>
                  <a:pt x="96021" y="318262"/>
                </a:lnTo>
                <a:lnTo>
                  <a:pt x="145297" y="320675"/>
                </a:lnTo>
                <a:lnTo>
                  <a:pt x="122742" y="277225"/>
                </a:lnTo>
                <a:close/>
              </a:path>
              <a:path w="256540" h="390525">
                <a:moveTo>
                  <a:pt x="153767" y="229578"/>
                </a:moveTo>
                <a:lnTo>
                  <a:pt x="122742" y="277225"/>
                </a:lnTo>
                <a:lnTo>
                  <a:pt x="145297" y="320675"/>
                </a:lnTo>
                <a:lnTo>
                  <a:pt x="149313" y="320675"/>
                </a:lnTo>
                <a:lnTo>
                  <a:pt x="153767" y="229578"/>
                </a:lnTo>
                <a:close/>
              </a:path>
              <a:path w="256540" h="390525">
                <a:moveTo>
                  <a:pt x="107705" y="0"/>
                </a:moveTo>
                <a:lnTo>
                  <a:pt x="96612" y="226888"/>
                </a:lnTo>
                <a:lnTo>
                  <a:pt x="122742" y="277225"/>
                </a:lnTo>
                <a:lnTo>
                  <a:pt x="153767" y="229578"/>
                </a:lnTo>
                <a:lnTo>
                  <a:pt x="164855" y="2794"/>
                </a:lnTo>
                <a:lnTo>
                  <a:pt x="107705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708520" y="2308351"/>
            <a:ext cx="813435" cy="582295"/>
          </a:xfrm>
          <a:custGeom>
            <a:avLst/>
            <a:gdLst/>
            <a:ahLst/>
            <a:cxnLst/>
            <a:rect l="l" t="t" r="r" b="b"/>
            <a:pathLst>
              <a:path w="813434" h="582294">
                <a:moveTo>
                  <a:pt x="130311" y="340786"/>
                </a:moveTo>
                <a:lnTo>
                  <a:pt x="119522" y="342534"/>
                </a:lnTo>
                <a:lnTo>
                  <a:pt x="110186" y="348212"/>
                </a:lnTo>
                <a:lnTo>
                  <a:pt x="103504" y="357377"/>
                </a:lnTo>
                <a:lnTo>
                  <a:pt x="0" y="582295"/>
                </a:lnTo>
                <a:lnTo>
                  <a:pt x="110455" y="573024"/>
                </a:lnTo>
                <a:lnTo>
                  <a:pt x="62864" y="573024"/>
                </a:lnTo>
                <a:lnTo>
                  <a:pt x="30099" y="526288"/>
                </a:lnTo>
                <a:lnTo>
                  <a:pt x="116478" y="465720"/>
                </a:lnTo>
                <a:lnTo>
                  <a:pt x="155321" y="381253"/>
                </a:lnTo>
                <a:lnTo>
                  <a:pt x="157942" y="370268"/>
                </a:lnTo>
                <a:lnTo>
                  <a:pt x="156194" y="359473"/>
                </a:lnTo>
                <a:lnTo>
                  <a:pt x="150516" y="350107"/>
                </a:lnTo>
                <a:lnTo>
                  <a:pt x="141350" y="343408"/>
                </a:lnTo>
                <a:lnTo>
                  <a:pt x="130311" y="340786"/>
                </a:lnTo>
                <a:close/>
              </a:path>
              <a:path w="813434" h="582294">
                <a:moveTo>
                  <a:pt x="116478" y="465720"/>
                </a:moveTo>
                <a:lnTo>
                  <a:pt x="30099" y="526288"/>
                </a:lnTo>
                <a:lnTo>
                  <a:pt x="62864" y="573024"/>
                </a:lnTo>
                <a:lnTo>
                  <a:pt x="79165" y="561594"/>
                </a:lnTo>
                <a:lnTo>
                  <a:pt x="72389" y="561594"/>
                </a:lnTo>
                <a:lnTo>
                  <a:pt x="44069" y="521208"/>
                </a:lnTo>
                <a:lnTo>
                  <a:pt x="92834" y="517136"/>
                </a:lnTo>
                <a:lnTo>
                  <a:pt x="116478" y="465720"/>
                </a:lnTo>
                <a:close/>
              </a:path>
              <a:path w="813434" h="582294">
                <a:moveTo>
                  <a:pt x="241807" y="504698"/>
                </a:moveTo>
                <a:lnTo>
                  <a:pt x="149292" y="512422"/>
                </a:lnTo>
                <a:lnTo>
                  <a:pt x="62864" y="573024"/>
                </a:lnTo>
                <a:lnTo>
                  <a:pt x="110455" y="573024"/>
                </a:lnTo>
                <a:lnTo>
                  <a:pt x="246633" y="561594"/>
                </a:lnTo>
                <a:lnTo>
                  <a:pt x="272669" y="530733"/>
                </a:lnTo>
                <a:lnTo>
                  <a:pt x="269525" y="519824"/>
                </a:lnTo>
                <a:lnTo>
                  <a:pt x="262667" y="511286"/>
                </a:lnTo>
                <a:lnTo>
                  <a:pt x="253095" y="505962"/>
                </a:lnTo>
                <a:lnTo>
                  <a:pt x="241807" y="504698"/>
                </a:lnTo>
                <a:close/>
              </a:path>
              <a:path w="813434" h="582294">
                <a:moveTo>
                  <a:pt x="92834" y="517136"/>
                </a:moveTo>
                <a:lnTo>
                  <a:pt x="44069" y="521208"/>
                </a:lnTo>
                <a:lnTo>
                  <a:pt x="72389" y="561594"/>
                </a:lnTo>
                <a:lnTo>
                  <a:pt x="92834" y="517136"/>
                </a:lnTo>
                <a:close/>
              </a:path>
              <a:path w="813434" h="582294">
                <a:moveTo>
                  <a:pt x="149292" y="512422"/>
                </a:moveTo>
                <a:lnTo>
                  <a:pt x="92834" y="517136"/>
                </a:lnTo>
                <a:lnTo>
                  <a:pt x="72389" y="561594"/>
                </a:lnTo>
                <a:lnTo>
                  <a:pt x="79165" y="561594"/>
                </a:lnTo>
                <a:lnTo>
                  <a:pt x="149292" y="512422"/>
                </a:lnTo>
                <a:close/>
              </a:path>
              <a:path w="813434" h="582294">
                <a:moveTo>
                  <a:pt x="780669" y="0"/>
                </a:moveTo>
                <a:lnTo>
                  <a:pt x="116478" y="465720"/>
                </a:lnTo>
                <a:lnTo>
                  <a:pt x="92834" y="517136"/>
                </a:lnTo>
                <a:lnTo>
                  <a:pt x="149292" y="512422"/>
                </a:lnTo>
                <a:lnTo>
                  <a:pt x="813434" y="46736"/>
                </a:lnTo>
                <a:lnTo>
                  <a:pt x="780669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94523" y="2305430"/>
            <a:ext cx="913130" cy="439420"/>
          </a:xfrm>
          <a:custGeom>
            <a:avLst/>
            <a:gdLst/>
            <a:ahLst/>
            <a:cxnLst/>
            <a:rect l="l" t="t" r="r" b="b"/>
            <a:pathLst>
              <a:path w="913129" h="439419">
                <a:moveTo>
                  <a:pt x="752150" y="370414"/>
                </a:moveTo>
                <a:lnTo>
                  <a:pt x="660273" y="382270"/>
                </a:lnTo>
                <a:lnTo>
                  <a:pt x="635507" y="414274"/>
                </a:lnTo>
                <a:lnTo>
                  <a:pt x="639169" y="425072"/>
                </a:lnTo>
                <a:lnTo>
                  <a:pt x="646414" y="433324"/>
                </a:lnTo>
                <a:lnTo>
                  <a:pt x="656207" y="438241"/>
                </a:lnTo>
                <a:lnTo>
                  <a:pt x="667511" y="439039"/>
                </a:lnTo>
                <a:lnTo>
                  <a:pt x="879616" y="411607"/>
                </a:lnTo>
                <a:lnTo>
                  <a:pt x="849629" y="411607"/>
                </a:lnTo>
                <a:lnTo>
                  <a:pt x="752150" y="370414"/>
                </a:lnTo>
                <a:close/>
              </a:path>
              <a:path w="913129" h="439419">
                <a:moveTo>
                  <a:pt x="808533" y="363139"/>
                </a:moveTo>
                <a:lnTo>
                  <a:pt x="752150" y="370414"/>
                </a:lnTo>
                <a:lnTo>
                  <a:pt x="849629" y="411607"/>
                </a:lnTo>
                <a:lnTo>
                  <a:pt x="853539" y="402336"/>
                </a:lnTo>
                <a:lnTo>
                  <a:pt x="837946" y="402336"/>
                </a:lnTo>
                <a:lnTo>
                  <a:pt x="808533" y="363139"/>
                </a:lnTo>
                <a:close/>
              </a:path>
              <a:path w="913129" h="439419">
                <a:moveTo>
                  <a:pt x="745807" y="198104"/>
                </a:moveTo>
                <a:lnTo>
                  <a:pt x="734877" y="198669"/>
                </a:lnTo>
                <a:lnTo>
                  <a:pt x="724661" y="203581"/>
                </a:lnTo>
                <a:lnTo>
                  <a:pt x="717069" y="212010"/>
                </a:lnTo>
                <a:lnTo>
                  <a:pt x="713454" y="222345"/>
                </a:lnTo>
                <a:lnTo>
                  <a:pt x="713982" y="233299"/>
                </a:lnTo>
                <a:lnTo>
                  <a:pt x="718820" y="243586"/>
                </a:lnTo>
                <a:lnTo>
                  <a:pt x="774483" y="317763"/>
                </a:lnTo>
                <a:lnTo>
                  <a:pt x="871854" y="358902"/>
                </a:lnTo>
                <a:lnTo>
                  <a:pt x="849629" y="411607"/>
                </a:lnTo>
                <a:lnTo>
                  <a:pt x="879616" y="411607"/>
                </a:lnTo>
                <a:lnTo>
                  <a:pt x="913002" y="407289"/>
                </a:lnTo>
                <a:lnTo>
                  <a:pt x="764667" y="209296"/>
                </a:lnTo>
                <a:lnTo>
                  <a:pt x="756165" y="201705"/>
                </a:lnTo>
                <a:lnTo>
                  <a:pt x="745807" y="198104"/>
                </a:lnTo>
                <a:close/>
              </a:path>
              <a:path w="913129" h="439419">
                <a:moveTo>
                  <a:pt x="857123" y="356870"/>
                </a:moveTo>
                <a:lnTo>
                  <a:pt x="808533" y="363139"/>
                </a:lnTo>
                <a:lnTo>
                  <a:pt x="837946" y="402336"/>
                </a:lnTo>
                <a:lnTo>
                  <a:pt x="857123" y="356870"/>
                </a:lnTo>
                <a:close/>
              </a:path>
              <a:path w="913129" h="439419">
                <a:moveTo>
                  <a:pt x="867045" y="356870"/>
                </a:moveTo>
                <a:lnTo>
                  <a:pt x="857123" y="356870"/>
                </a:lnTo>
                <a:lnTo>
                  <a:pt x="837946" y="402336"/>
                </a:lnTo>
                <a:lnTo>
                  <a:pt x="853539" y="402336"/>
                </a:lnTo>
                <a:lnTo>
                  <a:pt x="871854" y="358902"/>
                </a:lnTo>
                <a:lnTo>
                  <a:pt x="867045" y="356870"/>
                </a:lnTo>
                <a:close/>
              </a:path>
              <a:path w="913129" h="439419">
                <a:moveTo>
                  <a:pt x="22351" y="0"/>
                </a:moveTo>
                <a:lnTo>
                  <a:pt x="0" y="52578"/>
                </a:lnTo>
                <a:lnTo>
                  <a:pt x="752150" y="370414"/>
                </a:lnTo>
                <a:lnTo>
                  <a:pt x="808533" y="363139"/>
                </a:lnTo>
                <a:lnTo>
                  <a:pt x="774483" y="317763"/>
                </a:lnTo>
                <a:lnTo>
                  <a:pt x="22351" y="0"/>
                </a:lnTo>
                <a:close/>
              </a:path>
              <a:path w="913129" h="439419">
                <a:moveTo>
                  <a:pt x="774483" y="317763"/>
                </a:moveTo>
                <a:lnTo>
                  <a:pt x="808533" y="363139"/>
                </a:lnTo>
                <a:lnTo>
                  <a:pt x="857123" y="356870"/>
                </a:lnTo>
                <a:lnTo>
                  <a:pt x="867045" y="356870"/>
                </a:lnTo>
                <a:lnTo>
                  <a:pt x="774483" y="317763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603460" y="3232785"/>
            <a:ext cx="257175" cy="823594"/>
          </a:xfrm>
          <a:custGeom>
            <a:avLst/>
            <a:gdLst/>
            <a:ahLst/>
            <a:cxnLst/>
            <a:rect l="l" t="t" r="r" b="b"/>
            <a:pathLst>
              <a:path w="257175" h="823595">
                <a:moveTo>
                  <a:pt x="23459" y="571285"/>
                </a:moveTo>
                <a:lnTo>
                  <a:pt x="12858" y="575309"/>
                </a:lnTo>
                <a:lnTo>
                  <a:pt x="4667" y="583195"/>
                </a:lnTo>
                <a:lnTo>
                  <a:pt x="285" y="593248"/>
                </a:lnTo>
                <a:lnTo>
                  <a:pt x="0" y="604206"/>
                </a:lnTo>
                <a:lnTo>
                  <a:pt x="4095" y="614807"/>
                </a:lnTo>
                <a:lnTo>
                  <a:pt x="136937" y="823594"/>
                </a:lnTo>
                <a:lnTo>
                  <a:pt x="166494" y="768095"/>
                </a:lnTo>
                <a:lnTo>
                  <a:pt x="106203" y="768095"/>
                </a:lnTo>
                <a:lnTo>
                  <a:pt x="102115" y="662301"/>
                </a:lnTo>
                <a:lnTo>
                  <a:pt x="52355" y="584072"/>
                </a:lnTo>
                <a:lnTo>
                  <a:pt x="44469" y="575952"/>
                </a:lnTo>
                <a:lnTo>
                  <a:pt x="34417" y="571595"/>
                </a:lnTo>
                <a:lnTo>
                  <a:pt x="23459" y="571285"/>
                </a:lnTo>
                <a:close/>
              </a:path>
              <a:path w="257175" h="823595">
                <a:moveTo>
                  <a:pt x="102115" y="662301"/>
                </a:moveTo>
                <a:lnTo>
                  <a:pt x="106203" y="768095"/>
                </a:lnTo>
                <a:lnTo>
                  <a:pt x="163353" y="765809"/>
                </a:lnTo>
                <a:lnTo>
                  <a:pt x="162877" y="753490"/>
                </a:lnTo>
                <a:lnTo>
                  <a:pt x="109505" y="753490"/>
                </a:lnTo>
                <a:lnTo>
                  <a:pt x="132581" y="710196"/>
                </a:lnTo>
                <a:lnTo>
                  <a:pt x="102115" y="662301"/>
                </a:lnTo>
                <a:close/>
              </a:path>
              <a:path w="257175" h="823595">
                <a:moveTo>
                  <a:pt x="230622" y="563266"/>
                </a:moveTo>
                <a:lnTo>
                  <a:pt x="219725" y="564403"/>
                </a:lnTo>
                <a:lnTo>
                  <a:pt x="210044" y="569565"/>
                </a:lnTo>
                <a:lnTo>
                  <a:pt x="202850" y="578357"/>
                </a:lnTo>
                <a:lnTo>
                  <a:pt x="159270" y="660123"/>
                </a:lnTo>
                <a:lnTo>
                  <a:pt x="163353" y="765809"/>
                </a:lnTo>
                <a:lnTo>
                  <a:pt x="106203" y="768095"/>
                </a:lnTo>
                <a:lnTo>
                  <a:pt x="166494" y="768095"/>
                </a:lnTo>
                <a:lnTo>
                  <a:pt x="253269" y="605154"/>
                </a:lnTo>
                <a:lnTo>
                  <a:pt x="256549" y="594318"/>
                </a:lnTo>
                <a:lnTo>
                  <a:pt x="255412" y="583422"/>
                </a:lnTo>
                <a:lnTo>
                  <a:pt x="250251" y="573740"/>
                </a:lnTo>
                <a:lnTo>
                  <a:pt x="241458" y="566546"/>
                </a:lnTo>
                <a:lnTo>
                  <a:pt x="230622" y="563266"/>
                </a:lnTo>
                <a:close/>
              </a:path>
              <a:path w="257175" h="823595">
                <a:moveTo>
                  <a:pt x="132581" y="710196"/>
                </a:moveTo>
                <a:lnTo>
                  <a:pt x="109505" y="753490"/>
                </a:lnTo>
                <a:lnTo>
                  <a:pt x="158908" y="751585"/>
                </a:lnTo>
                <a:lnTo>
                  <a:pt x="132581" y="710196"/>
                </a:lnTo>
                <a:close/>
              </a:path>
              <a:path w="257175" h="823595">
                <a:moveTo>
                  <a:pt x="159270" y="660123"/>
                </a:moveTo>
                <a:lnTo>
                  <a:pt x="132581" y="710196"/>
                </a:lnTo>
                <a:lnTo>
                  <a:pt x="158908" y="751585"/>
                </a:lnTo>
                <a:lnTo>
                  <a:pt x="109505" y="753490"/>
                </a:lnTo>
                <a:lnTo>
                  <a:pt x="162877" y="753490"/>
                </a:lnTo>
                <a:lnTo>
                  <a:pt x="159270" y="660123"/>
                </a:lnTo>
                <a:close/>
              </a:path>
              <a:path w="257175" h="823595">
                <a:moveTo>
                  <a:pt x="133762" y="0"/>
                </a:moveTo>
                <a:lnTo>
                  <a:pt x="76612" y="2286"/>
                </a:lnTo>
                <a:lnTo>
                  <a:pt x="102115" y="662301"/>
                </a:lnTo>
                <a:lnTo>
                  <a:pt x="132581" y="710196"/>
                </a:lnTo>
                <a:lnTo>
                  <a:pt x="159270" y="660123"/>
                </a:lnTo>
                <a:lnTo>
                  <a:pt x="133762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93940" y="2931608"/>
            <a:ext cx="327660" cy="257175"/>
          </a:xfrm>
          <a:custGeom>
            <a:avLst/>
            <a:gdLst/>
            <a:ahLst/>
            <a:cxnLst/>
            <a:rect l="l" t="t" r="r" b="b"/>
            <a:pathLst>
              <a:path w="327659" h="257175">
                <a:moveTo>
                  <a:pt x="278461" y="96579"/>
                </a:moveTo>
                <a:lnTo>
                  <a:pt x="270382" y="96579"/>
                </a:lnTo>
                <a:lnTo>
                  <a:pt x="271525" y="153729"/>
                </a:lnTo>
                <a:lnTo>
                  <a:pt x="165795" y="155764"/>
                </a:lnTo>
                <a:lnTo>
                  <a:pt x="86613" y="204021"/>
                </a:lnTo>
                <a:lnTo>
                  <a:pt x="78285" y="211742"/>
                </a:lnTo>
                <a:lnTo>
                  <a:pt x="73707" y="221690"/>
                </a:lnTo>
                <a:lnTo>
                  <a:pt x="73201" y="232614"/>
                </a:lnTo>
                <a:lnTo>
                  <a:pt x="77088" y="243264"/>
                </a:lnTo>
                <a:lnTo>
                  <a:pt x="84810" y="251592"/>
                </a:lnTo>
                <a:lnTo>
                  <a:pt x="94757" y="256170"/>
                </a:lnTo>
                <a:lnTo>
                  <a:pt x="105681" y="256676"/>
                </a:lnTo>
                <a:lnTo>
                  <a:pt x="116331" y="252789"/>
                </a:lnTo>
                <a:lnTo>
                  <a:pt x="327659" y="124011"/>
                </a:lnTo>
                <a:lnTo>
                  <a:pt x="278461" y="96579"/>
                </a:lnTo>
                <a:close/>
              </a:path>
              <a:path w="327659" h="257175">
                <a:moveTo>
                  <a:pt x="164792" y="98612"/>
                </a:moveTo>
                <a:lnTo>
                  <a:pt x="0" y="101786"/>
                </a:lnTo>
                <a:lnTo>
                  <a:pt x="1015" y="158936"/>
                </a:lnTo>
                <a:lnTo>
                  <a:pt x="165795" y="155764"/>
                </a:lnTo>
                <a:lnTo>
                  <a:pt x="214291" y="126209"/>
                </a:lnTo>
                <a:lnTo>
                  <a:pt x="164792" y="98612"/>
                </a:lnTo>
                <a:close/>
              </a:path>
              <a:path w="327659" h="257175">
                <a:moveTo>
                  <a:pt x="214291" y="126209"/>
                </a:moveTo>
                <a:lnTo>
                  <a:pt x="165795" y="155764"/>
                </a:lnTo>
                <a:lnTo>
                  <a:pt x="271525" y="153729"/>
                </a:lnTo>
                <a:lnTo>
                  <a:pt x="271452" y="150046"/>
                </a:lnTo>
                <a:lnTo>
                  <a:pt x="257048" y="150046"/>
                </a:lnTo>
                <a:lnTo>
                  <a:pt x="214291" y="126209"/>
                </a:lnTo>
                <a:close/>
              </a:path>
              <a:path w="327659" h="257175">
                <a:moveTo>
                  <a:pt x="256031" y="100770"/>
                </a:moveTo>
                <a:lnTo>
                  <a:pt x="214291" y="126209"/>
                </a:lnTo>
                <a:lnTo>
                  <a:pt x="257048" y="150046"/>
                </a:lnTo>
                <a:lnTo>
                  <a:pt x="256031" y="100770"/>
                </a:lnTo>
                <a:close/>
              </a:path>
              <a:path w="327659" h="257175">
                <a:moveTo>
                  <a:pt x="270466" y="100770"/>
                </a:moveTo>
                <a:lnTo>
                  <a:pt x="256031" y="100770"/>
                </a:lnTo>
                <a:lnTo>
                  <a:pt x="257048" y="150046"/>
                </a:lnTo>
                <a:lnTo>
                  <a:pt x="271452" y="150046"/>
                </a:lnTo>
                <a:lnTo>
                  <a:pt x="270466" y="100770"/>
                </a:lnTo>
                <a:close/>
              </a:path>
              <a:path w="327659" h="257175">
                <a:moveTo>
                  <a:pt x="270382" y="96579"/>
                </a:moveTo>
                <a:lnTo>
                  <a:pt x="164792" y="98612"/>
                </a:lnTo>
                <a:lnTo>
                  <a:pt x="214291" y="126209"/>
                </a:lnTo>
                <a:lnTo>
                  <a:pt x="256031" y="100770"/>
                </a:lnTo>
                <a:lnTo>
                  <a:pt x="270466" y="100770"/>
                </a:lnTo>
                <a:lnTo>
                  <a:pt x="270382" y="96579"/>
                </a:lnTo>
                <a:close/>
              </a:path>
              <a:path w="327659" h="257175">
                <a:moveTo>
                  <a:pt x="100736" y="0"/>
                </a:moveTo>
                <a:lnTo>
                  <a:pt x="89836" y="916"/>
                </a:lnTo>
                <a:lnTo>
                  <a:pt x="80055" y="5881"/>
                </a:lnTo>
                <a:lnTo>
                  <a:pt x="72643" y="14537"/>
                </a:lnTo>
                <a:lnTo>
                  <a:pt x="69155" y="25324"/>
                </a:lnTo>
                <a:lnTo>
                  <a:pt x="70072" y="36254"/>
                </a:lnTo>
                <a:lnTo>
                  <a:pt x="75037" y="46041"/>
                </a:lnTo>
                <a:lnTo>
                  <a:pt x="83692" y="53399"/>
                </a:lnTo>
                <a:lnTo>
                  <a:pt x="164792" y="98612"/>
                </a:lnTo>
                <a:lnTo>
                  <a:pt x="270382" y="96579"/>
                </a:lnTo>
                <a:lnTo>
                  <a:pt x="278461" y="96579"/>
                </a:lnTo>
                <a:lnTo>
                  <a:pt x="111505" y="3488"/>
                </a:lnTo>
                <a:lnTo>
                  <a:pt x="100736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39765" y="2933376"/>
            <a:ext cx="283210" cy="1494155"/>
          </a:xfrm>
          <a:custGeom>
            <a:avLst/>
            <a:gdLst/>
            <a:ahLst/>
            <a:cxnLst/>
            <a:rect l="l" t="t" r="r" b="b"/>
            <a:pathLst>
              <a:path w="283210" h="1494154">
                <a:moveTo>
                  <a:pt x="120301" y="99764"/>
                </a:moveTo>
                <a:lnTo>
                  <a:pt x="28575" y="99764"/>
                </a:lnTo>
                <a:lnTo>
                  <a:pt x="17466" y="102014"/>
                </a:lnTo>
                <a:lnTo>
                  <a:pt x="8382" y="108146"/>
                </a:lnTo>
                <a:lnTo>
                  <a:pt x="2250" y="117230"/>
                </a:lnTo>
                <a:lnTo>
                  <a:pt x="0" y="128339"/>
                </a:lnTo>
                <a:lnTo>
                  <a:pt x="0" y="1465014"/>
                </a:lnTo>
                <a:lnTo>
                  <a:pt x="2250" y="1476122"/>
                </a:lnTo>
                <a:lnTo>
                  <a:pt x="8382" y="1485207"/>
                </a:lnTo>
                <a:lnTo>
                  <a:pt x="17466" y="1491339"/>
                </a:lnTo>
                <a:lnTo>
                  <a:pt x="28575" y="1493589"/>
                </a:lnTo>
                <a:lnTo>
                  <a:pt x="257175" y="1493589"/>
                </a:lnTo>
                <a:lnTo>
                  <a:pt x="257175" y="1465014"/>
                </a:lnTo>
                <a:lnTo>
                  <a:pt x="57150" y="1465014"/>
                </a:lnTo>
                <a:lnTo>
                  <a:pt x="28575" y="1436439"/>
                </a:lnTo>
                <a:lnTo>
                  <a:pt x="57150" y="1436439"/>
                </a:lnTo>
                <a:lnTo>
                  <a:pt x="57150" y="256607"/>
                </a:lnTo>
                <a:lnTo>
                  <a:pt x="47307" y="255958"/>
                </a:lnTo>
                <a:lnTo>
                  <a:pt x="37421" y="251213"/>
                </a:lnTo>
                <a:lnTo>
                  <a:pt x="29845" y="242766"/>
                </a:lnTo>
                <a:lnTo>
                  <a:pt x="26219" y="232046"/>
                </a:lnTo>
                <a:lnTo>
                  <a:pt x="26939" y="221112"/>
                </a:lnTo>
                <a:lnTo>
                  <a:pt x="31684" y="211226"/>
                </a:lnTo>
                <a:lnTo>
                  <a:pt x="40132" y="203650"/>
                </a:lnTo>
                <a:lnTo>
                  <a:pt x="57149" y="193729"/>
                </a:lnTo>
                <a:lnTo>
                  <a:pt x="57150" y="156914"/>
                </a:lnTo>
                <a:lnTo>
                  <a:pt x="28575" y="156914"/>
                </a:lnTo>
                <a:lnTo>
                  <a:pt x="57150" y="128339"/>
                </a:lnTo>
                <a:lnTo>
                  <a:pt x="169318" y="128339"/>
                </a:lnTo>
                <a:lnTo>
                  <a:pt x="120301" y="99764"/>
                </a:lnTo>
                <a:close/>
              </a:path>
              <a:path w="283210" h="1494154">
                <a:moveTo>
                  <a:pt x="57150" y="1436439"/>
                </a:moveTo>
                <a:lnTo>
                  <a:pt x="28575" y="1436439"/>
                </a:lnTo>
                <a:lnTo>
                  <a:pt x="57150" y="1465014"/>
                </a:lnTo>
                <a:lnTo>
                  <a:pt x="57150" y="1436439"/>
                </a:lnTo>
                <a:close/>
              </a:path>
              <a:path w="283210" h="1494154">
                <a:moveTo>
                  <a:pt x="257175" y="1436439"/>
                </a:moveTo>
                <a:lnTo>
                  <a:pt x="57150" y="1436439"/>
                </a:lnTo>
                <a:lnTo>
                  <a:pt x="57150" y="1465014"/>
                </a:lnTo>
                <a:lnTo>
                  <a:pt x="257175" y="1465014"/>
                </a:lnTo>
                <a:lnTo>
                  <a:pt x="257175" y="1436439"/>
                </a:lnTo>
                <a:close/>
              </a:path>
              <a:path w="283210" h="1494154">
                <a:moveTo>
                  <a:pt x="169318" y="128339"/>
                </a:moveTo>
                <a:lnTo>
                  <a:pt x="57150" y="193729"/>
                </a:lnTo>
                <a:lnTo>
                  <a:pt x="57150" y="256607"/>
                </a:lnTo>
                <a:lnTo>
                  <a:pt x="58241" y="256678"/>
                </a:lnTo>
                <a:lnTo>
                  <a:pt x="68961" y="253053"/>
                </a:lnTo>
                <a:lnTo>
                  <a:pt x="233728" y="156914"/>
                </a:lnTo>
                <a:lnTo>
                  <a:pt x="225933" y="156914"/>
                </a:lnTo>
                <a:lnTo>
                  <a:pt x="225933" y="152977"/>
                </a:lnTo>
                <a:lnTo>
                  <a:pt x="211582" y="152977"/>
                </a:lnTo>
                <a:lnTo>
                  <a:pt x="169318" y="128339"/>
                </a:lnTo>
                <a:close/>
              </a:path>
              <a:path w="283210" h="1494154">
                <a:moveTo>
                  <a:pt x="57150" y="193729"/>
                </a:moveTo>
                <a:lnTo>
                  <a:pt x="40132" y="203650"/>
                </a:lnTo>
                <a:lnTo>
                  <a:pt x="31684" y="211226"/>
                </a:lnTo>
                <a:lnTo>
                  <a:pt x="26939" y="221112"/>
                </a:lnTo>
                <a:lnTo>
                  <a:pt x="26219" y="232046"/>
                </a:lnTo>
                <a:lnTo>
                  <a:pt x="29845" y="242766"/>
                </a:lnTo>
                <a:lnTo>
                  <a:pt x="37421" y="251213"/>
                </a:lnTo>
                <a:lnTo>
                  <a:pt x="47307" y="255958"/>
                </a:lnTo>
                <a:lnTo>
                  <a:pt x="57150" y="256607"/>
                </a:lnTo>
                <a:lnTo>
                  <a:pt x="57150" y="193729"/>
                </a:lnTo>
                <a:close/>
              </a:path>
              <a:path w="283210" h="1494154">
                <a:moveTo>
                  <a:pt x="57150" y="128339"/>
                </a:moveTo>
                <a:lnTo>
                  <a:pt x="28575" y="156914"/>
                </a:lnTo>
                <a:lnTo>
                  <a:pt x="57150" y="156914"/>
                </a:lnTo>
                <a:lnTo>
                  <a:pt x="57150" y="128339"/>
                </a:lnTo>
                <a:close/>
              </a:path>
              <a:path w="283210" h="1494154">
                <a:moveTo>
                  <a:pt x="169318" y="128339"/>
                </a:moveTo>
                <a:lnTo>
                  <a:pt x="57150" y="128339"/>
                </a:lnTo>
                <a:lnTo>
                  <a:pt x="57150" y="156914"/>
                </a:lnTo>
                <a:lnTo>
                  <a:pt x="120301" y="156914"/>
                </a:lnTo>
                <a:lnTo>
                  <a:pt x="169318" y="128339"/>
                </a:lnTo>
                <a:close/>
              </a:path>
              <a:path w="283210" h="1494154">
                <a:moveTo>
                  <a:pt x="233728" y="99764"/>
                </a:moveTo>
                <a:lnTo>
                  <a:pt x="225933" y="99764"/>
                </a:lnTo>
                <a:lnTo>
                  <a:pt x="225933" y="156914"/>
                </a:lnTo>
                <a:lnTo>
                  <a:pt x="233728" y="156914"/>
                </a:lnTo>
                <a:lnTo>
                  <a:pt x="282701" y="128339"/>
                </a:lnTo>
                <a:lnTo>
                  <a:pt x="233728" y="99764"/>
                </a:lnTo>
                <a:close/>
              </a:path>
              <a:path w="283210" h="1494154">
                <a:moveTo>
                  <a:pt x="211582" y="103701"/>
                </a:moveTo>
                <a:lnTo>
                  <a:pt x="169318" y="128339"/>
                </a:lnTo>
                <a:lnTo>
                  <a:pt x="211582" y="152977"/>
                </a:lnTo>
                <a:lnTo>
                  <a:pt x="211582" y="103701"/>
                </a:lnTo>
                <a:close/>
              </a:path>
              <a:path w="283210" h="1494154">
                <a:moveTo>
                  <a:pt x="225933" y="103701"/>
                </a:moveTo>
                <a:lnTo>
                  <a:pt x="211582" y="103701"/>
                </a:lnTo>
                <a:lnTo>
                  <a:pt x="211582" y="152977"/>
                </a:lnTo>
                <a:lnTo>
                  <a:pt x="225933" y="152977"/>
                </a:lnTo>
                <a:lnTo>
                  <a:pt x="225933" y="103701"/>
                </a:lnTo>
                <a:close/>
              </a:path>
              <a:path w="283210" h="1494154">
                <a:moveTo>
                  <a:pt x="58241" y="0"/>
                </a:moveTo>
                <a:lnTo>
                  <a:pt x="47307" y="720"/>
                </a:lnTo>
                <a:lnTo>
                  <a:pt x="37421" y="5464"/>
                </a:lnTo>
                <a:lnTo>
                  <a:pt x="29845" y="13912"/>
                </a:lnTo>
                <a:lnTo>
                  <a:pt x="26219" y="24632"/>
                </a:lnTo>
                <a:lnTo>
                  <a:pt x="26939" y="35565"/>
                </a:lnTo>
                <a:lnTo>
                  <a:pt x="31684" y="45452"/>
                </a:lnTo>
                <a:lnTo>
                  <a:pt x="40132" y="53028"/>
                </a:lnTo>
                <a:lnTo>
                  <a:pt x="169318" y="128339"/>
                </a:lnTo>
                <a:lnTo>
                  <a:pt x="211582" y="103701"/>
                </a:lnTo>
                <a:lnTo>
                  <a:pt x="225933" y="103701"/>
                </a:lnTo>
                <a:lnTo>
                  <a:pt x="225933" y="99764"/>
                </a:lnTo>
                <a:lnTo>
                  <a:pt x="233728" y="99764"/>
                </a:lnTo>
                <a:lnTo>
                  <a:pt x="68961" y="3625"/>
                </a:lnTo>
                <a:lnTo>
                  <a:pt x="58241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281527" y="3398392"/>
            <a:ext cx="257175" cy="597535"/>
          </a:xfrm>
          <a:custGeom>
            <a:avLst/>
            <a:gdLst/>
            <a:ahLst/>
            <a:cxnLst/>
            <a:rect l="l" t="t" r="r" b="b"/>
            <a:pathLst>
              <a:path w="257175" h="597535">
                <a:moveTo>
                  <a:pt x="24578" y="341213"/>
                </a:moveTo>
                <a:lnTo>
                  <a:pt x="13858" y="344932"/>
                </a:lnTo>
                <a:lnTo>
                  <a:pt x="5413" y="352508"/>
                </a:lnTo>
                <a:lnTo>
                  <a:pt x="682" y="362394"/>
                </a:lnTo>
                <a:lnTo>
                  <a:pt x="0" y="373328"/>
                </a:lnTo>
                <a:lnTo>
                  <a:pt x="3698" y="384048"/>
                </a:lnTo>
                <a:lnTo>
                  <a:pt x="129555" y="597154"/>
                </a:lnTo>
                <a:lnTo>
                  <a:pt x="162132" y="540639"/>
                </a:lnTo>
                <a:lnTo>
                  <a:pt x="100726" y="540639"/>
                </a:lnTo>
                <a:lnTo>
                  <a:pt x="100155" y="434946"/>
                </a:lnTo>
                <a:lnTo>
                  <a:pt x="52974" y="354965"/>
                </a:lnTo>
                <a:lnTo>
                  <a:pt x="45398" y="346539"/>
                </a:lnTo>
                <a:lnTo>
                  <a:pt x="35512" y="341852"/>
                </a:lnTo>
                <a:lnTo>
                  <a:pt x="24578" y="341213"/>
                </a:lnTo>
                <a:close/>
              </a:path>
              <a:path w="257175" h="597535">
                <a:moveTo>
                  <a:pt x="100155" y="434946"/>
                </a:moveTo>
                <a:lnTo>
                  <a:pt x="100726" y="540639"/>
                </a:lnTo>
                <a:lnTo>
                  <a:pt x="157876" y="540258"/>
                </a:lnTo>
                <a:lnTo>
                  <a:pt x="157800" y="526161"/>
                </a:lnTo>
                <a:lnTo>
                  <a:pt x="104536" y="526161"/>
                </a:lnTo>
                <a:lnTo>
                  <a:pt x="128956" y="483770"/>
                </a:lnTo>
                <a:lnTo>
                  <a:pt x="100155" y="434946"/>
                </a:lnTo>
                <a:close/>
              </a:path>
              <a:path w="257175" h="597535">
                <a:moveTo>
                  <a:pt x="231868" y="340058"/>
                </a:moveTo>
                <a:lnTo>
                  <a:pt x="220948" y="340836"/>
                </a:lnTo>
                <a:lnTo>
                  <a:pt x="211099" y="345662"/>
                </a:lnTo>
                <a:lnTo>
                  <a:pt x="203596" y="354203"/>
                </a:lnTo>
                <a:lnTo>
                  <a:pt x="157305" y="434560"/>
                </a:lnTo>
                <a:lnTo>
                  <a:pt x="157876" y="540258"/>
                </a:lnTo>
                <a:lnTo>
                  <a:pt x="100726" y="540639"/>
                </a:lnTo>
                <a:lnTo>
                  <a:pt x="162132" y="540639"/>
                </a:lnTo>
                <a:lnTo>
                  <a:pt x="253126" y="382778"/>
                </a:lnTo>
                <a:lnTo>
                  <a:pt x="256730" y="371986"/>
                </a:lnTo>
                <a:lnTo>
                  <a:pt x="255952" y="361029"/>
                </a:lnTo>
                <a:lnTo>
                  <a:pt x="251126" y="351166"/>
                </a:lnTo>
                <a:lnTo>
                  <a:pt x="242585" y="343662"/>
                </a:lnTo>
                <a:lnTo>
                  <a:pt x="231868" y="340058"/>
                </a:lnTo>
                <a:close/>
              </a:path>
              <a:path w="257175" h="597535">
                <a:moveTo>
                  <a:pt x="128956" y="483770"/>
                </a:moveTo>
                <a:lnTo>
                  <a:pt x="104536" y="526161"/>
                </a:lnTo>
                <a:lnTo>
                  <a:pt x="153812" y="525907"/>
                </a:lnTo>
                <a:lnTo>
                  <a:pt x="128956" y="483770"/>
                </a:lnTo>
                <a:close/>
              </a:path>
              <a:path w="257175" h="597535">
                <a:moveTo>
                  <a:pt x="157305" y="434560"/>
                </a:moveTo>
                <a:lnTo>
                  <a:pt x="128956" y="483770"/>
                </a:lnTo>
                <a:lnTo>
                  <a:pt x="153812" y="525907"/>
                </a:lnTo>
                <a:lnTo>
                  <a:pt x="104536" y="526161"/>
                </a:lnTo>
                <a:lnTo>
                  <a:pt x="157800" y="526161"/>
                </a:lnTo>
                <a:lnTo>
                  <a:pt x="157305" y="434560"/>
                </a:lnTo>
                <a:close/>
              </a:path>
              <a:path w="257175" h="597535">
                <a:moveTo>
                  <a:pt x="154955" y="0"/>
                </a:moveTo>
                <a:lnTo>
                  <a:pt x="97805" y="254"/>
                </a:lnTo>
                <a:lnTo>
                  <a:pt x="100155" y="434946"/>
                </a:lnTo>
                <a:lnTo>
                  <a:pt x="128956" y="483770"/>
                </a:lnTo>
                <a:lnTo>
                  <a:pt x="157305" y="434560"/>
                </a:lnTo>
                <a:lnTo>
                  <a:pt x="154955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191372" y="1860480"/>
            <a:ext cx="256540" cy="852805"/>
          </a:xfrm>
          <a:custGeom>
            <a:avLst/>
            <a:gdLst/>
            <a:ahLst/>
            <a:cxnLst/>
            <a:rect l="l" t="t" r="r" b="b"/>
            <a:pathLst>
              <a:path w="256540" h="852805">
                <a:moveTo>
                  <a:pt x="187451" y="237714"/>
                </a:moveTo>
                <a:lnTo>
                  <a:pt x="187451" y="852239"/>
                </a:lnTo>
                <a:lnTo>
                  <a:pt x="244601" y="852239"/>
                </a:lnTo>
                <a:lnTo>
                  <a:pt x="244601" y="256678"/>
                </a:lnTo>
                <a:lnTo>
                  <a:pt x="224460" y="256678"/>
                </a:lnTo>
                <a:lnTo>
                  <a:pt x="213741" y="253053"/>
                </a:lnTo>
                <a:lnTo>
                  <a:pt x="187451" y="237714"/>
                </a:lnTo>
                <a:close/>
              </a:path>
              <a:path w="256540" h="852805">
                <a:moveTo>
                  <a:pt x="187451" y="171518"/>
                </a:moveTo>
                <a:lnTo>
                  <a:pt x="187451" y="237714"/>
                </a:lnTo>
                <a:lnTo>
                  <a:pt x="213741" y="253053"/>
                </a:lnTo>
                <a:lnTo>
                  <a:pt x="224460" y="256678"/>
                </a:lnTo>
                <a:lnTo>
                  <a:pt x="235394" y="255958"/>
                </a:lnTo>
                <a:lnTo>
                  <a:pt x="244601" y="251539"/>
                </a:lnTo>
                <a:lnTo>
                  <a:pt x="244601" y="205472"/>
                </a:lnTo>
                <a:lnTo>
                  <a:pt x="242570" y="203650"/>
                </a:lnTo>
                <a:lnTo>
                  <a:pt x="187451" y="171518"/>
                </a:lnTo>
                <a:close/>
              </a:path>
              <a:path w="256540" h="852805">
                <a:moveTo>
                  <a:pt x="244601" y="251539"/>
                </a:moveTo>
                <a:lnTo>
                  <a:pt x="235394" y="255958"/>
                </a:lnTo>
                <a:lnTo>
                  <a:pt x="224460" y="256678"/>
                </a:lnTo>
                <a:lnTo>
                  <a:pt x="244601" y="256678"/>
                </a:lnTo>
                <a:lnTo>
                  <a:pt x="244601" y="251539"/>
                </a:lnTo>
                <a:close/>
              </a:path>
              <a:path w="256540" h="852805">
                <a:moveTo>
                  <a:pt x="244601" y="205472"/>
                </a:moveTo>
                <a:lnTo>
                  <a:pt x="244601" y="251539"/>
                </a:lnTo>
                <a:lnTo>
                  <a:pt x="245280" y="251213"/>
                </a:lnTo>
                <a:lnTo>
                  <a:pt x="252856" y="242766"/>
                </a:lnTo>
                <a:lnTo>
                  <a:pt x="256482" y="232046"/>
                </a:lnTo>
                <a:lnTo>
                  <a:pt x="255762" y="221112"/>
                </a:lnTo>
                <a:lnTo>
                  <a:pt x="251017" y="211226"/>
                </a:lnTo>
                <a:lnTo>
                  <a:pt x="244601" y="205472"/>
                </a:lnTo>
                <a:close/>
              </a:path>
              <a:path w="256540" h="852805">
                <a:moveTo>
                  <a:pt x="224460" y="0"/>
                </a:moveTo>
                <a:lnTo>
                  <a:pt x="213741" y="3625"/>
                </a:lnTo>
                <a:lnTo>
                  <a:pt x="0" y="128339"/>
                </a:lnTo>
                <a:lnTo>
                  <a:pt x="187451" y="237714"/>
                </a:lnTo>
                <a:lnTo>
                  <a:pt x="187451" y="171518"/>
                </a:lnTo>
                <a:lnTo>
                  <a:pt x="162400" y="156914"/>
                </a:lnTo>
                <a:lnTo>
                  <a:pt x="56642" y="156914"/>
                </a:lnTo>
                <a:lnTo>
                  <a:pt x="56642" y="99764"/>
                </a:lnTo>
                <a:lnTo>
                  <a:pt x="162400" y="99764"/>
                </a:lnTo>
                <a:lnTo>
                  <a:pt x="242570" y="53028"/>
                </a:lnTo>
                <a:lnTo>
                  <a:pt x="251017" y="45452"/>
                </a:lnTo>
                <a:lnTo>
                  <a:pt x="255762" y="35565"/>
                </a:lnTo>
                <a:lnTo>
                  <a:pt x="256482" y="24632"/>
                </a:lnTo>
                <a:lnTo>
                  <a:pt x="252856" y="13912"/>
                </a:lnTo>
                <a:lnTo>
                  <a:pt x="245280" y="5464"/>
                </a:lnTo>
                <a:lnTo>
                  <a:pt x="235394" y="720"/>
                </a:lnTo>
                <a:lnTo>
                  <a:pt x="224460" y="0"/>
                </a:lnTo>
                <a:close/>
              </a:path>
              <a:path w="256540" h="852805">
                <a:moveTo>
                  <a:pt x="187451" y="128339"/>
                </a:moveTo>
                <a:lnTo>
                  <a:pt x="187451" y="171518"/>
                </a:lnTo>
                <a:lnTo>
                  <a:pt x="242570" y="203650"/>
                </a:lnTo>
                <a:lnTo>
                  <a:pt x="244601" y="205472"/>
                </a:lnTo>
                <a:lnTo>
                  <a:pt x="244601" y="156914"/>
                </a:lnTo>
                <a:lnTo>
                  <a:pt x="216026" y="156914"/>
                </a:lnTo>
                <a:lnTo>
                  <a:pt x="187451" y="128339"/>
                </a:lnTo>
                <a:close/>
              </a:path>
              <a:path w="256540" h="852805">
                <a:moveTo>
                  <a:pt x="162400" y="99764"/>
                </a:moveTo>
                <a:lnTo>
                  <a:pt x="56642" y="99764"/>
                </a:lnTo>
                <a:lnTo>
                  <a:pt x="56642" y="156914"/>
                </a:lnTo>
                <a:lnTo>
                  <a:pt x="162400" y="156914"/>
                </a:lnTo>
                <a:lnTo>
                  <a:pt x="155646" y="152977"/>
                </a:lnTo>
                <a:lnTo>
                  <a:pt x="71120" y="152977"/>
                </a:lnTo>
                <a:lnTo>
                  <a:pt x="71120" y="103701"/>
                </a:lnTo>
                <a:lnTo>
                  <a:pt x="155646" y="103701"/>
                </a:lnTo>
                <a:lnTo>
                  <a:pt x="162400" y="99764"/>
                </a:lnTo>
                <a:close/>
              </a:path>
              <a:path w="256540" h="852805">
                <a:moveTo>
                  <a:pt x="216026" y="99764"/>
                </a:moveTo>
                <a:lnTo>
                  <a:pt x="162400" y="99764"/>
                </a:lnTo>
                <a:lnTo>
                  <a:pt x="113383" y="128339"/>
                </a:lnTo>
                <a:lnTo>
                  <a:pt x="162400" y="156914"/>
                </a:lnTo>
                <a:lnTo>
                  <a:pt x="187451" y="156914"/>
                </a:lnTo>
                <a:lnTo>
                  <a:pt x="187451" y="128339"/>
                </a:lnTo>
                <a:lnTo>
                  <a:pt x="244601" y="128339"/>
                </a:lnTo>
                <a:lnTo>
                  <a:pt x="242351" y="117230"/>
                </a:lnTo>
                <a:lnTo>
                  <a:pt x="236220" y="108146"/>
                </a:lnTo>
                <a:lnTo>
                  <a:pt x="227135" y="102014"/>
                </a:lnTo>
                <a:lnTo>
                  <a:pt x="216026" y="99764"/>
                </a:lnTo>
                <a:close/>
              </a:path>
              <a:path w="256540" h="852805">
                <a:moveTo>
                  <a:pt x="244601" y="128339"/>
                </a:moveTo>
                <a:lnTo>
                  <a:pt x="187451" y="128339"/>
                </a:lnTo>
                <a:lnTo>
                  <a:pt x="216026" y="156914"/>
                </a:lnTo>
                <a:lnTo>
                  <a:pt x="244601" y="156914"/>
                </a:lnTo>
                <a:lnTo>
                  <a:pt x="244601" y="128339"/>
                </a:lnTo>
                <a:close/>
              </a:path>
              <a:path w="256540" h="852805">
                <a:moveTo>
                  <a:pt x="71120" y="103701"/>
                </a:moveTo>
                <a:lnTo>
                  <a:pt x="71120" y="152977"/>
                </a:lnTo>
                <a:lnTo>
                  <a:pt x="113383" y="128339"/>
                </a:lnTo>
                <a:lnTo>
                  <a:pt x="71120" y="103701"/>
                </a:lnTo>
                <a:close/>
              </a:path>
              <a:path w="256540" h="852805">
                <a:moveTo>
                  <a:pt x="113383" y="128339"/>
                </a:moveTo>
                <a:lnTo>
                  <a:pt x="71120" y="152977"/>
                </a:lnTo>
                <a:lnTo>
                  <a:pt x="155646" y="152977"/>
                </a:lnTo>
                <a:lnTo>
                  <a:pt x="113383" y="128339"/>
                </a:lnTo>
                <a:close/>
              </a:path>
              <a:path w="256540" h="852805">
                <a:moveTo>
                  <a:pt x="155646" y="103701"/>
                </a:moveTo>
                <a:lnTo>
                  <a:pt x="71120" y="103701"/>
                </a:lnTo>
                <a:lnTo>
                  <a:pt x="113383" y="128339"/>
                </a:lnTo>
                <a:lnTo>
                  <a:pt x="155646" y="103701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480683" y="599312"/>
            <a:ext cx="431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26453" y="1583181"/>
            <a:ext cx="1714500" cy="73406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485775" marR="43180" indent="-435609">
              <a:lnSpc>
                <a:spcPct val="77700"/>
              </a:lnSpc>
              <a:spcBef>
                <a:spcPts val="844"/>
              </a:spcBef>
            </a:pPr>
            <a:r>
              <a:rPr sz="4200" b="1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850" b="1" dirty="0">
                <a:solidFill>
                  <a:srgbClr val="FFFFFF"/>
                </a:solidFill>
                <a:latin typeface="Times New Roman"/>
                <a:cs typeface="Times New Roman"/>
              </a:rPr>
              <a:t>2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:a=b+c  d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:d=a-c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91478" y="2477769"/>
            <a:ext cx="431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81059" y="2304668"/>
            <a:ext cx="431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94502" y="3590925"/>
            <a:ext cx="431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49209" y="3555872"/>
            <a:ext cx="431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561326" y="1675638"/>
            <a:ext cx="289560" cy="360045"/>
          </a:xfrm>
          <a:custGeom>
            <a:avLst/>
            <a:gdLst/>
            <a:ahLst/>
            <a:cxnLst/>
            <a:rect l="l" t="t" r="r" b="b"/>
            <a:pathLst>
              <a:path w="289559" h="360044">
                <a:moveTo>
                  <a:pt x="0" y="179832"/>
                </a:moveTo>
                <a:lnTo>
                  <a:pt x="5168" y="132027"/>
                </a:lnTo>
                <a:lnTo>
                  <a:pt x="19755" y="89069"/>
                </a:lnTo>
                <a:lnTo>
                  <a:pt x="42386" y="52673"/>
                </a:lnTo>
                <a:lnTo>
                  <a:pt x="71684" y="24553"/>
                </a:lnTo>
                <a:lnTo>
                  <a:pt x="106274" y="6424"/>
                </a:lnTo>
                <a:lnTo>
                  <a:pt x="144779" y="0"/>
                </a:lnTo>
                <a:lnTo>
                  <a:pt x="183285" y="6424"/>
                </a:lnTo>
                <a:lnTo>
                  <a:pt x="217875" y="24553"/>
                </a:lnTo>
                <a:lnTo>
                  <a:pt x="247173" y="52673"/>
                </a:lnTo>
                <a:lnTo>
                  <a:pt x="269804" y="89069"/>
                </a:lnTo>
                <a:lnTo>
                  <a:pt x="284391" y="132027"/>
                </a:lnTo>
                <a:lnTo>
                  <a:pt x="289559" y="179832"/>
                </a:lnTo>
                <a:lnTo>
                  <a:pt x="284391" y="227636"/>
                </a:lnTo>
                <a:lnTo>
                  <a:pt x="269804" y="270594"/>
                </a:lnTo>
                <a:lnTo>
                  <a:pt x="247173" y="306990"/>
                </a:lnTo>
                <a:lnTo>
                  <a:pt x="217875" y="335110"/>
                </a:lnTo>
                <a:lnTo>
                  <a:pt x="183285" y="353239"/>
                </a:lnTo>
                <a:lnTo>
                  <a:pt x="144779" y="359663"/>
                </a:lnTo>
                <a:lnTo>
                  <a:pt x="106274" y="353239"/>
                </a:lnTo>
                <a:lnTo>
                  <a:pt x="71684" y="335110"/>
                </a:lnTo>
                <a:lnTo>
                  <a:pt x="42386" y="306990"/>
                </a:lnTo>
                <a:lnTo>
                  <a:pt x="19755" y="270594"/>
                </a:lnTo>
                <a:lnTo>
                  <a:pt x="5168" y="227636"/>
                </a:lnTo>
                <a:lnTo>
                  <a:pt x="0" y="1798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571993" y="1980438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90" h="360044">
                <a:moveTo>
                  <a:pt x="0" y="179832"/>
                </a:moveTo>
                <a:lnTo>
                  <a:pt x="5147" y="132027"/>
                </a:lnTo>
                <a:lnTo>
                  <a:pt x="19670" y="89069"/>
                </a:lnTo>
                <a:lnTo>
                  <a:pt x="42195" y="52673"/>
                </a:lnTo>
                <a:lnTo>
                  <a:pt x="71345" y="24553"/>
                </a:lnTo>
                <a:lnTo>
                  <a:pt x="105745" y="6424"/>
                </a:lnTo>
                <a:lnTo>
                  <a:pt x="144017" y="0"/>
                </a:lnTo>
                <a:lnTo>
                  <a:pt x="182290" y="6424"/>
                </a:lnTo>
                <a:lnTo>
                  <a:pt x="216690" y="24553"/>
                </a:lnTo>
                <a:lnTo>
                  <a:pt x="245840" y="52673"/>
                </a:lnTo>
                <a:lnTo>
                  <a:pt x="268365" y="89069"/>
                </a:lnTo>
                <a:lnTo>
                  <a:pt x="282888" y="132027"/>
                </a:lnTo>
                <a:lnTo>
                  <a:pt x="288035" y="179832"/>
                </a:lnTo>
                <a:lnTo>
                  <a:pt x="282888" y="227636"/>
                </a:lnTo>
                <a:lnTo>
                  <a:pt x="268365" y="270594"/>
                </a:lnTo>
                <a:lnTo>
                  <a:pt x="245840" y="306990"/>
                </a:lnTo>
                <a:lnTo>
                  <a:pt x="216690" y="335110"/>
                </a:lnTo>
                <a:lnTo>
                  <a:pt x="182290" y="353239"/>
                </a:lnTo>
                <a:lnTo>
                  <a:pt x="144017" y="359663"/>
                </a:lnTo>
                <a:lnTo>
                  <a:pt x="105745" y="353239"/>
                </a:lnTo>
                <a:lnTo>
                  <a:pt x="71345" y="335110"/>
                </a:lnTo>
                <a:lnTo>
                  <a:pt x="42195" y="306990"/>
                </a:lnTo>
                <a:lnTo>
                  <a:pt x="19670" y="270594"/>
                </a:lnTo>
                <a:lnTo>
                  <a:pt x="5147" y="227636"/>
                </a:lnTo>
                <a:lnTo>
                  <a:pt x="0" y="1798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597905" y="4861102"/>
            <a:ext cx="1959610" cy="9398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340"/>
              </a:spcBef>
            </a:pPr>
            <a:r>
              <a:rPr sz="4200" b="1" spc="7" baseline="10912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185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3- (b)ud</a:t>
            </a:r>
            <a:r>
              <a:rPr sz="4200" b="1" spc="7" baseline="10912" dirty="0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sz="4200" b="1" spc="-412" baseline="10912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4200" b="1" baseline="16865" dirty="0">
                <a:solidFill>
                  <a:srgbClr val="66FFFF"/>
                </a:solidFill>
                <a:latin typeface="Times New Roman"/>
                <a:cs typeface="Times New Roman"/>
              </a:rPr>
              <a:t>{d</a:t>
            </a:r>
            <a:r>
              <a:rPr sz="2775" b="1" baseline="4504" dirty="0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sz="4200" b="1" baseline="16865" dirty="0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4200" baseline="16865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40"/>
              </a:spcBef>
            </a:pPr>
            <a:r>
              <a:rPr sz="4200" b="1" spc="7" baseline="10912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185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4- (a)ud</a:t>
            </a:r>
            <a:r>
              <a:rPr sz="4200" b="1" spc="7" baseline="10912" dirty="0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sz="4200" b="1" spc="-254" baseline="10912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4200" b="1" baseline="16865" dirty="0">
                <a:solidFill>
                  <a:srgbClr val="66FFFF"/>
                </a:solidFill>
                <a:latin typeface="Times New Roman"/>
                <a:cs typeface="Times New Roman"/>
              </a:rPr>
              <a:t>{d</a:t>
            </a:r>
            <a:r>
              <a:rPr sz="2775" b="1" baseline="4504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r>
              <a:rPr sz="4200" b="1" baseline="16865" dirty="0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4200" baseline="16865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791193" y="2771394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90" h="360044">
                <a:moveTo>
                  <a:pt x="0" y="179831"/>
                </a:moveTo>
                <a:lnTo>
                  <a:pt x="5147" y="132027"/>
                </a:lnTo>
                <a:lnTo>
                  <a:pt x="19670" y="89069"/>
                </a:lnTo>
                <a:lnTo>
                  <a:pt x="42195" y="52673"/>
                </a:lnTo>
                <a:lnTo>
                  <a:pt x="71345" y="24553"/>
                </a:lnTo>
                <a:lnTo>
                  <a:pt x="105745" y="6424"/>
                </a:lnTo>
                <a:lnTo>
                  <a:pt x="144017" y="0"/>
                </a:lnTo>
                <a:lnTo>
                  <a:pt x="182290" y="6424"/>
                </a:lnTo>
                <a:lnTo>
                  <a:pt x="216690" y="24553"/>
                </a:lnTo>
                <a:lnTo>
                  <a:pt x="245840" y="52673"/>
                </a:lnTo>
                <a:lnTo>
                  <a:pt x="268365" y="89069"/>
                </a:lnTo>
                <a:lnTo>
                  <a:pt x="282888" y="132027"/>
                </a:lnTo>
                <a:lnTo>
                  <a:pt x="288035" y="179831"/>
                </a:lnTo>
                <a:lnTo>
                  <a:pt x="282888" y="227636"/>
                </a:lnTo>
                <a:lnTo>
                  <a:pt x="268365" y="270594"/>
                </a:lnTo>
                <a:lnTo>
                  <a:pt x="245840" y="306990"/>
                </a:lnTo>
                <a:lnTo>
                  <a:pt x="216690" y="335110"/>
                </a:lnTo>
                <a:lnTo>
                  <a:pt x="182290" y="353239"/>
                </a:lnTo>
                <a:lnTo>
                  <a:pt x="144017" y="359663"/>
                </a:lnTo>
                <a:lnTo>
                  <a:pt x="105745" y="353239"/>
                </a:lnTo>
                <a:lnTo>
                  <a:pt x="71345" y="335110"/>
                </a:lnTo>
                <a:lnTo>
                  <a:pt x="42195" y="306990"/>
                </a:lnTo>
                <a:lnTo>
                  <a:pt x="19670" y="270594"/>
                </a:lnTo>
                <a:lnTo>
                  <a:pt x="5147" y="227636"/>
                </a:lnTo>
                <a:lnTo>
                  <a:pt x="0" y="17983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613653" y="5822391"/>
            <a:ext cx="222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85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5811773" y="6009843"/>
            <a:ext cx="81153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6-</a:t>
            </a:r>
            <a:r>
              <a:rPr sz="1850" b="1" spc="-5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85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(c)ud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60311" y="5786120"/>
            <a:ext cx="14865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4200" b="1" spc="-7" baseline="-5952" dirty="0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{d</a:t>
            </a:r>
            <a:r>
              <a:rPr sz="2775" b="1" baseline="-21021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,</a:t>
            </a:r>
            <a:r>
              <a:rPr sz="2800" b="1" spc="-70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sz="2775" b="1" spc="7" baseline="-21021" dirty="0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1640" y="0"/>
            <a:ext cx="7900034" cy="514477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563370">
              <a:lnSpc>
                <a:spcPct val="100000"/>
              </a:lnSpc>
              <a:spcBef>
                <a:spcPts val="495"/>
              </a:spcBef>
              <a:tabLst>
                <a:tab pos="2206625" algn="l"/>
                <a:tab pos="4815840" algn="l"/>
                <a:tab pos="532511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8.4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数据流分析基础</a:t>
            </a:r>
            <a:endParaRPr sz="2000">
              <a:latin typeface="宋体"/>
              <a:cs typeface="宋体"/>
            </a:endParaRPr>
          </a:p>
          <a:p>
            <a:pPr marL="384810" marR="3090545" indent="-384810">
              <a:lnSpc>
                <a:spcPts val="6350"/>
              </a:lnSpc>
              <a:spcBef>
                <a:spcPts val="470"/>
              </a:spcBef>
              <a:buClr>
                <a:srgbClr val="66FFFF"/>
              </a:buClr>
              <a:buSzPct val="145312"/>
              <a:buFont typeface="Wingdings"/>
              <a:buChar char=""/>
              <a:tabLst>
                <a:tab pos="384810" algn="l"/>
              </a:tabLst>
            </a:pP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可用表达</a:t>
            </a:r>
            <a:r>
              <a:rPr sz="32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式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数据流方程 </a:t>
            </a:r>
            <a:r>
              <a:rPr sz="32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表达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式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x+</a:t>
            </a:r>
            <a:r>
              <a:rPr sz="3200" b="1" u="heavy" spc="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y</a:t>
            </a:r>
            <a:r>
              <a:rPr sz="32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在点</a:t>
            </a:r>
            <a:r>
              <a:rPr sz="32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可</a:t>
            </a:r>
            <a:r>
              <a:rPr sz="3200" b="1" u="heavy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用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359535">
              <a:lnSpc>
                <a:spcPct val="100000"/>
              </a:lnSpc>
              <a:spcBef>
                <a:spcPts val="52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如果从初始结点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每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条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路</a:t>
            </a: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径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上都</a:t>
            </a:r>
            <a:endParaRPr sz="3200">
              <a:latin typeface="宋体"/>
              <a:cs typeface="宋体"/>
            </a:endParaRPr>
          </a:p>
          <a:p>
            <a:pPr marL="647700" marR="5080">
              <a:lnSpc>
                <a:spcPts val="4990"/>
              </a:lnSpc>
              <a:spcBef>
                <a:spcPts val="360"/>
              </a:spcBef>
            </a:pP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x+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最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后一</a:t>
            </a:r>
            <a:r>
              <a:rPr sz="3200" b="1" spc="15" dirty="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x+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之间未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定值，则表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达</a:t>
            </a:r>
            <a:r>
              <a:rPr sz="3200" b="1" spc="15" dirty="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x+y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647700" marR="179070" indent="711200">
              <a:lnSpc>
                <a:spcPts val="4990"/>
              </a:lnSpc>
              <a:spcBef>
                <a:spcPts val="5"/>
              </a:spcBef>
            </a:pP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若有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的定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，则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用的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x+y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被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注销。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86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72436" y="26923"/>
            <a:ext cx="16935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25288" y="26923"/>
            <a:ext cx="23266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数据流分析基础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41982" y="717041"/>
            <a:ext cx="1586865" cy="472440"/>
          </a:xfrm>
          <a:prstGeom prst="rect">
            <a:avLst/>
          </a:prstGeom>
          <a:ln w="38100">
            <a:solidFill>
              <a:srgbClr val="99FF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3229"/>
              </a:lnSpc>
            </a:pP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775" u="none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=4*i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41982" y="2718054"/>
            <a:ext cx="1586865" cy="474345"/>
          </a:xfrm>
          <a:custGeom>
            <a:avLst/>
            <a:gdLst/>
            <a:ahLst/>
            <a:cxnLst/>
            <a:rect l="l" t="t" r="r" b="b"/>
            <a:pathLst>
              <a:path w="1586864" h="474344">
                <a:moveTo>
                  <a:pt x="0" y="473963"/>
                </a:moveTo>
                <a:lnTo>
                  <a:pt x="1586483" y="473963"/>
                </a:lnTo>
                <a:lnTo>
                  <a:pt x="1586483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ln w="38100">
            <a:solidFill>
              <a:srgbClr val="99FF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3513" y="1791461"/>
            <a:ext cx="1586865" cy="472440"/>
          </a:xfrm>
          <a:prstGeom prst="rect">
            <a:avLst/>
          </a:prstGeom>
          <a:ln w="38100">
            <a:solidFill>
              <a:srgbClr val="99FF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8605">
              <a:lnSpc>
                <a:spcPts val="3235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28394" y="1172844"/>
            <a:ext cx="1076325" cy="619125"/>
          </a:xfrm>
          <a:custGeom>
            <a:avLst/>
            <a:gdLst/>
            <a:ahLst/>
            <a:cxnLst/>
            <a:rect l="l" t="t" r="r" b="b"/>
            <a:pathLst>
              <a:path w="1076325" h="619125">
                <a:moveTo>
                  <a:pt x="71500" y="512699"/>
                </a:moveTo>
                <a:lnTo>
                  <a:pt x="0" y="618616"/>
                </a:lnTo>
                <a:lnTo>
                  <a:pt x="127635" y="612266"/>
                </a:lnTo>
                <a:lnTo>
                  <a:pt x="114174" y="588390"/>
                </a:lnTo>
                <a:lnTo>
                  <a:pt x="92329" y="588390"/>
                </a:lnTo>
                <a:lnTo>
                  <a:pt x="73532" y="555243"/>
                </a:lnTo>
                <a:lnTo>
                  <a:pt x="90187" y="545844"/>
                </a:lnTo>
                <a:lnTo>
                  <a:pt x="71500" y="512699"/>
                </a:lnTo>
                <a:close/>
              </a:path>
              <a:path w="1076325" h="619125">
                <a:moveTo>
                  <a:pt x="90187" y="545844"/>
                </a:moveTo>
                <a:lnTo>
                  <a:pt x="73532" y="555243"/>
                </a:lnTo>
                <a:lnTo>
                  <a:pt x="92329" y="588390"/>
                </a:lnTo>
                <a:lnTo>
                  <a:pt x="108902" y="579039"/>
                </a:lnTo>
                <a:lnTo>
                  <a:pt x="90187" y="545844"/>
                </a:lnTo>
                <a:close/>
              </a:path>
              <a:path w="1076325" h="619125">
                <a:moveTo>
                  <a:pt x="108902" y="579039"/>
                </a:moveTo>
                <a:lnTo>
                  <a:pt x="92329" y="588390"/>
                </a:lnTo>
                <a:lnTo>
                  <a:pt x="114174" y="588390"/>
                </a:lnTo>
                <a:lnTo>
                  <a:pt x="108902" y="579039"/>
                </a:lnTo>
                <a:close/>
              </a:path>
              <a:path w="1076325" h="619125">
                <a:moveTo>
                  <a:pt x="1057402" y="0"/>
                </a:moveTo>
                <a:lnTo>
                  <a:pt x="90187" y="545844"/>
                </a:lnTo>
                <a:lnTo>
                  <a:pt x="108902" y="579039"/>
                </a:lnTo>
                <a:lnTo>
                  <a:pt x="1076198" y="33274"/>
                </a:lnTo>
                <a:lnTo>
                  <a:pt x="105740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20900" y="2246376"/>
            <a:ext cx="1074420" cy="480059"/>
          </a:xfrm>
          <a:custGeom>
            <a:avLst/>
            <a:gdLst/>
            <a:ahLst/>
            <a:cxnLst/>
            <a:rect l="l" t="t" r="r" b="b"/>
            <a:pathLst>
              <a:path w="1074420" h="480060">
                <a:moveTo>
                  <a:pt x="961698" y="444428"/>
                </a:moveTo>
                <a:lnTo>
                  <a:pt x="946785" y="479551"/>
                </a:lnTo>
                <a:lnTo>
                  <a:pt x="1074293" y="471677"/>
                </a:lnTo>
                <a:lnTo>
                  <a:pt x="1057451" y="451865"/>
                </a:lnTo>
                <a:lnTo>
                  <a:pt x="979169" y="451865"/>
                </a:lnTo>
                <a:lnTo>
                  <a:pt x="961698" y="444428"/>
                </a:lnTo>
                <a:close/>
              </a:path>
              <a:path w="1074420" h="480060">
                <a:moveTo>
                  <a:pt x="976597" y="409339"/>
                </a:moveTo>
                <a:lnTo>
                  <a:pt x="961698" y="444428"/>
                </a:lnTo>
                <a:lnTo>
                  <a:pt x="979169" y="451865"/>
                </a:lnTo>
                <a:lnTo>
                  <a:pt x="994156" y="416813"/>
                </a:lnTo>
                <a:lnTo>
                  <a:pt x="976597" y="409339"/>
                </a:lnTo>
                <a:close/>
              </a:path>
              <a:path w="1074420" h="480060">
                <a:moveTo>
                  <a:pt x="991488" y="374269"/>
                </a:moveTo>
                <a:lnTo>
                  <a:pt x="976597" y="409339"/>
                </a:lnTo>
                <a:lnTo>
                  <a:pt x="994156" y="416813"/>
                </a:lnTo>
                <a:lnTo>
                  <a:pt x="979169" y="451865"/>
                </a:lnTo>
                <a:lnTo>
                  <a:pt x="1057451" y="451865"/>
                </a:lnTo>
                <a:lnTo>
                  <a:pt x="991488" y="374269"/>
                </a:lnTo>
                <a:close/>
              </a:path>
              <a:path w="1074420" h="480060">
                <a:moveTo>
                  <a:pt x="14986" y="0"/>
                </a:moveTo>
                <a:lnTo>
                  <a:pt x="0" y="35051"/>
                </a:lnTo>
                <a:lnTo>
                  <a:pt x="961698" y="444428"/>
                </a:lnTo>
                <a:lnTo>
                  <a:pt x="976597" y="409339"/>
                </a:lnTo>
                <a:lnTo>
                  <a:pt x="1498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07435" y="1189482"/>
            <a:ext cx="114300" cy="1529080"/>
          </a:xfrm>
          <a:custGeom>
            <a:avLst/>
            <a:gdLst/>
            <a:ahLst/>
            <a:cxnLst/>
            <a:rect l="l" t="t" r="r" b="b"/>
            <a:pathLst>
              <a:path w="114300" h="1529080">
                <a:moveTo>
                  <a:pt x="38100" y="1414271"/>
                </a:moveTo>
                <a:lnTo>
                  <a:pt x="0" y="1414271"/>
                </a:lnTo>
                <a:lnTo>
                  <a:pt x="57150" y="1528571"/>
                </a:lnTo>
                <a:lnTo>
                  <a:pt x="104775" y="1433321"/>
                </a:lnTo>
                <a:lnTo>
                  <a:pt x="38100" y="1433321"/>
                </a:lnTo>
                <a:lnTo>
                  <a:pt x="38100" y="1414271"/>
                </a:lnTo>
                <a:close/>
              </a:path>
              <a:path w="114300" h="1529080">
                <a:moveTo>
                  <a:pt x="76200" y="0"/>
                </a:moveTo>
                <a:lnTo>
                  <a:pt x="38100" y="0"/>
                </a:lnTo>
                <a:lnTo>
                  <a:pt x="38100" y="1433321"/>
                </a:lnTo>
                <a:lnTo>
                  <a:pt x="76200" y="1433321"/>
                </a:lnTo>
                <a:lnTo>
                  <a:pt x="76200" y="0"/>
                </a:lnTo>
                <a:close/>
              </a:path>
              <a:path w="114300" h="1529080">
                <a:moveTo>
                  <a:pt x="114300" y="1414271"/>
                </a:moveTo>
                <a:lnTo>
                  <a:pt x="76200" y="1414271"/>
                </a:lnTo>
                <a:lnTo>
                  <a:pt x="76200" y="1433321"/>
                </a:lnTo>
                <a:lnTo>
                  <a:pt x="104775" y="1433321"/>
                </a:lnTo>
                <a:lnTo>
                  <a:pt x="114300" y="141427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80717" y="702005"/>
            <a:ext cx="3987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sz="2775" b="1" baseline="-15015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775" baseline="-1501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3465" y="1340865"/>
            <a:ext cx="398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sz="2775" b="1" baseline="-15015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775" baseline="-1501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83586" y="2265614"/>
            <a:ext cx="1486535" cy="87756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315"/>
              </a:spcBef>
            </a:pPr>
            <a:r>
              <a:rPr sz="24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sz="2775" b="1" spc="15" baseline="-15015" dirty="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775" baseline="-15015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50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775" b="1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=4*i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55698" y="3699509"/>
            <a:ext cx="1584960" cy="474345"/>
          </a:xfrm>
          <a:prstGeom prst="rect">
            <a:avLst/>
          </a:prstGeom>
          <a:ln w="38100">
            <a:solidFill>
              <a:srgbClr val="99FF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8435">
              <a:lnSpc>
                <a:spcPts val="3240"/>
              </a:lnSpc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775" b="1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=4*i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05989" y="5968746"/>
            <a:ext cx="1586865" cy="472440"/>
          </a:xfrm>
          <a:prstGeom prst="rect">
            <a:avLst/>
          </a:prstGeom>
          <a:ln w="38100">
            <a:solidFill>
              <a:srgbClr val="99FF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3240"/>
              </a:lnSpc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775" b="1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=4*i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5705" y="4773929"/>
            <a:ext cx="1586865" cy="815340"/>
          </a:xfrm>
          <a:custGeom>
            <a:avLst/>
            <a:gdLst/>
            <a:ahLst/>
            <a:cxnLst/>
            <a:rect l="l" t="t" r="r" b="b"/>
            <a:pathLst>
              <a:path w="1586864" h="815339">
                <a:moveTo>
                  <a:pt x="0" y="815340"/>
                </a:moveTo>
                <a:lnTo>
                  <a:pt x="1586483" y="815340"/>
                </a:lnTo>
                <a:lnTo>
                  <a:pt x="1586483" y="0"/>
                </a:lnTo>
                <a:lnTo>
                  <a:pt x="0" y="0"/>
                </a:lnTo>
                <a:lnTo>
                  <a:pt x="0" y="815340"/>
                </a:lnTo>
                <a:close/>
              </a:path>
            </a:pathLst>
          </a:custGeom>
          <a:ln w="38100">
            <a:solidFill>
              <a:srgbClr val="99FF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42085" y="4681854"/>
            <a:ext cx="111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4755" y="5312791"/>
            <a:ext cx="154876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20"/>
              </a:spcBef>
            </a:pPr>
            <a:r>
              <a:rPr sz="185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6993" y="5159939"/>
            <a:ext cx="89535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800" b="1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=4*i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40585" y="4156836"/>
            <a:ext cx="1076325" cy="617220"/>
          </a:xfrm>
          <a:custGeom>
            <a:avLst/>
            <a:gdLst/>
            <a:ahLst/>
            <a:cxnLst/>
            <a:rect l="l" t="t" r="r" b="b"/>
            <a:pathLst>
              <a:path w="1076325" h="617220">
                <a:moveTo>
                  <a:pt x="71627" y="511175"/>
                </a:moveTo>
                <a:lnTo>
                  <a:pt x="0" y="617093"/>
                </a:lnTo>
                <a:lnTo>
                  <a:pt x="127634" y="610869"/>
                </a:lnTo>
                <a:lnTo>
                  <a:pt x="114221" y="586994"/>
                </a:lnTo>
                <a:lnTo>
                  <a:pt x="92328" y="586994"/>
                </a:lnTo>
                <a:lnTo>
                  <a:pt x="73659" y="553719"/>
                </a:lnTo>
                <a:lnTo>
                  <a:pt x="90275" y="544367"/>
                </a:lnTo>
                <a:lnTo>
                  <a:pt x="71627" y="511175"/>
                </a:lnTo>
                <a:close/>
              </a:path>
              <a:path w="1076325" h="617220">
                <a:moveTo>
                  <a:pt x="90275" y="544367"/>
                </a:moveTo>
                <a:lnTo>
                  <a:pt x="73659" y="553719"/>
                </a:lnTo>
                <a:lnTo>
                  <a:pt x="92328" y="586994"/>
                </a:lnTo>
                <a:lnTo>
                  <a:pt x="108962" y="577632"/>
                </a:lnTo>
                <a:lnTo>
                  <a:pt x="90275" y="544367"/>
                </a:lnTo>
                <a:close/>
              </a:path>
              <a:path w="1076325" h="617220">
                <a:moveTo>
                  <a:pt x="108962" y="577632"/>
                </a:moveTo>
                <a:lnTo>
                  <a:pt x="92328" y="586994"/>
                </a:lnTo>
                <a:lnTo>
                  <a:pt x="114221" y="586994"/>
                </a:lnTo>
                <a:lnTo>
                  <a:pt x="108962" y="577632"/>
                </a:lnTo>
                <a:close/>
              </a:path>
              <a:path w="1076325" h="617220">
                <a:moveTo>
                  <a:pt x="1057402" y="0"/>
                </a:moveTo>
                <a:lnTo>
                  <a:pt x="90275" y="544367"/>
                </a:lnTo>
                <a:lnTo>
                  <a:pt x="108962" y="577632"/>
                </a:lnTo>
                <a:lnTo>
                  <a:pt x="1076197" y="33274"/>
                </a:lnTo>
                <a:lnTo>
                  <a:pt x="105740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27225" y="5571744"/>
            <a:ext cx="888365" cy="404495"/>
          </a:xfrm>
          <a:custGeom>
            <a:avLst/>
            <a:gdLst/>
            <a:ahLst/>
            <a:cxnLst/>
            <a:rect l="l" t="t" r="r" b="b"/>
            <a:pathLst>
              <a:path w="888364" h="404495">
                <a:moveTo>
                  <a:pt x="775812" y="369245"/>
                </a:moveTo>
                <a:lnTo>
                  <a:pt x="760730" y="404266"/>
                </a:lnTo>
                <a:lnTo>
                  <a:pt x="888364" y="397001"/>
                </a:lnTo>
                <a:lnTo>
                  <a:pt x="871331" y="376808"/>
                </a:lnTo>
                <a:lnTo>
                  <a:pt x="793369" y="376808"/>
                </a:lnTo>
                <a:lnTo>
                  <a:pt x="775812" y="369245"/>
                </a:lnTo>
                <a:close/>
              </a:path>
              <a:path w="888364" h="404495">
                <a:moveTo>
                  <a:pt x="790888" y="334241"/>
                </a:moveTo>
                <a:lnTo>
                  <a:pt x="775812" y="369245"/>
                </a:lnTo>
                <a:lnTo>
                  <a:pt x="793369" y="376808"/>
                </a:lnTo>
                <a:lnTo>
                  <a:pt x="808482" y="341820"/>
                </a:lnTo>
                <a:lnTo>
                  <a:pt x="790888" y="334241"/>
                </a:lnTo>
                <a:close/>
              </a:path>
              <a:path w="888364" h="404495">
                <a:moveTo>
                  <a:pt x="805942" y="299288"/>
                </a:moveTo>
                <a:lnTo>
                  <a:pt x="790888" y="334241"/>
                </a:lnTo>
                <a:lnTo>
                  <a:pt x="808482" y="341820"/>
                </a:lnTo>
                <a:lnTo>
                  <a:pt x="793369" y="376808"/>
                </a:lnTo>
                <a:lnTo>
                  <a:pt x="871331" y="376808"/>
                </a:lnTo>
                <a:lnTo>
                  <a:pt x="805942" y="299288"/>
                </a:lnTo>
                <a:close/>
              </a:path>
              <a:path w="888364" h="404495">
                <a:moveTo>
                  <a:pt x="14986" y="0"/>
                </a:moveTo>
                <a:lnTo>
                  <a:pt x="0" y="35026"/>
                </a:lnTo>
                <a:lnTo>
                  <a:pt x="775812" y="369245"/>
                </a:lnTo>
                <a:lnTo>
                  <a:pt x="790888" y="334241"/>
                </a:lnTo>
                <a:lnTo>
                  <a:pt x="1498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19627" y="4173473"/>
            <a:ext cx="114300" cy="1795780"/>
          </a:xfrm>
          <a:custGeom>
            <a:avLst/>
            <a:gdLst/>
            <a:ahLst/>
            <a:cxnLst/>
            <a:rect l="l" t="t" r="r" b="b"/>
            <a:pathLst>
              <a:path w="114300" h="1795779">
                <a:moveTo>
                  <a:pt x="38100" y="1680972"/>
                </a:moveTo>
                <a:lnTo>
                  <a:pt x="0" y="1680972"/>
                </a:lnTo>
                <a:lnTo>
                  <a:pt x="57150" y="1795272"/>
                </a:lnTo>
                <a:lnTo>
                  <a:pt x="104775" y="1700022"/>
                </a:lnTo>
                <a:lnTo>
                  <a:pt x="38100" y="1700022"/>
                </a:lnTo>
                <a:lnTo>
                  <a:pt x="38100" y="1680972"/>
                </a:lnTo>
                <a:close/>
              </a:path>
              <a:path w="114300" h="1795779">
                <a:moveTo>
                  <a:pt x="76200" y="0"/>
                </a:moveTo>
                <a:lnTo>
                  <a:pt x="38100" y="0"/>
                </a:lnTo>
                <a:lnTo>
                  <a:pt x="38100" y="1700022"/>
                </a:lnTo>
                <a:lnTo>
                  <a:pt x="76200" y="1700022"/>
                </a:lnTo>
                <a:lnTo>
                  <a:pt x="76200" y="0"/>
                </a:lnTo>
                <a:close/>
              </a:path>
              <a:path w="114300" h="1795779">
                <a:moveTo>
                  <a:pt x="114300" y="1680972"/>
                </a:moveTo>
                <a:lnTo>
                  <a:pt x="76200" y="1680972"/>
                </a:lnTo>
                <a:lnTo>
                  <a:pt x="76200" y="1700022"/>
                </a:lnTo>
                <a:lnTo>
                  <a:pt x="104775" y="1700022"/>
                </a:lnTo>
                <a:lnTo>
                  <a:pt x="114300" y="168097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693417" y="3686047"/>
            <a:ext cx="398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sz="2775" b="1" baseline="-15015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775" baseline="-15015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6267" y="4324045"/>
            <a:ext cx="398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sz="2775" b="1" baseline="-15015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775" baseline="-15015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35350" y="5543803"/>
            <a:ext cx="398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sz="2775" b="1" baseline="-15015" dirty="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775" baseline="-15015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20317" y="4773929"/>
            <a:ext cx="349250" cy="349250"/>
          </a:xfrm>
          <a:custGeom>
            <a:avLst/>
            <a:gdLst/>
            <a:ahLst/>
            <a:cxnLst/>
            <a:rect l="l" t="t" r="r" b="b"/>
            <a:pathLst>
              <a:path w="349250" h="349250">
                <a:moveTo>
                  <a:pt x="0" y="174498"/>
                </a:moveTo>
                <a:lnTo>
                  <a:pt x="6233" y="128102"/>
                </a:lnTo>
                <a:lnTo>
                  <a:pt x="23825" y="86416"/>
                </a:lnTo>
                <a:lnTo>
                  <a:pt x="51111" y="51101"/>
                </a:lnTo>
                <a:lnTo>
                  <a:pt x="86427" y="23819"/>
                </a:lnTo>
                <a:lnTo>
                  <a:pt x="128111" y="6231"/>
                </a:lnTo>
                <a:lnTo>
                  <a:pt x="174497" y="0"/>
                </a:lnTo>
                <a:lnTo>
                  <a:pt x="220893" y="6231"/>
                </a:lnTo>
                <a:lnTo>
                  <a:pt x="262579" y="23819"/>
                </a:lnTo>
                <a:lnTo>
                  <a:pt x="297894" y="51101"/>
                </a:lnTo>
                <a:lnTo>
                  <a:pt x="325176" y="86416"/>
                </a:lnTo>
                <a:lnTo>
                  <a:pt x="342764" y="128102"/>
                </a:lnTo>
                <a:lnTo>
                  <a:pt x="348995" y="174498"/>
                </a:lnTo>
                <a:lnTo>
                  <a:pt x="342764" y="220893"/>
                </a:lnTo>
                <a:lnTo>
                  <a:pt x="325176" y="262579"/>
                </a:lnTo>
                <a:lnTo>
                  <a:pt x="297894" y="297894"/>
                </a:lnTo>
                <a:lnTo>
                  <a:pt x="262579" y="325176"/>
                </a:lnTo>
                <a:lnTo>
                  <a:pt x="220893" y="342764"/>
                </a:lnTo>
                <a:lnTo>
                  <a:pt x="174497" y="348996"/>
                </a:lnTo>
                <a:lnTo>
                  <a:pt x="128111" y="342764"/>
                </a:lnTo>
                <a:lnTo>
                  <a:pt x="86427" y="325176"/>
                </a:lnTo>
                <a:lnTo>
                  <a:pt x="51111" y="297894"/>
                </a:lnTo>
                <a:lnTo>
                  <a:pt x="23825" y="262579"/>
                </a:lnTo>
                <a:lnTo>
                  <a:pt x="6233" y="220893"/>
                </a:lnTo>
                <a:lnTo>
                  <a:pt x="0" y="17449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902708" y="717804"/>
            <a:ext cx="3619500" cy="154559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3275"/>
              </a:lnSpc>
            </a:pP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775" b="1" baseline="-15015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宋体"/>
                <a:cs typeface="宋体"/>
              </a:rPr>
              <a:t>中没有对变</a:t>
            </a:r>
            <a:r>
              <a:rPr sz="2800" b="1" dirty="0">
                <a:latin typeface="宋体"/>
                <a:cs typeface="宋体"/>
              </a:rPr>
              <a:t>量</a:t>
            </a:r>
            <a:r>
              <a:rPr sz="2800" b="1" spc="-5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宋体"/>
                <a:cs typeface="宋体"/>
              </a:rPr>
              <a:t>的定</a:t>
            </a:r>
            <a:endParaRPr sz="2800">
              <a:latin typeface="宋体"/>
              <a:cs typeface="宋体"/>
            </a:endParaRPr>
          </a:p>
          <a:p>
            <a:pPr marL="91440" marR="189230">
              <a:lnSpc>
                <a:spcPct val="130000"/>
              </a:lnSpc>
            </a:pPr>
            <a:r>
              <a:rPr sz="2800" b="1" spc="-5" dirty="0">
                <a:latin typeface="宋体"/>
                <a:cs typeface="宋体"/>
              </a:rPr>
              <a:t>值，</a:t>
            </a:r>
            <a:r>
              <a:rPr sz="2800" b="1" dirty="0">
                <a:latin typeface="宋体"/>
                <a:cs typeface="宋体"/>
              </a:rPr>
              <a:t>则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775" b="1" baseline="-15015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宋体"/>
                <a:cs typeface="宋体"/>
              </a:rPr>
              <a:t>中的</a:t>
            </a:r>
            <a:r>
              <a:rPr sz="2800" b="1" dirty="0">
                <a:latin typeface="Times New Roman"/>
                <a:cs typeface="Times New Roman"/>
              </a:rPr>
              <a:t>4*i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在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775" b="1" baseline="-15015" dirty="0">
                <a:latin typeface="Times New Roman"/>
                <a:cs typeface="Times New Roman"/>
              </a:rPr>
              <a:t>3  </a:t>
            </a:r>
            <a:r>
              <a:rPr sz="2800" b="1" spc="-10" dirty="0">
                <a:latin typeface="宋体"/>
                <a:cs typeface="宋体"/>
              </a:rPr>
              <a:t>开始点可用。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902708" y="2625851"/>
            <a:ext cx="3784600" cy="1546860"/>
          </a:xfrm>
          <a:custGeom>
            <a:avLst/>
            <a:gdLst/>
            <a:ahLst/>
            <a:cxnLst/>
            <a:rect l="l" t="t" r="r" b="b"/>
            <a:pathLst>
              <a:path w="3784600" h="1546860">
                <a:moveTo>
                  <a:pt x="0" y="1546860"/>
                </a:moveTo>
                <a:lnTo>
                  <a:pt x="3784091" y="1546860"/>
                </a:lnTo>
                <a:lnTo>
                  <a:pt x="3784091" y="0"/>
                </a:lnTo>
                <a:lnTo>
                  <a:pt x="0" y="0"/>
                </a:lnTo>
                <a:lnTo>
                  <a:pt x="0" y="154686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956302" y="2474012"/>
            <a:ext cx="3470910" cy="1691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30000"/>
              </a:lnSpc>
              <a:spcBef>
                <a:spcPts val="105"/>
              </a:spcBef>
            </a:pPr>
            <a:r>
              <a:rPr sz="2800" b="1" dirty="0">
                <a:latin typeface="Times New Roman"/>
                <a:cs typeface="Times New Roman"/>
              </a:rPr>
              <a:t>B</a:t>
            </a:r>
            <a:r>
              <a:rPr sz="2775" b="1" baseline="-15015" dirty="0">
                <a:latin typeface="Times New Roman"/>
                <a:cs typeface="Times New Roman"/>
              </a:rPr>
              <a:t>2</a:t>
            </a:r>
            <a:r>
              <a:rPr sz="2800" b="1" spc="-10" dirty="0">
                <a:latin typeface="宋体"/>
                <a:cs typeface="宋体"/>
              </a:rPr>
              <a:t>中对变</a:t>
            </a:r>
            <a:r>
              <a:rPr sz="2800" b="1" spc="-5" dirty="0">
                <a:latin typeface="宋体"/>
                <a:cs typeface="宋体"/>
              </a:rPr>
              <a:t>量</a:t>
            </a:r>
            <a:r>
              <a:rPr sz="2800" b="1" spc="-5" dirty="0">
                <a:latin typeface="Times New Roman"/>
                <a:cs typeface="Times New Roman"/>
              </a:rPr>
              <a:t>i</a:t>
            </a:r>
            <a:r>
              <a:rPr sz="2800" b="1" spc="-10" dirty="0">
                <a:latin typeface="宋体"/>
                <a:cs typeface="宋体"/>
              </a:rPr>
              <a:t>定值后又 </a:t>
            </a:r>
            <a:r>
              <a:rPr sz="2800" b="1" spc="-5" dirty="0">
                <a:latin typeface="宋体"/>
                <a:cs typeface="宋体"/>
              </a:rPr>
              <a:t>计算</a:t>
            </a:r>
            <a:r>
              <a:rPr sz="2800" b="1" dirty="0">
                <a:latin typeface="Times New Roman"/>
                <a:cs typeface="Times New Roman"/>
              </a:rPr>
              <a:t>4*i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，则表达式 </a:t>
            </a:r>
            <a:r>
              <a:rPr sz="2800" b="1" spc="-5" dirty="0">
                <a:latin typeface="Times New Roman"/>
                <a:cs typeface="Times New Roman"/>
              </a:rPr>
              <a:t>4*i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宋体"/>
                <a:cs typeface="宋体"/>
              </a:rPr>
              <a:t>在</a:t>
            </a:r>
            <a:r>
              <a:rPr sz="2800" b="1" dirty="0">
                <a:latin typeface="Times New Roman"/>
                <a:cs typeface="Times New Roman"/>
              </a:rPr>
              <a:t>B</a:t>
            </a:r>
            <a:r>
              <a:rPr sz="2775" b="1" baseline="-21021" dirty="0">
                <a:latin typeface="Times New Roman"/>
                <a:cs typeface="Times New Roman"/>
              </a:rPr>
              <a:t>3</a:t>
            </a:r>
            <a:r>
              <a:rPr sz="2800" b="1" spc="-10" dirty="0">
                <a:latin typeface="宋体"/>
                <a:cs typeface="宋体"/>
              </a:rPr>
              <a:t>开始点可用。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674108" y="4504944"/>
            <a:ext cx="4013200" cy="1546860"/>
          </a:xfrm>
          <a:custGeom>
            <a:avLst/>
            <a:gdLst/>
            <a:ahLst/>
            <a:cxnLst/>
            <a:rect l="l" t="t" r="r" b="b"/>
            <a:pathLst>
              <a:path w="4013200" h="1546860">
                <a:moveTo>
                  <a:pt x="0" y="1546859"/>
                </a:moveTo>
                <a:lnTo>
                  <a:pt x="4012691" y="1546859"/>
                </a:lnTo>
                <a:lnTo>
                  <a:pt x="4012691" y="0"/>
                </a:lnTo>
                <a:lnTo>
                  <a:pt x="0" y="0"/>
                </a:lnTo>
                <a:lnTo>
                  <a:pt x="0" y="1546859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727702" y="4355109"/>
            <a:ext cx="3827145" cy="1689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73709">
              <a:lnSpc>
                <a:spcPct val="130000"/>
              </a:lnSpc>
              <a:spcBef>
                <a:spcPts val="100"/>
              </a:spcBef>
            </a:pPr>
            <a:r>
              <a:rPr sz="2800" b="1" spc="-10" dirty="0">
                <a:latin typeface="Times New Roman"/>
                <a:cs typeface="Times New Roman"/>
              </a:rPr>
              <a:t>B</a:t>
            </a:r>
            <a:r>
              <a:rPr sz="2775" b="1" spc="15" baseline="-15015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宋体"/>
                <a:cs typeface="宋体"/>
              </a:rPr>
              <a:t>中对变</a:t>
            </a:r>
            <a:r>
              <a:rPr sz="2800" b="1" dirty="0">
                <a:latin typeface="宋体"/>
                <a:cs typeface="宋体"/>
              </a:rPr>
              <a:t>量</a:t>
            </a:r>
            <a:r>
              <a:rPr sz="2800" b="1" spc="-5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宋体"/>
                <a:cs typeface="宋体"/>
              </a:rPr>
              <a:t>定值后不 计算</a:t>
            </a:r>
            <a:r>
              <a:rPr sz="2800" b="1" dirty="0">
                <a:latin typeface="Times New Roman"/>
                <a:cs typeface="Times New Roman"/>
              </a:rPr>
              <a:t>4*i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，则表达式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005"/>
              </a:spcBef>
            </a:pPr>
            <a:r>
              <a:rPr sz="2800" b="1" spc="-5" dirty="0">
                <a:latin typeface="Times New Roman"/>
                <a:cs typeface="Times New Roman"/>
              </a:rPr>
              <a:t>4*i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宋体"/>
                <a:cs typeface="宋体"/>
              </a:rPr>
              <a:t>在</a:t>
            </a:r>
            <a:r>
              <a:rPr sz="2800" b="1" dirty="0">
                <a:latin typeface="Times New Roman"/>
                <a:cs typeface="Times New Roman"/>
              </a:rPr>
              <a:t>B</a:t>
            </a:r>
            <a:r>
              <a:rPr sz="2775" b="1" baseline="-21021" dirty="0">
                <a:latin typeface="Times New Roman"/>
                <a:cs typeface="Times New Roman"/>
              </a:rPr>
              <a:t>3</a:t>
            </a:r>
            <a:r>
              <a:rPr sz="2800" b="1" spc="-10" dirty="0">
                <a:latin typeface="宋体"/>
                <a:cs typeface="宋体"/>
              </a:rPr>
              <a:t>开始点不可用。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82751" y="5359908"/>
            <a:ext cx="1472565" cy="12700"/>
          </a:xfrm>
          <a:custGeom>
            <a:avLst/>
            <a:gdLst/>
            <a:ahLst/>
            <a:cxnLst/>
            <a:rect l="l" t="t" r="r" b="b"/>
            <a:pathLst>
              <a:path w="1472564" h="12700">
                <a:moveTo>
                  <a:pt x="0" y="0"/>
                </a:moveTo>
                <a:lnTo>
                  <a:pt x="1472184" y="12191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87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1640" y="26923"/>
            <a:ext cx="7130415" cy="170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3370">
              <a:lnSpc>
                <a:spcPct val="100000"/>
              </a:lnSpc>
              <a:spcBef>
                <a:spcPts val="100"/>
              </a:spcBef>
              <a:tabLst>
                <a:tab pos="2206625" algn="l"/>
                <a:tab pos="4815840" algn="l"/>
                <a:tab pos="532511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数据流分析基础</a:t>
            </a:r>
            <a:endParaRPr sz="2000" dirty="0">
              <a:latin typeface="宋体"/>
              <a:cs typeface="宋体"/>
            </a:endParaRPr>
          </a:p>
          <a:p>
            <a:pPr marL="477520" indent="-465455">
              <a:lnSpc>
                <a:spcPct val="100000"/>
              </a:lnSpc>
              <a:spcBef>
                <a:spcPts val="1455"/>
              </a:spcBef>
              <a:buClr>
                <a:srgbClr val="66FFFF"/>
              </a:buClr>
              <a:buSzPct val="139062"/>
              <a:buFont typeface="Wingdings"/>
              <a:buChar char=""/>
              <a:tabLst>
                <a:tab pos="478155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可用表达式数据流方程</a:t>
            </a:r>
            <a:endParaRPr sz="3200" dirty="0">
              <a:latin typeface="宋体"/>
              <a:cs typeface="宋体"/>
            </a:endParaRPr>
          </a:p>
          <a:p>
            <a:pPr marL="1301750">
              <a:lnSpc>
                <a:spcPct val="100000"/>
              </a:lnSpc>
              <a:spcBef>
                <a:spcPts val="1710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out [B] =(in[B] –</a:t>
            </a:r>
            <a:r>
              <a:rPr sz="32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kill[B])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gen[B]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9698" y="2005660"/>
            <a:ext cx="19640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sz="24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2400" b="1" dirty="0">
                <a:solidFill>
                  <a:srgbClr val="66FFFF"/>
                </a:solidFill>
                <a:latin typeface="宋体"/>
                <a:cs typeface="宋体"/>
              </a:rPr>
              <a:t>不是开始</a:t>
            </a:r>
            <a:r>
              <a:rPr sz="2400" b="1" spc="-10" dirty="0">
                <a:solidFill>
                  <a:srgbClr val="66FFFF"/>
                </a:solidFill>
                <a:latin typeface="宋体"/>
                <a:cs typeface="宋体"/>
              </a:rPr>
              <a:t>块</a:t>
            </a: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3281" y="1272921"/>
            <a:ext cx="857885" cy="1134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(8.3)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(8.4)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2230" y="2945129"/>
            <a:ext cx="1810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(B</a:t>
            </a:r>
            <a:r>
              <a:rPr sz="2400" b="1" spc="-7" baseline="-13888" dirty="0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66FFFF"/>
                </a:solidFill>
                <a:latin typeface="宋体"/>
                <a:cs typeface="宋体"/>
              </a:rPr>
              <a:t>是开始块</a:t>
            </a: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0944" y="1903552"/>
            <a:ext cx="3022600" cy="795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745"/>
              </a:lnSpc>
              <a:spcBef>
                <a:spcPts val="105"/>
              </a:spcBef>
              <a:tabLst>
                <a:tab pos="1428115" algn="l"/>
                <a:tab pos="1923414" algn="l"/>
              </a:tabLst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(B)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=	∩	out[P]</a:t>
            </a:r>
            <a:endParaRPr sz="3200">
              <a:latin typeface="Times New Roman"/>
              <a:cs typeface="Times New Roman"/>
            </a:endParaRPr>
          </a:p>
          <a:p>
            <a:pPr marL="1047750">
              <a:lnSpc>
                <a:spcPts val="2305"/>
              </a:lnSpc>
            </a:pP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sz="2000" b="1" dirty="0">
                <a:solidFill>
                  <a:srgbClr val="FFFF00"/>
                </a:solidFill>
                <a:latin typeface="宋体"/>
                <a:cs typeface="宋体"/>
              </a:rPr>
              <a:t>是</a:t>
            </a:r>
            <a:r>
              <a:rPr sz="20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sz="2000" b="1" dirty="0">
                <a:solidFill>
                  <a:srgbClr val="FFFF00"/>
                </a:solidFill>
                <a:latin typeface="宋体"/>
                <a:cs typeface="宋体"/>
              </a:rPr>
              <a:t>的前驱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83969" y="1442466"/>
            <a:ext cx="204470" cy="1682750"/>
          </a:xfrm>
          <a:custGeom>
            <a:avLst/>
            <a:gdLst/>
            <a:ahLst/>
            <a:cxnLst/>
            <a:rect l="l" t="t" r="r" b="b"/>
            <a:pathLst>
              <a:path w="204469" h="1682750">
                <a:moveTo>
                  <a:pt x="204216" y="1682496"/>
                </a:moveTo>
                <a:lnTo>
                  <a:pt x="164472" y="1671506"/>
                </a:lnTo>
                <a:lnTo>
                  <a:pt x="132016" y="1641538"/>
                </a:lnTo>
                <a:lnTo>
                  <a:pt x="110132" y="1597092"/>
                </a:lnTo>
                <a:lnTo>
                  <a:pt x="102108" y="1542669"/>
                </a:lnTo>
                <a:lnTo>
                  <a:pt x="102108" y="981075"/>
                </a:lnTo>
                <a:lnTo>
                  <a:pt x="94083" y="926651"/>
                </a:lnTo>
                <a:lnTo>
                  <a:pt x="72199" y="882205"/>
                </a:lnTo>
                <a:lnTo>
                  <a:pt x="39743" y="852237"/>
                </a:lnTo>
                <a:lnTo>
                  <a:pt x="0" y="841248"/>
                </a:lnTo>
                <a:lnTo>
                  <a:pt x="39743" y="830258"/>
                </a:lnTo>
                <a:lnTo>
                  <a:pt x="72199" y="800290"/>
                </a:lnTo>
                <a:lnTo>
                  <a:pt x="94083" y="755844"/>
                </a:lnTo>
                <a:lnTo>
                  <a:pt x="102108" y="701421"/>
                </a:lnTo>
                <a:lnTo>
                  <a:pt x="102108" y="139826"/>
                </a:lnTo>
                <a:lnTo>
                  <a:pt x="110132" y="85403"/>
                </a:lnTo>
                <a:lnTo>
                  <a:pt x="132016" y="40957"/>
                </a:lnTo>
                <a:lnTo>
                  <a:pt x="164472" y="10989"/>
                </a:lnTo>
                <a:lnTo>
                  <a:pt x="204216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96240" y="2843022"/>
            <a:ext cx="8027670" cy="3415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39950">
              <a:lnSpc>
                <a:spcPct val="100000"/>
              </a:lnSpc>
              <a:spcBef>
                <a:spcPts val="105"/>
              </a:spcBef>
              <a:tabLst>
                <a:tab pos="4099560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in(B</a:t>
            </a:r>
            <a:r>
              <a:rPr sz="3150" b="1" baseline="-145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32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=	Φ</a:t>
            </a:r>
            <a:endParaRPr sz="32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090"/>
              </a:spcBef>
            </a:pP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**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与到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达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定值区别：</a:t>
            </a:r>
            <a:endParaRPr sz="2800" dirty="0">
              <a:latin typeface="宋体"/>
              <a:cs typeface="宋体"/>
            </a:endParaRPr>
          </a:p>
          <a:p>
            <a:pPr marL="899160" indent="-594995">
              <a:lnSpc>
                <a:spcPct val="100000"/>
              </a:lnSpc>
              <a:spcBef>
                <a:spcPts val="1010"/>
              </a:spcBef>
              <a:buFont typeface="Times New Roman"/>
              <a:buAutoNum type="arabicParenBoth"/>
              <a:tabLst>
                <a:tab pos="899160" algn="l"/>
                <a:tab pos="899794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开始块的处理特殊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∵开始块无任何表达式可</a:t>
            </a:r>
            <a:r>
              <a:rPr sz="2400" b="1" spc="5" dirty="0">
                <a:solidFill>
                  <a:srgbClr val="FFFF00"/>
                </a:solidFill>
                <a:latin typeface="宋体"/>
                <a:cs typeface="宋体"/>
              </a:rPr>
              <a:t>用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  <a:p>
            <a:pPr marL="937260" indent="-594995">
              <a:lnSpc>
                <a:spcPct val="100000"/>
              </a:lnSpc>
              <a:spcBef>
                <a:spcPts val="1680"/>
              </a:spcBef>
              <a:buFont typeface="Times New Roman"/>
              <a:buAutoNum type="arabicParenBoth"/>
              <a:tabLst>
                <a:tab pos="937260" algn="l"/>
                <a:tab pos="937894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算符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∩</a:t>
            </a:r>
            <a:r>
              <a:rPr sz="3200" b="1" dirty="0">
                <a:solidFill>
                  <a:srgbClr val="FFFFFF"/>
                </a:solidFill>
                <a:latin typeface="方正舒体"/>
                <a:cs typeface="方正舒体"/>
              </a:rPr>
              <a:t>；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∵</a:t>
            </a:r>
            <a:r>
              <a:rPr sz="2400" b="1" spc="-62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一个表达式在块的开始点可用，</a:t>
            </a:r>
            <a:endParaRPr sz="2400" dirty="0">
              <a:latin typeface="宋体"/>
              <a:cs typeface="宋体"/>
            </a:endParaRPr>
          </a:p>
          <a:p>
            <a:pPr marL="3696335" marR="34925">
              <a:lnSpc>
                <a:spcPct val="130000"/>
              </a:lnSpc>
              <a:spcBef>
                <a:spcPts val="20"/>
              </a:spcBef>
            </a:pP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只有当它在该块的所有前趋块的 </a:t>
            </a:r>
            <a:r>
              <a:rPr sz="2400" b="1" spc="-5" dirty="0">
                <a:solidFill>
                  <a:srgbClr val="FFFF00"/>
                </a:solidFill>
                <a:latin typeface="宋体"/>
                <a:cs typeface="宋体"/>
              </a:rPr>
              <a:t>结束点可用时才</a:t>
            </a: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行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88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72436" y="26923"/>
            <a:ext cx="55797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265170" algn="l"/>
                <a:tab pos="3774440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r>
              <a:rPr sz="20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	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数据流分析基础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540" y="392096"/>
            <a:ext cx="6510655" cy="1267460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511809" indent="-474345">
              <a:lnSpc>
                <a:spcPct val="100000"/>
              </a:lnSpc>
              <a:spcBef>
                <a:spcPts val="1480"/>
              </a:spcBef>
              <a:buClr>
                <a:srgbClr val="66FFFF"/>
              </a:buClr>
              <a:buSzPct val="145312"/>
              <a:buFont typeface="Wingdings"/>
              <a:buChar char=""/>
              <a:tabLst>
                <a:tab pos="512445" algn="l"/>
              </a:tabLst>
            </a:pP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活跃变量数据流方程</a:t>
            </a:r>
            <a:endParaRPr sz="3200">
              <a:latin typeface="宋体"/>
              <a:cs typeface="宋体"/>
            </a:endParaRPr>
          </a:p>
          <a:p>
            <a:pPr marL="603885">
              <a:lnSpc>
                <a:spcPct val="100000"/>
              </a:lnSpc>
              <a:spcBef>
                <a:spcPts val="1200"/>
              </a:spcBef>
            </a:pP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775" b="1" spc="7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(B) =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(out</a:t>
            </a:r>
            <a:r>
              <a:rPr sz="2775" b="1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(B) </a:t>
            </a:r>
            <a:r>
              <a:rPr sz="2800" b="1" spc="-5" dirty="0">
                <a:solidFill>
                  <a:srgbClr val="FFFFFF"/>
                </a:solidFill>
                <a:latin typeface="Courier New"/>
                <a:cs typeface="Courier New"/>
              </a:rPr>
              <a:t>–</a:t>
            </a:r>
            <a:r>
              <a:rPr sz="2800" b="1" spc="-9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def</a:t>
            </a:r>
            <a:r>
              <a:rPr sz="2775" b="1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(B)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2775" b="1" spc="-7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(B)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5334" y="1729231"/>
            <a:ext cx="34270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3150" b="1" spc="7" baseline="-25132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(B)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sz="4000" b="1" spc="-20" dirty="0">
                <a:solidFill>
                  <a:srgbClr val="66FFFF"/>
                </a:solidFill>
                <a:latin typeface="宋体"/>
                <a:cs typeface="宋体"/>
              </a:rPr>
              <a:t>∪</a:t>
            </a:r>
            <a:r>
              <a:rPr sz="4000" b="1" spc="-1290" dirty="0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150" b="1" baseline="-25132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(S)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93609" y="960526"/>
            <a:ext cx="743585" cy="1372870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2045"/>
              </a:spcBef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(8.5)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(8.6)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2762" y="1556766"/>
            <a:ext cx="204470" cy="1047115"/>
          </a:xfrm>
          <a:custGeom>
            <a:avLst/>
            <a:gdLst/>
            <a:ahLst/>
            <a:cxnLst/>
            <a:rect l="l" t="t" r="r" b="b"/>
            <a:pathLst>
              <a:path w="204469" h="1047114">
                <a:moveTo>
                  <a:pt x="204215" y="1046988"/>
                </a:moveTo>
                <a:lnTo>
                  <a:pt x="164472" y="1040143"/>
                </a:lnTo>
                <a:lnTo>
                  <a:pt x="132016" y="1021476"/>
                </a:lnTo>
                <a:lnTo>
                  <a:pt x="110132" y="993784"/>
                </a:lnTo>
                <a:lnTo>
                  <a:pt x="102107" y="959866"/>
                </a:lnTo>
                <a:lnTo>
                  <a:pt x="102107" y="610616"/>
                </a:lnTo>
                <a:lnTo>
                  <a:pt x="94083" y="576697"/>
                </a:lnTo>
                <a:lnTo>
                  <a:pt x="72199" y="549005"/>
                </a:lnTo>
                <a:lnTo>
                  <a:pt x="39743" y="530338"/>
                </a:lnTo>
                <a:lnTo>
                  <a:pt x="0" y="523494"/>
                </a:lnTo>
                <a:lnTo>
                  <a:pt x="39743" y="516649"/>
                </a:lnTo>
                <a:lnTo>
                  <a:pt x="72199" y="497982"/>
                </a:lnTo>
                <a:lnTo>
                  <a:pt x="94083" y="470290"/>
                </a:lnTo>
                <a:lnTo>
                  <a:pt x="102107" y="436372"/>
                </a:lnTo>
                <a:lnTo>
                  <a:pt x="102107" y="87122"/>
                </a:lnTo>
                <a:lnTo>
                  <a:pt x="110132" y="53203"/>
                </a:lnTo>
                <a:lnTo>
                  <a:pt x="132016" y="25511"/>
                </a:lnTo>
                <a:lnTo>
                  <a:pt x="164472" y="6844"/>
                </a:lnTo>
                <a:lnTo>
                  <a:pt x="204215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20243" y="2033399"/>
            <a:ext cx="8622030" cy="434911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2527300">
              <a:lnSpc>
                <a:spcPct val="100000"/>
              </a:lnSpc>
              <a:spcBef>
                <a:spcPts val="1785"/>
              </a:spcBef>
            </a:pP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sz="2400" b="1" spc="-5" dirty="0">
                <a:solidFill>
                  <a:srgbClr val="FFFF00"/>
                </a:solidFill>
                <a:latin typeface="宋体"/>
                <a:cs typeface="宋体"/>
              </a:rPr>
              <a:t>∈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Succ(B)</a:t>
            </a:r>
            <a:endParaRPr sz="2400">
              <a:latin typeface="Times New Roman"/>
              <a:cs typeface="Times New Roman"/>
            </a:endParaRPr>
          </a:p>
          <a:p>
            <a:pPr marL="1706880" marR="340360" indent="-1436370">
              <a:lnSpc>
                <a:spcPct val="134600"/>
              </a:lnSpc>
              <a:spcBef>
                <a:spcPts val="795"/>
              </a:spcBef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de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sz="2775" b="1" spc="7" baseline="-25525" dirty="0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(B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在基本块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中定值，且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之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前未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曾</a:t>
            </a:r>
            <a:r>
              <a:rPr sz="2800" b="1" spc="3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中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引用过的变量的集合。</a:t>
            </a:r>
            <a:endParaRPr sz="2800">
              <a:latin typeface="宋体"/>
              <a:cs typeface="宋体"/>
            </a:endParaRPr>
          </a:p>
          <a:p>
            <a:pPr marL="271145">
              <a:lnSpc>
                <a:spcPct val="100000"/>
              </a:lnSpc>
              <a:spcBef>
                <a:spcPts val="1235"/>
              </a:spcBef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use</a:t>
            </a:r>
            <a:r>
              <a:rPr sz="2775" b="1" spc="-7" baseline="-25525" dirty="0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(B)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在基本块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中引用的，但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引用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未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曾</a:t>
            </a:r>
            <a:r>
              <a:rPr sz="2800" b="1" spc="3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783080">
              <a:lnSpc>
                <a:spcPct val="100000"/>
              </a:lnSpc>
              <a:spcBef>
                <a:spcPts val="151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中定值的变量集。</a:t>
            </a:r>
            <a:endParaRPr sz="2800">
              <a:latin typeface="宋体"/>
              <a:cs typeface="宋体"/>
            </a:endParaRPr>
          </a:p>
          <a:p>
            <a:pPr marL="139700">
              <a:lnSpc>
                <a:spcPct val="100000"/>
              </a:lnSpc>
              <a:spcBef>
                <a:spcPts val="975"/>
              </a:spcBef>
              <a:tabLst>
                <a:tab pos="1638935" algn="l"/>
              </a:tabLst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in</a:t>
            </a:r>
            <a:r>
              <a:rPr sz="3150" b="1" baseline="-25132" dirty="0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(B):	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基本块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入口点的活跃变量的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合。</a:t>
            </a:r>
            <a:endParaRPr sz="3200">
              <a:latin typeface="宋体"/>
              <a:cs typeface="宋体"/>
            </a:endParaRPr>
          </a:p>
          <a:p>
            <a:pPr marL="63500">
              <a:lnSpc>
                <a:spcPct val="100000"/>
              </a:lnSpc>
              <a:spcBef>
                <a:spcPts val="1510"/>
              </a:spcBef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out</a:t>
            </a:r>
            <a:r>
              <a:rPr sz="3150" b="1" baseline="-15873" dirty="0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(B)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在基本</a:t>
            </a:r>
            <a:r>
              <a:rPr sz="3200" b="1" spc="-20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出口点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活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跃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的集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合。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89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72436" y="26923"/>
            <a:ext cx="55797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265170" algn="l"/>
                <a:tab pos="3774440" algn="l"/>
              </a:tabLst>
            </a:pPr>
            <a:r>
              <a:rPr sz="2000" u="none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u="none" dirty="0">
                <a:latin typeface="Times New Roman"/>
                <a:cs typeface="Times New Roman"/>
              </a:rPr>
              <a:t>h8	</a:t>
            </a:r>
            <a:r>
              <a:rPr sz="2000" u="none" spc="5" dirty="0">
                <a:latin typeface="宋体"/>
                <a:cs typeface="宋体"/>
              </a:rPr>
              <a:t>代码优</a:t>
            </a:r>
            <a:r>
              <a:rPr sz="2000" u="none" spc="-5" dirty="0">
                <a:latin typeface="宋体"/>
                <a:cs typeface="宋体"/>
              </a:rPr>
              <a:t>化</a:t>
            </a:r>
            <a:r>
              <a:rPr sz="2000" u="none" dirty="0">
                <a:latin typeface="宋体"/>
                <a:cs typeface="宋体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8</a:t>
            </a:r>
            <a:r>
              <a:rPr sz="2000" spc="5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4	</a:t>
            </a:r>
            <a:r>
              <a:rPr sz="2000" spc="5" dirty="0">
                <a:latin typeface="宋体"/>
                <a:cs typeface="宋体"/>
              </a:rPr>
              <a:t>数据流分析基础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90</a:t>
            </a:r>
            <a:r>
              <a:rPr sz="14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640" y="704181"/>
            <a:ext cx="8483600" cy="5587365"/>
          </a:xfrm>
          <a:prstGeom prst="rect">
            <a:avLst/>
          </a:prstGeom>
        </p:spPr>
        <p:txBody>
          <a:bodyPr vert="horz" wrap="square" lIns="0" tIns="208279" rIns="0" bIns="0" rtlCol="0">
            <a:spAutoFit/>
          </a:bodyPr>
          <a:lstStyle/>
          <a:p>
            <a:pPr marL="396875" indent="-372110">
              <a:lnSpc>
                <a:spcPct val="100000"/>
              </a:lnSpc>
              <a:spcBef>
                <a:spcPts val="1639"/>
              </a:spcBef>
              <a:buClr>
                <a:srgbClr val="66FFFF"/>
              </a:buClr>
              <a:buSzPct val="145312"/>
              <a:buFont typeface="Wingdings"/>
              <a:buChar char=""/>
              <a:tabLst>
                <a:tab pos="397510" algn="l"/>
              </a:tabLst>
            </a:pP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利</a:t>
            </a:r>
            <a:r>
              <a:rPr sz="32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用活跃变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量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包</a:t>
            </a:r>
            <a:r>
              <a:rPr sz="3200" b="1" u="heavy" spc="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含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活跃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地</a:t>
            </a:r>
            <a:r>
              <a:rPr sz="3200" b="1" u="heavy" spc="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点</a:t>
            </a:r>
            <a:r>
              <a:rPr sz="3200" b="1" u="heavy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)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信</a:t>
            </a:r>
            <a:r>
              <a:rPr sz="3200" b="1" u="heavy" spc="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息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计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算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du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链</a:t>
            </a:r>
            <a:endParaRPr sz="3200">
              <a:latin typeface="宋体"/>
              <a:cs typeface="宋体"/>
            </a:endParaRPr>
          </a:p>
          <a:p>
            <a:pPr marL="25400" marR="20955" lvl="1" indent="507365">
              <a:lnSpc>
                <a:spcPct val="120000"/>
              </a:lnSpc>
              <a:spcBef>
                <a:spcPts val="770"/>
              </a:spcBef>
              <a:buFont typeface="Times New Roman"/>
              <a:buAutoNum type="arabicParenBoth"/>
              <a:tabLst>
                <a:tab pos="1209675" algn="l"/>
                <a:tab pos="1210310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若在基本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中，某变量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之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有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的定值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，则从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距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最近的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那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的定值点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之间的对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有引用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，即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在定值点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链。</a:t>
            </a:r>
            <a:endParaRPr sz="3200">
              <a:latin typeface="宋体"/>
              <a:cs typeface="宋体"/>
            </a:endParaRPr>
          </a:p>
          <a:p>
            <a:pPr marL="25400" marR="17780" lvl="1" indent="609600">
              <a:lnSpc>
                <a:spcPct val="120000"/>
              </a:lnSpc>
              <a:spcBef>
                <a:spcPts val="770"/>
              </a:spcBef>
              <a:buFont typeface="Times New Roman"/>
              <a:buAutoNum type="arabicParenBoth"/>
              <a:tabLst>
                <a:tab pos="1311275" algn="l"/>
                <a:tab pos="1311910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若在基本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中，某变量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之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无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的定值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，则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中点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之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所有引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用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点加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sz="3200" b="1" u="heavy" spc="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OUT</a:t>
            </a:r>
            <a:r>
              <a:rPr sz="3150" b="1" u="heavy" spc="7" baseline="-21164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3200" b="1" u="heavy" spc="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(B)</a:t>
            </a:r>
            <a:r>
              <a:rPr sz="32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中变</a:t>
            </a:r>
            <a:r>
              <a:rPr sz="3200" b="1" u="heavy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量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的所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有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活</a:t>
            </a:r>
            <a:r>
              <a:rPr sz="3200" b="1" u="heavy" spc="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跃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点即</a:t>
            </a:r>
            <a:r>
              <a:rPr sz="3200" b="1" u="heavy" spc="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为</a:t>
            </a:r>
            <a:r>
              <a:rPr sz="3200" b="1" u="heavy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在 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点</a:t>
            </a:r>
            <a:r>
              <a:rPr sz="32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du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链。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20574"/>
            <a:ext cx="9144000" cy="402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20574"/>
            <a:ext cx="9144000" cy="402590"/>
          </a:xfrm>
          <a:custGeom>
            <a:avLst/>
            <a:gdLst/>
            <a:ahLst/>
            <a:cxnLst/>
            <a:rect l="l" t="t" r="r" b="b"/>
            <a:pathLst>
              <a:path w="9144000" h="402590">
                <a:moveTo>
                  <a:pt x="0" y="402336"/>
                </a:moveTo>
                <a:lnTo>
                  <a:pt x="9144000" y="402336"/>
                </a:lnTo>
                <a:lnTo>
                  <a:pt x="9144000" y="0"/>
                </a:lnTo>
                <a:lnTo>
                  <a:pt x="0" y="0"/>
                </a:lnTo>
                <a:lnTo>
                  <a:pt x="0" y="402336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0"/>
            <a:ext cx="23787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none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3200" u="none" spc="-10" dirty="0">
                <a:latin typeface="Times New Roman"/>
                <a:cs typeface="Times New Roman"/>
              </a:rPr>
              <a:t>h</a:t>
            </a:r>
            <a:r>
              <a:rPr sz="3200" u="none" spc="5" dirty="0">
                <a:latin typeface="Times New Roman"/>
                <a:cs typeface="Times New Roman"/>
              </a:rPr>
              <a:t>8</a:t>
            </a:r>
            <a:r>
              <a:rPr sz="3200" u="none" spc="5" dirty="0"/>
              <a:t>代</a:t>
            </a:r>
            <a:r>
              <a:rPr sz="3200" u="none" dirty="0"/>
              <a:t>码优化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2875" y="995362"/>
          <a:ext cx="5499100" cy="55133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48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in(B1)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E(9)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3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out(B1)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B(3,6,7,8),C(3,4,5,6,8),</a:t>
                      </a:r>
                      <a:r>
                        <a:rPr sz="2000" b="1" spc="-4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E(9)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in(B2)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B(3,6,7,8),C(3,4,5,6,8),</a:t>
                      </a:r>
                      <a:r>
                        <a:rPr sz="2000" b="1" spc="-4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E(9)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48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out(B2)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C(5,6,8),D(5,10,11), </a:t>
                      </a: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B(3,6,7,8), A(7),</a:t>
                      </a:r>
                      <a:r>
                        <a:rPr sz="2000" b="1" spc="-25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E(9)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48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in(B3)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C(5,6,8),D(5), B(3,6,7,8), A(7),</a:t>
                      </a:r>
                      <a:r>
                        <a:rPr sz="2000" b="1" spc="-24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E(9)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3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out(B3)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C(5,6,8),B(3,6,7,8),A(7), </a:t>
                      </a:r>
                      <a:r>
                        <a:rPr sz="2000" b="1" spc="-1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D(10,11),</a:t>
                      </a:r>
                      <a:r>
                        <a:rPr sz="2000" b="1" spc="-12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E(9)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48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in(B4)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C(5,6),B(3,6,7,8),A(7),</a:t>
                      </a:r>
                      <a:r>
                        <a:rPr sz="2000" b="1" spc="-5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D(10,11)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out(B4)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B(3,6,7,8),C(3,4,5,6,8,10),D(10,11),</a:t>
                      </a:r>
                      <a:r>
                        <a:rPr sz="2000" b="1" spc="-5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E(9)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3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in(B5)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B(3,6,7,8),C(5,6,8),E(9),</a:t>
                      </a:r>
                      <a:r>
                        <a:rPr sz="2000" b="1" spc="-15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A(7)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949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out(B5)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C(5,6,8),D(5), B(3,6,7,8), A(7),</a:t>
                      </a:r>
                      <a:r>
                        <a:rPr sz="2000" b="1" spc="-24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E(9)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944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in(B6)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b="1" spc="-10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C(10),D(10,11)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944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out(B6)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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972300" y="571500"/>
            <a:ext cx="1104900" cy="685800"/>
          </a:xfrm>
          <a:prstGeom prst="rect">
            <a:avLst/>
          </a:prstGeom>
          <a:ln w="57150">
            <a:solidFill>
              <a:srgbClr val="99FF3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585"/>
              </a:lnSpc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:b=1</a:t>
            </a:r>
            <a:endParaRPr sz="2400">
              <a:latin typeface="Times New Roman"/>
              <a:cs typeface="Times New Roman"/>
            </a:endParaRPr>
          </a:p>
          <a:p>
            <a:pPr marL="92075">
              <a:lnSpc>
                <a:spcPts val="2595"/>
              </a:lnSpc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:c=4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19900" y="1645920"/>
            <a:ext cx="1371600" cy="685800"/>
          </a:xfrm>
          <a:custGeom>
            <a:avLst/>
            <a:gdLst/>
            <a:ahLst/>
            <a:cxnLst/>
            <a:rect l="l" t="t" r="r" b="b"/>
            <a:pathLst>
              <a:path w="1371600" h="685800">
                <a:moveTo>
                  <a:pt x="0" y="685800"/>
                </a:moveTo>
                <a:lnTo>
                  <a:pt x="1371600" y="685800"/>
                </a:lnTo>
                <a:lnTo>
                  <a:pt x="13716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57150">
            <a:solidFill>
              <a:srgbClr val="99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22107" y="2712720"/>
            <a:ext cx="1371600" cy="685800"/>
          </a:xfrm>
          <a:custGeom>
            <a:avLst/>
            <a:gdLst/>
            <a:ahLst/>
            <a:cxnLst/>
            <a:rect l="l" t="t" r="r" b="b"/>
            <a:pathLst>
              <a:path w="1371600" h="685800">
                <a:moveTo>
                  <a:pt x="0" y="685800"/>
                </a:moveTo>
                <a:lnTo>
                  <a:pt x="1371600" y="685800"/>
                </a:lnTo>
                <a:lnTo>
                  <a:pt x="13716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57150">
            <a:solidFill>
              <a:srgbClr val="99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776336" y="2700020"/>
            <a:ext cx="1236980" cy="68389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 marR="30480">
              <a:lnSpc>
                <a:spcPts val="2300"/>
              </a:lnSpc>
              <a:spcBef>
                <a:spcPts val="660"/>
              </a:spcBef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:c=b+c 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:e=a-b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22847" y="2891027"/>
            <a:ext cx="1371600" cy="342900"/>
          </a:xfrm>
          <a:custGeom>
            <a:avLst/>
            <a:gdLst/>
            <a:ahLst/>
            <a:cxnLst/>
            <a:rect l="l" t="t" r="r" b="b"/>
            <a:pathLst>
              <a:path w="1371600" h="342900">
                <a:moveTo>
                  <a:pt x="0" y="342900"/>
                </a:moveTo>
                <a:lnTo>
                  <a:pt x="1371600" y="342900"/>
                </a:lnTo>
                <a:lnTo>
                  <a:pt x="1371600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99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72021" y="3054172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02858" y="2877388"/>
            <a:ext cx="11493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:d=c-d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77911" y="3995928"/>
            <a:ext cx="1466215" cy="685800"/>
          </a:xfrm>
          <a:custGeom>
            <a:avLst/>
            <a:gdLst/>
            <a:ahLst/>
            <a:cxnLst/>
            <a:rect l="l" t="t" r="r" b="b"/>
            <a:pathLst>
              <a:path w="1466215" h="685800">
                <a:moveTo>
                  <a:pt x="0" y="685800"/>
                </a:moveTo>
                <a:lnTo>
                  <a:pt x="1466088" y="685800"/>
                </a:lnTo>
                <a:lnTo>
                  <a:pt x="1466088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57150">
            <a:solidFill>
              <a:srgbClr val="99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731886" y="3982669"/>
            <a:ext cx="1302385" cy="68453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 marR="30480">
              <a:lnSpc>
                <a:spcPts val="2300"/>
              </a:lnSpc>
              <a:spcBef>
                <a:spcPts val="66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:b=c-d 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spc="-12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400" b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:c=b-d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6940" y="4055364"/>
            <a:ext cx="1485900" cy="685800"/>
          </a:xfrm>
          <a:prstGeom prst="rect">
            <a:avLst/>
          </a:prstGeom>
          <a:ln w="57150">
            <a:solidFill>
              <a:srgbClr val="99FF33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92710" marR="189865">
              <a:lnSpc>
                <a:spcPts val="2300"/>
              </a:lnSpc>
              <a:spcBef>
                <a:spcPts val="565"/>
              </a:spcBef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:d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b+c 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:e=e+1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88469" y="1255902"/>
            <a:ext cx="256540" cy="390525"/>
          </a:xfrm>
          <a:custGeom>
            <a:avLst/>
            <a:gdLst/>
            <a:ahLst/>
            <a:cxnLst/>
            <a:rect l="l" t="t" r="r" b="b"/>
            <a:pathLst>
              <a:path w="256540" h="390525">
                <a:moveTo>
                  <a:pt x="26265" y="129220"/>
                </a:moveTo>
                <a:lnTo>
                  <a:pt x="15376" y="132334"/>
                </a:lnTo>
                <a:lnTo>
                  <a:pt x="6488" y="139436"/>
                </a:lnTo>
                <a:lnTo>
                  <a:pt x="1232" y="149050"/>
                </a:lnTo>
                <a:lnTo>
                  <a:pt x="0" y="159926"/>
                </a:lnTo>
                <a:lnTo>
                  <a:pt x="3184" y="170814"/>
                </a:lnTo>
                <a:lnTo>
                  <a:pt x="117230" y="390525"/>
                </a:lnTo>
                <a:lnTo>
                  <a:pt x="153170" y="335280"/>
                </a:lnTo>
                <a:lnTo>
                  <a:pt x="148599" y="335280"/>
                </a:lnTo>
                <a:lnTo>
                  <a:pt x="91449" y="332486"/>
                </a:lnTo>
                <a:lnTo>
                  <a:pt x="96612" y="226888"/>
                </a:lnTo>
                <a:lnTo>
                  <a:pt x="53857" y="144525"/>
                </a:lnTo>
                <a:lnTo>
                  <a:pt x="46755" y="135709"/>
                </a:lnTo>
                <a:lnTo>
                  <a:pt x="37141" y="130476"/>
                </a:lnTo>
                <a:lnTo>
                  <a:pt x="26265" y="129220"/>
                </a:lnTo>
                <a:close/>
              </a:path>
              <a:path w="256540" h="390525">
                <a:moveTo>
                  <a:pt x="96612" y="226888"/>
                </a:moveTo>
                <a:lnTo>
                  <a:pt x="91449" y="332486"/>
                </a:lnTo>
                <a:lnTo>
                  <a:pt x="148599" y="335280"/>
                </a:lnTo>
                <a:lnTo>
                  <a:pt x="149313" y="320675"/>
                </a:lnTo>
                <a:lnTo>
                  <a:pt x="145297" y="320675"/>
                </a:lnTo>
                <a:lnTo>
                  <a:pt x="96021" y="318262"/>
                </a:lnTo>
                <a:lnTo>
                  <a:pt x="122742" y="277225"/>
                </a:lnTo>
                <a:lnTo>
                  <a:pt x="96612" y="226888"/>
                </a:lnTo>
                <a:close/>
              </a:path>
              <a:path w="256540" h="390525">
                <a:moveTo>
                  <a:pt x="233320" y="139319"/>
                </a:moveTo>
                <a:lnTo>
                  <a:pt x="153767" y="229578"/>
                </a:lnTo>
                <a:lnTo>
                  <a:pt x="148599" y="335280"/>
                </a:lnTo>
                <a:lnTo>
                  <a:pt x="153170" y="335280"/>
                </a:lnTo>
                <a:lnTo>
                  <a:pt x="252231" y="183007"/>
                </a:lnTo>
                <a:lnTo>
                  <a:pt x="256422" y="172477"/>
                </a:lnTo>
                <a:lnTo>
                  <a:pt x="256232" y="161544"/>
                </a:lnTo>
                <a:lnTo>
                  <a:pt x="251946" y="151467"/>
                </a:lnTo>
                <a:lnTo>
                  <a:pt x="243849" y="143510"/>
                </a:lnTo>
                <a:lnTo>
                  <a:pt x="233320" y="139319"/>
                </a:lnTo>
                <a:close/>
              </a:path>
              <a:path w="256540" h="390525">
                <a:moveTo>
                  <a:pt x="122742" y="277225"/>
                </a:moveTo>
                <a:lnTo>
                  <a:pt x="96021" y="318262"/>
                </a:lnTo>
                <a:lnTo>
                  <a:pt x="145297" y="320675"/>
                </a:lnTo>
                <a:lnTo>
                  <a:pt x="122742" y="277225"/>
                </a:lnTo>
                <a:close/>
              </a:path>
              <a:path w="256540" h="390525">
                <a:moveTo>
                  <a:pt x="153767" y="229578"/>
                </a:moveTo>
                <a:lnTo>
                  <a:pt x="122742" y="277225"/>
                </a:lnTo>
                <a:lnTo>
                  <a:pt x="145297" y="320675"/>
                </a:lnTo>
                <a:lnTo>
                  <a:pt x="149313" y="320675"/>
                </a:lnTo>
                <a:lnTo>
                  <a:pt x="153767" y="229578"/>
                </a:lnTo>
                <a:close/>
              </a:path>
              <a:path w="256540" h="390525">
                <a:moveTo>
                  <a:pt x="107705" y="0"/>
                </a:moveTo>
                <a:lnTo>
                  <a:pt x="96612" y="226888"/>
                </a:lnTo>
                <a:lnTo>
                  <a:pt x="122742" y="277225"/>
                </a:lnTo>
                <a:lnTo>
                  <a:pt x="153767" y="229578"/>
                </a:lnTo>
                <a:lnTo>
                  <a:pt x="164855" y="2794"/>
                </a:lnTo>
                <a:lnTo>
                  <a:pt x="107705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708520" y="2308351"/>
            <a:ext cx="813435" cy="582295"/>
          </a:xfrm>
          <a:custGeom>
            <a:avLst/>
            <a:gdLst/>
            <a:ahLst/>
            <a:cxnLst/>
            <a:rect l="l" t="t" r="r" b="b"/>
            <a:pathLst>
              <a:path w="813434" h="582294">
                <a:moveTo>
                  <a:pt x="130311" y="340786"/>
                </a:moveTo>
                <a:lnTo>
                  <a:pt x="119522" y="342534"/>
                </a:lnTo>
                <a:lnTo>
                  <a:pt x="110186" y="348212"/>
                </a:lnTo>
                <a:lnTo>
                  <a:pt x="103504" y="357377"/>
                </a:lnTo>
                <a:lnTo>
                  <a:pt x="0" y="582295"/>
                </a:lnTo>
                <a:lnTo>
                  <a:pt x="110455" y="573024"/>
                </a:lnTo>
                <a:lnTo>
                  <a:pt x="62864" y="573024"/>
                </a:lnTo>
                <a:lnTo>
                  <a:pt x="30099" y="526288"/>
                </a:lnTo>
                <a:lnTo>
                  <a:pt x="116478" y="465720"/>
                </a:lnTo>
                <a:lnTo>
                  <a:pt x="155321" y="381253"/>
                </a:lnTo>
                <a:lnTo>
                  <a:pt x="157942" y="370268"/>
                </a:lnTo>
                <a:lnTo>
                  <a:pt x="156194" y="359473"/>
                </a:lnTo>
                <a:lnTo>
                  <a:pt x="150516" y="350107"/>
                </a:lnTo>
                <a:lnTo>
                  <a:pt x="141350" y="343408"/>
                </a:lnTo>
                <a:lnTo>
                  <a:pt x="130311" y="340786"/>
                </a:lnTo>
                <a:close/>
              </a:path>
              <a:path w="813434" h="582294">
                <a:moveTo>
                  <a:pt x="116478" y="465720"/>
                </a:moveTo>
                <a:lnTo>
                  <a:pt x="30099" y="526288"/>
                </a:lnTo>
                <a:lnTo>
                  <a:pt x="62864" y="573024"/>
                </a:lnTo>
                <a:lnTo>
                  <a:pt x="79165" y="561594"/>
                </a:lnTo>
                <a:lnTo>
                  <a:pt x="72389" y="561594"/>
                </a:lnTo>
                <a:lnTo>
                  <a:pt x="44069" y="521208"/>
                </a:lnTo>
                <a:lnTo>
                  <a:pt x="92834" y="517136"/>
                </a:lnTo>
                <a:lnTo>
                  <a:pt x="116478" y="465720"/>
                </a:lnTo>
                <a:close/>
              </a:path>
              <a:path w="813434" h="582294">
                <a:moveTo>
                  <a:pt x="241807" y="504698"/>
                </a:moveTo>
                <a:lnTo>
                  <a:pt x="149292" y="512422"/>
                </a:lnTo>
                <a:lnTo>
                  <a:pt x="62864" y="573024"/>
                </a:lnTo>
                <a:lnTo>
                  <a:pt x="110455" y="573024"/>
                </a:lnTo>
                <a:lnTo>
                  <a:pt x="246633" y="561594"/>
                </a:lnTo>
                <a:lnTo>
                  <a:pt x="272669" y="530733"/>
                </a:lnTo>
                <a:lnTo>
                  <a:pt x="269525" y="519824"/>
                </a:lnTo>
                <a:lnTo>
                  <a:pt x="262667" y="511286"/>
                </a:lnTo>
                <a:lnTo>
                  <a:pt x="253095" y="505962"/>
                </a:lnTo>
                <a:lnTo>
                  <a:pt x="241807" y="504698"/>
                </a:lnTo>
                <a:close/>
              </a:path>
              <a:path w="813434" h="582294">
                <a:moveTo>
                  <a:pt x="92834" y="517136"/>
                </a:moveTo>
                <a:lnTo>
                  <a:pt x="44069" y="521208"/>
                </a:lnTo>
                <a:lnTo>
                  <a:pt x="72389" y="561594"/>
                </a:lnTo>
                <a:lnTo>
                  <a:pt x="92834" y="517136"/>
                </a:lnTo>
                <a:close/>
              </a:path>
              <a:path w="813434" h="582294">
                <a:moveTo>
                  <a:pt x="149292" y="512422"/>
                </a:moveTo>
                <a:lnTo>
                  <a:pt x="92834" y="517136"/>
                </a:lnTo>
                <a:lnTo>
                  <a:pt x="72389" y="561594"/>
                </a:lnTo>
                <a:lnTo>
                  <a:pt x="79165" y="561594"/>
                </a:lnTo>
                <a:lnTo>
                  <a:pt x="149292" y="512422"/>
                </a:lnTo>
                <a:close/>
              </a:path>
              <a:path w="813434" h="582294">
                <a:moveTo>
                  <a:pt x="780669" y="0"/>
                </a:moveTo>
                <a:lnTo>
                  <a:pt x="116478" y="465720"/>
                </a:lnTo>
                <a:lnTo>
                  <a:pt x="92834" y="517136"/>
                </a:lnTo>
                <a:lnTo>
                  <a:pt x="149292" y="512422"/>
                </a:lnTo>
                <a:lnTo>
                  <a:pt x="813434" y="46736"/>
                </a:lnTo>
                <a:lnTo>
                  <a:pt x="780669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94523" y="2305430"/>
            <a:ext cx="913130" cy="439420"/>
          </a:xfrm>
          <a:custGeom>
            <a:avLst/>
            <a:gdLst/>
            <a:ahLst/>
            <a:cxnLst/>
            <a:rect l="l" t="t" r="r" b="b"/>
            <a:pathLst>
              <a:path w="913129" h="439419">
                <a:moveTo>
                  <a:pt x="752150" y="370414"/>
                </a:moveTo>
                <a:lnTo>
                  <a:pt x="660273" y="382270"/>
                </a:lnTo>
                <a:lnTo>
                  <a:pt x="635507" y="414274"/>
                </a:lnTo>
                <a:lnTo>
                  <a:pt x="639169" y="425072"/>
                </a:lnTo>
                <a:lnTo>
                  <a:pt x="646414" y="433324"/>
                </a:lnTo>
                <a:lnTo>
                  <a:pt x="656207" y="438241"/>
                </a:lnTo>
                <a:lnTo>
                  <a:pt x="667511" y="439039"/>
                </a:lnTo>
                <a:lnTo>
                  <a:pt x="879616" y="411607"/>
                </a:lnTo>
                <a:lnTo>
                  <a:pt x="849629" y="411607"/>
                </a:lnTo>
                <a:lnTo>
                  <a:pt x="752150" y="370414"/>
                </a:lnTo>
                <a:close/>
              </a:path>
              <a:path w="913129" h="439419">
                <a:moveTo>
                  <a:pt x="808533" y="363139"/>
                </a:moveTo>
                <a:lnTo>
                  <a:pt x="752150" y="370414"/>
                </a:lnTo>
                <a:lnTo>
                  <a:pt x="849629" y="411607"/>
                </a:lnTo>
                <a:lnTo>
                  <a:pt x="853539" y="402336"/>
                </a:lnTo>
                <a:lnTo>
                  <a:pt x="837946" y="402336"/>
                </a:lnTo>
                <a:lnTo>
                  <a:pt x="808533" y="363139"/>
                </a:lnTo>
                <a:close/>
              </a:path>
              <a:path w="913129" h="439419">
                <a:moveTo>
                  <a:pt x="745807" y="198104"/>
                </a:moveTo>
                <a:lnTo>
                  <a:pt x="734877" y="198669"/>
                </a:lnTo>
                <a:lnTo>
                  <a:pt x="724661" y="203581"/>
                </a:lnTo>
                <a:lnTo>
                  <a:pt x="717069" y="212010"/>
                </a:lnTo>
                <a:lnTo>
                  <a:pt x="713454" y="222345"/>
                </a:lnTo>
                <a:lnTo>
                  <a:pt x="713982" y="233299"/>
                </a:lnTo>
                <a:lnTo>
                  <a:pt x="718820" y="243586"/>
                </a:lnTo>
                <a:lnTo>
                  <a:pt x="774483" y="317763"/>
                </a:lnTo>
                <a:lnTo>
                  <a:pt x="871854" y="358902"/>
                </a:lnTo>
                <a:lnTo>
                  <a:pt x="849629" y="411607"/>
                </a:lnTo>
                <a:lnTo>
                  <a:pt x="879616" y="411607"/>
                </a:lnTo>
                <a:lnTo>
                  <a:pt x="913002" y="407289"/>
                </a:lnTo>
                <a:lnTo>
                  <a:pt x="764667" y="209296"/>
                </a:lnTo>
                <a:lnTo>
                  <a:pt x="756165" y="201705"/>
                </a:lnTo>
                <a:lnTo>
                  <a:pt x="745807" y="198104"/>
                </a:lnTo>
                <a:close/>
              </a:path>
              <a:path w="913129" h="439419">
                <a:moveTo>
                  <a:pt x="857123" y="356870"/>
                </a:moveTo>
                <a:lnTo>
                  <a:pt x="808533" y="363139"/>
                </a:lnTo>
                <a:lnTo>
                  <a:pt x="837946" y="402336"/>
                </a:lnTo>
                <a:lnTo>
                  <a:pt x="857123" y="356870"/>
                </a:lnTo>
                <a:close/>
              </a:path>
              <a:path w="913129" h="439419">
                <a:moveTo>
                  <a:pt x="867045" y="356870"/>
                </a:moveTo>
                <a:lnTo>
                  <a:pt x="857123" y="356870"/>
                </a:lnTo>
                <a:lnTo>
                  <a:pt x="837946" y="402336"/>
                </a:lnTo>
                <a:lnTo>
                  <a:pt x="853539" y="402336"/>
                </a:lnTo>
                <a:lnTo>
                  <a:pt x="871854" y="358902"/>
                </a:lnTo>
                <a:lnTo>
                  <a:pt x="867045" y="356870"/>
                </a:lnTo>
                <a:close/>
              </a:path>
              <a:path w="913129" h="439419">
                <a:moveTo>
                  <a:pt x="22351" y="0"/>
                </a:moveTo>
                <a:lnTo>
                  <a:pt x="0" y="52578"/>
                </a:lnTo>
                <a:lnTo>
                  <a:pt x="752150" y="370414"/>
                </a:lnTo>
                <a:lnTo>
                  <a:pt x="808533" y="363139"/>
                </a:lnTo>
                <a:lnTo>
                  <a:pt x="774483" y="317763"/>
                </a:lnTo>
                <a:lnTo>
                  <a:pt x="22351" y="0"/>
                </a:lnTo>
                <a:close/>
              </a:path>
              <a:path w="913129" h="439419">
                <a:moveTo>
                  <a:pt x="774483" y="317763"/>
                </a:moveTo>
                <a:lnTo>
                  <a:pt x="808533" y="363139"/>
                </a:lnTo>
                <a:lnTo>
                  <a:pt x="857123" y="356870"/>
                </a:lnTo>
                <a:lnTo>
                  <a:pt x="867045" y="356870"/>
                </a:lnTo>
                <a:lnTo>
                  <a:pt x="774483" y="317763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603460" y="3232785"/>
            <a:ext cx="257175" cy="823594"/>
          </a:xfrm>
          <a:custGeom>
            <a:avLst/>
            <a:gdLst/>
            <a:ahLst/>
            <a:cxnLst/>
            <a:rect l="l" t="t" r="r" b="b"/>
            <a:pathLst>
              <a:path w="257175" h="823595">
                <a:moveTo>
                  <a:pt x="23459" y="571285"/>
                </a:moveTo>
                <a:lnTo>
                  <a:pt x="12858" y="575309"/>
                </a:lnTo>
                <a:lnTo>
                  <a:pt x="4667" y="583195"/>
                </a:lnTo>
                <a:lnTo>
                  <a:pt x="285" y="593248"/>
                </a:lnTo>
                <a:lnTo>
                  <a:pt x="0" y="604206"/>
                </a:lnTo>
                <a:lnTo>
                  <a:pt x="4095" y="614807"/>
                </a:lnTo>
                <a:lnTo>
                  <a:pt x="136937" y="823594"/>
                </a:lnTo>
                <a:lnTo>
                  <a:pt x="166494" y="768095"/>
                </a:lnTo>
                <a:lnTo>
                  <a:pt x="106203" y="768095"/>
                </a:lnTo>
                <a:lnTo>
                  <a:pt x="102115" y="662301"/>
                </a:lnTo>
                <a:lnTo>
                  <a:pt x="52355" y="584072"/>
                </a:lnTo>
                <a:lnTo>
                  <a:pt x="44469" y="575952"/>
                </a:lnTo>
                <a:lnTo>
                  <a:pt x="34417" y="571595"/>
                </a:lnTo>
                <a:lnTo>
                  <a:pt x="23459" y="571285"/>
                </a:lnTo>
                <a:close/>
              </a:path>
              <a:path w="257175" h="823595">
                <a:moveTo>
                  <a:pt x="102115" y="662301"/>
                </a:moveTo>
                <a:lnTo>
                  <a:pt x="106203" y="768095"/>
                </a:lnTo>
                <a:lnTo>
                  <a:pt x="163353" y="765809"/>
                </a:lnTo>
                <a:lnTo>
                  <a:pt x="162877" y="753490"/>
                </a:lnTo>
                <a:lnTo>
                  <a:pt x="109505" y="753490"/>
                </a:lnTo>
                <a:lnTo>
                  <a:pt x="132581" y="710196"/>
                </a:lnTo>
                <a:lnTo>
                  <a:pt x="102115" y="662301"/>
                </a:lnTo>
                <a:close/>
              </a:path>
              <a:path w="257175" h="823595">
                <a:moveTo>
                  <a:pt x="230622" y="563266"/>
                </a:moveTo>
                <a:lnTo>
                  <a:pt x="219725" y="564403"/>
                </a:lnTo>
                <a:lnTo>
                  <a:pt x="210044" y="569565"/>
                </a:lnTo>
                <a:lnTo>
                  <a:pt x="202850" y="578357"/>
                </a:lnTo>
                <a:lnTo>
                  <a:pt x="159270" y="660123"/>
                </a:lnTo>
                <a:lnTo>
                  <a:pt x="163353" y="765809"/>
                </a:lnTo>
                <a:lnTo>
                  <a:pt x="106203" y="768095"/>
                </a:lnTo>
                <a:lnTo>
                  <a:pt x="166494" y="768095"/>
                </a:lnTo>
                <a:lnTo>
                  <a:pt x="253269" y="605154"/>
                </a:lnTo>
                <a:lnTo>
                  <a:pt x="256549" y="594318"/>
                </a:lnTo>
                <a:lnTo>
                  <a:pt x="255412" y="583422"/>
                </a:lnTo>
                <a:lnTo>
                  <a:pt x="250251" y="573740"/>
                </a:lnTo>
                <a:lnTo>
                  <a:pt x="241458" y="566546"/>
                </a:lnTo>
                <a:lnTo>
                  <a:pt x="230622" y="563266"/>
                </a:lnTo>
                <a:close/>
              </a:path>
              <a:path w="257175" h="823595">
                <a:moveTo>
                  <a:pt x="132581" y="710196"/>
                </a:moveTo>
                <a:lnTo>
                  <a:pt x="109505" y="753490"/>
                </a:lnTo>
                <a:lnTo>
                  <a:pt x="158908" y="751585"/>
                </a:lnTo>
                <a:lnTo>
                  <a:pt x="132581" y="710196"/>
                </a:lnTo>
                <a:close/>
              </a:path>
              <a:path w="257175" h="823595">
                <a:moveTo>
                  <a:pt x="159270" y="660123"/>
                </a:moveTo>
                <a:lnTo>
                  <a:pt x="132581" y="710196"/>
                </a:lnTo>
                <a:lnTo>
                  <a:pt x="158908" y="751585"/>
                </a:lnTo>
                <a:lnTo>
                  <a:pt x="109505" y="753490"/>
                </a:lnTo>
                <a:lnTo>
                  <a:pt x="162877" y="753490"/>
                </a:lnTo>
                <a:lnTo>
                  <a:pt x="159270" y="660123"/>
                </a:lnTo>
                <a:close/>
              </a:path>
              <a:path w="257175" h="823595">
                <a:moveTo>
                  <a:pt x="133762" y="0"/>
                </a:moveTo>
                <a:lnTo>
                  <a:pt x="76612" y="2286"/>
                </a:lnTo>
                <a:lnTo>
                  <a:pt x="102115" y="662301"/>
                </a:lnTo>
                <a:lnTo>
                  <a:pt x="132581" y="710196"/>
                </a:lnTo>
                <a:lnTo>
                  <a:pt x="159270" y="660123"/>
                </a:lnTo>
                <a:lnTo>
                  <a:pt x="133762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93940" y="2931608"/>
            <a:ext cx="327660" cy="257175"/>
          </a:xfrm>
          <a:custGeom>
            <a:avLst/>
            <a:gdLst/>
            <a:ahLst/>
            <a:cxnLst/>
            <a:rect l="l" t="t" r="r" b="b"/>
            <a:pathLst>
              <a:path w="327659" h="257175">
                <a:moveTo>
                  <a:pt x="278461" y="96579"/>
                </a:moveTo>
                <a:lnTo>
                  <a:pt x="270382" y="96579"/>
                </a:lnTo>
                <a:lnTo>
                  <a:pt x="271525" y="153729"/>
                </a:lnTo>
                <a:lnTo>
                  <a:pt x="165795" y="155764"/>
                </a:lnTo>
                <a:lnTo>
                  <a:pt x="86613" y="204021"/>
                </a:lnTo>
                <a:lnTo>
                  <a:pt x="78285" y="211742"/>
                </a:lnTo>
                <a:lnTo>
                  <a:pt x="73707" y="221690"/>
                </a:lnTo>
                <a:lnTo>
                  <a:pt x="73201" y="232614"/>
                </a:lnTo>
                <a:lnTo>
                  <a:pt x="77088" y="243264"/>
                </a:lnTo>
                <a:lnTo>
                  <a:pt x="84810" y="251592"/>
                </a:lnTo>
                <a:lnTo>
                  <a:pt x="94757" y="256170"/>
                </a:lnTo>
                <a:lnTo>
                  <a:pt x="105681" y="256676"/>
                </a:lnTo>
                <a:lnTo>
                  <a:pt x="116331" y="252789"/>
                </a:lnTo>
                <a:lnTo>
                  <a:pt x="327659" y="124011"/>
                </a:lnTo>
                <a:lnTo>
                  <a:pt x="278461" y="96579"/>
                </a:lnTo>
                <a:close/>
              </a:path>
              <a:path w="327659" h="257175">
                <a:moveTo>
                  <a:pt x="164792" y="98612"/>
                </a:moveTo>
                <a:lnTo>
                  <a:pt x="0" y="101786"/>
                </a:lnTo>
                <a:lnTo>
                  <a:pt x="1015" y="158936"/>
                </a:lnTo>
                <a:lnTo>
                  <a:pt x="165795" y="155764"/>
                </a:lnTo>
                <a:lnTo>
                  <a:pt x="214291" y="126209"/>
                </a:lnTo>
                <a:lnTo>
                  <a:pt x="164792" y="98612"/>
                </a:lnTo>
                <a:close/>
              </a:path>
              <a:path w="327659" h="257175">
                <a:moveTo>
                  <a:pt x="214291" y="126209"/>
                </a:moveTo>
                <a:lnTo>
                  <a:pt x="165795" y="155764"/>
                </a:lnTo>
                <a:lnTo>
                  <a:pt x="271525" y="153729"/>
                </a:lnTo>
                <a:lnTo>
                  <a:pt x="271452" y="150046"/>
                </a:lnTo>
                <a:lnTo>
                  <a:pt x="257048" y="150046"/>
                </a:lnTo>
                <a:lnTo>
                  <a:pt x="214291" y="126209"/>
                </a:lnTo>
                <a:close/>
              </a:path>
              <a:path w="327659" h="257175">
                <a:moveTo>
                  <a:pt x="256031" y="100770"/>
                </a:moveTo>
                <a:lnTo>
                  <a:pt x="214291" y="126209"/>
                </a:lnTo>
                <a:lnTo>
                  <a:pt x="257048" y="150046"/>
                </a:lnTo>
                <a:lnTo>
                  <a:pt x="256031" y="100770"/>
                </a:lnTo>
                <a:close/>
              </a:path>
              <a:path w="327659" h="257175">
                <a:moveTo>
                  <a:pt x="270466" y="100770"/>
                </a:moveTo>
                <a:lnTo>
                  <a:pt x="256031" y="100770"/>
                </a:lnTo>
                <a:lnTo>
                  <a:pt x="257048" y="150046"/>
                </a:lnTo>
                <a:lnTo>
                  <a:pt x="271452" y="150046"/>
                </a:lnTo>
                <a:lnTo>
                  <a:pt x="270466" y="100770"/>
                </a:lnTo>
                <a:close/>
              </a:path>
              <a:path w="327659" h="257175">
                <a:moveTo>
                  <a:pt x="270382" y="96579"/>
                </a:moveTo>
                <a:lnTo>
                  <a:pt x="164792" y="98612"/>
                </a:lnTo>
                <a:lnTo>
                  <a:pt x="214291" y="126209"/>
                </a:lnTo>
                <a:lnTo>
                  <a:pt x="256031" y="100770"/>
                </a:lnTo>
                <a:lnTo>
                  <a:pt x="270466" y="100770"/>
                </a:lnTo>
                <a:lnTo>
                  <a:pt x="270382" y="96579"/>
                </a:lnTo>
                <a:close/>
              </a:path>
              <a:path w="327659" h="257175">
                <a:moveTo>
                  <a:pt x="100736" y="0"/>
                </a:moveTo>
                <a:lnTo>
                  <a:pt x="89836" y="916"/>
                </a:lnTo>
                <a:lnTo>
                  <a:pt x="80055" y="5881"/>
                </a:lnTo>
                <a:lnTo>
                  <a:pt x="72643" y="14537"/>
                </a:lnTo>
                <a:lnTo>
                  <a:pt x="69155" y="25324"/>
                </a:lnTo>
                <a:lnTo>
                  <a:pt x="70072" y="36254"/>
                </a:lnTo>
                <a:lnTo>
                  <a:pt x="75037" y="46041"/>
                </a:lnTo>
                <a:lnTo>
                  <a:pt x="83692" y="53399"/>
                </a:lnTo>
                <a:lnTo>
                  <a:pt x="164792" y="98612"/>
                </a:lnTo>
                <a:lnTo>
                  <a:pt x="270382" y="96579"/>
                </a:lnTo>
                <a:lnTo>
                  <a:pt x="278461" y="96579"/>
                </a:lnTo>
                <a:lnTo>
                  <a:pt x="111505" y="3488"/>
                </a:lnTo>
                <a:lnTo>
                  <a:pt x="100736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39765" y="2933376"/>
            <a:ext cx="283210" cy="1494155"/>
          </a:xfrm>
          <a:custGeom>
            <a:avLst/>
            <a:gdLst/>
            <a:ahLst/>
            <a:cxnLst/>
            <a:rect l="l" t="t" r="r" b="b"/>
            <a:pathLst>
              <a:path w="283210" h="1494154">
                <a:moveTo>
                  <a:pt x="120301" y="99764"/>
                </a:moveTo>
                <a:lnTo>
                  <a:pt x="28575" y="99764"/>
                </a:lnTo>
                <a:lnTo>
                  <a:pt x="17466" y="102014"/>
                </a:lnTo>
                <a:lnTo>
                  <a:pt x="8382" y="108146"/>
                </a:lnTo>
                <a:lnTo>
                  <a:pt x="2250" y="117230"/>
                </a:lnTo>
                <a:lnTo>
                  <a:pt x="0" y="128339"/>
                </a:lnTo>
                <a:lnTo>
                  <a:pt x="0" y="1465014"/>
                </a:lnTo>
                <a:lnTo>
                  <a:pt x="2250" y="1476122"/>
                </a:lnTo>
                <a:lnTo>
                  <a:pt x="8382" y="1485207"/>
                </a:lnTo>
                <a:lnTo>
                  <a:pt x="17466" y="1491339"/>
                </a:lnTo>
                <a:lnTo>
                  <a:pt x="28575" y="1493589"/>
                </a:lnTo>
                <a:lnTo>
                  <a:pt x="257175" y="1493589"/>
                </a:lnTo>
                <a:lnTo>
                  <a:pt x="257175" y="1465014"/>
                </a:lnTo>
                <a:lnTo>
                  <a:pt x="57150" y="1465014"/>
                </a:lnTo>
                <a:lnTo>
                  <a:pt x="28575" y="1436439"/>
                </a:lnTo>
                <a:lnTo>
                  <a:pt x="57150" y="1436439"/>
                </a:lnTo>
                <a:lnTo>
                  <a:pt x="57150" y="256607"/>
                </a:lnTo>
                <a:lnTo>
                  <a:pt x="47307" y="255958"/>
                </a:lnTo>
                <a:lnTo>
                  <a:pt x="37421" y="251213"/>
                </a:lnTo>
                <a:lnTo>
                  <a:pt x="29845" y="242766"/>
                </a:lnTo>
                <a:lnTo>
                  <a:pt x="26219" y="232046"/>
                </a:lnTo>
                <a:lnTo>
                  <a:pt x="26939" y="221112"/>
                </a:lnTo>
                <a:lnTo>
                  <a:pt x="31684" y="211226"/>
                </a:lnTo>
                <a:lnTo>
                  <a:pt x="40132" y="203650"/>
                </a:lnTo>
                <a:lnTo>
                  <a:pt x="57149" y="193729"/>
                </a:lnTo>
                <a:lnTo>
                  <a:pt x="57150" y="156914"/>
                </a:lnTo>
                <a:lnTo>
                  <a:pt x="28575" y="156914"/>
                </a:lnTo>
                <a:lnTo>
                  <a:pt x="57150" y="128339"/>
                </a:lnTo>
                <a:lnTo>
                  <a:pt x="169318" y="128339"/>
                </a:lnTo>
                <a:lnTo>
                  <a:pt x="120301" y="99764"/>
                </a:lnTo>
                <a:close/>
              </a:path>
              <a:path w="283210" h="1494154">
                <a:moveTo>
                  <a:pt x="57150" y="1436439"/>
                </a:moveTo>
                <a:lnTo>
                  <a:pt x="28575" y="1436439"/>
                </a:lnTo>
                <a:lnTo>
                  <a:pt x="57150" y="1465014"/>
                </a:lnTo>
                <a:lnTo>
                  <a:pt x="57150" y="1436439"/>
                </a:lnTo>
                <a:close/>
              </a:path>
              <a:path w="283210" h="1494154">
                <a:moveTo>
                  <a:pt x="257175" y="1436439"/>
                </a:moveTo>
                <a:lnTo>
                  <a:pt x="57150" y="1436439"/>
                </a:lnTo>
                <a:lnTo>
                  <a:pt x="57150" y="1465014"/>
                </a:lnTo>
                <a:lnTo>
                  <a:pt x="257175" y="1465014"/>
                </a:lnTo>
                <a:lnTo>
                  <a:pt x="257175" y="1436439"/>
                </a:lnTo>
                <a:close/>
              </a:path>
              <a:path w="283210" h="1494154">
                <a:moveTo>
                  <a:pt x="169318" y="128339"/>
                </a:moveTo>
                <a:lnTo>
                  <a:pt x="57150" y="193729"/>
                </a:lnTo>
                <a:lnTo>
                  <a:pt x="57150" y="256607"/>
                </a:lnTo>
                <a:lnTo>
                  <a:pt x="58241" y="256678"/>
                </a:lnTo>
                <a:lnTo>
                  <a:pt x="68961" y="253053"/>
                </a:lnTo>
                <a:lnTo>
                  <a:pt x="233728" y="156914"/>
                </a:lnTo>
                <a:lnTo>
                  <a:pt x="225933" y="156914"/>
                </a:lnTo>
                <a:lnTo>
                  <a:pt x="225933" y="152977"/>
                </a:lnTo>
                <a:lnTo>
                  <a:pt x="211582" y="152977"/>
                </a:lnTo>
                <a:lnTo>
                  <a:pt x="169318" y="128339"/>
                </a:lnTo>
                <a:close/>
              </a:path>
              <a:path w="283210" h="1494154">
                <a:moveTo>
                  <a:pt x="57150" y="193729"/>
                </a:moveTo>
                <a:lnTo>
                  <a:pt x="40132" y="203650"/>
                </a:lnTo>
                <a:lnTo>
                  <a:pt x="31684" y="211226"/>
                </a:lnTo>
                <a:lnTo>
                  <a:pt x="26939" y="221112"/>
                </a:lnTo>
                <a:lnTo>
                  <a:pt x="26219" y="232046"/>
                </a:lnTo>
                <a:lnTo>
                  <a:pt x="29845" y="242766"/>
                </a:lnTo>
                <a:lnTo>
                  <a:pt x="37421" y="251213"/>
                </a:lnTo>
                <a:lnTo>
                  <a:pt x="47307" y="255958"/>
                </a:lnTo>
                <a:lnTo>
                  <a:pt x="57150" y="256607"/>
                </a:lnTo>
                <a:lnTo>
                  <a:pt x="57150" y="193729"/>
                </a:lnTo>
                <a:close/>
              </a:path>
              <a:path w="283210" h="1494154">
                <a:moveTo>
                  <a:pt x="57150" y="128339"/>
                </a:moveTo>
                <a:lnTo>
                  <a:pt x="28575" y="156914"/>
                </a:lnTo>
                <a:lnTo>
                  <a:pt x="57150" y="156914"/>
                </a:lnTo>
                <a:lnTo>
                  <a:pt x="57150" y="128339"/>
                </a:lnTo>
                <a:close/>
              </a:path>
              <a:path w="283210" h="1494154">
                <a:moveTo>
                  <a:pt x="169318" y="128339"/>
                </a:moveTo>
                <a:lnTo>
                  <a:pt x="57150" y="128339"/>
                </a:lnTo>
                <a:lnTo>
                  <a:pt x="57150" y="156914"/>
                </a:lnTo>
                <a:lnTo>
                  <a:pt x="120301" y="156914"/>
                </a:lnTo>
                <a:lnTo>
                  <a:pt x="169318" y="128339"/>
                </a:lnTo>
                <a:close/>
              </a:path>
              <a:path w="283210" h="1494154">
                <a:moveTo>
                  <a:pt x="233728" y="99764"/>
                </a:moveTo>
                <a:lnTo>
                  <a:pt x="225933" y="99764"/>
                </a:lnTo>
                <a:lnTo>
                  <a:pt x="225933" y="156914"/>
                </a:lnTo>
                <a:lnTo>
                  <a:pt x="233728" y="156914"/>
                </a:lnTo>
                <a:lnTo>
                  <a:pt x="282701" y="128339"/>
                </a:lnTo>
                <a:lnTo>
                  <a:pt x="233728" y="99764"/>
                </a:lnTo>
                <a:close/>
              </a:path>
              <a:path w="283210" h="1494154">
                <a:moveTo>
                  <a:pt x="211582" y="103701"/>
                </a:moveTo>
                <a:lnTo>
                  <a:pt x="169318" y="128339"/>
                </a:lnTo>
                <a:lnTo>
                  <a:pt x="211582" y="152977"/>
                </a:lnTo>
                <a:lnTo>
                  <a:pt x="211582" y="103701"/>
                </a:lnTo>
                <a:close/>
              </a:path>
              <a:path w="283210" h="1494154">
                <a:moveTo>
                  <a:pt x="225933" y="103701"/>
                </a:moveTo>
                <a:lnTo>
                  <a:pt x="211582" y="103701"/>
                </a:lnTo>
                <a:lnTo>
                  <a:pt x="211582" y="152977"/>
                </a:lnTo>
                <a:lnTo>
                  <a:pt x="225933" y="152977"/>
                </a:lnTo>
                <a:lnTo>
                  <a:pt x="225933" y="103701"/>
                </a:lnTo>
                <a:close/>
              </a:path>
              <a:path w="283210" h="1494154">
                <a:moveTo>
                  <a:pt x="58241" y="0"/>
                </a:moveTo>
                <a:lnTo>
                  <a:pt x="47307" y="720"/>
                </a:lnTo>
                <a:lnTo>
                  <a:pt x="37421" y="5464"/>
                </a:lnTo>
                <a:lnTo>
                  <a:pt x="29845" y="13912"/>
                </a:lnTo>
                <a:lnTo>
                  <a:pt x="26219" y="24632"/>
                </a:lnTo>
                <a:lnTo>
                  <a:pt x="26939" y="35565"/>
                </a:lnTo>
                <a:lnTo>
                  <a:pt x="31684" y="45452"/>
                </a:lnTo>
                <a:lnTo>
                  <a:pt x="40132" y="53028"/>
                </a:lnTo>
                <a:lnTo>
                  <a:pt x="169318" y="128339"/>
                </a:lnTo>
                <a:lnTo>
                  <a:pt x="211582" y="103701"/>
                </a:lnTo>
                <a:lnTo>
                  <a:pt x="225933" y="103701"/>
                </a:lnTo>
                <a:lnTo>
                  <a:pt x="225933" y="99764"/>
                </a:lnTo>
                <a:lnTo>
                  <a:pt x="233728" y="99764"/>
                </a:lnTo>
                <a:lnTo>
                  <a:pt x="68961" y="3625"/>
                </a:lnTo>
                <a:lnTo>
                  <a:pt x="58241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281527" y="3398392"/>
            <a:ext cx="257175" cy="597535"/>
          </a:xfrm>
          <a:custGeom>
            <a:avLst/>
            <a:gdLst/>
            <a:ahLst/>
            <a:cxnLst/>
            <a:rect l="l" t="t" r="r" b="b"/>
            <a:pathLst>
              <a:path w="257175" h="597535">
                <a:moveTo>
                  <a:pt x="24578" y="341213"/>
                </a:moveTo>
                <a:lnTo>
                  <a:pt x="13858" y="344932"/>
                </a:lnTo>
                <a:lnTo>
                  <a:pt x="5413" y="352508"/>
                </a:lnTo>
                <a:lnTo>
                  <a:pt x="682" y="362394"/>
                </a:lnTo>
                <a:lnTo>
                  <a:pt x="0" y="373328"/>
                </a:lnTo>
                <a:lnTo>
                  <a:pt x="3698" y="384048"/>
                </a:lnTo>
                <a:lnTo>
                  <a:pt x="129555" y="597154"/>
                </a:lnTo>
                <a:lnTo>
                  <a:pt x="162132" y="540639"/>
                </a:lnTo>
                <a:lnTo>
                  <a:pt x="100726" y="540639"/>
                </a:lnTo>
                <a:lnTo>
                  <a:pt x="100155" y="434946"/>
                </a:lnTo>
                <a:lnTo>
                  <a:pt x="52974" y="354965"/>
                </a:lnTo>
                <a:lnTo>
                  <a:pt x="45398" y="346539"/>
                </a:lnTo>
                <a:lnTo>
                  <a:pt x="35512" y="341852"/>
                </a:lnTo>
                <a:lnTo>
                  <a:pt x="24578" y="341213"/>
                </a:lnTo>
                <a:close/>
              </a:path>
              <a:path w="257175" h="597535">
                <a:moveTo>
                  <a:pt x="100155" y="434946"/>
                </a:moveTo>
                <a:lnTo>
                  <a:pt x="100726" y="540639"/>
                </a:lnTo>
                <a:lnTo>
                  <a:pt x="157876" y="540258"/>
                </a:lnTo>
                <a:lnTo>
                  <a:pt x="157800" y="526161"/>
                </a:lnTo>
                <a:lnTo>
                  <a:pt x="104536" y="526161"/>
                </a:lnTo>
                <a:lnTo>
                  <a:pt x="128956" y="483770"/>
                </a:lnTo>
                <a:lnTo>
                  <a:pt x="100155" y="434946"/>
                </a:lnTo>
                <a:close/>
              </a:path>
              <a:path w="257175" h="597535">
                <a:moveTo>
                  <a:pt x="231868" y="340058"/>
                </a:moveTo>
                <a:lnTo>
                  <a:pt x="220948" y="340836"/>
                </a:lnTo>
                <a:lnTo>
                  <a:pt x="211099" y="345662"/>
                </a:lnTo>
                <a:lnTo>
                  <a:pt x="203596" y="354203"/>
                </a:lnTo>
                <a:lnTo>
                  <a:pt x="157305" y="434560"/>
                </a:lnTo>
                <a:lnTo>
                  <a:pt x="157876" y="540258"/>
                </a:lnTo>
                <a:lnTo>
                  <a:pt x="100726" y="540639"/>
                </a:lnTo>
                <a:lnTo>
                  <a:pt x="162132" y="540639"/>
                </a:lnTo>
                <a:lnTo>
                  <a:pt x="253126" y="382778"/>
                </a:lnTo>
                <a:lnTo>
                  <a:pt x="256730" y="371986"/>
                </a:lnTo>
                <a:lnTo>
                  <a:pt x="255952" y="361029"/>
                </a:lnTo>
                <a:lnTo>
                  <a:pt x="251126" y="351166"/>
                </a:lnTo>
                <a:lnTo>
                  <a:pt x="242585" y="343662"/>
                </a:lnTo>
                <a:lnTo>
                  <a:pt x="231868" y="340058"/>
                </a:lnTo>
                <a:close/>
              </a:path>
              <a:path w="257175" h="597535">
                <a:moveTo>
                  <a:pt x="128956" y="483770"/>
                </a:moveTo>
                <a:lnTo>
                  <a:pt x="104536" y="526161"/>
                </a:lnTo>
                <a:lnTo>
                  <a:pt x="153812" y="525907"/>
                </a:lnTo>
                <a:lnTo>
                  <a:pt x="128956" y="483770"/>
                </a:lnTo>
                <a:close/>
              </a:path>
              <a:path w="257175" h="597535">
                <a:moveTo>
                  <a:pt x="157305" y="434560"/>
                </a:moveTo>
                <a:lnTo>
                  <a:pt x="128956" y="483770"/>
                </a:lnTo>
                <a:lnTo>
                  <a:pt x="153812" y="525907"/>
                </a:lnTo>
                <a:lnTo>
                  <a:pt x="104536" y="526161"/>
                </a:lnTo>
                <a:lnTo>
                  <a:pt x="157800" y="526161"/>
                </a:lnTo>
                <a:lnTo>
                  <a:pt x="157305" y="434560"/>
                </a:lnTo>
                <a:close/>
              </a:path>
              <a:path w="257175" h="597535">
                <a:moveTo>
                  <a:pt x="154955" y="0"/>
                </a:moveTo>
                <a:lnTo>
                  <a:pt x="97805" y="254"/>
                </a:lnTo>
                <a:lnTo>
                  <a:pt x="100155" y="434946"/>
                </a:lnTo>
                <a:lnTo>
                  <a:pt x="128956" y="483770"/>
                </a:lnTo>
                <a:lnTo>
                  <a:pt x="157305" y="434560"/>
                </a:lnTo>
                <a:lnTo>
                  <a:pt x="154955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191372" y="1860480"/>
            <a:ext cx="256540" cy="852805"/>
          </a:xfrm>
          <a:custGeom>
            <a:avLst/>
            <a:gdLst/>
            <a:ahLst/>
            <a:cxnLst/>
            <a:rect l="l" t="t" r="r" b="b"/>
            <a:pathLst>
              <a:path w="256540" h="852805">
                <a:moveTo>
                  <a:pt x="187451" y="237714"/>
                </a:moveTo>
                <a:lnTo>
                  <a:pt x="187451" y="852239"/>
                </a:lnTo>
                <a:lnTo>
                  <a:pt x="244601" y="852239"/>
                </a:lnTo>
                <a:lnTo>
                  <a:pt x="244601" y="256678"/>
                </a:lnTo>
                <a:lnTo>
                  <a:pt x="224460" y="256678"/>
                </a:lnTo>
                <a:lnTo>
                  <a:pt x="213741" y="253053"/>
                </a:lnTo>
                <a:lnTo>
                  <a:pt x="187451" y="237714"/>
                </a:lnTo>
                <a:close/>
              </a:path>
              <a:path w="256540" h="852805">
                <a:moveTo>
                  <a:pt x="187451" y="171518"/>
                </a:moveTo>
                <a:lnTo>
                  <a:pt x="187451" y="237714"/>
                </a:lnTo>
                <a:lnTo>
                  <a:pt x="213741" y="253053"/>
                </a:lnTo>
                <a:lnTo>
                  <a:pt x="224460" y="256678"/>
                </a:lnTo>
                <a:lnTo>
                  <a:pt x="235394" y="255958"/>
                </a:lnTo>
                <a:lnTo>
                  <a:pt x="244601" y="251539"/>
                </a:lnTo>
                <a:lnTo>
                  <a:pt x="244601" y="205472"/>
                </a:lnTo>
                <a:lnTo>
                  <a:pt x="242570" y="203650"/>
                </a:lnTo>
                <a:lnTo>
                  <a:pt x="187451" y="171518"/>
                </a:lnTo>
                <a:close/>
              </a:path>
              <a:path w="256540" h="852805">
                <a:moveTo>
                  <a:pt x="244601" y="251539"/>
                </a:moveTo>
                <a:lnTo>
                  <a:pt x="235394" y="255958"/>
                </a:lnTo>
                <a:lnTo>
                  <a:pt x="224460" y="256678"/>
                </a:lnTo>
                <a:lnTo>
                  <a:pt x="244601" y="256678"/>
                </a:lnTo>
                <a:lnTo>
                  <a:pt x="244601" y="251539"/>
                </a:lnTo>
                <a:close/>
              </a:path>
              <a:path w="256540" h="852805">
                <a:moveTo>
                  <a:pt x="244601" y="205472"/>
                </a:moveTo>
                <a:lnTo>
                  <a:pt x="244601" y="251539"/>
                </a:lnTo>
                <a:lnTo>
                  <a:pt x="245280" y="251213"/>
                </a:lnTo>
                <a:lnTo>
                  <a:pt x="252856" y="242766"/>
                </a:lnTo>
                <a:lnTo>
                  <a:pt x="256482" y="232046"/>
                </a:lnTo>
                <a:lnTo>
                  <a:pt x="255762" y="221112"/>
                </a:lnTo>
                <a:lnTo>
                  <a:pt x="251017" y="211226"/>
                </a:lnTo>
                <a:lnTo>
                  <a:pt x="244601" y="205472"/>
                </a:lnTo>
                <a:close/>
              </a:path>
              <a:path w="256540" h="852805">
                <a:moveTo>
                  <a:pt x="224460" y="0"/>
                </a:moveTo>
                <a:lnTo>
                  <a:pt x="213741" y="3625"/>
                </a:lnTo>
                <a:lnTo>
                  <a:pt x="0" y="128339"/>
                </a:lnTo>
                <a:lnTo>
                  <a:pt x="187451" y="237714"/>
                </a:lnTo>
                <a:lnTo>
                  <a:pt x="187451" y="171518"/>
                </a:lnTo>
                <a:lnTo>
                  <a:pt x="162400" y="156914"/>
                </a:lnTo>
                <a:lnTo>
                  <a:pt x="56642" y="156914"/>
                </a:lnTo>
                <a:lnTo>
                  <a:pt x="56642" y="99764"/>
                </a:lnTo>
                <a:lnTo>
                  <a:pt x="162400" y="99764"/>
                </a:lnTo>
                <a:lnTo>
                  <a:pt x="242570" y="53028"/>
                </a:lnTo>
                <a:lnTo>
                  <a:pt x="251017" y="45452"/>
                </a:lnTo>
                <a:lnTo>
                  <a:pt x="255762" y="35565"/>
                </a:lnTo>
                <a:lnTo>
                  <a:pt x="256482" y="24632"/>
                </a:lnTo>
                <a:lnTo>
                  <a:pt x="252856" y="13912"/>
                </a:lnTo>
                <a:lnTo>
                  <a:pt x="245280" y="5464"/>
                </a:lnTo>
                <a:lnTo>
                  <a:pt x="235394" y="720"/>
                </a:lnTo>
                <a:lnTo>
                  <a:pt x="224460" y="0"/>
                </a:lnTo>
                <a:close/>
              </a:path>
              <a:path w="256540" h="852805">
                <a:moveTo>
                  <a:pt x="187451" y="128339"/>
                </a:moveTo>
                <a:lnTo>
                  <a:pt x="187451" y="171518"/>
                </a:lnTo>
                <a:lnTo>
                  <a:pt x="242570" y="203650"/>
                </a:lnTo>
                <a:lnTo>
                  <a:pt x="244601" y="205472"/>
                </a:lnTo>
                <a:lnTo>
                  <a:pt x="244601" y="156914"/>
                </a:lnTo>
                <a:lnTo>
                  <a:pt x="216026" y="156914"/>
                </a:lnTo>
                <a:lnTo>
                  <a:pt x="187451" y="128339"/>
                </a:lnTo>
                <a:close/>
              </a:path>
              <a:path w="256540" h="852805">
                <a:moveTo>
                  <a:pt x="162400" y="99764"/>
                </a:moveTo>
                <a:lnTo>
                  <a:pt x="56642" y="99764"/>
                </a:lnTo>
                <a:lnTo>
                  <a:pt x="56642" y="156914"/>
                </a:lnTo>
                <a:lnTo>
                  <a:pt x="162400" y="156914"/>
                </a:lnTo>
                <a:lnTo>
                  <a:pt x="155646" y="152977"/>
                </a:lnTo>
                <a:lnTo>
                  <a:pt x="71120" y="152977"/>
                </a:lnTo>
                <a:lnTo>
                  <a:pt x="71120" y="103701"/>
                </a:lnTo>
                <a:lnTo>
                  <a:pt x="155646" y="103701"/>
                </a:lnTo>
                <a:lnTo>
                  <a:pt x="162400" y="99764"/>
                </a:lnTo>
                <a:close/>
              </a:path>
              <a:path w="256540" h="852805">
                <a:moveTo>
                  <a:pt x="216026" y="99764"/>
                </a:moveTo>
                <a:lnTo>
                  <a:pt x="162400" y="99764"/>
                </a:lnTo>
                <a:lnTo>
                  <a:pt x="113383" y="128339"/>
                </a:lnTo>
                <a:lnTo>
                  <a:pt x="162400" y="156914"/>
                </a:lnTo>
                <a:lnTo>
                  <a:pt x="187451" y="156914"/>
                </a:lnTo>
                <a:lnTo>
                  <a:pt x="187451" y="128339"/>
                </a:lnTo>
                <a:lnTo>
                  <a:pt x="244601" y="128339"/>
                </a:lnTo>
                <a:lnTo>
                  <a:pt x="242351" y="117230"/>
                </a:lnTo>
                <a:lnTo>
                  <a:pt x="236220" y="108146"/>
                </a:lnTo>
                <a:lnTo>
                  <a:pt x="227135" y="102014"/>
                </a:lnTo>
                <a:lnTo>
                  <a:pt x="216026" y="99764"/>
                </a:lnTo>
                <a:close/>
              </a:path>
              <a:path w="256540" h="852805">
                <a:moveTo>
                  <a:pt x="244601" y="128339"/>
                </a:moveTo>
                <a:lnTo>
                  <a:pt x="187451" y="128339"/>
                </a:lnTo>
                <a:lnTo>
                  <a:pt x="216026" y="156914"/>
                </a:lnTo>
                <a:lnTo>
                  <a:pt x="244601" y="156914"/>
                </a:lnTo>
                <a:lnTo>
                  <a:pt x="244601" y="128339"/>
                </a:lnTo>
                <a:close/>
              </a:path>
              <a:path w="256540" h="852805">
                <a:moveTo>
                  <a:pt x="71120" y="103701"/>
                </a:moveTo>
                <a:lnTo>
                  <a:pt x="71120" y="152977"/>
                </a:lnTo>
                <a:lnTo>
                  <a:pt x="113383" y="128339"/>
                </a:lnTo>
                <a:lnTo>
                  <a:pt x="71120" y="103701"/>
                </a:lnTo>
                <a:close/>
              </a:path>
              <a:path w="256540" h="852805">
                <a:moveTo>
                  <a:pt x="113383" y="128339"/>
                </a:moveTo>
                <a:lnTo>
                  <a:pt x="71120" y="152977"/>
                </a:lnTo>
                <a:lnTo>
                  <a:pt x="155646" y="152977"/>
                </a:lnTo>
                <a:lnTo>
                  <a:pt x="113383" y="128339"/>
                </a:lnTo>
                <a:close/>
              </a:path>
              <a:path w="256540" h="852805">
                <a:moveTo>
                  <a:pt x="155646" y="103701"/>
                </a:moveTo>
                <a:lnTo>
                  <a:pt x="71120" y="103701"/>
                </a:lnTo>
                <a:lnTo>
                  <a:pt x="113383" y="128339"/>
                </a:lnTo>
                <a:lnTo>
                  <a:pt x="155646" y="103701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3339" y="469519"/>
            <a:ext cx="685863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例：如图所示的流图的活跃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量信</a:t>
            </a:r>
            <a:r>
              <a:rPr sz="3200" b="1" spc="-835" dirty="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sz="4200" b="1" baseline="-11904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39039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775" baseline="-39039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26453" y="1583181"/>
            <a:ext cx="1714500" cy="73406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485775" marR="43180" indent="-435609">
              <a:lnSpc>
                <a:spcPct val="77700"/>
              </a:lnSpc>
              <a:spcBef>
                <a:spcPts val="844"/>
              </a:spcBef>
            </a:pPr>
            <a:r>
              <a:rPr sz="4200" b="1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850" b="1" dirty="0">
                <a:solidFill>
                  <a:srgbClr val="FFFFFF"/>
                </a:solidFill>
                <a:latin typeface="Times New Roman"/>
                <a:cs typeface="Times New Roman"/>
              </a:rPr>
              <a:t>2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:a=b+c  d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:d=a-c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91478" y="2477769"/>
            <a:ext cx="431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81059" y="2304668"/>
            <a:ext cx="431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94502" y="3590925"/>
            <a:ext cx="431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49209" y="3555872"/>
            <a:ext cx="431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16902" y="1675638"/>
            <a:ext cx="289560" cy="360045"/>
          </a:xfrm>
          <a:custGeom>
            <a:avLst/>
            <a:gdLst/>
            <a:ahLst/>
            <a:cxnLst/>
            <a:rect l="l" t="t" r="r" b="b"/>
            <a:pathLst>
              <a:path w="289559" h="360044">
                <a:moveTo>
                  <a:pt x="0" y="179832"/>
                </a:moveTo>
                <a:lnTo>
                  <a:pt x="5168" y="132027"/>
                </a:lnTo>
                <a:lnTo>
                  <a:pt x="19755" y="89069"/>
                </a:lnTo>
                <a:lnTo>
                  <a:pt x="42386" y="52673"/>
                </a:lnTo>
                <a:lnTo>
                  <a:pt x="71684" y="24553"/>
                </a:lnTo>
                <a:lnTo>
                  <a:pt x="106274" y="6424"/>
                </a:lnTo>
                <a:lnTo>
                  <a:pt x="144779" y="0"/>
                </a:lnTo>
                <a:lnTo>
                  <a:pt x="183285" y="6424"/>
                </a:lnTo>
                <a:lnTo>
                  <a:pt x="217875" y="24553"/>
                </a:lnTo>
                <a:lnTo>
                  <a:pt x="247173" y="52673"/>
                </a:lnTo>
                <a:lnTo>
                  <a:pt x="269804" y="89069"/>
                </a:lnTo>
                <a:lnTo>
                  <a:pt x="284391" y="132027"/>
                </a:lnTo>
                <a:lnTo>
                  <a:pt x="289559" y="179832"/>
                </a:lnTo>
                <a:lnTo>
                  <a:pt x="284391" y="227636"/>
                </a:lnTo>
                <a:lnTo>
                  <a:pt x="269804" y="270594"/>
                </a:lnTo>
                <a:lnTo>
                  <a:pt x="247173" y="306990"/>
                </a:lnTo>
                <a:lnTo>
                  <a:pt x="217875" y="335110"/>
                </a:lnTo>
                <a:lnTo>
                  <a:pt x="183285" y="353239"/>
                </a:lnTo>
                <a:lnTo>
                  <a:pt x="144779" y="359663"/>
                </a:lnTo>
                <a:lnTo>
                  <a:pt x="106274" y="353239"/>
                </a:lnTo>
                <a:lnTo>
                  <a:pt x="71684" y="335110"/>
                </a:lnTo>
                <a:lnTo>
                  <a:pt x="42386" y="306990"/>
                </a:lnTo>
                <a:lnTo>
                  <a:pt x="19755" y="270594"/>
                </a:lnTo>
                <a:lnTo>
                  <a:pt x="5168" y="227636"/>
                </a:lnTo>
                <a:lnTo>
                  <a:pt x="0" y="1798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364730" y="572262"/>
            <a:ext cx="289560" cy="360045"/>
          </a:xfrm>
          <a:custGeom>
            <a:avLst/>
            <a:gdLst/>
            <a:ahLst/>
            <a:cxnLst/>
            <a:rect l="l" t="t" r="r" b="b"/>
            <a:pathLst>
              <a:path w="289559" h="360044">
                <a:moveTo>
                  <a:pt x="0" y="179832"/>
                </a:moveTo>
                <a:lnTo>
                  <a:pt x="5168" y="132027"/>
                </a:lnTo>
                <a:lnTo>
                  <a:pt x="19755" y="89069"/>
                </a:lnTo>
                <a:lnTo>
                  <a:pt x="42386" y="52673"/>
                </a:lnTo>
                <a:lnTo>
                  <a:pt x="71684" y="24553"/>
                </a:lnTo>
                <a:lnTo>
                  <a:pt x="106274" y="6424"/>
                </a:lnTo>
                <a:lnTo>
                  <a:pt x="144779" y="0"/>
                </a:lnTo>
                <a:lnTo>
                  <a:pt x="183285" y="6424"/>
                </a:lnTo>
                <a:lnTo>
                  <a:pt x="217875" y="24553"/>
                </a:lnTo>
                <a:lnTo>
                  <a:pt x="247173" y="52673"/>
                </a:lnTo>
                <a:lnTo>
                  <a:pt x="269804" y="89069"/>
                </a:lnTo>
                <a:lnTo>
                  <a:pt x="284391" y="132027"/>
                </a:lnTo>
                <a:lnTo>
                  <a:pt x="289560" y="179832"/>
                </a:lnTo>
                <a:lnTo>
                  <a:pt x="284391" y="227636"/>
                </a:lnTo>
                <a:lnTo>
                  <a:pt x="269804" y="270594"/>
                </a:lnTo>
                <a:lnTo>
                  <a:pt x="247173" y="306990"/>
                </a:lnTo>
                <a:lnTo>
                  <a:pt x="217875" y="335110"/>
                </a:lnTo>
                <a:lnTo>
                  <a:pt x="183285" y="353239"/>
                </a:lnTo>
                <a:lnTo>
                  <a:pt x="144779" y="359663"/>
                </a:lnTo>
                <a:lnTo>
                  <a:pt x="106274" y="353239"/>
                </a:lnTo>
                <a:lnTo>
                  <a:pt x="71684" y="335110"/>
                </a:lnTo>
                <a:lnTo>
                  <a:pt x="42386" y="306990"/>
                </a:lnTo>
                <a:lnTo>
                  <a:pt x="19755" y="270594"/>
                </a:lnTo>
                <a:lnTo>
                  <a:pt x="5168" y="227636"/>
                </a:lnTo>
                <a:lnTo>
                  <a:pt x="0" y="1798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451853" y="4091178"/>
            <a:ext cx="289560" cy="361315"/>
          </a:xfrm>
          <a:custGeom>
            <a:avLst/>
            <a:gdLst/>
            <a:ahLst/>
            <a:cxnLst/>
            <a:rect l="l" t="t" r="r" b="b"/>
            <a:pathLst>
              <a:path w="289559" h="361314">
                <a:moveTo>
                  <a:pt x="0" y="180594"/>
                </a:moveTo>
                <a:lnTo>
                  <a:pt x="5168" y="132600"/>
                </a:lnTo>
                <a:lnTo>
                  <a:pt x="19755" y="89464"/>
                </a:lnTo>
                <a:lnTo>
                  <a:pt x="42386" y="52911"/>
                </a:lnTo>
                <a:lnTo>
                  <a:pt x="71684" y="24666"/>
                </a:lnTo>
                <a:lnTo>
                  <a:pt x="106274" y="6454"/>
                </a:lnTo>
                <a:lnTo>
                  <a:pt x="144779" y="0"/>
                </a:lnTo>
                <a:lnTo>
                  <a:pt x="183285" y="6454"/>
                </a:lnTo>
                <a:lnTo>
                  <a:pt x="217875" y="24666"/>
                </a:lnTo>
                <a:lnTo>
                  <a:pt x="247173" y="52911"/>
                </a:lnTo>
                <a:lnTo>
                  <a:pt x="269804" y="89464"/>
                </a:lnTo>
                <a:lnTo>
                  <a:pt x="284391" y="132600"/>
                </a:lnTo>
                <a:lnTo>
                  <a:pt x="289560" y="180594"/>
                </a:lnTo>
                <a:lnTo>
                  <a:pt x="284391" y="228587"/>
                </a:lnTo>
                <a:lnTo>
                  <a:pt x="269804" y="271723"/>
                </a:lnTo>
                <a:lnTo>
                  <a:pt x="247173" y="308276"/>
                </a:lnTo>
                <a:lnTo>
                  <a:pt x="217875" y="336521"/>
                </a:lnTo>
                <a:lnTo>
                  <a:pt x="183285" y="354733"/>
                </a:lnTo>
                <a:lnTo>
                  <a:pt x="144779" y="361188"/>
                </a:lnTo>
                <a:lnTo>
                  <a:pt x="106274" y="354733"/>
                </a:lnTo>
                <a:lnTo>
                  <a:pt x="71684" y="336521"/>
                </a:lnTo>
                <a:lnTo>
                  <a:pt x="42386" y="308276"/>
                </a:lnTo>
                <a:lnTo>
                  <a:pt x="19755" y="271723"/>
                </a:lnTo>
                <a:lnTo>
                  <a:pt x="5168" y="228587"/>
                </a:lnTo>
                <a:lnTo>
                  <a:pt x="0" y="18059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853429" y="5009210"/>
            <a:ext cx="3176270" cy="1452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150">
              <a:lnSpc>
                <a:spcPts val="3060"/>
              </a:lnSpc>
              <a:spcBef>
                <a:spcPts val="95"/>
              </a:spcBef>
            </a:pPr>
            <a:r>
              <a:rPr sz="4200" b="1" baseline="10912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1850" b="1" dirty="0">
                <a:solidFill>
                  <a:srgbClr val="FFFF00"/>
                </a:solidFill>
                <a:latin typeface="Times New Roman"/>
                <a:cs typeface="Times New Roman"/>
              </a:rPr>
              <a:t>3- </a:t>
            </a:r>
            <a:r>
              <a:rPr sz="1850" b="1" spc="30" dirty="0">
                <a:solidFill>
                  <a:srgbClr val="FFFF00"/>
                </a:solidFill>
                <a:latin typeface="Times New Roman"/>
                <a:cs typeface="Times New Roman"/>
              </a:rPr>
              <a:t>(a)du</a:t>
            </a:r>
            <a:r>
              <a:rPr sz="4200" b="1" spc="44" baseline="10912" dirty="0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sz="4200" b="1" spc="44" baseline="16865" dirty="0">
                <a:solidFill>
                  <a:srgbClr val="66FFFF"/>
                </a:solidFill>
                <a:latin typeface="Times New Roman"/>
                <a:cs typeface="Times New Roman"/>
              </a:rPr>
              <a:t>{d</a:t>
            </a:r>
            <a:r>
              <a:rPr sz="2775" b="1" spc="44" baseline="6006" dirty="0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r>
              <a:rPr sz="4200" b="1" spc="44" baseline="16865" dirty="0">
                <a:solidFill>
                  <a:srgbClr val="66FFFF"/>
                </a:solidFill>
                <a:latin typeface="Times New Roman"/>
                <a:cs typeface="Times New Roman"/>
              </a:rPr>
              <a:t>,</a:t>
            </a:r>
            <a:r>
              <a:rPr sz="4200" b="1" spc="-15" baseline="1686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4200" b="1" spc="7" baseline="16865" dirty="0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sz="2775" b="1" spc="7" baseline="6006" dirty="0">
                <a:solidFill>
                  <a:srgbClr val="66FFFF"/>
                </a:solidFill>
                <a:latin typeface="Times New Roman"/>
                <a:cs typeface="Times New Roman"/>
              </a:rPr>
              <a:t>7</a:t>
            </a:r>
            <a:r>
              <a:rPr sz="4200" b="1" spc="7" baseline="16865" dirty="0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4200" baseline="16865">
              <a:latin typeface="Times New Roman"/>
              <a:cs typeface="Times New Roman"/>
            </a:endParaRPr>
          </a:p>
          <a:p>
            <a:pPr marL="46990">
              <a:lnSpc>
                <a:spcPts val="3060"/>
              </a:lnSpc>
            </a:pPr>
            <a:r>
              <a:rPr sz="4200" b="1" spc="7" baseline="-5952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2775" b="1" spc="7" baseline="-25525" dirty="0">
                <a:solidFill>
                  <a:srgbClr val="FFFF00"/>
                </a:solidFill>
                <a:latin typeface="Times New Roman"/>
                <a:cs typeface="Times New Roman"/>
              </a:rPr>
              <a:t>1- (b)du</a:t>
            </a:r>
            <a:r>
              <a:rPr sz="4200" b="1" spc="7" baseline="-5952" dirty="0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sz="4200" b="1" spc="-359" baseline="-5952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{d</a:t>
            </a:r>
            <a:r>
              <a:rPr sz="2775" b="1" baseline="-21021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,d</a:t>
            </a:r>
            <a:r>
              <a:rPr sz="2775" b="1" baseline="-21021" dirty="0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,d</a:t>
            </a:r>
            <a:r>
              <a:rPr sz="2775" b="1" baseline="-21021" dirty="0">
                <a:solidFill>
                  <a:srgbClr val="66FFFF"/>
                </a:solidFill>
                <a:latin typeface="Times New Roman"/>
                <a:cs typeface="Times New Roman"/>
              </a:rPr>
              <a:t>7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,d</a:t>
            </a:r>
            <a:r>
              <a:rPr sz="2775" b="1" baseline="-21021" dirty="0">
                <a:solidFill>
                  <a:srgbClr val="66FFFF"/>
                </a:solidFill>
                <a:latin typeface="Times New Roman"/>
                <a:cs typeface="Times New Roman"/>
              </a:rPr>
              <a:t>8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755"/>
              </a:spcBef>
            </a:pPr>
            <a:r>
              <a:rPr sz="4200" b="1" baseline="10912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1850" b="1" dirty="0">
                <a:solidFill>
                  <a:srgbClr val="FFFF00"/>
                </a:solidFill>
                <a:latin typeface="Times New Roman"/>
                <a:cs typeface="Times New Roman"/>
              </a:rPr>
              <a:t>8- </a:t>
            </a:r>
            <a:r>
              <a:rPr sz="185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(d)du</a:t>
            </a:r>
            <a:r>
              <a:rPr sz="4200" b="1" spc="7" baseline="10912" dirty="0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sz="4200" b="1" spc="-322" baseline="10912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4200" b="1" baseline="7936" dirty="0">
                <a:solidFill>
                  <a:srgbClr val="66FFFF"/>
                </a:solidFill>
                <a:latin typeface="Times New Roman"/>
                <a:cs typeface="Times New Roman"/>
              </a:rPr>
              <a:t>{</a:t>
            </a:r>
            <a:r>
              <a:rPr sz="3000" b="1" baseline="11111" dirty="0">
                <a:solidFill>
                  <a:srgbClr val="66FFFF"/>
                </a:solidFill>
                <a:latin typeface="Symbol"/>
                <a:cs typeface="Symbol"/>
              </a:rPr>
              <a:t></a:t>
            </a:r>
            <a:r>
              <a:rPr sz="4200" b="1" baseline="7936" dirty="0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4200" baseline="7936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2043" y="858393"/>
            <a:ext cx="734504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u="none" spc="-15" dirty="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sz="3800" u="none" spc="-965" dirty="0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sz="3800" u="none" dirty="0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sz="3800" u="none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800" u="none" spc="-15" dirty="0">
                <a:solidFill>
                  <a:srgbClr val="FFFF00"/>
                </a:solidFill>
                <a:latin typeface="黑体"/>
                <a:cs typeface="黑体"/>
              </a:rPr>
              <a:t>章</a:t>
            </a:r>
            <a:r>
              <a:rPr sz="3800" u="none" spc="935" dirty="0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sz="3800" u="none" dirty="0">
                <a:solidFill>
                  <a:srgbClr val="FFFF00"/>
                </a:solidFill>
                <a:latin typeface="黑体"/>
                <a:cs typeface="黑体"/>
              </a:rPr>
              <a:t>代码</a:t>
            </a:r>
            <a:r>
              <a:rPr sz="3800" u="none" spc="-10" dirty="0">
                <a:solidFill>
                  <a:srgbClr val="FFFF00"/>
                </a:solidFill>
                <a:latin typeface="黑体"/>
                <a:cs typeface="黑体"/>
              </a:rPr>
              <a:t>优</a:t>
            </a:r>
            <a:r>
              <a:rPr sz="3800" u="none" spc="-15" dirty="0">
                <a:solidFill>
                  <a:srgbClr val="FFFF00"/>
                </a:solidFill>
                <a:latin typeface="黑体"/>
                <a:cs typeface="黑体"/>
              </a:rPr>
              <a:t>化</a:t>
            </a:r>
            <a:r>
              <a:rPr sz="3800" u="none" spc="-5" dirty="0">
                <a:solidFill>
                  <a:srgbClr val="FFFF00"/>
                </a:solidFill>
                <a:latin typeface="黑体"/>
                <a:cs typeface="黑体"/>
              </a:rPr>
              <a:t>（</a:t>
            </a:r>
            <a:r>
              <a:rPr sz="3800" u="none" spc="-5" dirty="0">
                <a:solidFill>
                  <a:srgbClr val="FFFF00"/>
                </a:solidFill>
                <a:latin typeface="Times New Roman"/>
                <a:cs typeface="Times New Roman"/>
              </a:rPr>
              <a:t>optimization</a:t>
            </a:r>
            <a:r>
              <a:rPr sz="3800" u="none" spc="-5" dirty="0">
                <a:solidFill>
                  <a:srgbClr val="FFFF00"/>
                </a:solidFill>
                <a:latin typeface="黑体"/>
                <a:cs typeface="黑体"/>
              </a:rPr>
              <a:t>）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7647" y="1985207"/>
            <a:ext cx="5718175" cy="3921125"/>
          </a:xfrm>
          <a:prstGeom prst="rect">
            <a:avLst/>
          </a:prstGeom>
        </p:spPr>
        <p:txBody>
          <a:bodyPr vert="horz" wrap="square" lIns="0" tIns="245745" rIns="0" bIns="0" rtlCol="0">
            <a:spAutoFit/>
          </a:bodyPr>
          <a:lstStyle/>
          <a:p>
            <a:pPr marL="1257935" lvl="1" indent="-1233805">
              <a:lnSpc>
                <a:spcPct val="100000"/>
              </a:lnSpc>
              <a:spcBef>
                <a:spcPts val="1935"/>
              </a:spcBef>
              <a:buSzPct val="102857"/>
              <a:buFont typeface="Times New Roman"/>
              <a:buAutoNum type="arabicPeriod"/>
              <a:tabLst>
                <a:tab pos="1257935" algn="l"/>
                <a:tab pos="1258570" algn="l"/>
              </a:tabLst>
            </a:pPr>
            <a:r>
              <a:rPr sz="3500" b="1" spc="-5" dirty="0">
                <a:solidFill>
                  <a:srgbClr val="FFFF00"/>
                </a:solidFill>
                <a:latin typeface="宋体"/>
                <a:cs typeface="宋体"/>
              </a:rPr>
              <a:t>代码优化综述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914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00"/>
                </a:solidFill>
                <a:latin typeface="宋体"/>
                <a:cs typeface="宋体"/>
              </a:rPr>
              <a:t>局部优化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885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00"/>
                </a:solidFill>
                <a:latin typeface="宋体"/>
                <a:cs typeface="宋体"/>
              </a:rPr>
              <a:t>控制流分析与循环查找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1895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00"/>
                </a:solidFill>
                <a:latin typeface="宋体"/>
                <a:cs typeface="宋体"/>
              </a:rPr>
              <a:t>数据流分析基础</a:t>
            </a:r>
            <a:endParaRPr sz="3500">
              <a:latin typeface="宋体"/>
              <a:cs typeface="宋体"/>
            </a:endParaRPr>
          </a:p>
          <a:p>
            <a:pPr marL="1239520" lvl="1" indent="-1227455">
              <a:lnSpc>
                <a:spcPct val="100000"/>
              </a:lnSpc>
              <a:spcBef>
                <a:spcPts val="2020"/>
              </a:spcBef>
              <a:buFont typeface="Times New Roman"/>
              <a:buAutoNum type="arabicPeriod"/>
              <a:tabLst>
                <a:tab pos="1239520" algn="l"/>
                <a:tab pos="1240155" algn="l"/>
              </a:tabLst>
            </a:pPr>
            <a:r>
              <a:rPr sz="3500" b="1" dirty="0">
                <a:solidFill>
                  <a:srgbClr val="FFFFFF"/>
                </a:solidFill>
                <a:latin typeface="宋体"/>
                <a:cs typeface="宋体"/>
              </a:rPr>
              <a:t>循环优化的实施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43934" y="26923"/>
            <a:ext cx="1692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5" dirty="0">
                <a:solidFill>
                  <a:srgbClr val="A15100"/>
                </a:solidFill>
                <a:latin typeface="宋体"/>
                <a:cs typeface="宋体"/>
              </a:rPr>
              <a:t>代码优化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32932" y="5228844"/>
            <a:ext cx="1725295" cy="722630"/>
          </a:xfrm>
          <a:custGeom>
            <a:avLst/>
            <a:gdLst/>
            <a:ahLst/>
            <a:cxnLst/>
            <a:rect l="l" t="t" r="r" b="b"/>
            <a:pathLst>
              <a:path w="1725295" h="722629">
                <a:moveTo>
                  <a:pt x="431418" y="0"/>
                </a:moveTo>
                <a:lnTo>
                  <a:pt x="0" y="361187"/>
                </a:lnTo>
                <a:lnTo>
                  <a:pt x="431418" y="722375"/>
                </a:lnTo>
                <a:lnTo>
                  <a:pt x="431418" y="541781"/>
                </a:lnTo>
                <a:lnTo>
                  <a:pt x="1725167" y="541781"/>
                </a:lnTo>
                <a:lnTo>
                  <a:pt x="1725167" y="180593"/>
                </a:lnTo>
                <a:lnTo>
                  <a:pt x="431418" y="180593"/>
                </a:lnTo>
                <a:lnTo>
                  <a:pt x="431418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32932" y="5228844"/>
            <a:ext cx="1725295" cy="722630"/>
          </a:xfrm>
          <a:custGeom>
            <a:avLst/>
            <a:gdLst/>
            <a:ahLst/>
            <a:cxnLst/>
            <a:rect l="l" t="t" r="r" b="b"/>
            <a:pathLst>
              <a:path w="1725295" h="722629">
                <a:moveTo>
                  <a:pt x="0" y="361187"/>
                </a:moveTo>
                <a:lnTo>
                  <a:pt x="431418" y="0"/>
                </a:lnTo>
                <a:lnTo>
                  <a:pt x="431418" y="180593"/>
                </a:lnTo>
                <a:lnTo>
                  <a:pt x="1725167" y="180593"/>
                </a:lnTo>
                <a:lnTo>
                  <a:pt x="1725167" y="541781"/>
                </a:lnTo>
                <a:lnTo>
                  <a:pt x="431418" y="541781"/>
                </a:lnTo>
                <a:lnTo>
                  <a:pt x="431418" y="722375"/>
                </a:lnTo>
                <a:lnTo>
                  <a:pt x="0" y="361187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92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0842" y="0"/>
            <a:ext cx="8063865" cy="336994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579755" algn="ctr">
              <a:lnSpc>
                <a:spcPct val="100000"/>
              </a:lnSpc>
              <a:spcBef>
                <a:spcPts val="1575"/>
              </a:spcBef>
              <a:tabLst>
                <a:tab pos="1223010" algn="l"/>
                <a:tab pos="3839845" algn="l"/>
                <a:tab pos="4347845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800">
              <a:latin typeface="华文新魏"/>
              <a:cs typeface="华文新魏"/>
            </a:endParaRPr>
          </a:p>
          <a:p>
            <a:pPr marL="329565" indent="-317500">
              <a:lnSpc>
                <a:spcPct val="100000"/>
              </a:lnSpc>
              <a:spcBef>
                <a:spcPts val="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循环优化准备</a:t>
            </a:r>
            <a:endParaRPr sz="3200">
              <a:latin typeface="宋体"/>
              <a:cs typeface="宋体"/>
            </a:endParaRPr>
          </a:p>
          <a:p>
            <a:pPr marL="1104900" lvl="1" indent="-509270">
              <a:lnSpc>
                <a:spcPct val="100000"/>
              </a:lnSpc>
              <a:spcBef>
                <a:spcPts val="1560"/>
              </a:spcBef>
              <a:buFont typeface="Times New Roman"/>
              <a:buAutoNum type="arabicPeriod"/>
              <a:tabLst>
                <a:tab pos="1104900" algn="l"/>
                <a:tab pos="1105535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循环查找；</a:t>
            </a:r>
            <a:endParaRPr sz="3200">
              <a:latin typeface="宋体"/>
              <a:cs typeface="宋体"/>
            </a:endParaRPr>
          </a:p>
          <a:p>
            <a:pPr marL="1612900" marR="5080" lvl="1" indent="-1017269">
              <a:lnSpc>
                <a:spcPct val="130000"/>
              </a:lnSpc>
              <a:buFont typeface="Times New Roman"/>
              <a:buAutoNum type="arabicPeriod"/>
              <a:tabLst>
                <a:tab pos="1104900" algn="l"/>
                <a:tab pos="1105535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涉及循环的所有基本块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数据流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析： 量的定值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——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引用情况信息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05761" y="3278885"/>
            <a:ext cx="1887220" cy="0"/>
          </a:xfrm>
          <a:custGeom>
            <a:avLst/>
            <a:gdLst/>
            <a:ahLst/>
            <a:cxnLst/>
            <a:rect l="l" t="t" r="r" b="b"/>
            <a:pathLst>
              <a:path w="1887220">
                <a:moveTo>
                  <a:pt x="0" y="0"/>
                </a:moveTo>
                <a:lnTo>
                  <a:pt x="1886712" y="0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11704" y="3277996"/>
            <a:ext cx="114300" cy="418465"/>
          </a:xfrm>
          <a:custGeom>
            <a:avLst/>
            <a:gdLst/>
            <a:ahLst/>
            <a:cxnLst/>
            <a:rect l="l" t="t" r="r" b="b"/>
            <a:pathLst>
              <a:path w="114300" h="418464">
                <a:moveTo>
                  <a:pt x="0" y="301751"/>
                </a:moveTo>
                <a:lnTo>
                  <a:pt x="52069" y="418464"/>
                </a:lnTo>
                <a:lnTo>
                  <a:pt x="104564" y="324103"/>
                </a:lnTo>
                <a:lnTo>
                  <a:pt x="75310" y="324103"/>
                </a:lnTo>
                <a:lnTo>
                  <a:pt x="37210" y="322452"/>
                </a:lnTo>
                <a:lnTo>
                  <a:pt x="38042" y="303444"/>
                </a:lnTo>
                <a:lnTo>
                  <a:pt x="0" y="301751"/>
                </a:lnTo>
                <a:close/>
              </a:path>
              <a:path w="114300" h="418464">
                <a:moveTo>
                  <a:pt x="38042" y="303444"/>
                </a:moveTo>
                <a:lnTo>
                  <a:pt x="37210" y="322452"/>
                </a:lnTo>
                <a:lnTo>
                  <a:pt x="75310" y="324103"/>
                </a:lnTo>
                <a:lnTo>
                  <a:pt x="76140" y="305139"/>
                </a:lnTo>
                <a:lnTo>
                  <a:pt x="38042" y="303444"/>
                </a:lnTo>
                <a:close/>
              </a:path>
              <a:path w="114300" h="418464">
                <a:moveTo>
                  <a:pt x="76140" y="305139"/>
                </a:moveTo>
                <a:lnTo>
                  <a:pt x="75310" y="324103"/>
                </a:lnTo>
                <a:lnTo>
                  <a:pt x="104564" y="324103"/>
                </a:lnTo>
                <a:lnTo>
                  <a:pt x="114172" y="306831"/>
                </a:lnTo>
                <a:lnTo>
                  <a:pt x="76140" y="305139"/>
                </a:lnTo>
                <a:close/>
              </a:path>
              <a:path w="114300" h="418464">
                <a:moveTo>
                  <a:pt x="51307" y="0"/>
                </a:moveTo>
                <a:lnTo>
                  <a:pt x="38042" y="303444"/>
                </a:lnTo>
                <a:lnTo>
                  <a:pt x="76140" y="305139"/>
                </a:lnTo>
                <a:lnTo>
                  <a:pt x="89407" y="1777"/>
                </a:lnTo>
                <a:lnTo>
                  <a:pt x="51307" y="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40173" y="3278885"/>
            <a:ext cx="1885314" cy="0"/>
          </a:xfrm>
          <a:custGeom>
            <a:avLst/>
            <a:gdLst/>
            <a:ahLst/>
            <a:cxnLst/>
            <a:rect l="l" t="t" r="r" b="b"/>
            <a:pathLst>
              <a:path w="1885314">
                <a:moveTo>
                  <a:pt x="0" y="0"/>
                </a:moveTo>
                <a:lnTo>
                  <a:pt x="1885188" y="0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44972" y="3277996"/>
            <a:ext cx="114300" cy="418465"/>
          </a:xfrm>
          <a:custGeom>
            <a:avLst/>
            <a:gdLst/>
            <a:ahLst/>
            <a:cxnLst/>
            <a:rect l="l" t="t" r="r" b="b"/>
            <a:pathLst>
              <a:path w="114300" h="418464">
                <a:moveTo>
                  <a:pt x="0" y="301625"/>
                </a:moveTo>
                <a:lnTo>
                  <a:pt x="51688" y="418464"/>
                </a:lnTo>
                <a:lnTo>
                  <a:pt x="104494" y="324230"/>
                </a:lnTo>
                <a:lnTo>
                  <a:pt x="75184" y="324230"/>
                </a:lnTo>
                <a:lnTo>
                  <a:pt x="37211" y="322452"/>
                </a:lnTo>
                <a:lnTo>
                  <a:pt x="38111" y="303405"/>
                </a:lnTo>
                <a:lnTo>
                  <a:pt x="0" y="301625"/>
                </a:lnTo>
                <a:close/>
              </a:path>
              <a:path w="114300" h="418464">
                <a:moveTo>
                  <a:pt x="38111" y="303405"/>
                </a:moveTo>
                <a:lnTo>
                  <a:pt x="37211" y="322452"/>
                </a:lnTo>
                <a:lnTo>
                  <a:pt x="75184" y="324230"/>
                </a:lnTo>
                <a:lnTo>
                  <a:pt x="76091" y="305179"/>
                </a:lnTo>
                <a:lnTo>
                  <a:pt x="38111" y="303405"/>
                </a:lnTo>
                <a:close/>
              </a:path>
              <a:path w="114300" h="418464">
                <a:moveTo>
                  <a:pt x="76091" y="305179"/>
                </a:moveTo>
                <a:lnTo>
                  <a:pt x="75184" y="324230"/>
                </a:lnTo>
                <a:lnTo>
                  <a:pt x="104494" y="324230"/>
                </a:lnTo>
                <a:lnTo>
                  <a:pt x="114173" y="306958"/>
                </a:lnTo>
                <a:lnTo>
                  <a:pt x="76091" y="305179"/>
                </a:lnTo>
                <a:close/>
              </a:path>
              <a:path w="114300" h="418464">
                <a:moveTo>
                  <a:pt x="52450" y="0"/>
                </a:moveTo>
                <a:lnTo>
                  <a:pt x="38111" y="303405"/>
                </a:lnTo>
                <a:lnTo>
                  <a:pt x="76091" y="305179"/>
                </a:lnTo>
                <a:lnTo>
                  <a:pt x="90550" y="1777"/>
                </a:lnTo>
                <a:lnTo>
                  <a:pt x="52450" y="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2640" y="4831167"/>
            <a:ext cx="1453515" cy="964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可实施的 循环优化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97073" y="4610861"/>
            <a:ext cx="285115" cy="1811020"/>
          </a:xfrm>
          <a:custGeom>
            <a:avLst/>
            <a:gdLst/>
            <a:ahLst/>
            <a:cxnLst/>
            <a:rect l="l" t="t" r="r" b="b"/>
            <a:pathLst>
              <a:path w="285114" h="1811020">
                <a:moveTo>
                  <a:pt x="284988" y="1810512"/>
                </a:moveTo>
                <a:lnTo>
                  <a:pt x="239932" y="1802844"/>
                </a:lnTo>
                <a:lnTo>
                  <a:pt x="200814" y="1781493"/>
                </a:lnTo>
                <a:lnTo>
                  <a:pt x="169974" y="1748935"/>
                </a:lnTo>
                <a:lnTo>
                  <a:pt x="149754" y="1707647"/>
                </a:lnTo>
                <a:lnTo>
                  <a:pt x="142494" y="1660105"/>
                </a:lnTo>
                <a:lnTo>
                  <a:pt x="142494" y="1055662"/>
                </a:lnTo>
                <a:lnTo>
                  <a:pt x="135233" y="1008110"/>
                </a:lnTo>
                <a:lnTo>
                  <a:pt x="115013" y="966821"/>
                </a:lnTo>
                <a:lnTo>
                  <a:pt x="84173" y="934267"/>
                </a:lnTo>
                <a:lnTo>
                  <a:pt x="45055" y="912921"/>
                </a:lnTo>
                <a:lnTo>
                  <a:pt x="0" y="905256"/>
                </a:lnTo>
                <a:lnTo>
                  <a:pt x="45055" y="897591"/>
                </a:lnTo>
                <a:lnTo>
                  <a:pt x="84173" y="876247"/>
                </a:lnTo>
                <a:lnTo>
                  <a:pt x="115013" y="843698"/>
                </a:lnTo>
                <a:lnTo>
                  <a:pt x="135233" y="802420"/>
                </a:lnTo>
                <a:lnTo>
                  <a:pt x="142494" y="754888"/>
                </a:lnTo>
                <a:lnTo>
                  <a:pt x="142494" y="150368"/>
                </a:lnTo>
                <a:lnTo>
                  <a:pt x="149754" y="102835"/>
                </a:lnTo>
                <a:lnTo>
                  <a:pt x="169974" y="61557"/>
                </a:lnTo>
                <a:lnTo>
                  <a:pt x="200814" y="29008"/>
                </a:lnTo>
                <a:lnTo>
                  <a:pt x="239932" y="7664"/>
                </a:lnTo>
                <a:lnTo>
                  <a:pt x="28498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08098" y="3660140"/>
            <a:ext cx="4090670" cy="1799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46350" algn="l"/>
              </a:tabLst>
            </a:pPr>
            <a:r>
              <a:rPr sz="3200" b="1" spc="-10" dirty="0">
                <a:solidFill>
                  <a:srgbClr val="99FF33"/>
                </a:solidFill>
                <a:latin typeface="Times New Roman"/>
                <a:cs typeface="Times New Roman"/>
              </a:rPr>
              <a:t>ud</a:t>
            </a:r>
            <a:r>
              <a:rPr sz="3200" b="1" spc="-10" dirty="0">
                <a:solidFill>
                  <a:srgbClr val="99FF33"/>
                </a:solidFill>
                <a:latin typeface="宋体"/>
                <a:cs typeface="宋体"/>
              </a:rPr>
              <a:t>链	</a:t>
            </a:r>
            <a:r>
              <a:rPr sz="3200" b="1" spc="-10" dirty="0">
                <a:solidFill>
                  <a:srgbClr val="99FF33"/>
                </a:solidFill>
                <a:latin typeface="Times New Roman"/>
                <a:cs typeface="Times New Roman"/>
              </a:rPr>
              <a:t>du</a:t>
            </a:r>
            <a:r>
              <a:rPr sz="3200" b="1" spc="-10" dirty="0">
                <a:solidFill>
                  <a:srgbClr val="99FF33"/>
                </a:solidFill>
                <a:latin typeface="宋体"/>
                <a:cs typeface="宋体"/>
              </a:rPr>
              <a:t>链</a:t>
            </a:r>
            <a:endParaRPr sz="3200">
              <a:latin typeface="宋体"/>
              <a:cs typeface="宋体"/>
            </a:endParaRPr>
          </a:p>
          <a:p>
            <a:pPr marL="717550">
              <a:lnSpc>
                <a:spcPct val="100000"/>
              </a:lnSpc>
              <a:spcBef>
                <a:spcPts val="2115"/>
              </a:spcBef>
              <a:tabLst>
                <a:tab pos="2413635" algn="l"/>
              </a:tabLst>
            </a:pP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代码外</a:t>
            </a:r>
            <a:r>
              <a:rPr sz="2800" b="1" spc="-15" dirty="0">
                <a:solidFill>
                  <a:srgbClr val="FFFF99"/>
                </a:solidFill>
                <a:latin typeface="宋体"/>
                <a:cs typeface="宋体"/>
              </a:rPr>
              <a:t>提</a:t>
            </a:r>
            <a:r>
              <a:rPr sz="2800" b="1" dirty="0">
                <a:solidFill>
                  <a:srgbClr val="FFFF99"/>
                </a:solidFill>
                <a:latin typeface="宋体"/>
                <a:cs typeface="宋体"/>
              </a:rPr>
              <a:t>	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(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频度削弱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736600">
              <a:lnSpc>
                <a:spcPct val="100000"/>
              </a:lnSpc>
              <a:spcBef>
                <a:spcPts val="1290"/>
              </a:spcBef>
            </a:pP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强度削弱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93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31998" y="5358790"/>
            <a:ext cx="2970530" cy="127444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删除归纳变量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循环展开、合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sz="2800" b="1" spc="-75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673074"/>
            <a:ext cx="8194040" cy="531622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1420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31165" algn="l"/>
                <a:tab pos="431800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循环的前置结点</a:t>
            </a:r>
            <a:endParaRPr sz="3200">
              <a:latin typeface="宋体"/>
              <a:cs typeface="宋体"/>
            </a:endParaRPr>
          </a:p>
          <a:p>
            <a:pPr marL="12700" marR="5080" indent="819785">
              <a:lnSpc>
                <a:spcPct val="128899"/>
              </a:lnSpc>
              <a:spcBef>
                <a:spcPts val="209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循环的前置结点是在循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环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的入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口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结点前建 立的一个新结点（基本块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），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它以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循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环的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口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结点为其惟一后继，并将原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序流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图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sz="3200" b="1" spc="10" dirty="0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循环 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外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引至循环入口结点的有向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边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改为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引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至循环 前置结点。</a:t>
            </a:r>
            <a:endParaRPr sz="3200">
              <a:latin typeface="宋体"/>
              <a:cs typeface="宋体"/>
            </a:endParaRPr>
          </a:p>
          <a:p>
            <a:pPr marL="679450">
              <a:lnSpc>
                <a:spcPct val="100000"/>
              </a:lnSpc>
              <a:spcBef>
                <a:spcPts val="2700"/>
              </a:spcBef>
            </a:pP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∵ 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循环的入口惟一</a:t>
            </a:r>
            <a:endParaRPr sz="3200">
              <a:latin typeface="宋体"/>
              <a:cs typeface="宋体"/>
            </a:endParaRPr>
          </a:p>
          <a:p>
            <a:pPr marL="679450">
              <a:lnSpc>
                <a:spcPct val="100000"/>
              </a:lnSpc>
              <a:spcBef>
                <a:spcPts val="1150"/>
              </a:spcBef>
            </a:pP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∴</a:t>
            </a:r>
            <a:r>
              <a:rPr sz="3200" b="1" spc="785" dirty="0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前置结点惟一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00"/>
              </a:spcBef>
              <a:tabLst>
                <a:tab pos="1036955" algn="l"/>
                <a:tab pos="3653790" algn="l"/>
                <a:tab pos="4161154" algn="l"/>
              </a:tabLst>
            </a:pPr>
            <a:r>
              <a:rPr sz="2000" u="none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u="none" dirty="0">
                <a:latin typeface="Times New Roman"/>
                <a:cs typeface="Times New Roman"/>
              </a:rPr>
              <a:t>h8	</a:t>
            </a:r>
            <a:r>
              <a:rPr u="none" spc="5" dirty="0"/>
              <a:t>代码优</a:t>
            </a:r>
            <a:r>
              <a:rPr u="none" dirty="0"/>
              <a:t>化	</a:t>
            </a:r>
            <a:r>
              <a:rPr sz="2000" dirty="0">
                <a:latin typeface="Times New Roman"/>
                <a:cs typeface="Times New Roman"/>
              </a:rPr>
              <a:t>8</a:t>
            </a:r>
            <a:r>
              <a:rPr sz="2000" spc="5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5	</a:t>
            </a:r>
            <a:r>
              <a:rPr spc="5" dirty="0"/>
              <a:t>循环优</a:t>
            </a:r>
            <a:r>
              <a:rPr dirty="0"/>
              <a:t>化实</a:t>
            </a:r>
            <a:r>
              <a:rPr spc="-10" dirty="0"/>
              <a:t>施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94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7024" y="5915050"/>
            <a:ext cx="3648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建立前置结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400" b="1" spc="-5" dirty="0">
                <a:solidFill>
                  <a:srgbClr val="FF99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17361" dirty="0">
                <a:solidFill>
                  <a:srgbClr val="FF99FF"/>
                </a:solidFill>
                <a:latin typeface="Times New Roman"/>
                <a:cs typeface="Times New Roman"/>
              </a:rPr>
              <a:t>0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前的循</a:t>
            </a: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环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102" y="2109977"/>
            <a:ext cx="1010919" cy="447040"/>
          </a:xfrm>
          <a:prstGeom prst="rect">
            <a:avLst/>
          </a:prstGeom>
          <a:ln w="38100">
            <a:solidFill>
              <a:srgbClr val="FFFF99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409"/>
              </a:spcBef>
            </a:pP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...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74241" y="3201161"/>
            <a:ext cx="2402205" cy="536575"/>
          </a:xfrm>
          <a:custGeom>
            <a:avLst/>
            <a:gdLst/>
            <a:ahLst/>
            <a:cxnLst/>
            <a:rect l="l" t="t" r="r" b="b"/>
            <a:pathLst>
              <a:path w="2402204" h="536575">
                <a:moveTo>
                  <a:pt x="0" y="536448"/>
                </a:moveTo>
                <a:lnTo>
                  <a:pt x="2401824" y="536448"/>
                </a:lnTo>
                <a:lnTo>
                  <a:pt x="2401824" y="0"/>
                </a:lnTo>
                <a:lnTo>
                  <a:pt x="0" y="0"/>
                </a:lnTo>
                <a:lnTo>
                  <a:pt x="0" y="536448"/>
                </a:lnTo>
                <a:close/>
              </a:path>
            </a:pathLst>
          </a:custGeom>
          <a:ln w="38099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52219" y="3273044"/>
            <a:ext cx="21742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循环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的入口结点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38805" y="2109977"/>
            <a:ext cx="993775" cy="447040"/>
          </a:xfrm>
          <a:prstGeom prst="rect">
            <a:avLst/>
          </a:prstGeom>
          <a:ln w="38100">
            <a:solidFill>
              <a:srgbClr val="FFFF99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318770">
              <a:lnSpc>
                <a:spcPct val="100000"/>
              </a:lnSpc>
              <a:spcBef>
                <a:spcPts val="409"/>
              </a:spcBef>
            </a:pP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...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29917" y="2556510"/>
            <a:ext cx="1905" cy="464820"/>
          </a:xfrm>
          <a:custGeom>
            <a:avLst/>
            <a:gdLst/>
            <a:ahLst/>
            <a:cxnLst/>
            <a:rect l="l" t="t" r="r" b="b"/>
            <a:pathLst>
              <a:path w="1905" h="464819">
                <a:moveTo>
                  <a:pt x="0" y="0"/>
                </a:moveTo>
                <a:lnTo>
                  <a:pt x="1524" y="464819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63433" y="3000565"/>
            <a:ext cx="128397" cy="1863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39973" y="2556510"/>
            <a:ext cx="1905" cy="464820"/>
          </a:xfrm>
          <a:custGeom>
            <a:avLst/>
            <a:gdLst/>
            <a:ahLst/>
            <a:cxnLst/>
            <a:rect l="l" t="t" r="r" b="b"/>
            <a:pathLst>
              <a:path w="1905" h="464819">
                <a:moveTo>
                  <a:pt x="0" y="0"/>
                </a:moveTo>
                <a:lnTo>
                  <a:pt x="1524" y="464819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73489" y="3000565"/>
            <a:ext cx="128397" cy="1863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54099" y="1562861"/>
            <a:ext cx="114300" cy="483234"/>
          </a:xfrm>
          <a:custGeom>
            <a:avLst/>
            <a:gdLst/>
            <a:ahLst/>
            <a:cxnLst/>
            <a:rect l="l" t="t" r="r" b="b"/>
            <a:pathLst>
              <a:path w="114300" h="483235">
                <a:moveTo>
                  <a:pt x="38164" y="368850"/>
                </a:moveTo>
                <a:lnTo>
                  <a:pt x="0" y="368935"/>
                </a:lnTo>
                <a:lnTo>
                  <a:pt x="57531" y="483108"/>
                </a:lnTo>
                <a:lnTo>
                  <a:pt x="104785" y="387858"/>
                </a:lnTo>
                <a:lnTo>
                  <a:pt x="38226" y="387858"/>
                </a:lnTo>
                <a:lnTo>
                  <a:pt x="38164" y="368850"/>
                </a:lnTo>
                <a:close/>
              </a:path>
              <a:path w="114300" h="483235">
                <a:moveTo>
                  <a:pt x="76264" y="368765"/>
                </a:moveTo>
                <a:lnTo>
                  <a:pt x="38164" y="368850"/>
                </a:lnTo>
                <a:lnTo>
                  <a:pt x="38226" y="387858"/>
                </a:lnTo>
                <a:lnTo>
                  <a:pt x="76326" y="387858"/>
                </a:lnTo>
                <a:lnTo>
                  <a:pt x="76264" y="368765"/>
                </a:lnTo>
                <a:close/>
              </a:path>
              <a:path w="114300" h="483235">
                <a:moveTo>
                  <a:pt x="114300" y="368680"/>
                </a:moveTo>
                <a:lnTo>
                  <a:pt x="76264" y="368765"/>
                </a:lnTo>
                <a:lnTo>
                  <a:pt x="76326" y="387858"/>
                </a:lnTo>
                <a:lnTo>
                  <a:pt x="104785" y="387858"/>
                </a:lnTo>
                <a:lnTo>
                  <a:pt x="114300" y="368680"/>
                </a:lnTo>
                <a:close/>
              </a:path>
              <a:path w="114300" h="483235">
                <a:moveTo>
                  <a:pt x="75056" y="0"/>
                </a:moveTo>
                <a:lnTo>
                  <a:pt x="36956" y="0"/>
                </a:lnTo>
                <a:lnTo>
                  <a:pt x="38164" y="368850"/>
                </a:lnTo>
                <a:lnTo>
                  <a:pt x="76264" y="368765"/>
                </a:lnTo>
                <a:lnTo>
                  <a:pt x="75056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64154" y="1562861"/>
            <a:ext cx="114300" cy="483234"/>
          </a:xfrm>
          <a:custGeom>
            <a:avLst/>
            <a:gdLst/>
            <a:ahLst/>
            <a:cxnLst/>
            <a:rect l="l" t="t" r="r" b="b"/>
            <a:pathLst>
              <a:path w="114300" h="483235">
                <a:moveTo>
                  <a:pt x="38164" y="368850"/>
                </a:moveTo>
                <a:lnTo>
                  <a:pt x="0" y="368935"/>
                </a:lnTo>
                <a:lnTo>
                  <a:pt x="57531" y="483108"/>
                </a:lnTo>
                <a:lnTo>
                  <a:pt x="104785" y="387858"/>
                </a:lnTo>
                <a:lnTo>
                  <a:pt x="38226" y="387858"/>
                </a:lnTo>
                <a:lnTo>
                  <a:pt x="38164" y="368850"/>
                </a:lnTo>
                <a:close/>
              </a:path>
              <a:path w="114300" h="483235">
                <a:moveTo>
                  <a:pt x="76264" y="368765"/>
                </a:moveTo>
                <a:lnTo>
                  <a:pt x="38164" y="368850"/>
                </a:lnTo>
                <a:lnTo>
                  <a:pt x="38226" y="387858"/>
                </a:lnTo>
                <a:lnTo>
                  <a:pt x="76326" y="387858"/>
                </a:lnTo>
                <a:lnTo>
                  <a:pt x="76264" y="368765"/>
                </a:lnTo>
                <a:close/>
              </a:path>
              <a:path w="114300" h="483235">
                <a:moveTo>
                  <a:pt x="114300" y="368680"/>
                </a:moveTo>
                <a:lnTo>
                  <a:pt x="76264" y="368765"/>
                </a:lnTo>
                <a:lnTo>
                  <a:pt x="76326" y="387858"/>
                </a:lnTo>
                <a:lnTo>
                  <a:pt x="104785" y="387858"/>
                </a:lnTo>
                <a:lnTo>
                  <a:pt x="114300" y="368680"/>
                </a:lnTo>
                <a:close/>
              </a:path>
              <a:path w="114300" h="483235">
                <a:moveTo>
                  <a:pt x="75056" y="0"/>
                </a:moveTo>
                <a:lnTo>
                  <a:pt x="36956" y="0"/>
                </a:lnTo>
                <a:lnTo>
                  <a:pt x="38164" y="368850"/>
                </a:lnTo>
                <a:lnTo>
                  <a:pt x="76264" y="368765"/>
                </a:lnTo>
                <a:lnTo>
                  <a:pt x="75056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38805" y="2807970"/>
            <a:ext cx="1191895" cy="2715895"/>
          </a:xfrm>
          <a:custGeom>
            <a:avLst/>
            <a:gdLst/>
            <a:ahLst/>
            <a:cxnLst/>
            <a:rect l="l" t="t" r="r" b="b"/>
            <a:pathLst>
              <a:path w="1191895" h="2715895">
                <a:moveTo>
                  <a:pt x="397891" y="213359"/>
                </a:moveTo>
                <a:lnTo>
                  <a:pt x="397891" y="0"/>
                </a:lnTo>
                <a:lnTo>
                  <a:pt x="1191768" y="0"/>
                </a:lnTo>
                <a:lnTo>
                  <a:pt x="1191768" y="2715767"/>
                </a:lnTo>
                <a:lnTo>
                  <a:pt x="0" y="2715767"/>
                </a:lnTo>
                <a:lnTo>
                  <a:pt x="0" y="2179828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71609" y="3000565"/>
            <a:ext cx="128396" cy="1863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6458" y="2807970"/>
            <a:ext cx="1210310" cy="2715895"/>
          </a:xfrm>
          <a:custGeom>
            <a:avLst/>
            <a:gdLst/>
            <a:ahLst/>
            <a:cxnLst/>
            <a:rect l="l" t="t" r="r" b="b"/>
            <a:pathLst>
              <a:path w="1210310" h="2715895">
                <a:moveTo>
                  <a:pt x="814324" y="213359"/>
                </a:moveTo>
                <a:lnTo>
                  <a:pt x="814324" y="0"/>
                </a:lnTo>
                <a:lnTo>
                  <a:pt x="0" y="0"/>
                </a:lnTo>
                <a:lnTo>
                  <a:pt x="0" y="2715767"/>
                </a:lnTo>
                <a:lnTo>
                  <a:pt x="1210056" y="2715767"/>
                </a:lnTo>
                <a:lnTo>
                  <a:pt x="1210056" y="2179828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66837" y="3000565"/>
            <a:ext cx="128397" cy="1863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31442" y="4560570"/>
            <a:ext cx="1210310" cy="399415"/>
          </a:xfrm>
          <a:custGeom>
            <a:avLst/>
            <a:gdLst/>
            <a:ahLst/>
            <a:cxnLst/>
            <a:rect l="l" t="t" r="r" b="b"/>
            <a:pathLst>
              <a:path w="1210310" h="399414">
                <a:moveTo>
                  <a:pt x="0" y="399287"/>
                </a:moveTo>
                <a:lnTo>
                  <a:pt x="1210056" y="399287"/>
                </a:lnTo>
                <a:lnTo>
                  <a:pt x="1210056" y="0"/>
                </a:lnTo>
                <a:lnTo>
                  <a:pt x="0" y="0"/>
                </a:lnTo>
                <a:lnTo>
                  <a:pt x="0" y="399287"/>
                </a:lnTo>
                <a:close/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631442" y="4560570"/>
            <a:ext cx="1210310" cy="399415"/>
          </a:xfrm>
          <a:prstGeom prst="rect">
            <a:avLst/>
          </a:prstGeom>
          <a:ln w="38100">
            <a:solidFill>
              <a:srgbClr val="FFFF99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70"/>
              </a:spcBef>
            </a:pP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循</a:t>
            </a:r>
            <a:r>
              <a:rPr sz="2200" b="1" spc="-15" dirty="0">
                <a:solidFill>
                  <a:srgbClr val="FFFFFF"/>
                </a:solidFill>
                <a:latin typeface="宋体"/>
                <a:cs typeface="宋体"/>
              </a:rPr>
              <a:t>环</a:t>
            </a:r>
            <a:r>
              <a:rPr sz="2200" b="1" spc="-57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10432" y="2740914"/>
            <a:ext cx="411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2775" b="1" baseline="-16516" dirty="0">
                <a:solidFill>
                  <a:srgbClr val="66FFFF"/>
                </a:solidFill>
                <a:latin typeface="Times New Roman"/>
                <a:cs typeface="Times New Roman"/>
              </a:rPr>
              <a:t>k</a:t>
            </a:r>
            <a:endParaRPr sz="2775" baseline="-16516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1202" y="1628013"/>
            <a:ext cx="345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16516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775" baseline="-16516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3339" y="597153"/>
            <a:ext cx="9429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例</a:t>
            </a:r>
            <a:r>
              <a:rPr sz="3200" b="1" dirty="0">
                <a:solidFill>
                  <a:srgbClr val="FFFF66"/>
                </a:solidFill>
                <a:latin typeface="Times New Roman"/>
                <a:cs typeface="Times New Roman"/>
              </a:rPr>
              <a:t>8.9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57109" y="2093214"/>
            <a:ext cx="1010919" cy="447040"/>
          </a:xfrm>
          <a:prstGeom prst="rect">
            <a:avLst/>
          </a:prstGeom>
          <a:ln w="38100">
            <a:solidFill>
              <a:srgbClr val="FFFF99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405"/>
              </a:spcBef>
            </a:pP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...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54217" y="2093214"/>
            <a:ext cx="990600" cy="447040"/>
          </a:xfrm>
          <a:prstGeom prst="rect">
            <a:avLst/>
          </a:prstGeom>
          <a:ln w="38100">
            <a:solidFill>
              <a:srgbClr val="FFFF99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405"/>
              </a:spcBef>
            </a:pP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...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948934" y="4077461"/>
            <a:ext cx="2418715" cy="518159"/>
          </a:xfrm>
          <a:custGeom>
            <a:avLst/>
            <a:gdLst/>
            <a:ahLst/>
            <a:cxnLst/>
            <a:rect l="l" t="t" r="r" b="b"/>
            <a:pathLst>
              <a:path w="2418715" h="518160">
                <a:moveTo>
                  <a:pt x="0" y="518160"/>
                </a:moveTo>
                <a:lnTo>
                  <a:pt x="2418588" y="518160"/>
                </a:lnTo>
                <a:lnTo>
                  <a:pt x="2418588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028182" y="4139946"/>
            <a:ext cx="21742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循环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的入口结点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92546" y="3129533"/>
            <a:ext cx="2417445" cy="553720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20"/>
              </a:spcBef>
            </a:pP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循</a:t>
            </a: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环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的前置结点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518018" y="1600961"/>
            <a:ext cx="76200" cy="483234"/>
          </a:xfrm>
          <a:custGeom>
            <a:avLst/>
            <a:gdLst/>
            <a:ahLst/>
            <a:cxnLst/>
            <a:rect l="l" t="t" r="r" b="b"/>
            <a:pathLst>
              <a:path w="76200" h="483235">
                <a:moveTo>
                  <a:pt x="19115" y="292671"/>
                </a:moveTo>
                <a:lnTo>
                  <a:pt x="0" y="292735"/>
                </a:lnTo>
                <a:lnTo>
                  <a:pt x="38734" y="483108"/>
                </a:lnTo>
                <a:lnTo>
                  <a:pt x="72431" y="311658"/>
                </a:lnTo>
                <a:lnTo>
                  <a:pt x="19176" y="311658"/>
                </a:lnTo>
                <a:lnTo>
                  <a:pt x="19115" y="292671"/>
                </a:lnTo>
                <a:close/>
              </a:path>
              <a:path w="76200" h="483235">
                <a:moveTo>
                  <a:pt x="57214" y="292544"/>
                </a:moveTo>
                <a:lnTo>
                  <a:pt x="19115" y="292671"/>
                </a:lnTo>
                <a:lnTo>
                  <a:pt x="19176" y="311658"/>
                </a:lnTo>
                <a:lnTo>
                  <a:pt x="57276" y="311658"/>
                </a:lnTo>
                <a:lnTo>
                  <a:pt x="57214" y="292544"/>
                </a:lnTo>
                <a:close/>
              </a:path>
              <a:path w="76200" h="483235">
                <a:moveTo>
                  <a:pt x="76200" y="292480"/>
                </a:moveTo>
                <a:lnTo>
                  <a:pt x="57214" y="292544"/>
                </a:lnTo>
                <a:lnTo>
                  <a:pt x="57276" y="311658"/>
                </a:lnTo>
                <a:lnTo>
                  <a:pt x="72431" y="311658"/>
                </a:lnTo>
                <a:lnTo>
                  <a:pt x="76200" y="292480"/>
                </a:lnTo>
                <a:close/>
              </a:path>
              <a:path w="76200" h="483235">
                <a:moveTo>
                  <a:pt x="56260" y="0"/>
                </a:moveTo>
                <a:lnTo>
                  <a:pt x="18160" y="0"/>
                </a:lnTo>
                <a:lnTo>
                  <a:pt x="19115" y="292671"/>
                </a:lnTo>
                <a:lnTo>
                  <a:pt x="57214" y="292544"/>
                </a:lnTo>
                <a:lnTo>
                  <a:pt x="5626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212966" y="1562735"/>
            <a:ext cx="76200" cy="483234"/>
          </a:xfrm>
          <a:custGeom>
            <a:avLst/>
            <a:gdLst/>
            <a:ahLst/>
            <a:cxnLst/>
            <a:rect l="l" t="t" r="r" b="b"/>
            <a:pathLst>
              <a:path w="76200" h="483235">
                <a:moveTo>
                  <a:pt x="18933" y="292862"/>
                </a:moveTo>
                <a:lnTo>
                  <a:pt x="0" y="292988"/>
                </a:lnTo>
                <a:lnTo>
                  <a:pt x="39243" y="483235"/>
                </a:lnTo>
                <a:lnTo>
                  <a:pt x="72435" y="311912"/>
                </a:lnTo>
                <a:lnTo>
                  <a:pt x="19050" y="311912"/>
                </a:lnTo>
                <a:lnTo>
                  <a:pt x="18933" y="292862"/>
                </a:lnTo>
                <a:close/>
              </a:path>
              <a:path w="76200" h="483235">
                <a:moveTo>
                  <a:pt x="76200" y="292480"/>
                </a:moveTo>
                <a:lnTo>
                  <a:pt x="18933" y="292862"/>
                </a:lnTo>
                <a:lnTo>
                  <a:pt x="19050" y="311912"/>
                </a:lnTo>
                <a:lnTo>
                  <a:pt x="57150" y="311657"/>
                </a:lnTo>
                <a:lnTo>
                  <a:pt x="57033" y="292608"/>
                </a:lnTo>
                <a:lnTo>
                  <a:pt x="76175" y="292608"/>
                </a:lnTo>
                <a:lnTo>
                  <a:pt x="76200" y="292480"/>
                </a:lnTo>
                <a:close/>
              </a:path>
              <a:path w="76200" h="483235">
                <a:moveTo>
                  <a:pt x="76175" y="292608"/>
                </a:moveTo>
                <a:lnTo>
                  <a:pt x="57033" y="292608"/>
                </a:lnTo>
                <a:lnTo>
                  <a:pt x="57150" y="311657"/>
                </a:lnTo>
                <a:lnTo>
                  <a:pt x="19050" y="311912"/>
                </a:lnTo>
                <a:lnTo>
                  <a:pt x="72435" y="311912"/>
                </a:lnTo>
                <a:lnTo>
                  <a:pt x="76175" y="292608"/>
                </a:lnTo>
                <a:close/>
              </a:path>
              <a:path w="76200" h="483235">
                <a:moveTo>
                  <a:pt x="55245" y="0"/>
                </a:moveTo>
                <a:lnTo>
                  <a:pt x="17145" y="253"/>
                </a:lnTo>
                <a:lnTo>
                  <a:pt x="18933" y="292862"/>
                </a:lnTo>
                <a:lnTo>
                  <a:pt x="57033" y="292608"/>
                </a:lnTo>
                <a:lnTo>
                  <a:pt x="55245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831713" y="2708859"/>
            <a:ext cx="381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66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13888" dirty="0">
                <a:solidFill>
                  <a:srgbClr val="FF66FF"/>
                </a:solidFill>
                <a:latin typeface="Times New Roman"/>
                <a:cs typeface="Times New Roman"/>
              </a:rPr>
              <a:t>0</a:t>
            </a:r>
            <a:endParaRPr sz="2400" baseline="-13888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309105" y="2539619"/>
            <a:ext cx="76200" cy="589915"/>
          </a:xfrm>
          <a:custGeom>
            <a:avLst/>
            <a:gdLst/>
            <a:ahLst/>
            <a:cxnLst/>
            <a:rect l="l" t="t" r="r" b="b"/>
            <a:pathLst>
              <a:path w="76200" h="589914">
                <a:moveTo>
                  <a:pt x="19078" y="399541"/>
                </a:moveTo>
                <a:lnTo>
                  <a:pt x="0" y="399668"/>
                </a:lnTo>
                <a:lnTo>
                  <a:pt x="39116" y="589914"/>
                </a:lnTo>
                <a:lnTo>
                  <a:pt x="72422" y="418591"/>
                </a:lnTo>
                <a:lnTo>
                  <a:pt x="19177" y="418591"/>
                </a:lnTo>
                <a:lnTo>
                  <a:pt x="19078" y="399541"/>
                </a:lnTo>
                <a:close/>
              </a:path>
              <a:path w="76200" h="589914">
                <a:moveTo>
                  <a:pt x="57178" y="399287"/>
                </a:moveTo>
                <a:lnTo>
                  <a:pt x="19078" y="399541"/>
                </a:lnTo>
                <a:lnTo>
                  <a:pt x="19177" y="418591"/>
                </a:lnTo>
                <a:lnTo>
                  <a:pt x="57277" y="418338"/>
                </a:lnTo>
                <a:lnTo>
                  <a:pt x="57178" y="399287"/>
                </a:lnTo>
                <a:close/>
              </a:path>
              <a:path w="76200" h="589914">
                <a:moveTo>
                  <a:pt x="76200" y="399160"/>
                </a:moveTo>
                <a:lnTo>
                  <a:pt x="57178" y="399287"/>
                </a:lnTo>
                <a:lnTo>
                  <a:pt x="57277" y="418338"/>
                </a:lnTo>
                <a:lnTo>
                  <a:pt x="19177" y="418591"/>
                </a:lnTo>
                <a:lnTo>
                  <a:pt x="72422" y="418591"/>
                </a:lnTo>
                <a:lnTo>
                  <a:pt x="76200" y="399160"/>
                </a:lnTo>
                <a:close/>
              </a:path>
              <a:path w="76200" h="589914">
                <a:moveTo>
                  <a:pt x="55118" y="0"/>
                </a:moveTo>
                <a:lnTo>
                  <a:pt x="17018" y="253"/>
                </a:lnTo>
                <a:lnTo>
                  <a:pt x="19078" y="399541"/>
                </a:lnTo>
                <a:lnTo>
                  <a:pt x="57178" y="399287"/>
                </a:lnTo>
                <a:lnTo>
                  <a:pt x="55118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518145" y="2539745"/>
            <a:ext cx="76200" cy="589915"/>
          </a:xfrm>
          <a:custGeom>
            <a:avLst/>
            <a:gdLst/>
            <a:ahLst/>
            <a:cxnLst/>
            <a:rect l="l" t="t" r="r" b="b"/>
            <a:pathLst>
              <a:path w="76200" h="589914">
                <a:moveTo>
                  <a:pt x="19003" y="399351"/>
                </a:moveTo>
                <a:lnTo>
                  <a:pt x="0" y="399414"/>
                </a:lnTo>
                <a:lnTo>
                  <a:pt x="38607" y="589788"/>
                </a:lnTo>
                <a:lnTo>
                  <a:pt x="72418" y="418338"/>
                </a:lnTo>
                <a:lnTo>
                  <a:pt x="19050" y="418338"/>
                </a:lnTo>
                <a:lnTo>
                  <a:pt x="19003" y="399351"/>
                </a:lnTo>
                <a:close/>
              </a:path>
              <a:path w="76200" h="589914">
                <a:moveTo>
                  <a:pt x="57103" y="399224"/>
                </a:moveTo>
                <a:lnTo>
                  <a:pt x="19003" y="399351"/>
                </a:lnTo>
                <a:lnTo>
                  <a:pt x="19050" y="418338"/>
                </a:lnTo>
                <a:lnTo>
                  <a:pt x="57150" y="418338"/>
                </a:lnTo>
                <a:lnTo>
                  <a:pt x="57103" y="399224"/>
                </a:lnTo>
                <a:close/>
              </a:path>
              <a:path w="76200" h="589914">
                <a:moveTo>
                  <a:pt x="76200" y="399161"/>
                </a:moveTo>
                <a:lnTo>
                  <a:pt x="57103" y="399224"/>
                </a:lnTo>
                <a:lnTo>
                  <a:pt x="57150" y="418338"/>
                </a:lnTo>
                <a:lnTo>
                  <a:pt x="72418" y="418338"/>
                </a:lnTo>
                <a:lnTo>
                  <a:pt x="76200" y="399161"/>
                </a:lnTo>
                <a:close/>
              </a:path>
              <a:path w="76200" h="589914">
                <a:moveTo>
                  <a:pt x="56133" y="0"/>
                </a:moveTo>
                <a:lnTo>
                  <a:pt x="18033" y="0"/>
                </a:lnTo>
                <a:lnTo>
                  <a:pt x="19003" y="399351"/>
                </a:lnTo>
                <a:lnTo>
                  <a:pt x="57103" y="399224"/>
                </a:lnTo>
                <a:lnTo>
                  <a:pt x="56133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924293" y="3682746"/>
            <a:ext cx="76200" cy="386080"/>
          </a:xfrm>
          <a:custGeom>
            <a:avLst/>
            <a:gdLst/>
            <a:ahLst/>
            <a:cxnLst/>
            <a:rect l="l" t="t" r="r" b="b"/>
            <a:pathLst>
              <a:path w="76200" h="386079">
                <a:moveTo>
                  <a:pt x="19050" y="195071"/>
                </a:moveTo>
                <a:lnTo>
                  <a:pt x="0" y="195071"/>
                </a:lnTo>
                <a:lnTo>
                  <a:pt x="38100" y="385571"/>
                </a:lnTo>
                <a:lnTo>
                  <a:pt x="72390" y="214121"/>
                </a:lnTo>
                <a:lnTo>
                  <a:pt x="19050" y="214121"/>
                </a:lnTo>
                <a:lnTo>
                  <a:pt x="19050" y="195071"/>
                </a:lnTo>
                <a:close/>
              </a:path>
              <a:path w="76200" h="386079">
                <a:moveTo>
                  <a:pt x="57150" y="0"/>
                </a:moveTo>
                <a:lnTo>
                  <a:pt x="19050" y="0"/>
                </a:lnTo>
                <a:lnTo>
                  <a:pt x="19050" y="214121"/>
                </a:lnTo>
                <a:lnTo>
                  <a:pt x="57150" y="214121"/>
                </a:lnTo>
                <a:lnTo>
                  <a:pt x="57150" y="0"/>
                </a:lnTo>
                <a:close/>
              </a:path>
              <a:path w="76200" h="386079">
                <a:moveTo>
                  <a:pt x="76200" y="195071"/>
                </a:moveTo>
                <a:lnTo>
                  <a:pt x="57150" y="195071"/>
                </a:lnTo>
                <a:lnTo>
                  <a:pt x="57150" y="214121"/>
                </a:lnTo>
                <a:lnTo>
                  <a:pt x="72390" y="214121"/>
                </a:lnTo>
                <a:lnTo>
                  <a:pt x="76200" y="195071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515990" y="4118813"/>
            <a:ext cx="3917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2400" b="1" spc="-15" baseline="-17361" dirty="0">
                <a:solidFill>
                  <a:srgbClr val="66FFFF"/>
                </a:solidFill>
                <a:latin typeface="Times New Roman"/>
                <a:cs typeface="Times New Roman"/>
              </a:rPr>
              <a:t>k</a:t>
            </a:r>
            <a:endParaRPr sz="2400" baseline="-17361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334761" y="3903726"/>
            <a:ext cx="1210310" cy="1734820"/>
          </a:xfrm>
          <a:custGeom>
            <a:avLst/>
            <a:gdLst/>
            <a:ahLst/>
            <a:cxnLst/>
            <a:rect l="l" t="t" r="r" b="b"/>
            <a:pathLst>
              <a:path w="1210309" h="1734820">
                <a:moveTo>
                  <a:pt x="1210056" y="0"/>
                </a:moveTo>
                <a:lnTo>
                  <a:pt x="0" y="0"/>
                </a:lnTo>
                <a:lnTo>
                  <a:pt x="0" y="1734312"/>
                </a:lnTo>
                <a:lnTo>
                  <a:pt x="1210056" y="1734312"/>
                </a:lnTo>
                <a:lnTo>
                  <a:pt x="1210056" y="1359408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357109" y="3845814"/>
            <a:ext cx="1210310" cy="3175"/>
          </a:xfrm>
          <a:custGeom>
            <a:avLst/>
            <a:gdLst/>
            <a:ahLst/>
            <a:cxnLst/>
            <a:rect l="l" t="t" r="r" b="b"/>
            <a:pathLst>
              <a:path w="1210309" h="3175">
                <a:moveTo>
                  <a:pt x="0" y="0"/>
                </a:moveTo>
                <a:lnTo>
                  <a:pt x="1210056" y="3048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357109" y="3848861"/>
            <a:ext cx="1210310" cy="1769745"/>
          </a:xfrm>
          <a:custGeom>
            <a:avLst/>
            <a:gdLst/>
            <a:ahLst/>
            <a:cxnLst/>
            <a:rect l="l" t="t" r="r" b="b"/>
            <a:pathLst>
              <a:path w="1210309" h="1769745">
                <a:moveTo>
                  <a:pt x="1210056" y="0"/>
                </a:moveTo>
                <a:lnTo>
                  <a:pt x="1210056" y="1769364"/>
                </a:lnTo>
                <a:lnTo>
                  <a:pt x="0" y="1769364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300594" y="3863975"/>
            <a:ext cx="114300" cy="1997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357109" y="5261609"/>
            <a:ext cx="1905" cy="356870"/>
          </a:xfrm>
          <a:custGeom>
            <a:avLst/>
            <a:gdLst/>
            <a:ahLst/>
            <a:cxnLst/>
            <a:rect l="l" t="t" r="r" b="b"/>
            <a:pathLst>
              <a:path w="1904" h="356870">
                <a:moveTo>
                  <a:pt x="761" y="-19050"/>
                </a:moveTo>
                <a:lnTo>
                  <a:pt x="761" y="375665"/>
                </a:lnTo>
              </a:path>
            </a:pathLst>
          </a:custGeom>
          <a:ln w="39624">
            <a:solidFill>
              <a:srgbClr val="FF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488048" y="3923284"/>
            <a:ext cx="114173" cy="1450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382514" y="5915050"/>
            <a:ext cx="3646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建立循环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的前置结点</a:t>
            </a:r>
            <a:r>
              <a:rPr sz="2400" b="1" spc="-5" dirty="0">
                <a:solidFill>
                  <a:srgbClr val="FF99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17361" dirty="0">
                <a:solidFill>
                  <a:srgbClr val="FF99FF"/>
                </a:solidFill>
                <a:latin typeface="Times New Roman"/>
                <a:cs typeface="Times New Roman"/>
              </a:rPr>
              <a:t>0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61667" y="597153"/>
            <a:ext cx="4213860" cy="1425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设有流</a:t>
            </a:r>
            <a:r>
              <a:rPr sz="3200" b="1" spc="-10" dirty="0">
                <a:solidFill>
                  <a:srgbClr val="FFFF66"/>
                </a:solidFill>
                <a:latin typeface="宋体"/>
                <a:cs typeface="宋体"/>
              </a:rPr>
              <a:t>图</a:t>
            </a:r>
            <a:r>
              <a:rPr sz="3200" b="1" spc="-844" dirty="0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如下面左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图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700">
              <a:latin typeface="Times New Roman"/>
              <a:cs typeface="Times New Roman"/>
            </a:endParaRPr>
          </a:p>
          <a:p>
            <a:pPr marL="1431290">
              <a:lnSpc>
                <a:spcPct val="100000"/>
              </a:lnSpc>
              <a:tabLst>
                <a:tab pos="3918585" algn="l"/>
              </a:tabLst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16516" dirty="0">
                <a:solidFill>
                  <a:srgbClr val="FFFFFF"/>
                </a:solidFill>
                <a:latin typeface="Times New Roman"/>
                <a:cs typeface="Times New Roman"/>
              </a:rPr>
              <a:t>j	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16516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775" baseline="-16516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41868" y="160883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15015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endParaRPr sz="2775" baseline="-15015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348221" y="4827270"/>
            <a:ext cx="1209040" cy="425450"/>
          </a:xfrm>
          <a:custGeom>
            <a:avLst/>
            <a:gdLst/>
            <a:ahLst/>
            <a:cxnLst/>
            <a:rect l="l" t="t" r="r" b="b"/>
            <a:pathLst>
              <a:path w="1209040" h="425450">
                <a:moveTo>
                  <a:pt x="0" y="425195"/>
                </a:moveTo>
                <a:lnTo>
                  <a:pt x="1208531" y="425195"/>
                </a:lnTo>
                <a:lnTo>
                  <a:pt x="1208531" y="0"/>
                </a:lnTo>
                <a:lnTo>
                  <a:pt x="0" y="0"/>
                </a:lnTo>
                <a:lnTo>
                  <a:pt x="0" y="42519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566154" y="4843398"/>
            <a:ext cx="7727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FFFFFF"/>
                </a:solidFill>
                <a:latin typeface="宋体"/>
                <a:cs typeface="宋体"/>
              </a:rPr>
              <a:t>循环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349995" y="854963"/>
            <a:ext cx="641985" cy="262255"/>
          </a:xfrm>
          <a:custGeom>
            <a:avLst/>
            <a:gdLst/>
            <a:ahLst/>
            <a:cxnLst/>
            <a:rect l="l" t="t" r="r" b="b"/>
            <a:pathLst>
              <a:path w="641984" h="262255">
                <a:moveTo>
                  <a:pt x="641603" y="0"/>
                </a:moveTo>
                <a:lnTo>
                  <a:pt x="0" y="0"/>
                </a:lnTo>
                <a:lnTo>
                  <a:pt x="0" y="262127"/>
                </a:lnTo>
                <a:lnTo>
                  <a:pt x="641603" y="262127"/>
                </a:lnTo>
                <a:lnTo>
                  <a:pt x="641603" y="229362"/>
                </a:lnTo>
                <a:lnTo>
                  <a:pt x="419100" y="229362"/>
                </a:lnTo>
                <a:lnTo>
                  <a:pt x="222503" y="131063"/>
                </a:lnTo>
                <a:lnTo>
                  <a:pt x="419100" y="32765"/>
                </a:lnTo>
                <a:lnTo>
                  <a:pt x="641603" y="32765"/>
                </a:lnTo>
                <a:lnTo>
                  <a:pt x="641603" y="0"/>
                </a:lnTo>
                <a:close/>
              </a:path>
              <a:path w="641984" h="262255">
                <a:moveTo>
                  <a:pt x="641603" y="32765"/>
                </a:moveTo>
                <a:lnTo>
                  <a:pt x="419100" y="32765"/>
                </a:lnTo>
                <a:lnTo>
                  <a:pt x="419100" y="229362"/>
                </a:lnTo>
                <a:lnTo>
                  <a:pt x="641603" y="229362"/>
                </a:lnTo>
                <a:lnTo>
                  <a:pt x="641603" y="32765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00"/>
              </a:spcBef>
              <a:tabLst>
                <a:tab pos="1036955" algn="l"/>
                <a:tab pos="3653790" algn="l"/>
                <a:tab pos="4161154" algn="l"/>
              </a:tabLst>
            </a:pPr>
            <a:r>
              <a:rPr sz="2000" u="none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u="none" dirty="0">
                <a:latin typeface="Times New Roman"/>
                <a:cs typeface="Times New Roman"/>
              </a:rPr>
              <a:t>h8	</a:t>
            </a:r>
            <a:r>
              <a:rPr u="none" spc="5" dirty="0"/>
              <a:t>代码优</a:t>
            </a:r>
            <a:r>
              <a:rPr u="none" dirty="0"/>
              <a:t>化	</a:t>
            </a:r>
            <a:r>
              <a:rPr sz="2000" dirty="0">
                <a:latin typeface="Times New Roman"/>
                <a:cs typeface="Times New Roman"/>
              </a:rPr>
              <a:t>8</a:t>
            </a:r>
            <a:r>
              <a:rPr sz="2000" spc="5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5	</a:t>
            </a:r>
            <a:r>
              <a:rPr spc="5" dirty="0"/>
              <a:t>循环优</a:t>
            </a:r>
            <a:r>
              <a:rPr dirty="0"/>
              <a:t>化实</a:t>
            </a:r>
            <a:r>
              <a:rPr spc="-10" dirty="0"/>
              <a:t>施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572500" y="887730"/>
            <a:ext cx="196850" cy="196850"/>
          </a:xfrm>
          <a:custGeom>
            <a:avLst/>
            <a:gdLst/>
            <a:ahLst/>
            <a:cxnLst/>
            <a:rect l="l" t="t" r="r" b="b"/>
            <a:pathLst>
              <a:path w="196850" h="196850">
                <a:moveTo>
                  <a:pt x="196596" y="0"/>
                </a:moveTo>
                <a:lnTo>
                  <a:pt x="0" y="98298"/>
                </a:lnTo>
                <a:lnTo>
                  <a:pt x="196596" y="196596"/>
                </a:lnTo>
                <a:lnTo>
                  <a:pt x="196596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8479663" y="877570"/>
            <a:ext cx="3860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5" dirty="0">
                <a:latin typeface="宋体"/>
                <a:cs typeface="宋体"/>
                <a:hlinkClick r:id="rId6" action="ppaction://hlinksldjump"/>
              </a:rPr>
              <a:t>应用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95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442" y="1134390"/>
            <a:ext cx="7677150" cy="23831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537845">
              <a:lnSpc>
                <a:spcPct val="128499"/>
              </a:lnSpc>
              <a:spcBef>
                <a:spcPts val="160"/>
              </a:spcBef>
            </a:pPr>
            <a:r>
              <a:rPr sz="3000" u="none" spc="-5" dirty="0">
                <a:solidFill>
                  <a:srgbClr val="FFFFFF"/>
                </a:solidFill>
                <a:latin typeface="宋体"/>
                <a:cs typeface="宋体"/>
              </a:rPr>
              <a:t>代码外提就是将循环中</a:t>
            </a:r>
            <a:r>
              <a:rPr sz="3000" u="none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000" u="heavy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宋体"/>
                <a:cs typeface="宋体"/>
              </a:rPr>
              <a:t>不变运</a:t>
            </a:r>
            <a:r>
              <a:rPr sz="3000" u="heavy" spc="-1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宋体"/>
                <a:cs typeface="宋体"/>
              </a:rPr>
              <a:t>算</a:t>
            </a:r>
            <a:r>
              <a:rPr sz="3000" u="none" spc="-5" dirty="0">
                <a:solidFill>
                  <a:srgbClr val="FFFFFF"/>
                </a:solidFill>
                <a:latin typeface="宋体"/>
                <a:cs typeface="宋体"/>
              </a:rPr>
              <a:t>提到循 环的前置结点中。这里所指的不变运算</a:t>
            </a:r>
            <a:r>
              <a:rPr sz="3000" u="none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000" u="none" spc="-5" dirty="0">
                <a:solidFill>
                  <a:srgbClr val="FFFFFF"/>
                </a:solidFill>
                <a:latin typeface="宋体"/>
                <a:cs typeface="宋体"/>
              </a:rPr>
              <a:t>是指 与循环执行次数无关的运算或不受循环控制变 量影响的那些运</a:t>
            </a:r>
            <a:r>
              <a:rPr sz="3000" u="none" dirty="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sz="3000" u="none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242" y="3722522"/>
            <a:ext cx="7673340" cy="2245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8140">
              <a:lnSpc>
                <a:spcPct val="13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例如</a:t>
            </a:r>
            <a:r>
              <a:rPr sz="2800" b="1" dirty="0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设循环</a:t>
            </a:r>
            <a:r>
              <a:rPr sz="28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L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中有形如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A=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sz="2800" b="1" spc="2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op</a:t>
            </a:r>
            <a:r>
              <a:rPr sz="2800" b="1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的语句</a:t>
            </a:r>
            <a:r>
              <a:rPr sz="2800" b="1" dirty="0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sz="2800" b="1" spc="-15" dirty="0">
                <a:solidFill>
                  <a:srgbClr val="66FFFF"/>
                </a:solidFill>
                <a:latin typeface="宋体"/>
                <a:cs typeface="宋体"/>
              </a:rPr>
              <a:t>如 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果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是常数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，或者</a:t>
            </a:r>
            <a:r>
              <a:rPr sz="28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和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C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虽然</a:t>
            </a:r>
            <a:r>
              <a:rPr sz="2800" b="1" spc="5" dirty="0">
                <a:solidFill>
                  <a:srgbClr val="66FFFF"/>
                </a:solidFill>
                <a:latin typeface="宋体"/>
                <a:cs typeface="宋体"/>
              </a:rPr>
              <a:t>是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变</a:t>
            </a:r>
            <a:r>
              <a:rPr sz="2800" b="1" spc="20" dirty="0">
                <a:solidFill>
                  <a:srgbClr val="66FFFF"/>
                </a:solidFill>
                <a:latin typeface="宋体"/>
                <a:cs typeface="宋体"/>
              </a:rPr>
              <a:t>量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但</a:t>
            </a:r>
            <a:r>
              <a:rPr sz="2800" b="1" spc="5" dirty="0">
                <a:solidFill>
                  <a:srgbClr val="66FFFF"/>
                </a:solidFill>
                <a:latin typeface="宋体"/>
                <a:cs typeface="宋体"/>
              </a:rPr>
              <a:t>到达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的定值点皆在循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环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外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sz="2800" b="1" spc="5" dirty="0">
                <a:solidFill>
                  <a:srgbClr val="66FFFF"/>
                </a:solidFill>
                <a:latin typeface="宋体"/>
                <a:cs typeface="宋体"/>
              </a:rPr>
              <a:t>则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在</a:t>
            </a:r>
            <a:r>
              <a:rPr sz="2800" b="1" spc="5" dirty="0">
                <a:solidFill>
                  <a:srgbClr val="66FFFF"/>
                </a:solidFill>
                <a:latin typeface="宋体"/>
                <a:cs typeface="宋体"/>
              </a:rPr>
              <a:t>循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环中</a:t>
            </a:r>
            <a:r>
              <a:rPr sz="2800" b="1" spc="5" dirty="0">
                <a:solidFill>
                  <a:srgbClr val="66FFFF"/>
                </a:solidFill>
                <a:latin typeface="宋体"/>
                <a:cs typeface="宋体"/>
              </a:rPr>
              <a:t>每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次计</a:t>
            </a:r>
            <a:r>
              <a:rPr sz="2800" b="1" spc="-15" dirty="0">
                <a:solidFill>
                  <a:srgbClr val="66FFFF"/>
                </a:solidFill>
                <a:latin typeface="宋体"/>
                <a:cs typeface="宋体"/>
              </a:rPr>
              <a:t>算 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出的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op </a:t>
            </a: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的值始终不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变</a:t>
            </a:r>
            <a:r>
              <a:rPr sz="2800" b="1" spc="-15" dirty="0">
                <a:solidFill>
                  <a:srgbClr val="66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69442" y="11378"/>
            <a:ext cx="6906259" cy="1129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2225">
              <a:lnSpc>
                <a:spcPct val="100000"/>
              </a:lnSpc>
              <a:spcBef>
                <a:spcPts val="100"/>
              </a:spcBef>
              <a:tabLst>
                <a:tab pos="1936114" algn="l"/>
                <a:tab pos="4552950" algn="l"/>
                <a:tab pos="506031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tabLst>
                <a:tab pos="725805" algn="l"/>
              </a:tabLst>
            </a:pP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—</a:t>
            </a:r>
            <a:r>
              <a:rPr sz="2800" b="1" spc="-69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代码外提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96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640" y="572846"/>
            <a:ext cx="11480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none" spc="-5" dirty="0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sz="3200" u="none" dirty="0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sz="3200" u="none" spc="5"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sz="3200" u="none" dirty="0">
                <a:solidFill>
                  <a:srgbClr val="FFFF00"/>
                </a:solidFill>
                <a:latin typeface="Times New Roman"/>
                <a:cs typeface="Times New Roman"/>
              </a:rPr>
              <a:t>10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594347" y="6286500"/>
            <a:ext cx="528955" cy="228600"/>
          </a:xfrm>
          <a:custGeom>
            <a:avLst/>
            <a:gdLst/>
            <a:ahLst/>
            <a:cxnLst/>
            <a:rect l="l" t="t" r="r" b="b"/>
            <a:pathLst>
              <a:path w="528954" h="228600">
                <a:moveTo>
                  <a:pt x="528827" y="0"/>
                </a:moveTo>
                <a:lnTo>
                  <a:pt x="0" y="0"/>
                </a:lnTo>
                <a:lnTo>
                  <a:pt x="0" y="228600"/>
                </a:lnTo>
                <a:lnTo>
                  <a:pt x="528827" y="228600"/>
                </a:lnTo>
                <a:lnTo>
                  <a:pt x="528827" y="200025"/>
                </a:lnTo>
                <a:lnTo>
                  <a:pt x="178688" y="200025"/>
                </a:lnTo>
                <a:lnTo>
                  <a:pt x="178688" y="28575"/>
                </a:lnTo>
                <a:lnTo>
                  <a:pt x="528827" y="28575"/>
                </a:lnTo>
                <a:lnTo>
                  <a:pt x="528827" y="0"/>
                </a:lnTo>
                <a:close/>
              </a:path>
              <a:path w="528954" h="228600">
                <a:moveTo>
                  <a:pt x="528827" y="28575"/>
                </a:moveTo>
                <a:lnTo>
                  <a:pt x="178688" y="28575"/>
                </a:lnTo>
                <a:lnTo>
                  <a:pt x="350138" y="114300"/>
                </a:lnTo>
                <a:lnTo>
                  <a:pt x="178688" y="200025"/>
                </a:lnTo>
                <a:lnTo>
                  <a:pt x="528827" y="200025"/>
                </a:lnTo>
                <a:lnTo>
                  <a:pt x="528827" y="2857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3036" y="63150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85725"/>
                </a:lnTo>
                <a:lnTo>
                  <a:pt x="0" y="0"/>
                </a:lnTo>
                <a:close/>
              </a:path>
            </a:pathLst>
          </a:custGeom>
          <a:solidFill>
            <a:srgbClr val="85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667245" y="6293002"/>
            <a:ext cx="3854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5" dirty="0">
                <a:latin typeface="宋体"/>
                <a:cs typeface="宋体"/>
                <a:hlinkClick r:id="rId2" action="ppaction://hlinksldjump"/>
              </a:rPr>
              <a:t>返回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95945" y="2531186"/>
            <a:ext cx="398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16516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775" baseline="-16516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19038" y="1680210"/>
            <a:ext cx="1132840" cy="883919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54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A =</a:t>
            </a:r>
            <a:r>
              <a:rPr sz="2400" b="1" spc="-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255270">
              <a:lnSpc>
                <a:spcPct val="100000"/>
              </a:lnSpc>
              <a:spcBef>
                <a:spcPts val="45"/>
              </a:spcBef>
              <a:tabLst>
                <a:tab pos="527050" algn="l"/>
              </a:tabLst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I	=</a:t>
            </a:r>
            <a:r>
              <a:rPr sz="24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33109" y="2996945"/>
            <a:ext cx="2455545" cy="1313815"/>
          </a:xfrm>
          <a:custGeom>
            <a:avLst/>
            <a:gdLst/>
            <a:ahLst/>
            <a:cxnLst/>
            <a:rect l="l" t="t" r="r" b="b"/>
            <a:pathLst>
              <a:path w="2455545" h="1313814">
                <a:moveTo>
                  <a:pt x="0" y="1313687"/>
                </a:moveTo>
                <a:lnTo>
                  <a:pt x="2455164" y="1313687"/>
                </a:lnTo>
                <a:lnTo>
                  <a:pt x="2455164" y="0"/>
                </a:lnTo>
                <a:lnTo>
                  <a:pt x="0" y="0"/>
                </a:lnTo>
                <a:lnTo>
                  <a:pt x="0" y="1313687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833364" y="2986862"/>
            <a:ext cx="2480945" cy="190817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08305" marR="784860" indent="14604" algn="just">
              <a:lnSpc>
                <a:spcPct val="76200"/>
              </a:lnSpc>
              <a:spcBef>
                <a:spcPts val="785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B = J + 1 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= B +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  A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2400" b="1" spc="-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ts val="2775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if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= 100 goto</a:t>
            </a:r>
            <a:r>
              <a:rPr sz="24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400" b="1" spc="-7" baseline="-1562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 baseline="-15625">
              <a:latin typeface="Times New Roman"/>
              <a:cs typeface="Times New Roman"/>
            </a:endParaRPr>
          </a:p>
          <a:p>
            <a:pPr marL="790575">
              <a:lnSpc>
                <a:spcPct val="100000"/>
              </a:lnSpc>
              <a:spcBef>
                <a:spcPts val="1895"/>
              </a:spcBef>
              <a:tabLst>
                <a:tab pos="2113280" algn="l"/>
              </a:tabLst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15625" dirty="0">
                <a:solidFill>
                  <a:srgbClr val="FFFFFF"/>
                </a:solidFill>
                <a:latin typeface="Times New Roman"/>
                <a:cs typeface="Times New Roman"/>
              </a:rPr>
              <a:t>3	</a:t>
            </a:r>
            <a:r>
              <a:rPr sz="3600" b="1" spc="-7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13888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 baseline="-1388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61253" y="4958334"/>
            <a:ext cx="1504315" cy="885825"/>
          </a:xfrm>
          <a:custGeom>
            <a:avLst/>
            <a:gdLst/>
            <a:ahLst/>
            <a:cxnLst/>
            <a:rect l="l" t="t" r="r" b="b"/>
            <a:pathLst>
              <a:path w="1504315" h="885825">
                <a:moveTo>
                  <a:pt x="0" y="885443"/>
                </a:moveTo>
                <a:lnTo>
                  <a:pt x="1504188" y="885443"/>
                </a:lnTo>
                <a:lnTo>
                  <a:pt x="1504188" y="0"/>
                </a:lnTo>
                <a:lnTo>
                  <a:pt x="0" y="0"/>
                </a:lnTo>
                <a:lnTo>
                  <a:pt x="0" y="885443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61253" y="4958334"/>
            <a:ext cx="1504315" cy="885825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00660">
              <a:lnSpc>
                <a:spcPts val="2755"/>
              </a:lnSpc>
              <a:spcBef>
                <a:spcPts val="24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24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214629">
              <a:lnSpc>
                <a:spcPts val="2755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44333" y="4958334"/>
            <a:ext cx="1043940" cy="885825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264795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208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400" b="1" spc="-7" baseline="-1562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40273" y="2748533"/>
            <a:ext cx="965200" cy="3310254"/>
          </a:xfrm>
          <a:custGeom>
            <a:avLst/>
            <a:gdLst/>
            <a:ahLst/>
            <a:cxnLst/>
            <a:rect l="l" t="t" r="r" b="b"/>
            <a:pathLst>
              <a:path w="965200" h="3310254">
                <a:moveTo>
                  <a:pt x="964691" y="3099854"/>
                </a:moveTo>
                <a:lnTo>
                  <a:pt x="964691" y="3310128"/>
                </a:lnTo>
                <a:lnTo>
                  <a:pt x="0" y="3310128"/>
                </a:lnTo>
                <a:lnTo>
                  <a:pt x="0" y="0"/>
                </a:lnTo>
              </a:path>
            </a:pathLst>
          </a:custGeom>
          <a:ln w="38099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40273" y="2748533"/>
            <a:ext cx="965200" cy="1905"/>
          </a:xfrm>
          <a:custGeom>
            <a:avLst/>
            <a:gdLst/>
            <a:ahLst/>
            <a:cxnLst/>
            <a:rect l="l" t="t" r="r" b="b"/>
            <a:pathLst>
              <a:path w="965200" h="1905">
                <a:moveTo>
                  <a:pt x="964691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829043" y="1215390"/>
            <a:ext cx="380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1562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 baseline="-1562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57009" y="1239774"/>
            <a:ext cx="76200" cy="440690"/>
          </a:xfrm>
          <a:custGeom>
            <a:avLst/>
            <a:gdLst/>
            <a:ahLst/>
            <a:cxnLst/>
            <a:rect l="l" t="t" r="r" b="b"/>
            <a:pathLst>
              <a:path w="76200" h="440689">
                <a:moveTo>
                  <a:pt x="19050" y="326136"/>
                </a:moveTo>
                <a:lnTo>
                  <a:pt x="0" y="326136"/>
                </a:lnTo>
                <a:lnTo>
                  <a:pt x="38100" y="440436"/>
                </a:lnTo>
                <a:lnTo>
                  <a:pt x="69850" y="345186"/>
                </a:lnTo>
                <a:lnTo>
                  <a:pt x="19050" y="345186"/>
                </a:lnTo>
                <a:lnTo>
                  <a:pt x="19050" y="326136"/>
                </a:lnTo>
                <a:close/>
              </a:path>
              <a:path w="76200" h="440689">
                <a:moveTo>
                  <a:pt x="57150" y="0"/>
                </a:moveTo>
                <a:lnTo>
                  <a:pt x="19050" y="0"/>
                </a:lnTo>
                <a:lnTo>
                  <a:pt x="19050" y="345186"/>
                </a:lnTo>
                <a:lnTo>
                  <a:pt x="57150" y="345186"/>
                </a:lnTo>
                <a:lnTo>
                  <a:pt x="57150" y="0"/>
                </a:lnTo>
                <a:close/>
              </a:path>
              <a:path w="76200" h="440689">
                <a:moveTo>
                  <a:pt x="76200" y="326136"/>
                </a:moveTo>
                <a:lnTo>
                  <a:pt x="57150" y="326136"/>
                </a:lnTo>
                <a:lnTo>
                  <a:pt x="57150" y="345186"/>
                </a:lnTo>
                <a:lnTo>
                  <a:pt x="69850" y="345186"/>
                </a:lnTo>
                <a:lnTo>
                  <a:pt x="76200" y="326136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585966" y="2554985"/>
            <a:ext cx="76200" cy="441959"/>
          </a:xfrm>
          <a:custGeom>
            <a:avLst/>
            <a:gdLst/>
            <a:ahLst/>
            <a:cxnLst/>
            <a:rect l="l" t="t" r="r" b="b"/>
            <a:pathLst>
              <a:path w="76200" h="441960">
                <a:moveTo>
                  <a:pt x="19050" y="327660"/>
                </a:moveTo>
                <a:lnTo>
                  <a:pt x="0" y="327660"/>
                </a:lnTo>
                <a:lnTo>
                  <a:pt x="38100" y="441960"/>
                </a:lnTo>
                <a:lnTo>
                  <a:pt x="69850" y="346710"/>
                </a:lnTo>
                <a:lnTo>
                  <a:pt x="19050" y="346710"/>
                </a:lnTo>
                <a:lnTo>
                  <a:pt x="19050" y="327660"/>
                </a:lnTo>
                <a:close/>
              </a:path>
              <a:path w="76200" h="441960">
                <a:moveTo>
                  <a:pt x="57150" y="0"/>
                </a:moveTo>
                <a:lnTo>
                  <a:pt x="19050" y="0"/>
                </a:lnTo>
                <a:lnTo>
                  <a:pt x="19050" y="346710"/>
                </a:lnTo>
                <a:lnTo>
                  <a:pt x="57150" y="346710"/>
                </a:lnTo>
                <a:lnTo>
                  <a:pt x="57150" y="0"/>
                </a:lnTo>
                <a:close/>
              </a:path>
              <a:path w="76200" h="441960">
                <a:moveTo>
                  <a:pt x="76200" y="327660"/>
                </a:moveTo>
                <a:lnTo>
                  <a:pt x="57150" y="327660"/>
                </a:lnTo>
                <a:lnTo>
                  <a:pt x="57150" y="346710"/>
                </a:lnTo>
                <a:lnTo>
                  <a:pt x="69850" y="346710"/>
                </a:lnTo>
                <a:lnTo>
                  <a:pt x="76200" y="32766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10478" y="4310634"/>
            <a:ext cx="76200" cy="631190"/>
          </a:xfrm>
          <a:custGeom>
            <a:avLst/>
            <a:gdLst/>
            <a:ahLst/>
            <a:cxnLst/>
            <a:rect l="l" t="t" r="r" b="b"/>
            <a:pathLst>
              <a:path w="76200" h="631189">
                <a:moveTo>
                  <a:pt x="19050" y="516636"/>
                </a:moveTo>
                <a:lnTo>
                  <a:pt x="0" y="516636"/>
                </a:lnTo>
                <a:lnTo>
                  <a:pt x="38100" y="630936"/>
                </a:lnTo>
                <a:lnTo>
                  <a:pt x="69850" y="535686"/>
                </a:lnTo>
                <a:lnTo>
                  <a:pt x="19050" y="535686"/>
                </a:lnTo>
                <a:lnTo>
                  <a:pt x="19050" y="516636"/>
                </a:lnTo>
                <a:close/>
              </a:path>
              <a:path w="76200" h="631189">
                <a:moveTo>
                  <a:pt x="57150" y="0"/>
                </a:moveTo>
                <a:lnTo>
                  <a:pt x="19050" y="0"/>
                </a:lnTo>
                <a:lnTo>
                  <a:pt x="19050" y="535686"/>
                </a:lnTo>
                <a:lnTo>
                  <a:pt x="57150" y="535686"/>
                </a:lnTo>
                <a:lnTo>
                  <a:pt x="57150" y="0"/>
                </a:lnTo>
                <a:close/>
              </a:path>
              <a:path w="76200" h="631189">
                <a:moveTo>
                  <a:pt x="76200" y="516636"/>
                </a:moveTo>
                <a:lnTo>
                  <a:pt x="57150" y="516636"/>
                </a:lnTo>
                <a:lnTo>
                  <a:pt x="57150" y="535686"/>
                </a:lnTo>
                <a:lnTo>
                  <a:pt x="69850" y="535686"/>
                </a:lnTo>
                <a:lnTo>
                  <a:pt x="76200" y="516636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85304" y="4300346"/>
            <a:ext cx="433705" cy="658495"/>
          </a:xfrm>
          <a:custGeom>
            <a:avLst/>
            <a:gdLst/>
            <a:ahLst/>
            <a:cxnLst/>
            <a:rect l="l" t="t" r="r" b="b"/>
            <a:pathLst>
              <a:path w="433704" h="658495">
                <a:moveTo>
                  <a:pt x="355653" y="572195"/>
                </a:moveTo>
                <a:lnTo>
                  <a:pt x="339598" y="582548"/>
                </a:lnTo>
                <a:lnTo>
                  <a:pt x="433577" y="657986"/>
                </a:lnTo>
                <a:lnTo>
                  <a:pt x="415673" y="588263"/>
                </a:lnTo>
                <a:lnTo>
                  <a:pt x="366014" y="588263"/>
                </a:lnTo>
                <a:lnTo>
                  <a:pt x="355653" y="572195"/>
                </a:lnTo>
                <a:close/>
              </a:path>
              <a:path w="433704" h="658495">
                <a:moveTo>
                  <a:pt x="387685" y="551540"/>
                </a:moveTo>
                <a:lnTo>
                  <a:pt x="355653" y="572195"/>
                </a:lnTo>
                <a:lnTo>
                  <a:pt x="366014" y="588263"/>
                </a:lnTo>
                <a:lnTo>
                  <a:pt x="398018" y="567563"/>
                </a:lnTo>
                <a:lnTo>
                  <a:pt x="387685" y="551540"/>
                </a:lnTo>
                <a:close/>
              </a:path>
              <a:path w="433704" h="658495">
                <a:moveTo>
                  <a:pt x="403605" y="541273"/>
                </a:moveTo>
                <a:lnTo>
                  <a:pt x="387685" y="551540"/>
                </a:lnTo>
                <a:lnTo>
                  <a:pt x="398018" y="567563"/>
                </a:lnTo>
                <a:lnTo>
                  <a:pt x="366014" y="588263"/>
                </a:lnTo>
                <a:lnTo>
                  <a:pt x="415673" y="588263"/>
                </a:lnTo>
                <a:lnTo>
                  <a:pt x="403605" y="541273"/>
                </a:lnTo>
                <a:close/>
              </a:path>
              <a:path w="433704" h="658495">
                <a:moveTo>
                  <a:pt x="32003" y="0"/>
                </a:moveTo>
                <a:lnTo>
                  <a:pt x="0" y="20573"/>
                </a:lnTo>
                <a:lnTo>
                  <a:pt x="355653" y="572195"/>
                </a:lnTo>
                <a:lnTo>
                  <a:pt x="387685" y="551540"/>
                </a:lnTo>
                <a:lnTo>
                  <a:pt x="32003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31814" y="2754629"/>
            <a:ext cx="76200" cy="256540"/>
          </a:xfrm>
          <a:custGeom>
            <a:avLst/>
            <a:gdLst/>
            <a:ahLst/>
            <a:cxnLst/>
            <a:rect l="l" t="t" r="r" b="b"/>
            <a:pathLst>
              <a:path w="76200" h="256539">
                <a:moveTo>
                  <a:pt x="19050" y="141732"/>
                </a:moveTo>
                <a:lnTo>
                  <a:pt x="0" y="141732"/>
                </a:lnTo>
                <a:lnTo>
                  <a:pt x="38100" y="256032"/>
                </a:lnTo>
                <a:lnTo>
                  <a:pt x="69850" y="160782"/>
                </a:lnTo>
                <a:lnTo>
                  <a:pt x="19050" y="160782"/>
                </a:lnTo>
                <a:lnTo>
                  <a:pt x="19050" y="141732"/>
                </a:lnTo>
                <a:close/>
              </a:path>
              <a:path w="76200" h="256539">
                <a:moveTo>
                  <a:pt x="57150" y="0"/>
                </a:moveTo>
                <a:lnTo>
                  <a:pt x="19050" y="0"/>
                </a:lnTo>
                <a:lnTo>
                  <a:pt x="19050" y="160782"/>
                </a:lnTo>
                <a:lnTo>
                  <a:pt x="57150" y="160782"/>
                </a:lnTo>
                <a:lnTo>
                  <a:pt x="57150" y="0"/>
                </a:lnTo>
                <a:close/>
              </a:path>
              <a:path w="76200" h="256539">
                <a:moveTo>
                  <a:pt x="76200" y="141732"/>
                </a:moveTo>
                <a:lnTo>
                  <a:pt x="57150" y="141732"/>
                </a:lnTo>
                <a:lnTo>
                  <a:pt x="57150" y="160782"/>
                </a:lnTo>
                <a:lnTo>
                  <a:pt x="69850" y="160782"/>
                </a:lnTo>
                <a:lnTo>
                  <a:pt x="76200" y="141732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26033" y="1327062"/>
            <a:ext cx="3643629" cy="4017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9780">
              <a:lnSpc>
                <a:spcPts val="3055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sz="2800" b="1" spc="-16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R="955040" algn="ctr">
              <a:lnSpc>
                <a:spcPct val="100000"/>
              </a:lnSpc>
              <a:spcBef>
                <a:spcPts val="17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 =</a:t>
            </a:r>
            <a:r>
              <a:rPr sz="2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R="1031240" algn="ctr">
              <a:lnSpc>
                <a:spcPct val="100000"/>
              </a:lnSpc>
              <a:spcBef>
                <a:spcPts val="165"/>
              </a:spcBef>
              <a:tabLst>
                <a:tab pos="1219200" algn="l"/>
              </a:tabLst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75" b="1" baseline="-16516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:</a:t>
            </a:r>
            <a:r>
              <a:rPr sz="2800" b="1" spc="70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	= J +</a:t>
            </a:r>
            <a:r>
              <a:rPr sz="28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814069" marR="897255" indent="16510">
              <a:lnSpc>
                <a:spcPts val="3529"/>
              </a:lnSpc>
              <a:spcBef>
                <a:spcPts val="145"/>
              </a:spcBef>
              <a:tabLst>
                <a:tab pos="1885314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	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sz="2800" b="1" spc="-8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= C +</a:t>
            </a:r>
            <a:r>
              <a:rPr sz="2800" b="1" spc="-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800100">
              <a:lnSpc>
                <a:spcPts val="3345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if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(I=100)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sz="28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75" b="1" spc="7" baseline="-16516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775" b="1" spc="7" baseline="-16516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775" baseline="-16516">
              <a:latin typeface="宋体"/>
              <a:cs typeface="宋体"/>
            </a:endParaRPr>
          </a:p>
          <a:p>
            <a:pPr marL="788035">
              <a:lnSpc>
                <a:spcPct val="100000"/>
              </a:lnSpc>
              <a:spcBef>
                <a:spcPts val="204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 = I +</a:t>
            </a: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800100">
              <a:lnSpc>
                <a:spcPct val="100000"/>
              </a:lnSpc>
              <a:spcBef>
                <a:spcPts val="170"/>
              </a:spcBef>
              <a:tabLst>
                <a:tab pos="1630680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goto	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75" b="1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1 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tabLst>
                <a:tab pos="534670" algn="l"/>
                <a:tab pos="1074420" algn="l"/>
              </a:tabLst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75" b="1" baseline="-16516" dirty="0">
                <a:solidFill>
                  <a:srgbClr val="FFFFFF"/>
                </a:solidFill>
                <a:latin typeface="Times New Roman"/>
                <a:cs typeface="Times New Roman"/>
              </a:rPr>
              <a:t>2	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:	</a:t>
            </a:r>
            <a:r>
              <a:rPr sz="2800" b="1" spc="-5" dirty="0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96062" y="1299210"/>
            <a:ext cx="3916679" cy="4259580"/>
          </a:xfrm>
          <a:custGeom>
            <a:avLst/>
            <a:gdLst/>
            <a:ahLst/>
            <a:cxnLst/>
            <a:rect l="l" t="t" r="r" b="b"/>
            <a:pathLst>
              <a:path w="3916679" h="4259580">
                <a:moveTo>
                  <a:pt x="0" y="4259580"/>
                </a:moveTo>
                <a:lnTo>
                  <a:pt x="3916679" y="4259580"/>
                </a:lnTo>
                <a:lnTo>
                  <a:pt x="3916679" y="0"/>
                </a:lnTo>
                <a:lnTo>
                  <a:pt x="0" y="0"/>
                </a:lnTo>
                <a:lnTo>
                  <a:pt x="0" y="425958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949576" y="0"/>
            <a:ext cx="5626100" cy="1222375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  <a:tabLst>
                <a:tab pos="655955" algn="l"/>
                <a:tab pos="3272790" algn="l"/>
                <a:tab pos="3780154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  <a:p>
            <a:pPr marL="14604">
              <a:lnSpc>
                <a:spcPct val="100000"/>
              </a:lnSpc>
              <a:spcBef>
                <a:spcPts val="1545"/>
              </a:spcBef>
            </a:pP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给出以下源程序及该</a:t>
            </a:r>
            <a:r>
              <a:rPr sz="3200" b="1" spc="-15" dirty="0">
                <a:solidFill>
                  <a:srgbClr val="FFFF00"/>
                </a:solidFill>
                <a:latin typeface="宋体"/>
                <a:cs typeface="宋体"/>
              </a:rPr>
              <a:t>程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序流图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11979" y="1317878"/>
            <a:ext cx="1049020" cy="171450"/>
          </a:xfrm>
          <a:custGeom>
            <a:avLst/>
            <a:gdLst/>
            <a:ahLst/>
            <a:cxnLst/>
            <a:rect l="l" t="t" r="r" b="b"/>
            <a:pathLst>
              <a:path w="1049020" h="171450">
                <a:moveTo>
                  <a:pt x="171450" y="0"/>
                </a:moveTo>
                <a:lnTo>
                  <a:pt x="0" y="85725"/>
                </a:lnTo>
                <a:lnTo>
                  <a:pt x="171450" y="171450"/>
                </a:lnTo>
                <a:lnTo>
                  <a:pt x="171450" y="114300"/>
                </a:lnTo>
                <a:lnTo>
                  <a:pt x="142875" y="114300"/>
                </a:lnTo>
                <a:lnTo>
                  <a:pt x="142875" y="57150"/>
                </a:lnTo>
                <a:lnTo>
                  <a:pt x="171450" y="57150"/>
                </a:lnTo>
                <a:lnTo>
                  <a:pt x="171450" y="0"/>
                </a:lnTo>
                <a:close/>
              </a:path>
              <a:path w="1049020" h="171450">
                <a:moveTo>
                  <a:pt x="171450" y="57150"/>
                </a:moveTo>
                <a:lnTo>
                  <a:pt x="142875" y="57150"/>
                </a:lnTo>
                <a:lnTo>
                  <a:pt x="142875" y="114300"/>
                </a:lnTo>
                <a:lnTo>
                  <a:pt x="171450" y="114300"/>
                </a:lnTo>
                <a:lnTo>
                  <a:pt x="171450" y="57150"/>
                </a:lnTo>
                <a:close/>
              </a:path>
              <a:path w="1049020" h="171450">
                <a:moveTo>
                  <a:pt x="1048512" y="57150"/>
                </a:moveTo>
                <a:lnTo>
                  <a:pt x="171450" y="57150"/>
                </a:lnTo>
                <a:lnTo>
                  <a:pt x="171450" y="114300"/>
                </a:lnTo>
                <a:lnTo>
                  <a:pt x="1048512" y="114300"/>
                </a:lnTo>
                <a:lnTo>
                  <a:pt x="1048512" y="5715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411979" y="5068442"/>
            <a:ext cx="1049020" cy="171450"/>
          </a:xfrm>
          <a:custGeom>
            <a:avLst/>
            <a:gdLst/>
            <a:ahLst/>
            <a:cxnLst/>
            <a:rect l="l" t="t" r="r" b="b"/>
            <a:pathLst>
              <a:path w="1049020" h="171450">
                <a:moveTo>
                  <a:pt x="171450" y="0"/>
                </a:moveTo>
                <a:lnTo>
                  <a:pt x="0" y="85724"/>
                </a:lnTo>
                <a:lnTo>
                  <a:pt x="171450" y="171449"/>
                </a:lnTo>
                <a:lnTo>
                  <a:pt x="171450" y="114299"/>
                </a:lnTo>
                <a:lnTo>
                  <a:pt x="142875" y="114299"/>
                </a:lnTo>
                <a:lnTo>
                  <a:pt x="142875" y="57149"/>
                </a:lnTo>
                <a:lnTo>
                  <a:pt x="171450" y="57149"/>
                </a:lnTo>
                <a:lnTo>
                  <a:pt x="171450" y="0"/>
                </a:lnTo>
                <a:close/>
              </a:path>
              <a:path w="1049020" h="171450">
                <a:moveTo>
                  <a:pt x="171450" y="57149"/>
                </a:moveTo>
                <a:lnTo>
                  <a:pt x="142875" y="57149"/>
                </a:lnTo>
                <a:lnTo>
                  <a:pt x="142875" y="114299"/>
                </a:lnTo>
                <a:lnTo>
                  <a:pt x="171450" y="114299"/>
                </a:lnTo>
                <a:lnTo>
                  <a:pt x="171450" y="57149"/>
                </a:lnTo>
                <a:close/>
              </a:path>
              <a:path w="1049020" h="171450">
                <a:moveTo>
                  <a:pt x="1048512" y="57149"/>
                </a:moveTo>
                <a:lnTo>
                  <a:pt x="171450" y="57149"/>
                </a:lnTo>
                <a:lnTo>
                  <a:pt x="171450" y="114299"/>
                </a:lnTo>
                <a:lnTo>
                  <a:pt x="1048512" y="114299"/>
                </a:lnTo>
                <a:lnTo>
                  <a:pt x="1048512" y="57149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411979" y="2212467"/>
            <a:ext cx="1049020" cy="171450"/>
          </a:xfrm>
          <a:custGeom>
            <a:avLst/>
            <a:gdLst/>
            <a:ahLst/>
            <a:cxnLst/>
            <a:rect l="l" t="t" r="r" b="b"/>
            <a:pathLst>
              <a:path w="1049020" h="171450">
                <a:moveTo>
                  <a:pt x="171450" y="0"/>
                </a:moveTo>
                <a:lnTo>
                  <a:pt x="0" y="85725"/>
                </a:lnTo>
                <a:lnTo>
                  <a:pt x="171450" y="171450"/>
                </a:lnTo>
                <a:lnTo>
                  <a:pt x="171450" y="114300"/>
                </a:lnTo>
                <a:lnTo>
                  <a:pt x="142875" y="114300"/>
                </a:lnTo>
                <a:lnTo>
                  <a:pt x="142875" y="57150"/>
                </a:lnTo>
                <a:lnTo>
                  <a:pt x="171450" y="57150"/>
                </a:lnTo>
                <a:lnTo>
                  <a:pt x="171450" y="0"/>
                </a:lnTo>
                <a:close/>
              </a:path>
              <a:path w="1049020" h="171450">
                <a:moveTo>
                  <a:pt x="171450" y="57150"/>
                </a:moveTo>
                <a:lnTo>
                  <a:pt x="142875" y="57150"/>
                </a:lnTo>
                <a:lnTo>
                  <a:pt x="142875" y="114300"/>
                </a:lnTo>
                <a:lnTo>
                  <a:pt x="171450" y="114300"/>
                </a:lnTo>
                <a:lnTo>
                  <a:pt x="171450" y="57150"/>
                </a:lnTo>
                <a:close/>
              </a:path>
              <a:path w="1049020" h="171450">
                <a:moveTo>
                  <a:pt x="1048512" y="57150"/>
                </a:moveTo>
                <a:lnTo>
                  <a:pt x="171450" y="57150"/>
                </a:lnTo>
                <a:lnTo>
                  <a:pt x="171450" y="114300"/>
                </a:lnTo>
                <a:lnTo>
                  <a:pt x="1048512" y="114300"/>
                </a:lnTo>
                <a:lnTo>
                  <a:pt x="1048512" y="5715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411979" y="4045839"/>
            <a:ext cx="1049020" cy="171450"/>
          </a:xfrm>
          <a:custGeom>
            <a:avLst/>
            <a:gdLst/>
            <a:ahLst/>
            <a:cxnLst/>
            <a:rect l="l" t="t" r="r" b="b"/>
            <a:pathLst>
              <a:path w="1049020" h="171450">
                <a:moveTo>
                  <a:pt x="171450" y="0"/>
                </a:moveTo>
                <a:lnTo>
                  <a:pt x="0" y="85725"/>
                </a:lnTo>
                <a:lnTo>
                  <a:pt x="171450" y="171450"/>
                </a:lnTo>
                <a:lnTo>
                  <a:pt x="171450" y="114300"/>
                </a:lnTo>
                <a:lnTo>
                  <a:pt x="142875" y="114300"/>
                </a:lnTo>
                <a:lnTo>
                  <a:pt x="142875" y="57150"/>
                </a:lnTo>
                <a:lnTo>
                  <a:pt x="171450" y="57150"/>
                </a:lnTo>
                <a:lnTo>
                  <a:pt x="171450" y="0"/>
                </a:lnTo>
                <a:close/>
              </a:path>
              <a:path w="1049020" h="171450">
                <a:moveTo>
                  <a:pt x="171450" y="57150"/>
                </a:moveTo>
                <a:lnTo>
                  <a:pt x="142875" y="57150"/>
                </a:lnTo>
                <a:lnTo>
                  <a:pt x="142875" y="114300"/>
                </a:lnTo>
                <a:lnTo>
                  <a:pt x="171450" y="114300"/>
                </a:lnTo>
                <a:lnTo>
                  <a:pt x="171450" y="57150"/>
                </a:lnTo>
                <a:close/>
              </a:path>
              <a:path w="1049020" h="171450">
                <a:moveTo>
                  <a:pt x="1048512" y="57150"/>
                </a:moveTo>
                <a:lnTo>
                  <a:pt x="171450" y="57150"/>
                </a:lnTo>
                <a:lnTo>
                  <a:pt x="171450" y="114300"/>
                </a:lnTo>
                <a:lnTo>
                  <a:pt x="1048512" y="114300"/>
                </a:lnTo>
                <a:lnTo>
                  <a:pt x="1048512" y="5715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96240" y="5979667"/>
            <a:ext cx="38627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482725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&lt;B</a:t>
            </a:r>
            <a:r>
              <a:rPr sz="2775" b="1" spc="-7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spc="-7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&gt;	</a:t>
            </a:r>
            <a:r>
              <a:rPr sz="3150" b="1" spc="22" baseline="-14550" dirty="0">
                <a:solidFill>
                  <a:srgbClr val="FFFFFF"/>
                </a:solidFill>
                <a:latin typeface="Times New Roman"/>
                <a:cs typeface="Times New Roman"/>
              </a:rPr>
              <a:t>loop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 {</a:t>
            </a:r>
            <a:r>
              <a:rPr sz="2800" b="1" spc="-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96062" y="1273302"/>
            <a:ext cx="4498975" cy="4269105"/>
          </a:xfrm>
          <a:custGeom>
            <a:avLst/>
            <a:gdLst/>
            <a:ahLst/>
            <a:cxnLst/>
            <a:rect l="l" t="t" r="r" b="b"/>
            <a:pathLst>
              <a:path w="4498975" h="4269105">
                <a:moveTo>
                  <a:pt x="0" y="4268724"/>
                </a:moveTo>
                <a:lnTo>
                  <a:pt x="4498848" y="4268724"/>
                </a:lnTo>
                <a:lnTo>
                  <a:pt x="4498848" y="0"/>
                </a:lnTo>
                <a:lnTo>
                  <a:pt x="0" y="0"/>
                </a:lnTo>
                <a:lnTo>
                  <a:pt x="0" y="4268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6062" y="1273302"/>
            <a:ext cx="4498975" cy="4269105"/>
          </a:xfrm>
          <a:custGeom>
            <a:avLst/>
            <a:gdLst/>
            <a:ahLst/>
            <a:cxnLst/>
            <a:rect l="l" t="t" r="r" b="b"/>
            <a:pathLst>
              <a:path w="4498975" h="4269105">
                <a:moveTo>
                  <a:pt x="0" y="4268724"/>
                </a:moveTo>
                <a:lnTo>
                  <a:pt x="4498848" y="4268724"/>
                </a:lnTo>
                <a:lnTo>
                  <a:pt x="4498848" y="0"/>
                </a:lnTo>
                <a:lnTo>
                  <a:pt x="0" y="0"/>
                </a:lnTo>
                <a:lnTo>
                  <a:pt x="0" y="4268724"/>
                </a:lnTo>
                <a:close/>
              </a:path>
            </a:pathLst>
          </a:custGeom>
          <a:ln w="38100">
            <a:solidFill>
              <a:srgbClr val="99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48640" y="1160324"/>
            <a:ext cx="2998470" cy="1691005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15"/>
              </a:spcBef>
            </a:pP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考察循环：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010"/>
              </a:spcBef>
            </a:pP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基本</a:t>
            </a:r>
            <a:r>
              <a:rPr sz="2800" b="1" spc="-10" dirty="0">
                <a:solidFill>
                  <a:srgbClr val="FFFF99"/>
                </a:solidFill>
                <a:latin typeface="宋体"/>
                <a:cs typeface="宋体"/>
              </a:rPr>
              <a:t>块</a:t>
            </a:r>
            <a:r>
              <a:rPr sz="2800" b="1" spc="-10" dirty="0">
                <a:solidFill>
                  <a:srgbClr val="FFFF99"/>
                </a:solidFill>
                <a:latin typeface="Times New Roman"/>
                <a:cs typeface="Times New Roman"/>
              </a:rPr>
              <a:t>B</a:t>
            </a:r>
            <a:r>
              <a:rPr sz="2775" b="1" spc="15" baseline="-25525" dirty="0">
                <a:solidFill>
                  <a:srgbClr val="FFFF99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中的语句</a:t>
            </a:r>
            <a:endParaRPr sz="2800">
              <a:latin typeface="宋体"/>
              <a:cs typeface="宋体"/>
            </a:endParaRPr>
          </a:p>
          <a:p>
            <a:pPr marL="1428115">
              <a:lnSpc>
                <a:spcPct val="100000"/>
              </a:lnSpc>
              <a:spcBef>
                <a:spcPts val="100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 =</a:t>
            </a:r>
            <a:r>
              <a:rPr sz="2800" b="1" spc="-85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J+1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97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pc="-5" dirty="0"/>
              <a:t>循环中没有</a:t>
            </a:r>
            <a:r>
              <a:rPr spc="-15" dirty="0"/>
              <a:t>对</a:t>
            </a:r>
            <a:r>
              <a:rPr dirty="0">
                <a:latin typeface="Times New Roman"/>
                <a:cs typeface="Times New Roman"/>
              </a:rPr>
              <a:t>J</a:t>
            </a:r>
            <a:r>
              <a:rPr spc="-5" dirty="0"/>
              <a:t>的定值点，</a:t>
            </a:r>
            <a:r>
              <a:rPr spc="-5" dirty="0">
                <a:latin typeface="Times New Roman"/>
                <a:cs typeface="Times New Roman"/>
              </a:rPr>
              <a:t>J </a:t>
            </a:r>
            <a:r>
              <a:rPr spc="-5" dirty="0"/>
              <a:t>的所有引用的定值点都在循 环外，所以它是循环的不变 运算，可提到循环的前置结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548640" y="5003038"/>
            <a:ext cx="18580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点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</a:t>
            </a:r>
            <a:r>
              <a:rPr sz="2775" b="1" spc="-7" baseline="-15015" dirty="0">
                <a:solidFill>
                  <a:srgbClr val="FFFF99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′中。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98</a:t>
            </a:r>
            <a:r>
              <a:rPr sz="14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45302" y="1346453"/>
            <a:ext cx="1455420" cy="603885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75285">
              <a:lnSpc>
                <a:spcPts val="2315"/>
              </a:lnSpc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400" b="1" spc="-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403860">
              <a:lnSpc>
                <a:spcPts val="2440"/>
              </a:lnSpc>
              <a:tabLst>
                <a:tab pos="675005" algn="l"/>
              </a:tabLst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	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4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68290" y="3306317"/>
            <a:ext cx="2646045" cy="882650"/>
          </a:xfrm>
          <a:custGeom>
            <a:avLst/>
            <a:gdLst/>
            <a:ahLst/>
            <a:cxnLst/>
            <a:rect l="l" t="t" r="r" b="b"/>
            <a:pathLst>
              <a:path w="2646045" h="882650">
                <a:moveTo>
                  <a:pt x="0" y="882396"/>
                </a:moveTo>
                <a:lnTo>
                  <a:pt x="2645664" y="882396"/>
                </a:lnTo>
                <a:lnTo>
                  <a:pt x="2645664" y="0"/>
                </a:lnTo>
                <a:lnTo>
                  <a:pt x="0" y="0"/>
                </a:lnTo>
                <a:lnTo>
                  <a:pt x="0" y="882396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97015" y="3245561"/>
            <a:ext cx="11188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 = B +</a:t>
            </a:r>
            <a:r>
              <a:rPr sz="22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66866" y="3584194"/>
            <a:ext cx="2074545" cy="617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065">
              <a:lnSpc>
                <a:spcPts val="2335"/>
              </a:lnSpc>
              <a:spcBef>
                <a:spcPts val="95"/>
              </a:spcBef>
            </a:pP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= C +</a:t>
            </a:r>
            <a:r>
              <a:rPr sz="2200" b="1" spc="-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ts val="2335"/>
              </a:lnSpc>
            </a:pP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if I =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100 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sz="2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175" b="1" spc="-7" baseline="-17241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175" baseline="-1724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30546" y="4943094"/>
            <a:ext cx="1931035" cy="882650"/>
          </a:xfrm>
          <a:custGeom>
            <a:avLst/>
            <a:gdLst/>
            <a:ahLst/>
            <a:cxnLst/>
            <a:rect l="l" t="t" r="r" b="b"/>
            <a:pathLst>
              <a:path w="1931034" h="882650">
                <a:moveTo>
                  <a:pt x="0" y="882395"/>
                </a:moveTo>
                <a:lnTo>
                  <a:pt x="1930907" y="882395"/>
                </a:lnTo>
                <a:lnTo>
                  <a:pt x="1930907" y="0"/>
                </a:lnTo>
                <a:lnTo>
                  <a:pt x="0" y="0"/>
                </a:lnTo>
                <a:lnTo>
                  <a:pt x="0" y="882395"/>
                </a:lnTo>
                <a:close/>
              </a:path>
            </a:pathLst>
          </a:custGeom>
          <a:ln w="38099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30546" y="4943094"/>
            <a:ext cx="1931035" cy="882650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380365">
              <a:lnSpc>
                <a:spcPts val="2685"/>
              </a:lnSpc>
              <a:spcBef>
                <a:spcPts val="19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24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330835">
              <a:lnSpc>
                <a:spcPts val="2685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1736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 baseline="-1736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95209" y="4943094"/>
            <a:ext cx="1216660" cy="882650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400" b="1" spc="-7" baseline="-1736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28816" y="2839973"/>
            <a:ext cx="114300" cy="469900"/>
          </a:xfrm>
          <a:custGeom>
            <a:avLst/>
            <a:gdLst/>
            <a:ahLst/>
            <a:cxnLst/>
            <a:rect l="l" t="t" r="r" b="b"/>
            <a:pathLst>
              <a:path w="114300" h="469900">
                <a:moveTo>
                  <a:pt x="38100" y="278891"/>
                </a:moveTo>
                <a:lnTo>
                  <a:pt x="0" y="278891"/>
                </a:lnTo>
                <a:lnTo>
                  <a:pt x="57150" y="469391"/>
                </a:lnTo>
                <a:lnTo>
                  <a:pt x="108584" y="297941"/>
                </a:lnTo>
                <a:lnTo>
                  <a:pt x="38100" y="297941"/>
                </a:lnTo>
                <a:lnTo>
                  <a:pt x="38100" y="278891"/>
                </a:lnTo>
                <a:close/>
              </a:path>
              <a:path w="114300" h="469900">
                <a:moveTo>
                  <a:pt x="76200" y="0"/>
                </a:moveTo>
                <a:lnTo>
                  <a:pt x="38100" y="0"/>
                </a:lnTo>
                <a:lnTo>
                  <a:pt x="38100" y="297941"/>
                </a:lnTo>
                <a:lnTo>
                  <a:pt x="76200" y="297941"/>
                </a:lnTo>
                <a:lnTo>
                  <a:pt x="76200" y="0"/>
                </a:lnTo>
                <a:close/>
              </a:path>
              <a:path w="114300" h="469900">
                <a:moveTo>
                  <a:pt x="114300" y="278891"/>
                </a:moveTo>
                <a:lnTo>
                  <a:pt x="76200" y="278891"/>
                </a:lnTo>
                <a:lnTo>
                  <a:pt x="76200" y="297941"/>
                </a:lnTo>
                <a:lnTo>
                  <a:pt x="108584" y="297941"/>
                </a:lnTo>
                <a:lnTo>
                  <a:pt x="114300" y="278891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67118" y="4174997"/>
            <a:ext cx="767715" cy="736600"/>
          </a:xfrm>
          <a:custGeom>
            <a:avLst/>
            <a:gdLst/>
            <a:ahLst/>
            <a:cxnLst/>
            <a:rect l="l" t="t" r="r" b="b"/>
            <a:pathLst>
              <a:path w="767715" h="736600">
                <a:moveTo>
                  <a:pt x="616802" y="618145"/>
                </a:moveTo>
                <a:lnTo>
                  <a:pt x="590423" y="645668"/>
                </a:lnTo>
                <a:lnTo>
                  <a:pt x="767587" y="736091"/>
                </a:lnTo>
                <a:lnTo>
                  <a:pt x="708200" y="631316"/>
                </a:lnTo>
                <a:lnTo>
                  <a:pt x="630554" y="631316"/>
                </a:lnTo>
                <a:lnTo>
                  <a:pt x="616802" y="618145"/>
                </a:lnTo>
                <a:close/>
              </a:path>
              <a:path w="767715" h="736600">
                <a:moveTo>
                  <a:pt x="643215" y="590587"/>
                </a:moveTo>
                <a:lnTo>
                  <a:pt x="616802" y="618145"/>
                </a:lnTo>
                <a:lnTo>
                  <a:pt x="630554" y="631316"/>
                </a:lnTo>
                <a:lnTo>
                  <a:pt x="656971" y="603757"/>
                </a:lnTo>
                <a:lnTo>
                  <a:pt x="643215" y="590587"/>
                </a:lnTo>
                <a:close/>
              </a:path>
              <a:path w="767715" h="736600">
                <a:moveTo>
                  <a:pt x="669543" y="563118"/>
                </a:moveTo>
                <a:lnTo>
                  <a:pt x="643215" y="590587"/>
                </a:lnTo>
                <a:lnTo>
                  <a:pt x="656971" y="603757"/>
                </a:lnTo>
                <a:lnTo>
                  <a:pt x="630554" y="631316"/>
                </a:lnTo>
                <a:lnTo>
                  <a:pt x="708200" y="631316"/>
                </a:lnTo>
                <a:lnTo>
                  <a:pt x="669543" y="563118"/>
                </a:lnTo>
                <a:close/>
              </a:path>
              <a:path w="767715" h="736600">
                <a:moveTo>
                  <a:pt x="26415" y="0"/>
                </a:moveTo>
                <a:lnTo>
                  <a:pt x="0" y="27431"/>
                </a:lnTo>
                <a:lnTo>
                  <a:pt x="616802" y="618145"/>
                </a:lnTo>
                <a:lnTo>
                  <a:pt x="643215" y="590587"/>
                </a:lnTo>
                <a:lnTo>
                  <a:pt x="26415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28563" y="4188714"/>
            <a:ext cx="114300" cy="722630"/>
          </a:xfrm>
          <a:custGeom>
            <a:avLst/>
            <a:gdLst/>
            <a:ahLst/>
            <a:cxnLst/>
            <a:rect l="l" t="t" r="r" b="b"/>
            <a:pathLst>
              <a:path w="114300" h="722629">
                <a:moveTo>
                  <a:pt x="38060" y="531918"/>
                </a:moveTo>
                <a:lnTo>
                  <a:pt x="0" y="532003"/>
                </a:lnTo>
                <a:lnTo>
                  <a:pt x="57531" y="722376"/>
                </a:lnTo>
                <a:lnTo>
                  <a:pt x="108589" y="550926"/>
                </a:lnTo>
                <a:lnTo>
                  <a:pt x="38100" y="550926"/>
                </a:lnTo>
                <a:lnTo>
                  <a:pt x="38060" y="531918"/>
                </a:lnTo>
                <a:close/>
              </a:path>
              <a:path w="114300" h="722629">
                <a:moveTo>
                  <a:pt x="76160" y="531833"/>
                </a:moveTo>
                <a:lnTo>
                  <a:pt x="38060" y="531918"/>
                </a:lnTo>
                <a:lnTo>
                  <a:pt x="38100" y="550926"/>
                </a:lnTo>
                <a:lnTo>
                  <a:pt x="76200" y="550926"/>
                </a:lnTo>
                <a:lnTo>
                  <a:pt x="76160" y="531833"/>
                </a:lnTo>
                <a:close/>
              </a:path>
              <a:path w="114300" h="722629">
                <a:moveTo>
                  <a:pt x="114300" y="531749"/>
                </a:moveTo>
                <a:lnTo>
                  <a:pt x="76160" y="531833"/>
                </a:lnTo>
                <a:lnTo>
                  <a:pt x="76200" y="550926"/>
                </a:lnTo>
                <a:lnTo>
                  <a:pt x="108589" y="550926"/>
                </a:lnTo>
                <a:lnTo>
                  <a:pt x="114300" y="531749"/>
                </a:lnTo>
                <a:close/>
              </a:path>
              <a:path w="114300" h="722629">
                <a:moveTo>
                  <a:pt x="75057" y="0"/>
                </a:moveTo>
                <a:lnTo>
                  <a:pt x="36957" y="0"/>
                </a:lnTo>
                <a:lnTo>
                  <a:pt x="38060" y="531918"/>
                </a:lnTo>
                <a:lnTo>
                  <a:pt x="76160" y="531833"/>
                </a:lnTo>
                <a:lnTo>
                  <a:pt x="75057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21173" y="2981705"/>
            <a:ext cx="1239520" cy="3060700"/>
          </a:xfrm>
          <a:custGeom>
            <a:avLst/>
            <a:gdLst/>
            <a:ahLst/>
            <a:cxnLst/>
            <a:rect l="l" t="t" r="r" b="b"/>
            <a:pathLst>
              <a:path w="1239520" h="3060700">
                <a:moveTo>
                  <a:pt x="1239012" y="2866136"/>
                </a:moveTo>
                <a:lnTo>
                  <a:pt x="1239012" y="3060192"/>
                </a:lnTo>
                <a:lnTo>
                  <a:pt x="0" y="3060192"/>
                </a:lnTo>
                <a:lnTo>
                  <a:pt x="0" y="0"/>
                </a:lnTo>
              </a:path>
            </a:pathLst>
          </a:custGeom>
          <a:ln w="38099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21173" y="2981705"/>
            <a:ext cx="1239520" cy="1905"/>
          </a:xfrm>
          <a:custGeom>
            <a:avLst/>
            <a:gdLst/>
            <a:ahLst/>
            <a:cxnLst/>
            <a:rect l="l" t="t" r="r" b="b"/>
            <a:pathLst>
              <a:path w="1239520" h="1905">
                <a:moveTo>
                  <a:pt x="1239012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845302" y="2334005"/>
            <a:ext cx="1720850" cy="501650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305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B = J +</a:t>
            </a:r>
            <a:r>
              <a:rPr sz="24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17564" y="992886"/>
            <a:ext cx="114300" cy="338455"/>
          </a:xfrm>
          <a:custGeom>
            <a:avLst/>
            <a:gdLst/>
            <a:ahLst/>
            <a:cxnLst/>
            <a:rect l="l" t="t" r="r" b="b"/>
            <a:pathLst>
              <a:path w="114300" h="338455">
                <a:moveTo>
                  <a:pt x="38100" y="224027"/>
                </a:moveTo>
                <a:lnTo>
                  <a:pt x="0" y="224027"/>
                </a:lnTo>
                <a:lnTo>
                  <a:pt x="57150" y="338327"/>
                </a:lnTo>
                <a:lnTo>
                  <a:pt x="104775" y="243077"/>
                </a:lnTo>
                <a:lnTo>
                  <a:pt x="38100" y="243077"/>
                </a:lnTo>
                <a:lnTo>
                  <a:pt x="38100" y="224027"/>
                </a:lnTo>
                <a:close/>
              </a:path>
              <a:path w="114300" h="338455">
                <a:moveTo>
                  <a:pt x="76200" y="0"/>
                </a:moveTo>
                <a:lnTo>
                  <a:pt x="38100" y="0"/>
                </a:lnTo>
                <a:lnTo>
                  <a:pt x="38100" y="243077"/>
                </a:lnTo>
                <a:lnTo>
                  <a:pt x="76200" y="243077"/>
                </a:lnTo>
                <a:lnTo>
                  <a:pt x="76200" y="0"/>
                </a:lnTo>
                <a:close/>
              </a:path>
              <a:path w="114300" h="338455">
                <a:moveTo>
                  <a:pt x="114300" y="224027"/>
                </a:moveTo>
                <a:lnTo>
                  <a:pt x="76200" y="224027"/>
                </a:lnTo>
                <a:lnTo>
                  <a:pt x="76200" y="243077"/>
                </a:lnTo>
                <a:lnTo>
                  <a:pt x="104775" y="243077"/>
                </a:lnTo>
                <a:lnTo>
                  <a:pt x="114300" y="224027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87796" y="2981705"/>
            <a:ext cx="114300" cy="338455"/>
          </a:xfrm>
          <a:custGeom>
            <a:avLst/>
            <a:gdLst/>
            <a:ahLst/>
            <a:cxnLst/>
            <a:rect l="l" t="t" r="r" b="b"/>
            <a:pathLst>
              <a:path w="114300" h="338454">
                <a:moveTo>
                  <a:pt x="38100" y="147828"/>
                </a:moveTo>
                <a:lnTo>
                  <a:pt x="0" y="147828"/>
                </a:lnTo>
                <a:lnTo>
                  <a:pt x="57150" y="338328"/>
                </a:lnTo>
                <a:lnTo>
                  <a:pt x="108585" y="166878"/>
                </a:lnTo>
                <a:lnTo>
                  <a:pt x="38100" y="166878"/>
                </a:lnTo>
                <a:lnTo>
                  <a:pt x="38100" y="147828"/>
                </a:lnTo>
                <a:close/>
              </a:path>
              <a:path w="114300" h="338454">
                <a:moveTo>
                  <a:pt x="76200" y="0"/>
                </a:moveTo>
                <a:lnTo>
                  <a:pt x="38100" y="0"/>
                </a:lnTo>
                <a:lnTo>
                  <a:pt x="38100" y="166878"/>
                </a:lnTo>
                <a:lnTo>
                  <a:pt x="76200" y="166878"/>
                </a:lnTo>
                <a:lnTo>
                  <a:pt x="76200" y="0"/>
                </a:lnTo>
                <a:close/>
              </a:path>
              <a:path w="114300" h="338454">
                <a:moveTo>
                  <a:pt x="114300" y="147828"/>
                </a:moveTo>
                <a:lnTo>
                  <a:pt x="76200" y="147828"/>
                </a:lnTo>
                <a:lnTo>
                  <a:pt x="76200" y="166878"/>
                </a:lnTo>
                <a:lnTo>
                  <a:pt x="108585" y="166878"/>
                </a:lnTo>
                <a:lnTo>
                  <a:pt x="114300" y="147828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854317" y="871804"/>
            <a:ext cx="381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17918" y="1945081"/>
            <a:ext cx="686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sz="2400" b="1" spc="-15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sz="2400" b="1" spc="-10" dirty="0">
                <a:solidFill>
                  <a:srgbClr val="FFFF00"/>
                </a:solidFill>
                <a:latin typeface="宋体"/>
                <a:cs typeface="宋体"/>
              </a:rPr>
              <a:t>′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70368" y="2841116"/>
            <a:ext cx="331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B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43167" y="4490973"/>
            <a:ext cx="380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417564" y="1991105"/>
            <a:ext cx="114300" cy="338455"/>
          </a:xfrm>
          <a:custGeom>
            <a:avLst/>
            <a:gdLst/>
            <a:ahLst/>
            <a:cxnLst/>
            <a:rect l="l" t="t" r="r" b="b"/>
            <a:pathLst>
              <a:path w="114300" h="338455">
                <a:moveTo>
                  <a:pt x="38100" y="224028"/>
                </a:moveTo>
                <a:lnTo>
                  <a:pt x="0" y="224028"/>
                </a:lnTo>
                <a:lnTo>
                  <a:pt x="57150" y="338328"/>
                </a:lnTo>
                <a:lnTo>
                  <a:pt x="104775" y="243078"/>
                </a:lnTo>
                <a:lnTo>
                  <a:pt x="38100" y="243078"/>
                </a:lnTo>
                <a:lnTo>
                  <a:pt x="38100" y="224028"/>
                </a:lnTo>
                <a:close/>
              </a:path>
              <a:path w="114300" h="338455">
                <a:moveTo>
                  <a:pt x="76200" y="0"/>
                </a:moveTo>
                <a:lnTo>
                  <a:pt x="38100" y="0"/>
                </a:lnTo>
                <a:lnTo>
                  <a:pt x="38100" y="243078"/>
                </a:lnTo>
                <a:lnTo>
                  <a:pt x="76200" y="243078"/>
                </a:lnTo>
                <a:lnTo>
                  <a:pt x="76200" y="0"/>
                </a:lnTo>
                <a:close/>
              </a:path>
              <a:path w="114300" h="338455">
                <a:moveTo>
                  <a:pt x="114300" y="224028"/>
                </a:moveTo>
                <a:lnTo>
                  <a:pt x="76200" y="224028"/>
                </a:lnTo>
                <a:lnTo>
                  <a:pt x="76200" y="243078"/>
                </a:lnTo>
                <a:lnTo>
                  <a:pt x="104775" y="243078"/>
                </a:lnTo>
                <a:lnTo>
                  <a:pt x="114300" y="224028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189721" y="4523943"/>
            <a:ext cx="355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41491" y="6611111"/>
            <a:ext cx="710565" cy="233679"/>
          </a:xfrm>
          <a:custGeom>
            <a:avLst/>
            <a:gdLst/>
            <a:ahLst/>
            <a:cxnLst/>
            <a:rect l="l" t="t" r="r" b="b"/>
            <a:pathLst>
              <a:path w="710565" h="233679">
                <a:moveTo>
                  <a:pt x="710184" y="0"/>
                </a:moveTo>
                <a:lnTo>
                  <a:pt x="0" y="0"/>
                </a:lnTo>
                <a:lnTo>
                  <a:pt x="0" y="233170"/>
                </a:lnTo>
                <a:lnTo>
                  <a:pt x="710184" y="233170"/>
                </a:lnTo>
                <a:lnTo>
                  <a:pt x="710184" y="204024"/>
                </a:lnTo>
                <a:lnTo>
                  <a:pt x="442468" y="204024"/>
                </a:lnTo>
                <a:lnTo>
                  <a:pt x="267588" y="116586"/>
                </a:lnTo>
                <a:lnTo>
                  <a:pt x="442468" y="29146"/>
                </a:lnTo>
                <a:lnTo>
                  <a:pt x="710184" y="29146"/>
                </a:lnTo>
                <a:lnTo>
                  <a:pt x="710184" y="0"/>
                </a:lnTo>
                <a:close/>
              </a:path>
              <a:path w="710565" h="233679">
                <a:moveTo>
                  <a:pt x="710184" y="29146"/>
                </a:moveTo>
                <a:lnTo>
                  <a:pt x="442468" y="29146"/>
                </a:lnTo>
                <a:lnTo>
                  <a:pt x="442468" y="204024"/>
                </a:lnTo>
                <a:lnTo>
                  <a:pt x="710184" y="204024"/>
                </a:lnTo>
                <a:lnTo>
                  <a:pt x="710184" y="29146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09080" y="6640258"/>
            <a:ext cx="175260" cy="175260"/>
          </a:xfrm>
          <a:custGeom>
            <a:avLst/>
            <a:gdLst/>
            <a:ahLst/>
            <a:cxnLst/>
            <a:rect l="l" t="t" r="r" b="b"/>
            <a:pathLst>
              <a:path w="175260" h="175259">
                <a:moveTo>
                  <a:pt x="174879" y="0"/>
                </a:moveTo>
                <a:lnTo>
                  <a:pt x="0" y="87439"/>
                </a:lnTo>
                <a:lnTo>
                  <a:pt x="174879" y="174877"/>
                </a:lnTo>
                <a:lnTo>
                  <a:pt x="174879" y="0"/>
                </a:lnTo>
                <a:close/>
              </a:path>
            </a:pathLst>
          </a:custGeom>
          <a:solidFill>
            <a:srgbClr val="85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004686" y="6619443"/>
            <a:ext cx="3854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5" dirty="0">
                <a:latin typeface="宋体"/>
                <a:cs typeface="宋体"/>
                <a:hlinkClick r:id="rId3" action="ppaction://hlinksldjump"/>
              </a:rPr>
              <a:t>查看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1949576" y="11378"/>
            <a:ext cx="18942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u="none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u="none" dirty="0">
                <a:latin typeface="Times New Roman"/>
                <a:cs typeface="Times New Roman"/>
              </a:rPr>
              <a:t>h8	</a:t>
            </a:r>
            <a:r>
              <a:rPr u="none" spc="5" dirty="0"/>
              <a:t>代码优化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10047" y="11378"/>
            <a:ext cx="23653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46729" y="2485085"/>
            <a:ext cx="3987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775" b="1" baseline="-16516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775" baseline="-16516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70838" y="1634489"/>
            <a:ext cx="1132840" cy="883919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535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A =</a:t>
            </a:r>
            <a:r>
              <a:rPr sz="2400" b="1" spc="-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254635">
              <a:lnSpc>
                <a:spcPct val="100000"/>
              </a:lnSpc>
              <a:spcBef>
                <a:spcPts val="45"/>
              </a:spcBef>
              <a:tabLst>
                <a:tab pos="525780" algn="l"/>
              </a:tabLst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I	=</a:t>
            </a:r>
            <a:r>
              <a:rPr sz="24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84910" y="2949701"/>
            <a:ext cx="2455545" cy="1315720"/>
          </a:xfrm>
          <a:custGeom>
            <a:avLst/>
            <a:gdLst/>
            <a:ahLst/>
            <a:cxnLst/>
            <a:rect l="l" t="t" r="r" b="b"/>
            <a:pathLst>
              <a:path w="2455545" h="1315720">
                <a:moveTo>
                  <a:pt x="0" y="1315212"/>
                </a:moveTo>
                <a:lnTo>
                  <a:pt x="2455164" y="1315212"/>
                </a:lnTo>
                <a:lnTo>
                  <a:pt x="2455164" y="0"/>
                </a:lnTo>
                <a:lnTo>
                  <a:pt x="0" y="0"/>
                </a:lnTo>
                <a:lnTo>
                  <a:pt x="0" y="1315212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184554" y="2940761"/>
            <a:ext cx="2480945" cy="190881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08305" marR="784860" indent="15240" algn="just">
              <a:lnSpc>
                <a:spcPct val="76200"/>
              </a:lnSpc>
              <a:spcBef>
                <a:spcPts val="785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B = J + 1 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= B +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  A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2400" b="1" spc="-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ts val="2775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if I =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100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sz="24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400" b="1" spc="-15" baseline="-1562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 baseline="-15625">
              <a:latin typeface="Times New Roman"/>
              <a:cs typeface="Times New Roman"/>
            </a:endParaRPr>
          </a:p>
          <a:p>
            <a:pPr marL="789940">
              <a:lnSpc>
                <a:spcPct val="100000"/>
              </a:lnSpc>
              <a:spcBef>
                <a:spcPts val="1900"/>
              </a:spcBef>
              <a:tabLst>
                <a:tab pos="2112645" algn="l"/>
              </a:tabLst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15625" dirty="0">
                <a:solidFill>
                  <a:srgbClr val="FFFFFF"/>
                </a:solidFill>
                <a:latin typeface="Times New Roman"/>
                <a:cs typeface="Times New Roman"/>
              </a:rPr>
              <a:t>3	</a:t>
            </a:r>
            <a:r>
              <a:rPr sz="3600" b="1" spc="-7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13888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 baseline="-13888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13053" y="4912614"/>
            <a:ext cx="1504315" cy="885825"/>
          </a:xfrm>
          <a:custGeom>
            <a:avLst/>
            <a:gdLst/>
            <a:ahLst/>
            <a:cxnLst/>
            <a:rect l="l" t="t" r="r" b="b"/>
            <a:pathLst>
              <a:path w="1504314" h="885825">
                <a:moveTo>
                  <a:pt x="0" y="885444"/>
                </a:moveTo>
                <a:lnTo>
                  <a:pt x="1504187" y="885444"/>
                </a:lnTo>
                <a:lnTo>
                  <a:pt x="1504187" y="0"/>
                </a:lnTo>
                <a:lnTo>
                  <a:pt x="0" y="0"/>
                </a:lnTo>
                <a:lnTo>
                  <a:pt x="0" y="88544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13053" y="4912614"/>
            <a:ext cx="1504315" cy="885825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199390">
              <a:lnSpc>
                <a:spcPts val="2755"/>
              </a:lnSpc>
              <a:spcBef>
                <a:spcPts val="244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24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213995">
              <a:lnSpc>
                <a:spcPts val="2750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sz="24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596133" y="4912614"/>
            <a:ext cx="1043940" cy="885825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26416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208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400" b="1" spc="-7" baseline="-1562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:…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92073" y="2702814"/>
            <a:ext cx="965200" cy="3310254"/>
          </a:xfrm>
          <a:custGeom>
            <a:avLst/>
            <a:gdLst/>
            <a:ahLst/>
            <a:cxnLst/>
            <a:rect l="l" t="t" r="r" b="b"/>
            <a:pathLst>
              <a:path w="965200" h="3310254">
                <a:moveTo>
                  <a:pt x="964692" y="3099854"/>
                </a:moveTo>
                <a:lnTo>
                  <a:pt x="964692" y="3310128"/>
                </a:lnTo>
                <a:lnTo>
                  <a:pt x="0" y="3310128"/>
                </a:lnTo>
                <a:lnTo>
                  <a:pt x="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92073" y="2702814"/>
            <a:ext cx="965200" cy="1905"/>
          </a:xfrm>
          <a:custGeom>
            <a:avLst/>
            <a:gdLst/>
            <a:ahLst/>
            <a:cxnLst/>
            <a:rect l="l" t="t" r="r" b="b"/>
            <a:pathLst>
              <a:path w="965200" h="1905">
                <a:moveTo>
                  <a:pt x="964692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179954" y="1169289"/>
            <a:ext cx="380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b="1" spc="-7" baseline="-1562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 baseline="-15625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908810" y="1192530"/>
            <a:ext cx="76200" cy="441959"/>
          </a:xfrm>
          <a:custGeom>
            <a:avLst/>
            <a:gdLst/>
            <a:ahLst/>
            <a:cxnLst/>
            <a:rect l="l" t="t" r="r" b="b"/>
            <a:pathLst>
              <a:path w="76200" h="441960">
                <a:moveTo>
                  <a:pt x="19050" y="327660"/>
                </a:moveTo>
                <a:lnTo>
                  <a:pt x="0" y="327660"/>
                </a:lnTo>
                <a:lnTo>
                  <a:pt x="38100" y="441960"/>
                </a:lnTo>
                <a:lnTo>
                  <a:pt x="69850" y="346710"/>
                </a:lnTo>
                <a:lnTo>
                  <a:pt x="19050" y="346710"/>
                </a:lnTo>
                <a:lnTo>
                  <a:pt x="19050" y="327660"/>
                </a:lnTo>
                <a:close/>
              </a:path>
              <a:path w="76200" h="441960">
                <a:moveTo>
                  <a:pt x="57150" y="0"/>
                </a:moveTo>
                <a:lnTo>
                  <a:pt x="19050" y="0"/>
                </a:lnTo>
                <a:lnTo>
                  <a:pt x="19050" y="346710"/>
                </a:lnTo>
                <a:lnTo>
                  <a:pt x="57150" y="346710"/>
                </a:lnTo>
                <a:lnTo>
                  <a:pt x="57150" y="0"/>
                </a:lnTo>
                <a:close/>
              </a:path>
              <a:path w="76200" h="441960">
                <a:moveTo>
                  <a:pt x="76200" y="327660"/>
                </a:moveTo>
                <a:lnTo>
                  <a:pt x="57150" y="327660"/>
                </a:lnTo>
                <a:lnTo>
                  <a:pt x="57150" y="346710"/>
                </a:lnTo>
                <a:lnTo>
                  <a:pt x="69850" y="346710"/>
                </a:lnTo>
                <a:lnTo>
                  <a:pt x="76200" y="32766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37766" y="2509266"/>
            <a:ext cx="76200" cy="440690"/>
          </a:xfrm>
          <a:custGeom>
            <a:avLst/>
            <a:gdLst/>
            <a:ahLst/>
            <a:cxnLst/>
            <a:rect l="l" t="t" r="r" b="b"/>
            <a:pathLst>
              <a:path w="76200" h="440689">
                <a:moveTo>
                  <a:pt x="19050" y="326136"/>
                </a:moveTo>
                <a:lnTo>
                  <a:pt x="0" y="326136"/>
                </a:lnTo>
                <a:lnTo>
                  <a:pt x="38100" y="440436"/>
                </a:lnTo>
                <a:lnTo>
                  <a:pt x="69850" y="345186"/>
                </a:lnTo>
                <a:lnTo>
                  <a:pt x="19050" y="345186"/>
                </a:lnTo>
                <a:lnTo>
                  <a:pt x="19050" y="326136"/>
                </a:lnTo>
                <a:close/>
              </a:path>
              <a:path w="76200" h="440689">
                <a:moveTo>
                  <a:pt x="57150" y="0"/>
                </a:moveTo>
                <a:lnTo>
                  <a:pt x="19050" y="0"/>
                </a:lnTo>
                <a:lnTo>
                  <a:pt x="19050" y="345186"/>
                </a:lnTo>
                <a:lnTo>
                  <a:pt x="57150" y="345186"/>
                </a:lnTo>
                <a:lnTo>
                  <a:pt x="57150" y="0"/>
                </a:lnTo>
                <a:close/>
              </a:path>
              <a:path w="76200" h="440689">
                <a:moveTo>
                  <a:pt x="76200" y="326136"/>
                </a:moveTo>
                <a:lnTo>
                  <a:pt x="57150" y="326136"/>
                </a:lnTo>
                <a:lnTo>
                  <a:pt x="57150" y="345186"/>
                </a:lnTo>
                <a:lnTo>
                  <a:pt x="69850" y="345186"/>
                </a:lnTo>
                <a:lnTo>
                  <a:pt x="76200" y="326136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462277" y="4264914"/>
            <a:ext cx="76200" cy="629920"/>
          </a:xfrm>
          <a:custGeom>
            <a:avLst/>
            <a:gdLst/>
            <a:ahLst/>
            <a:cxnLst/>
            <a:rect l="l" t="t" r="r" b="b"/>
            <a:pathLst>
              <a:path w="76200" h="629920">
                <a:moveTo>
                  <a:pt x="19050" y="515112"/>
                </a:moveTo>
                <a:lnTo>
                  <a:pt x="0" y="515112"/>
                </a:lnTo>
                <a:lnTo>
                  <a:pt x="38100" y="629412"/>
                </a:lnTo>
                <a:lnTo>
                  <a:pt x="69850" y="534162"/>
                </a:lnTo>
                <a:lnTo>
                  <a:pt x="19050" y="534162"/>
                </a:lnTo>
                <a:lnTo>
                  <a:pt x="19050" y="515112"/>
                </a:lnTo>
                <a:close/>
              </a:path>
              <a:path w="76200" h="629920">
                <a:moveTo>
                  <a:pt x="57150" y="0"/>
                </a:moveTo>
                <a:lnTo>
                  <a:pt x="19050" y="0"/>
                </a:lnTo>
                <a:lnTo>
                  <a:pt x="19050" y="534162"/>
                </a:lnTo>
                <a:lnTo>
                  <a:pt x="57150" y="534162"/>
                </a:lnTo>
                <a:lnTo>
                  <a:pt x="57150" y="0"/>
                </a:lnTo>
                <a:close/>
              </a:path>
              <a:path w="76200" h="629920">
                <a:moveTo>
                  <a:pt x="76200" y="515112"/>
                </a:moveTo>
                <a:lnTo>
                  <a:pt x="57150" y="515112"/>
                </a:lnTo>
                <a:lnTo>
                  <a:pt x="57150" y="534162"/>
                </a:lnTo>
                <a:lnTo>
                  <a:pt x="69850" y="534162"/>
                </a:lnTo>
                <a:lnTo>
                  <a:pt x="76200" y="515112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737104" y="4254627"/>
            <a:ext cx="433705" cy="658495"/>
          </a:xfrm>
          <a:custGeom>
            <a:avLst/>
            <a:gdLst/>
            <a:ahLst/>
            <a:cxnLst/>
            <a:rect l="l" t="t" r="r" b="b"/>
            <a:pathLst>
              <a:path w="433705" h="658495">
                <a:moveTo>
                  <a:pt x="355653" y="572195"/>
                </a:moveTo>
                <a:lnTo>
                  <a:pt x="339597" y="582549"/>
                </a:lnTo>
                <a:lnTo>
                  <a:pt x="433577" y="657987"/>
                </a:lnTo>
                <a:lnTo>
                  <a:pt x="415673" y="588264"/>
                </a:lnTo>
                <a:lnTo>
                  <a:pt x="366013" y="588264"/>
                </a:lnTo>
                <a:lnTo>
                  <a:pt x="355653" y="572195"/>
                </a:lnTo>
                <a:close/>
              </a:path>
              <a:path w="433705" h="658495">
                <a:moveTo>
                  <a:pt x="387685" y="551540"/>
                </a:moveTo>
                <a:lnTo>
                  <a:pt x="355653" y="572195"/>
                </a:lnTo>
                <a:lnTo>
                  <a:pt x="366013" y="588264"/>
                </a:lnTo>
                <a:lnTo>
                  <a:pt x="398018" y="567563"/>
                </a:lnTo>
                <a:lnTo>
                  <a:pt x="387685" y="551540"/>
                </a:lnTo>
                <a:close/>
              </a:path>
              <a:path w="433705" h="658495">
                <a:moveTo>
                  <a:pt x="403606" y="541274"/>
                </a:moveTo>
                <a:lnTo>
                  <a:pt x="387685" y="551540"/>
                </a:lnTo>
                <a:lnTo>
                  <a:pt x="398018" y="567563"/>
                </a:lnTo>
                <a:lnTo>
                  <a:pt x="366013" y="588264"/>
                </a:lnTo>
                <a:lnTo>
                  <a:pt x="415673" y="588264"/>
                </a:lnTo>
                <a:lnTo>
                  <a:pt x="403606" y="541274"/>
                </a:lnTo>
                <a:close/>
              </a:path>
              <a:path w="433705" h="658495">
                <a:moveTo>
                  <a:pt x="32003" y="0"/>
                </a:moveTo>
                <a:lnTo>
                  <a:pt x="0" y="20574"/>
                </a:lnTo>
                <a:lnTo>
                  <a:pt x="355653" y="572195"/>
                </a:lnTo>
                <a:lnTo>
                  <a:pt x="387685" y="551540"/>
                </a:lnTo>
                <a:lnTo>
                  <a:pt x="32003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483613" y="2708910"/>
            <a:ext cx="76200" cy="256540"/>
          </a:xfrm>
          <a:custGeom>
            <a:avLst/>
            <a:gdLst/>
            <a:ahLst/>
            <a:cxnLst/>
            <a:rect l="l" t="t" r="r" b="b"/>
            <a:pathLst>
              <a:path w="76200" h="256539">
                <a:moveTo>
                  <a:pt x="19050" y="141731"/>
                </a:moveTo>
                <a:lnTo>
                  <a:pt x="0" y="141731"/>
                </a:lnTo>
                <a:lnTo>
                  <a:pt x="38100" y="256031"/>
                </a:lnTo>
                <a:lnTo>
                  <a:pt x="69850" y="160781"/>
                </a:lnTo>
                <a:lnTo>
                  <a:pt x="19050" y="160781"/>
                </a:lnTo>
                <a:lnTo>
                  <a:pt x="19050" y="141731"/>
                </a:lnTo>
                <a:close/>
              </a:path>
              <a:path w="76200" h="256539">
                <a:moveTo>
                  <a:pt x="57150" y="0"/>
                </a:moveTo>
                <a:lnTo>
                  <a:pt x="19050" y="0"/>
                </a:lnTo>
                <a:lnTo>
                  <a:pt x="19050" y="160781"/>
                </a:lnTo>
                <a:lnTo>
                  <a:pt x="57150" y="160781"/>
                </a:lnTo>
                <a:lnTo>
                  <a:pt x="57150" y="0"/>
                </a:lnTo>
                <a:close/>
              </a:path>
              <a:path w="76200" h="256539">
                <a:moveTo>
                  <a:pt x="76200" y="141731"/>
                </a:moveTo>
                <a:lnTo>
                  <a:pt x="57150" y="141731"/>
                </a:lnTo>
                <a:lnTo>
                  <a:pt x="57150" y="160781"/>
                </a:lnTo>
                <a:lnTo>
                  <a:pt x="69850" y="160781"/>
                </a:lnTo>
                <a:lnTo>
                  <a:pt x="76200" y="141731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4240" y="429031"/>
            <a:ext cx="5305425" cy="2019935"/>
          </a:xfrm>
          <a:prstGeom prst="rect">
            <a:avLst/>
          </a:prstGeom>
        </p:spPr>
        <p:txBody>
          <a:bodyPr vert="horz" wrap="square" lIns="0" tIns="240029" rIns="0" bIns="0" rtlCol="0">
            <a:spAutoFit/>
          </a:bodyPr>
          <a:lstStyle/>
          <a:p>
            <a:pPr marL="280670" indent="-268605">
              <a:lnSpc>
                <a:spcPct val="100000"/>
              </a:lnSpc>
              <a:spcBef>
                <a:spcPts val="1889"/>
              </a:spcBef>
              <a:buClr>
                <a:srgbClr val="66FFFF"/>
              </a:buClr>
              <a:buSzPct val="108928"/>
              <a:buFont typeface="Wingdings"/>
              <a:buChar char=""/>
              <a:tabLst>
                <a:tab pos="281305" algn="l"/>
              </a:tabLst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代码外提算法的设计</a:t>
            </a:r>
            <a:endParaRPr sz="2800">
              <a:latin typeface="宋体"/>
              <a:cs typeface="宋体"/>
            </a:endParaRPr>
          </a:p>
          <a:p>
            <a:pPr marL="1369060" lvl="1" indent="-594995">
              <a:lnSpc>
                <a:spcPct val="100000"/>
              </a:lnSpc>
              <a:spcBef>
                <a:spcPts val="1789"/>
              </a:spcBef>
              <a:buFont typeface="Times New Roman"/>
              <a:buAutoNum type="arabicParenBoth"/>
              <a:tabLst>
                <a:tab pos="1369060" algn="l"/>
                <a:tab pos="1369695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查找循环中的不变运算；</a:t>
            </a:r>
            <a:endParaRPr sz="2800">
              <a:latin typeface="宋体"/>
              <a:cs typeface="宋体"/>
            </a:endParaRPr>
          </a:p>
          <a:p>
            <a:pPr marL="1369060" lvl="1" indent="-594995">
              <a:lnSpc>
                <a:spcPct val="100000"/>
              </a:lnSpc>
              <a:spcBef>
                <a:spcPts val="2039"/>
              </a:spcBef>
              <a:buFont typeface="Times New Roman"/>
              <a:buAutoNum type="arabicParenBoth"/>
              <a:tabLst>
                <a:tab pos="1369060" algn="l"/>
                <a:tab pos="1369695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实施代码外提；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51041" y="1311021"/>
            <a:ext cx="1177925" cy="1137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039"/>
              </a:spcBef>
            </a:pP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X2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142" y="2754017"/>
            <a:ext cx="8494395" cy="2519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1305" marR="2390775" indent="-281305">
              <a:lnSpc>
                <a:spcPct val="154800"/>
              </a:lnSpc>
              <a:spcBef>
                <a:spcPts val="95"/>
              </a:spcBef>
              <a:buClr>
                <a:srgbClr val="66FFFF"/>
              </a:buClr>
              <a:buSzPct val="108928"/>
              <a:buFont typeface="Wingdings"/>
              <a:buChar char=""/>
              <a:tabLst>
                <a:tab pos="281305" algn="l"/>
              </a:tabLst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8.3</a:t>
            </a:r>
            <a:r>
              <a:rPr sz="2800" b="1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rgbClr val="FFFF99"/>
                </a:solidFill>
                <a:latin typeface="宋体"/>
                <a:cs typeface="宋体"/>
              </a:rPr>
              <a:t>（</a:t>
            </a:r>
            <a:r>
              <a:rPr sz="2800" b="1" spc="-730" dirty="0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X1: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查找循环中不变运算） 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设有循环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  <a:p>
            <a:pPr marL="386715" marR="5080">
              <a:lnSpc>
                <a:spcPct val="136500"/>
              </a:lnSpc>
              <a:spcBef>
                <a:spcPts val="65"/>
              </a:spcBef>
            </a:pP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输入</a:t>
            </a:r>
            <a:r>
              <a:rPr sz="2800" b="1" spc="-15" dirty="0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sz="2800" b="1" spc="-735" dirty="0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循环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中的所有变量引用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点的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ud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链信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输出</a:t>
            </a:r>
            <a:r>
              <a:rPr sz="2800" b="1" spc="-15" dirty="0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sz="2800" b="1" spc="-700" dirty="0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标识了所有“不变运算”的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循环</a:t>
            </a: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49576" y="11378"/>
            <a:ext cx="56261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272790" algn="l"/>
                <a:tab pos="3780154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99</a:t>
            </a:fld>
            <a:r>
              <a:rPr sz="1400" b="1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047" y="448659"/>
            <a:ext cx="8556625" cy="5765165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1435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方法：</a:t>
            </a:r>
            <a:endParaRPr sz="2800">
              <a:latin typeface="宋体"/>
              <a:cs typeface="宋体"/>
            </a:endParaRPr>
          </a:p>
          <a:p>
            <a:pPr marL="874394" indent="-683260">
              <a:lnSpc>
                <a:spcPct val="100000"/>
              </a:lnSpc>
              <a:spcBef>
                <a:spcPts val="1340"/>
              </a:spcBef>
              <a:buClr>
                <a:srgbClr val="FFFF00"/>
              </a:buClr>
              <a:buFont typeface="Times New Roman"/>
              <a:buAutoNum type="arabicParenBoth"/>
              <a:tabLst>
                <a:tab pos="874394" algn="l"/>
                <a:tab pos="875030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查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看</a:t>
            </a: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中各基本块的每个语</a:t>
            </a:r>
            <a:r>
              <a:rPr sz="2800" b="1" spc="-25" dirty="0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endParaRPr sz="2800">
              <a:latin typeface="宋体"/>
              <a:cs typeface="宋体"/>
            </a:endParaRPr>
          </a:p>
          <a:p>
            <a:pPr marL="900430" marR="582295" indent="8890">
              <a:lnSpc>
                <a:spcPct val="130000"/>
              </a:lnSpc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的每个运算对象为常数或定值点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外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ud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链判断），将该语句标记为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不变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运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算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”；</a:t>
            </a:r>
            <a:endParaRPr sz="2800">
              <a:latin typeface="宋体"/>
              <a:cs typeface="宋体"/>
            </a:endParaRPr>
          </a:p>
          <a:p>
            <a:pPr marL="695325" marR="1247775" indent="-695325">
              <a:lnSpc>
                <a:spcPct val="130100"/>
              </a:lnSpc>
              <a:spcBef>
                <a:spcPts val="844"/>
              </a:spcBef>
              <a:buClr>
                <a:srgbClr val="FFFF00"/>
              </a:buClr>
              <a:buFont typeface="Times New Roman"/>
              <a:buAutoNum type="arabicParenBoth" startAt="2"/>
              <a:tabLst>
                <a:tab pos="695325" algn="l"/>
                <a:tab pos="695960" algn="l"/>
              </a:tabLst>
            </a:pP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重复第</a:t>
            </a:r>
            <a:r>
              <a:rPr sz="2800" b="1" dirty="0">
                <a:solidFill>
                  <a:srgbClr val="66FFFF"/>
                </a:solidFill>
                <a:latin typeface="宋体"/>
                <a:cs typeface="宋体"/>
              </a:rPr>
              <a:t>(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r>
              <a:rPr sz="2800" b="1" dirty="0">
                <a:solidFill>
                  <a:srgbClr val="66FFFF"/>
                </a:solidFill>
                <a:latin typeface="宋体"/>
                <a:cs typeface="宋体"/>
              </a:rPr>
              <a:t>)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步，直至没有新的语句被标记为  “不变运</a:t>
            </a:r>
            <a:r>
              <a:rPr sz="2800" b="1" dirty="0">
                <a:solidFill>
                  <a:srgbClr val="66FFFF"/>
                </a:solidFill>
                <a:latin typeface="宋体"/>
                <a:cs typeface="宋体"/>
              </a:rPr>
              <a:t>算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”为止；</a:t>
            </a:r>
            <a:endParaRPr sz="2800">
              <a:latin typeface="宋体"/>
              <a:cs typeface="宋体"/>
            </a:endParaRPr>
          </a:p>
          <a:p>
            <a:pPr marL="695325" marR="5080" indent="-695325">
              <a:lnSpc>
                <a:spcPct val="130000"/>
              </a:lnSpc>
              <a:buClr>
                <a:srgbClr val="FFFF00"/>
              </a:buClr>
              <a:buFont typeface="Times New Roman"/>
              <a:buAutoNum type="arabicParenBoth" startAt="2"/>
              <a:tabLst>
                <a:tab pos="695325" algn="l"/>
                <a:tab pos="695960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再依次查看未被标记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“不变运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句，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果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其运算对象为常数或定值点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外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，或</a:t>
            </a:r>
            <a:r>
              <a:rPr sz="2800" b="1" u="heavy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宋体"/>
                <a:cs typeface="宋体"/>
              </a:rPr>
              <a:t>只</a:t>
            </a:r>
            <a:r>
              <a:rPr sz="2800" b="1" u="heavy" spc="-1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宋体"/>
                <a:cs typeface="宋体"/>
              </a:rPr>
              <a:t>有一</a:t>
            </a:r>
            <a:r>
              <a:rPr sz="2800" b="1" u="heavy" spc="-1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宋体"/>
                <a:cs typeface="宋体"/>
              </a:rPr>
              <a:t>个</a:t>
            </a:r>
            <a:endParaRPr sz="2800">
              <a:latin typeface="宋体"/>
              <a:cs typeface="宋体"/>
            </a:endParaRPr>
          </a:p>
          <a:p>
            <a:pPr marL="732155" marR="137160">
              <a:lnSpc>
                <a:spcPct val="125400"/>
              </a:lnSpc>
              <a:spcBef>
                <a:spcPts val="31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到达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-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定值点，但该点上的语句已被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为“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不变 运算”，则将被查看的语句标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不变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运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sz="2800" b="1" spc="-2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49576" y="11378"/>
            <a:ext cx="18942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代码优化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100</a:t>
            </a:fld>
            <a:r>
              <a:rPr sz="1400" b="1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10047" y="11378"/>
            <a:ext cx="23653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442" y="568578"/>
            <a:ext cx="1657350" cy="5613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415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sz="3200" u="none" dirty="0">
                <a:solidFill>
                  <a:srgbClr val="FFFF00"/>
                </a:solidFill>
                <a:latin typeface="Times New Roman"/>
                <a:cs typeface="Times New Roman"/>
              </a:rPr>
              <a:t>8.4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042" y="1153515"/>
            <a:ext cx="8588375" cy="4697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56300"/>
              </a:lnSpc>
              <a:spcBef>
                <a:spcPts val="100"/>
              </a:spcBef>
              <a:tabLst>
                <a:tab pos="2188845" algn="l"/>
              </a:tabLst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输入</a:t>
            </a: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sz="3200" b="1" spc="-830" dirty="0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循环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ud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链信息和必经结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D(n</a:t>
            </a:r>
            <a:r>
              <a:rPr sz="3150" b="1" spc="-7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信息 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输出</a:t>
            </a:r>
            <a:r>
              <a:rPr sz="3200" b="1" spc="-10" dirty="0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sz="3200" b="1" spc="-810" dirty="0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L' ;	(</a:t>
            </a:r>
            <a:r>
              <a:rPr sz="32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加前置块，已经外提“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变运算”</a:t>
            </a:r>
            <a:endParaRPr sz="3200">
              <a:latin typeface="宋体"/>
              <a:cs typeface="宋体"/>
            </a:endParaRPr>
          </a:p>
          <a:p>
            <a:pPr marL="1256665">
              <a:lnSpc>
                <a:spcPct val="100000"/>
              </a:lnSpc>
              <a:spcBef>
                <a:spcPts val="115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后的循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环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L)</a:t>
            </a:r>
            <a:endParaRPr sz="3200">
              <a:latin typeface="Times New Roman"/>
              <a:cs typeface="Times New Roman"/>
            </a:endParaRPr>
          </a:p>
          <a:p>
            <a:pPr marL="259715">
              <a:lnSpc>
                <a:spcPct val="100000"/>
              </a:lnSpc>
              <a:spcBef>
                <a:spcPts val="1795"/>
              </a:spcBef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方法：</a:t>
            </a:r>
            <a:endParaRPr sz="3200">
              <a:latin typeface="宋体"/>
              <a:cs typeface="宋体"/>
            </a:endParaRPr>
          </a:p>
          <a:p>
            <a:pPr marL="1005840" indent="-574675">
              <a:lnSpc>
                <a:spcPct val="100000"/>
              </a:lnSpc>
              <a:spcBef>
                <a:spcPts val="925"/>
              </a:spcBef>
              <a:buClr>
                <a:srgbClr val="FFFF00"/>
              </a:buClr>
              <a:buFont typeface="Times New Roman"/>
              <a:buAutoNum type="arabicParenBoth"/>
              <a:tabLst>
                <a:tab pos="1006475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求出循环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中所有不变运算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32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(call</a:t>
            </a:r>
            <a:r>
              <a:rPr sz="3200" b="1" spc="-100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X1)</a:t>
            </a:r>
            <a:endParaRPr sz="3200">
              <a:latin typeface="Times New Roman"/>
              <a:cs typeface="Times New Roman"/>
            </a:endParaRPr>
          </a:p>
          <a:p>
            <a:pPr marL="1151890" indent="-676910">
              <a:lnSpc>
                <a:spcPct val="100000"/>
              </a:lnSpc>
              <a:spcBef>
                <a:spcPts val="1130"/>
              </a:spcBef>
              <a:buClr>
                <a:srgbClr val="FFFF00"/>
              </a:buClr>
              <a:buFont typeface="Times New Roman"/>
              <a:buAutoNum type="arabicParenBoth"/>
              <a:tabLst>
                <a:tab pos="1151890" algn="l"/>
                <a:tab pos="1152525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求出的每一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变运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endParaRPr sz="3200">
              <a:latin typeface="宋体"/>
              <a:cs typeface="宋体"/>
            </a:endParaRPr>
          </a:p>
          <a:p>
            <a:pPr marL="1187450">
              <a:lnSpc>
                <a:spcPct val="100000"/>
              </a:lnSpc>
              <a:spcBef>
                <a:spcPts val="580"/>
              </a:spcBef>
            </a:pP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S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A=B</a:t>
            </a:r>
            <a:r>
              <a:rPr sz="3200" b="1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op</a:t>
            </a:r>
            <a:r>
              <a:rPr sz="3200" b="1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sz="32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spc="610" dirty="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A=op</a:t>
            </a:r>
            <a:r>
              <a:rPr sz="3200" b="1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sz="32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spc="610" dirty="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A=B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49576" y="0"/>
            <a:ext cx="5626100" cy="1283970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  <a:tabLst>
                <a:tab pos="655955" algn="l"/>
                <a:tab pos="3272790" algn="l"/>
                <a:tab pos="3780154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  <a:p>
            <a:pPr marL="285750">
              <a:lnSpc>
                <a:spcPct val="100000"/>
              </a:lnSpc>
              <a:spcBef>
                <a:spcPts val="1820"/>
              </a:spcBef>
            </a:pPr>
            <a:r>
              <a:rPr sz="3200" b="1" spc="-10" dirty="0">
                <a:solidFill>
                  <a:srgbClr val="FFFF99"/>
                </a:solidFill>
                <a:latin typeface="宋体"/>
                <a:cs typeface="宋体"/>
              </a:rPr>
              <a:t>（</a:t>
            </a:r>
            <a:r>
              <a:rPr sz="3200" b="1" spc="-805" dirty="0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99"/>
                </a:solidFill>
                <a:latin typeface="Times New Roman"/>
                <a:cs typeface="Times New Roman"/>
              </a:rPr>
              <a:t>X2:</a:t>
            </a:r>
            <a:r>
              <a:rPr sz="3200" b="1" spc="-20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99"/>
                </a:solidFill>
                <a:latin typeface="宋体"/>
                <a:cs typeface="宋体"/>
              </a:rPr>
              <a:t>代码外提）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3399" y="5955203"/>
            <a:ext cx="533273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404"/>
              </a:lnSpc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检查是否满足如下条件之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101</a:t>
            </a:fld>
            <a:r>
              <a:rPr sz="1400" b="1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166861" y="6678574"/>
            <a:ext cx="8261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102</a:t>
            </a:r>
            <a:r>
              <a:rPr sz="1400" b="1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5440" y="634365"/>
            <a:ext cx="79279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none" dirty="0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r>
              <a:rPr sz="2800" u="none" dirty="0">
                <a:solidFill>
                  <a:srgbClr val="66FFFF"/>
                </a:solidFill>
                <a:latin typeface="Times New Roman"/>
                <a:cs typeface="Times New Roman"/>
              </a:rPr>
              <a:t>(i)</a:t>
            </a: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800" u="none" spc="-5" dirty="0">
                <a:solidFill>
                  <a:srgbClr val="FFFFFF"/>
                </a:solidFill>
                <a:latin typeface="宋体"/>
                <a:cs typeface="宋体"/>
              </a:rPr>
              <a:t>所在的结点是</a:t>
            </a:r>
            <a:r>
              <a:rPr sz="28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u="none" spc="-10" dirty="0">
                <a:solidFill>
                  <a:srgbClr val="FFFFFF"/>
                </a:solidFill>
                <a:latin typeface="宋体"/>
                <a:cs typeface="宋体"/>
              </a:rPr>
              <a:t>的所有出口</a:t>
            </a:r>
            <a:r>
              <a:rPr sz="2800" u="none" spc="5" dirty="0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sz="2800" u="none" spc="-10" dirty="0">
                <a:solidFill>
                  <a:srgbClr val="FFFFFF"/>
                </a:solidFill>
                <a:latin typeface="宋体"/>
                <a:cs typeface="宋体"/>
              </a:rPr>
              <a:t>点的</a:t>
            </a:r>
            <a:r>
              <a:rPr sz="2800" u="none" spc="5" dirty="0">
                <a:solidFill>
                  <a:srgbClr val="FFFFFF"/>
                </a:solidFill>
                <a:latin typeface="宋体"/>
                <a:cs typeface="宋体"/>
              </a:rPr>
              <a:t>必</a:t>
            </a:r>
            <a:r>
              <a:rPr sz="2800" u="none" spc="-10" dirty="0">
                <a:solidFill>
                  <a:srgbClr val="FFFFFF"/>
                </a:solidFill>
                <a:latin typeface="宋体"/>
                <a:cs typeface="宋体"/>
              </a:rPr>
              <a:t>经结</a:t>
            </a:r>
            <a:r>
              <a:rPr sz="2800" u="none" spc="5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800" u="none" spc="-1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0"/>
            <a:ext cx="9143238" cy="4533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1" y="434340"/>
            <a:ext cx="9143365" cy="38100"/>
          </a:xfrm>
          <a:custGeom>
            <a:avLst/>
            <a:gdLst/>
            <a:ahLst/>
            <a:cxnLst/>
            <a:rect l="l" t="t" r="r" b="b"/>
            <a:pathLst>
              <a:path w="9143365" h="38100">
                <a:moveTo>
                  <a:pt x="0" y="38100"/>
                </a:moveTo>
                <a:lnTo>
                  <a:pt x="9143238" y="38100"/>
                </a:lnTo>
                <a:lnTo>
                  <a:pt x="9143238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1" y="0"/>
            <a:ext cx="0" cy="453390"/>
          </a:xfrm>
          <a:custGeom>
            <a:avLst/>
            <a:gdLst/>
            <a:ahLst/>
            <a:cxnLst/>
            <a:rect l="l" t="t" r="r" b="b"/>
            <a:pathLst>
              <a:path h="453390">
                <a:moveTo>
                  <a:pt x="0" y="0"/>
                </a:moveTo>
                <a:lnTo>
                  <a:pt x="0" y="453389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40635" y="6545580"/>
            <a:ext cx="905510" cy="312420"/>
          </a:xfrm>
          <a:custGeom>
            <a:avLst/>
            <a:gdLst/>
            <a:ahLst/>
            <a:cxnLst/>
            <a:rect l="l" t="t" r="r" b="b"/>
            <a:pathLst>
              <a:path w="905510" h="312420">
                <a:moveTo>
                  <a:pt x="905256" y="0"/>
                </a:moveTo>
                <a:lnTo>
                  <a:pt x="0" y="0"/>
                </a:lnTo>
                <a:lnTo>
                  <a:pt x="0" y="312419"/>
                </a:lnTo>
                <a:lnTo>
                  <a:pt x="905256" y="312419"/>
                </a:lnTo>
                <a:lnTo>
                  <a:pt x="905256" y="273366"/>
                </a:lnTo>
                <a:lnTo>
                  <a:pt x="335406" y="273366"/>
                </a:lnTo>
                <a:lnTo>
                  <a:pt x="335406" y="39052"/>
                </a:lnTo>
                <a:lnTo>
                  <a:pt x="905256" y="39052"/>
                </a:lnTo>
                <a:lnTo>
                  <a:pt x="905256" y="0"/>
                </a:lnTo>
                <a:close/>
              </a:path>
              <a:path w="905510" h="312420">
                <a:moveTo>
                  <a:pt x="540512" y="39052"/>
                </a:moveTo>
                <a:lnTo>
                  <a:pt x="335406" y="39052"/>
                </a:lnTo>
                <a:lnTo>
                  <a:pt x="511175" y="156210"/>
                </a:lnTo>
                <a:lnTo>
                  <a:pt x="335406" y="273366"/>
                </a:lnTo>
                <a:lnTo>
                  <a:pt x="540512" y="273366"/>
                </a:lnTo>
                <a:lnTo>
                  <a:pt x="540512" y="39052"/>
                </a:lnTo>
                <a:close/>
              </a:path>
              <a:path w="905510" h="312420">
                <a:moveTo>
                  <a:pt x="905256" y="39052"/>
                </a:moveTo>
                <a:lnTo>
                  <a:pt x="569849" y="39052"/>
                </a:lnTo>
                <a:lnTo>
                  <a:pt x="569849" y="273366"/>
                </a:lnTo>
                <a:lnTo>
                  <a:pt x="905256" y="273366"/>
                </a:lnTo>
                <a:lnTo>
                  <a:pt x="905256" y="39052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49576" y="0"/>
            <a:ext cx="5626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272790" algn="l"/>
                <a:tab pos="3780154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spc="-5" dirty="0">
                <a:solidFill>
                  <a:srgbClr val="A15100"/>
                </a:solidFill>
                <a:latin typeface="华文新魏"/>
                <a:cs typeface="华文新魏"/>
              </a:rPr>
              <a:t>化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spc="-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化实施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76042" y="6584632"/>
            <a:ext cx="234442" cy="234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36620" y="6545580"/>
            <a:ext cx="906780" cy="312420"/>
          </a:xfrm>
          <a:custGeom>
            <a:avLst/>
            <a:gdLst/>
            <a:ahLst/>
            <a:cxnLst/>
            <a:rect l="l" t="t" r="r" b="b"/>
            <a:pathLst>
              <a:path w="906779" h="312420">
                <a:moveTo>
                  <a:pt x="906779" y="0"/>
                </a:moveTo>
                <a:lnTo>
                  <a:pt x="0" y="0"/>
                </a:lnTo>
                <a:lnTo>
                  <a:pt x="0" y="312419"/>
                </a:lnTo>
                <a:lnTo>
                  <a:pt x="906779" y="312419"/>
                </a:lnTo>
                <a:lnTo>
                  <a:pt x="906779" y="273366"/>
                </a:lnTo>
                <a:lnTo>
                  <a:pt x="336168" y="273366"/>
                </a:lnTo>
                <a:lnTo>
                  <a:pt x="336168" y="39052"/>
                </a:lnTo>
                <a:lnTo>
                  <a:pt x="906779" y="39052"/>
                </a:lnTo>
                <a:lnTo>
                  <a:pt x="906779" y="0"/>
                </a:lnTo>
                <a:close/>
              </a:path>
              <a:path w="906779" h="312420">
                <a:moveTo>
                  <a:pt x="541274" y="39052"/>
                </a:moveTo>
                <a:lnTo>
                  <a:pt x="336168" y="39052"/>
                </a:lnTo>
                <a:lnTo>
                  <a:pt x="511937" y="156210"/>
                </a:lnTo>
                <a:lnTo>
                  <a:pt x="336168" y="273366"/>
                </a:lnTo>
                <a:lnTo>
                  <a:pt x="541274" y="273366"/>
                </a:lnTo>
                <a:lnTo>
                  <a:pt x="541274" y="39052"/>
                </a:lnTo>
                <a:close/>
              </a:path>
              <a:path w="906779" h="312420">
                <a:moveTo>
                  <a:pt x="906779" y="39052"/>
                </a:moveTo>
                <a:lnTo>
                  <a:pt x="570483" y="39052"/>
                </a:lnTo>
                <a:lnTo>
                  <a:pt x="570483" y="273366"/>
                </a:lnTo>
                <a:lnTo>
                  <a:pt x="906779" y="273366"/>
                </a:lnTo>
                <a:lnTo>
                  <a:pt x="906779" y="39052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72789" y="6584632"/>
            <a:ext cx="234314" cy="234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217166" y="6593840"/>
            <a:ext cx="19748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935" algn="l"/>
              </a:tabLst>
            </a:pPr>
            <a:r>
              <a:rPr sz="1400" b="1" spc="5" dirty="0">
                <a:latin typeface="宋体"/>
                <a:cs typeface="宋体"/>
                <a:hlinkClick r:id="rId6" action="ppaction://hlinksldjump"/>
              </a:rPr>
              <a:t>举例</a:t>
            </a:r>
            <a:r>
              <a:rPr sz="1400" b="1" dirty="0">
                <a:latin typeface="Times New Roman"/>
                <a:cs typeface="Times New Roman"/>
                <a:hlinkClick r:id="rId6" action="ppaction://hlinksldjump"/>
              </a:rPr>
              <a:t>(</a:t>
            </a:r>
            <a:r>
              <a:rPr sz="1400" b="1" spc="-10" dirty="0">
                <a:latin typeface="Times New Roman"/>
                <a:cs typeface="Times New Roman"/>
                <a:hlinkClick r:id="rId6" action="ppaction://hlinksldjump"/>
              </a:rPr>
              <a:t>i</a:t>
            </a:r>
            <a:r>
              <a:rPr sz="1400" b="1" dirty="0">
                <a:latin typeface="Times New Roman"/>
                <a:cs typeface="Times New Roman"/>
                <a:hlinkClick r:id="rId6" action="ppaction://hlinksldjump"/>
              </a:rPr>
              <a:t>)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5" dirty="0">
                <a:latin typeface="宋体"/>
                <a:cs typeface="宋体"/>
                <a:hlinkClick r:id="rId7" action="ppaction://hlinksldjump"/>
              </a:rPr>
              <a:t>举例</a:t>
            </a:r>
            <a:r>
              <a:rPr sz="1400" b="1" dirty="0">
                <a:latin typeface="Times New Roman"/>
                <a:cs typeface="Times New Roman"/>
                <a:hlinkClick r:id="rId7" action="ppaction://hlinksldjump"/>
              </a:rPr>
              <a:t>(</a:t>
            </a:r>
            <a:r>
              <a:rPr sz="1400" b="1" spc="-10" dirty="0">
                <a:latin typeface="Times New Roman"/>
                <a:cs typeface="Times New Roman"/>
                <a:hlinkClick r:id="rId7" action="ppaction://hlinksldjump"/>
              </a:rPr>
              <a:t>ii</a:t>
            </a:r>
            <a:r>
              <a:rPr sz="1400" b="1" dirty="0">
                <a:latin typeface="Times New Roman"/>
                <a:cs typeface="Times New Roman"/>
                <a:hlinkClick r:id="rId7" action="ppaction://hlinksldjump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98135" y="6531864"/>
            <a:ext cx="905510" cy="314325"/>
          </a:xfrm>
          <a:custGeom>
            <a:avLst/>
            <a:gdLst/>
            <a:ahLst/>
            <a:cxnLst/>
            <a:rect l="l" t="t" r="r" b="b"/>
            <a:pathLst>
              <a:path w="905510" h="314325">
                <a:moveTo>
                  <a:pt x="905255" y="0"/>
                </a:moveTo>
                <a:lnTo>
                  <a:pt x="0" y="0"/>
                </a:lnTo>
                <a:lnTo>
                  <a:pt x="0" y="313942"/>
                </a:lnTo>
                <a:lnTo>
                  <a:pt x="905255" y="313942"/>
                </a:lnTo>
                <a:lnTo>
                  <a:pt x="905255" y="274700"/>
                </a:lnTo>
                <a:lnTo>
                  <a:pt x="334899" y="274700"/>
                </a:lnTo>
                <a:lnTo>
                  <a:pt x="334899" y="39242"/>
                </a:lnTo>
                <a:lnTo>
                  <a:pt x="905255" y="39242"/>
                </a:lnTo>
                <a:lnTo>
                  <a:pt x="905255" y="0"/>
                </a:lnTo>
                <a:close/>
              </a:path>
              <a:path w="905510" h="314325">
                <a:moveTo>
                  <a:pt x="540892" y="39242"/>
                </a:moveTo>
                <a:lnTo>
                  <a:pt x="334899" y="39242"/>
                </a:lnTo>
                <a:lnTo>
                  <a:pt x="511428" y="156971"/>
                </a:lnTo>
                <a:lnTo>
                  <a:pt x="334899" y="274700"/>
                </a:lnTo>
                <a:lnTo>
                  <a:pt x="540892" y="274700"/>
                </a:lnTo>
                <a:lnTo>
                  <a:pt x="540892" y="39242"/>
                </a:lnTo>
                <a:close/>
              </a:path>
              <a:path w="905510" h="314325">
                <a:moveTo>
                  <a:pt x="905255" y="39242"/>
                </a:moveTo>
                <a:lnTo>
                  <a:pt x="570356" y="39242"/>
                </a:lnTo>
                <a:lnTo>
                  <a:pt x="570356" y="274700"/>
                </a:lnTo>
                <a:lnTo>
                  <a:pt x="905255" y="274700"/>
                </a:lnTo>
                <a:lnTo>
                  <a:pt x="905255" y="39242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33034" y="6571106"/>
            <a:ext cx="235457" cy="2354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011292" y="6580733"/>
            <a:ext cx="6826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5" dirty="0">
                <a:latin typeface="宋体"/>
                <a:cs typeface="宋体"/>
                <a:hlinkClick r:id="rId8" action="ppaction://hlinksldjump"/>
              </a:rPr>
              <a:t>举例</a:t>
            </a:r>
            <a:r>
              <a:rPr sz="1400" b="1" spc="-15" dirty="0">
                <a:latin typeface="Times New Roman"/>
                <a:cs typeface="Times New Roman"/>
                <a:hlinkClick r:id="rId8" action="ppaction://hlinksldjump"/>
              </a:rPr>
              <a:t>(</a:t>
            </a:r>
            <a:r>
              <a:rPr sz="1400" b="1" spc="5" dirty="0">
                <a:latin typeface="幼圆"/>
                <a:cs typeface="幼圆"/>
                <a:hlinkClick r:id="rId8" action="ppaction://hlinksldjump"/>
              </a:rPr>
              <a:t>ⅲ</a:t>
            </a:r>
            <a:r>
              <a:rPr sz="1400" b="1" dirty="0">
                <a:latin typeface="Times New Roman"/>
                <a:cs typeface="Times New Roman"/>
                <a:hlinkClick r:id="rId8" action="ppaction://hlinksldjump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8338" y="1316812"/>
            <a:ext cx="8642350" cy="5070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42644" indent="-436880">
              <a:lnSpc>
                <a:spcPct val="100000"/>
              </a:lnSpc>
              <a:spcBef>
                <a:spcPts val="95"/>
              </a:spcBef>
              <a:buClr>
                <a:srgbClr val="66FFFF"/>
              </a:buClr>
              <a:buSzPct val="96428"/>
              <a:buAutoNum type="romanLcParenBoth" startAt="2"/>
              <a:tabLst>
                <a:tab pos="843280" algn="l"/>
              </a:tabLst>
            </a:pP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中其它地方未再定值；</a:t>
            </a:r>
            <a:endParaRPr sz="2800">
              <a:latin typeface="宋体"/>
              <a:cs typeface="宋体"/>
            </a:endParaRPr>
          </a:p>
          <a:p>
            <a:pPr marL="941705" indent="-535940">
              <a:lnSpc>
                <a:spcPct val="100000"/>
              </a:lnSpc>
              <a:spcBef>
                <a:spcPts val="2020"/>
              </a:spcBef>
              <a:buClr>
                <a:srgbClr val="66FFFF"/>
              </a:buClr>
              <a:buSzPct val="96428"/>
              <a:buAutoNum type="romanLcParenBoth" startAt="2"/>
              <a:tabLst>
                <a:tab pos="942340" algn="l"/>
              </a:tabLst>
            </a:pP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中所有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的引用点只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才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能到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达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69900" marR="5080" indent="-457834" algn="just">
              <a:lnSpc>
                <a:spcPct val="120000"/>
              </a:lnSpc>
              <a:spcBef>
                <a:spcPts val="605"/>
              </a:spcBef>
            </a:pPr>
            <a:r>
              <a:rPr sz="2800" b="1" spc="-15" dirty="0">
                <a:solidFill>
                  <a:srgbClr val="CC99FF"/>
                </a:solidFill>
                <a:latin typeface="宋体"/>
                <a:cs typeface="宋体"/>
              </a:rPr>
              <a:t>②</a:t>
            </a:r>
            <a:r>
              <a:rPr sz="2800" b="1" spc="-675" dirty="0">
                <a:solidFill>
                  <a:srgbClr val="CC99FF"/>
                </a:solidFill>
                <a:latin typeface="宋体"/>
                <a:cs typeface="宋体"/>
              </a:rPr>
              <a:t> </a:t>
            </a:r>
            <a:r>
              <a:rPr sz="2800" b="1" spc="8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100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90" dirty="0">
                <a:solidFill>
                  <a:srgbClr val="FFFFFF"/>
                </a:solidFill>
                <a:latin typeface="宋体"/>
                <a:cs typeface="宋体"/>
              </a:rPr>
              <a:t>离</a:t>
            </a:r>
            <a:r>
              <a:rPr sz="2800" b="1" spc="105" dirty="0">
                <a:solidFill>
                  <a:srgbClr val="FFFFFF"/>
                </a:solidFill>
                <a:latin typeface="宋体"/>
                <a:cs typeface="宋体"/>
              </a:rPr>
              <a:t>开</a:t>
            </a:r>
            <a:r>
              <a:rPr sz="2800" b="1" spc="8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90" dirty="0">
                <a:solidFill>
                  <a:srgbClr val="FFFFFF"/>
                </a:solidFill>
                <a:latin typeface="宋体"/>
                <a:cs typeface="宋体"/>
              </a:rPr>
              <a:t>后不</a:t>
            </a:r>
            <a:r>
              <a:rPr sz="2800" b="1" spc="100" dirty="0">
                <a:solidFill>
                  <a:srgbClr val="FFFFFF"/>
                </a:solidFill>
                <a:latin typeface="宋体"/>
                <a:cs typeface="宋体"/>
              </a:rPr>
              <a:t>再</a:t>
            </a:r>
            <a:r>
              <a:rPr sz="2800" b="1" spc="90" dirty="0">
                <a:solidFill>
                  <a:srgbClr val="FFFFFF"/>
                </a:solidFill>
                <a:latin typeface="宋体"/>
                <a:cs typeface="宋体"/>
              </a:rPr>
              <a:t>是活跃</a:t>
            </a:r>
            <a:r>
              <a:rPr sz="2800" b="1" spc="114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90" dirty="0">
                <a:solidFill>
                  <a:srgbClr val="FFFFFF"/>
                </a:solidFill>
                <a:latin typeface="宋体"/>
                <a:cs typeface="宋体"/>
              </a:rPr>
              <a:t>，且条</a:t>
            </a:r>
            <a:r>
              <a:rPr sz="2800" b="1" spc="105" dirty="0">
                <a:solidFill>
                  <a:srgbClr val="FFFFFF"/>
                </a:solidFill>
                <a:latin typeface="宋体"/>
                <a:cs typeface="宋体"/>
              </a:rPr>
              <a:t>件</a:t>
            </a:r>
            <a:r>
              <a:rPr sz="2800" b="1" spc="90" dirty="0">
                <a:solidFill>
                  <a:srgbClr val="FFFFFF"/>
                </a:solidFill>
                <a:latin typeface="宋体"/>
                <a:cs typeface="宋体"/>
              </a:rPr>
              <a:t>①的</a:t>
            </a:r>
            <a:r>
              <a:rPr sz="28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(ii)</a:t>
            </a:r>
            <a:r>
              <a:rPr sz="2800" b="1" spc="105" dirty="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sz="2800" b="1" spc="35" dirty="0">
                <a:solidFill>
                  <a:srgbClr val="FFFFFF"/>
                </a:solidFill>
                <a:latin typeface="Times New Roman"/>
                <a:cs typeface="Times New Roman"/>
              </a:rPr>
              <a:t>(iii)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成 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立。所</a:t>
            </a:r>
            <a:r>
              <a:rPr sz="2800" b="1" spc="15" dirty="0">
                <a:solidFill>
                  <a:srgbClr val="FFFFFF"/>
                </a:solidFill>
                <a:latin typeface="宋体"/>
                <a:cs typeface="宋体"/>
              </a:rPr>
              <a:t>指的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15" dirty="0">
                <a:solidFill>
                  <a:srgbClr val="FFFFFF"/>
                </a:solidFill>
                <a:latin typeface="宋体"/>
                <a:cs typeface="宋体"/>
              </a:rPr>
              <a:t>离</a:t>
            </a:r>
            <a:r>
              <a:rPr sz="2800" b="1" spc="10" dirty="0">
                <a:solidFill>
                  <a:srgbClr val="FFFFFF"/>
                </a:solidFill>
                <a:latin typeface="宋体"/>
                <a:cs typeface="宋体"/>
              </a:rPr>
              <a:t>开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sz="2800" b="1" spc="15" dirty="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再是活</a:t>
            </a:r>
            <a:r>
              <a:rPr sz="2800" b="1" spc="15" dirty="0">
                <a:solidFill>
                  <a:srgbClr val="FFFFFF"/>
                </a:solidFill>
                <a:latin typeface="宋体"/>
                <a:cs typeface="宋体"/>
              </a:rPr>
              <a:t>跃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的是</a:t>
            </a:r>
            <a:r>
              <a:rPr sz="2800" b="1" spc="25" dirty="0">
                <a:solidFill>
                  <a:srgbClr val="FFFFFF"/>
                </a:solidFill>
                <a:latin typeface="宋体"/>
                <a:cs typeface="宋体"/>
              </a:rPr>
              <a:t>指</a:t>
            </a:r>
            <a:r>
              <a:rPr sz="2800" b="1" spc="20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任何出口结点的出口处不是活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跃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 marR="6350" algn="just">
              <a:lnSpc>
                <a:spcPct val="120000"/>
              </a:lnSpc>
              <a:spcBef>
                <a:spcPts val="2155"/>
              </a:spcBef>
            </a:pP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(3)</a:t>
            </a:r>
            <a:r>
              <a:rPr sz="2800" b="1" spc="17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按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b="1" spc="-52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步找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的不变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运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算的顺</a:t>
            </a:r>
            <a:r>
              <a:rPr sz="2800" b="1" spc="20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依次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把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(2)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sz="2800" b="1" spc="40" dirty="0">
                <a:solidFill>
                  <a:srgbClr val="FFFFFF"/>
                </a:solidFill>
                <a:latin typeface="宋体"/>
                <a:cs typeface="宋体"/>
              </a:rPr>
              <a:t>条</a:t>
            </a:r>
            <a:r>
              <a:rPr sz="2800" b="1" spc="30" dirty="0">
                <a:solidFill>
                  <a:srgbClr val="FFFFFF"/>
                </a:solidFill>
                <a:latin typeface="宋体"/>
                <a:cs typeface="宋体"/>
              </a:rPr>
              <a:t>件</a:t>
            </a:r>
            <a:r>
              <a:rPr sz="2800" b="1" spc="40" dirty="0">
                <a:solidFill>
                  <a:srgbClr val="FFFFFF"/>
                </a:solidFill>
                <a:latin typeface="宋体"/>
                <a:cs typeface="宋体"/>
              </a:rPr>
              <a:t>之一的</a:t>
            </a:r>
            <a:r>
              <a:rPr sz="2800" b="1" spc="30" dirty="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sz="2800" b="1" spc="40" dirty="0">
                <a:solidFill>
                  <a:srgbClr val="FFFFFF"/>
                </a:solidFill>
                <a:latin typeface="宋体"/>
                <a:cs typeface="宋体"/>
              </a:rPr>
              <a:t>变运</a:t>
            </a:r>
            <a:r>
              <a:rPr sz="2800" b="1" spc="45" dirty="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sz="28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800" b="1" spc="45" dirty="0">
                <a:solidFill>
                  <a:srgbClr val="FFFFFF"/>
                </a:solidFill>
                <a:latin typeface="宋体"/>
                <a:cs typeface="宋体"/>
              </a:rPr>
              <a:t>外提</a:t>
            </a:r>
            <a:r>
              <a:rPr sz="2800" b="1" spc="30" dirty="0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sz="2800" b="1" spc="3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40" dirty="0">
                <a:solidFill>
                  <a:srgbClr val="FFFFFF"/>
                </a:solidFill>
                <a:latin typeface="宋体"/>
                <a:cs typeface="宋体"/>
              </a:rPr>
              <a:t>的前置</a:t>
            </a:r>
            <a:r>
              <a:rPr sz="2800" b="1" spc="25" dirty="0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sz="2800" b="1" spc="40" dirty="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sz="2800" b="1" spc="65" dirty="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sz="2800" b="1" spc="4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2800" b="1" spc="35" dirty="0">
                <a:solidFill>
                  <a:srgbClr val="FFFFFF"/>
                </a:solidFill>
                <a:latin typeface="宋体"/>
                <a:cs typeface="宋体"/>
              </a:rPr>
              <a:t>但</a:t>
            </a:r>
            <a:r>
              <a:rPr sz="2800" b="1" spc="40" dirty="0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sz="28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中 </a:t>
            </a:r>
            <a:r>
              <a:rPr sz="2800" b="1" spc="4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55" dirty="0">
                <a:solidFill>
                  <a:srgbClr val="FFFFFF"/>
                </a:solidFill>
                <a:latin typeface="宋体"/>
                <a:cs typeface="宋体"/>
              </a:rPr>
              <a:t>运</a:t>
            </a:r>
            <a:r>
              <a:rPr sz="2800" b="1" spc="40" dirty="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sz="2800" b="1" spc="55" dirty="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sz="2800" b="1" spc="45" dirty="0">
                <a:solidFill>
                  <a:srgbClr val="FFFFFF"/>
                </a:solidFill>
                <a:latin typeface="宋体"/>
                <a:cs typeface="宋体"/>
              </a:rPr>
              <a:t>象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8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b="1" spc="45" dirty="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800" b="1" spc="45" dirty="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sz="2800" b="1" spc="5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50" dirty="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sz="2800" b="1" spc="40" dirty="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sz="2800" b="1" spc="50" dirty="0">
                <a:solidFill>
                  <a:srgbClr val="FFFFFF"/>
                </a:solidFill>
                <a:latin typeface="宋体"/>
                <a:cs typeface="宋体"/>
              </a:rPr>
              <a:t>值的</a:t>
            </a:r>
            <a:r>
              <a:rPr sz="2800" b="1" spc="60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45" dirty="0">
                <a:solidFill>
                  <a:srgbClr val="FFFFFF"/>
                </a:solidFill>
                <a:latin typeface="宋体"/>
                <a:cs typeface="宋体"/>
              </a:rPr>
              <a:t>那</a:t>
            </a:r>
            <a:r>
              <a:rPr sz="2800" b="1" spc="55" dirty="0">
                <a:solidFill>
                  <a:srgbClr val="FFFFFF"/>
                </a:solidFill>
                <a:latin typeface="宋体"/>
                <a:cs typeface="宋体"/>
              </a:rPr>
              <a:t>么</a:t>
            </a:r>
            <a:r>
              <a:rPr sz="2800" b="1" spc="4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50" dirty="0">
                <a:solidFill>
                  <a:srgbClr val="FFFFFF"/>
                </a:solidFill>
                <a:latin typeface="宋体"/>
                <a:cs typeface="宋体"/>
              </a:rPr>
              <a:t>只</a:t>
            </a:r>
            <a:r>
              <a:rPr sz="2800" b="1" spc="40" dirty="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sz="2800" b="1" spc="50" dirty="0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sz="2800" b="1" spc="40" dirty="0">
                <a:solidFill>
                  <a:srgbClr val="FFFFFF"/>
                </a:solidFill>
                <a:latin typeface="宋体"/>
                <a:cs typeface="宋体"/>
              </a:rPr>
              <a:t>这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些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定值语句都提到前置结点中</a:t>
            </a:r>
            <a:r>
              <a:rPr sz="2800" b="1" spc="-25" dirty="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才可</a:t>
            </a:r>
            <a:r>
              <a:rPr sz="2800" b="1" spc="10" dirty="0">
                <a:solidFill>
                  <a:srgbClr val="FFFFFF"/>
                </a:solidFill>
                <a:latin typeface="宋体"/>
                <a:cs typeface="宋体"/>
              </a:rPr>
              <a:t>把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也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外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提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519671" y="6432803"/>
            <a:ext cx="1100455" cy="413384"/>
          </a:xfrm>
          <a:custGeom>
            <a:avLst/>
            <a:gdLst/>
            <a:ahLst/>
            <a:cxnLst/>
            <a:rect l="l" t="t" r="r" b="b"/>
            <a:pathLst>
              <a:path w="1100454" h="413384">
                <a:moveTo>
                  <a:pt x="1100327" y="0"/>
                </a:moveTo>
                <a:lnTo>
                  <a:pt x="0" y="0"/>
                </a:lnTo>
                <a:lnTo>
                  <a:pt x="0" y="413003"/>
                </a:lnTo>
                <a:lnTo>
                  <a:pt x="1100327" y="413003"/>
                </a:lnTo>
                <a:lnTo>
                  <a:pt x="1100327" y="361378"/>
                </a:lnTo>
                <a:lnTo>
                  <a:pt x="395224" y="361378"/>
                </a:lnTo>
                <a:lnTo>
                  <a:pt x="395224" y="51625"/>
                </a:lnTo>
                <a:lnTo>
                  <a:pt x="1100327" y="51625"/>
                </a:lnTo>
                <a:lnTo>
                  <a:pt x="1100327" y="0"/>
                </a:lnTo>
                <a:close/>
              </a:path>
              <a:path w="1100454" h="413384">
                <a:moveTo>
                  <a:pt x="704976" y="51625"/>
                </a:moveTo>
                <a:lnTo>
                  <a:pt x="433958" y="51625"/>
                </a:lnTo>
                <a:lnTo>
                  <a:pt x="433958" y="361378"/>
                </a:lnTo>
                <a:lnTo>
                  <a:pt x="704976" y="361378"/>
                </a:lnTo>
                <a:lnTo>
                  <a:pt x="472694" y="206502"/>
                </a:lnTo>
                <a:lnTo>
                  <a:pt x="704976" y="51625"/>
                </a:lnTo>
                <a:close/>
              </a:path>
              <a:path w="1100454" h="413384">
                <a:moveTo>
                  <a:pt x="1100327" y="51625"/>
                </a:moveTo>
                <a:lnTo>
                  <a:pt x="704976" y="51625"/>
                </a:lnTo>
                <a:lnTo>
                  <a:pt x="704976" y="361378"/>
                </a:lnTo>
                <a:lnTo>
                  <a:pt x="1100327" y="361378"/>
                </a:lnTo>
                <a:lnTo>
                  <a:pt x="1100327" y="51625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914895" y="6484429"/>
            <a:ext cx="309880" cy="309880"/>
          </a:xfrm>
          <a:custGeom>
            <a:avLst/>
            <a:gdLst/>
            <a:ahLst/>
            <a:cxnLst/>
            <a:rect l="l" t="t" r="r" b="b"/>
            <a:pathLst>
              <a:path w="309879" h="309879">
                <a:moveTo>
                  <a:pt x="309752" y="0"/>
                </a:moveTo>
                <a:lnTo>
                  <a:pt x="77470" y="154876"/>
                </a:lnTo>
                <a:lnTo>
                  <a:pt x="309752" y="309753"/>
                </a:lnTo>
                <a:lnTo>
                  <a:pt x="309752" y="0"/>
                </a:lnTo>
                <a:close/>
              </a:path>
              <a:path w="309879" h="309879">
                <a:moveTo>
                  <a:pt x="38734" y="0"/>
                </a:moveTo>
                <a:lnTo>
                  <a:pt x="0" y="0"/>
                </a:lnTo>
                <a:lnTo>
                  <a:pt x="0" y="309753"/>
                </a:lnTo>
                <a:lnTo>
                  <a:pt x="38734" y="309753"/>
                </a:lnTo>
                <a:lnTo>
                  <a:pt x="38734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789166" y="6530746"/>
            <a:ext cx="5664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10" dirty="0">
                <a:latin typeface="宋体"/>
                <a:cs typeface="宋体"/>
                <a:hlinkClick r:id="rId9" action="ppaction://hlinksldjump"/>
              </a:rPr>
              <a:t>下一页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1978" y="4188104"/>
            <a:ext cx="2427605" cy="113538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10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&lt;B4,B2&gt;</a:t>
            </a:r>
            <a:r>
              <a:rPr sz="2775" b="1" baseline="-21021" dirty="0">
                <a:solidFill>
                  <a:srgbClr val="FFFFFF"/>
                </a:solidFill>
                <a:latin typeface="Times New Roman"/>
                <a:cs typeface="Times New Roman"/>
              </a:rPr>
              <a:t>Loop</a:t>
            </a:r>
            <a:endParaRPr sz="2775" baseline="-21021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1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={ B2 ,B3 , B4</a:t>
            </a:r>
            <a:r>
              <a:rPr sz="2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36470" y="3518915"/>
            <a:ext cx="3771900" cy="114300"/>
          </a:xfrm>
          <a:custGeom>
            <a:avLst/>
            <a:gdLst/>
            <a:ahLst/>
            <a:cxnLst/>
            <a:rect l="l" t="t" r="r" b="b"/>
            <a:pathLst>
              <a:path w="3771900" h="114300">
                <a:moveTo>
                  <a:pt x="3657600" y="0"/>
                </a:moveTo>
                <a:lnTo>
                  <a:pt x="3657600" y="114300"/>
                </a:lnTo>
                <a:lnTo>
                  <a:pt x="3733800" y="76200"/>
                </a:lnTo>
                <a:lnTo>
                  <a:pt x="3676650" y="76200"/>
                </a:lnTo>
                <a:lnTo>
                  <a:pt x="3676650" y="38100"/>
                </a:lnTo>
                <a:lnTo>
                  <a:pt x="3733800" y="38100"/>
                </a:lnTo>
                <a:lnTo>
                  <a:pt x="3657600" y="0"/>
                </a:lnTo>
                <a:close/>
              </a:path>
              <a:path w="3771900" h="114300">
                <a:moveTo>
                  <a:pt x="36576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657600" y="76200"/>
                </a:lnTo>
                <a:lnTo>
                  <a:pt x="3657600" y="38100"/>
                </a:lnTo>
                <a:close/>
              </a:path>
              <a:path w="3771900" h="114300">
                <a:moveTo>
                  <a:pt x="3733800" y="38100"/>
                </a:moveTo>
                <a:lnTo>
                  <a:pt x="3676650" y="38100"/>
                </a:lnTo>
                <a:lnTo>
                  <a:pt x="3676650" y="76200"/>
                </a:lnTo>
                <a:lnTo>
                  <a:pt x="3733800" y="76200"/>
                </a:lnTo>
                <a:lnTo>
                  <a:pt x="3771900" y="57150"/>
                </a:lnTo>
                <a:lnTo>
                  <a:pt x="3733800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13170" y="3338321"/>
            <a:ext cx="2095500" cy="472440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3270"/>
              </a:lnSpc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不变运算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48661" y="934974"/>
            <a:ext cx="1239520" cy="472440"/>
          </a:xfrm>
          <a:custGeom>
            <a:avLst/>
            <a:gdLst/>
            <a:ahLst/>
            <a:cxnLst/>
            <a:rect l="l" t="t" r="r" b="b"/>
            <a:pathLst>
              <a:path w="1239520" h="472440">
                <a:moveTo>
                  <a:pt x="0" y="472439"/>
                </a:moveTo>
                <a:lnTo>
                  <a:pt x="1239012" y="472439"/>
                </a:lnTo>
                <a:lnTo>
                  <a:pt x="1239012" y="0"/>
                </a:lnTo>
                <a:lnTo>
                  <a:pt x="0" y="0"/>
                </a:lnTo>
                <a:lnTo>
                  <a:pt x="0" y="472439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86661" y="2192273"/>
            <a:ext cx="2915920" cy="439420"/>
          </a:xfrm>
          <a:custGeom>
            <a:avLst/>
            <a:gdLst/>
            <a:ahLst/>
            <a:cxnLst/>
            <a:rect l="l" t="t" r="r" b="b"/>
            <a:pathLst>
              <a:path w="2915920" h="439419">
                <a:moveTo>
                  <a:pt x="0" y="438912"/>
                </a:moveTo>
                <a:lnTo>
                  <a:pt x="2915412" y="438912"/>
                </a:lnTo>
                <a:lnTo>
                  <a:pt x="2915412" y="0"/>
                </a:lnTo>
                <a:lnTo>
                  <a:pt x="0" y="0"/>
                </a:lnTo>
                <a:lnTo>
                  <a:pt x="0" y="438912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40358" y="3303270"/>
            <a:ext cx="1556385" cy="893444"/>
          </a:xfrm>
          <a:custGeom>
            <a:avLst/>
            <a:gdLst/>
            <a:ahLst/>
            <a:cxnLst/>
            <a:rect l="l" t="t" r="r" b="b"/>
            <a:pathLst>
              <a:path w="1556385" h="893445">
                <a:moveTo>
                  <a:pt x="0" y="893063"/>
                </a:moveTo>
                <a:lnTo>
                  <a:pt x="1556004" y="893063"/>
                </a:lnTo>
                <a:lnTo>
                  <a:pt x="1556004" y="0"/>
                </a:lnTo>
                <a:lnTo>
                  <a:pt x="0" y="0"/>
                </a:lnTo>
                <a:lnTo>
                  <a:pt x="0" y="89306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48661" y="4839461"/>
            <a:ext cx="2915920" cy="826135"/>
          </a:xfrm>
          <a:custGeom>
            <a:avLst/>
            <a:gdLst/>
            <a:ahLst/>
            <a:cxnLst/>
            <a:rect l="l" t="t" r="r" b="b"/>
            <a:pathLst>
              <a:path w="2915920" h="826135">
                <a:moveTo>
                  <a:pt x="0" y="826007"/>
                </a:moveTo>
                <a:lnTo>
                  <a:pt x="2915412" y="826007"/>
                </a:lnTo>
                <a:lnTo>
                  <a:pt x="2915412" y="0"/>
                </a:lnTo>
                <a:lnTo>
                  <a:pt x="0" y="0"/>
                </a:lnTo>
                <a:lnTo>
                  <a:pt x="0" y="82600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19805" y="6252209"/>
            <a:ext cx="1239520" cy="474345"/>
          </a:xfrm>
          <a:custGeom>
            <a:avLst/>
            <a:gdLst/>
            <a:ahLst/>
            <a:cxnLst/>
            <a:rect l="l" t="t" r="r" b="b"/>
            <a:pathLst>
              <a:path w="1239520" h="474345">
                <a:moveTo>
                  <a:pt x="0" y="473963"/>
                </a:moveTo>
                <a:lnTo>
                  <a:pt x="1239012" y="473963"/>
                </a:lnTo>
                <a:lnTo>
                  <a:pt x="1239012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87064" y="6225641"/>
            <a:ext cx="535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=</a:t>
            </a:r>
            <a:r>
              <a:rPr sz="2800" b="1" spc="-70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63011" y="1407413"/>
            <a:ext cx="114300" cy="784860"/>
          </a:xfrm>
          <a:custGeom>
            <a:avLst/>
            <a:gdLst/>
            <a:ahLst/>
            <a:cxnLst/>
            <a:rect l="l" t="t" r="r" b="b"/>
            <a:pathLst>
              <a:path w="114300" h="784860">
                <a:moveTo>
                  <a:pt x="38100" y="670560"/>
                </a:moveTo>
                <a:lnTo>
                  <a:pt x="0" y="670560"/>
                </a:lnTo>
                <a:lnTo>
                  <a:pt x="57150" y="784860"/>
                </a:lnTo>
                <a:lnTo>
                  <a:pt x="104775" y="689610"/>
                </a:lnTo>
                <a:lnTo>
                  <a:pt x="38100" y="689610"/>
                </a:lnTo>
                <a:lnTo>
                  <a:pt x="38100" y="670560"/>
                </a:lnTo>
                <a:close/>
              </a:path>
              <a:path w="114300" h="784860">
                <a:moveTo>
                  <a:pt x="76200" y="0"/>
                </a:moveTo>
                <a:lnTo>
                  <a:pt x="38100" y="0"/>
                </a:lnTo>
                <a:lnTo>
                  <a:pt x="38100" y="689610"/>
                </a:lnTo>
                <a:lnTo>
                  <a:pt x="76200" y="689610"/>
                </a:lnTo>
                <a:lnTo>
                  <a:pt x="76200" y="0"/>
                </a:lnTo>
                <a:close/>
              </a:path>
              <a:path w="114300" h="784860">
                <a:moveTo>
                  <a:pt x="114300" y="670560"/>
                </a:moveTo>
                <a:lnTo>
                  <a:pt x="76200" y="670560"/>
                </a:lnTo>
                <a:lnTo>
                  <a:pt x="76200" y="689610"/>
                </a:lnTo>
                <a:lnTo>
                  <a:pt x="104775" y="689610"/>
                </a:lnTo>
                <a:lnTo>
                  <a:pt x="114300" y="6705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05761" y="2655697"/>
            <a:ext cx="360045" cy="647700"/>
          </a:xfrm>
          <a:custGeom>
            <a:avLst/>
            <a:gdLst/>
            <a:ahLst/>
            <a:cxnLst/>
            <a:rect l="l" t="t" r="r" b="b"/>
            <a:pathLst>
              <a:path w="360044" h="647700">
                <a:moveTo>
                  <a:pt x="3682" y="519811"/>
                </a:moveTo>
                <a:lnTo>
                  <a:pt x="0" y="647573"/>
                </a:lnTo>
                <a:lnTo>
                  <a:pt x="104393" y="573913"/>
                </a:lnTo>
                <a:lnTo>
                  <a:pt x="102029" y="572642"/>
                </a:lnTo>
                <a:lnTo>
                  <a:pt x="61849" y="572642"/>
                </a:lnTo>
                <a:lnTo>
                  <a:pt x="28320" y="554608"/>
                </a:lnTo>
                <a:lnTo>
                  <a:pt x="37307" y="537874"/>
                </a:lnTo>
                <a:lnTo>
                  <a:pt x="3682" y="519811"/>
                </a:lnTo>
                <a:close/>
              </a:path>
              <a:path w="360044" h="647700">
                <a:moveTo>
                  <a:pt x="37307" y="537874"/>
                </a:moveTo>
                <a:lnTo>
                  <a:pt x="28320" y="554608"/>
                </a:lnTo>
                <a:lnTo>
                  <a:pt x="61849" y="572642"/>
                </a:lnTo>
                <a:lnTo>
                  <a:pt x="70844" y="555890"/>
                </a:lnTo>
                <a:lnTo>
                  <a:pt x="37307" y="537874"/>
                </a:lnTo>
                <a:close/>
              </a:path>
              <a:path w="360044" h="647700">
                <a:moveTo>
                  <a:pt x="70844" y="555890"/>
                </a:moveTo>
                <a:lnTo>
                  <a:pt x="61849" y="572642"/>
                </a:lnTo>
                <a:lnTo>
                  <a:pt x="102029" y="572642"/>
                </a:lnTo>
                <a:lnTo>
                  <a:pt x="70844" y="555890"/>
                </a:lnTo>
                <a:close/>
              </a:path>
              <a:path w="360044" h="647700">
                <a:moveTo>
                  <a:pt x="326136" y="0"/>
                </a:moveTo>
                <a:lnTo>
                  <a:pt x="37307" y="537874"/>
                </a:lnTo>
                <a:lnTo>
                  <a:pt x="70844" y="555890"/>
                </a:lnTo>
                <a:lnTo>
                  <a:pt x="359663" y="18033"/>
                </a:lnTo>
                <a:lnTo>
                  <a:pt x="326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30523" y="2664714"/>
            <a:ext cx="114300" cy="2174875"/>
          </a:xfrm>
          <a:custGeom>
            <a:avLst/>
            <a:gdLst/>
            <a:ahLst/>
            <a:cxnLst/>
            <a:rect l="l" t="t" r="r" b="b"/>
            <a:pathLst>
              <a:path w="114300" h="2174875">
                <a:moveTo>
                  <a:pt x="38100" y="2060448"/>
                </a:moveTo>
                <a:lnTo>
                  <a:pt x="0" y="2060448"/>
                </a:lnTo>
                <a:lnTo>
                  <a:pt x="57150" y="2174748"/>
                </a:lnTo>
                <a:lnTo>
                  <a:pt x="104775" y="2079498"/>
                </a:lnTo>
                <a:lnTo>
                  <a:pt x="38100" y="2079498"/>
                </a:lnTo>
                <a:lnTo>
                  <a:pt x="38100" y="2060448"/>
                </a:lnTo>
                <a:close/>
              </a:path>
              <a:path w="114300" h="2174875">
                <a:moveTo>
                  <a:pt x="76200" y="0"/>
                </a:moveTo>
                <a:lnTo>
                  <a:pt x="38100" y="0"/>
                </a:lnTo>
                <a:lnTo>
                  <a:pt x="38100" y="2079498"/>
                </a:lnTo>
                <a:lnTo>
                  <a:pt x="76200" y="2079498"/>
                </a:lnTo>
                <a:lnTo>
                  <a:pt x="76200" y="0"/>
                </a:lnTo>
                <a:close/>
              </a:path>
              <a:path w="114300" h="2174875">
                <a:moveTo>
                  <a:pt x="114300" y="2060448"/>
                </a:moveTo>
                <a:lnTo>
                  <a:pt x="76200" y="2060448"/>
                </a:lnTo>
                <a:lnTo>
                  <a:pt x="76200" y="2079498"/>
                </a:lnTo>
                <a:lnTo>
                  <a:pt x="104775" y="2079498"/>
                </a:lnTo>
                <a:lnTo>
                  <a:pt x="114300" y="206044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06723" y="5665470"/>
            <a:ext cx="114300" cy="586740"/>
          </a:xfrm>
          <a:custGeom>
            <a:avLst/>
            <a:gdLst/>
            <a:ahLst/>
            <a:cxnLst/>
            <a:rect l="l" t="t" r="r" b="b"/>
            <a:pathLst>
              <a:path w="114300" h="586739">
                <a:moveTo>
                  <a:pt x="38100" y="472439"/>
                </a:moveTo>
                <a:lnTo>
                  <a:pt x="0" y="472439"/>
                </a:lnTo>
                <a:lnTo>
                  <a:pt x="57150" y="586739"/>
                </a:lnTo>
                <a:lnTo>
                  <a:pt x="104775" y="491489"/>
                </a:lnTo>
                <a:lnTo>
                  <a:pt x="38100" y="491489"/>
                </a:lnTo>
                <a:lnTo>
                  <a:pt x="38100" y="472439"/>
                </a:lnTo>
                <a:close/>
              </a:path>
              <a:path w="114300" h="586739">
                <a:moveTo>
                  <a:pt x="76200" y="0"/>
                </a:moveTo>
                <a:lnTo>
                  <a:pt x="38100" y="0"/>
                </a:lnTo>
                <a:lnTo>
                  <a:pt x="38100" y="491489"/>
                </a:lnTo>
                <a:lnTo>
                  <a:pt x="76200" y="491489"/>
                </a:lnTo>
                <a:lnTo>
                  <a:pt x="76200" y="0"/>
                </a:lnTo>
                <a:close/>
              </a:path>
              <a:path w="114300" h="586739">
                <a:moveTo>
                  <a:pt x="114300" y="472439"/>
                </a:moveTo>
                <a:lnTo>
                  <a:pt x="76200" y="472439"/>
                </a:lnTo>
                <a:lnTo>
                  <a:pt x="76200" y="491489"/>
                </a:lnTo>
                <a:lnTo>
                  <a:pt x="104775" y="491489"/>
                </a:lnTo>
                <a:lnTo>
                  <a:pt x="114300" y="47243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96391" y="1779663"/>
            <a:ext cx="1661160" cy="4203700"/>
          </a:xfrm>
          <a:custGeom>
            <a:avLst/>
            <a:gdLst/>
            <a:ahLst/>
            <a:cxnLst/>
            <a:rect l="l" t="t" r="r" b="b"/>
            <a:pathLst>
              <a:path w="1661160" h="4203700">
                <a:moveTo>
                  <a:pt x="1230274" y="4191000"/>
                </a:moveTo>
                <a:lnTo>
                  <a:pt x="1019073" y="4191000"/>
                </a:lnTo>
                <a:lnTo>
                  <a:pt x="1032789" y="4203700"/>
                </a:lnTo>
                <a:lnTo>
                  <a:pt x="1206906" y="4203700"/>
                </a:lnTo>
                <a:lnTo>
                  <a:pt x="1230274" y="4191000"/>
                </a:lnTo>
                <a:close/>
              </a:path>
              <a:path w="1661160" h="4203700">
                <a:moveTo>
                  <a:pt x="1336319" y="4178300"/>
                </a:moveTo>
                <a:lnTo>
                  <a:pt x="977544" y="4178300"/>
                </a:lnTo>
                <a:lnTo>
                  <a:pt x="994435" y="4191000"/>
                </a:lnTo>
                <a:lnTo>
                  <a:pt x="1315110" y="4191000"/>
                </a:lnTo>
                <a:lnTo>
                  <a:pt x="1336319" y="4178300"/>
                </a:lnTo>
                <a:close/>
              </a:path>
              <a:path w="1661160" h="4203700">
                <a:moveTo>
                  <a:pt x="1055268" y="4165600"/>
                </a:moveTo>
                <a:lnTo>
                  <a:pt x="947064" y="4165600"/>
                </a:lnTo>
                <a:lnTo>
                  <a:pt x="954049" y="4178300"/>
                </a:lnTo>
                <a:lnTo>
                  <a:pt x="1063142" y="4178300"/>
                </a:lnTo>
                <a:lnTo>
                  <a:pt x="1055268" y="4165600"/>
                </a:lnTo>
                <a:close/>
              </a:path>
              <a:path w="1661160" h="4203700">
                <a:moveTo>
                  <a:pt x="1060221" y="4165600"/>
                </a:moveTo>
                <a:lnTo>
                  <a:pt x="1055268" y="4165600"/>
                </a:lnTo>
                <a:lnTo>
                  <a:pt x="1063142" y="4178300"/>
                </a:lnTo>
                <a:lnTo>
                  <a:pt x="1060221" y="4165600"/>
                </a:lnTo>
                <a:close/>
              </a:path>
              <a:path w="1661160" h="4203700">
                <a:moveTo>
                  <a:pt x="1404518" y="4165600"/>
                </a:moveTo>
                <a:lnTo>
                  <a:pt x="1060221" y="4165600"/>
                </a:lnTo>
                <a:lnTo>
                  <a:pt x="1063142" y="4178300"/>
                </a:lnTo>
                <a:lnTo>
                  <a:pt x="1380642" y="4178300"/>
                </a:lnTo>
                <a:lnTo>
                  <a:pt x="1404518" y="4165600"/>
                </a:lnTo>
                <a:close/>
              </a:path>
              <a:path w="1661160" h="4203700">
                <a:moveTo>
                  <a:pt x="1024280" y="4152900"/>
                </a:moveTo>
                <a:lnTo>
                  <a:pt x="902995" y="4152900"/>
                </a:lnTo>
                <a:lnTo>
                  <a:pt x="907186" y="4165600"/>
                </a:lnTo>
                <a:lnTo>
                  <a:pt x="1032027" y="4165600"/>
                </a:lnTo>
                <a:lnTo>
                  <a:pt x="1024280" y="4152900"/>
                </a:lnTo>
                <a:close/>
              </a:path>
              <a:path w="1661160" h="4203700">
                <a:moveTo>
                  <a:pt x="1444015" y="4152900"/>
                </a:moveTo>
                <a:lnTo>
                  <a:pt x="1226972" y="4152900"/>
                </a:lnTo>
                <a:lnTo>
                  <a:pt x="1203858" y="4165600"/>
                </a:lnTo>
                <a:lnTo>
                  <a:pt x="1430172" y="4165600"/>
                </a:lnTo>
                <a:lnTo>
                  <a:pt x="1444015" y="4152900"/>
                </a:lnTo>
                <a:close/>
              </a:path>
              <a:path w="1661160" h="4203700">
                <a:moveTo>
                  <a:pt x="989863" y="4140200"/>
                </a:moveTo>
                <a:lnTo>
                  <a:pt x="867816" y="4140200"/>
                </a:lnTo>
                <a:lnTo>
                  <a:pt x="868578" y="4152900"/>
                </a:lnTo>
                <a:lnTo>
                  <a:pt x="1007389" y="4152900"/>
                </a:lnTo>
                <a:lnTo>
                  <a:pt x="989863" y="4140200"/>
                </a:lnTo>
                <a:close/>
              </a:path>
              <a:path w="1661160" h="4203700">
                <a:moveTo>
                  <a:pt x="1475003" y="4140200"/>
                </a:moveTo>
                <a:lnTo>
                  <a:pt x="1329588" y="4140200"/>
                </a:lnTo>
                <a:lnTo>
                  <a:pt x="1309522" y="4152900"/>
                </a:lnTo>
                <a:lnTo>
                  <a:pt x="1464335" y="4152900"/>
                </a:lnTo>
                <a:lnTo>
                  <a:pt x="1475003" y="4140200"/>
                </a:lnTo>
                <a:close/>
              </a:path>
              <a:path w="1661160" h="4203700">
                <a:moveTo>
                  <a:pt x="869213" y="4089400"/>
                </a:moveTo>
                <a:lnTo>
                  <a:pt x="818286" y="4089400"/>
                </a:lnTo>
                <a:lnTo>
                  <a:pt x="830732" y="4102100"/>
                </a:lnTo>
                <a:lnTo>
                  <a:pt x="840511" y="4114800"/>
                </a:lnTo>
                <a:lnTo>
                  <a:pt x="854354" y="4127500"/>
                </a:lnTo>
                <a:lnTo>
                  <a:pt x="859053" y="4140200"/>
                </a:lnTo>
                <a:lnTo>
                  <a:pt x="958875" y="4140200"/>
                </a:lnTo>
                <a:lnTo>
                  <a:pt x="949731" y="4127500"/>
                </a:lnTo>
                <a:lnTo>
                  <a:pt x="910742" y="4127500"/>
                </a:lnTo>
                <a:lnTo>
                  <a:pt x="900582" y="4114800"/>
                </a:lnTo>
                <a:lnTo>
                  <a:pt x="887882" y="4114800"/>
                </a:lnTo>
                <a:lnTo>
                  <a:pt x="883183" y="4102100"/>
                </a:lnTo>
                <a:lnTo>
                  <a:pt x="877087" y="4102100"/>
                </a:lnTo>
                <a:lnTo>
                  <a:pt x="869213" y="4089400"/>
                </a:lnTo>
                <a:close/>
              </a:path>
              <a:path w="1661160" h="4203700">
                <a:moveTo>
                  <a:pt x="1493672" y="4127500"/>
                </a:moveTo>
                <a:lnTo>
                  <a:pt x="1395628" y="4127500"/>
                </a:lnTo>
                <a:lnTo>
                  <a:pt x="1372260" y="4140200"/>
                </a:lnTo>
                <a:lnTo>
                  <a:pt x="1484782" y="4140200"/>
                </a:lnTo>
                <a:lnTo>
                  <a:pt x="1493672" y="4127500"/>
                </a:lnTo>
                <a:close/>
              </a:path>
              <a:path w="1661160" h="4203700">
                <a:moveTo>
                  <a:pt x="1509039" y="4114800"/>
                </a:moveTo>
                <a:lnTo>
                  <a:pt x="1448206" y="4114800"/>
                </a:lnTo>
                <a:lnTo>
                  <a:pt x="1420774" y="4127500"/>
                </a:lnTo>
                <a:lnTo>
                  <a:pt x="1501673" y="4127500"/>
                </a:lnTo>
                <a:lnTo>
                  <a:pt x="1509039" y="4114800"/>
                </a:lnTo>
                <a:close/>
              </a:path>
              <a:path w="1661160" h="4203700">
                <a:moveTo>
                  <a:pt x="1521485" y="4102100"/>
                </a:moveTo>
                <a:lnTo>
                  <a:pt x="1462176" y="4102100"/>
                </a:lnTo>
                <a:lnTo>
                  <a:pt x="1452651" y="4114800"/>
                </a:lnTo>
                <a:lnTo>
                  <a:pt x="1515389" y="4114800"/>
                </a:lnTo>
                <a:lnTo>
                  <a:pt x="1521485" y="4102100"/>
                </a:lnTo>
                <a:close/>
              </a:path>
              <a:path w="1661160" h="4203700">
                <a:moveTo>
                  <a:pt x="818286" y="4089400"/>
                </a:moveTo>
                <a:lnTo>
                  <a:pt x="816762" y="4089400"/>
                </a:lnTo>
                <a:lnTo>
                  <a:pt x="825779" y="4102100"/>
                </a:lnTo>
                <a:lnTo>
                  <a:pt x="818286" y="4089400"/>
                </a:lnTo>
                <a:close/>
              </a:path>
              <a:path w="1661160" h="4203700">
                <a:moveTo>
                  <a:pt x="1542694" y="4089400"/>
                </a:moveTo>
                <a:lnTo>
                  <a:pt x="1478813" y="4089400"/>
                </a:lnTo>
                <a:lnTo>
                  <a:pt x="1471066" y="4102100"/>
                </a:lnTo>
                <a:lnTo>
                  <a:pt x="1535455" y="4102100"/>
                </a:lnTo>
                <a:lnTo>
                  <a:pt x="1542694" y="4089400"/>
                </a:lnTo>
                <a:close/>
              </a:path>
              <a:path w="1661160" h="4203700">
                <a:moveTo>
                  <a:pt x="859053" y="4076700"/>
                </a:moveTo>
                <a:lnTo>
                  <a:pt x="783742" y="4076700"/>
                </a:lnTo>
                <a:lnTo>
                  <a:pt x="795553" y="4089400"/>
                </a:lnTo>
                <a:lnTo>
                  <a:pt x="864387" y="4089400"/>
                </a:lnTo>
                <a:lnTo>
                  <a:pt x="859053" y="4076700"/>
                </a:lnTo>
                <a:close/>
              </a:path>
              <a:path w="1661160" h="4203700">
                <a:moveTo>
                  <a:pt x="1556410" y="4076700"/>
                </a:moveTo>
                <a:lnTo>
                  <a:pt x="1492529" y="4076700"/>
                </a:lnTo>
                <a:lnTo>
                  <a:pt x="1485925" y="4089400"/>
                </a:lnTo>
                <a:lnTo>
                  <a:pt x="1552600" y="4089400"/>
                </a:lnTo>
                <a:lnTo>
                  <a:pt x="1556410" y="4076700"/>
                </a:lnTo>
                <a:close/>
              </a:path>
              <a:path w="1661160" h="4203700">
                <a:moveTo>
                  <a:pt x="829462" y="4051300"/>
                </a:moveTo>
                <a:lnTo>
                  <a:pt x="721893" y="4051300"/>
                </a:lnTo>
                <a:lnTo>
                  <a:pt x="734212" y="4064000"/>
                </a:lnTo>
                <a:lnTo>
                  <a:pt x="758977" y="4076700"/>
                </a:lnTo>
                <a:lnTo>
                  <a:pt x="852957" y="4076700"/>
                </a:lnTo>
                <a:lnTo>
                  <a:pt x="846353" y="4064000"/>
                </a:lnTo>
                <a:lnTo>
                  <a:pt x="838860" y="4064000"/>
                </a:lnTo>
                <a:lnTo>
                  <a:pt x="829462" y="4051300"/>
                </a:lnTo>
                <a:close/>
              </a:path>
              <a:path w="1661160" h="4203700">
                <a:moveTo>
                  <a:pt x="1587017" y="4064000"/>
                </a:moveTo>
                <a:lnTo>
                  <a:pt x="1511960" y="4064000"/>
                </a:lnTo>
                <a:lnTo>
                  <a:pt x="1498117" y="4076700"/>
                </a:lnTo>
                <a:lnTo>
                  <a:pt x="1577238" y="4076700"/>
                </a:lnTo>
                <a:lnTo>
                  <a:pt x="1587017" y="4064000"/>
                </a:lnTo>
                <a:close/>
              </a:path>
              <a:path w="1661160" h="4203700">
                <a:moveTo>
                  <a:pt x="1620418" y="4051300"/>
                </a:moveTo>
                <a:lnTo>
                  <a:pt x="1525041" y="4051300"/>
                </a:lnTo>
                <a:lnTo>
                  <a:pt x="1518818" y="4064000"/>
                </a:lnTo>
                <a:lnTo>
                  <a:pt x="1606575" y="4064000"/>
                </a:lnTo>
                <a:lnTo>
                  <a:pt x="1620418" y="4051300"/>
                </a:lnTo>
                <a:close/>
              </a:path>
              <a:path w="1661160" h="4203700">
                <a:moveTo>
                  <a:pt x="751484" y="4025900"/>
                </a:moveTo>
                <a:lnTo>
                  <a:pt x="687984" y="4025900"/>
                </a:lnTo>
                <a:lnTo>
                  <a:pt x="698652" y="4038600"/>
                </a:lnTo>
                <a:lnTo>
                  <a:pt x="709955" y="4051300"/>
                </a:lnTo>
                <a:lnTo>
                  <a:pt x="797585" y="4051300"/>
                </a:lnTo>
                <a:lnTo>
                  <a:pt x="751484" y="4025900"/>
                </a:lnTo>
                <a:close/>
              </a:path>
              <a:path w="1661160" h="4203700">
                <a:moveTo>
                  <a:pt x="1658772" y="3937000"/>
                </a:moveTo>
                <a:lnTo>
                  <a:pt x="1618894" y="3937000"/>
                </a:lnTo>
                <a:lnTo>
                  <a:pt x="1614322" y="3962400"/>
                </a:lnTo>
                <a:lnTo>
                  <a:pt x="1611528" y="3962400"/>
                </a:lnTo>
                <a:lnTo>
                  <a:pt x="1606067" y="3987800"/>
                </a:lnTo>
                <a:lnTo>
                  <a:pt x="1600352" y="4000500"/>
                </a:lnTo>
                <a:lnTo>
                  <a:pt x="1594891" y="4025900"/>
                </a:lnTo>
                <a:lnTo>
                  <a:pt x="1601749" y="4025900"/>
                </a:lnTo>
                <a:lnTo>
                  <a:pt x="1590065" y="4038600"/>
                </a:lnTo>
                <a:lnTo>
                  <a:pt x="1548155" y="4038600"/>
                </a:lnTo>
                <a:lnTo>
                  <a:pt x="1541805" y="4051300"/>
                </a:lnTo>
                <a:lnTo>
                  <a:pt x="1626514" y="4051300"/>
                </a:lnTo>
                <a:lnTo>
                  <a:pt x="1628800" y="4038600"/>
                </a:lnTo>
                <a:lnTo>
                  <a:pt x="1631213" y="4025900"/>
                </a:lnTo>
                <a:lnTo>
                  <a:pt x="1636801" y="4013200"/>
                </a:lnTo>
                <a:lnTo>
                  <a:pt x="1642516" y="4000500"/>
                </a:lnTo>
                <a:lnTo>
                  <a:pt x="1653184" y="3962400"/>
                </a:lnTo>
                <a:lnTo>
                  <a:pt x="1655216" y="3949700"/>
                </a:lnTo>
                <a:lnTo>
                  <a:pt x="1657121" y="3949700"/>
                </a:lnTo>
                <a:lnTo>
                  <a:pt x="1658772" y="3937000"/>
                </a:lnTo>
                <a:close/>
              </a:path>
              <a:path w="1661160" h="4203700">
                <a:moveTo>
                  <a:pt x="1592351" y="4025900"/>
                </a:moveTo>
                <a:lnTo>
                  <a:pt x="1579905" y="4025900"/>
                </a:lnTo>
                <a:lnTo>
                  <a:pt x="1574190" y="4038600"/>
                </a:lnTo>
                <a:lnTo>
                  <a:pt x="1590065" y="4038600"/>
                </a:lnTo>
                <a:lnTo>
                  <a:pt x="1592351" y="4025900"/>
                </a:lnTo>
                <a:close/>
              </a:path>
              <a:path w="1661160" h="4203700">
                <a:moveTo>
                  <a:pt x="1601749" y="4025900"/>
                </a:moveTo>
                <a:lnTo>
                  <a:pt x="1592351" y="4025900"/>
                </a:lnTo>
                <a:lnTo>
                  <a:pt x="1590065" y="4038600"/>
                </a:lnTo>
                <a:lnTo>
                  <a:pt x="1601749" y="4025900"/>
                </a:lnTo>
                <a:close/>
              </a:path>
              <a:path w="1661160" h="4203700">
                <a:moveTo>
                  <a:pt x="730783" y="4013200"/>
                </a:moveTo>
                <a:lnTo>
                  <a:pt x="670966" y="4013200"/>
                </a:lnTo>
                <a:lnTo>
                  <a:pt x="678459" y="4025900"/>
                </a:lnTo>
                <a:lnTo>
                  <a:pt x="740816" y="4025900"/>
                </a:lnTo>
                <a:lnTo>
                  <a:pt x="730783" y="4013200"/>
                </a:lnTo>
                <a:close/>
              </a:path>
              <a:path w="1661160" h="4203700">
                <a:moveTo>
                  <a:pt x="713892" y="4000500"/>
                </a:moveTo>
                <a:lnTo>
                  <a:pt x="664616" y="4000500"/>
                </a:lnTo>
                <a:lnTo>
                  <a:pt x="670331" y="4013200"/>
                </a:lnTo>
                <a:lnTo>
                  <a:pt x="721766" y="4013200"/>
                </a:lnTo>
                <a:lnTo>
                  <a:pt x="713892" y="4000500"/>
                </a:lnTo>
                <a:close/>
              </a:path>
              <a:path w="1661160" h="4203700">
                <a:moveTo>
                  <a:pt x="660933" y="3860800"/>
                </a:moveTo>
                <a:lnTo>
                  <a:pt x="618388" y="3860800"/>
                </a:lnTo>
                <a:lnTo>
                  <a:pt x="622579" y="3873500"/>
                </a:lnTo>
                <a:lnTo>
                  <a:pt x="626389" y="3886200"/>
                </a:lnTo>
                <a:lnTo>
                  <a:pt x="632866" y="3898900"/>
                </a:lnTo>
                <a:lnTo>
                  <a:pt x="638454" y="3911600"/>
                </a:lnTo>
                <a:lnTo>
                  <a:pt x="641121" y="3924300"/>
                </a:lnTo>
                <a:lnTo>
                  <a:pt x="644042" y="3937000"/>
                </a:lnTo>
                <a:lnTo>
                  <a:pt x="650646" y="3962400"/>
                </a:lnTo>
                <a:lnTo>
                  <a:pt x="654456" y="3975100"/>
                </a:lnTo>
                <a:lnTo>
                  <a:pt x="658901" y="3987800"/>
                </a:lnTo>
                <a:lnTo>
                  <a:pt x="663092" y="4000500"/>
                </a:lnTo>
                <a:lnTo>
                  <a:pt x="707288" y="4000500"/>
                </a:lnTo>
                <a:lnTo>
                  <a:pt x="700430" y="3987800"/>
                </a:lnTo>
                <a:lnTo>
                  <a:pt x="698398" y="3987800"/>
                </a:lnTo>
                <a:lnTo>
                  <a:pt x="695350" y="3975100"/>
                </a:lnTo>
                <a:lnTo>
                  <a:pt x="691159" y="3962400"/>
                </a:lnTo>
                <a:lnTo>
                  <a:pt x="687349" y="3949700"/>
                </a:lnTo>
                <a:lnTo>
                  <a:pt x="684047" y="3937000"/>
                </a:lnTo>
                <a:lnTo>
                  <a:pt x="680872" y="3924300"/>
                </a:lnTo>
                <a:lnTo>
                  <a:pt x="674776" y="3911600"/>
                </a:lnTo>
                <a:lnTo>
                  <a:pt x="668426" y="3886200"/>
                </a:lnTo>
                <a:lnTo>
                  <a:pt x="660933" y="3860800"/>
                </a:lnTo>
                <a:close/>
              </a:path>
              <a:path w="1661160" h="4203700">
                <a:moveTo>
                  <a:pt x="1624736" y="3924300"/>
                </a:moveTo>
                <a:lnTo>
                  <a:pt x="1622450" y="3924300"/>
                </a:lnTo>
                <a:lnTo>
                  <a:pt x="1620799" y="3937000"/>
                </a:lnTo>
                <a:lnTo>
                  <a:pt x="1660804" y="3937000"/>
                </a:lnTo>
                <a:lnTo>
                  <a:pt x="1624736" y="3924300"/>
                </a:lnTo>
                <a:close/>
              </a:path>
              <a:path w="1661160" h="4203700">
                <a:moveTo>
                  <a:pt x="467842" y="3556000"/>
                </a:moveTo>
                <a:lnTo>
                  <a:pt x="413626" y="3556000"/>
                </a:lnTo>
                <a:lnTo>
                  <a:pt x="427431" y="3568700"/>
                </a:lnTo>
                <a:lnTo>
                  <a:pt x="433247" y="3581400"/>
                </a:lnTo>
                <a:lnTo>
                  <a:pt x="437972" y="3581400"/>
                </a:lnTo>
                <a:lnTo>
                  <a:pt x="456399" y="3606800"/>
                </a:lnTo>
                <a:lnTo>
                  <a:pt x="474116" y="3632200"/>
                </a:lnTo>
                <a:lnTo>
                  <a:pt x="490372" y="3670300"/>
                </a:lnTo>
                <a:lnTo>
                  <a:pt x="504850" y="3695700"/>
                </a:lnTo>
                <a:lnTo>
                  <a:pt x="512597" y="3708400"/>
                </a:lnTo>
                <a:lnTo>
                  <a:pt x="520471" y="3733800"/>
                </a:lnTo>
                <a:lnTo>
                  <a:pt x="529107" y="3746500"/>
                </a:lnTo>
                <a:lnTo>
                  <a:pt x="539648" y="3771900"/>
                </a:lnTo>
                <a:lnTo>
                  <a:pt x="546633" y="3784600"/>
                </a:lnTo>
                <a:lnTo>
                  <a:pt x="553745" y="3784600"/>
                </a:lnTo>
                <a:lnTo>
                  <a:pt x="568223" y="3797300"/>
                </a:lnTo>
                <a:lnTo>
                  <a:pt x="582066" y="3810000"/>
                </a:lnTo>
                <a:lnTo>
                  <a:pt x="593877" y="3835400"/>
                </a:lnTo>
                <a:lnTo>
                  <a:pt x="600989" y="3835400"/>
                </a:lnTo>
                <a:lnTo>
                  <a:pt x="607593" y="3848100"/>
                </a:lnTo>
                <a:lnTo>
                  <a:pt x="613308" y="3860800"/>
                </a:lnTo>
                <a:lnTo>
                  <a:pt x="656488" y="3860800"/>
                </a:lnTo>
                <a:lnTo>
                  <a:pt x="651281" y="3848100"/>
                </a:lnTo>
                <a:lnTo>
                  <a:pt x="645439" y="3835400"/>
                </a:lnTo>
                <a:lnTo>
                  <a:pt x="638835" y="3822700"/>
                </a:lnTo>
                <a:lnTo>
                  <a:pt x="631342" y="3810000"/>
                </a:lnTo>
                <a:lnTo>
                  <a:pt x="622198" y="3810000"/>
                </a:lnTo>
                <a:lnTo>
                  <a:pt x="608609" y="3784600"/>
                </a:lnTo>
                <a:lnTo>
                  <a:pt x="595147" y="3771900"/>
                </a:lnTo>
                <a:lnTo>
                  <a:pt x="582828" y="3759200"/>
                </a:lnTo>
                <a:lnTo>
                  <a:pt x="577494" y="3759200"/>
                </a:lnTo>
                <a:lnTo>
                  <a:pt x="573049" y="3746500"/>
                </a:lnTo>
                <a:lnTo>
                  <a:pt x="563905" y="3733800"/>
                </a:lnTo>
                <a:lnTo>
                  <a:pt x="555650" y="3721100"/>
                </a:lnTo>
                <a:lnTo>
                  <a:pt x="547522" y="3695700"/>
                </a:lnTo>
                <a:lnTo>
                  <a:pt x="538886" y="3683000"/>
                </a:lnTo>
                <a:lnTo>
                  <a:pt x="523265" y="3644900"/>
                </a:lnTo>
                <a:lnTo>
                  <a:pt x="505993" y="3619500"/>
                </a:lnTo>
                <a:lnTo>
                  <a:pt x="487451" y="3594100"/>
                </a:lnTo>
                <a:lnTo>
                  <a:pt x="467842" y="3556000"/>
                </a:lnTo>
                <a:close/>
              </a:path>
              <a:path w="1661160" h="4203700">
                <a:moveTo>
                  <a:pt x="439420" y="3530600"/>
                </a:moveTo>
                <a:lnTo>
                  <a:pt x="390728" y="3530600"/>
                </a:lnTo>
                <a:lnTo>
                  <a:pt x="398233" y="3543300"/>
                </a:lnTo>
                <a:lnTo>
                  <a:pt x="405625" y="3556000"/>
                </a:lnTo>
                <a:lnTo>
                  <a:pt x="460946" y="3556000"/>
                </a:lnTo>
                <a:lnTo>
                  <a:pt x="453618" y="3543300"/>
                </a:lnTo>
                <a:lnTo>
                  <a:pt x="439420" y="3530600"/>
                </a:lnTo>
                <a:close/>
              </a:path>
              <a:path w="1661160" h="4203700">
                <a:moveTo>
                  <a:pt x="368960" y="3276600"/>
                </a:moveTo>
                <a:lnTo>
                  <a:pt x="330606" y="3276600"/>
                </a:lnTo>
                <a:lnTo>
                  <a:pt x="335216" y="3289300"/>
                </a:lnTo>
                <a:lnTo>
                  <a:pt x="332422" y="3289300"/>
                </a:lnTo>
                <a:lnTo>
                  <a:pt x="335991" y="3314700"/>
                </a:lnTo>
                <a:lnTo>
                  <a:pt x="339686" y="3352800"/>
                </a:lnTo>
                <a:lnTo>
                  <a:pt x="341807" y="3365500"/>
                </a:lnTo>
                <a:lnTo>
                  <a:pt x="346709" y="3403600"/>
                </a:lnTo>
                <a:lnTo>
                  <a:pt x="352907" y="3429000"/>
                </a:lnTo>
                <a:lnTo>
                  <a:pt x="356679" y="3454400"/>
                </a:lnTo>
                <a:lnTo>
                  <a:pt x="360806" y="3467100"/>
                </a:lnTo>
                <a:lnTo>
                  <a:pt x="365747" y="3479800"/>
                </a:lnTo>
                <a:lnTo>
                  <a:pt x="371055" y="3492500"/>
                </a:lnTo>
                <a:lnTo>
                  <a:pt x="377405" y="3517900"/>
                </a:lnTo>
                <a:lnTo>
                  <a:pt x="384428" y="3530600"/>
                </a:lnTo>
                <a:lnTo>
                  <a:pt x="433133" y="3530600"/>
                </a:lnTo>
                <a:lnTo>
                  <a:pt x="427189" y="3517900"/>
                </a:lnTo>
                <a:lnTo>
                  <a:pt x="422313" y="3517900"/>
                </a:lnTo>
                <a:lnTo>
                  <a:pt x="417944" y="3505200"/>
                </a:lnTo>
                <a:lnTo>
                  <a:pt x="402145" y="3467100"/>
                </a:lnTo>
                <a:lnTo>
                  <a:pt x="390410" y="3429000"/>
                </a:lnTo>
                <a:lnTo>
                  <a:pt x="384416" y="3390900"/>
                </a:lnTo>
                <a:lnTo>
                  <a:pt x="379603" y="3365500"/>
                </a:lnTo>
                <a:lnTo>
                  <a:pt x="377532" y="3340100"/>
                </a:lnTo>
                <a:lnTo>
                  <a:pt x="373799" y="3314700"/>
                </a:lnTo>
                <a:lnTo>
                  <a:pt x="370128" y="3289300"/>
                </a:lnTo>
                <a:lnTo>
                  <a:pt x="335216" y="3289300"/>
                </a:lnTo>
                <a:lnTo>
                  <a:pt x="331685" y="3284145"/>
                </a:lnTo>
                <a:lnTo>
                  <a:pt x="369654" y="3284145"/>
                </a:lnTo>
                <a:lnTo>
                  <a:pt x="368960" y="3276600"/>
                </a:lnTo>
                <a:close/>
              </a:path>
              <a:path w="1661160" h="4203700">
                <a:moveTo>
                  <a:pt x="330606" y="3276600"/>
                </a:moveTo>
                <a:lnTo>
                  <a:pt x="331685" y="3284145"/>
                </a:lnTo>
                <a:lnTo>
                  <a:pt x="335216" y="3289300"/>
                </a:lnTo>
                <a:lnTo>
                  <a:pt x="330606" y="3276600"/>
                </a:lnTo>
                <a:close/>
              </a:path>
              <a:path w="1661160" h="4203700">
                <a:moveTo>
                  <a:pt x="65570" y="419100"/>
                </a:moveTo>
                <a:lnTo>
                  <a:pt x="20345" y="419100"/>
                </a:lnTo>
                <a:lnTo>
                  <a:pt x="14173" y="495300"/>
                </a:lnTo>
                <a:lnTo>
                  <a:pt x="9283" y="558800"/>
                </a:lnTo>
                <a:lnTo>
                  <a:pt x="5460" y="622300"/>
                </a:lnTo>
                <a:lnTo>
                  <a:pt x="2679" y="685800"/>
                </a:lnTo>
                <a:lnTo>
                  <a:pt x="863" y="749300"/>
                </a:lnTo>
                <a:lnTo>
                  <a:pt x="0" y="812800"/>
                </a:lnTo>
                <a:lnTo>
                  <a:pt x="88" y="876300"/>
                </a:lnTo>
                <a:lnTo>
                  <a:pt x="1041" y="939800"/>
                </a:lnTo>
                <a:lnTo>
                  <a:pt x="2959" y="1016000"/>
                </a:lnTo>
                <a:lnTo>
                  <a:pt x="5626" y="1079500"/>
                </a:lnTo>
                <a:lnTo>
                  <a:pt x="9067" y="1143000"/>
                </a:lnTo>
                <a:lnTo>
                  <a:pt x="13373" y="1206500"/>
                </a:lnTo>
                <a:lnTo>
                  <a:pt x="18338" y="1270000"/>
                </a:lnTo>
                <a:lnTo>
                  <a:pt x="23977" y="1333500"/>
                </a:lnTo>
                <a:lnTo>
                  <a:pt x="30378" y="1397000"/>
                </a:lnTo>
                <a:lnTo>
                  <a:pt x="37350" y="1460500"/>
                </a:lnTo>
                <a:lnTo>
                  <a:pt x="42481" y="1612900"/>
                </a:lnTo>
                <a:lnTo>
                  <a:pt x="51625" y="1905000"/>
                </a:lnTo>
                <a:lnTo>
                  <a:pt x="57162" y="2044700"/>
                </a:lnTo>
                <a:lnTo>
                  <a:pt x="60591" y="2120900"/>
                </a:lnTo>
                <a:lnTo>
                  <a:pt x="64604" y="2197100"/>
                </a:lnTo>
                <a:lnTo>
                  <a:pt x="69278" y="2273300"/>
                </a:lnTo>
                <a:lnTo>
                  <a:pt x="74625" y="2349500"/>
                </a:lnTo>
                <a:lnTo>
                  <a:pt x="81025" y="2425700"/>
                </a:lnTo>
                <a:lnTo>
                  <a:pt x="88290" y="2489200"/>
                </a:lnTo>
                <a:lnTo>
                  <a:pt x="96697" y="2565400"/>
                </a:lnTo>
                <a:lnTo>
                  <a:pt x="106362" y="2641600"/>
                </a:lnTo>
                <a:lnTo>
                  <a:pt x="109588" y="2654300"/>
                </a:lnTo>
                <a:lnTo>
                  <a:pt x="113855" y="2679700"/>
                </a:lnTo>
                <a:lnTo>
                  <a:pt x="118872" y="2705100"/>
                </a:lnTo>
                <a:lnTo>
                  <a:pt x="124561" y="2717800"/>
                </a:lnTo>
                <a:lnTo>
                  <a:pt x="130822" y="2743200"/>
                </a:lnTo>
                <a:lnTo>
                  <a:pt x="137553" y="2755900"/>
                </a:lnTo>
                <a:lnTo>
                  <a:pt x="152133" y="2794000"/>
                </a:lnTo>
                <a:lnTo>
                  <a:pt x="167640" y="2832100"/>
                </a:lnTo>
                <a:lnTo>
                  <a:pt x="183006" y="2870200"/>
                </a:lnTo>
                <a:lnTo>
                  <a:pt x="197688" y="2908300"/>
                </a:lnTo>
                <a:lnTo>
                  <a:pt x="210807" y="2946400"/>
                </a:lnTo>
                <a:lnTo>
                  <a:pt x="217970" y="2971800"/>
                </a:lnTo>
                <a:lnTo>
                  <a:pt x="224256" y="2984500"/>
                </a:lnTo>
                <a:lnTo>
                  <a:pt x="229615" y="3009900"/>
                </a:lnTo>
                <a:lnTo>
                  <a:pt x="234467" y="3035300"/>
                </a:lnTo>
                <a:lnTo>
                  <a:pt x="243357" y="3073400"/>
                </a:lnTo>
                <a:lnTo>
                  <a:pt x="252641" y="3124200"/>
                </a:lnTo>
                <a:lnTo>
                  <a:pt x="258254" y="3136900"/>
                </a:lnTo>
                <a:lnTo>
                  <a:pt x="264515" y="3162300"/>
                </a:lnTo>
                <a:lnTo>
                  <a:pt x="272084" y="3187700"/>
                </a:lnTo>
                <a:lnTo>
                  <a:pt x="280847" y="3200400"/>
                </a:lnTo>
                <a:lnTo>
                  <a:pt x="291439" y="3225800"/>
                </a:lnTo>
                <a:lnTo>
                  <a:pt x="303707" y="3251200"/>
                </a:lnTo>
                <a:lnTo>
                  <a:pt x="318185" y="3263900"/>
                </a:lnTo>
                <a:lnTo>
                  <a:pt x="326517" y="3276600"/>
                </a:lnTo>
                <a:lnTo>
                  <a:pt x="331685" y="3284145"/>
                </a:lnTo>
                <a:lnTo>
                  <a:pt x="330606" y="3276600"/>
                </a:lnTo>
                <a:lnTo>
                  <a:pt x="368960" y="3276600"/>
                </a:lnTo>
                <a:lnTo>
                  <a:pt x="367792" y="3263900"/>
                </a:lnTo>
                <a:lnTo>
                  <a:pt x="366191" y="3263900"/>
                </a:lnTo>
                <a:lnTo>
                  <a:pt x="356031" y="3251200"/>
                </a:lnTo>
                <a:lnTo>
                  <a:pt x="349122" y="3238500"/>
                </a:lnTo>
                <a:lnTo>
                  <a:pt x="336359" y="3225800"/>
                </a:lnTo>
                <a:lnTo>
                  <a:pt x="325386" y="3213100"/>
                </a:lnTo>
                <a:lnTo>
                  <a:pt x="315975" y="3187700"/>
                </a:lnTo>
                <a:lnTo>
                  <a:pt x="307975" y="3175000"/>
                </a:lnTo>
                <a:lnTo>
                  <a:pt x="301066" y="3149600"/>
                </a:lnTo>
                <a:lnTo>
                  <a:pt x="295135" y="3136900"/>
                </a:lnTo>
                <a:lnTo>
                  <a:pt x="289890" y="3111500"/>
                </a:lnTo>
                <a:lnTo>
                  <a:pt x="280695" y="3073400"/>
                </a:lnTo>
                <a:lnTo>
                  <a:pt x="271678" y="3022600"/>
                </a:lnTo>
                <a:lnTo>
                  <a:pt x="266623" y="2997200"/>
                </a:lnTo>
                <a:lnTo>
                  <a:pt x="260934" y="2984500"/>
                </a:lnTo>
                <a:lnTo>
                  <a:pt x="254266" y="2959100"/>
                </a:lnTo>
                <a:lnTo>
                  <a:pt x="246570" y="2933700"/>
                </a:lnTo>
                <a:lnTo>
                  <a:pt x="233019" y="2895600"/>
                </a:lnTo>
                <a:lnTo>
                  <a:pt x="218173" y="2857500"/>
                </a:lnTo>
                <a:lnTo>
                  <a:pt x="202857" y="2819400"/>
                </a:lnTo>
                <a:lnTo>
                  <a:pt x="187706" y="2781300"/>
                </a:lnTo>
                <a:lnTo>
                  <a:pt x="173520" y="2743200"/>
                </a:lnTo>
                <a:lnTo>
                  <a:pt x="167106" y="2730500"/>
                </a:lnTo>
                <a:lnTo>
                  <a:pt x="161175" y="2705100"/>
                </a:lnTo>
                <a:lnTo>
                  <a:pt x="155816" y="2692400"/>
                </a:lnTo>
                <a:lnTo>
                  <a:pt x="151117" y="2667000"/>
                </a:lnTo>
                <a:lnTo>
                  <a:pt x="147193" y="2654300"/>
                </a:lnTo>
                <a:lnTo>
                  <a:pt x="134556" y="2565400"/>
                </a:lnTo>
                <a:lnTo>
                  <a:pt x="126199" y="2489200"/>
                </a:lnTo>
                <a:lnTo>
                  <a:pt x="118986" y="2413000"/>
                </a:lnTo>
                <a:lnTo>
                  <a:pt x="107302" y="2273300"/>
                </a:lnTo>
                <a:lnTo>
                  <a:pt x="102641" y="2197100"/>
                </a:lnTo>
                <a:lnTo>
                  <a:pt x="98653" y="2120900"/>
                </a:lnTo>
                <a:lnTo>
                  <a:pt x="95224" y="2044700"/>
                </a:lnTo>
                <a:lnTo>
                  <a:pt x="89712" y="1905000"/>
                </a:lnTo>
                <a:lnTo>
                  <a:pt x="80568" y="1600200"/>
                </a:lnTo>
                <a:lnTo>
                  <a:pt x="75222" y="1460500"/>
                </a:lnTo>
                <a:lnTo>
                  <a:pt x="68287" y="1397000"/>
                </a:lnTo>
                <a:lnTo>
                  <a:pt x="61925" y="1333500"/>
                </a:lnTo>
                <a:lnTo>
                  <a:pt x="56324" y="1270000"/>
                </a:lnTo>
                <a:lnTo>
                  <a:pt x="51384" y="1206500"/>
                </a:lnTo>
                <a:lnTo>
                  <a:pt x="47117" y="1143000"/>
                </a:lnTo>
                <a:lnTo>
                  <a:pt x="43700" y="1066800"/>
                </a:lnTo>
                <a:lnTo>
                  <a:pt x="41033" y="1003300"/>
                </a:lnTo>
                <a:lnTo>
                  <a:pt x="39141" y="939800"/>
                </a:lnTo>
                <a:lnTo>
                  <a:pt x="38188" y="876300"/>
                </a:lnTo>
                <a:lnTo>
                  <a:pt x="38087" y="812800"/>
                </a:lnTo>
                <a:lnTo>
                  <a:pt x="38938" y="749300"/>
                </a:lnTo>
                <a:lnTo>
                  <a:pt x="40741" y="685800"/>
                </a:lnTo>
                <a:lnTo>
                  <a:pt x="43484" y="622300"/>
                </a:lnTo>
                <a:lnTo>
                  <a:pt x="47282" y="558800"/>
                </a:lnTo>
                <a:lnTo>
                  <a:pt x="52108" y="495300"/>
                </a:lnTo>
                <a:lnTo>
                  <a:pt x="56832" y="444500"/>
                </a:lnTo>
                <a:lnTo>
                  <a:pt x="55321" y="444500"/>
                </a:lnTo>
                <a:lnTo>
                  <a:pt x="58013" y="431800"/>
                </a:lnTo>
                <a:lnTo>
                  <a:pt x="60464" y="431800"/>
                </a:lnTo>
                <a:lnTo>
                  <a:pt x="65570" y="419100"/>
                </a:lnTo>
                <a:close/>
              </a:path>
              <a:path w="1661160" h="4203700">
                <a:moveTo>
                  <a:pt x="1065811" y="376776"/>
                </a:moveTo>
                <a:lnTo>
                  <a:pt x="1028598" y="381000"/>
                </a:lnTo>
                <a:lnTo>
                  <a:pt x="1108227" y="482600"/>
                </a:lnTo>
                <a:lnTo>
                  <a:pt x="1133316" y="393700"/>
                </a:lnTo>
                <a:lnTo>
                  <a:pt x="1069873" y="393700"/>
                </a:lnTo>
                <a:lnTo>
                  <a:pt x="1065811" y="376776"/>
                </a:lnTo>
                <a:close/>
              </a:path>
              <a:path w="1661160" h="4203700">
                <a:moveTo>
                  <a:pt x="58013" y="431800"/>
                </a:moveTo>
                <a:lnTo>
                  <a:pt x="55321" y="444500"/>
                </a:lnTo>
                <a:lnTo>
                  <a:pt x="57282" y="439656"/>
                </a:lnTo>
                <a:lnTo>
                  <a:pt x="58013" y="431800"/>
                </a:lnTo>
                <a:close/>
              </a:path>
              <a:path w="1661160" h="4203700">
                <a:moveTo>
                  <a:pt x="57282" y="439656"/>
                </a:moveTo>
                <a:lnTo>
                  <a:pt x="55321" y="444500"/>
                </a:lnTo>
                <a:lnTo>
                  <a:pt x="56832" y="444500"/>
                </a:lnTo>
                <a:lnTo>
                  <a:pt x="57282" y="439656"/>
                </a:lnTo>
                <a:close/>
              </a:path>
              <a:path w="1661160" h="4203700">
                <a:moveTo>
                  <a:pt x="60464" y="431800"/>
                </a:moveTo>
                <a:lnTo>
                  <a:pt x="58013" y="431800"/>
                </a:lnTo>
                <a:lnTo>
                  <a:pt x="57282" y="439656"/>
                </a:lnTo>
                <a:lnTo>
                  <a:pt x="60464" y="431800"/>
                </a:lnTo>
                <a:close/>
              </a:path>
              <a:path w="1661160" h="4203700">
                <a:moveTo>
                  <a:pt x="73926" y="406400"/>
                </a:moveTo>
                <a:lnTo>
                  <a:pt x="28295" y="406400"/>
                </a:lnTo>
                <a:lnTo>
                  <a:pt x="22771" y="419100"/>
                </a:lnTo>
                <a:lnTo>
                  <a:pt x="69786" y="419100"/>
                </a:lnTo>
                <a:lnTo>
                  <a:pt x="73926" y="406400"/>
                </a:lnTo>
                <a:close/>
              </a:path>
              <a:path w="1661160" h="4203700">
                <a:moveTo>
                  <a:pt x="80695" y="393700"/>
                </a:moveTo>
                <a:lnTo>
                  <a:pt x="37642" y="393700"/>
                </a:lnTo>
                <a:lnTo>
                  <a:pt x="33096" y="406400"/>
                </a:lnTo>
                <a:lnTo>
                  <a:pt x="77279" y="406400"/>
                </a:lnTo>
                <a:lnTo>
                  <a:pt x="80695" y="393700"/>
                </a:lnTo>
                <a:close/>
              </a:path>
              <a:path w="1661160" h="4203700">
                <a:moveTo>
                  <a:pt x="94754" y="368300"/>
                </a:moveTo>
                <a:lnTo>
                  <a:pt x="53225" y="368300"/>
                </a:lnTo>
                <a:lnTo>
                  <a:pt x="48259" y="381000"/>
                </a:lnTo>
                <a:lnTo>
                  <a:pt x="45199" y="381000"/>
                </a:lnTo>
                <a:lnTo>
                  <a:pt x="41503" y="393700"/>
                </a:lnTo>
                <a:lnTo>
                  <a:pt x="86398" y="393700"/>
                </a:lnTo>
                <a:lnTo>
                  <a:pt x="90893" y="381000"/>
                </a:lnTo>
                <a:lnTo>
                  <a:pt x="94754" y="368300"/>
                </a:lnTo>
                <a:close/>
              </a:path>
              <a:path w="1661160" h="4203700">
                <a:moveTo>
                  <a:pt x="1103758" y="372468"/>
                </a:moveTo>
                <a:lnTo>
                  <a:pt x="1065811" y="376776"/>
                </a:lnTo>
                <a:lnTo>
                  <a:pt x="1069873" y="393700"/>
                </a:lnTo>
                <a:lnTo>
                  <a:pt x="1107084" y="393700"/>
                </a:lnTo>
                <a:lnTo>
                  <a:pt x="1103758" y="372468"/>
                </a:lnTo>
                <a:close/>
              </a:path>
              <a:path w="1661160" h="4203700">
                <a:moveTo>
                  <a:pt x="1140485" y="368300"/>
                </a:moveTo>
                <a:lnTo>
                  <a:pt x="1103758" y="372468"/>
                </a:lnTo>
                <a:lnTo>
                  <a:pt x="1107084" y="393700"/>
                </a:lnTo>
                <a:lnTo>
                  <a:pt x="1133316" y="393700"/>
                </a:lnTo>
                <a:lnTo>
                  <a:pt x="1140485" y="368300"/>
                </a:lnTo>
                <a:close/>
              </a:path>
              <a:path w="1661160" h="4203700">
                <a:moveTo>
                  <a:pt x="1061999" y="266700"/>
                </a:moveTo>
                <a:lnTo>
                  <a:pt x="1008532" y="266700"/>
                </a:lnTo>
                <a:lnTo>
                  <a:pt x="1015136" y="279400"/>
                </a:lnTo>
                <a:lnTo>
                  <a:pt x="1021232" y="279400"/>
                </a:lnTo>
                <a:lnTo>
                  <a:pt x="1026693" y="292100"/>
                </a:lnTo>
                <a:lnTo>
                  <a:pt x="1031265" y="292100"/>
                </a:lnTo>
                <a:lnTo>
                  <a:pt x="1039647" y="304800"/>
                </a:lnTo>
                <a:lnTo>
                  <a:pt x="1056792" y="342900"/>
                </a:lnTo>
                <a:lnTo>
                  <a:pt x="1065811" y="376776"/>
                </a:lnTo>
                <a:lnTo>
                  <a:pt x="1103758" y="372468"/>
                </a:lnTo>
                <a:lnTo>
                  <a:pt x="1093368" y="330200"/>
                </a:lnTo>
                <a:lnTo>
                  <a:pt x="1081176" y="304800"/>
                </a:lnTo>
                <a:lnTo>
                  <a:pt x="1072540" y="279400"/>
                </a:lnTo>
                <a:lnTo>
                  <a:pt x="1061999" y="266700"/>
                </a:lnTo>
                <a:close/>
              </a:path>
              <a:path w="1661160" h="4203700">
                <a:moveTo>
                  <a:pt x="99999" y="355600"/>
                </a:moveTo>
                <a:lnTo>
                  <a:pt x="59537" y="355600"/>
                </a:lnTo>
                <a:lnTo>
                  <a:pt x="56921" y="368300"/>
                </a:lnTo>
                <a:lnTo>
                  <a:pt x="97878" y="368300"/>
                </a:lnTo>
                <a:lnTo>
                  <a:pt x="99999" y="355600"/>
                </a:lnTo>
                <a:close/>
              </a:path>
              <a:path w="1661160" h="4203700">
                <a:moveTo>
                  <a:pt x="452831" y="38100"/>
                </a:moveTo>
                <a:lnTo>
                  <a:pt x="247738" y="38100"/>
                </a:lnTo>
                <a:lnTo>
                  <a:pt x="241007" y="50800"/>
                </a:lnTo>
                <a:lnTo>
                  <a:pt x="230327" y="63500"/>
                </a:lnTo>
                <a:lnTo>
                  <a:pt x="221157" y="76200"/>
                </a:lnTo>
                <a:lnTo>
                  <a:pt x="212991" y="88900"/>
                </a:lnTo>
                <a:lnTo>
                  <a:pt x="204901" y="114300"/>
                </a:lnTo>
                <a:lnTo>
                  <a:pt x="196888" y="114300"/>
                </a:lnTo>
                <a:lnTo>
                  <a:pt x="120777" y="190500"/>
                </a:lnTo>
                <a:lnTo>
                  <a:pt x="91897" y="215900"/>
                </a:lnTo>
                <a:lnTo>
                  <a:pt x="90182" y="215900"/>
                </a:lnTo>
                <a:lnTo>
                  <a:pt x="85978" y="241300"/>
                </a:lnTo>
                <a:lnTo>
                  <a:pt x="80137" y="266700"/>
                </a:lnTo>
                <a:lnTo>
                  <a:pt x="77724" y="279400"/>
                </a:lnTo>
                <a:lnTo>
                  <a:pt x="75539" y="279400"/>
                </a:lnTo>
                <a:lnTo>
                  <a:pt x="73659" y="292100"/>
                </a:lnTo>
                <a:lnTo>
                  <a:pt x="70612" y="304800"/>
                </a:lnTo>
                <a:lnTo>
                  <a:pt x="69342" y="317500"/>
                </a:lnTo>
                <a:lnTo>
                  <a:pt x="67183" y="330200"/>
                </a:lnTo>
                <a:lnTo>
                  <a:pt x="66281" y="330200"/>
                </a:lnTo>
                <a:lnTo>
                  <a:pt x="63055" y="355600"/>
                </a:lnTo>
                <a:lnTo>
                  <a:pt x="102019" y="355600"/>
                </a:lnTo>
                <a:lnTo>
                  <a:pt x="103822" y="342900"/>
                </a:lnTo>
                <a:lnTo>
                  <a:pt x="104635" y="342900"/>
                </a:lnTo>
                <a:lnTo>
                  <a:pt x="105702" y="330200"/>
                </a:lnTo>
                <a:lnTo>
                  <a:pt x="108064" y="317500"/>
                </a:lnTo>
                <a:lnTo>
                  <a:pt x="112852" y="292100"/>
                </a:lnTo>
                <a:lnTo>
                  <a:pt x="115049" y="279400"/>
                </a:lnTo>
                <a:lnTo>
                  <a:pt x="117398" y="266700"/>
                </a:lnTo>
                <a:lnTo>
                  <a:pt x="123177" y="241300"/>
                </a:lnTo>
                <a:lnTo>
                  <a:pt x="121627" y="241300"/>
                </a:lnTo>
                <a:lnTo>
                  <a:pt x="126606" y="228600"/>
                </a:lnTo>
                <a:lnTo>
                  <a:pt x="133083" y="228600"/>
                </a:lnTo>
                <a:lnTo>
                  <a:pt x="145338" y="215900"/>
                </a:lnTo>
                <a:lnTo>
                  <a:pt x="212877" y="152400"/>
                </a:lnTo>
                <a:lnTo>
                  <a:pt x="226009" y="139700"/>
                </a:lnTo>
                <a:lnTo>
                  <a:pt x="232117" y="139700"/>
                </a:lnTo>
                <a:lnTo>
                  <a:pt x="237617" y="127000"/>
                </a:lnTo>
                <a:lnTo>
                  <a:pt x="246481" y="114300"/>
                </a:lnTo>
                <a:lnTo>
                  <a:pt x="254317" y="101600"/>
                </a:lnTo>
                <a:lnTo>
                  <a:pt x="261531" y="88900"/>
                </a:lnTo>
                <a:lnTo>
                  <a:pt x="269519" y="76200"/>
                </a:lnTo>
                <a:lnTo>
                  <a:pt x="273265" y="63500"/>
                </a:lnTo>
                <a:lnTo>
                  <a:pt x="292011" y="63500"/>
                </a:lnTo>
                <a:lnTo>
                  <a:pt x="299656" y="50800"/>
                </a:lnTo>
                <a:lnTo>
                  <a:pt x="401459" y="50800"/>
                </a:lnTo>
                <a:lnTo>
                  <a:pt x="452831" y="38100"/>
                </a:lnTo>
                <a:close/>
              </a:path>
              <a:path w="1661160" h="4203700">
                <a:moveTo>
                  <a:pt x="1048791" y="254000"/>
                </a:moveTo>
                <a:lnTo>
                  <a:pt x="993419" y="254000"/>
                </a:lnTo>
                <a:lnTo>
                  <a:pt x="1001166" y="266700"/>
                </a:lnTo>
                <a:lnTo>
                  <a:pt x="1055522" y="266700"/>
                </a:lnTo>
                <a:lnTo>
                  <a:pt x="1048791" y="254000"/>
                </a:lnTo>
                <a:close/>
              </a:path>
              <a:path w="1661160" h="4203700">
                <a:moveTo>
                  <a:pt x="831621" y="38100"/>
                </a:moveTo>
                <a:lnTo>
                  <a:pt x="705256" y="38100"/>
                </a:lnTo>
                <a:lnTo>
                  <a:pt x="794664" y="63500"/>
                </a:lnTo>
                <a:lnTo>
                  <a:pt x="816000" y="76200"/>
                </a:lnTo>
                <a:lnTo>
                  <a:pt x="836701" y="88900"/>
                </a:lnTo>
                <a:lnTo>
                  <a:pt x="856640" y="101600"/>
                </a:lnTo>
                <a:lnTo>
                  <a:pt x="875690" y="101600"/>
                </a:lnTo>
                <a:lnTo>
                  <a:pt x="893724" y="114300"/>
                </a:lnTo>
                <a:lnTo>
                  <a:pt x="910742" y="127000"/>
                </a:lnTo>
                <a:lnTo>
                  <a:pt x="926617" y="152400"/>
                </a:lnTo>
                <a:lnTo>
                  <a:pt x="941222" y="165100"/>
                </a:lnTo>
                <a:lnTo>
                  <a:pt x="967003" y="203200"/>
                </a:lnTo>
                <a:lnTo>
                  <a:pt x="982116" y="241300"/>
                </a:lnTo>
                <a:lnTo>
                  <a:pt x="986688" y="254000"/>
                </a:lnTo>
                <a:lnTo>
                  <a:pt x="1041679" y="254000"/>
                </a:lnTo>
                <a:lnTo>
                  <a:pt x="1033805" y="241300"/>
                </a:lnTo>
                <a:lnTo>
                  <a:pt x="1022883" y="241300"/>
                </a:lnTo>
                <a:lnTo>
                  <a:pt x="1016152" y="228600"/>
                </a:lnTo>
                <a:lnTo>
                  <a:pt x="1018311" y="228600"/>
                </a:lnTo>
                <a:lnTo>
                  <a:pt x="1013104" y="203200"/>
                </a:lnTo>
                <a:lnTo>
                  <a:pt x="1007262" y="190500"/>
                </a:lnTo>
                <a:lnTo>
                  <a:pt x="1000912" y="177800"/>
                </a:lnTo>
                <a:lnTo>
                  <a:pt x="994181" y="177800"/>
                </a:lnTo>
                <a:lnTo>
                  <a:pt x="987069" y="165100"/>
                </a:lnTo>
                <a:lnTo>
                  <a:pt x="971829" y="139700"/>
                </a:lnTo>
                <a:lnTo>
                  <a:pt x="954811" y="127000"/>
                </a:lnTo>
                <a:lnTo>
                  <a:pt x="936523" y="101600"/>
                </a:lnTo>
                <a:lnTo>
                  <a:pt x="917219" y="88900"/>
                </a:lnTo>
                <a:lnTo>
                  <a:pt x="896645" y="76200"/>
                </a:lnTo>
                <a:lnTo>
                  <a:pt x="875563" y="63500"/>
                </a:lnTo>
                <a:lnTo>
                  <a:pt x="831621" y="38100"/>
                </a:lnTo>
                <a:close/>
              </a:path>
              <a:path w="1661160" h="4203700">
                <a:moveTo>
                  <a:pt x="126606" y="228600"/>
                </a:moveTo>
                <a:lnTo>
                  <a:pt x="121627" y="241300"/>
                </a:lnTo>
                <a:lnTo>
                  <a:pt x="123839" y="238848"/>
                </a:lnTo>
                <a:lnTo>
                  <a:pt x="126606" y="228600"/>
                </a:lnTo>
                <a:close/>
              </a:path>
              <a:path w="1661160" h="4203700">
                <a:moveTo>
                  <a:pt x="123839" y="238848"/>
                </a:moveTo>
                <a:lnTo>
                  <a:pt x="121627" y="241300"/>
                </a:lnTo>
                <a:lnTo>
                  <a:pt x="123177" y="241300"/>
                </a:lnTo>
                <a:lnTo>
                  <a:pt x="123839" y="238848"/>
                </a:lnTo>
                <a:close/>
              </a:path>
              <a:path w="1661160" h="4203700">
                <a:moveTo>
                  <a:pt x="1018311" y="228600"/>
                </a:moveTo>
                <a:lnTo>
                  <a:pt x="1016152" y="228600"/>
                </a:lnTo>
                <a:lnTo>
                  <a:pt x="1022883" y="241300"/>
                </a:lnTo>
                <a:lnTo>
                  <a:pt x="1018311" y="228600"/>
                </a:lnTo>
                <a:close/>
              </a:path>
              <a:path w="1661160" h="4203700">
                <a:moveTo>
                  <a:pt x="1025550" y="228600"/>
                </a:moveTo>
                <a:lnTo>
                  <a:pt x="1018311" y="228600"/>
                </a:lnTo>
                <a:lnTo>
                  <a:pt x="1022883" y="241300"/>
                </a:lnTo>
                <a:lnTo>
                  <a:pt x="1033805" y="241300"/>
                </a:lnTo>
                <a:lnTo>
                  <a:pt x="1025550" y="228600"/>
                </a:lnTo>
                <a:close/>
              </a:path>
              <a:path w="1661160" h="4203700">
                <a:moveTo>
                  <a:pt x="133083" y="228600"/>
                </a:moveTo>
                <a:lnTo>
                  <a:pt x="126606" y="228600"/>
                </a:lnTo>
                <a:lnTo>
                  <a:pt x="123839" y="238848"/>
                </a:lnTo>
                <a:lnTo>
                  <a:pt x="133083" y="228600"/>
                </a:lnTo>
                <a:close/>
              </a:path>
              <a:path w="1661160" h="4203700">
                <a:moveTo>
                  <a:pt x="717956" y="0"/>
                </a:moveTo>
                <a:lnTo>
                  <a:pt x="451650" y="0"/>
                </a:lnTo>
                <a:lnTo>
                  <a:pt x="399567" y="12700"/>
                </a:lnTo>
                <a:lnTo>
                  <a:pt x="295643" y="12700"/>
                </a:lnTo>
                <a:lnTo>
                  <a:pt x="285000" y="25400"/>
                </a:lnTo>
                <a:lnTo>
                  <a:pt x="264198" y="25400"/>
                </a:lnTo>
                <a:lnTo>
                  <a:pt x="255524" y="38100"/>
                </a:lnTo>
                <a:lnTo>
                  <a:pt x="809142" y="38100"/>
                </a:lnTo>
                <a:lnTo>
                  <a:pt x="763549" y="12700"/>
                </a:lnTo>
                <a:lnTo>
                  <a:pt x="71795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711575" y="963548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99FF33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99FF33"/>
                </a:solidFill>
                <a:latin typeface="Times New Roman"/>
                <a:cs typeface="Times New Roman"/>
              </a:rPr>
              <a:t>1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10075" y="2183129"/>
            <a:ext cx="4356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99FF33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99FF33"/>
                </a:solidFill>
                <a:latin typeface="Times New Roman"/>
                <a:cs typeface="Times New Roman"/>
              </a:rPr>
              <a:t>2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80871" y="906272"/>
            <a:ext cx="3676650" cy="4700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15035" algn="ctr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i=1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50">
              <a:latin typeface="Times New Roman"/>
              <a:cs typeface="Times New Roman"/>
            </a:endParaRPr>
          </a:p>
          <a:p>
            <a:pPr marR="879475" algn="ctr">
              <a:lnSpc>
                <a:spcPct val="100000"/>
              </a:lnSpc>
              <a:tabLst>
                <a:tab pos="1804035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u&lt;v</a:t>
            </a:r>
            <a:r>
              <a:rPr sz="2800" b="1" spc="20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goto	B4</a:t>
            </a:r>
            <a:endParaRPr sz="2800">
              <a:latin typeface="Times New Roman"/>
              <a:cs typeface="Times New Roman"/>
            </a:endParaRPr>
          </a:p>
          <a:p>
            <a:pPr marL="1092200">
              <a:lnSpc>
                <a:spcPts val="3270"/>
              </a:lnSpc>
              <a:spcBef>
                <a:spcPts val="1745"/>
              </a:spcBef>
            </a:pPr>
            <a:r>
              <a:rPr sz="2800" b="1" spc="5" dirty="0">
                <a:solidFill>
                  <a:srgbClr val="99FF33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99FF33"/>
                </a:solidFill>
                <a:latin typeface="Times New Roman"/>
                <a:cs typeface="Times New Roman"/>
              </a:rPr>
              <a:t>3</a:t>
            </a:r>
            <a:endParaRPr sz="3150" baseline="-14550">
              <a:latin typeface="Times New Roman"/>
              <a:cs typeface="Times New Roman"/>
            </a:endParaRPr>
          </a:p>
          <a:p>
            <a:pPr marL="228600">
              <a:lnSpc>
                <a:spcPts val="3270"/>
              </a:lnSpc>
            </a:pP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i=2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u=u+1</a:t>
            </a:r>
            <a:endParaRPr sz="2800">
              <a:latin typeface="Times New Roman"/>
              <a:cs typeface="Times New Roman"/>
            </a:endParaRPr>
          </a:p>
          <a:p>
            <a:pPr marR="565785" algn="r">
              <a:lnSpc>
                <a:spcPct val="100000"/>
              </a:lnSpc>
              <a:spcBef>
                <a:spcPts val="865"/>
              </a:spcBef>
            </a:pPr>
            <a:r>
              <a:rPr sz="2800" b="1" spc="-10" dirty="0">
                <a:solidFill>
                  <a:srgbClr val="99FF33"/>
                </a:solidFill>
                <a:latin typeface="Times New Roman"/>
                <a:cs typeface="Times New Roman"/>
              </a:rPr>
              <a:t>B</a:t>
            </a:r>
            <a:r>
              <a:rPr sz="3150" b="1" spc="22" baseline="-14550" dirty="0">
                <a:solidFill>
                  <a:srgbClr val="99FF33"/>
                </a:solidFill>
                <a:latin typeface="Times New Roman"/>
                <a:cs typeface="Times New Roman"/>
              </a:rPr>
              <a:t>4</a:t>
            </a:r>
            <a:endParaRPr sz="3150" baseline="-14550">
              <a:latin typeface="Times New Roman"/>
              <a:cs typeface="Times New Roman"/>
            </a:endParaRPr>
          </a:p>
          <a:p>
            <a:pPr marL="75565" algn="ctr">
              <a:lnSpc>
                <a:spcPct val="100000"/>
              </a:lnSpc>
              <a:spcBef>
                <a:spcPts val="620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v=</a:t>
            </a:r>
            <a:r>
              <a:rPr sz="2800" b="1" spc="-15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v-1</a:t>
            </a:r>
            <a:endParaRPr sz="2800">
              <a:latin typeface="Times New Roman"/>
              <a:cs typeface="Times New Roman"/>
            </a:endParaRPr>
          </a:p>
          <a:p>
            <a:pPr marL="1047115">
              <a:lnSpc>
                <a:spcPct val="100000"/>
              </a:lnSpc>
              <a:spcBef>
                <a:spcPts val="5"/>
              </a:spcBef>
              <a:tabLst>
                <a:tab pos="3211195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v&lt;=20</a:t>
            </a:r>
            <a:r>
              <a:rPr sz="2800" b="1" spc="5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goto	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9275" y="6203391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99FF33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99FF33"/>
                </a:solidFill>
                <a:latin typeface="Times New Roman"/>
                <a:cs typeface="Times New Roman"/>
              </a:rPr>
              <a:t>5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234945" y="4198365"/>
            <a:ext cx="585470" cy="603250"/>
          </a:xfrm>
          <a:custGeom>
            <a:avLst/>
            <a:gdLst/>
            <a:ahLst/>
            <a:cxnLst/>
            <a:rect l="l" t="t" r="r" b="b"/>
            <a:pathLst>
              <a:path w="585469" h="603250">
                <a:moveTo>
                  <a:pt x="491977" y="534223"/>
                </a:moveTo>
                <a:lnTo>
                  <a:pt x="464693" y="560704"/>
                </a:lnTo>
                <a:lnTo>
                  <a:pt x="585216" y="602995"/>
                </a:lnTo>
                <a:lnTo>
                  <a:pt x="567819" y="547877"/>
                </a:lnTo>
                <a:lnTo>
                  <a:pt x="505206" y="547877"/>
                </a:lnTo>
                <a:lnTo>
                  <a:pt x="491977" y="534223"/>
                </a:lnTo>
                <a:close/>
              </a:path>
              <a:path w="585469" h="603250">
                <a:moveTo>
                  <a:pt x="519366" y="507639"/>
                </a:moveTo>
                <a:lnTo>
                  <a:pt x="491977" y="534223"/>
                </a:lnTo>
                <a:lnTo>
                  <a:pt x="505206" y="547877"/>
                </a:lnTo>
                <a:lnTo>
                  <a:pt x="532638" y="521334"/>
                </a:lnTo>
                <a:lnTo>
                  <a:pt x="519366" y="507639"/>
                </a:lnTo>
                <a:close/>
              </a:path>
              <a:path w="585469" h="603250">
                <a:moveTo>
                  <a:pt x="546735" y="481075"/>
                </a:moveTo>
                <a:lnTo>
                  <a:pt x="519366" y="507639"/>
                </a:lnTo>
                <a:lnTo>
                  <a:pt x="532638" y="521334"/>
                </a:lnTo>
                <a:lnTo>
                  <a:pt x="505206" y="547877"/>
                </a:lnTo>
                <a:lnTo>
                  <a:pt x="567819" y="547877"/>
                </a:lnTo>
                <a:lnTo>
                  <a:pt x="546735" y="481075"/>
                </a:lnTo>
                <a:close/>
              </a:path>
              <a:path w="585469" h="603250">
                <a:moveTo>
                  <a:pt x="27431" y="0"/>
                </a:moveTo>
                <a:lnTo>
                  <a:pt x="0" y="26415"/>
                </a:lnTo>
                <a:lnTo>
                  <a:pt x="491977" y="534223"/>
                </a:lnTo>
                <a:lnTo>
                  <a:pt x="519366" y="507639"/>
                </a:lnTo>
                <a:lnTo>
                  <a:pt x="2743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517892" y="6699504"/>
            <a:ext cx="222503" cy="1584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1761" y="1664970"/>
            <a:ext cx="5245735" cy="4447540"/>
          </a:xfrm>
          <a:custGeom>
            <a:avLst/>
            <a:gdLst/>
            <a:ahLst/>
            <a:cxnLst/>
            <a:rect l="l" t="t" r="r" b="b"/>
            <a:pathLst>
              <a:path w="5245735" h="4447540">
                <a:moveTo>
                  <a:pt x="0" y="4447032"/>
                </a:moveTo>
                <a:lnTo>
                  <a:pt x="5245608" y="4447032"/>
                </a:lnTo>
                <a:lnTo>
                  <a:pt x="5245608" y="0"/>
                </a:lnTo>
                <a:lnTo>
                  <a:pt x="0" y="0"/>
                </a:lnTo>
                <a:lnTo>
                  <a:pt x="0" y="4447032"/>
                </a:lnTo>
                <a:close/>
              </a:path>
            </a:pathLst>
          </a:custGeom>
          <a:ln w="38100">
            <a:solidFill>
              <a:srgbClr val="FFCCF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949576" y="11378"/>
            <a:ext cx="18942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代码优化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103</a:t>
            </a:fld>
            <a:r>
              <a:rPr sz="1400" b="1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10047" y="11378"/>
            <a:ext cx="23653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320141" y="392430"/>
            <a:ext cx="41097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说明外提的限制条件：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09183" y="525932"/>
            <a:ext cx="2929255" cy="250126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关于条件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50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(i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的举例：</a:t>
            </a:r>
            <a:endParaRPr sz="2800">
              <a:latin typeface="宋体"/>
              <a:cs typeface="宋体"/>
            </a:endParaRPr>
          </a:p>
          <a:p>
            <a:pPr marL="38100" marR="30480">
              <a:lnSpc>
                <a:spcPct val="114999"/>
              </a:lnSpc>
              <a:spcBef>
                <a:spcPts val="170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75" b="1" baseline="-16516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所在的结点是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 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的所有出口结点的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必经结点；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9821" y="697230"/>
            <a:ext cx="2113915" cy="944880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120015" rIns="0" bIns="0" rtlCol="0">
            <a:spAutoFit/>
          </a:bodyPr>
          <a:lstStyle/>
          <a:p>
            <a:pPr marL="90170" marR="233045">
              <a:lnSpc>
                <a:spcPts val="3040"/>
              </a:lnSpc>
              <a:spcBef>
                <a:spcPts val="94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外提不变运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算后的流图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77911" y="6690359"/>
            <a:ext cx="233172" cy="1645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49576" y="11378"/>
            <a:ext cx="18942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代码优化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240" y="6444996"/>
            <a:ext cx="364490" cy="413384"/>
          </a:xfrm>
          <a:custGeom>
            <a:avLst/>
            <a:gdLst/>
            <a:ahLst/>
            <a:cxnLst/>
            <a:rect l="l" t="t" r="r" b="b"/>
            <a:pathLst>
              <a:path w="364490" h="413384">
                <a:moveTo>
                  <a:pt x="364236" y="0"/>
                </a:moveTo>
                <a:lnTo>
                  <a:pt x="0" y="0"/>
                </a:lnTo>
                <a:lnTo>
                  <a:pt x="0" y="413003"/>
                </a:lnTo>
                <a:lnTo>
                  <a:pt x="364236" y="413003"/>
                </a:lnTo>
                <a:lnTo>
                  <a:pt x="364236" y="343090"/>
                </a:lnTo>
                <a:lnTo>
                  <a:pt x="45529" y="343090"/>
                </a:lnTo>
                <a:lnTo>
                  <a:pt x="45529" y="69913"/>
                </a:lnTo>
                <a:lnTo>
                  <a:pt x="364236" y="69913"/>
                </a:lnTo>
                <a:lnTo>
                  <a:pt x="364236" y="0"/>
                </a:lnTo>
                <a:close/>
              </a:path>
              <a:path w="364490" h="413384">
                <a:moveTo>
                  <a:pt x="318706" y="69913"/>
                </a:moveTo>
                <a:lnTo>
                  <a:pt x="79677" y="69913"/>
                </a:lnTo>
                <a:lnTo>
                  <a:pt x="79677" y="343090"/>
                </a:lnTo>
                <a:lnTo>
                  <a:pt x="318706" y="343090"/>
                </a:lnTo>
                <a:lnTo>
                  <a:pt x="113817" y="206501"/>
                </a:lnTo>
                <a:lnTo>
                  <a:pt x="318706" y="69913"/>
                </a:lnTo>
                <a:close/>
              </a:path>
              <a:path w="364490" h="413384">
                <a:moveTo>
                  <a:pt x="364236" y="69913"/>
                </a:moveTo>
                <a:lnTo>
                  <a:pt x="318706" y="69913"/>
                </a:lnTo>
                <a:lnTo>
                  <a:pt x="318706" y="343090"/>
                </a:lnTo>
                <a:lnTo>
                  <a:pt x="364236" y="343090"/>
                </a:lnTo>
                <a:lnTo>
                  <a:pt x="364236" y="69913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10047" y="11378"/>
            <a:ext cx="23653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769" y="6514909"/>
            <a:ext cx="273685" cy="273685"/>
          </a:xfrm>
          <a:custGeom>
            <a:avLst/>
            <a:gdLst/>
            <a:ahLst/>
            <a:cxnLst/>
            <a:rect l="l" t="t" r="r" b="b"/>
            <a:pathLst>
              <a:path w="273685" h="273684">
                <a:moveTo>
                  <a:pt x="273177" y="0"/>
                </a:moveTo>
                <a:lnTo>
                  <a:pt x="68287" y="136588"/>
                </a:lnTo>
                <a:lnTo>
                  <a:pt x="273177" y="273176"/>
                </a:lnTo>
                <a:lnTo>
                  <a:pt x="273177" y="0"/>
                </a:lnTo>
                <a:close/>
              </a:path>
              <a:path w="273685" h="273684">
                <a:moveTo>
                  <a:pt x="34147" y="0"/>
                </a:moveTo>
                <a:lnTo>
                  <a:pt x="0" y="0"/>
                </a:lnTo>
                <a:lnTo>
                  <a:pt x="0" y="273176"/>
                </a:lnTo>
                <a:lnTo>
                  <a:pt x="34147" y="273176"/>
                </a:lnTo>
                <a:lnTo>
                  <a:pt x="34147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83" y="6543852"/>
            <a:ext cx="3854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5" dirty="0">
                <a:latin typeface="宋体"/>
                <a:cs typeface="宋体"/>
                <a:hlinkClick r:id="rId4" action="ppaction://hlinksldjump"/>
              </a:rPr>
              <a:t>返回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73017" y="2593085"/>
            <a:ext cx="1929764" cy="3543300"/>
          </a:xfrm>
          <a:custGeom>
            <a:avLst/>
            <a:gdLst/>
            <a:ahLst/>
            <a:cxnLst/>
            <a:rect l="l" t="t" r="r" b="b"/>
            <a:pathLst>
              <a:path w="1929764" h="3543300">
                <a:moveTo>
                  <a:pt x="0" y="3543300"/>
                </a:moveTo>
                <a:lnTo>
                  <a:pt x="1929384" y="3543300"/>
                </a:lnTo>
                <a:lnTo>
                  <a:pt x="1929384" y="0"/>
                </a:lnTo>
                <a:lnTo>
                  <a:pt x="0" y="0"/>
                </a:lnTo>
                <a:lnTo>
                  <a:pt x="0" y="35433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651250" y="2603811"/>
            <a:ext cx="1659255" cy="3440429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25"/>
              </a:spcBef>
            </a:pP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将“不变 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运算”外 提后，会 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改变程 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序的计算 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结果。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58417" y="752094"/>
            <a:ext cx="1237615" cy="472440"/>
          </a:xfrm>
          <a:custGeom>
            <a:avLst/>
            <a:gdLst/>
            <a:ahLst/>
            <a:cxnLst/>
            <a:rect l="l" t="t" r="r" b="b"/>
            <a:pathLst>
              <a:path w="1237614" h="472440">
                <a:moveTo>
                  <a:pt x="0" y="472439"/>
                </a:moveTo>
                <a:lnTo>
                  <a:pt x="1237488" y="472439"/>
                </a:lnTo>
                <a:lnTo>
                  <a:pt x="1237488" y="0"/>
                </a:lnTo>
                <a:lnTo>
                  <a:pt x="0" y="0"/>
                </a:lnTo>
                <a:lnTo>
                  <a:pt x="0" y="47243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14450" y="723646"/>
            <a:ext cx="506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i=1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6418" y="2009394"/>
            <a:ext cx="2533015" cy="439420"/>
          </a:xfrm>
          <a:custGeom>
            <a:avLst/>
            <a:gdLst/>
            <a:ahLst/>
            <a:cxnLst/>
            <a:rect l="l" t="t" r="r" b="b"/>
            <a:pathLst>
              <a:path w="2533015" h="439419">
                <a:moveTo>
                  <a:pt x="0" y="438912"/>
                </a:moveTo>
                <a:lnTo>
                  <a:pt x="2532888" y="438912"/>
                </a:lnTo>
                <a:lnTo>
                  <a:pt x="2532888" y="0"/>
                </a:lnTo>
                <a:lnTo>
                  <a:pt x="0" y="0"/>
                </a:lnTo>
                <a:lnTo>
                  <a:pt x="0" y="438912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4413" y="3120389"/>
            <a:ext cx="1556385" cy="893444"/>
          </a:xfrm>
          <a:custGeom>
            <a:avLst/>
            <a:gdLst/>
            <a:ahLst/>
            <a:cxnLst/>
            <a:rect l="l" t="t" r="r" b="b"/>
            <a:pathLst>
              <a:path w="1556385" h="893445">
                <a:moveTo>
                  <a:pt x="0" y="893063"/>
                </a:moveTo>
                <a:lnTo>
                  <a:pt x="1556004" y="893063"/>
                </a:lnTo>
                <a:lnTo>
                  <a:pt x="1556004" y="0"/>
                </a:lnTo>
                <a:lnTo>
                  <a:pt x="0" y="0"/>
                </a:lnTo>
                <a:lnTo>
                  <a:pt x="0" y="89306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0700" y="3033141"/>
            <a:ext cx="5054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i=2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2391" y="3502914"/>
            <a:ext cx="100456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u=</a:t>
            </a:r>
            <a:r>
              <a:rPr sz="2800" b="1" spc="5" dirty="0">
                <a:solidFill>
                  <a:srgbClr val="FFFF99"/>
                </a:solidFill>
                <a:latin typeface="Times New Roman"/>
                <a:cs typeface="Times New Roman"/>
              </a:rPr>
              <a:t>u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+1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61009" y="4656582"/>
            <a:ext cx="2915920" cy="826135"/>
          </a:xfrm>
          <a:custGeom>
            <a:avLst/>
            <a:gdLst/>
            <a:ahLst/>
            <a:cxnLst/>
            <a:rect l="l" t="t" r="r" b="b"/>
            <a:pathLst>
              <a:path w="2915920" h="826135">
                <a:moveTo>
                  <a:pt x="0" y="826008"/>
                </a:moveTo>
                <a:lnTo>
                  <a:pt x="2915412" y="826008"/>
                </a:lnTo>
                <a:lnTo>
                  <a:pt x="2915412" y="0"/>
                </a:lnTo>
                <a:lnTo>
                  <a:pt x="0" y="0"/>
                </a:lnTo>
                <a:lnTo>
                  <a:pt x="0" y="82600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84300" y="4544644"/>
            <a:ext cx="9696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v=</a:t>
            </a:r>
            <a:r>
              <a:rPr sz="2800" b="1" spc="-85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v-1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7684" y="4972050"/>
            <a:ext cx="2604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76780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v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&lt;=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0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g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t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829561" y="6069329"/>
            <a:ext cx="943610" cy="474345"/>
          </a:xfrm>
          <a:custGeom>
            <a:avLst/>
            <a:gdLst/>
            <a:ahLst/>
            <a:cxnLst/>
            <a:rect l="l" t="t" r="r" b="b"/>
            <a:pathLst>
              <a:path w="943610" h="474345">
                <a:moveTo>
                  <a:pt x="0" y="473964"/>
                </a:moveTo>
                <a:lnTo>
                  <a:pt x="943356" y="473964"/>
                </a:lnTo>
                <a:lnTo>
                  <a:pt x="943356" y="0"/>
                </a:lnTo>
                <a:lnTo>
                  <a:pt x="0" y="0"/>
                </a:lnTo>
                <a:lnTo>
                  <a:pt x="0" y="47396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996185" y="6043066"/>
            <a:ext cx="535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=</a:t>
            </a:r>
            <a:r>
              <a:rPr sz="2800" b="1" spc="-70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72767" y="1224533"/>
            <a:ext cx="114300" cy="784860"/>
          </a:xfrm>
          <a:custGeom>
            <a:avLst/>
            <a:gdLst/>
            <a:ahLst/>
            <a:cxnLst/>
            <a:rect l="l" t="t" r="r" b="b"/>
            <a:pathLst>
              <a:path w="114300" h="784860">
                <a:moveTo>
                  <a:pt x="38100" y="670560"/>
                </a:moveTo>
                <a:lnTo>
                  <a:pt x="0" y="670560"/>
                </a:lnTo>
                <a:lnTo>
                  <a:pt x="57150" y="784860"/>
                </a:lnTo>
                <a:lnTo>
                  <a:pt x="104775" y="689610"/>
                </a:lnTo>
                <a:lnTo>
                  <a:pt x="38100" y="689610"/>
                </a:lnTo>
                <a:lnTo>
                  <a:pt x="38100" y="670560"/>
                </a:lnTo>
                <a:close/>
              </a:path>
              <a:path w="114300" h="784860">
                <a:moveTo>
                  <a:pt x="76200" y="0"/>
                </a:moveTo>
                <a:lnTo>
                  <a:pt x="38100" y="0"/>
                </a:lnTo>
                <a:lnTo>
                  <a:pt x="38100" y="689610"/>
                </a:lnTo>
                <a:lnTo>
                  <a:pt x="76200" y="689610"/>
                </a:lnTo>
                <a:lnTo>
                  <a:pt x="76200" y="0"/>
                </a:lnTo>
                <a:close/>
              </a:path>
              <a:path w="114300" h="784860">
                <a:moveTo>
                  <a:pt x="114300" y="670560"/>
                </a:moveTo>
                <a:lnTo>
                  <a:pt x="76200" y="670560"/>
                </a:lnTo>
                <a:lnTo>
                  <a:pt x="76200" y="689610"/>
                </a:lnTo>
                <a:lnTo>
                  <a:pt x="104775" y="689610"/>
                </a:lnTo>
                <a:lnTo>
                  <a:pt x="114300" y="6705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5518" y="2472817"/>
            <a:ext cx="360045" cy="647700"/>
          </a:xfrm>
          <a:custGeom>
            <a:avLst/>
            <a:gdLst/>
            <a:ahLst/>
            <a:cxnLst/>
            <a:rect l="l" t="t" r="r" b="b"/>
            <a:pathLst>
              <a:path w="360044" h="647700">
                <a:moveTo>
                  <a:pt x="3721" y="519811"/>
                </a:moveTo>
                <a:lnTo>
                  <a:pt x="0" y="647573"/>
                </a:lnTo>
                <a:lnTo>
                  <a:pt x="104419" y="573913"/>
                </a:lnTo>
                <a:lnTo>
                  <a:pt x="102055" y="572643"/>
                </a:lnTo>
                <a:lnTo>
                  <a:pt x="61848" y="572643"/>
                </a:lnTo>
                <a:lnTo>
                  <a:pt x="28282" y="554609"/>
                </a:lnTo>
                <a:lnTo>
                  <a:pt x="37285" y="537844"/>
                </a:lnTo>
                <a:lnTo>
                  <a:pt x="3721" y="519811"/>
                </a:lnTo>
                <a:close/>
              </a:path>
              <a:path w="360044" h="647700">
                <a:moveTo>
                  <a:pt x="37285" y="537844"/>
                </a:moveTo>
                <a:lnTo>
                  <a:pt x="28282" y="554609"/>
                </a:lnTo>
                <a:lnTo>
                  <a:pt x="61848" y="572643"/>
                </a:lnTo>
                <a:lnTo>
                  <a:pt x="70852" y="555878"/>
                </a:lnTo>
                <a:lnTo>
                  <a:pt x="37285" y="537844"/>
                </a:lnTo>
                <a:close/>
              </a:path>
              <a:path w="360044" h="647700">
                <a:moveTo>
                  <a:pt x="70852" y="555878"/>
                </a:moveTo>
                <a:lnTo>
                  <a:pt x="61848" y="572643"/>
                </a:lnTo>
                <a:lnTo>
                  <a:pt x="102055" y="572643"/>
                </a:lnTo>
                <a:lnTo>
                  <a:pt x="70852" y="555878"/>
                </a:lnTo>
                <a:close/>
              </a:path>
              <a:path w="360044" h="647700">
                <a:moveTo>
                  <a:pt x="326110" y="0"/>
                </a:moveTo>
                <a:lnTo>
                  <a:pt x="37285" y="537844"/>
                </a:lnTo>
                <a:lnTo>
                  <a:pt x="70852" y="555878"/>
                </a:lnTo>
                <a:lnTo>
                  <a:pt x="359689" y="18034"/>
                </a:lnTo>
                <a:lnTo>
                  <a:pt x="32611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38755" y="2481833"/>
            <a:ext cx="114300" cy="2174875"/>
          </a:xfrm>
          <a:custGeom>
            <a:avLst/>
            <a:gdLst/>
            <a:ahLst/>
            <a:cxnLst/>
            <a:rect l="l" t="t" r="r" b="b"/>
            <a:pathLst>
              <a:path w="114300" h="2174875">
                <a:moveTo>
                  <a:pt x="38100" y="2060447"/>
                </a:moveTo>
                <a:lnTo>
                  <a:pt x="0" y="2060447"/>
                </a:lnTo>
                <a:lnTo>
                  <a:pt x="57150" y="2174747"/>
                </a:lnTo>
                <a:lnTo>
                  <a:pt x="104775" y="2079497"/>
                </a:lnTo>
                <a:lnTo>
                  <a:pt x="38100" y="2079497"/>
                </a:lnTo>
                <a:lnTo>
                  <a:pt x="38100" y="2060447"/>
                </a:lnTo>
                <a:close/>
              </a:path>
              <a:path w="114300" h="2174875">
                <a:moveTo>
                  <a:pt x="76200" y="0"/>
                </a:moveTo>
                <a:lnTo>
                  <a:pt x="38100" y="0"/>
                </a:lnTo>
                <a:lnTo>
                  <a:pt x="38100" y="2079497"/>
                </a:lnTo>
                <a:lnTo>
                  <a:pt x="76200" y="2079497"/>
                </a:lnTo>
                <a:lnTo>
                  <a:pt x="76200" y="0"/>
                </a:lnTo>
                <a:close/>
              </a:path>
              <a:path w="114300" h="2174875">
                <a:moveTo>
                  <a:pt x="114300" y="2060447"/>
                </a:moveTo>
                <a:lnTo>
                  <a:pt x="76200" y="2060447"/>
                </a:lnTo>
                <a:lnTo>
                  <a:pt x="76200" y="2079497"/>
                </a:lnTo>
                <a:lnTo>
                  <a:pt x="104775" y="2079497"/>
                </a:lnTo>
                <a:lnTo>
                  <a:pt x="114300" y="206044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14955" y="5482590"/>
            <a:ext cx="114300" cy="586740"/>
          </a:xfrm>
          <a:custGeom>
            <a:avLst/>
            <a:gdLst/>
            <a:ahLst/>
            <a:cxnLst/>
            <a:rect l="l" t="t" r="r" b="b"/>
            <a:pathLst>
              <a:path w="114300" h="586739">
                <a:moveTo>
                  <a:pt x="38100" y="472440"/>
                </a:moveTo>
                <a:lnTo>
                  <a:pt x="0" y="472440"/>
                </a:lnTo>
                <a:lnTo>
                  <a:pt x="57150" y="586740"/>
                </a:lnTo>
                <a:lnTo>
                  <a:pt x="104775" y="491490"/>
                </a:lnTo>
                <a:lnTo>
                  <a:pt x="38100" y="491490"/>
                </a:lnTo>
                <a:lnTo>
                  <a:pt x="38100" y="472440"/>
                </a:lnTo>
                <a:close/>
              </a:path>
              <a:path w="114300" h="586739">
                <a:moveTo>
                  <a:pt x="76200" y="0"/>
                </a:moveTo>
                <a:lnTo>
                  <a:pt x="38100" y="0"/>
                </a:lnTo>
                <a:lnTo>
                  <a:pt x="38100" y="491490"/>
                </a:lnTo>
                <a:lnTo>
                  <a:pt x="76200" y="491490"/>
                </a:lnTo>
                <a:lnTo>
                  <a:pt x="76200" y="0"/>
                </a:lnTo>
                <a:close/>
              </a:path>
              <a:path w="114300" h="586739">
                <a:moveTo>
                  <a:pt x="114300" y="472440"/>
                </a:moveTo>
                <a:lnTo>
                  <a:pt x="76200" y="472440"/>
                </a:lnTo>
                <a:lnTo>
                  <a:pt x="76200" y="491490"/>
                </a:lnTo>
                <a:lnTo>
                  <a:pt x="104775" y="491490"/>
                </a:lnTo>
                <a:lnTo>
                  <a:pt x="114300" y="47244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520695" y="781049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99FF33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99FF33"/>
                </a:solidFill>
                <a:latin typeface="Times New Roman"/>
                <a:cs typeface="Times New Roman"/>
              </a:rPr>
              <a:t>1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7083" y="1733754"/>
            <a:ext cx="2836545" cy="1372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0" marR="30480" indent="-476884">
              <a:lnSpc>
                <a:spcPct val="157800"/>
              </a:lnSpc>
              <a:spcBef>
                <a:spcPts val="100"/>
              </a:spcBef>
              <a:tabLst>
                <a:tab pos="1842135" algn="l"/>
                <a:tab pos="2426335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u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&lt;v</a:t>
            </a:r>
            <a:r>
              <a:rPr sz="2800" b="1" spc="10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g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to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B4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	</a:t>
            </a:r>
            <a:r>
              <a:rPr sz="4200" b="1" spc="-22" baseline="-2976" dirty="0">
                <a:solidFill>
                  <a:srgbClr val="99FF33"/>
                </a:solidFill>
                <a:latin typeface="Times New Roman"/>
                <a:cs typeface="Times New Roman"/>
              </a:rPr>
              <a:t>B</a:t>
            </a:r>
            <a:r>
              <a:rPr sz="3150" b="1" spc="15" baseline="-18518" dirty="0">
                <a:solidFill>
                  <a:srgbClr val="99FF33"/>
                </a:solidFill>
                <a:latin typeface="Times New Roman"/>
                <a:cs typeface="Times New Roman"/>
              </a:rPr>
              <a:t>2  </a:t>
            </a:r>
            <a:r>
              <a:rPr sz="2800" b="1" spc="-5" dirty="0">
                <a:solidFill>
                  <a:srgbClr val="99FF33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75715" y="2810001"/>
            <a:ext cx="16129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spc="15" dirty="0">
                <a:solidFill>
                  <a:srgbClr val="99FF33"/>
                </a:solidFill>
                <a:latin typeface="Times New Roman"/>
                <a:cs typeface="Times New Roman"/>
              </a:rPr>
              <a:t>3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76245" y="4217034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99FF33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99FF33"/>
                </a:solidFill>
                <a:latin typeface="Times New Roman"/>
                <a:cs typeface="Times New Roman"/>
              </a:rPr>
              <a:t>4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62123" y="6020815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99FF33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99FF33"/>
                </a:solidFill>
                <a:latin typeface="Times New Roman"/>
                <a:cs typeface="Times New Roman"/>
              </a:rPr>
              <a:t>5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44740" y="4015485"/>
            <a:ext cx="585470" cy="603250"/>
          </a:xfrm>
          <a:custGeom>
            <a:avLst/>
            <a:gdLst/>
            <a:ahLst/>
            <a:cxnLst/>
            <a:rect l="l" t="t" r="r" b="b"/>
            <a:pathLst>
              <a:path w="585469" h="603250">
                <a:moveTo>
                  <a:pt x="491960" y="534244"/>
                </a:moveTo>
                <a:lnTo>
                  <a:pt x="464654" y="560705"/>
                </a:lnTo>
                <a:lnTo>
                  <a:pt x="585177" y="602995"/>
                </a:lnTo>
                <a:lnTo>
                  <a:pt x="567763" y="547877"/>
                </a:lnTo>
                <a:lnTo>
                  <a:pt x="505167" y="547877"/>
                </a:lnTo>
                <a:lnTo>
                  <a:pt x="491960" y="534244"/>
                </a:lnTo>
                <a:close/>
              </a:path>
              <a:path w="585469" h="603250">
                <a:moveTo>
                  <a:pt x="519370" y="507683"/>
                </a:moveTo>
                <a:lnTo>
                  <a:pt x="491960" y="534244"/>
                </a:lnTo>
                <a:lnTo>
                  <a:pt x="505167" y="547877"/>
                </a:lnTo>
                <a:lnTo>
                  <a:pt x="532599" y="521334"/>
                </a:lnTo>
                <a:lnTo>
                  <a:pt x="519370" y="507683"/>
                </a:lnTo>
                <a:close/>
              </a:path>
              <a:path w="585469" h="603250">
                <a:moveTo>
                  <a:pt x="546696" y="481202"/>
                </a:moveTo>
                <a:lnTo>
                  <a:pt x="519370" y="507683"/>
                </a:lnTo>
                <a:lnTo>
                  <a:pt x="532599" y="521334"/>
                </a:lnTo>
                <a:lnTo>
                  <a:pt x="505167" y="547877"/>
                </a:lnTo>
                <a:lnTo>
                  <a:pt x="567763" y="547877"/>
                </a:lnTo>
                <a:lnTo>
                  <a:pt x="546696" y="481202"/>
                </a:lnTo>
                <a:close/>
              </a:path>
              <a:path w="585469" h="603250">
                <a:moveTo>
                  <a:pt x="27355" y="0"/>
                </a:moveTo>
                <a:lnTo>
                  <a:pt x="0" y="26415"/>
                </a:lnTo>
                <a:lnTo>
                  <a:pt x="491960" y="534244"/>
                </a:lnTo>
                <a:lnTo>
                  <a:pt x="519370" y="507683"/>
                </a:lnTo>
                <a:lnTo>
                  <a:pt x="2735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8483" y="2230373"/>
            <a:ext cx="414655" cy="2859405"/>
          </a:xfrm>
          <a:custGeom>
            <a:avLst/>
            <a:gdLst/>
            <a:ahLst/>
            <a:cxnLst/>
            <a:rect l="l" t="t" r="r" b="b"/>
            <a:pathLst>
              <a:path w="414655" h="2859404">
                <a:moveTo>
                  <a:pt x="162438" y="77945"/>
                </a:moveTo>
                <a:lnTo>
                  <a:pt x="158501" y="83565"/>
                </a:lnTo>
                <a:lnTo>
                  <a:pt x="157586" y="84836"/>
                </a:lnTo>
                <a:lnTo>
                  <a:pt x="156837" y="86233"/>
                </a:lnTo>
                <a:lnTo>
                  <a:pt x="140797" y="131190"/>
                </a:lnTo>
                <a:lnTo>
                  <a:pt x="125912" y="181355"/>
                </a:lnTo>
                <a:lnTo>
                  <a:pt x="116171" y="218439"/>
                </a:lnTo>
                <a:lnTo>
                  <a:pt x="106748" y="257937"/>
                </a:lnTo>
                <a:lnTo>
                  <a:pt x="97629" y="300100"/>
                </a:lnTo>
                <a:lnTo>
                  <a:pt x="88714" y="344804"/>
                </a:lnTo>
                <a:lnTo>
                  <a:pt x="80180" y="391795"/>
                </a:lnTo>
                <a:lnTo>
                  <a:pt x="71946" y="440816"/>
                </a:lnTo>
                <a:lnTo>
                  <a:pt x="64001" y="492125"/>
                </a:lnTo>
                <a:lnTo>
                  <a:pt x="56546" y="545084"/>
                </a:lnTo>
                <a:lnTo>
                  <a:pt x="49378" y="600075"/>
                </a:lnTo>
                <a:lnTo>
                  <a:pt x="42590" y="656716"/>
                </a:lnTo>
                <a:lnTo>
                  <a:pt x="36287" y="714883"/>
                </a:lnTo>
                <a:lnTo>
                  <a:pt x="30364" y="774446"/>
                </a:lnTo>
                <a:lnTo>
                  <a:pt x="24919" y="835278"/>
                </a:lnTo>
                <a:lnTo>
                  <a:pt x="19951" y="897381"/>
                </a:lnTo>
                <a:lnTo>
                  <a:pt x="15560" y="960374"/>
                </a:lnTo>
                <a:lnTo>
                  <a:pt x="11645" y="1024381"/>
                </a:lnTo>
                <a:lnTo>
                  <a:pt x="8206" y="1089152"/>
                </a:lnTo>
                <a:lnTo>
                  <a:pt x="5395" y="1155827"/>
                </a:lnTo>
                <a:lnTo>
                  <a:pt x="3221" y="1221486"/>
                </a:lnTo>
                <a:lnTo>
                  <a:pt x="1610" y="1287399"/>
                </a:lnTo>
                <a:lnTo>
                  <a:pt x="568" y="1353692"/>
                </a:lnTo>
                <a:lnTo>
                  <a:pt x="0" y="1419987"/>
                </a:lnTo>
                <a:lnTo>
                  <a:pt x="576" y="1486915"/>
                </a:lnTo>
                <a:lnTo>
                  <a:pt x="2302" y="1553590"/>
                </a:lnTo>
                <a:lnTo>
                  <a:pt x="5173" y="1620012"/>
                </a:lnTo>
                <a:lnTo>
                  <a:pt x="9004" y="1686052"/>
                </a:lnTo>
                <a:lnTo>
                  <a:pt x="13886" y="1751711"/>
                </a:lnTo>
                <a:lnTo>
                  <a:pt x="19726" y="1816608"/>
                </a:lnTo>
                <a:lnTo>
                  <a:pt x="26521" y="1880743"/>
                </a:lnTo>
                <a:lnTo>
                  <a:pt x="34179" y="1943989"/>
                </a:lnTo>
                <a:lnTo>
                  <a:pt x="42705" y="2006092"/>
                </a:lnTo>
                <a:lnTo>
                  <a:pt x="52180" y="2067178"/>
                </a:lnTo>
                <a:lnTo>
                  <a:pt x="62331" y="2126869"/>
                </a:lnTo>
                <a:lnTo>
                  <a:pt x="73257" y="2185162"/>
                </a:lnTo>
                <a:lnTo>
                  <a:pt x="84942" y="2241931"/>
                </a:lnTo>
                <a:lnTo>
                  <a:pt x="97325" y="2297049"/>
                </a:lnTo>
                <a:lnTo>
                  <a:pt x="110368" y="2350262"/>
                </a:lnTo>
                <a:lnTo>
                  <a:pt x="124007" y="2401570"/>
                </a:lnTo>
                <a:lnTo>
                  <a:pt x="138282" y="2450719"/>
                </a:lnTo>
                <a:lnTo>
                  <a:pt x="153103" y="2497963"/>
                </a:lnTo>
                <a:lnTo>
                  <a:pt x="168432" y="2542667"/>
                </a:lnTo>
                <a:lnTo>
                  <a:pt x="184243" y="2584958"/>
                </a:lnTo>
                <a:lnTo>
                  <a:pt x="200576" y="2624836"/>
                </a:lnTo>
                <a:lnTo>
                  <a:pt x="217390" y="2662174"/>
                </a:lnTo>
                <a:lnTo>
                  <a:pt x="234637" y="2696464"/>
                </a:lnTo>
                <a:lnTo>
                  <a:pt x="261256" y="2742692"/>
                </a:lnTo>
                <a:lnTo>
                  <a:pt x="288955" y="2781935"/>
                </a:lnTo>
                <a:lnTo>
                  <a:pt x="317822" y="2814066"/>
                </a:lnTo>
                <a:lnTo>
                  <a:pt x="348200" y="2838450"/>
                </a:lnTo>
                <a:lnTo>
                  <a:pt x="391330" y="2856738"/>
                </a:lnTo>
                <a:lnTo>
                  <a:pt x="412120" y="2859151"/>
                </a:lnTo>
                <a:lnTo>
                  <a:pt x="414075" y="2821051"/>
                </a:lnTo>
                <a:lnTo>
                  <a:pt x="404842" y="2820543"/>
                </a:lnTo>
                <a:lnTo>
                  <a:pt x="397908" y="2819273"/>
                </a:lnTo>
                <a:lnTo>
                  <a:pt x="359719" y="2799969"/>
                </a:lnTo>
                <a:lnTo>
                  <a:pt x="326801" y="2767965"/>
                </a:lnTo>
                <a:lnTo>
                  <a:pt x="301515" y="2734564"/>
                </a:lnTo>
                <a:lnTo>
                  <a:pt x="276458" y="2693670"/>
                </a:lnTo>
                <a:lnTo>
                  <a:pt x="251617" y="2645410"/>
                </a:lnTo>
                <a:lnTo>
                  <a:pt x="235475" y="2609469"/>
                </a:lnTo>
                <a:lnTo>
                  <a:pt x="219613" y="2570861"/>
                </a:lnTo>
                <a:lnTo>
                  <a:pt x="204182" y="2529586"/>
                </a:lnTo>
                <a:lnTo>
                  <a:pt x="189222" y="2485771"/>
                </a:lnTo>
                <a:lnTo>
                  <a:pt x="174706" y="2439543"/>
                </a:lnTo>
                <a:lnTo>
                  <a:pt x="160596" y="2391029"/>
                </a:lnTo>
                <a:lnTo>
                  <a:pt x="147185" y="2340483"/>
                </a:lnTo>
                <a:lnTo>
                  <a:pt x="134320" y="2287905"/>
                </a:lnTo>
                <a:lnTo>
                  <a:pt x="122128" y="2233549"/>
                </a:lnTo>
                <a:lnTo>
                  <a:pt x="110571" y="2177415"/>
                </a:lnTo>
                <a:lnTo>
                  <a:pt x="99776" y="2119757"/>
                </a:lnTo>
                <a:lnTo>
                  <a:pt x="89743" y="2060828"/>
                </a:lnTo>
                <a:lnTo>
                  <a:pt x="80357" y="2000250"/>
                </a:lnTo>
                <a:lnTo>
                  <a:pt x="71926" y="1938782"/>
                </a:lnTo>
                <a:lnTo>
                  <a:pt x="64344" y="1876170"/>
                </a:lnTo>
                <a:lnTo>
                  <a:pt x="57614" y="1812544"/>
                </a:lnTo>
                <a:lnTo>
                  <a:pt x="51833" y="1748282"/>
                </a:lnTo>
                <a:lnTo>
                  <a:pt x="47000" y="1683258"/>
                </a:lnTo>
                <a:lnTo>
                  <a:pt x="43210" y="1617852"/>
                </a:lnTo>
                <a:lnTo>
                  <a:pt x="40366" y="1551939"/>
                </a:lnTo>
                <a:lnTo>
                  <a:pt x="38663" y="1485900"/>
                </a:lnTo>
                <a:lnTo>
                  <a:pt x="38097" y="1419606"/>
                </a:lnTo>
                <a:lnTo>
                  <a:pt x="38674" y="1353312"/>
                </a:lnTo>
                <a:lnTo>
                  <a:pt x="39731" y="1286764"/>
                </a:lnTo>
                <a:lnTo>
                  <a:pt x="41361" y="1220597"/>
                </a:lnTo>
                <a:lnTo>
                  <a:pt x="43571" y="1154556"/>
                </a:lnTo>
                <a:lnTo>
                  <a:pt x="46273" y="1090802"/>
                </a:lnTo>
                <a:lnTo>
                  <a:pt x="49692" y="1026413"/>
                </a:lnTo>
                <a:lnTo>
                  <a:pt x="53588" y="962660"/>
                </a:lnTo>
                <a:lnTo>
                  <a:pt x="57960" y="900049"/>
                </a:lnTo>
                <a:lnTo>
                  <a:pt x="62898" y="838326"/>
                </a:lnTo>
                <a:lnTo>
                  <a:pt x="68312" y="777748"/>
                </a:lnTo>
                <a:lnTo>
                  <a:pt x="74199" y="718692"/>
                </a:lnTo>
                <a:lnTo>
                  <a:pt x="80472" y="660780"/>
                </a:lnTo>
                <a:lnTo>
                  <a:pt x="87203" y="604647"/>
                </a:lnTo>
                <a:lnTo>
                  <a:pt x="94327" y="550037"/>
                </a:lnTo>
                <a:lnTo>
                  <a:pt x="101732" y="497331"/>
                </a:lnTo>
                <a:lnTo>
                  <a:pt x="109593" y="446659"/>
                </a:lnTo>
                <a:lnTo>
                  <a:pt x="117746" y="398017"/>
                </a:lnTo>
                <a:lnTo>
                  <a:pt x="126166" y="351663"/>
                </a:lnTo>
                <a:lnTo>
                  <a:pt x="134967" y="307721"/>
                </a:lnTo>
                <a:lnTo>
                  <a:pt x="143946" y="266318"/>
                </a:lnTo>
                <a:lnTo>
                  <a:pt x="153192" y="227329"/>
                </a:lnTo>
                <a:lnTo>
                  <a:pt x="167492" y="174371"/>
                </a:lnTo>
                <a:lnTo>
                  <a:pt x="182072" y="128142"/>
                </a:lnTo>
                <a:lnTo>
                  <a:pt x="190365" y="105410"/>
                </a:lnTo>
                <a:lnTo>
                  <a:pt x="189730" y="105410"/>
                </a:lnTo>
                <a:lnTo>
                  <a:pt x="191784" y="101536"/>
                </a:lnTo>
                <a:lnTo>
                  <a:pt x="162438" y="77945"/>
                </a:lnTo>
                <a:close/>
              </a:path>
              <a:path w="414655" h="2859404">
                <a:moveTo>
                  <a:pt x="234196" y="63373"/>
                </a:moveTo>
                <a:lnTo>
                  <a:pt x="172648" y="63373"/>
                </a:lnTo>
                <a:lnTo>
                  <a:pt x="203878" y="85089"/>
                </a:lnTo>
                <a:lnTo>
                  <a:pt x="192214" y="101842"/>
                </a:lnTo>
                <a:lnTo>
                  <a:pt x="220870" y="124840"/>
                </a:lnTo>
                <a:lnTo>
                  <a:pt x="234196" y="63373"/>
                </a:lnTo>
                <a:close/>
              </a:path>
              <a:path w="414655" h="2859404">
                <a:moveTo>
                  <a:pt x="191799" y="101509"/>
                </a:moveTo>
                <a:lnTo>
                  <a:pt x="189730" y="105410"/>
                </a:lnTo>
                <a:lnTo>
                  <a:pt x="191123" y="103408"/>
                </a:lnTo>
                <a:lnTo>
                  <a:pt x="191716" y="101842"/>
                </a:lnTo>
                <a:lnTo>
                  <a:pt x="191799" y="101509"/>
                </a:lnTo>
                <a:close/>
              </a:path>
              <a:path w="414655" h="2859404">
                <a:moveTo>
                  <a:pt x="191123" y="103408"/>
                </a:moveTo>
                <a:lnTo>
                  <a:pt x="189730" y="105410"/>
                </a:lnTo>
                <a:lnTo>
                  <a:pt x="190365" y="105410"/>
                </a:lnTo>
                <a:lnTo>
                  <a:pt x="191123" y="103408"/>
                </a:lnTo>
                <a:close/>
              </a:path>
              <a:path w="414655" h="2859404">
                <a:moveTo>
                  <a:pt x="191832" y="101536"/>
                </a:moveTo>
                <a:lnTo>
                  <a:pt x="191123" y="103408"/>
                </a:lnTo>
                <a:lnTo>
                  <a:pt x="192214" y="101842"/>
                </a:lnTo>
                <a:lnTo>
                  <a:pt x="191832" y="101536"/>
                </a:lnTo>
                <a:close/>
              </a:path>
              <a:path w="414655" h="2859404">
                <a:moveTo>
                  <a:pt x="192648" y="101218"/>
                </a:moveTo>
                <a:lnTo>
                  <a:pt x="191952" y="101218"/>
                </a:lnTo>
                <a:lnTo>
                  <a:pt x="191832" y="101536"/>
                </a:lnTo>
                <a:lnTo>
                  <a:pt x="192214" y="101842"/>
                </a:lnTo>
                <a:lnTo>
                  <a:pt x="192648" y="101218"/>
                </a:lnTo>
                <a:close/>
              </a:path>
              <a:path w="414655" h="2859404">
                <a:moveTo>
                  <a:pt x="172648" y="63373"/>
                </a:moveTo>
                <a:lnTo>
                  <a:pt x="162438" y="77945"/>
                </a:lnTo>
                <a:lnTo>
                  <a:pt x="191799" y="101509"/>
                </a:lnTo>
                <a:lnTo>
                  <a:pt x="191952" y="101218"/>
                </a:lnTo>
                <a:lnTo>
                  <a:pt x="192648" y="101218"/>
                </a:lnTo>
                <a:lnTo>
                  <a:pt x="203878" y="85089"/>
                </a:lnTo>
                <a:lnTo>
                  <a:pt x="172648" y="63373"/>
                </a:lnTo>
                <a:close/>
              </a:path>
              <a:path w="414655" h="2859404">
                <a:moveTo>
                  <a:pt x="247934" y="0"/>
                </a:moveTo>
                <a:lnTo>
                  <a:pt x="131780" y="53339"/>
                </a:lnTo>
                <a:lnTo>
                  <a:pt x="162438" y="77945"/>
                </a:lnTo>
                <a:lnTo>
                  <a:pt x="172648" y="63373"/>
                </a:lnTo>
                <a:lnTo>
                  <a:pt x="234196" y="63373"/>
                </a:lnTo>
                <a:lnTo>
                  <a:pt x="24793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627114" y="651509"/>
            <a:ext cx="1237615" cy="474345"/>
          </a:xfrm>
          <a:custGeom>
            <a:avLst/>
            <a:gdLst/>
            <a:ahLst/>
            <a:cxnLst/>
            <a:rect l="l" t="t" r="r" b="b"/>
            <a:pathLst>
              <a:path w="1237615" h="474344">
                <a:moveTo>
                  <a:pt x="0" y="473963"/>
                </a:moveTo>
                <a:lnTo>
                  <a:pt x="1237487" y="473963"/>
                </a:lnTo>
                <a:lnTo>
                  <a:pt x="1237487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884289" y="623697"/>
            <a:ext cx="5054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i=1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865114" y="2823210"/>
            <a:ext cx="2914015" cy="440690"/>
          </a:xfrm>
          <a:custGeom>
            <a:avLst/>
            <a:gdLst/>
            <a:ahLst/>
            <a:cxnLst/>
            <a:rect l="l" t="t" r="r" b="b"/>
            <a:pathLst>
              <a:path w="2914015" h="440689">
                <a:moveTo>
                  <a:pt x="0" y="440436"/>
                </a:moveTo>
                <a:lnTo>
                  <a:pt x="2913888" y="440436"/>
                </a:lnTo>
                <a:lnTo>
                  <a:pt x="2913888" y="0"/>
                </a:lnTo>
                <a:lnTo>
                  <a:pt x="0" y="0"/>
                </a:lnTo>
                <a:lnTo>
                  <a:pt x="0" y="44043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959602" y="3839717"/>
            <a:ext cx="1403985" cy="424180"/>
          </a:xfrm>
          <a:custGeom>
            <a:avLst/>
            <a:gdLst/>
            <a:ahLst/>
            <a:cxnLst/>
            <a:rect l="l" t="t" r="r" b="b"/>
            <a:pathLst>
              <a:path w="1403984" h="424179">
                <a:moveTo>
                  <a:pt x="0" y="423672"/>
                </a:moveTo>
                <a:lnTo>
                  <a:pt x="1403603" y="423672"/>
                </a:lnTo>
                <a:lnTo>
                  <a:pt x="1403603" y="0"/>
                </a:lnTo>
                <a:lnTo>
                  <a:pt x="0" y="0"/>
                </a:lnTo>
                <a:lnTo>
                  <a:pt x="0" y="42367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039103" y="3752469"/>
            <a:ext cx="100456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u=</a:t>
            </a:r>
            <a:r>
              <a:rPr sz="2800" b="1" spc="5" dirty="0">
                <a:solidFill>
                  <a:srgbClr val="FFFF99"/>
                </a:solidFill>
                <a:latin typeface="Times New Roman"/>
                <a:cs typeface="Times New Roman"/>
              </a:rPr>
              <a:t>u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+1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067805" y="4900421"/>
            <a:ext cx="2915920" cy="824865"/>
          </a:xfrm>
          <a:custGeom>
            <a:avLst/>
            <a:gdLst/>
            <a:ahLst/>
            <a:cxnLst/>
            <a:rect l="l" t="t" r="r" b="b"/>
            <a:pathLst>
              <a:path w="2915920" h="824864">
                <a:moveTo>
                  <a:pt x="0" y="824483"/>
                </a:moveTo>
                <a:lnTo>
                  <a:pt x="2915411" y="824483"/>
                </a:lnTo>
                <a:lnTo>
                  <a:pt x="2915411" y="0"/>
                </a:lnTo>
                <a:lnTo>
                  <a:pt x="0" y="0"/>
                </a:lnTo>
                <a:lnTo>
                  <a:pt x="0" y="82448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592316" y="4787595"/>
            <a:ext cx="970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v=</a:t>
            </a:r>
            <a:r>
              <a:rPr sz="2800" b="1" spc="-85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v-1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35700" y="5214873"/>
            <a:ext cx="2604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76780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v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&lt;=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0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g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t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462266" y="6096761"/>
            <a:ext cx="931544" cy="472440"/>
          </a:xfrm>
          <a:custGeom>
            <a:avLst/>
            <a:gdLst/>
            <a:ahLst/>
            <a:cxnLst/>
            <a:rect l="l" t="t" r="r" b="b"/>
            <a:pathLst>
              <a:path w="931545" h="472440">
                <a:moveTo>
                  <a:pt x="0" y="472440"/>
                </a:moveTo>
                <a:lnTo>
                  <a:pt x="931164" y="472440"/>
                </a:lnTo>
                <a:lnTo>
                  <a:pt x="931164" y="0"/>
                </a:lnTo>
                <a:lnTo>
                  <a:pt x="0" y="0"/>
                </a:lnTo>
                <a:lnTo>
                  <a:pt x="0" y="47244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141464" y="1125474"/>
            <a:ext cx="114300" cy="536575"/>
          </a:xfrm>
          <a:custGeom>
            <a:avLst/>
            <a:gdLst/>
            <a:ahLst/>
            <a:cxnLst/>
            <a:rect l="l" t="t" r="r" b="b"/>
            <a:pathLst>
              <a:path w="114300" h="536575">
                <a:moveTo>
                  <a:pt x="38100" y="345948"/>
                </a:moveTo>
                <a:lnTo>
                  <a:pt x="0" y="345948"/>
                </a:lnTo>
                <a:lnTo>
                  <a:pt x="57150" y="536448"/>
                </a:lnTo>
                <a:lnTo>
                  <a:pt x="108584" y="364998"/>
                </a:lnTo>
                <a:lnTo>
                  <a:pt x="38100" y="364998"/>
                </a:lnTo>
                <a:lnTo>
                  <a:pt x="38100" y="345948"/>
                </a:lnTo>
                <a:close/>
              </a:path>
              <a:path w="114300" h="536575">
                <a:moveTo>
                  <a:pt x="76200" y="0"/>
                </a:moveTo>
                <a:lnTo>
                  <a:pt x="38100" y="0"/>
                </a:lnTo>
                <a:lnTo>
                  <a:pt x="38100" y="364998"/>
                </a:lnTo>
                <a:lnTo>
                  <a:pt x="76200" y="364998"/>
                </a:lnTo>
                <a:lnTo>
                  <a:pt x="76200" y="0"/>
                </a:lnTo>
                <a:close/>
              </a:path>
              <a:path w="114300" h="536575">
                <a:moveTo>
                  <a:pt x="114300" y="345948"/>
                </a:moveTo>
                <a:lnTo>
                  <a:pt x="76200" y="345948"/>
                </a:lnTo>
                <a:lnTo>
                  <a:pt x="76200" y="364998"/>
                </a:lnTo>
                <a:lnTo>
                  <a:pt x="108584" y="364998"/>
                </a:lnTo>
                <a:lnTo>
                  <a:pt x="114300" y="34594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284214" y="3287014"/>
            <a:ext cx="356235" cy="553085"/>
          </a:xfrm>
          <a:custGeom>
            <a:avLst/>
            <a:gdLst/>
            <a:ahLst/>
            <a:cxnLst/>
            <a:rect l="l" t="t" r="r" b="b"/>
            <a:pathLst>
              <a:path w="356234" h="553085">
                <a:moveTo>
                  <a:pt x="52705" y="360934"/>
                </a:moveTo>
                <a:lnTo>
                  <a:pt x="0" y="552704"/>
                </a:lnTo>
                <a:lnTo>
                  <a:pt x="149606" y="421640"/>
                </a:lnTo>
                <a:lnTo>
                  <a:pt x="143118" y="417575"/>
                </a:lnTo>
                <a:lnTo>
                  <a:pt x="107187" y="417575"/>
                </a:lnTo>
                <a:lnTo>
                  <a:pt x="74930" y="397256"/>
                </a:lnTo>
                <a:lnTo>
                  <a:pt x="85004" y="381169"/>
                </a:lnTo>
                <a:lnTo>
                  <a:pt x="52705" y="360934"/>
                </a:lnTo>
                <a:close/>
              </a:path>
              <a:path w="356234" h="553085">
                <a:moveTo>
                  <a:pt x="85004" y="381169"/>
                </a:moveTo>
                <a:lnTo>
                  <a:pt x="74930" y="397256"/>
                </a:lnTo>
                <a:lnTo>
                  <a:pt x="107187" y="417575"/>
                </a:lnTo>
                <a:lnTo>
                  <a:pt x="117312" y="401409"/>
                </a:lnTo>
                <a:lnTo>
                  <a:pt x="85004" y="381169"/>
                </a:lnTo>
                <a:close/>
              </a:path>
              <a:path w="356234" h="553085">
                <a:moveTo>
                  <a:pt x="117312" y="401409"/>
                </a:moveTo>
                <a:lnTo>
                  <a:pt x="107187" y="417575"/>
                </a:lnTo>
                <a:lnTo>
                  <a:pt x="143118" y="417575"/>
                </a:lnTo>
                <a:lnTo>
                  <a:pt x="117312" y="401409"/>
                </a:lnTo>
                <a:close/>
              </a:path>
              <a:path w="356234" h="553085">
                <a:moveTo>
                  <a:pt x="323722" y="0"/>
                </a:moveTo>
                <a:lnTo>
                  <a:pt x="85004" y="381169"/>
                </a:lnTo>
                <a:lnTo>
                  <a:pt x="117312" y="401409"/>
                </a:lnTo>
                <a:lnTo>
                  <a:pt x="355981" y="20320"/>
                </a:lnTo>
                <a:lnTo>
                  <a:pt x="32372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791322" y="3296920"/>
            <a:ext cx="114300" cy="1604010"/>
          </a:xfrm>
          <a:custGeom>
            <a:avLst/>
            <a:gdLst/>
            <a:ahLst/>
            <a:cxnLst/>
            <a:rect l="l" t="t" r="r" b="b"/>
            <a:pathLst>
              <a:path w="114300" h="1604010">
                <a:moveTo>
                  <a:pt x="0" y="1412366"/>
                </a:moveTo>
                <a:lnTo>
                  <a:pt x="54991" y="1603502"/>
                </a:lnTo>
                <a:lnTo>
                  <a:pt x="108468" y="1432305"/>
                </a:lnTo>
                <a:lnTo>
                  <a:pt x="75946" y="1432305"/>
                </a:lnTo>
                <a:lnTo>
                  <a:pt x="37846" y="1431797"/>
                </a:lnTo>
                <a:lnTo>
                  <a:pt x="38063" y="1412789"/>
                </a:lnTo>
                <a:lnTo>
                  <a:pt x="0" y="1412366"/>
                </a:lnTo>
                <a:close/>
              </a:path>
              <a:path w="114300" h="1604010">
                <a:moveTo>
                  <a:pt x="38063" y="1412789"/>
                </a:moveTo>
                <a:lnTo>
                  <a:pt x="37846" y="1431797"/>
                </a:lnTo>
                <a:lnTo>
                  <a:pt x="75946" y="1432305"/>
                </a:lnTo>
                <a:lnTo>
                  <a:pt x="76164" y="1413213"/>
                </a:lnTo>
                <a:lnTo>
                  <a:pt x="38063" y="1412789"/>
                </a:lnTo>
                <a:close/>
              </a:path>
              <a:path w="114300" h="1604010">
                <a:moveTo>
                  <a:pt x="76164" y="1413213"/>
                </a:moveTo>
                <a:lnTo>
                  <a:pt x="75946" y="1432305"/>
                </a:lnTo>
                <a:lnTo>
                  <a:pt x="108468" y="1432305"/>
                </a:lnTo>
                <a:lnTo>
                  <a:pt x="114300" y="1413636"/>
                </a:lnTo>
                <a:lnTo>
                  <a:pt x="76164" y="1413213"/>
                </a:lnTo>
                <a:close/>
              </a:path>
              <a:path w="114300" h="1604010">
                <a:moveTo>
                  <a:pt x="54228" y="0"/>
                </a:moveTo>
                <a:lnTo>
                  <a:pt x="38063" y="1412789"/>
                </a:lnTo>
                <a:lnTo>
                  <a:pt x="76164" y="1413213"/>
                </a:lnTo>
                <a:lnTo>
                  <a:pt x="92328" y="507"/>
                </a:lnTo>
                <a:lnTo>
                  <a:pt x="5422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883652" y="5724905"/>
            <a:ext cx="114300" cy="350520"/>
          </a:xfrm>
          <a:custGeom>
            <a:avLst/>
            <a:gdLst/>
            <a:ahLst/>
            <a:cxnLst/>
            <a:rect l="l" t="t" r="r" b="b"/>
            <a:pathLst>
              <a:path w="114300" h="350520">
                <a:moveTo>
                  <a:pt x="38100" y="160020"/>
                </a:moveTo>
                <a:lnTo>
                  <a:pt x="0" y="160020"/>
                </a:lnTo>
                <a:lnTo>
                  <a:pt x="57150" y="350520"/>
                </a:lnTo>
                <a:lnTo>
                  <a:pt x="108584" y="179070"/>
                </a:lnTo>
                <a:lnTo>
                  <a:pt x="38100" y="179070"/>
                </a:lnTo>
                <a:lnTo>
                  <a:pt x="38100" y="160020"/>
                </a:lnTo>
                <a:close/>
              </a:path>
              <a:path w="114300" h="350520">
                <a:moveTo>
                  <a:pt x="76200" y="0"/>
                </a:moveTo>
                <a:lnTo>
                  <a:pt x="38100" y="0"/>
                </a:lnTo>
                <a:lnTo>
                  <a:pt x="38100" y="179070"/>
                </a:lnTo>
                <a:lnTo>
                  <a:pt x="76200" y="179070"/>
                </a:lnTo>
                <a:lnTo>
                  <a:pt x="76200" y="0"/>
                </a:lnTo>
                <a:close/>
              </a:path>
              <a:path w="114300" h="350520">
                <a:moveTo>
                  <a:pt x="114300" y="160020"/>
                </a:moveTo>
                <a:lnTo>
                  <a:pt x="76200" y="160020"/>
                </a:lnTo>
                <a:lnTo>
                  <a:pt x="76200" y="179070"/>
                </a:lnTo>
                <a:lnTo>
                  <a:pt x="108584" y="179070"/>
                </a:lnTo>
                <a:lnTo>
                  <a:pt x="114300" y="16002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014461" y="604215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006972" y="2363546"/>
            <a:ext cx="2486025" cy="8839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22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3150" baseline="-145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5"/>
              </a:spcBef>
              <a:tabLst>
                <a:tab pos="1841500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</a:t>
            </a:r>
            <a:r>
              <a:rPr sz="2800" b="1" spc="5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u&lt;v</a:t>
            </a:r>
            <a:r>
              <a:rPr sz="2800" b="1" spc="15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goto	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814057" y="3437382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274684" y="4446854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694041" y="6069584"/>
            <a:ext cx="11626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751840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=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	</a:t>
            </a:r>
            <a:r>
              <a:rPr sz="4200" b="1" spc="7" baseline="2976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0582" dirty="0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150" baseline="-10582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665214" y="1718310"/>
            <a:ext cx="1237615" cy="474345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ts val="3240"/>
              </a:lnSpc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i=2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179564" y="2192273"/>
            <a:ext cx="114300" cy="631190"/>
          </a:xfrm>
          <a:custGeom>
            <a:avLst/>
            <a:gdLst/>
            <a:ahLst/>
            <a:cxnLst/>
            <a:rect l="l" t="t" r="r" b="b"/>
            <a:pathLst>
              <a:path w="114300" h="631189">
                <a:moveTo>
                  <a:pt x="38100" y="440436"/>
                </a:moveTo>
                <a:lnTo>
                  <a:pt x="0" y="440436"/>
                </a:lnTo>
                <a:lnTo>
                  <a:pt x="57150" y="630936"/>
                </a:lnTo>
                <a:lnTo>
                  <a:pt x="108584" y="459486"/>
                </a:lnTo>
                <a:lnTo>
                  <a:pt x="38100" y="459486"/>
                </a:lnTo>
                <a:lnTo>
                  <a:pt x="38100" y="440436"/>
                </a:lnTo>
                <a:close/>
              </a:path>
              <a:path w="114300" h="631189">
                <a:moveTo>
                  <a:pt x="76200" y="0"/>
                </a:moveTo>
                <a:lnTo>
                  <a:pt x="38100" y="0"/>
                </a:lnTo>
                <a:lnTo>
                  <a:pt x="38100" y="459486"/>
                </a:lnTo>
                <a:lnTo>
                  <a:pt x="76200" y="459486"/>
                </a:lnTo>
                <a:lnTo>
                  <a:pt x="76200" y="0"/>
                </a:lnTo>
                <a:close/>
              </a:path>
              <a:path w="114300" h="631189">
                <a:moveTo>
                  <a:pt x="114300" y="440436"/>
                </a:moveTo>
                <a:lnTo>
                  <a:pt x="76200" y="440436"/>
                </a:lnTo>
                <a:lnTo>
                  <a:pt x="76200" y="459486"/>
                </a:lnTo>
                <a:lnTo>
                  <a:pt x="108584" y="459486"/>
                </a:lnTo>
                <a:lnTo>
                  <a:pt x="114300" y="44043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7900161" y="1633473"/>
            <a:ext cx="431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2775" b="1" baseline="-15015" dirty="0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2775" baseline="-15015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610222" y="4236592"/>
            <a:ext cx="626745" cy="664210"/>
          </a:xfrm>
          <a:custGeom>
            <a:avLst/>
            <a:gdLst/>
            <a:ahLst/>
            <a:cxnLst/>
            <a:rect l="l" t="t" r="r" b="b"/>
            <a:pathLst>
              <a:path w="626745" h="664210">
                <a:moveTo>
                  <a:pt x="481969" y="538177"/>
                </a:moveTo>
                <a:lnTo>
                  <a:pt x="454278" y="564260"/>
                </a:lnTo>
                <a:lnTo>
                  <a:pt x="626491" y="663828"/>
                </a:lnTo>
                <a:lnTo>
                  <a:pt x="570571" y="552068"/>
                </a:lnTo>
                <a:lnTo>
                  <a:pt x="495046" y="552068"/>
                </a:lnTo>
                <a:lnTo>
                  <a:pt x="481969" y="538177"/>
                </a:lnTo>
                <a:close/>
              </a:path>
              <a:path w="626745" h="664210">
                <a:moveTo>
                  <a:pt x="509761" y="511996"/>
                </a:moveTo>
                <a:lnTo>
                  <a:pt x="481969" y="538177"/>
                </a:lnTo>
                <a:lnTo>
                  <a:pt x="495046" y="552068"/>
                </a:lnTo>
                <a:lnTo>
                  <a:pt x="522858" y="525906"/>
                </a:lnTo>
                <a:lnTo>
                  <a:pt x="509761" y="511996"/>
                </a:lnTo>
                <a:close/>
              </a:path>
              <a:path w="626745" h="664210">
                <a:moveTo>
                  <a:pt x="537463" y="485901"/>
                </a:moveTo>
                <a:lnTo>
                  <a:pt x="509761" y="511996"/>
                </a:lnTo>
                <a:lnTo>
                  <a:pt x="522858" y="525906"/>
                </a:lnTo>
                <a:lnTo>
                  <a:pt x="495046" y="552068"/>
                </a:lnTo>
                <a:lnTo>
                  <a:pt x="570571" y="552068"/>
                </a:lnTo>
                <a:lnTo>
                  <a:pt x="537463" y="485901"/>
                </a:lnTo>
                <a:close/>
              </a:path>
              <a:path w="626745" h="664210">
                <a:moveTo>
                  <a:pt x="27685" y="0"/>
                </a:moveTo>
                <a:lnTo>
                  <a:pt x="0" y="26161"/>
                </a:lnTo>
                <a:lnTo>
                  <a:pt x="481969" y="538177"/>
                </a:lnTo>
                <a:lnTo>
                  <a:pt x="509761" y="511996"/>
                </a:lnTo>
                <a:lnTo>
                  <a:pt x="2768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617464" y="3044189"/>
            <a:ext cx="452120" cy="2287905"/>
          </a:xfrm>
          <a:custGeom>
            <a:avLst/>
            <a:gdLst/>
            <a:ahLst/>
            <a:cxnLst/>
            <a:rect l="l" t="t" r="r" b="b"/>
            <a:pathLst>
              <a:path w="452120" h="2287904">
                <a:moveTo>
                  <a:pt x="156435" y="71310"/>
                </a:moveTo>
                <a:lnTo>
                  <a:pt x="135889" y="115443"/>
                </a:lnTo>
                <a:lnTo>
                  <a:pt x="116205" y="172593"/>
                </a:lnTo>
                <a:lnTo>
                  <a:pt x="97536" y="238125"/>
                </a:lnTo>
                <a:lnTo>
                  <a:pt x="80010" y="311531"/>
                </a:lnTo>
                <a:lnTo>
                  <a:pt x="71755" y="350900"/>
                </a:lnTo>
                <a:lnTo>
                  <a:pt x="63881" y="391922"/>
                </a:lnTo>
                <a:lnTo>
                  <a:pt x="56387" y="434467"/>
                </a:lnTo>
                <a:lnTo>
                  <a:pt x="49149" y="478282"/>
                </a:lnTo>
                <a:lnTo>
                  <a:pt x="42418" y="523621"/>
                </a:lnTo>
                <a:lnTo>
                  <a:pt x="36068" y="570230"/>
                </a:lnTo>
                <a:lnTo>
                  <a:pt x="30099" y="617855"/>
                </a:lnTo>
                <a:lnTo>
                  <a:pt x="24637" y="666623"/>
                </a:lnTo>
                <a:lnTo>
                  <a:pt x="19685" y="716153"/>
                </a:lnTo>
                <a:lnTo>
                  <a:pt x="15239" y="766699"/>
                </a:lnTo>
                <a:lnTo>
                  <a:pt x="11430" y="817753"/>
                </a:lnTo>
                <a:lnTo>
                  <a:pt x="7874" y="869696"/>
                </a:lnTo>
                <a:lnTo>
                  <a:pt x="5140" y="923544"/>
                </a:lnTo>
                <a:lnTo>
                  <a:pt x="2921" y="974725"/>
                </a:lnTo>
                <a:lnTo>
                  <a:pt x="1383" y="1028446"/>
                </a:lnTo>
                <a:lnTo>
                  <a:pt x="252" y="1081278"/>
                </a:lnTo>
                <a:lnTo>
                  <a:pt x="0" y="1134364"/>
                </a:lnTo>
                <a:lnTo>
                  <a:pt x="635" y="1187958"/>
                </a:lnTo>
                <a:lnTo>
                  <a:pt x="2539" y="1241425"/>
                </a:lnTo>
                <a:lnTo>
                  <a:pt x="5587" y="1294765"/>
                </a:lnTo>
                <a:lnTo>
                  <a:pt x="9778" y="1347724"/>
                </a:lnTo>
                <a:lnTo>
                  <a:pt x="15112" y="1400175"/>
                </a:lnTo>
                <a:lnTo>
                  <a:pt x="21589" y="1452245"/>
                </a:lnTo>
                <a:lnTo>
                  <a:pt x="29083" y="1503553"/>
                </a:lnTo>
                <a:lnTo>
                  <a:pt x="37464" y="1554226"/>
                </a:lnTo>
                <a:lnTo>
                  <a:pt x="46862" y="1604010"/>
                </a:lnTo>
                <a:lnTo>
                  <a:pt x="57150" y="1653032"/>
                </a:lnTo>
                <a:lnTo>
                  <a:pt x="68325" y="1700911"/>
                </a:lnTo>
                <a:lnTo>
                  <a:pt x="80390" y="1747520"/>
                </a:lnTo>
                <a:lnTo>
                  <a:pt x="93218" y="1793113"/>
                </a:lnTo>
                <a:lnTo>
                  <a:pt x="106934" y="1837309"/>
                </a:lnTo>
                <a:lnTo>
                  <a:pt x="121285" y="1879854"/>
                </a:lnTo>
                <a:lnTo>
                  <a:pt x="136271" y="1921129"/>
                </a:lnTo>
                <a:lnTo>
                  <a:pt x="152019" y="1960626"/>
                </a:lnTo>
                <a:lnTo>
                  <a:pt x="168275" y="1998599"/>
                </a:lnTo>
                <a:lnTo>
                  <a:pt x="185293" y="2034413"/>
                </a:lnTo>
                <a:lnTo>
                  <a:pt x="202819" y="2068576"/>
                </a:lnTo>
                <a:lnTo>
                  <a:pt x="239268" y="2130298"/>
                </a:lnTo>
                <a:lnTo>
                  <a:pt x="267970" y="2170938"/>
                </a:lnTo>
                <a:lnTo>
                  <a:pt x="297937" y="2206498"/>
                </a:lnTo>
                <a:lnTo>
                  <a:pt x="328675" y="2235962"/>
                </a:lnTo>
                <a:lnTo>
                  <a:pt x="360807" y="2259584"/>
                </a:lnTo>
                <a:lnTo>
                  <a:pt x="405384" y="2280412"/>
                </a:lnTo>
                <a:lnTo>
                  <a:pt x="450214" y="2287651"/>
                </a:lnTo>
                <a:lnTo>
                  <a:pt x="451612" y="2249551"/>
                </a:lnTo>
                <a:lnTo>
                  <a:pt x="441578" y="2249170"/>
                </a:lnTo>
                <a:lnTo>
                  <a:pt x="433070" y="2248027"/>
                </a:lnTo>
                <a:lnTo>
                  <a:pt x="389000" y="2232025"/>
                </a:lnTo>
                <a:lnTo>
                  <a:pt x="352806" y="2206498"/>
                </a:lnTo>
                <a:lnTo>
                  <a:pt x="325120" y="2179828"/>
                </a:lnTo>
                <a:lnTo>
                  <a:pt x="297814" y="2147316"/>
                </a:lnTo>
                <a:lnTo>
                  <a:pt x="270890" y="2109089"/>
                </a:lnTo>
                <a:lnTo>
                  <a:pt x="235965" y="2049907"/>
                </a:lnTo>
                <a:lnTo>
                  <a:pt x="202819" y="1982343"/>
                </a:lnTo>
                <a:lnTo>
                  <a:pt x="186944" y="1945513"/>
                </a:lnTo>
                <a:lnTo>
                  <a:pt x="171703" y="1907159"/>
                </a:lnTo>
                <a:lnTo>
                  <a:pt x="157099" y="1866900"/>
                </a:lnTo>
                <a:lnTo>
                  <a:pt x="143001" y="1825117"/>
                </a:lnTo>
                <a:lnTo>
                  <a:pt x="129666" y="1781810"/>
                </a:lnTo>
                <a:lnTo>
                  <a:pt x="117094" y="1737233"/>
                </a:lnTo>
                <a:lnTo>
                  <a:pt x="105156" y="1691386"/>
                </a:lnTo>
                <a:lnTo>
                  <a:pt x="94234" y="1644396"/>
                </a:lnTo>
                <a:lnTo>
                  <a:pt x="84074" y="1596136"/>
                </a:lnTo>
                <a:lnTo>
                  <a:pt x="74930" y="1547241"/>
                </a:lnTo>
                <a:lnTo>
                  <a:pt x="66548" y="1497330"/>
                </a:lnTo>
                <a:lnTo>
                  <a:pt x="59182" y="1446784"/>
                </a:lnTo>
                <a:lnTo>
                  <a:pt x="52959" y="1395603"/>
                </a:lnTo>
                <a:lnTo>
                  <a:pt x="47751" y="1343914"/>
                </a:lnTo>
                <a:lnTo>
                  <a:pt x="43561" y="1291717"/>
                </a:lnTo>
                <a:lnTo>
                  <a:pt x="40512" y="1239266"/>
                </a:lnTo>
                <a:lnTo>
                  <a:pt x="38608" y="1186561"/>
                </a:lnTo>
                <a:lnTo>
                  <a:pt x="38100" y="1133983"/>
                </a:lnTo>
                <a:lnTo>
                  <a:pt x="38358" y="1081024"/>
                </a:lnTo>
                <a:lnTo>
                  <a:pt x="39389" y="1027811"/>
                </a:lnTo>
                <a:lnTo>
                  <a:pt x="41068" y="974725"/>
                </a:lnTo>
                <a:lnTo>
                  <a:pt x="43180" y="923544"/>
                </a:lnTo>
                <a:lnTo>
                  <a:pt x="45974" y="871728"/>
                </a:lnTo>
                <a:lnTo>
                  <a:pt x="49402" y="820293"/>
                </a:lnTo>
                <a:lnTo>
                  <a:pt x="53339" y="769493"/>
                </a:lnTo>
                <a:lnTo>
                  <a:pt x="57658" y="719455"/>
                </a:lnTo>
                <a:lnTo>
                  <a:pt x="62611" y="670306"/>
                </a:lnTo>
                <a:lnTo>
                  <a:pt x="67945" y="622046"/>
                </a:lnTo>
                <a:lnTo>
                  <a:pt x="73913" y="574929"/>
                </a:lnTo>
                <a:lnTo>
                  <a:pt x="80137" y="528701"/>
                </a:lnTo>
                <a:lnTo>
                  <a:pt x="86868" y="483997"/>
                </a:lnTo>
                <a:lnTo>
                  <a:pt x="93980" y="440563"/>
                </a:lnTo>
                <a:lnTo>
                  <a:pt x="101346" y="398525"/>
                </a:lnTo>
                <a:lnTo>
                  <a:pt x="109220" y="358139"/>
                </a:lnTo>
                <a:lnTo>
                  <a:pt x="117348" y="319405"/>
                </a:lnTo>
                <a:lnTo>
                  <a:pt x="134493" y="247396"/>
                </a:lnTo>
                <a:lnTo>
                  <a:pt x="152653" y="183514"/>
                </a:lnTo>
                <a:lnTo>
                  <a:pt x="166877" y="141477"/>
                </a:lnTo>
                <a:lnTo>
                  <a:pt x="181356" y="104775"/>
                </a:lnTo>
                <a:lnTo>
                  <a:pt x="184081" y="98679"/>
                </a:lnTo>
                <a:lnTo>
                  <a:pt x="183261" y="98679"/>
                </a:lnTo>
                <a:lnTo>
                  <a:pt x="184244" y="97097"/>
                </a:lnTo>
                <a:lnTo>
                  <a:pt x="156435" y="71310"/>
                </a:lnTo>
                <a:close/>
              </a:path>
              <a:path w="452120" h="2287904">
                <a:moveTo>
                  <a:pt x="230892" y="57404"/>
                </a:moveTo>
                <a:lnTo>
                  <a:pt x="168401" y="57404"/>
                </a:lnTo>
                <a:lnTo>
                  <a:pt x="197358" y="82296"/>
                </a:lnTo>
                <a:lnTo>
                  <a:pt x="184968" y="96694"/>
                </a:lnTo>
                <a:lnTo>
                  <a:pt x="184629" y="97453"/>
                </a:lnTo>
                <a:lnTo>
                  <a:pt x="211836" y="122682"/>
                </a:lnTo>
                <a:lnTo>
                  <a:pt x="230892" y="57404"/>
                </a:lnTo>
                <a:close/>
              </a:path>
              <a:path w="452120" h="2287904">
                <a:moveTo>
                  <a:pt x="184244" y="97097"/>
                </a:moveTo>
                <a:lnTo>
                  <a:pt x="183261" y="98679"/>
                </a:lnTo>
                <a:lnTo>
                  <a:pt x="184454" y="97291"/>
                </a:lnTo>
                <a:lnTo>
                  <a:pt x="184244" y="97097"/>
                </a:lnTo>
                <a:close/>
              </a:path>
              <a:path w="452120" h="2287904">
                <a:moveTo>
                  <a:pt x="184454" y="97291"/>
                </a:moveTo>
                <a:lnTo>
                  <a:pt x="183261" y="98679"/>
                </a:lnTo>
                <a:lnTo>
                  <a:pt x="184081" y="98679"/>
                </a:lnTo>
                <a:lnTo>
                  <a:pt x="184629" y="97453"/>
                </a:lnTo>
                <a:lnTo>
                  <a:pt x="184454" y="97291"/>
                </a:lnTo>
                <a:close/>
              </a:path>
              <a:path w="452120" h="2287904">
                <a:moveTo>
                  <a:pt x="184968" y="96694"/>
                </a:moveTo>
                <a:lnTo>
                  <a:pt x="184454" y="97291"/>
                </a:lnTo>
                <a:lnTo>
                  <a:pt x="184629" y="97453"/>
                </a:lnTo>
                <a:lnTo>
                  <a:pt x="184968" y="96694"/>
                </a:lnTo>
                <a:close/>
              </a:path>
              <a:path w="452120" h="2287904">
                <a:moveTo>
                  <a:pt x="186182" y="93980"/>
                </a:moveTo>
                <a:lnTo>
                  <a:pt x="184244" y="97097"/>
                </a:lnTo>
                <a:lnTo>
                  <a:pt x="184454" y="97291"/>
                </a:lnTo>
                <a:lnTo>
                  <a:pt x="184968" y="96694"/>
                </a:lnTo>
                <a:lnTo>
                  <a:pt x="186182" y="93980"/>
                </a:lnTo>
                <a:close/>
              </a:path>
              <a:path w="452120" h="2287904">
                <a:moveTo>
                  <a:pt x="168401" y="57404"/>
                </a:moveTo>
                <a:lnTo>
                  <a:pt x="156435" y="71310"/>
                </a:lnTo>
                <a:lnTo>
                  <a:pt x="184244" y="97097"/>
                </a:lnTo>
                <a:lnTo>
                  <a:pt x="186182" y="93980"/>
                </a:lnTo>
                <a:lnTo>
                  <a:pt x="187304" y="93980"/>
                </a:lnTo>
                <a:lnTo>
                  <a:pt x="197358" y="82296"/>
                </a:lnTo>
                <a:lnTo>
                  <a:pt x="168401" y="57404"/>
                </a:lnTo>
                <a:close/>
              </a:path>
              <a:path w="452120" h="2287904">
                <a:moveTo>
                  <a:pt x="187304" y="93980"/>
                </a:moveTo>
                <a:lnTo>
                  <a:pt x="186182" y="93980"/>
                </a:lnTo>
                <a:lnTo>
                  <a:pt x="184968" y="96694"/>
                </a:lnTo>
                <a:lnTo>
                  <a:pt x="187304" y="93980"/>
                </a:lnTo>
                <a:close/>
              </a:path>
              <a:path w="452120" h="2287904">
                <a:moveTo>
                  <a:pt x="247650" y="0"/>
                </a:moveTo>
                <a:lnTo>
                  <a:pt x="128015" y="44958"/>
                </a:lnTo>
                <a:lnTo>
                  <a:pt x="156435" y="71310"/>
                </a:lnTo>
                <a:lnTo>
                  <a:pt x="168401" y="57404"/>
                </a:lnTo>
                <a:lnTo>
                  <a:pt x="230892" y="57404"/>
                </a:lnTo>
                <a:lnTo>
                  <a:pt x="24765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104</a:t>
            </a:fld>
            <a:r>
              <a:rPr sz="1400" b="1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67221" y="724662"/>
            <a:ext cx="1237615" cy="472440"/>
          </a:xfrm>
          <a:custGeom>
            <a:avLst/>
            <a:gdLst/>
            <a:ahLst/>
            <a:cxnLst/>
            <a:rect l="l" t="t" r="r" b="b"/>
            <a:pathLst>
              <a:path w="1237615" h="472440">
                <a:moveTo>
                  <a:pt x="0" y="472439"/>
                </a:moveTo>
                <a:lnTo>
                  <a:pt x="1237487" y="472439"/>
                </a:lnTo>
                <a:lnTo>
                  <a:pt x="1237487" y="0"/>
                </a:lnTo>
                <a:lnTo>
                  <a:pt x="0" y="0"/>
                </a:lnTo>
                <a:lnTo>
                  <a:pt x="0" y="47243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05221" y="1735073"/>
            <a:ext cx="2914015" cy="1028700"/>
          </a:xfrm>
          <a:custGeom>
            <a:avLst/>
            <a:gdLst/>
            <a:ahLst/>
            <a:cxnLst/>
            <a:rect l="l" t="t" r="r" b="b"/>
            <a:pathLst>
              <a:path w="2914015" h="1028700">
                <a:moveTo>
                  <a:pt x="0" y="1028700"/>
                </a:moveTo>
                <a:lnTo>
                  <a:pt x="2913887" y="1028700"/>
                </a:lnTo>
                <a:lnTo>
                  <a:pt x="2913887" y="0"/>
                </a:lnTo>
                <a:lnTo>
                  <a:pt x="0" y="0"/>
                </a:lnTo>
                <a:lnTo>
                  <a:pt x="0" y="10287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58917" y="3245357"/>
            <a:ext cx="1556385" cy="894715"/>
          </a:xfrm>
          <a:custGeom>
            <a:avLst/>
            <a:gdLst/>
            <a:ahLst/>
            <a:cxnLst/>
            <a:rect l="l" t="t" r="r" b="b"/>
            <a:pathLst>
              <a:path w="1556384" h="894714">
                <a:moveTo>
                  <a:pt x="0" y="894588"/>
                </a:moveTo>
                <a:lnTo>
                  <a:pt x="1556004" y="894588"/>
                </a:lnTo>
                <a:lnTo>
                  <a:pt x="1556004" y="0"/>
                </a:lnTo>
                <a:lnTo>
                  <a:pt x="0" y="0"/>
                </a:lnTo>
                <a:lnTo>
                  <a:pt x="0" y="8945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67221" y="4783073"/>
            <a:ext cx="2914015" cy="824865"/>
          </a:xfrm>
          <a:custGeom>
            <a:avLst/>
            <a:gdLst/>
            <a:ahLst/>
            <a:cxnLst/>
            <a:rect l="l" t="t" r="r" b="b"/>
            <a:pathLst>
              <a:path w="2914015" h="824864">
                <a:moveTo>
                  <a:pt x="0" y="824484"/>
                </a:moveTo>
                <a:lnTo>
                  <a:pt x="2913887" y="824484"/>
                </a:lnTo>
                <a:lnTo>
                  <a:pt x="2913887" y="0"/>
                </a:lnTo>
                <a:lnTo>
                  <a:pt x="0" y="0"/>
                </a:lnTo>
                <a:lnTo>
                  <a:pt x="0" y="824484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33846" y="4670552"/>
            <a:ext cx="260413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9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v=v-1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176780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v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&lt;=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0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g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t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38366" y="6195821"/>
            <a:ext cx="1237615" cy="472440"/>
          </a:xfrm>
          <a:custGeom>
            <a:avLst/>
            <a:gdLst/>
            <a:ahLst/>
            <a:cxnLst/>
            <a:rect l="l" t="t" r="r" b="b"/>
            <a:pathLst>
              <a:path w="1237615" h="472440">
                <a:moveTo>
                  <a:pt x="0" y="472439"/>
                </a:moveTo>
                <a:lnTo>
                  <a:pt x="1237487" y="472439"/>
                </a:lnTo>
                <a:lnTo>
                  <a:pt x="1237487" y="0"/>
                </a:lnTo>
                <a:lnTo>
                  <a:pt x="0" y="0"/>
                </a:lnTo>
                <a:lnTo>
                  <a:pt x="0" y="47243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905625" y="6168034"/>
            <a:ext cx="535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=</a:t>
            </a:r>
            <a:r>
              <a:rPr sz="2800" b="1" spc="-75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81571" y="1197102"/>
            <a:ext cx="114300" cy="538480"/>
          </a:xfrm>
          <a:custGeom>
            <a:avLst/>
            <a:gdLst/>
            <a:ahLst/>
            <a:cxnLst/>
            <a:rect l="l" t="t" r="r" b="b"/>
            <a:pathLst>
              <a:path w="114300" h="538480">
                <a:moveTo>
                  <a:pt x="38100" y="423672"/>
                </a:moveTo>
                <a:lnTo>
                  <a:pt x="0" y="423672"/>
                </a:lnTo>
                <a:lnTo>
                  <a:pt x="57150" y="537972"/>
                </a:lnTo>
                <a:lnTo>
                  <a:pt x="104775" y="442722"/>
                </a:lnTo>
                <a:lnTo>
                  <a:pt x="38100" y="442722"/>
                </a:lnTo>
                <a:lnTo>
                  <a:pt x="38100" y="423672"/>
                </a:lnTo>
                <a:close/>
              </a:path>
              <a:path w="114300" h="538480">
                <a:moveTo>
                  <a:pt x="76200" y="0"/>
                </a:moveTo>
                <a:lnTo>
                  <a:pt x="38100" y="0"/>
                </a:lnTo>
                <a:lnTo>
                  <a:pt x="38100" y="442722"/>
                </a:lnTo>
                <a:lnTo>
                  <a:pt x="76200" y="442722"/>
                </a:lnTo>
                <a:lnTo>
                  <a:pt x="76200" y="0"/>
                </a:lnTo>
                <a:close/>
              </a:path>
              <a:path w="114300" h="538480">
                <a:moveTo>
                  <a:pt x="114300" y="423672"/>
                </a:moveTo>
                <a:lnTo>
                  <a:pt x="76200" y="423672"/>
                </a:lnTo>
                <a:lnTo>
                  <a:pt x="76200" y="442722"/>
                </a:lnTo>
                <a:lnTo>
                  <a:pt x="104775" y="442722"/>
                </a:lnTo>
                <a:lnTo>
                  <a:pt x="114300" y="42367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24321" y="2770758"/>
            <a:ext cx="358775" cy="474980"/>
          </a:xfrm>
          <a:custGeom>
            <a:avLst/>
            <a:gdLst/>
            <a:ahLst/>
            <a:cxnLst/>
            <a:rect l="l" t="t" r="r" b="b"/>
            <a:pathLst>
              <a:path w="358775" h="474980">
                <a:moveTo>
                  <a:pt x="22098" y="348741"/>
                </a:moveTo>
                <a:lnTo>
                  <a:pt x="0" y="474599"/>
                </a:lnTo>
                <a:lnTo>
                  <a:pt x="113918" y="416687"/>
                </a:lnTo>
                <a:lnTo>
                  <a:pt x="103964" y="409320"/>
                </a:lnTo>
                <a:lnTo>
                  <a:pt x="72008" y="409320"/>
                </a:lnTo>
                <a:lnTo>
                  <a:pt x="41401" y="386714"/>
                </a:lnTo>
                <a:lnTo>
                  <a:pt x="52728" y="371407"/>
                </a:lnTo>
                <a:lnTo>
                  <a:pt x="22098" y="348741"/>
                </a:lnTo>
                <a:close/>
              </a:path>
              <a:path w="358775" h="474980">
                <a:moveTo>
                  <a:pt x="52728" y="371407"/>
                </a:moveTo>
                <a:lnTo>
                  <a:pt x="41401" y="386714"/>
                </a:lnTo>
                <a:lnTo>
                  <a:pt x="72008" y="409320"/>
                </a:lnTo>
                <a:lnTo>
                  <a:pt x="83318" y="394043"/>
                </a:lnTo>
                <a:lnTo>
                  <a:pt x="52728" y="371407"/>
                </a:lnTo>
                <a:close/>
              </a:path>
              <a:path w="358775" h="474980">
                <a:moveTo>
                  <a:pt x="83318" y="394043"/>
                </a:moveTo>
                <a:lnTo>
                  <a:pt x="72008" y="409320"/>
                </a:lnTo>
                <a:lnTo>
                  <a:pt x="103964" y="409320"/>
                </a:lnTo>
                <a:lnTo>
                  <a:pt x="83318" y="394043"/>
                </a:lnTo>
                <a:close/>
              </a:path>
              <a:path w="358775" h="474980">
                <a:moveTo>
                  <a:pt x="327532" y="0"/>
                </a:moveTo>
                <a:lnTo>
                  <a:pt x="52728" y="371407"/>
                </a:lnTo>
                <a:lnTo>
                  <a:pt x="83318" y="394043"/>
                </a:lnTo>
                <a:lnTo>
                  <a:pt x="358266" y="22605"/>
                </a:lnTo>
                <a:lnTo>
                  <a:pt x="32753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47559" y="2763773"/>
            <a:ext cx="114300" cy="1999614"/>
          </a:xfrm>
          <a:custGeom>
            <a:avLst/>
            <a:gdLst/>
            <a:ahLst/>
            <a:cxnLst/>
            <a:rect l="l" t="t" r="r" b="b"/>
            <a:pathLst>
              <a:path w="114300" h="1999614">
                <a:moveTo>
                  <a:pt x="38100" y="1885188"/>
                </a:moveTo>
                <a:lnTo>
                  <a:pt x="0" y="1885188"/>
                </a:lnTo>
                <a:lnTo>
                  <a:pt x="57150" y="1999488"/>
                </a:lnTo>
                <a:lnTo>
                  <a:pt x="104775" y="1904238"/>
                </a:lnTo>
                <a:lnTo>
                  <a:pt x="38100" y="1904238"/>
                </a:lnTo>
                <a:lnTo>
                  <a:pt x="38100" y="1885188"/>
                </a:lnTo>
                <a:close/>
              </a:path>
              <a:path w="114300" h="1999614">
                <a:moveTo>
                  <a:pt x="76200" y="0"/>
                </a:moveTo>
                <a:lnTo>
                  <a:pt x="38100" y="0"/>
                </a:lnTo>
                <a:lnTo>
                  <a:pt x="38100" y="1904238"/>
                </a:lnTo>
                <a:lnTo>
                  <a:pt x="76200" y="1904238"/>
                </a:lnTo>
                <a:lnTo>
                  <a:pt x="76200" y="0"/>
                </a:lnTo>
                <a:close/>
              </a:path>
              <a:path w="114300" h="1999614">
                <a:moveTo>
                  <a:pt x="114300" y="1885188"/>
                </a:moveTo>
                <a:lnTo>
                  <a:pt x="76200" y="1885188"/>
                </a:lnTo>
                <a:lnTo>
                  <a:pt x="76200" y="1904238"/>
                </a:lnTo>
                <a:lnTo>
                  <a:pt x="104775" y="1904238"/>
                </a:lnTo>
                <a:lnTo>
                  <a:pt x="114300" y="188518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23759" y="5607558"/>
            <a:ext cx="114300" cy="588645"/>
          </a:xfrm>
          <a:custGeom>
            <a:avLst/>
            <a:gdLst/>
            <a:ahLst/>
            <a:cxnLst/>
            <a:rect l="l" t="t" r="r" b="b"/>
            <a:pathLst>
              <a:path w="114300" h="588645">
                <a:moveTo>
                  <a:pt x="38100" y="473963"/>
                </a:moveTo>
                <a:lnTo>
                  <a:pt x="0" y="473963"/>
                </a:lnTo>
                <a:lnTo>
                  <a:pt x="57150" y="588263"/>
                </a:lnTo>
                <a:lnTo>
                  <a:pt x="104775" y="493013"/>
                </a:lnTo>
                <a:lnTo>
                  <a:pt x="38100" y="493013"/>
                </a:lnTo>
                <a:lnTo>
                  <a:pt x="38100" y="473963"/>
                </a:lnTo>
                <a:close/>
              </a:path>
              <a:path w="114300" h="588645">
                <a:moveTo>
                  <a:pt x="76200" y="0"/>
                </a:moveTo>
                <a:lnTo>
                  <a:pt x="38100" y="0"/>
                </a:lnTo>
                <a:lnTo>
                  <a:pt x="38100" y="493013"/>
                </a:lnTo>
                <a:lnTo>
                  <a:pt x="76200" y="493013"/>
                </a:lnTo>
                <a:lnTo>
                  <a:pt x="76200" y="0"/>
                </a:lnTo>
                <a:close/>
              </a:path>
              <a:path w="114300" h="588645">
                <a:moveTo>
                  <a:pt x="114300" y="473963"/>
                </a:moveTo>
                <a:lnTo>
                  <a:pt x="76200" y="473963"/>
                </a:lnTo>
                <a:lnTo>
                  <a:pt x="76200" y="493013"/>
                </a:lnTo>
                <a:lnTo>
                  <a:pt x="104775" y="493013"/>
                </a:lnTo>
                <a:lnTo>
                  <a:pt x="114300" y="4739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14977" y="1188427"/>
            <a:ext cx="1661160" cy="4737100"/>
          </a:xfrm>
          <a:custGeom>
            <a:avLst/>
            <a:gdLst/>
            <a:ahLst/>
            <a:cxnLst/>
            <a:rect l="l" t="t" r="r" b="b"/>
            <a:pathLst>
              <a:path w="1661160" h="4737100">
                <a:moveTo>
                  <a:pt x="1230502" y="4724400"/>
                </a:moveTo>
                <a:lnTo>
                  <a:pt x="1018286" y="4724400"/>
                </a:lnTo>
                <a:lnTo>
                  <a:pt x="1037589" y="4737100"/>
                </a:lnTo>
                <a:lnTo>
                  <a:pt x="1207008" y="4737100"/>
                </a:lnTo>
                <a:lnTo>
                  <a:pt x="1230502" y="4724400"/>
                </a:lnTo>
                <a:close/>
              </a:path>
              <a:path w="1661160" h="4737100">
                <a:moveTo>
                  <a:pt x="1054989" y="4699000"/>
                </a:moveTo>
                <a:lnTo>
                  <a:pt x="960501" y="4699000"/>
                </a:lnTo>
                <a:lnTo>
                  <a:pt x="976757" y="4711700"/>
                </a:lnTo>
                <a:lnTo>
                  <a:pt x="993648" y="4724400"/>
                </a:lnTo>
                <a:lnTo>
                  <a:pt x="1274064" y="4724400"/>
                </a:lnTo>
                <a:lnTo>
                  <a:pt x="1315465" y="4711700"/>
                </a:lnTo>
                <a:lnTo>
                  <a:pt x="1060958" y="4711700"/>
                </a:lnTo>
                <a:lnTo>
                  <a:pt x="1058600" y="4703572"/>
                </a:lnTo>
                <a:lnTo>
                  <a:pt x="1054989" y="4699000"/>
                </a:lnTo>
                <a:close/>
              </a:path>
              <a:path w="1661160" h="4737100">
                <a:moveTo>
                  <a:pt x="1380998" y="4699000"/>
                </a:moveTo>
                <a:lnTo>
                  <a:pt x="1057275" y="4699000"/>
                </a:lnTo>
                <a:lnTo>
                  <a:pt x="1058600" y="4703572"/>
                </a:lnTo>
                <a:lnTo>
                  <a:pt x="1065022" y="4711700"/>
                </a:lnTo>
                <a:lnTo>
                  <a:pt x="1358392" y="4711700"/>
                </a:lnTo>
                <a:lnTo>
                  <a:pt x="1380998" y="4699000"/>
                </a:lnTo>
                <a:close/>
              </a:path>
              <a:path w="1661160" h="4737100">
                <a:moveTo>
                  <a:pt x="1057275" y="4699000"/>
                </a:moveTo>
                <a:lnTo>
                  <a:pt x="1054989" y="4699000"/>
                </a:lnTo>
                <a:lnTo>
                  <a:pt x="1058600" y="4703572"/>
                </a:lnTo>
                <a:lnTo>
                  <a:pt x="1057275" y="4699000"/>
                </a:lnTo>
                <a:close/>
              </a:path>
              <a:path w="1661160" h="4737100">
                <a:moveTo>
                  <a:pt x="1024889" y="4686300"/>
                </a:moveTo>
                <a:lnTo>
                  <a:pt x="923163" y="4686300"/>
                </a:lnTo>
                <a:lnTo>
                  <a:pt x="930148" y="4699000"/>
                </a:lnTo>
                <a:lnTo>
                  <a:pt x="1032763" y="4699000"/>
                </a:lnTo>
                <a:lnTo>
                  <a:pt x="1024889" y="4686300"/>
                </a:lnTo>
                <a:close/>
              </a:path>
              <a:path w="1661160" h="4737100">
                <a:moveTo>
                  <a:pt x="1461008" y="4673600"/>
                </a:moveTo>
                <a:lnTo>
                  <a:pt x="1309243" y="4673600"/>
                </a:lnTo>
                <a:lnTo>
                  <a:pt x="1268857" y="4686300"/>
                </a:lnTo>
                <a:lnTo>
                  <a:pt x="1226693" y="4686300"/>
                </a:lnTo>
                <a:lnTo>
                  <a:pt x="1203706" y="4699000"/>
                </a:lnTo>
                <a:lnTo>
                  <a:pt x="1405001" y="4699000"/>
                </a:lnTo>
                <a:lnTo>
                  <a:pt x="1430782" y="4686300"/>
                </a:lnTo>
                <a:lnTo>
                  <a:pt x="1461008" y="4673600"/>
                </a:lnTo>
                <a:close/>
              </a:path>
              <a:path w="1661160" h="4737100">
                <a:moveTo>
                  <a:pt x="990726" y="4673600"/>
                </a:moveTo>
                <a:lnTo>
                  <a:pt x="878459" y="4673600"/>
                </a:lnTo>
                <a:lnTo>
                  <a:pt x="885063" y="4686300"/>
                </a:lnTo>
                <a:lnTo>
                  <a:pt x="1007999" y="4686300"/>
                </a:lnTo>
                <a:lnTo>
                  <a:pt x="990726" y="4673600"/>
                </a:lnTo>
                <a:close/>
              </a:path>
              <a:path w="1661160" h="4737100">
                <a:moveTo>
                  <a:pt x="966215" y="4660900"/>
                </a:moveTo>
                <a:lnTo>
                  <a:pt x="862330" y="4660900"/>
                </a:lnTo>
                <a:lnTo>
                  <a:pt x="867663" y="4673600"/>
                </a:lnTo>
                <a:lnTo>
                  <a:pt x="974089" y="4673600"/>
                </a:lnTo>
                <a:lnTo>
                  <a:pt x="966215" y="4660900"/>
                </a:lnTo>
                <a:close/>
              </a:path>
              <a:path w="1661160" h="4737100">
                <a:moveTo>
                  <a:pt x="1475739" y="4660900"/>
                </a:moveTo>
                <a:lnTo>
                  <a:pt x="1371600" y="4660900"/>
                </a:lnTo>
                <a:lnTo>
                  <a:pt x="1349883" y="4673600"/>
                </a:lnTo>
                <a:lnTo>
                  <a:pt x="1463167" y="4673600"/>
                </a:lnTo>
                <a:lnTo>
                  <a:pt x="1475739" y="4660900"/>
                </a:lnTo>
                <a:close/>
              </a:path>
              <a:path w="1661160" h="4737100">
                <a:moveTo>
                  <a:pt x="888492" y="4635500"/>
                </a:moveTo>
                <a:lnTo>
                  <a:pt x="839851" y="4635500"/>
                </a:lnTo>
                <a:lnTo>
                  <a:pt x="843914" y="4648200"/>
                </a:lnTo>
                <a:lnTo>
                  <a:pt x="858265" y="4660900"/>
                </a:lnTo>
                <a:lnTo>
                  <a:pt x="934465" y="4660900"/>
                </a:lnTo>
                <a:lnTo>
                  <a:pt x="927735" y="4648200"/>
                </a:lnTo>
                <a:lnTo>
                  <a:pt x="891921" y="4648200"/>
                </a:lnTo>
                <a:lnTo>
                  <a:pt x="888492" y="4635500"/>
                </a:lnTo>
                <a:close/>
              </a:path>
              <a:path w="1661160" h="4737100">
                <a:moveTo>
                  <a:pt x="1494536" y="4648200"/>
                </a:moveTo>
                <a:lnTo>
                  <a:pt x="1420240" y="4648200"/>
                </a:lnTo>
                <a:lnTo>
                  <a:pt x="1395095" y="4660900"/>
                </a:lnTo>
                <a:lnTo>
                  <a:pt x="1485646" y="4660900"/>
                </a:lnTo>
                <a:lnTo>
                  <a:pt x="1494536" y="4648200"/>
                </a:lnTo>
                <a:close/>
              </a:path>
              <a:path w="1661160" h="4737100">
                <a:moveTo>
                  <a:pt x="1536319" y="4610100"/>
                </a:moveTo>
                <a:lnTo>
                  <a:pt x="1478026" y="4610100"/>
                </a:lnTo>
                <a:lnTo>
                  <a:pt x="1470152" y="4622800"/>
                </a:lnTo>
                <a:lnTo>
                  <a:pt x="1461262" y="4635500"/>
                </a:lnTo>
                <a:lnTo>
                  <a:pt x="1451737" y="4635500"/>
                </a:lnTo>
                <a:lnTo>
                  <a:pt x="1441069" y="4648200"/>
                </a:lnTo>
                <a:lnTo>
                  <a:pt x="1502537" y="4648200"/>
                </a:lnTo>
                <a:lnTo>
                  <a:pt x="1516380" y="4635500"/>
                </a:lnTo>
                <a:lnTo>
                  <a:pt x="1527556" y="4622800"/>
                </a:lnTo>
                <a:lnTo>
                  <a:pt x="1536319" y="4610100"/>
                </a:lnTo>
                <a:close/>
              </a:path>
              <a:path w="1661160" h="4737100">
                <a:moveTo>
                  <a:pt x="869823" y="4610100"/>
                </a:moveTo>
                <a:lnTo>
                  <a:pt x="817499" y="4610100"/>
                </a:lnTo>
                <a:lnTo>
                  <a:pt x="829945" y="4622800"/>
                </a:lnTo>
                <a:lnTo>
                  <a:pt x="835151" y="4635500"/>
                </a:lnTo>
                <a:lnTo>
                  <a:pt x="883920" y="4635500"/>
                </a:lnTo>
                <a:lnTo>
                  <a:pt x="877824" y="4622800"/>
                </a:lnTo>
                <a:lnTo>
                  <a:pt x="874140" y="4622800"/>
                </a:lnTo>
                <a:lnTo>
                  <a:pt x="869823" y="4610100"/>
                </a:lnTo>
                <a:close/>
              </a:path>
              <a:path w="1661160" h="4737100">
                <a:moveTo>
                  <a:pt x="859789" y="4597400"/>
                </a:moveTo>
                <a:lnTo>
                  <a:pt x="794893" y="4597400"/>
                </a:lnTo>
                <a:lnTo>
                  <a:pt x="805688" y="4610100"/>
                </a:lnTo>
                <a:lnTo>
                  <a:pt x="865124" y="4610100"/>
                </a:lnTo>
                <a:lnTo>
                  <a:pt x="859789" y="4597400"/>
                </a:lnTo>
                <a:close/>
              </a:path>
              <a:path w="1661160" h="4737100">
                <a:moveTo>
                  <a:pt x="1577975" y="4584700"/>
                </a:moveTo>
                <a:lnTo>
                  <a:pt x="1511046" y="4584700"/>
                </a:lnTo>
                <a:lnTo>
                  <a:pt x="1497330" y="4597400"/>
                </a:lnTo>
                <a:lnTo>
                  <a:pt x="1491614" y="4610100"/>
                </a:lnTo>
                <a:lnTo>
                  <a:pt x="1548892" y="4610100"/>
                </a:lnTo>
                <a:lnTo>
                  <a:pt x="1553464" y="4597400"/>
                </a:lnTo>
                <a:lnTo>
                  <a:pt x="1570355" y="4597400"/>
                </a:lnTo>
                <a:lnTo>
                  <a:pt x="1577975" y="4584700"/>
                </a:lnTo>
                <a:close/>
              </a:path>
              <a:path w="1661160" h="4737100">
                <a:moveTo>
                  <a:pt x="830072" y="4572000"/>
                </a:moveTo>
                <a:lnTo>
                  <a:pt x="733425" y="4572000"/>
                </a:lnTo>
                <a:lnTo>
                  <a:pt x="782955" y="4597400"/>
                </a:lnTo>
                <a:lnTo>
                  <a:pt x="853694" y="4597400"/>
                </a:lnTo>
                <a:lnTo>
                  <a:pt x="847089" y="4584700"/>
                </a:lnTo>
                <a:lnTo>
                  <a:pt x="842518" y="4584700"/>
                </a:lnTo>
                <a:lnTo>
                  <a:pt x="830072" y="4572000"/>
                </a:lnTo>
                <a:close/>
              </a:path>
              <a:path w="1661160" h="4737100">
                <a:moveTo>
                  <a:pt x="1607312" y="4572000"/>
                </a:moveTo>
                <a:lnTo>
                  <a:pt x="1524127" y="4572000"/>
                </a:lnTo>
                <a:lnTo>
                  <a:pt x="1518031" y="4584700"/>
                </a:lnTo>
                <a:lnTo>
                  <a:pt x="1593342" y="4584700"/>
                </a:lnTo>
                <a:lnTo>
                  <a:pt x="1607312" y="4572000"/>
                </a:lnTo>
                <a:close/>
              </a:path>
              <a:path w="1661160" h="4737100">
                <a:moveTo>
                  <a:pt x="722630" y="4521200"/>
                </a:moveTo>
                <a:lnTo>
                  <a:pt x="670940" y="4521200"/>
                </a:lnTo>
                <a:lnTo>
                  <a:pt x="677799" y="4533900"/>
                </a:lnTo>
                <a:lnTo>
                  <a:pt x="687197" y="4546600"/>
                </a:lnTo>
                <a:lnTo>
                  <a:pt x="697738" y="4546600"/>
                </a:lnTo>
                <a:lnTo>
                  <a:pt x="709168" y="4559300"/>
                </a:lnTo>
                <a:lnTo>
                  <a:pt x="720851" y="4572000"/>
                </a:lnTo>
                <a:lnTo>
                  <a:pt x="809244" y="4572000"/>
                </a:lnTo>
                <a:lnTo>
                  <a:pt x="798322" y="4559300"/>
                </a:lnTo>
                <a:lnTo>
                  <a:pt x="775335" y="4559300"/>
                </a:lnTo>
                <a:lnTo>
                  <a:pt x="752221" y="4546600"/>
                </a:lnTo>
                <a:lnTo>
                  <a:pt x="741680" y="4533900"/>
                </a:lnTo>
                <a:lnTo>
                  <a:pt x="731520" y="4533900"/>
                </a:lnTo>
                <a:lnTo>
                  <a:pt x="722630" y="4521200"/>
                </a:lnTo>
                <a:close/>
              </a:path>
              <a:path w="1661160" h="4737100">
                <a:moveTo>
                  <a:pt x="1634109" y="4533900"/>
                </a:moveTo>
                <a:lnTo>
                  <a:pt x="1601215" y="4533900"/>
                </a:lnTo>
                <a:lnTo>
                  <a:pt x="1592961" y="4546600"/>
                </a:lnTo>
                <a:lnTo>
                  <a:pt x="1563115" y="4546600"/>
                </a:lnTo>
                <a:lnTo>
                  <a:pt x="1554988" y="4559300"/>
                </a:lnTo>
                <a:lnTo>
                  <a:pt x="1540764" y="4559300"/>
                </a:lnTo>
                <a:lnTo>
                  <a:pt x="1534795" y="4572000"/>
                </a:lnTo>
                <a:lnTo>
                  <a:pt x="1625092" y="4572000"/>
                </a:lnTo>
                <a:lnTo>
                  <a:pt x="1626615" y="4559300"/>
                </a:lnTo>
                <a:lnTo>
                  <a:pt x="1634109" y="4533900"/>
                </a:lnTo>
                <a:close/>
              </a:path>
              <a:path w="1661160" h="4737100">
                <a:moveTo>
                  <a:pt x="1592819" y="4543334"/>
                </a:moveTo>
                <a:lnTo>
                  <a:pt x="1589913" y="4546600"/>
                </a:lnTo>
                <a:lnTo>
                  <a:pt x="1592199" y="4546600"/>
                </a:lnTo>
                <a:lnTo>
                  <a:pt x="1592819" y="4543334"/>
                </a:lnTo>
                <a:close/>
              </a:path>
              <a:path w="1661160" h="4737100">
                <a:moveTo>
                  <a:pt x="1660144" y="4432300"/>
                </a:moveTo>
                <a:lnTo>
                  <a:pt x="1620520" y="4432300"/>
                </a:lnTo>
                <a:lnTo>
                  <a:pt x="1618614" y="4445000"/>
                </a:lnTo>
                <a:lnTo>
                  <a:pt x="1616456" y="4457700"/>
                </a:lnTo>
                <a:lnTo>
                  <a:pt x="1611376" y="4470400"/>
                </a:lnTo>
                <a:lnTo>
                  <a:pt x="1605914" y="4495800"/>
                </a:lnTo>
                <a:lnTo>
                  <a:pt x="1600200" y="4508500"/>
                </a:lnTo>
                <a:lnTo>
                  <a:pt x="1597278" y="4521200"/>
                </a:lnTo>
                <a:lnTo>
                  <a:pt x="1594612" y="4533900"/>
                </a:lnTo>
                <a:lnTo>
                  <a:pt x="1592819" y="4543334"/>
                </a:lnTo>
                <a:lnTo>
                  <a:pt x="1601215" y="4533900"/>
                </a:lnTo>
                <a:lnTo>
                  <a:pt x="1634109" y="4533900"/>
                </a:lnTo>
                <a:lnTo>
                  <a:pt x="1636902" y="4521200"/>
                </a:lnTo>
                <a:lnTo>
                  <a:pt x="1642618" y="4495800"/>
                </a:lnTo>
                <a:lnTo>
                  <a:pt x="1648206" y="4483100"/>
                </a:lnTo>
                <a:lnTo>
                  <a:pt x="1650873" y="4470400"/>
                </a:lnTo>
                <a:lnTo>
                  <a:pt x="1653286" y="4457700"/>
                </a:lnTo>
                <a:lnTo>
                  <a:pt x="1657350" y="4445000"/>
                </a:lnTo>
                <a:lnTo>
                  <a:pt x="1658874" y="4445000"/>
                </a:lnTo>
                <a:lnTo>
                  <a:pt x="1660144" y="4432300"/>
                </a:lnTo>
                <a:close/>
              </a:path>
              <a:path w="1661160" h="4737100">
                <a:moveTo>
                  <a:pt x="701039" y="4495800"/>
                </a:moveTo>
                <a:lnTo>
                  <a:pt x="702690" y="4508500"/>
                </a:lnTo>
                <a:lnTo>
                  <a:pt x="664083" y="4508500"/>
                </a:lnTo>
                <a:lnTo>
                  <a:pt x="669289" y="4521200"/>
                </a:lnTo>
                <a:lnTo>
                  <a:pt x="714628" y="4521200"/>
                </a:lnTo>
                <a:lnTo>
                  <a:pt x="707898" y="4508500"/>
                </a:lnTo>
                <a:lnTo>
                  <a:pt x="701039" y="4495800"/>
                </a:lnTo>
                <a:close/>
              </a:path>
              <a:path w="1661160" h="4737100">
                <a:moveTo>
                  <a:pt x="70358" y="457200"/>
                </a:moveTo>
                <a:lnTo>
                  <a:pt x="27686" y="457200"/>
                </a:lnTo>
                <a:lnTo>
                  <a:pt x="22225" y="469900"/>
                </a:lnTo>
                <a:lnTo>
                  <a:pt x="20193" y="469900"/>
                </a:lnTo>
                <a:lnTo>
                  <a:pt x="20065" y="482600"/>
                </a:lnTo>
                <a:lnTo>
                  <a:pt x="14097" y="546100"/>
                </a:lnTo>
                <a:lnTo>
                  <a:pt x="9271" y="622300"/>
                </a:lnTo>
                <a:lnTo>
                  <a:pt x="5461" y="698500"/>
                </a:lnTo>
                <a:lnTo>
                  <a:pt x="2667" y="774700"/>
                </a:lnTo>
                <a:lnTo>
                  <a:pt x="888" y="838200"/>
                </a:lnTo>
                <a:lnTo>
                  <a:pt x="0" y="914400"/>
                </a:lnTo>
                <a:lnTo>
                  <a:pt x="0" y="990600"/>
                </a:lnTo>
                <a:lnTo>
                  <a:pt x="1015" y="1066800"/>
                </a:lnTo>
                <a:lnTo>
                  <a:pt x="2921" y="1130300"/>
                </a:lnTo>
                <a:lnTo>
                  <a:pt x="5587" y="1206500"/>
                </a:lnTo>
                <a:lnTo>
                  <a:pt x="9017" y="1282700"/>
                </a:lnTo>
                <a:lnTo>
                  <a:pt x="13335" y="1358900"/>
                </a:lnTo>
                <a:lnTo>
                  <a:pt x="18287" y="1422400"/>
                </a:lnTo>
                <a:lnTo>
                  <a:pt x="23875" y="1498600"/>
                </a:lnTo>
                <a:lnTo>
                  <a:pt x="30352" y="1574800"/>
                </a:lnTo>
                <a:lnTo>
                  <a:pt x="37337" y="1638300"/>
                </a:lnTo>
                <a:lnTo>
                  <a:pt x="42418" y="1803400"/>
                </a:lnTo>
                <a:lnTo>
                  <a:pt x="51562" y="2146300"/>
                </a:lnTo>
                <a:lnTo>
                  <a:pt x="57150" y="2311400"/>
                </a:lnTo>
                <a:lnTo>
                  <a:pt x="60578" y="2387600"/>
                </a:lnTo>
                <a:lnTo>
                  <a:pt x="64515" y="2476500"/>
                </a:lnTo>
                <a:lnTo>
                  <a:pt x="69087" y="2552700"/>
                </a:lnTo>
                <a:lnTo>
                  <a:pt x="74549" y="2641600"/>
                </a:lnTo>
                <a:lnTo>
                  <a:pt x="80899" y="2730500"/>
                </a:lnTo>
                <a:lnTo>
                  <a:pt x="88264" y="2806700"/>
                </a:lnTo>
                <a:lnTo>
                  <a:pt x="96647" y="2895600"/>
                </a:lnTo>
                <a:lnTo>
                  <a:pt x="106299" y="2971800"/>
                </a:lnTo>
                <a:lnTo>
                  <a:pt x="109474" y="2997200"/>
                </a:lnTo>
                <a:lnTo>
                  <a:pt x="113792" y="3022600"/>
                </a:lnTo>
                <a:lnTo>
                  <a:pt x="118745" y="3035300"/>
                </a:lnTo>
                <a:lnTo>
                  <a:pt x="124333" y="3060700"/>
                </a:lnTo>
                <a:lnTo>
                  <a:pt x="130556" y="3086100"/>
                </a:lnTo>
                <a:lnTo>
                  <a:pt x="137287" y="3111500"/>
                </a:lnTo>
                <a:lnTo>
                  <a:pt x="151892" y="3149600"/>
                </a:lnTo>
                <a:lnTo>
                  <a:pt x="167386" y="3187700"/>
                </a:lnTo>
                <a:lnTo>
                  <a:pt x="182752" y="3238500"/>
                </a:lnTo>
                <a:lnTo>
                  <a:pt x="197358" y="3276600"/>
                </a:lnTo>
                <a:lnTo>
                  <a:pt x="210565" y="3314700"/>
                </a:lnTo>
                <a:lnTo>
                  <a:pt x="224027" y="3365500"/>
                </a:lnTo>
                <a:lnTo>
                  <a:pt x="234314" y="3416300"/>
                </a:lnTo>
                <a:lnTo>
                  <a:pt x="243205" y="3467100"/>
                </a:lnTo>
                <a:lnTo>
                  <a:pt x="252475" y="3517900"/>
                </a:lnTo>
                <a:lnTo>
                  <a:pt x="258063" y="3543300"/>
                </a:lnTo>
                <a:lnTo>
                  <a:pt x="264287" y="3568700"/>
                </a:lnTo>
                <a:lnTo>
                  <a:pt x="271780" y="3581400"/>
                </a:lnTo>
                <a:lnTo>
                  <a:pt x="280543" y="3606800"/>
                </a:lnTo>
                <a:lnTo>
                  <a:pt x="290957" y="3632200"/>
                </a:lnTo>
                <a:lnTo>
                  <a:pt x="303149" y="3657600"/>
                </a:lnTo>
                <a:lnTo>
                  <a:pt x="317500" y="3683000"/>
                </a:lnTo>
                <a:lnTo>
                  <a:pt x="325882" y="3695700"/>
                </a:lnTo>
                <a:lnTo>
                  <a:pt x="330581" y="3695700"/>
                </a:lnTo>
                <a:lnTo>
                  <a:pt x="335914" y="3733800"/>
                </a:lnTo>
                <a:lnTo>
                  <a:pt x="337693" y="3759200"/>
                </a:lnTo>
                <a:lnTo>
                  <a:pt x="339598" y="3771900"/>
                </a:lnTo>
                <a:lnTo>
                  <a:pt x="341757" y="3797300"/>
                </a:lnTo>
                <a:lnTo>
                  <a:pt x="346583" y="3835400"/>
                </a:lnTo>
                <a:lnTo>
                  <a:pt x="352806" y="3873500"/>
                </a:lnTo>
                <a:lnTo>
                  <a:pt x="356615" y="3886200"/>
                </a:lnTo>
                <a:lnTo>
                  <a:pt x="360680" y="3911600"/>
                </a:lnTo>
                <a:lnTo>
                  <a:pt x="365506" y="3924300"/>
                </a:lnTo>
                <a:lnTo>
                  <a:pt x="370839" y="3937000"/>
                </a:lnTo>
                <a:lnTo>
                  <a:pt x="377063" y="3962400"/>
                </a:lnTo>
                <a:lnTo>
                  <a:pt x="383921" y="3975100"/>
                </a:lnTo>
                <a:lnTo>
                  <a:pt x="390144" y="3987800"/>
                </a:lnTo>
                <a:lnTo>
                  <a:pt x="397510" y="3987800"/>
                </a:lnTo>
                <a:lnTo>
                  <a:pt x="404875" y="4000500"/>
                </a:lnTo>
                <a:lnTo>
                  <a:pt x="412623" y="4013200"/>
                </a:lnTo>
                <a:lnTo>
                  <a:pt x="426593" y="4025900"/>
                </a:lnTo>
                <a:lnTo>
                  <a:pt x="432435" y="4025900"/>
                </a:lnTo>
                <a:lnTo>
                  <a:pt x="437261" y="4038600"/>
                </a:lnTo>
                <a:lnTo>
                  <a:pt x="455802" y="4064000"/>
                </a:lnTo>
                <a:lnTo>
                  <a:pt x="473583" y="4102100"/>
                </a:lnTo>
                <a:lnTo>
                  <a:pt x="489965" y="4127500"/>
                </a:lnTo>
                <a:lnTo>
                  <a:pt x="504444" y="4165600"/>
                </a:lnTo>
                <a:lnTo>
                  <a:pt x="512190" y="4178300"/>
                </a:lnTo>
                <a:lnTo>
                  <a:pt x="520192" y="4203700"/>
                </a:lnTo>
                <a:lnTo>
                  <a:pt x="528827" y="4229100"/>
                </a:lnTo>
                <a:lnTo>
                  <a:pt x="539114" y="4241800"/>
                </a:lnTo>
                <a:lnTo>
                  <a:pt x="545973" y="4254500"/>
                </a:lnTo>
                <a:lnTo>
                  <a:pt x="553085" y="4267200"/>
                </a:lnTo>
                <a:lnTo>
                  <a:pt x="567309" y="4279900"/>
                </a:lnTo>
                <a:lnTo>
                  <a:pt x="581278" y="4292600"/>
                </a:lnTo>
                <a:lnTo>
                  <a:pt x="587248" y="4305300"/>
                </a:lnTo>
                <a:lnTo>
                  <a:pt x="592836" y="4318000"/>
                </a:lnTo>
                <a:lnTo>
                  <a:pt x="600328" y="4330700"/>
                </a:lnTo>
                <a:lnTo>
                  <a:pt x="606933" y="4330700"/>
                </a:lnTo>
                <a:lnTo>
                  <a:pt x="612775" y="4343400"/>
                </a:lnTo>
                <a:lnTo>
                  <a:pt x="617855" y="4356100"/>
                </a:lnTo>
                <a:lnTo>
                  <a:pt x="622173" y="4368800"/>
                </a:lnTo>
                <a:lnTo>
                  <a:pt x="626110" y="4368800"/>
                </a:lnTo>
                <a:lnTo>
                  <a:pt x="632587" y="4394200"/>
                </a:lnTo>
                <a:lnTo>
                  <a:pt x="638301" y="4419600"/>
                </a:lnTo>
                <a:lnTo>
                  <a:pt x="650494" y="4470400"/>
                </a:lnTo>
                <a:lnTo>
                  <a:pt x="654303" y="4483100"/>
                </a:lnTo>
                <a:lnTo>
                  <a:pt x="658622" y="4495800"/>
                </a:lnTo>
                <a:lnTo>
                  <a:pt x="662813" y="4508500"/>
                </a:lnTo>
                <a:lnTo>
                  <a:pt x="702690" y="4508500"/>
                </a:lnTo>
                <a:lnTo>
                  <a:pt x="697357" y="4495800"/>
                </a:lnTo>
                <a:lnTo>
                  <a:pt x="698626" y="4495800"/>
                </a:lnTo>
                <a:lnTo>
                  <a:pt x="695578" y="4483100"/>
                </a:lnTo>
                <a:lnTo>
                  <a:pt x="691261" y="4470400"/>
                </a:lnTo>
                <a:lnTo>
                  <a:pt x="687451" y="4457700"/>
                </a:lnTo>
                <a:lnTo>
                  <a:pt x="684149" y="4445000"/>
                </a:lnTo>
                <a:lnTo>
                  <a:pt x="680974" y="4432300"/>
                </a:lnTo>
                <a:lnTo>
                  <a:pt x="677926" y="4419600"/>
                </a:lnTo>
                <a:lnTo>
                  <a:pt x="675005" y="4406900"/>
                </a:lnTo>
                <a:lnTo>
                  <a:pt x="668655" y="4381500"/>
                </a:lnTo>
                <a:lnTo>
                  <a:pt x="661288" y="4356100"/>
                </a:lnTo>
                <a:lnTo>
                  <a:pt x="656844" y="4343400"/>
                </a:lnTo>
                <a:lnTo>
                  <a:pt x="651763" y="4343400"/>
                </a:lnTo>
                <a:lnTo>
                  <a:pt x="645922" y="4330700"/>
                </a:lnTo>
                <a:lnTo>
                  <a:pt x="639445" y="4318000"/>
                </a:lnTo>
                <a:lnTo>
                  <a:pt x="631951" y="4305300"/>
                </a:lnTo>
                <a:lnTo>
                  <a:pt x="623315" y="4292600"/>
                </a:lnTo>
                <a:lnTo>
                  <a:pt x="616458" y="4279900"/>
                </a:lnTo>
                <a:lnTo>
                  <a:pt x="609346" y="4267200"/>
                </a:lnTo>
                <a:lnTo>
                  <a:pt x="596011" y="4254500"/>
                </a:lnTo>
                <a:lnTo>
                  <a:pt x="583438" y="4241800"/>
                </a:lnTo>
                <a:lnTo>
                  <a:pt x="578103" y="4241800"/>
                </a:lnTo>
                <a:lnTo>
                  <a:pt x="573532" y="4229100"/>
                </a:lnTo>
                <a:lnTo>
                  <a:pt x="564134" y="4216400"/>
                </a:lnTo>
                <a:lnTo>
                  <a:pt x="555878" y="4191000"/>
                </a:lnTo>
                <a:lnTo>
                  <a:pt x="547877" y="4165600"/>
                </a:lnTo>
                <a:lnTo>
                  <a:pt x="539242" y="4140200"/>
                </a:lnTo>
                <a:lnTo>
                  <a:pt x="523621" y="4114800"/>
                </a:lnTo>
                <a:lnTo>
                  <a:pt x="506475" y="4076700"/>
                </a:lnTo>
                <a:lnTo>
                  <a:pt x="488061" y="4051300"/>
                </a:lnTo>
                <a:lnTo>
                  <a:pt x="468502" y="4013200"/>
                </a:lnTo>
                <a:lnTo>
                  <a:pt x="461645" y="4000500"/>
                </a:lnTo>
                <a:lnTo>
                  <a:pt x="454406" y="4000500"/>
                </a:lnTo>
                <a:lnTo>
                  <a:pt x="440309" y="3987800"/>
                </a:lnTo>
                <a:lnTo>
                  <a:pt x="433832" y="3975100"/>
                </a:lnTo>
                <a:lnTo>
                  <a:pt x="427863" y="3975100"/>
                </a:lnTo>
                <a:lnTo>
                  <a:pt x="422783" y="3962400"/>
                </a:lnTo>
                <a:lnTo>
                  <a:pt x="418338" y="3949700"/>
                </a:lnTo>
                <a:lnTo>
                  <a:pt x="412496" y="3949700"/>
                </a:lnTo>
                <a:lnTo>
                  <a:pt x="407162" y="3924300"/>
                </a:lnTo>
                <a:lnTo>
                  <a:pt x="402336" y="3911600"/>
                </a:lnTo>
                <a:lnTo>
                  <a:pt x="397890" y="3898900"/>
                </a:lnTo>
                <a:lnTo>
                  <a:pt x="393953" y="3886200"/>
                </a:lnTo>
                <a:lnTo>
                  <a:pt x="390398" y="3860800"/>
                </a:lnTo>
                <a:lnTo>
                  <a:pt x="384428" y="3822700"/>
                </a:lnTo>
                <a:lnTo>
                  <a:pt x="379602" y="3784600"/>
                </a:lnTo>
                <a:lnTo>
                  <a:pt x="377571" y="3771900"/>
                </a:lnTo>
                <a:lnTo>
                  <a:pt x="375665" y="3746500"/>
                </a:lnTo>
                <a:lnTo>
                  <a:pt x="373761" y="3733800"/>
                </a:lnTo>
                <a:lnTo>
                  <a:pt x="371983" y="3721100"/>
                </a:lnTo>
                <a:lnTo>
                  <a:pt x="370205" y="3695700"/>
                </a:lnTo>
                <a:lnTo>
                  <a:pt x="368300" y="3683000"/>
                </a:lnTo>
                <a:lnTo>
                  <a:pt x="364489" y="3683000"/>
                </a:lnTo>
                <a:lnTo>
                  <a:pt x="356615" y="3670300"/>
                </a:lnTo>
                <a:lnTo>
                  <a:pt x="349758" y="3657600"/>
                </a:lnTo>
                <a:lnTo>
                  <a:pt x="336803" y="3632200"/>
                </a:lnTo>
                <a:lnTo>
                  <a:pt x="325755" y="3619500"/>
                </a:lnTo>
                <a:lnTo>
                  <a:pt x="316230" y="3594100"/>
                </a:lnTo>
                <a:lnTo>
                  <a:pt x="308228" y="3568700"/>
                </a:lnTo>
                <a:lnTo>
                  <a:pt x="301244" y="3556000"/>
                </a:lnTo>
                <a:lnTo>
                  <a:pt x="295275" y="3530600"/>
                </a:lnTo>
                <a:lnTo>
                  <a:pt x="289940" y="3505200"/>
                </a:lnTo>
                <a:lnTo>
                  <a:pt x="280797" y="3454400"/>
                </a:lnTo>
                <a:lnTo>
                  <a:pt x="271780" y="3403600"/>
                </a:lnTo>
                <a:lnTo>
                  <a:pt x="266700" y="3378200"/>
                </a:lnTo>
                <a:lnTo>
                  <a:pt x="254381" y="3327400"/>
                </a:lnTo>
                <a:lnTo>
                  <a:pt x="233299" y="3263900"/>
                </a:lnTo>
                <a:lnTo>
                  <a:pt x="218439" y="3225800"/>
                </a:lnTo>
                <a:lnTo>
                  <a:pt x="203073" y="3175000"/>
                </a:lnTo>
                <a:lnTo>
                  <a:pt x="187960" y="3136900"/>
                </a:lnTo>
                <a:lnTo>
                  <a:pt x="173736" y="3098800"/>
                </a:lnTo>
                <a:lnTo>
                  <a:pt x="167259" y="3073400"/>
                </a:lnTo>
                <a:lnTo>
                  <a:pt x="161289" y="3048000"/>
                </a:lnTo>
                <a:lnTo>
                  <a:pt x="155956" y="3035300"/>
                </a:lnTo>
                <a:lnTo>
                  <a:pt x="151130" y="3009900"/>
                </a:lnTo>
                <a:lnTo>
                  <a:pt x="147193" y="2984500"/>
                </a:lnTo>
                <a:lnTo>
                  <a:pt x="144145" y="2971800"/>
                </a:lnTo>
                <a:lnTo>
                  <a:pt x="126237" y="2806700"/>
                </a:lnTo>
                <a:lnTo>
                  <a:pt x="118872" y="2717800"/>
                </a:lnTo>
                <a:lnTo>
                  <a:pt x="112649" y="2641600"/>
                </a:lnTo>
                <a:lnTo>
                  <a:pt x="102488" y="2476500"/>
                </a:lnTo>
                <a:lnTo>
                  <a:pt x="98678" y="2387600"/>
                </a:lnTo>
                <a:lnTo>
                  <a:pt x="95250" y="2311400"/>
                </a:lnTo>
                <a:lnTo>
                  <a:pt x="89662" y="2133600"/>
                </a:lnTo>
                <a:lnTo>
                  <a:pt x="84962" y="1968500"/>
                </a:lnTo>
                <a:lnTo>
                  <a:pt x="80518" y="1803400"/>
                </a:lnTo>
                <a:lnTo>
                  <a:pt x="75184" y="1638300"/>
                </a:lnTo>
                <a:lnTo>
                  <a:pt x="68325" y="1562100"/>
                </a:lnTo>
                <a:lnTo>
                  <a:pt x="61975" y="1498600"/>
                </a:lnTo>
                <a:lnTo>
                  <a:pt x="56261" y="1422400"/>
                </a:lnTo>
                <a:lnTo>
                  <a:pt x="51308" y="1346200"/>
                </a:lnTo>
                <a:lnTo>
                  <a:pt x="47117" y="1282700"/>
                </a:lnTo>
                <a:lnTo>
                  <a:pt x="43687" y="1206500"/>
                </a:lnTo>
                <a:lnTo>
                  <a:pt x="41021" y="1130300"/>
                </a:lnTo>
                <a:lnTo>
                  <a:pt x="39115" y="1066800"/>
                </a:lnTo>
                <a:lnTo>
                  <a:pt x="38100" y="990600"/>
                </a:lnTo>
                <a:lnTo>
                  <a:pt x="38100" y="914400"/>
                </a:lnTo>
                <a:lnTo>
                  <a:pt x="38862" y="838200"/>
                </a:lnTo>
                <a:lnTo>
                  <a:pt x="40767" y="774700"/>
                </a:lnTo>
                <a:lnTo>
                  <a:pt x="43434" y="698500"/>
                </a:lnTo>
                <a:lnTo>
                  <a:pt x="47244" y="622300"/>
                </a:lnTo>
                <a:lnTo>
                  <a:pt x="52070" y="558800"/>
                </a:lnTo>
                <a:lnTo>
                  <a:pt x="58038" y="482600"/>
                </a:lnTo>
                <a:lnTo>
                  <a:pt x="60960" y="482600"/>
                </a:lnTo>
                <a:lnTo>
                  <a:pt x="66039" y="469900"/>
                </a:lnTo>
                <a:lnTo>
                  <a:pt x="70358" y="457200"/>
                </a:lnTo>
                <a:close/>
              </a:path>
              <a:path w="1661160" h="4737100">
                <a:moveTo>
                  <a:pt x="1624457" y="4419600"/>
                </a:moveTo>
                <a:lnTo>
                  <a:pt x="1624076" y="4419600"/>
                </a:lnTo>
                <a:lnTo>
                  <a:pt x="1623314" y="4432300"/>
                </a:lnTo>
                <a:lnTo>
                  <a:pt x="1661033" y="4432300"/>
                </a:lnTo>
                <a:lnTo>
                  <a:pt x="1624457" y="4419600"/>
                </a:lnTo>
                <a:close/>
              </a:path>
              <a:path w="1661160" h="4737100">
                <a:moveTo>
                  <a:pt x="1068726" y="435875"/>
                </a:moveTo>
                <a:lnTo>
                  <a:pt x="1030605" y="444500"/>
                </a:lnTo>
                <a:lnTo>
                  <a:pt x="1108202" y="546100"/>
                </a:lnTo>
                <a:lnTo>
                  <a:pt x="1132471" y="457200"/>
                </a:lnTo>
                <a:lnTo>
                  <a:pt x="1071499" y="457200"/>
                </a:lnTo>
                <a:lnTo>
                  <a:pt x="1068726" y="435875"/>
                </a:lnTo>
                <a:close/>
              </a:path>
              <a:path w="1661160" h="4737100">
                <a:moveTo>
                  <a:pt x="83947" y="431800"/>
                </a:moveTo>
                <a:lnTo>
                  <a:pt x="41021" y="431800"/>
                </a:lnTo>
                <a:lnTo>
                  <a:pt x="37084" y="444500"/>
                </a:lnTo>
                <a:lnTo>
                  <a:pt x="32638" y="457200"/>
                </a:lnTo>
                <a:lnTo>
                  <a:pt x="74422" y="457200"/>
                </a:lnTo>
                <a:lnTo>
                  <a:pt x="77850" y="444500"/>
                </a:lnTo>
                <a:lnTo>
                  <a:pt x="81280" y="444500"/>
                </a:lnTo>
                <a:lnTo>
                  <a:pt x="83947" y="431800"/>
                </a:lnTo>
                <a:close/>
              </a:path>
              <a:path w="1661160" h="4737100">
                <a:moveTo>
                  <a:pt x="1105774" y="427493"/>
                </a:moveTo>
                <a:lnTo>
                  <a:pt x="1068726" y="435875"/>
                </a:lnTo>
                <a:lnTo>
                  <a:pt x="1071499" y="457200"/>
                </a:lnTo>
                <a:lnTo>
                  <a:pt x="1109090" y="444500"/>
                </a:lnTo>
                <a:lnTo>
                  <a:pt x="1105774" y="427493"/>
                </a:lnTo>
                <a:close/>
              </a:path>
              <a:path w="1661160" h="4737100">
                <a:moveTo>
                  <a:pt x="1142873" y="419100"/>
                </a:moveTo>
                <a:lnTo>
                  <a:pt x="1105774" y="427493"/>
                </a:lnTo>
                <a:lnTo>
                  <a:pt x="1109090" y="444500"/>
                </a:lnTo>
                <a:lnTo>
                  <a:pt x="1071499" y="457200"/>
                </a:lnTo>
                <a:lnTo>
                  <a:pt x="1132471" y="457200"/>
                </a:lnTo>
                <a:lnTo>
                  <a:pt x="1142873" y="419100"/>
                </a:lnTo>
                <a:close/>
              </a:path>
              <a:path w="1661160" h="4737100">
                <a:moveTo>
                  <a:pt x="1049527" y="279400"/>
                </a:moveTo>
                <a:lnTo>
                  <a:pt x="992505" y="279400"/>
                </a:lnTo>
                <a:lnTo>
                  <a:pt x="1000378" y="292100"/>
                </a:lnTo>
                <a:lnTo>
                  <a:pt x="1007618" y="292100"/>
                </a:lnTo>
                <a:lnTo>
                  <a:pt x="1014349" y="304800"/>
                </a:lnTo>
                <a:lnTo>
                  <a:pt x="1020445" y="304800"/>
                </a:lnTo>
                <a:lnTo>
                  <a:pt x="1025906" y="317500"/>
                </a:lnTo>
                <a:lnTo>
                  <a:pt x="1030605" y="317500"/>
                </a:lnTo>
                <a:lnTo>
                  <a:pt x="1039240" y="330200"/>
                </a:lnTo>
                <a:lnTo>
                  <a:pt x="1046226" y="342900"/>
                </a:lnTo>
                <a:lnTo>
                  <a:pt x="1051940" y="368300"/>
                </a:lnTo>
                <a:lnTo>
                  <a:pt x="1056513" y="381000"/>
                </a:lnTo>
                <a:lnTo>
                  <a:pt x="1060323" y="393700"/>
                </a:lnTo>
                <a:lnTo>
                  <a:pt x="1063625" y="406400"/>
                </a:lnTo>
                <a:lnTo>
                  <a:pt x="1066546" y="419100"/>
                </a:lnTo>
                <a:lnTo>
                  <a:pt x="1068726" y="435875"/>
                </a:lnTo>
                <a:lnTo>
                  <a:pt x="1105774" y="427493"/>
                </a:lnTo>
                <a:lnTo>
                  <a:pt x="1104138" y="419100"/>
                </a:lnTo>
                <a:lnTo>
                  <a:pt x="1101217" y="406400"/>
                </a:lnTo>
                <a:lnTo>
                  <a:pt x="1097788" y="381000"/>
                </a:lnTo>
                <a:lnTo>
                  <a:pt x="1093597" y="368300"/>
                </a:lnTo>
                <a:lnTo>
                  <a:pt x="1088136" y="355600"/>
                </a:lnTo>
                <a:lnTo>
                  <a:pt x="1081405" y="330200"/>
                </a:lnTo>
                <a:lnTo>
                  <a:pt x="1073023" y="317500"/>
                </a:lnTo>
                <a:lnTo>
                  <a:pt x="1062609" y="304800"/>
                </a:lnTo>
                <a:lnTo>
                  <a:pt x="1056132" y="292100"/>
                </a:lnTo>
                <a:lnTo>
                  <a:pt x="1049527" y="279400"/>
                </a:lnTo>
                <a:close/>
              </a:path>
              <a:path w="1661160" h="4737100">
                <a:moveTo>
                  <a:pt x="91186" y="419100"/>
                </a:moveTo>
                <a:lnTo>
                  <a:pt x="47625" y="419100"/>
                </a:lnTo>
                <a:lnTo>
                  <a:pt x="44576" y="431800"/>
                </a:lnTo>
                <a:lnTo>
                  <a:pt x="86868" y="431800"/>
                </a:lnTo>
                <a:lnTo>
                  <a:pt x="91186" y="419100"/>
                </a:lnTo>
                <a:close/>
              </a:path>
              <a:path w="1661160" h="4737100">
                <a:moveTo>
                  <a:pt x="100075" y="393700"/>
                </a:moveTo>
                <a:lnTo>
                  <a:pt x="61213" y="393700"/>
                </a:lnTo>
                <a:lnTo>
                  <a:pt x="59182" y="406400"/>
                </a:lnTo>
                <a:lnTo>
                  <a:pt x="56514" y="406400"/>
                </a:lnTo>
                <a:lnTo>
                  <a:pt x="52705" y="419100"/>
                </a:lnTo>
                <a:lnTo>
                  <a:pt x="94996" y="419100"/>
                </a:lnTo>
                <a:lnTo>
                  <a:pt x="98044" y="406400"/>
                </a:lnTo>
                <a:lnTo>
                  <a:pt x="100075" y="393700"/>
                </a:lnTo>
                <a:close/>
              </a:path>
              <a:path w="1661160" h="4737100">
                <a:moveTo>
                  <a:pt x="104648" y="368300"/>
                </a:moveTo>
                <a:lnTo>
                  <a:pt x="66167" y="368300"/>
                </a:lnTo>
                <a:lnTo>
                  <a:pt x="62864" y="393700"/>
                </a:lnTo>
                <a:lnTo>
                  <a:pt x="102108" y="393700"/>
                </a:lnTo>
                <a:lnTo>
                  <a:pt x="103886" y="381000"/>
                </a:lnTo>
                <a:lnTo>
                  <a:pt x="104648" y="368300"/>
                </a:lnTo>
                <a:close/>
              </a:path>
              <a:path w="1661160" h="4737100">
                <a:moveTo>
                  <a:pt x="278130" y="63500"/>
                </a:moveTo>
                <a:lnTo>
                  <a:pt x="229488" y="63500"/>
                </a:lnTo>
                <a:lnTo>
                  <a:pt x="220725" y="88900"/>
                </a:lnTo>
                <a:lnTo>
                  <a:pt x="212598" y="101600"/>
                </a:lnTo>
                <a:lnTo>
                  <a:pt x="204343" y="114300"/>
                </a:lnTo>
                <a:lnTo>
                  <a:pt x="200406" y="127000"/>
                </a:lnTo>
                <a:lnTo>
                  <a:pt x="196087" y="127000"/>
                </a:lnTo>
                <a:lnTo>
                  <a:pt x="184785" y="139700"/>
                </a:lnTo>
                <a:lnTo>
                  <a:pt x="172720" y="152400"/>
                </a:lnTo>
                <a:lnTo>
                  <a:pt x="106552" y="215900"/>
                </a:lnTo>
                <a:lnTo>
                  <a:pt x="93599" y="228600"/>
                </a:lnTo>
                <a:lnTo>
                  <a:pt x="91439" y="241300"/>
                </a:lnTo>
                <a:lnTo>
                  <a:pt x="89915" y="241300"/>
                </a:lnTo>
                <a:lnTo>
                  <a:pt x="85851" y="266700"/>
                </a:lnTo>
                <a:lnTo>
                  <a:pt x="80010" y="292100"/>
                </a:lnTo>
                <a:lnTo>
                  <a:pt x="75437" y="317500"/>
                </a:lnTo>
                <a:lnTo>
                  <a:pt x="73533" y="330200"/>
                </a:lnTo>
                <a:lnTo>
                  <a:pt x="72009" y="342900"/>
                </a:lnTo>
                <a:lnTo>
                  <a:pt x="70485" y="342900"/>
                </a:lnTo>
                <a:lnTo>
                  <a:pt x="68072" y="355600"/>
                </a:lnTo>
                <a:lnTo>
                  <a:pt x="67056" y="368300"/>
                </a:lnTo>
                <a:lnTo>
                  <a:pt x="105790" y="368300"/>
                </a:lnTo>
                <a:lnTo>
                  <a:pt x="106934" y="355600"/>
                </a:lnTo>
                <a:lnTo>
                  <a:pt x="108076" y="355600"/>
                </a:lnTo>
                <a:lnTo>
                  <a:pt x="109474" y="342900"/>
                </a:lnTo>
                <a:lnTo>
                  <a:pt x="112902" y="317500"/>
                </a:lnTo>
                <a:lnTo>
                  <a:pt x="115062" y="317500"/>
                </a:lnTo>
                <a:lnTo>
                  <a:pt x="117475" y="304800"/>
                </a:lnTo>
                <a:lnTo>
                  <a:pt x="120269" y="279400"/>
                </a:lnTo>
                <a:lnTo>
                  <a:pt x="123189" y="266700"/>
                </a:lnTo>
                <a:lnTo>
                  <a:pt x="126619" y="254000"/>
                </a:lnTo>
                <a:lnTo>
                  <a:pt x="122427" y="254000"/>
                </a:lnTo>
                <a:lnTo>
                  <a:pt x="133858" y="241300"/>
                </a:lnTo>
                <a:lnTo>
                  <a:pt x="146176" y="228600"/>
                </a:lnTo>
                <a:lnTo>
                  <a:pt x="172847" y="203200"/>
                </a:lnTo>
                <a:lnTo>
                  <a:pt x="213613" y="165100"/>
                </a:lnTo>
                <a:lnTo>
                  <a:pt x="226695" y="152400"/>
                </a:lnTo>
                <a:lnTo>
                  <a:pt x="232663" y="139700"/>
                </a:lnTo>
                <a:lnTo>
                  <a:pt x="238125" y="139700"/>
                </a:lnTo>
                <a:lnTo>
                  <a:pt x="246887" y="114300"/>
                </a:lnTo>
                <a:lnTo>
                  <a:pt x="254762" y="101600"/>
                </a:lnTo>
                <a:lnTo>
                  <a:pt x="262382" y="88900"/>
                </a:lnTo>
                <a:lnTo>
                  <a:pt x="266192" y="76200"/>
                </a:lnTo>
                <a:lnTo>
                  <a:pt x="274065" y="76200"/>
                </a:lnTo>
                <a:lnTo>
                  <a:pt x="278130" y="63500"/>
                </a:lnTo>
                <a:close/>
              </a:path>
              <a:path w="1661160" h="4737100">
                <a:moveTo>
                  <a:pt x="716152" y="0"/>
                </a:moveTo>
                <a:lnTo>
                  <a:pt x="451612" y="0"/>
                </a:lnTo>
                <a:lnTo>
                  <a:pt x="399414" y="12700"/>
                </a:lnTo>
                <a:lnTo>
                  <a:pt x="295148" y="12700"/>
                </a:lnTo>
                <a:lnTo>
                  <a:pt x="284352" y="25400"/>
                </a:lnTo>
                <a:lnTo>
                  <a:pt x="261238" y="25400"/>
                </a:lnTo>
                <a:lnTo>
                  <a:pt x="254635" y="38100"/>
                </a:lnTo>
                <a:lnTo>
                  <a:pt x="704469" y="38100"/>
                </a:lnTo>
                <a:lnTo>
                  <a:pt x="793876" y="63500"/>
                </a:lnTo>
                <a:lnTo>
                  <a:pt x="835787" y="88900"/>
                </a:lnTo>
                <a:lnTo>
                  <a:pt x="874776" y="114300"/>
                </a:lnTo>
                <a:lnTo>
                  <a:pt x="909827" y="139700"/>
                </a:lnTo>
                <a:lnTo>
                  <a:pt x="940815" y="177800"/>
                </a:lnTo>
                <a:lnTo>
                  <a:pt x="947801" y="190500"/>
                </a:lnTo>
                <a:lnTo>
                  <a:pt x="954277" y="190500"/>
                </a:lnTo>
                <a:lnTo>
                  <a:pt x="972058" y="228600"/>
                </a:lnTo>
                <a:lnTo>
                  <a:pt x="986536" y="279400"/>
                </a:lnTo>
                <a:lnTo>
                  <a:pt x="1042415" y="279400"/>
                </a:lnTo>
                <a:lnTo>
                  <a:pt x="1034669" y="266700"/>
                </a:lnTo>
                <a:lnTo>
                  <a:pt x="1022985" y="266700"/>
                </a:lnTo>
                <a:lnTo>
                  <a:pt x="1017015" y="254000"/>
                </a:lnTo>
                <a:lnTo>
                  <a:pt x="1018413" y="254000"/>
                </a:lnTo>
                <a:lnTo>
                  <a:pt x="1013206" y="228600"/>
                </a:lnTo>
                <a:lnTo>
                  <a:pt x="994663" y="190500"/>
                </a:lnTo>
                <a:lnTo>
                  <a:pt x="972058" y="152400"/>
                </a:lnTo>
                <a:lnTo>
                  <a:pt x="955548" y="139700"/>
                </a:lnTo>
                <a:lnTo>
                  <a:pt x="937387" y="114300"/>
                </a:lnTo>
                <a:lnTo>
                  <a:pt x="917956" y="101600"/>
                </a:lnTo>
                <a:lnTo>
                  <a:pt x="897509" y="76200"/>
                </a:lnTo>
                <a:lnTo>
                  <a:pt x="876426" y="63500"/>
                </a:lnTo>
                <a:lnTo>
                  <a:pt x="854583" y="50800"/>
                </a:lnTo>
                <a:lnTo>
                  <a:pt x="832358" y="50800"/>
                </a:lnTo>
                <a:lnTo>
                  <a:pt x="764286" y="12700"/>
                </a:lnTo>
                <a:lnTo>
                  <a:pt x="716152" y="0"/>
                </a:lnTo>
                <a:close/>
              </a:path>
              <a:path w="1661160" h="4737100">
                <a:moveTo>
                  <a:pt x="1017015" y="254000"/>
                </a:moveTo>
                <a:lnTo>
                  <a:pt x="1022985" y="266700"/>
                </a:lnTo>
                <a:lnTo>
                  <a:pt x="1019772" y="257775"/>
                </a:lnTo>
                <a:lnTo>
                  <a:pt x="1017015" y="254000"/>
                </a:lnTo>
                <a:close/>
              </a:path>
              <a:path w="1661160" h="4737100">
                <a:moveTo>
                  <a:pt x="1019772" y="257775"/>
                </a:moveTo>
                <a:lnTo>
                  <a:pt x="1022985" y="266700"/>
                </a:lnTo>
                <a:lnTo>
                  <a:pt x="1026287" y="266700"/>
                </a:lnTo>
                <a:lnTo>
                  <a:pt x="1019772" y="257775"/>
                </a:lnTo>
                <a:close/>
              </a:path>
              <a:path w="1661160" h="4737100">
                <a:moveTo>
                  <a:pt x="1018413" y="254000"/>
                </a:moveTo>
                <a:lnTo>
                  <a:pt x="1017015" y="254000"/>
                </a:lnTo>
                <a:lnTo>
                  <a:pt x="1019772" y="257775"/>
                </a:lnTo>
                <a:lnTo>
                  <a:pt x="1018413" y="254000"/>
                </a:lnTo>
                <a:close/>
              </a:path>
              <a:path w="1661160" h="4737100">
                <a:moveTo>
                  <a:pt x="452882" y="38100"/>
                </a:moveTo>
                <a:lnTo>
                  <a:pt x="246887" y="38100"/>
                </a:lnTo>
                <a:lnTo>
                  <a:pt x="240157" y="50800"/>
                </a:lnTo>
                <a:lnTo>
                  <a:pt x="234569" y="63500"/>
                </a:lnTo>
                <a:lnTo>
                  <a:pt x="287147" y="63500"/>
                </a:lnTo>
                <a:lnTo>
                  <a:pt x="295275" y="50800"/>
                </a:lnTo>
                <a:lnTo>
                  <a:pt x="401574" y="50800"/>
                </a:lnTo>
                <a:lnTo>
                  <a:pt x="45288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115934" y="2125725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92211" y="4164584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77834" y="6146393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53505" y="4140453"/>
            <a:ext cx="585470" cy="604520"/>
          </a:xfrm>
          <a:custGeom>
            <a:avLst/>
            <a:gdLst/>
            <a:ahLst/>
            <a:cxnLst/>
            <a:rect l="l" t="t" r="r" b="b"/>
            <a:pathLst>
              <a:path w="585470" h="604520">
                <a:moveTo>
                  <a:pt x="492100" y="535583"/>
                </a:moveTo>
                <a:lnTo>
                  <a:pt x="464693" y="562102"/>
                </a:lnTo>
                <a:lnTo>
                  <a:pt x="585216" y="604520"/>
                </a:lnTo>
                <a:lnTo>
                  <a:pt x="567836" y="549275"/>
                </a:lnTo>
                <a:lnTo>
                  <a:pt x="505333" y="549275"/>
                </a:lnTo>
                <a:lnTo>
                  <a:pt x="492100" y="535583"/>
                </a:lnTo>
                <a:close/>
              </a:path>
              <a:path w="585470" h="604520">
                <a:moveTo>
                  <a:pt x="519531" y="509043"/>
                </a:moveTo>
                <a:lnTo>
                  <a:pt x="492100" y="535583"/>
                </a:lnTo>
                <a:lnTo>
                  <a:pt x="505333" y="549275"/>
                </a:lnTo>
                <a:lnTo>
                  <a:pt x="532765" y="522732"/>
                </a:lnTo>
                <a:lnTo>
                  <a:pt x="519531" y="509043"/>
                </a:lnTo>
                <a:close/>
              </a:path>
              <a:path w="585470" h="604520">
                <a:moveTo>
                  <a:pt x="546862" y="482600"/>
                </a:moveTo>
                <a:lnTo>
                  <a:pt x="519531" y="509043"/>
                </a:lnTo>
                <a:lnTo>
                  <a:pt x="532765" y="522732"/>
                </a:lnTo>
                <a:lnTo>
                  <a:pt x="505333" y="549275"/>
                </a:lnTo>
                <a:lnTo>
                  <a:pt x="567836" y="549275"/>
                </a:lnTo>
                <a:lnTo>
                  <a:pt x="546862" y="482600"/>
                </a:lnTo>
                <a:close/>
              </a:path>
              <a:path w="585470" h="604520">
                <a:moveTo>
                  <a:pt x="27432" y="0"/>
                </a:moveTo>
                <a:lnTo>
                  <a:pt x="0" y="26416"/>
                </a:lnTo>
                <a:lnTo>
                  <a:pt x="492100" y="535583"/>
                </a:lnTo>
                <a:lnTo>
                  <a:pt x="519531" y="509043"/>
                </a:lnTo>
                <a:lnTo>
                  <a:pt x="2743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2891" y="2295405"/>
            <a:ext cx="2616835" cy="1293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条件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（</a:t>
            </a:r>
            <a:r>
              <a:rPr sz="32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）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不能 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阻挡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将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i=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3200" b="1" spc="-5" dirty="0">
                <a:solidFill>
                  <a:srgbClr val="66FFFF"/>
                </a:solidFill>
                <a:latin typeface="宋体"/>
                <a:cs typeface="宋体"/>
              </a:rPr>
              <a:t>外提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949576" y="11378"/>
            <a:ext cx="18942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代码优化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99430" y="11378"/>
            <a:ext cx="2788920" cy="4068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100"/>
              </a:spcBef>
              <a:tabLst>
                <a:tab pos="63055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华文新魏"/>
              <a:cs typeface="华文新魏"/>
            </a:endParaRPr>
          </a:p>
          <a:p>
            <a:pPr marL="1136650">
              <a:lnSpc>
                <a:spcPct val="100000"/>
              </a:lnSpc>
              <a:spcBef>
                <a:spcPts val="5"/>
              </a:spcBef>
              <a:tabLst>
                <a:tab pos="2339975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i=1	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baseline="-13227" dirty="0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150" baseline="-13227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950">
              <a:latin typeface="Times New Roman"/>
              <a:cs typeface="Times New Roman"/>
            </a:endParaRPr>
          </a:p>
          <a:p>
            <a:pPr marL="421005" algn="ctr">
              <a:lnSpc>
                <a:spcPct val="100000"/>
              </a:lnSpc>
            </a:pP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i=3</a:t>
            </a:r>
            <a:endParaRPr sz="2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1005"/>
              </a:spcBef>
              <a:tabLst>
                <a:tab pos="1804670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u&lt;v</a:t>
            </a:r>
            <a:r>
              <a:rPr sz="2800" b="1" spc="20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goto	B4</a:t>
            </a:r>
            <a:endParaRPr sz="2800">
              <a:latin typeface="Times New Roman"/>
              <a:cs typeface="Times New Roman"/>
            </a:endParaRPr>
          </a:p>
          <a:p>
            <a:pPr marL="1092200">
              <a:lnSpc>
                <a:spcPts val="3270"/>
              </a:lnSpc>
              <a:spcBef>
                <a:spcPts val="52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150" baseline="-14550">
              <a:latin typeface="Times New Roman"/>
              <a:cs typeface="Times New Roman"/>
            </a:endParaRPr>
          </a:p>
          <a:p>
            <a:pPr marL="50800">
              <a:lnSpc>
                <a:spcPts val="3270"/>
              </a:lnSpc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i=u+v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u=u+1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231140" y="518871"/>
            <a:ext cx="41097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说明外提的限制条件：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7743" y="3831310"/>
            <a:ext cx="2633345" cy="229425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3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关于条件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中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(ii)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的举例： 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中其它地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方未再定值；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673857" y="1883664"/>
            <a:ext cx="3771900" cy="114300"/>
          </a:xfrm>
          <a:custGeom>
            <a:avLst/>
            <a:gdLst/>
            <a:ahLst/>
            <a:cxnLst/>
            <a:rect l="l" t="t" r="r" b="b"/>
            <a:pathLst>
              <a:path w="3771900" h="114300">
                <a:moveTo>
                  <a:pt x="3657600" y="0"/>
                </a:moveTo>
                <a:lnTo>
                  <a:pt x="3657600" y="114300"/>
                </a:lnTo>
                <a:lnTo>
                  <a:pt x="3733800" y="76200"/>
                </a:lnTo>
                <a:lnTo>
                  <a:pt x="3676650" y="76200"/>
                </a:lnTo>
                <a:lnTo>
                  <a:pt x="3676650" y="38100"/>
                </a:lnTo>
                <a:lnTo>
                  <a:pt x="3733800" y="38100"/>
                </a:lnTo>
                <a:lnTo>
                  <a:pt x="3657600" y="0"/>
                </a:lnTo>
                <a:close/>
              </a:path>
              <a:path w="3771900" h="114300">
                <a:moveTo>
                  <a:pt x="36576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657600" y="76200"/>
                </a:lnTo>
                <a:lnTo>
                  <a:pt x="3657600" y="38100"/>
                </a:lnTo>
                <a:close/>
              </a:path>
              <a:path w="3771900" h="114300">
                <a:moveTo>
                  <a:pt x="3733800" y="38100"/>
                </a:moveTo>
                <a:lnTo>
                  <a:pt x="3676650" y="38100"/>
                </a:lnTo>
                <a:lnTo>
                  <a:pt x="3676650" y="76200"/>
                </a:lnTo>
                <a:lnTo>
                  <a:pt x="3733800" y="76200"/>
                </a:lnTo>
                <a:lnTo>
                  <a:pt x="3771900" y="57150"/>
                </a:lnTo>
                <a:lnTo>
                  <a:pt x="3733800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78358" y="1753361"/>
            <a:ext cx="2095500" cy="472440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3275"/>
              </a:lnSpc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不变运算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105</a:t>
            </a:fld>
            <a:r>
              <a:rPr sz="1400" b="1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6971" y="6422135"/>
            <a:ext cx="364490" cy="411480"/>
          </a:xfrm>
          <a:custGeom>
            <a:avLst/>
            <a:gdLst/>
            <a:ahLst/>
            <a:cxnLst/>
            <a:rect l="l" t="t" r="r" b="b"/>
            <a:pathLst>
              <a:path w="364490" h="411479">
                <a:moveTo>
                  <a:pt x="364236" y="0"/>
                </a:moveTo>
                <a:lnTo>
                  <a:pt x="0" y="0"/>
                </a:lnTo>
                <a:lnTo>
                  <a:pt x="0" y="411479"/>
                </a:lnTo>
                <a:lnTo>
                  <a:pt x="364236" y="411479"/>
                </a:lnTo>
                <a:lnTo>
                  <a:pt x="364236" y="342327"/>
                </a:lnTo>
                <a:lnTo>
                  <a:pt x="45529" y="342327"/>
                </a:lnTo>
                <a:lnTo>
                  <a:pt x="45529" y="69151"/>
                </a:lnTo>
                <a:lnTo>
                  <a:pt x="364236" y="69151"/>
                </a:lnTo>
                <a:lnTo>
                  <a:pt x="364236" y="0"/>
                </a:lnTo>
                <a:close/>
              </a:path>
              <a:path w="364490" h="411479">
                <a:moveTo>
                  <a:pt x="318706" y="69151"/>
                </a:moveTo>
                <a:lnTo>
                  <a:pt x="79679" y="69151"/>
                </a:lnTo>
                <a:lnTo>
                  <a:pt x="79679" y="342327"/>
                </a:lnTo>
                <a:lnTo>
                  <a:pt x="318706" y="342327"/>
                </a:lnTo>
                <a:lnTo>
                  <a:pt x="113830" y="205739"/>
                </a:lnTo>
                <a:lnTo>
                  <a:pt x="318706" y="69151"/>
                </a:lnTo>
                <a:close/>
              </a:path>
              <a:path w="364490" h="411479">
                <a:moveTo>
                  <a:pt x="364236" y="69151"/>
                </a:moveTo>
                <a:lnTo>
                  <a:pt x="318706" y="69151"/>
                </a:lnTo>
                <a:lnTo>
                  <a:pt x="318706" y="342327"/>
                </a:lnTo>
                <a:lnTo>
                  <a:pt x="364236" y="342327"/>
                </a:lnTo>
                <a:lnTo>
                  <a:pt x="364236" y="69151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2501" y="6491287"/>
            <a:ext cx="273685" cy="273685"/>
          </a:xfrm>
          <a:custGeom>
            <a:avLst/>
            <a:gdLst/>
            <a:ahLst/>
            <a:cxnLst/>
            <a:rect l="l" t="t" r="r" b="b"/>
            <a:pathLst>
              <a:path w="273684" h="273684">
                <a:moveTo>
                  <a:pt x="273177" y="0"/>
                </a:moveTo>
                <a:lnTo>
                  <a:pt x="68300" y="136588"/>
                </a:lnTo>
                <a:lnTo>
                  <a:pt x="273177" y="273175"/>
                </a:lnTo>
                <a:lnTo>
                  <a:pt x="273177" y="0"/>
                </a:lnTo>
                <a:close/>
              </a:path>
              <a:path w="273684" h="273684">
                <a:moveTo>
                  <a:pt x="34150" y="0"/>
                </a:moveTo>
                <a:lnTo>
                  <a:pt x="0" y="0"/>
                </a:lnTo>
                <a:lnTo>
                  <a:pt x="0" y="273175"/>
                </a:lnTo>
                <a:lnTo>
                  <a:pt x="34150" y="273175"/>
                </a:lnTo>
                <a:lnTo>
                  <a:pt x="3415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6710" y="6520078"/>
            <a:ext cx="3854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5" dirty="0">
                <a:latin typeface="宋体"/>
                <a:cs typeface="宋体"/>
                <a:hlinkClick r:id="rId2" action="ppaction://hlinksldjump"/>
              </a:rPr>
              <a:t>返回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49576" y="11378"/>
            <a:ext cx="18942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代码优化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01674" y="749045"/>
            <a:ext cx="1237615" cy="472440"/>
          </a:xfrm>
          <a:custGeom>
            <a:avLst/>
            <a:gdLst/>
            <a:ahLst/>
            <a:cxnLst/>
            <a:rect l="l" t="t" r="r" b="b"/>
            <a:pathLst>
              <a:path w="1237614" h="472440">
                <a:moveTo>
                  <a:pt x="0" y="472439"/>
                </a:moveTo>
                <a:lnTo>
                  <a:pt x="1237488" y="472439"/>
                </a:lnTo>
                <a:lnTo>
                  <a:pt x="1237488" y="0"/>
                </a:lnTo>
                <a:lnTo>
                  <a:pt x="0" y="0"/>
                </a:lnTo>
                <a:lnTo>
                  <a:pt x="0" y="47243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210047" y="11378"/>
            <a:ext cx="23653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9673" y="1655826"/>
            <a:ext cx="2914015" cy="1028700"/>
          </a:xfrm>
          <a:custGeom>
            <a:avLst/>
            <a:gdLst/>
            <a:ahLst/>
            <a:cxnLst/>
            <a:rect l="l" t="t" r="r" b="b"/>
            <a:pathLst>
              <a:path w="2914015" h="1028700">
                <a:moveTo>
                  <a:pt x="0" y="1028700"/>
                </a:moveTo>
                <a:lnTo>
                  <a:pt x="2913888" y="1028700"/>
                </a:lnTo>
                <a:lnTo>
                  <a:pt x="2913888" y="0"/>
                </a:lnTo>
                <a:lnTo>
                  <a:pt x="0" y="0"/>
                </a:lnTo>
                <a:lnTo>
                  <a:pt x="0" y="10287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962" y="3167633"/>
            <a:ext cx="1556385" cy="894715"/>
          </a:xfrm>
          <a:custGeom>
            <a:avLst/>
            <a:gdLst/>
            <a:ahLst/>
            <a:cxnLst/>
            <a:rect l="l" t="t" r="r" b="b"/>
            <a:pathLst>
              <a:path w="1556385" h="894714">
                <a:moveTo>
                  <a:pt x="0" y="894588"/>
                </a:moveTo>
                <a:lnTo>
                  <a:pt x="1556003" y="894588"/>
                </a:lnTo>
                <a:lnTo>
                  <a:pt x="1556003" y="0"/>
                </a:lnTo>
                <a:lnTo>
                  <a:pt x="0" y="0"/>
                </a:lnTo>
                <a:lnTo>
                  <a:pt x="0" y="8945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5940" y="3080461"/>
            <a:ext cx="904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i=u+v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940" y="3550411"/>
            <a:ext cx="100456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u=</a:t>
            </a:r>
            <a:r>
              <a:rPr sz="2800" b="1" spc="5" dirty="0">
                <a:solidFill>
                  <a:srgbClr val="FFFF99"/>
                </a:solidFill>
                <a:latin typeface="Times New Roman"/>
                <a:cs typeface="Times New Roman"/>
              </a:rPr>
              <a:t>u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+1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92658" y="4703826"/>
            <a:ext cx="2915920" cy="826135"/>
          </a:xfrm>
          <a:custGeom>
            <a:avLst/>
            <a:gdLst/>
            <a:ahLst/>
            <a:cxnLst/>
            <a:rect l="l" t="t" r="r" b="b"/>
            <a:pathLst>
              <a:path w="2915920" h="826135">
                <a:moveTo>
                  <a:pt x="0" y="826008"/>
                </a:moveTo>
                <a:lnTo>
                  <a:pt x="2915412" y="826008"/>
                </a:lnTo>
                <a:lnTo>
                  <a:pt x="2915412" y="0"/>
                </a:lnTo>
                <a:lnTo>
                  <a:pt x="0" y="0"/>
                </a:lnTo>
                <a:lnTo>
                  <a:pt x="0" y="82600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16253" y="4592828"/>
            <a:ext cx="8813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v=</a:t>
            </a:r>
            <a:r>
              <a:rPr sz="2800" b="1" spc="10" dirty="0">
                <a:solidFill>
                  <a:srgbClr val="FFFF99"/>
                </a:solidFill>
                <a:latin typeface="Times New Roman"/>
                <a:cs typeface="Times New Roman"/>
              </a:rPr>
              <a:t>v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-1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9332" y="5019547"/>
            <a:ext cx="2604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76780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v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&lt;=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0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g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t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72817" y="5977890"/>
            <a:ext cx="1237615" cy="472440"/>
          </a:xfrm>
          <a:custGeom>
            <a:avLst/>
            <a:gdLst/>
            <a:ahLst/>
            <a:cxnLst/>
            <a:rect l="l" t="t" r="r" b="b"/>
            <a:pathLst>
              <a:path w="1237614" h="472439">
                <a:moveTo>
                  <a:pt x="0" y="472440"/>
                </a:moveTo>
                <a:lnTo>
                  <a:pt x="1237488" y="472440"/>
                </a:lnTo>
                <a:lnTo>
                  <a:pt x="1237488" y="0"/>
                </a:lnTo>
                <a:lnTo>
                  <a:pt x="0" y="0"/>
                </a:lnTo>
                <a:lnTo>
                  <a:pt x="0" y="47244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139188" y="5951016"/>
            <a:ext cx="535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=</a:t>
            </a:r>
            <a:r>
              <a:rPr sz="2800" b="1" spc="-70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16023" y="1221486"/>
            <a:ext cx="114300" cy="434340"/>
          </a:xfrm>
          <a:custGeom>
            <a:avLst/>
            <a:gdLst/>
            <a:ahLst/>
            <a:cxnLst/>
            <a:rect l="l" t="t" r="r" b="b"/>
            <a:pathLst>
              <a:path w="114300" h="434339">
                <a:moveTo>
                  <a:pt x="38100" y="320039"/>
                </a:moveTo>
                <a:lnTo>
                  <a:pt x="0" y="320039"/>
                </a:lnTo>
                <a:lnTo>
                  <a:pt x="57150" y="434339"/>
                </a:lnTo>
                <a:lnTo>
                  <a:pt x="104775" y="339089"/>
                </a:lnTo>
                <a:lnTo>
                  <a:pt x="38100" y="339089"/>
                </a:lnTo>
                <a:lnTo>
                  <a:pt x="38100" y="320039"/>
                </a:lnTo>
                <a:close/>
              </a:path>
              <a:path w="114300" h="434339">
                <a:moveTo>
                  <a:pt x="76200" y="0"/>
                </a:moveTo>
                <a:lnTo>
                  <a:pt x="38100" y="0"/>
                </a:lnTo>
                <a:lnTo>
                  <a:pt x="38100" y="339089"/>
                </a:lnTo>
                <a:lnTo>
                  <a:pt x="76200" y="339089"/>
                </a:lnTo>
                <a:lnTo>
                  <a:pt x="76200" y="0"/>
                </a:lnTo>
                <a:close/>
              </a:path>
              <a:path w="114300" h="434339">
                <a:moveTo>
                  <a:pt x="114300" y="320039"/>
                </a:moveTo>
                <a:lnTo>
                  <a:pt x="76200" y="320039"/>
                </a:lnTo>
                <a:lnTo>
                  <a:pt x="76200" y="339089"/>
                </a:lnTo>
                <a:lnTo>
                  <a:pt x="104775" y="339089"/>
                </a:lnTo>
                <a:lnTo>
                  <a:pt x="114300" y="32003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58774" y="2693035"/>
            <a:ext cx="358775" cy="474980"/>
          </a:xfrm>
          <a:custGeom>
            <a:avLst/>
            <a:gdLst/>
            <a:ahLst/>
            <a:cxnLst/>
            <a:rect l="l" t="t" r="r" b="b"/>
            <a:pathLst>
              <a:path w="358775" h="474980">
                <a:moveTo>
                  <a:pt x="22059" y="348741"/>
                </a:moveTo>
                <a:lnTo>
                  <a:pt x="0" y="474599"/>
                </a:lnTo>
                <a:lnTo>
                  <a:pt x="113931" y="416687"/>
                </a:lnTo>
                <a:lnTo>
                  <a:pt x="103971" y="409320"/>
                </a:lnTo>
                <a:lnTo>
                  <a:pt x="71983" y="409320"/>
                </a:lnTo>
                <a:lnTo>
                  <a:pt x="41351" y="386714"/>
                </a:lnTo>
                <a:lnTo>
                  <a:pt x="52690" y="371395"/>
                </a:lnTo>
                <a:lnTo>
                  <a:pt x="22059" y="348741"/>
                </a:lnTo>
                <a:close/>
              </a:path>
              <a:path w="358775" h="474980">
                <a:moveTo>
                  <a:pt x="52690" y="371395"/>
                </a:moveTo>
                <a:lnTo>
                  <a:pt x="41351" y="386714"/>
                </a:lnTo>
                <a:lnTo>
                  <a:pt x="71983" y="409320"/>
                </a:lnTo>
                <a:lnTo>
                  <a:pt x="83299" y="394032"/>
                </a:lnTo>
                <a:lnTo>
                  <a:pt x="52690" y="371395"/>
                </a:lnTo>
                <a:close/>
              </a:path>
              <a:path w="358775" h="474980">
                <a:moveTo>
                  <a:pt x="83299" y="394032"/>
                </a:moveTo>
                <a:lnTo>
                  <a:pt x="71983" y="409320"/>
                </a:lnTo>
                <a:lnTo>
                  <a:pt x="103971" y="409320"/>
                </a:lnTo>
                <a:lnTo>
                  <a:pt x="83299" y="394032"/>
                </a:lnTo>
                <a:close/>
              </a:path>
              <a:path w="358775" h="474980">
                <a:moveTo>
                  <a:pt x="327583" y="0"/>
                </a:moveTo>
                <a:lnTo>
                  <a:pt x="52690" y="371395"/>
                </a:lnTo>
                <a:lnTo>
                  <a:pt x="83299" y="394032"/>
                </a:lnTo>
                <a:lnTo>
                  <a:pt x="358216" y="22605"/>
                </a:lnTo>
                <a:lnTo>
                  <a:pt x="32758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82011" y="2684526"/>
            <a:ext cx="114300" cy="2001520"/>
          </a:xfrm>
          <a:custGeom>
            <a:avLst/>
            <a:gdLst/>
            <a:ahLst/>
            <a:cxnLst/>
            <a:rect l="l" t="t" r="r" b="b"/>
            <a:pathLst>
              <a:path w="114300" h="2001520">
                <a:moveTo>
                  <a:pt x="38100" y="1886712"/>
                </a:moveTo>
                <a:lnTo>
                  <a:pt x="0" y="1886712"/>
                </a:lnTo>
                <a:lnTo>
                  <a:pt x="57150" y="2001012"/>
                </a:lnTo>
                <a:lnTo>
                  <a:pt x="104775" y="1905762"/>
                </a:lnTo>
                <a:lnTo>
                  <a:pt x="38100" y="1905762"/>
                </a:lnTo>
                <a:lnTo>
                  <a:pt x="38100" y="1886712"/>
                </a:lnTo>
                <a:close/>
              </a:path>
              <a:path w="114300" h="2001520">
                <a:moveTo>
                  <a:pt x="76200" y="0"/>
                </a:moveTo>
                <a:lnTo>
                  <a:pt x="38100" y="0"/>
                </a:lnTo>
                <a:lnTo>
                  <a:pt x="38100" y="1905762"/>
                </a:lnTo>
                <a:lnTo>
                  <a:pt x="76200" y="1905762"/>
                </a:lnTo>
                <a:lnTo>
                  <a:pt x="76200" y="0"/>
                </a:lnTo>
                <a:close/>
              </a:path>
              <a:path w="114300" h="2001520">
                <a:moveTo>
                  <a:pt x="114300" y="1886712"/>
                </a:moveTo>
                <a:lnTo>
                  <a:pt x="76200" y="1886712"/>
                </a:lnTo>
                <a:lnTo>
                  <a:pt x="76200" y="1905762"/>
                </a:lnTo>
                <a:lnTo>
                  <a:pt x="104775" y="1905762"/>
                </a:lnTo>
                <a:lnTo>
                  <a:pt x="114300" y="188671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58211" y="5529834"/>
            <a:ext cx="114300" cy="448309"/>
          </a:xfrm>
          <a:custGeom>
            <a:avLst/>
            <a:gdLst/>
            <a:ahLst/>
            <a:cxnLst/>
            <a:rect l="l" t="t" r="r" b="b"/>
            <a:pathLst>
              <a:path w="114300" h="448310">
                <a:moveTo>
                  <a:pt x="38100" y="333755"/>
                </a:moveTo>
                <a:lnTo>
                  <a:pt x="0" y="333755"/>
                </a:lnTo>
                <a:lnTo>
                  <a:pt x="57150" y="448055"/>
                </a:lnTo>
                <a:lnTo>
                  <a:pt x="104775" y="352805"/>
                </a:lnTo>
                <a:lnTo>
                  <a:pt x="38100" y="352805"/>
                </a:lnTo>
                <a:lnTo>
                  <a:pt x="38100" y="333755"/>
                </a:lnTo>
                <a:close/>
              </a:path>
              <a:path w="114300" h="448310">
                <a:moveTo>
                  <a:pt x="76200" y="0"/>
                </a:moveTo>
                <a:lnTo>
                  <a:pt x="38100" y="0"/>
                </a:lnTo>
                <a:lnTo>
                  <a:pt x="38100" y="352805"/>
                </a:lnTo>
                <a:lnTo>
                  <a:pt x="76200" y="352805"/>
                </a:lnTo>
                <a:lnTo>
                  <a:pt x="76200" y="0"/>
                </a:lnTo>
                <a:close/>
              </a:path>
              <a:path w="114300" h="448310">
                <a:moveTo>
                  <a:pt x="114300" y="333755"/>
                </a:moveTo>
                <a:lnTo>
                  <a:pt x="76200" y="333755"/>
                </a:lnTo>
                <a:lnTo>
                  <a:pt x="76200" y="352805"/>
                </a:lnTo>
                <a:lnTo>
                  <a:pt x="104775" y="352805"/>
                </a:lnTo>
                <a:lnTo>
                  <a:pt x="114300" y="33375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431925" y="720598"/>
            <a:ext cx="1435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12190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i=1	</a:t>
            </a: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3227" dirty="0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150" baseline="-13227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49497" y="2048001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5434" y="1499414"/>
            <a:ext cx="2244725" cy="162941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092835">
              <a:lnSpc>
                <a:spcPct val="100000"/>
              </a:lnSpc>
              <a:spcBef>
                <a:spcPts val="1110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i=3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1816735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u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&lt;v</a:t>
            </a:r>
            <a:r>
              <a:rPr sz="2800" b="1" spc="10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g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to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B4</a:t>
            </a:r>
            <a:endParaRPr sz="2800">
              <a:latin typeface="Times New Roman"/>
              <a:cs typeface="Times New Roman"/>
            </a:endParaRPr>
          </a:p>
          <a:p>
            <a:pPr marR="360045" algn="ctr">
              <a:lnSpc>
                <a:spcPct val="100000"/>
              </a:lnSpc>
              <a:spcBef>
                <a:spcPts val="525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48714" y="2832354"/>
            <a:ext cx="16129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spc="15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25775" y="4213986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11397" y="6068059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187996" y="4062729"/>
            <a:ext cx="585470" cy="603250"/>
          </a:xfrm>
          <a:custGeom>
            <a:avLst/>
            <a:gdLst/>
            <a:ahLst/>
            <a:cxnLst/>
            <a:rect l="l" t="t" r="r" b="b"/>
            <a:pathLst>
              <a:path w="585469" h="603250">
                <a:moveTo>
                  <a:pt x="491939" y="534222"/>
                </a:moveTo>
                <a:lnTo>
                  <a:pt x="464654" y="560705"/>
                </a:lnTo>
                <a:lnTo>
                  <a:pt x="585177" y="602996"/>
                </a:lnTo>
                <a:lnTo>
                  <a:pt x="567781" y="547878"/>
                </a:lnTo>
                <a:lnTo>
                  <a:pt x="505167" y="547878"/>
                </a:lnTo>
                <a:lnTo>
                  <a:pt x="491939" y="534222"/>
                </a:lnTo>
                <a:close/>
              </a:path>
              <a:path w="585469" h="603250">
                <a:moveTo>
                  <a:pt x="519327" y="507640"/>
                </a:moveTo>
                <a:lnTo>
                  <a:pt x="491939" y="534222"/>
                </a:lnTo>
                <a:lnTo>
                  <a:pt x="505167" y="547878"/>
                </a:lnTo>
                <a:lnTo>
                  <a:pt x="532599" y="521335"/>
                </a:lnTo>
                <a:lnTo>
                  <a:pt x="519327" y="507640"/>
                </a:lnTo>
                <a:close/>
              </a:path>
              <a:path w="585469" h="603250">
                <a:moveTo>
                  <a:pt x="546696" y="481076"/>
                </a:moveTo>
                <a:lnTo>
                  <a:pt x="519327" y="507640"/>
                </a:lnTo>
                <a:lnTo>
                  <a:pt x="532599" y="521335"/>
                </a:lnTo>
                <a:lnTo>
                  <a:pt x="505167" y="547878"/>
                </a:lnTo>
                <a:lnTo>
                  <a:pt x="567781" y="547878"/>
                </a:lnTo>
                <a:lnTo>
                  <a:pt x="546696" y="481076"/>
                </a:lnTo>
                <a:close/>
              </a:path>
              <a:path w="585469" h="603250">
                <a:moveTo>
                  <a:pt x="27355" y="0"/>
                </a:moveTo>
                <a:lnTo>
                  <a:pt x="0" y="26416"/>
                </a:lnTo>
                <a:lnTo>
                  <a:pt x="491939" y="534222"/>
                </a:lnTo>
                <a:lnTo>
                  <a:pt x="519327" y="507640"/>
                </a:lnTo>
                <a:lnTo>
                  <a:pt x="2735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0982" y="2170938"/>
            <a:ext cx="484505" cy="2965450"/>
          </a:xfrm>
          <a:custGeom>
            <a:avLst/>
            <a:gdLst/>
            <a:ahLst/>
            <a:cxnLst/>
            <a:rect l="l" t="t" r="r" b="b"/>
            <a:pathLst>
              <a:path w="484505" h="2965450">
                <a:moveTo>
                  <a:pt x="148207" y="82939"/>
                </a:moveTo>
                <a:lnTo>
                  <a:pt x="133642" y="121158"/>
                </a:lnTo>
                <a:lnTo>
                  <a:pt x="119811" y="170814"/>
                </a:lnTo>
                <a:lnTo>
                  <a:pt x="106425" y="227202"/>
                </a:lnTo>
                <a:lnTo>
                  <a:pt x="97891" y="268224"/>
                </a:lnTo>
                <a:lnTo>
                  <a:pt x="89446" y="312038"/>
                </a:lnTo>
                <a:lnTo>
                  <a:pt x="81305" y="358266"/>
                </a:lnTo>
                <a:lnTo>
                  <a:pt x="73444" y="406908"/>
                </a:lnTo>
                <a:lnTo>
                  <a:pt x="65989" y="457835"/>
                </a:lnTo>
                <a:lnTo>
                  <a:pt x="58724" y="510794"/>
                </a:lnTo>
                <a:lnTo>
                  <a:pt x="51841" y="565912"/>
                </a:lnTo>
                <a:lnTo>
                  <a:pt x="45250" y="622935"/>
                </a:lnTo>
                <a:lnTo>
                  <a:pt x="39039" y="681609"/>
                </a:lnTo>
                <a:lnTo>
                  <a:pt x="33210" y="741934"/>
                </a:lnTo>
                <a:lnTo>
                  <a:pt x="27863" y="803656"/>
                </a:lnTo>
                <a:lnTo>
                  <a:pt x="22898" y="866775"/>
                </a:lnTo>
                <a:lnTo>
                  <a:pt x="18313" y="931163"/>
                </a:lnTo>
                <a:lnTo>
                  <a:pt x="14211" y="996569"/>
                </a:lnTo>
                <a:lnTo>
                  <a:pt x="10597" y="1064640"/>
                </a:lnTo>
                <a:lnTo>
                  <a:pt x="7531" y="1130046"/>
                </a:lnTo>
                <a:lnTo>
                  <a:pt x="4919" y="1199007"/>
                </a:lnTo>
                <a:lnTo>
                  <a:pt x="2928" y="1267078"/>
                </a:lnTo>
                <a:lnTo>
                  <a:pt x="1516" y="1335532"/>
                </a:lnTo>
                <a:lnTo>
                  <a:pt x="568" y="1404365"/>
                </a:lnTo>
                <a:lnTo>
                  <a:pt x="0" y="1473200"/>
                </a:lnTo>
                <a:lnTo>
                  <a:pt x="673" y="1542669"/>
                </a:lnTo>
                <a:lnTo>
                  <a:pt x="2679" y="1612011"/>
                </a:lnTo>
                <a:lnTo>
                  <a:pt x="6032" y="1680845"/>
                </a:lnTo>
                <a:lnTo>
                  <a:pt x="10541" y="1749552"/>
                </a:lnTo>
                <a:lnTo>
                  <a:pt x="16281" y="1817497"/>
                </a:lnTo>
                <a:lnTo>
                  <a:pt x="23177" y="1884934"/>
                </a:lnTo>
                <a:lnTo>
                  <a:pt x="31216" y="1951355"/>
                </a:lnTo>
                <a:lnTo>
                  <a:pt x="40220" y="2017014"/>
                </a:lnTo>
                <a:lnTo>
                  <a:pt x="50292" y="2081530"/>
                </a:lnTo>
                <a:lnTo>
                  <a:pt x="61391" y="2144776"/>
                </a:lnTo>
                <a:lnTo>
                  <a:pt x="73380" y="2206879"/>
                </a:lnTo>
                <a:lnTo>
                  <a:pt x="86309" y="2267331"/>
                </a:lnTo>
                <a:lnTo>
                  <a:pt x="100025" y="2326259"/>
                </a:lnTo>
                <a:lnTo>
                  <a:pt x="114604" y="2383409"/>
                </a:lnTo>
                <a:lnTo>
                  <a:pt x="129971" y="2438654"/>
                </a:lnTo>
                <a:lnTo>
                  <a:pt x="146062" y="2491867"/>
                </a:lnTo>
                <a:lnTo>
                  <a:pt x="162788" y="2542921"/>
                </a:lnTo>
                <a:lnTo>
                  <a:pt x="180314" y="2591943"/>
                </a:lnTo>
                <a:lnTo>
                  <a:pt x="198323" y="2638425"/>
                </a:lnTo>
                <a:lnTo>
                  <a:pt x="217043" y="2682367"/>
                </a:lnTo>
                <a:lnTo>
                  <a:pt x="236245" y="2723769"/>
                </a:lnTo>
                <a:lnTo>
                  <a:pt x="256006" y="2762250"/>
                </a:lnTo>
                <a:lnTo>
                  <a:pt x="276313" y="2798064"/>
                </a:lnTo>
                <a:lnTo>
                  <a:pt x="297052" y="2830703"/>
                </a:lnTo>
                <a:lnTo>
                  <a:pt x="329196" y="2873883"/>
                </a:lnTo>
                <a:lnTo>
                  <a:pt x="362432" y="2909443"/>
                </a:lnTo>
                <a:lnTo>
                  <a:pt x="397255" y="2937256"/>
                </a:lnTo>
                <a:lnTo>
                  <a:pt x="433311" y="2956052"/>
                </a:lnTo>
                <a:lnTo>
                  <a:pt x="471055" y="2964942"/>
                </a:lnTo>
                <a:lnTo>
                  <a:pt x="481914" y="2965450"/>
                </a:lnTo>
                <a:lnTo>
                  <a:pt x="483908" y="2927477"/>
                </a:lnTo>
                <a:lnTo>
                  <a:pt x="473049" y="2926842"/>
                </a:lnTo>
                <a:lnTo>
                  <a:pt x="463842" y="2925445"/>
                </a:lnTo>
                <a:lnTo>
                  <a:pt x="426885" y="2910840"/>
                </a:lnTo>
                <a:lnTo>
                  <a:pt x="387934" y="2881122"/>
                </a:lnTo>
                <a:lnTo>
                  <a:pt x="358114" y="2849118"/>
                </a:lnTo>
                <a:lnTo>
                  <a:pt x="328345" y="2808986"/>
                </a:lnTo>
                <a:lnTo>
                  <a:pt x="298958" y="2761361"/>
                </a:lnTo>
                <a:lnTo>
                  <a:pt x="279857" y="2725674"/>
                </a:lnTo>
                <a:lnTo>
                  <a:pt x="260934" y="2687066"/>
                </a:lnTo>
                <a:lnTo>
                  <a:pt x="242519" y="2645537"/>
                </a:lnTo>
                <a:lnTo>
                  <a:pt x="224688" y="2601468"/>
                </a:lnTo>
                <a:lnTo>
                  <a:pt x="207238" y="2554732"/>
                </a:lnTo>
                <a:lnTo>
                  <a:pt x="190461" y="2505583"/>
                </a:lnTo>
                <a:lnTo>
                  <a:pt x="166433" y="2427605"/>
                </a:lnTo>
                <a:lnTo>
                  <a:pt x="151320" y="2373249"/>
                </a:lnTo>
                <a:lnTo>
                  <a:pt x="136944" y="2316861"/>
                </a:lnTo>
                <a:lnTo>
                  <a:pt x="123418" y="2258695"/>
                </a:lnTo>
                <a:lnTo>
                  <a:pt x="110629" y="2198878"/>
                </a:lnTo>
                <a:lnTo>
                  <a:pt x="98806" y="2137664"/>
                </a:lnTo>
                <a:lnTo>
                  <a:pt x="87807" y="2074926"/>
                </a:lnTo>
                <a:lnTo>
                  <a:pt x="77876" y="2011172"/>
                </a:lnTo>
                <a:lnTo>
                  <a:pt x="68973" y="1946275"/>
                </a:lnTo>
                <a:lnTo>
                  <a:pt x="61010" y="1880362"/>
                </a:lnTo>
                <a:lnTo>
                  <a:pt x="54190" y="1813560"/>
                </a:lnTo>
                <a:lnTo>
                  <a:pt x="48501" y="1746377"/>
                </a:lnTo>
                <a:lnTo>
                  <a:pt x="44056" y="1678432"/>
                </a:lnTo>
                <a:lnTo>
                  <a:pt x="40741" y="1610106"/>
                </a:lnTo>
                <a:lnTo>
                  <a:pt x="38747" y="1541526"/>
                </a:lnTo>
                <a:lnTo>
                  <a:pt x="38087" y="1472819"/>
                </a:lnTo>
                <a:lnTo>
                  <a:pt x="38664" y="1403985"/>
                </a:lnTo>
                <a:lnTo>
                  <a:pt x="39621" y="1335024"/>
                </a:lnTo>
                <a:lnTo>
                  <a:pt x="41072" y="1266189"/>
                </a:lnTo>
                <a:lnTo>
                  <a:pt x="43083" y="1197864"/>
                </a:lnTo>
                <a:lnTo>
                  <a:pt x="45605" y="1131570"/>
                </a:lnTo>
                <a:lnTo>
                  <a:pt x="48837" y="1062863"/>
                </a:lnTo>
                <a:lnTo>
                  <a:pt x="52260" y="998601"/>
                </a:lnTo>
                <a:lnTo>
                  <a:pt x="56349" y="933450"/>
                </a:lnTo>
                <a:lnTo>
                  <a:pt x="60909" y="869441"/>
                </a:lnTo>
                <a:lnTo>
                  <a:pt x="65849" y="806703"/>
                </a:lnTo>
                <a:lnTo>
                  <a:pt x="71170" y="745109"/>
                </a:lnTo>
                <a:lnTo>
                  <a:pt x="76961" y="685291"/>
                </a:lnTo>
                <a:lnTo>
                  <a:pt x="83134" y="626999"/>
                </a:lnTo>
                <a:lnTo>
                  <a:pt x="89687" y="570357"/>
                </a:lnTo>
                <a:lnTo>
                  <a:pt x="96520" y="515620"/>
                </a:lnTo>
                <a:lnTo>
                  <a:pt x="103733" y="463041"/>
                </a:lnTo>
                <a:lnTo>
                  <a:pt x="111137" y="412496"/>
                </a:lnTo>
                <a:lnTo>
                  <a:pt x="118897" y="364363"/>
                </a:lnTo>
                <a:lnTo>
                  <a:pt x="126949" y="318770"/>
                </a:lnTo>
                <a:lnTo>
                  <a:pt x="135267" y="275589"/>
                </a:lnTo>
                <a:lnTo>
                  <a:pt x="143687" y="235203"/>
                </a:lnTo>
                <a:lnTo>
                  <a:pt x="152361" y="197738"/>
                </a:lnTo>
                <a:lnTo>
                  <a:pt x="165684" y="147320"/>
                </a:lnTo>
                <a:lnTo>
                  <a:pt x="177956" y="108076"/>
                </a:lnTo>
                <a:lnTo>
                  <a:pt x="177393" y="108076"/>
                </a:lnTo>
                <a:lnTo>
                  <a:pt x="178981" y="104711"/>
                </a:lnTo>
                <a:lnTo>
                  <a:pt x="148207" y="82939"/>
                </a:lnTo>
                <a:close/>
              </a:path>
              <a:path w="484505" h="2965450">
                <a:moveTo>
                  <a:pt x="218545" y="67690"/>
                </a:moveTo>
                <a:lnTo>
                  <a:pt x="157772" y="67690"/>
                </a:lnTo>
                <a:lnTo>
                  <a:pt x="190055" y="87884"/>
                </a:lnTo>
                <a:lnTo>
                  <a:pt x="179343" y="104967"/>
                </a:lnTo>
                <a:lnTo>
                  <a:pt x="209588" y="126364"/>
                </a:lnTo>
                <a:lnTo>
                  <a:pt x="218545" y="67690"/>
                </a:lnTo>
                <a:close/>
              </a:path>
              <a:path w="484505" h="2965450">
                <a:moveTo>
                  <a:pt x="178981" y="104711"/>
                </a:moveTo>
                <a:lnTo>
                  <a:pt x="177393" y="108076"/>
                </a:lnTo>
                <a:lnTo>
                  <a:pt x="178595" y="106160"/>
                </a:lnTo>
                <a:lnTo>
                  <a:pt x="178993" y="104967"/>
                </a:lnTo>
                <a:lnTo>
                  <a:pt x="178981" y="104711"/>
                </a:lnTo>
                <a:close/>
              </a:path>
              <a:path w="484505" h="2965450">
                <a:moveTo>
                  <a:pt x="178595" y="106160"/>
                </a:moveTo>
                <a:lnTo>
                  <a:pt x="177393" y="108076"/>
                </a:lnTo>
                <a:lnTo>
                  <a:pt x="177956" y="108076"/>
                </a:lnTo>
                <a:lnTo>
                  <a:pt x="178595" y="106160"/>
                </a:lnTo>
                <a:close/>
              </a:path>
              <a:path w="484505" h="2965450">
                <a:moveTo>
                  <a:pt x="179060" y="104766"/>
                </a:moveTo>
                <a:lnTo>
                  <a:pt x="178595" y="106160"/>
                </a:lnTo>
                <a:lnTo>
                  <a:pt x="179343" y="104967"/>
                </a:lnTo>
                <a:lnTo>
                  <a:pt x="179060" y="104766"/>
                </a:lnTo>
                <a:close/>
              </a:path>
              <a:path w="484505" h="2965450">
                <a:moveTo>
                  <a:pt x="179941" y="104012"/>
                </a:moveTo>
                <a:lnTo>
                  <a:pt x="179311" y="104012"/>
                </a:lnTo>
                <a:lnTo>
                  <a:pt x="179060" y="104766"/>
                </a:lnTo>
                <a:lnTo>
                  <a:pt x="179343" y="104967"/>
                </a:lnTo>
                <a:lnTo>
                  <a:pt x="179941" y="104012"/>
                </a:lnTo>
                <a:close/>
              </a:path>
              <a:path w="484505" h="2965450">
                <a:moveTo>
                  <a:pt x="179311" y="104012"/>
                </a:moveTo>
                <a:lnTo>
                  <a:pt x="178981" y="104711"/>
                </a:lnTo>
                <a:lnTo>
                  <a:pt x="179311" y="104012"/>
                </a:lnTo>
                <a:close/>
              </a:path>
              <a:path w="484505" h="2965450">
                <a:moveTo>
                  <a:pt x="157772" y="67690"/>
                </a:moveTo>
                <a:lnTo>
                  <a:pt x="148207" y="82939"/>
                </a:lnTo>
                <a:lnTo>
                  <a:pt x="178981" y="104711"/>
                </a:lnTo>
                <a:lnTo>
                  <a:pt x="179311" y="104012"/>
                </a:lnTo>
                <a:lnTo>
                  <a:pt x="179941" y="104012"/>
                </a:lnTo>
                <a:lnTo>
                  <a:pt x="190055" y="87884"/>
                </a:lnTo>
                <a:lnTo>
                  <a:pt x="157772" y="67690"/>
                </a:lnTo>
                <a:close/>
              </a:path>
              <a:path w="484505" h="2965450">
                <a:moveTo>
                  <a:pt x="228879" y="0"/>
                </a:moveTo>
                <a:lnTo>
                  <a:pt x="116243" y="60325"/>
                </a:lnTo>
                <a:lnTo>
                  <a:pt x="148207" y="82939"/>
                </a:lnTo>
                <a:lnTo>
                  <a:pt x="157772" y="67690"/>
                </a:lnTo>
                <a:lnTo>
                  <a:pt x="218545" y="67690"/>
                </a:lnTo>
                <a:lnTo>
                  <a:pt x="22887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627114" y="651509"/>
            <a:ext cx="1237615" cy="474345"/>
          </a:xfrm>
          <a:custGeom>
            <a:avLst/>
            <a:gdLst/>
            <a:ahLst/>
            <a:cxnLst/>
            <a:rect l="l" t="t" r="r" b="b"/>
            <a:pathLst>
              <a:path w="1237615" h="474344">
                <a:moveTo>
                  <a:pt x="0" y="473963"/>
                </a:moveTo>
                <a:lnTo>
                  <a:pt x="1237487" y="473963"/>
                </a:lnTo>
                <a:lnTo>
                  <a:pt x="1237487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884289" y="623697"/>
            <a:ext cx="5054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i=1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865114" y="2823210"/>
            <a:ext cx="2914015" cy="440690"/>
          </a:xfrm>
          <a:custGeom>
            <a:avLst/>
            <a:gdLst/>
            <a:ahLst/>
            <a:cxnLst/>
            <a:rect l="l" t="t" r="r" b="b"/>
            <a:pathLst>
              <a:path w="2914015" h="440689">
                <a:moveTo>
                  <a:pt x="0" y="440436"/>
                </a:moveTo>
                <a:lnTo>
                  <a:pt x="2913888" y="440436"/>
                </a:lnTo>
                <a:lnTo>
                  <a:pt x="2913888" y="0"/>
                </a:lnTo>
                <a:lnTo>
                  <a:pt x="0" y="0"/>
                </a:lnTo>
                <a:lnTo>
                  <a:pt x="0" y="44043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959602" y="3763517"/>
            <a:ext cx="1403985" cy="783590"/>
          </a:xfrm>
          <a:custGeom>
            <a:avLst/>
            <a:gdLst/>
            <a:ahLst/>
            <a:cxnLst/>
            <a:rect l="l" t="t" r="r" b="b"/>
            <a:pathLst>
              <a:path w="1403984" h="783589">
                <a:moveTo>
                  <a:pt x="0" y="783335"/>
                </a:moveTo>
                <a:lnTo>
                  <a:pt x="1403603" y="783335"/>
                </a:lnTo>
                <a:lnTo>
                  <a:pt x="1403603" y="0"/>
                </a:lnTo>
                <a:lnTo>
                  <a:pt x="0" y="0"/>
                </a:lnTo>
                <a:lnTo>
                  <a:pt x="0" y="78333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067805" y="4900421"/>
            <a:ext cx="2915920" cy="824865"/>
          </a:xfrm>
          <a:custGeom>
            <a:avLst/>
            <a:gdLst/>
            <a:ahLst/>
            <a:cxnLst/>
            <a:rect l="l" t="t" r="r" b="b"/>
            <a:pathLst>
              <a:path w="2915920" h="824864">
                <a:moveTo>
                  <a:pt x="0" y="824483"/>
                </a:moveTo>
                <a:lnTo>
                  <a:pt x="2915411" y="824483"/>
                </a:lnTo>
                <a:lnTo>
                  <a:pt x="2915411" y="0"/>
                </a:lnTo>
                <a:lnTo>
                  <a:pt x="0" y="0"/>
                </a:lnTo>
                <a:lnTo>
                  <a:pt x="0" y="82448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235700" y="5214873"/>
            <a:ext cx="2604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76780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v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&lt;=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0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g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t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462266" y="6096761"/>
            <a:ext cx="931544" cy="472440"/>
          </a:xfrm>
          <a:custGeom>
            <a:avLst/>
            <a:gdLst/>
            <a:ahLst/>
            <a:cxnLst/>
            <a:rect l="l" t="t" r="r" b="b"/>
            <a:pathLst>
              <a:path w="931545" h="472440">
                <a:moveTo>
                  <a:pt x="0" y="472440"/>
                </a:moveTo>
                <a:lnTo>
                  <a:pt x="931164" y="472440"/>
                </a:lnTo>
                <a:lnTo>
                  <a:pt x="931164" y="0"/>
                </a:lnTo>
                <a:lnTo>
                  <a:pt x="0" y="0"/>
                </a:lnTo>
                <a:lnTo>
                  <a:pt x="0" y="47244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141464" y="1125474"/>
            <a:ext cx="114300" cy="536575"/>
          </a:xfrm>
          <a:custGeom>
            <a:avLst/>
            <a:gdLst/>
            <a:ahLst/>
            <a:cxnLst/>
            <a:rect l="l" t="t" r="r" b="b"/>
            <a:pathLst>
              <a:path w="114300" h="536575">
                <a:moveTo>
                  <a:pt x="38100" y="345948"/>
                </a:moveTo>
                <a:lnTo>
                  <a:pt x="0" y="345948"/>
                </a:lnTo>
                <a:lnTo>
                  <a:pt x="57150" y="536448"/>
                </a:lnTo>
                <a:lnTo>
                  <a:pt x="108584" y="364998"/>
                </a:lnTo>
                <a:lnTo>
                  <a:pt x="38100" y="364998"/>
                </a:lnTo>
                <a:lnTo>
                  <a:pt x="38100" y="345948"/>
                </a:lnTo>
                <a:close/>
              </a:path>
              <a:path w="114300" h="536575">
                <a:moveTo>
                  <a:pt x="76200" y="0"/>
                </a:moveTo>
                <a:lnTo>
                  <a:pt x="38100" y="0"/>
                </a:lnTo>
                <a:lnTo>
                  <a:pt x="38100" y="364998"/>
                </a:lnTo>
                <a:lnTo>
                  <a:pt x="76200" y="364998"/>
                </a:lnTo>
                <a:lnTo>
                  <a:pt x="76200" y="0"/>
                </a:lnTo>
                <a:close/>
              </a:path>
              <a:path w="114300" h="536575">
                <a:moveTo>
                  <a:pt x="114300" y="345948"/>
                </a:moveTo>
                <a:lnTo>
                  <a:pt x="76200" y="345948"/>
                </a:lnTo>
                <a:lnTo>
                  <a:pt x="76200" y="364998"/>
                </a:lnTo>
                <a:lnTo>
                  <a:pt x="108584" y="364998"/>
                </a:lnTo>
                <a:lnTo>
                  <a:pt x="114300" y="34594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284214" y="3286125"/>
            <a:ext cx="355600" cy="489584"/>
          </a:xfrm>
          <a:custGeom>
            <a:avLst/>
            <a:gdLst/>
            <a:ahLst/>
            <a:cxnLst/>
            <a:rect l="l" t="t" r="r" b="b"/>
            <a:pathLst>
              <a:path w="355600" h="489585">
                <a:moveTo>
                  <a:pt x="63753" y="301116"/>
                </a:moveTo>
                <a:lnTo>
                  <a:pt x="0" y="489585"/>
                </a:lnTo>
                <a:lnTo>
                  <a:pt x="156845" y="367411"/>
                </a:lnTo>
                <a:lnTo>
                  <a:pt x="147571" y="360806"/>
                </a:lnTo>
                <a:lnTo>
                  <a:pt x="114808" y="360806"/>
                </a:lnTo>
                <a:lnTo>
                  <a:pt x="83693" y="338708"/>
                </a:lnTo>
                <a:lnTo>
                  <a:pt x="94729" y="323176"/>
                </a:lnTo>
                <a:lnTo>
                  <a:pt x="63753" y="301116"/>
                </a:lnTo>
                <a:close/>
              </a:path>
              <a:path w="355600" h="489585">
                <a:moveTo>
                  <a:pt x="94729" y="323176"/>
                </a:moveTo>
                <a:lnTo>
                  <a:pt x="83693" y="338708"/>
                </a:lnTo>
                <a:lnTo>
                  <a:pt x="114808" y="360806"/>
                </a:lnTo>
                <a:lnTo>
                  <a:pt x="125812" y="345311"/>
                </a:lnTo>
                <a:lnTo>
                  <a:pt x="94729" y="323176"/>
                </a:lnTo>
                <a:close/>
              </a:path>
              <a:path w="355600" h="489585">
                <a:moveTo>
                  <a:pt x="125812" y="345311"/>
                </a:moveTo>
                <a:lnTo>
                  <a:pt x="114808" y="360806"/>
                </a:lnTo>
                <a:lnTo>
                  <a:pt x="147571" y="360806"/>
                </a:lnTo>
                <a:lnTo>
                  <a:pt x="125812" y="345311"/>
                </a:lnTo>
                <a:close/>
              </a:path>
              <a:path w="355600" h="489585">
                <a:moveTo>
                  <a:pt x="324358" y="0"/>
                </a:moveTo>
                <a:lnTo>
                  <a:pt x="94729" y="323176"/>
                </a:lnTo>
                <a:lnTo>
                  <a:pt x="125812" y="345311"/>
                </a:lnTo>
                <a:lnTo>
                  <a:pt x="355345" y="22098"/>
                </a:lnTo>
                <a:lnTo>
                  <a:pt x="32435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791322" y="3296920"/>
            <a:ext cx="114300" cy="1604010"/>
          </a:xfrm>
          <a:custGeom>
            <a:avLst/>
            <a:gdLst/>
            <a:ahLst/>
            <a:cxnLst/>
            <a:rect l="l" t="t" r="r" b="b"/>
            <a:pathLst>
              <a:path w="114300" h="1604010">
                <a:moveTo>
                  <a:pt x="0" y="1412366"/>
                </a:moveTo>
                <a:lnTo>
                  <a:pt x="54991" y="1603502"/>
                </a:lnTo>
                <a:lnTo>
                  <a:pt x="108468" y="1432305"/>
                </a:lnTo>
                <a:lnTo>
                  <a:pt x="75946" y="1432305"/>
                </a:lnTo>
                <a:lnTo>
                  <a:pt x="37846" y="1431797"/>
                </a:lnTo>
                <a:lnTo>
                  <a:pt x="38063" y="1412789"/>
                </a:lnTo>
                <a:lnTo>
                  <a:pt x="0" y="1412366"/>
                </a:lnTo>
                <a:close/>
              </a:path>
              <a:path w="114300" h="1604010">
                <a:moveTo>
                  <a:pt x="38063" y="1412789"/>
                </a:moveTo>
                <a:lnTo>
                  <a:pt x="37846" y="1431797"/>
                </a:lnTo>
                <a:lnTo>
                  <a:pt x="75946" y="1432305"/>
                </a:lnTo>
                <a:lnTo>
                  <a:pt x="76164" y="1413213"/>
                </a:lnTo>
                <a:lnTo>
                  <a:pt x="38063" y="1412789"/>
                </a:lnTo>
                <a:close/>
              </a:path>
              <a:path w="114300" h="1604010">
                <a:moveTo>
                  <a:pt x="76164" y="1413213"/>
                </a:moveTo>
                <a:lnTo>
                  <a:pt x="75946" y="1432305"/>
                </a:lnTo>
                <a:lnTo>
                  <a:pt x="108468" y="1432305"/>
                </a:lnTo>
                <a:lnTo>
                  <a:pt x="114300" y="1413636"/>
                </a:lnTo>
                <a:lnTo>
                  <a:pt x="76164" y="1413213"/>
                </a:lnTo>
                <a:close/>
              </a:path>
              <a:path w="114300" h="1604010">
                <a:moveTo>
                  <a:pt x="54228" y="0"/>
                </a:moveTo>
                <a:lnTo>
                  <a:pt x="38063" y="1412789"/>
                </a:lnTo>
                <a:lnTo>
                  <a:pt x="76164" y="1413213"/>
                </a:lnTo>
                <a:lnTo>
                  <a:pt x="92328" y="507"/>
                </a:lnTo>
                <a:lnTo>
                  <a:pt x="5422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883652" y="5724905"/>
            <a:ext cx="114300" cy="350520"/>
          </a:xfrm>
          <a:custGeom>
            <a:avLst/>
            <a:gdLst/>
            <a:ahLst/>
            <a:cxnLst/>
            <a:rect l="l" t="t" r="r" b="b"/>
            <a:pathLst>
              <a:path w="114300" h="350520">
                <a:moveTo>
                  <a:pt x="38100" y="160020"/>
                </a:moveTo>
                <a:lnTo>
                  <a:pt x="0" y="160020"/>
                </a:lnTo>
                <a:lnTo>
                  <a:pt x="57150" y="350520"/>
                </a:lnTo>
                <a:lnTo>
                  <a:pt x="108584" y="179070"/>
                </a:lnTo>
                <a:lnTo>
                  <a:pt x="38100" y="179070"/>
                </a:lnTo>
                <a:lnTo>
                  <a:pt x="38100" y="160020"/>
                </a:lnTo>
                <a:close/>
              </a:path>
              <a:path w="114300" h="350520">
                <a:moveTo>
                  <a:pt x="76200" y="0"/>
                </a:moveTo>
                <a:lnTo>
                  <a:pt x="38100" y="0"/>
                </a:lnTo>
                <a:lnTo>
                  <a:pt x="38100" y="179070"/>
                </a:lnTo>
                <a:lnTo>
                  <a:pt x="76200" y="179070"/>
                </a:lnTo>
                <a:lnTo>
                  <a:pt x="76200" y="0"/>
                </a:lnTo>
                <a:close/>
              </a:path>
              <a:path w="114300" h="350520">
                <a:moveTo>
                  <a:pt x="114300" y="160020"/>
                </a:moveTo>
                <a:lnTo>
                  <a:pt x="76200" y="160020"/>
                </a:lnTo>
                <a:lnTo>
                  <a:pt x="76200" y="179070"/>
                </a:lnTo>
                <a:lnTo>
                  <a:pt x="108584" y="179070"/>
                </a:lnTo>
                <a:lnTo>
                  <a:pt x="114300" y="16002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014461" y="604215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069960" y="2363546"/>
            <a:ext cx="2628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306181" y="2519552"/>
            <a:ext cx="16129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spc="15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006972" y="2669372"/>
            <a:ext cx="2294890" cy="257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9450" marR="30480" indent="-641985">
              <a:lnSpc>
                <a:spcPct val="129500"/>
              </a:lnSpc>
              <a:spcBef>
                <a:spcPts val="100"/>
              </a:spcBef>
              <a:tabLst>
                <a:tab pos="1841500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 u&lt;v</a:t>
            </a:r>
            <a:r>
              <a:rPr sz="2800" b="1" spc="10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g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to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B4  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150" baseline="-14550">
              <a:latin typeface="Times New Roman"/>
              <a:cs typeface="Times New Roman"/>
            </a:endParaRPr>
          </a:p>
          <a:p>
            <a:pPr marL="44450" marR="1263015">
              <a:lnSpc>
                <a:spcPts val="2690"/>
              </a:lnSpc>
              <a:spcBef>
                <a:spcPts val="434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i=u+v  u=</a:t>
            </a:r>
            <a:r>
              <a:rPr sz="2800" b="1" spc="5" dirty="0">
                <a:solidFill>
                  <a:srgbClr val="FFFF99"/>
                </a:solidFill>
                <a:latin typeface="Times New Roman"/>
                <a:cs typeface="Times New Roman"/>
              </a:rPr>
              <a:t>u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+1</a:t>
            </a:r>
            <a:endParaRPr sz="2800">
              <a:latin typeface="Times New Roman"/>
              <a:cs typeface="Times New Roman"/>
            </a:endParaRPr>
          </a:p>
          <a:p>
            <a:pPr marL="597535">
              <a:lnSpc>
                <a:spcPct val="100000"/>
              </a:lnSpc>
              <a:spcBef>
                <a:spcPts val="2160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v=</a:t>
            </a:r>
            <a:r>
              <a:rPr sz="2800" b="1" spc="-15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v-1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274684" y="4446854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94041" y="6069584"/>
            <a:ext cx="11626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751840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=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	</a:t>
            </a:r>
            <a:r>
              <a:rPr sz="4200" b="1" spc="7" baseline="2976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0582" dirty="0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150" baseline="-10582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665214" y="1718310"/>
            <a:ext cx="1237615" cy="474345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ts val="3240"/>
              </a:lnSpc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i=3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179564" y="2192273"/>
            <a:ext cx="114300" cy="631190"/>
          </a:xfrm>
          <a:custGeom>
            <a:avLst/>
            <a:gdLst/>
            <a:ahLst/>
            <a:cxnLst/>
            <a:rect l="l" t="t" r="r" b="b"/>
            <a:pathLst>
              <a:path w="114300" h="631189">
                <a:moveTo>
                  <a:pt x="38100" y="440436"/>
                </a:moveTo>
                <a:lnTo>
                  <a:pt x="0" y="440436"/>
                </a:lnTo>
                <a:lnTo>
                  <a:pt x="57150" y="630936"/>
                </a:lnTo>
                <a:lnTo>
                  <a:pt x="108584" y="459486"/>
                </a:lnTo>
                <a:lnTo>
                  <a:pt x="38100" y="459486"/>
                </a:lnTo>
                <a:lnTo>
                  <a:pt x="38100" y="440436"/>
                </a:lnTo>
                <a:close/>
              </a:path>
              <a:path w="114300" h="631189">
                <a:moveTo>
                  <a:pt x="76200" y="0"/>
                </a:moveTo>
                <a:lnTo>
                  <a:pt x="38100" y="0"/>
                </a:lnTo>
                <a:lnTo>
                  <a:pt x="38100" y="459486"/>
                </a:lnTo>
                <a:lnTo>
                  <a:pt x="76200" y="459486"/>
                </a:lnTo>
                <a:lnTo>
                  <a:pt x="76200" y="0"/>
                </a:lnTo>
                <a:close/>
              </a:path>
              <a:path w="114300" h="631189">
                <a:moveTo>
                  <a:pt x="114300" y="440436"/>
                </a:moveTo>
                <a:lnTo>
                  <a:pt x="76200" y="440436"/>
                </a:lnTo>
                <a:lnTo>
                  <a:pt x="76200" y="459486"/>
                </a:lnTo>
                <a:lnTo>
                  <a:pt x="108584" y="459486"/>
                </a:lnTo>
                <a:lnTo>
                  <a:pt x="114300" y="44043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900161" y="1633473"/>
            <a:ext cx="431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2775" b="1" baseline="-15015" dirty="0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2775" baseline="-15015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445503" y="4529454"/>
            <a:ext cx="791210" cy="371475"/>
          </a:xfrm>
          <a:custGeom>
            <a:avLst/>
            <a:gdLst/>
            <a:ahLst/>
            <a:cxnLst/>
            <a:rect l="l" t="t" r="r" b="b"/>
            <a:pathLst>
              <a:path w="791209" h="371475">
                <a:moveTo>
                  <a:pt x="609785" y="309929"/>
                </a:moveTo>
                <a:lnTo>
                  <a:pt x="594105" y="344678"/>
                </a:lnTo>
                <a:lnTo>
                  <a:pt x="791210" y="370967"/>
                </a:lnTo>
                <a:lnTo>
                  <a:pt x="729965" y="317754"/>
                </a:lnTo>
                <a:lnTo>
                  <a:pt x="627126" y="317754"/>
                </a:lnTo>
                <a:lnTo>
                  <a:pt x="609785" y="309929"/>
                </a:lnTo>
                <a:close/>
              </a:path>
              <a:path w="791209" h="371475">
                <a:moveTo>
                  <a:pt x="625427" y="275263"/>
                </a:moveTo>
                <a:lnTo>
                  <a:pt x="609785" y="309929"/>
                </a:lnTo>
                <a:lnTo>
                  <a:pt x="627126" y="317754"/>
                </a:lnTo>
                <a:lnTo>
                  <a:pt x="642747" y="283083"/>
                </a:lnTo>
                <a:lnTo>
                  <a:pt x="625427" y="275263"/>
                </a:lnTo>
                <a:close/>
              </a:path>
              <a:path w="791209" h="371475">
                <a:moveTo>
                  <a:pt x="641096" y="240538"/>
                </a:moveTo>
                <a:lnTo>
                  <a:pt x="625427" y="275263"/>
                </a:lnTo>
                <a:lnTo>
                  <a:pt x="642747" y="283083"/>
                </a:lnTo>
                <a:lnTo>
                  <a:pt x="627126" y="317754"/>
                </a:lnTo>
                <a:lnTo>
                  <a:pt x="729965" y="317754"/>
                </a:lnTo>
                <a:lnTo>
                  <a:pt x="641096" y="240538"/>
                </a:lnTo>
                <a:close/>
              </a:path>
              <a:path w="791209" h="371475">
                <a:moveTo>
                  <a:pt x="15748" y="0"/>
                </a:moveTo>
                <a:lnTo>
                  <a:pt x="0" y="34798"/>
                </a:lnTo>
                <a:lnTo>
                  <a:pt x="609785" y="309929"/>
                </a:lnTo>
                <a:lnTo>
                  <a:pt x="625427" y="275263"/>
                </a:lnTo>
                <a:lnTo>
                  <a:pt x="1574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617464" y="3044189"/>
            <a:ext cx="452120" cy="2287905"/>
          </a:xfrm>
          <a:custGeom>
            <a:avLst/>
            <a:gdLst/>
            <a:ahLst/>
            <a:cxnLst/>
            <a:rect l="l" t="t" r="r" b="b"/>
            <a:pathLst>
              <a:path w="452120" h="2287904">
                <a:moveTo>
                  <a:pt x="156435" y="71310"/>
                </a:moveTo>
                <a:lnTo>
                  <a:pt x="135889" y="115443"/>
                </a:lnTo>
                <a:lnTo>
                  <a:pt x="116205" y="172593"/>
                </a:lnTo>
                <a:lnTo>
                  <a:pt x="97536" y="238125"/>
                </a:lnTo>
                <a:lnTo>
                  <a:pt x="80010" y="311531"/>
                </a:lnTo>
                <a:lnTo>
                  <a:pt x="71755" y="350900"/>
                </a:lnTo>
                <a:lnTo>
                  <a:pt x="63881" y="391922"/>
                </a:lnTo>
                <a:lnTo>
                  <a:pt x="56387" y="434467"/>
                </a:lnTo>
                <a:lnTo>
                  <a:pt x="49149" y="478282"/>
                </a:lnTo>
                <a:lnTo>
                  <a:pt x="42418" y="523621"/>
                </a:lnTo>
                <a:lnTo>
                  <a:pt x="36068" y="570230"/>
                </a:lnTo>
                <a:lnTo>
                  <a:pt x="30099" y="617855"/>
                </a:lnTo>
                <a:lnTo>
                  <a:pt x="24637" y="666623"/>
                </a:lnTo>
                <a:lnTo>
                  <a:pt x="19685" y="716153"/>
                </a:lnTo>
                <a:lnTo>
                  <a:pt x="15239" y="766699"/>
                </a:lnTo>
                <a:lnTo>
                  <a:pt x="11430" y="817753"/>
                </a:lnTo>
                <a:lnTo>
                  <a:pt x="7874" y="869696"/>
                </a:lnTo>
                <a:lnTo>
                  <a:pt x="5140" y="923544"/>
                </a:lnTo>
                <a:lnTo>
                  <a:pt x="2921" y="974725"/>
                </a:lnTo>
                <a:lnTo>
                  <a:pt x="1383" y="1028446"/>
                </a:lnTo>
                <a:lnTo>
                  <a:pt x="252" y="1081278"/>
                </a:lnTo>
                <a:lnTo>
                  <a:pt x="0" y="1134364"/>
                </a:lnTo>
                <a:lnTo>
                  <a:pt x="635" y="1187958"/>
                </a:lnTo>
                <a:lnTo>
                  <a:pt x="2539" y="1241425"/>
                </a:lnTo>
                <a:lnTo>
                  <a:pt x="5587" y="1294765"/>
                </a:lnTo>
                <a:lnTo>
                  <a:pt x="9778" y="1347724"/>
                </a:lnTo>
                <a:lnTo>
                  <a:pt x="15112" y="1400175"/>
                </a:lnTo>
                <a:lnTo>
                  <a:pt x="21589" y="1452245"/>
                </a:lnTo>
                <a:lnTo>
                  <a:pt x="29083" y="1503553"/>
                </a:lnTo>
                <a:lnTo>
                  <a:pt x="37464" y="1554226"/>
                </a:lnTo>
                <a:lnTo>
                  <a:pt x="46862" y="1604010"/>
                </a:lnTo>
                <a:lnTo>
                  <a:pt x="57150" y="1653032"/>
                </a:lnTo>
                <a:lnTo>
                  <a:pt x="68325" y="1700911"/>
                </a:lnTo>
                <a:lnTo>
                  <a:pt x="80390" y="1747520"/>
                </a:lnTo>
                <a:lnTo>
                  <a:pt x="93218" y="1793113"/>
                </a:lnTo>
                <a:lnTo>
                  <a:pt x="106934" y="1837309"/>
                </a:lnTo>
                <a:lnTo>
                  <a:pt x="121285" y="1879854"/>
                </a:lnTo>
                <a:lnTo>
                  <a:pt x="136271" y="1921129"/>
                </a:lnTo>
                <a:lnTo>
                  <a:pt x="152019" y="1960626"/>
                </a:lnTo>
                <a:lnTo>
                  <a:pt x="168275" y="1998599"/>
                </a:lnTo>
                <a:lnTo>
                  <a:pt x="185293" y="2034413"/>
                </a:lnTo>
                <a:lnTo>
                  <a:pt x="202819" y="2068576"/>
                </a:lnTo>
                <a:lnTo>
                  <a:pt x="239268" y="2130298"/>
                </a:lnTo>
                <a:lnTo>
                  <a:pt x="267970" y="2170938"/>
                </a:lnTo>
                <a:lnTo>
                  <a:pt x="297937" y="2206498"/>
                </a:lnTo>
                <a:lnTo>
                  <a:pt x="328675" y="2235962"/>
                </a:lnTo>
                <a:lnTo>
                  <a:pt x="360807" y="2259584"/>
                </a:lnTo>
                <a:lnTo>
                  <a:pt x="405384" y="2280412"/>
                </a:lnTo>
                <a:lnTo>
                  <a:pt x="450214" y="2287651"/>
                </a:lnTo>
                <a:lnTo>
                  <a:pt x="451612" y="2249551"/>
                </a:lnTo>
                <a:lnTo>
                  <a:pt x="441578" y="2249170"/>
                </a:lnTo>
                <a:lnTo>
                  <a:pt x="433070" y="2248027"/>
                </a:lnTo>
                <a:lnTo>
                  <a:pt x="389000" y="2232025"/>
                </a:lnTo>
                <a:lnTo>
                  <a:pt x="352806" y="2206498"/>
                </a:lnTo>
                <a:lnTo>
                  <a:pt x="325120" y="2179828"/>
                </a:lnTo>
                <a:lnTo>
                  <a:pt x="297814" y="2147316"/>
                </a:lnTo>
                <a:lnTo>
                  <a:pt x="270890" y="2109089"/>
                </a:lnTo>
                <a:lnTo>
                  <a:pt x="235965" y="2049907"/>
                </a:lnTo>
                <a:lnTo>
                  <a:pt x="202819" y="1982343"/>
                </a:lnTo>
                <a:lnTo>
                  <a:pt x="186944" y="1945513"/>
                </a:lnTo>
                <a:lnTo>
                  <a:pt x="171703" y="1907159"/>
                </a:lnTo>
                <a:lnTo>
                  <a:pt x="157099" y="1866900"/>
                </a:lnTo>
                <a:lnTo>
                  <a:pt x="143001" y="1825117"/>
                </a:lnTo>
                <a:lnTo>
                  <a:pt x="129666" y="1781810"/>
                </a:lnTo>
                <a:lnTo>
                  <a:pt x="117094" y="1737233"/>
                </a:lnTo>
                <a:lnTo>
                  <a:pt x="105156" y="1691386"/>
                </a:lnTo>
                <a:lnTo>
                  <a:pt x="94234" y="1644396"/>
                </a:lnTo>
                <a:lnTo>
                  <a:pt x="84074" y="1596136"/>
                </a:lnTo>
                <a:lnTo>
                  <a:pt x="74930" y="1547241"/>
                </a:lnTo>
                <a:lnTo>
                  <a:pt x="66548" y="1497330"/>
                </a:lnTo>
                <a:lnTo>
                  <a:pt x="59182" y="1446784"/>
                </a:lnTo>
                <a:lnTo>
                  <a:pt x="52959" y="1395603"/>
                </a:lnTo>
                <a:lnTo>
                  <a:pt x="47751" y="1343914"/>
                </a:lnTo>
                <a:lnTo>
                  <a:pt x="43561" y="1291717"/>
                </a:lnTo>
                <a:lnTo>
                  <a:pt x="40512" y="1239266"/>
                </a:lnTo>
                <a:lnTo>
                  <a:pt x="38608" y="1186561"/>
                </a:lnTo>
                <a:lnTo>
                  <a:pt x="38100" y="1133983"/>
                </a:lnTo>
                <a:lnTo>
                  <a:pt x="38358" y="1081024"/>
                </a:lnTo>
                <a:lnTo>
                  <a:pt x="39389" y="1027811"/>
                </a:lnTo>
                <a:lnTo>
                  <a:pt x="41068" y="974725"/>
                </a:lnTo>
                <a:lnTo>
                  <a:pt x="43180" y="923544"/>
                </a:lnTo>
                <a:lnTo>
                  <a:pt x="45974" y="871728"/>
                </a:lnTo>
                <a:lnTo>
                  <a:pt x="49402" y="820293"/>
                </a:lnTo>
                <a:lnTo>
                  <a:pt x="53339" y="769493"/>
                </a:lnTo>
                <a:lnTo>
                  <a:pt x="57658" y="719455"/>
                </a:lnTo>
                <a:lnTo>
                  <a:pt x="62611" y="670306"/>
                </a:lnTo>
                <a:lnTo>
                  <a:pt x="67945" y="622046"/>
                </a:lnTo>
                <a:lnTo>
                  <a:pt x="73913" y="574929"/>
                </a:lnTo>
                <a:lnTo>
                  <a:pt x="80137" y="528701"/>
                </a:lnTo>
                <a:lnTo>
                  <a:pt x="86868" y="483997"/>
                </a:lnTo>
                <a:lnTo>
                  <a:pt x="93980" y="440563"/>
                </a:lnTo>
                <a:lnTo>
                  <a:pt x="101346" y="398525"/>
                </a:lnTo>
                <a:lnTo>
                  <a:pt x="109220" y="358139"/>
                </a:lnTo>
                <a:lnTo>
                  <a:pt x="117348" y="319405"/>
                </a:lnTo>
                <a:lnTo>
                  <a:pt x="134493" y="247396"/>
                </a:lnTo>
                <a:lnTo>
                  <a:pt x="152653" y="183514"/>
                </a:lnTo>
                <a:lnTo>
                  <a:pt x="166877" y="141477"/>
                </a:lnTo>
                <a:lnTo>
                  <a:pt x="181356" y="104775"/>
                </a:lnTo>
                <a:lnTo>
                  <a:pt x="184081" y="98679"/>
                </a:lnTo>
                <a:lnTo>
                  <a:pt x="183261" y="98679"/>
                </a:lnTo>
                <a:lnTo>
                  <a:pt x="184244" y="97097"/>
                </a:lnTo>
                <a:lnTo>
                  <a:pt x="156435" y="71310"/>
                </a:lnTo>
                <a:close/>
              </a:path>
              <a:path w="452120" h="2287904">
                <a:moveTo>
                  <a:pt x="230892" y="57404"/>
                </a:moveTo>
                <a:lnTo>
                  <a:pt x="168401" y="57404"/>
                </a:lnTo>
                <a:lnTo>
                  <a:pt x="197358" y="82296"/>
                </a:lnTo>
                <a:lnTo>
                  <a:pt x="184968" y="96694"/>
                </a:lnTo>
                <a:lnTo>
                  <a:pt x="184629" y="97453"/>
                </a:lnTo>
                <a:lnTo>
                  <a:pt x="211836" y="122682"/>
                </a:lnTo>
                <a:lnTo>
                  <a:pt x="230892" y="57404"/>
                </a:lnTo>
                <a:close/>
              </a:path>
              <a:path w="452120" h="2287904">
                <a:moveTo>
                  <a:pt x="184244" y="97097"/>
                </a:moveTo>
                <a:lnTo>
                  <a:pt x="183261" y="98679"/>
                </a:lnTo>
                <a:lnTo>
                  <a:pt x="184454" y="97291"/>
                </a:lnTo>
                <a:lnTo>
                  <a:pt x="184244" y="97097"/>
                </a:lnTo>
                <a:close/>
              </a:path>
              <a:path w="452120" h="2287904">
                <a:moveTo>
                  <a:pt x="184454" y="97291"/>
                </a:moveTo>
                <a:lnTo>
                  <a:pt x="183261" y="98679"/>
                </a:lnTo>
                <a:lnTo>
                  <a:pt x="184081" y="98679"/>
                </a:lnTo>
                <a:lnTo>
                  <a:pt x="184629" y="97453"/>
                </a:lnTo>
                <a:lnTo>
                  <a:pt x="184454" y="97291"/>
                </a:lnTo>
                <a:close/>
              </a:path>
              <a:path w="452120" h="2287904">
                <a:moveTo>
                  <a:pt x="184968" y="96694"/>
                </a:moveTo>
                <a:lnTo>
                  <a:pt x="184454" y="97291"/>
                </a:lnTo>
                <a:lnTo>
                  <a:pt x="184629" y="97453"/>
                </a:lnTo>
                <a:lnTo>
                  <a:pt x="184968" y="96694"/>
                </a:lnTo>
                <a:close/>
              </a:path>
              <a:path w="452120" h="2287904">
                <a:moveTo>
                  <a:pt x="186182" y="93980"/>
                </a:moveTo>
                <a:lnTo>
                  <a:pt x="184244" y="97097"/>
                </a:lnTo>
                <a:lnTo>
                  <a:pt x="184454" y="97291"/>
                </a:lnTo>
                <a:lnTo>
                  <a:pt x="184968" y="96694"/>
                </a:lnTo>
                <a:lnTo>
                  <a:pt x="186182" y="93980"/>
                </a:lnTo>
                <a:close/>
              </a:path>
              <a:path w="452120" h="2287904">
                <a:moveTo>
                  <a:pt x="168401" y="57404"/>
                </a:moveTo>
                <a:lnTo>
                  <a:pt x="156435" y="71310"/>
                </a:lnTo>
                <a:lnTo>
                  <a:pt x="184244" y="97097"/>
                </a:lnTo>
                <a:lnTo>
                  <a:pt x="186182" y="93980"/>
                </a:lnTo>
                <a:lnTo>
                  <a:pt x="187304" y="93980"/>
                </a:lnTo>
                <a:lnTo>
                  <a:pt x="197358" y="82296"/>
                </a:lnTo>
                <a:lnTo>
                  <a:pt x="168401" y="57404"/>
                </a:lnTo>
                <a:close/>
              </a:path>
              <a:path w="452120" h="2287904">
                <a:moveTo>
                  <a:pt x="187304" y="93980"/>
                </a:moveTo>
                <a:lnTo>
                  <a:pt x="186182" y="93980"/>
                </a:lnTo>
                <a:lnTo>
                  <a:pt x="184968" y="96694"/>
                </a:lnTo>
                <a:lnTo>
                  <a:pt x="187304" y="93980"/>
                </a:lnTo>
                <a:close/>
              </a:path>
              <a:path w="452120" h="2287904">
                <a:moveTo>
                  <a:pt x="247650" y="0"/>
                </a:moveTo>
                <a:lnTo>
                  <a:pt x="128015" y="44958"/>
                </a:lnTo>
                <a:lnTo>
                  <a:pt x="156435" y="71310"/>
                </a:lnTo>
                <a:lnTo>
                  <a:pt x="168401" y="57404"/>
                </a:lnTo>
                <a:lnTo>
                  <a:pt x="230892" y="57404"/>
                </a:lnTo>
                <a:lnTo>
                  <a:pt x="24765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207002" y="925830"/>
            <a:ext cx="2115820" cy="944880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120015" rIns="0" bIns="0" rtlCol="0">
            <a:spAutoFit/>
          </a:bodyPr>
          <a:lstStyle/>
          <a:p>
            <a:pPr marL="91440" marR="231775">
              <a:lnSpc>
                <a:spcPts val="3040"/>
              </a:lnSpc>
              <a:spcBef>
                <a:spcPts val="94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外提不变运 算后的流图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772661" y="2509266"/>
            <a:ext cx="1788160" cy="3066415"/>
          </a:xfrm>
          <a:custGeom>
            <a:avLst/>
            <a:gdLst/>
            <a:ahLst/>
            <a:cxnLst/>
            <a:rect l="l" t="t" r="r" b="b"/>
            <a:pathLst>
              <a:path w="1788160" h="3066415">
                <a:moveTo>
                  <a:pt x="0" y="3066288"/>
                </a:moveTo>
                <a:lnTo>
                  <a:pt x="1787652" y="3066288"/>
                </a:lnTo>
                <a:lnTo>
                  <a:pt x="1787652" y="0"/>
                </a:lnTo>
                <a:lnTo>
                  <a:pt x="0" y="0"/>
                </a:lnTo>
                <a:lnTo>
                  <a:pt x="0" y="30662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3851275" y="2528447"/>
            <a:ext cx="1452245" cy="2970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将“不变 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运算”外 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提后，会 改变程序 的计算结 果。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106</a:t>
            </a:fld>
            <a:r>
              <a:rPr sz="1400" b="1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57265" y="698754"/>
            <a:ext cx="1237615" cy="474345"/>
          </a:xfrm>
          <a:custGeom>
            <a:avLst/>
            <a:gdLst/>
            <a:ahLst/>
            <a:cxnLst/>
            <a:rect l="l" t="t" r="r" b="b"/>
            <a:pathLst>
              <a:path w="1237615" h="474344">
                <a:moveTo>
                  <a:pt x="0" y="473963"/>
                </a:moveTo>
                <a:lnTo>
                  <a:pt x="1237488" y="473963"/>
                </a:lnTo>
                <a:lnTo>
                  <a:pt x="1237488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814186" y="690498"/>
            <a:ext cx="5054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i=1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95265" y="1631442"/>
            <a:ext cx="2914015" cy="1127760"/>
          </a:xfrm>
          <a:custGeom>
            <a:avLst/>
            <a:gdLst/>
            <a:ahLst/>
            <a:cxnLst/>
            <a:rect l="l" t="t" r="r" b="b"/>
            <a:pathLst>
              <a:path w="2914015" h="1127760">
                <a:moveTo>
                  <a:pt x="0" y="1127760"/>
                </a:moveTo>
                <a:lnTo>
                  <a:pt x="2913888" y="1127760"/>
                </a:lnTo>
                <a:lnTo>
                  <a:pt x="2913888" y="0"/>
                </a:lnTo>
                <a:lnTo>
                  <a:pt x="0" y="0"/>
                </a:lnTo>
                <a:lnTo>
                  <a:pt x="0" y="112776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73878" y="1449172"/>
            <a:ext cx="2559050" cy="129413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3200" b="1" dirty="0">
                <a:solidFill>
                  <a:srgbClr val="FFFF99"/>
                </a:solidFill>
                <a:latin typeface="Times New Roman"/>
                <a:cs typeface="Times New Roman"/>
              </a:rPr>
              <a:t>k=</a:t>
            </a:r>
            <a:r>
              <a:rPr sz="3200" b="1" spc="-10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i+v;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  <a:tabLst>
                <a:tab pos="2070735" algn="l"/>
              </a:tabLst>
            </a:pPr>
            <a:r>
              <a:rPr sz="3200" b="1" dirty="0">
                <a:solidFill>
                  <a:srgbClr val="FFFF99"/>
                </a:solidFill>
                <a:latin typeface="Times New Roman"/>
                <a:cs typeface="Times New Roman"/>
              </a:rPr>
              <a:t>if</a:t>
            </a:r>
            <a:r>
              <a:rPr sz="3200" b="1" spc="-10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99"/>
                </a:solidFill>
                <a:latin typeface="Times New Roman"/>
                <a:cs typeface="Times New Roman"/>
              </a:rPr>
              <a:t>u&lt;v</a:t>
            </a:r>
            <a:r>
              <a:rPr sz="3200" b="1" spc="-10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99"/>
                </a:solidFill>
                <a:latin typeface="Times New Roman"/>
                <a:cs typeface="Times New Roman"/>
              </a:rPr>
              <a:t>g</a:t>
            </a:r>
            <a:r>
              <a:rPr sz="3200" b="1" spc="5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3200" b="1" dirty="0">
                <a:solidFill>
                  <a:srgbClr val="FFFF99"/>
                </a:solidFill>
                <a:latin typeface="Times New Roman"/>
                <a:cs typeface="Times New Roman"/>
              </a:rPr>
              <a:t>to	B4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48961" y="3420617"/>
            <a:ext cx="1556385" cy="401320"/>
          </a:xfrm>
          <a:custGeom>
            <a:avLst/>
            <a:gdLst/>
            <a:ahLst/>
            <a:cxnLst/>
            <a:rect l="l" t="t" r="r" b="b"/>
            <a:pathLst>
              <a:path w="1556385" h="401320">
                <a:moveTo>
                  <a:pt x="0" y="400811"/>
                </a:moveTo>
                <a:lnTo>
                  <a:pt x="1556003" y="400811"/>
                </a:lnTo>
                <a:lnTo>
                  <a:pt x="1556003" y="0"/>
                </a:lnTo>
                <a:lnTo>
                  <a:pt x="0" y="0"/>
                </a:lnTo>
                <a:lnTo>
                  <a:pt x="0" y="40081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27828" y="3325748"/>
            <a:ext cx="100456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u=</a:t>
            </a:r>
            <a:r>
              <a:rPr sz="2800" b="1" spc="5" dirty="0">
                <a:solidFill>
                  <a:srgbClr val="FFFF99"/>
                </a:solidFill>
                <a:latin typeface="Times New Roman"/>
                <a:cs typeface="Times New Roman"/>
              </a:rPr>
              <a:t>u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+1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57265" y="4600194"/>
            <a:ext cx="2914015" cy="835660"/>
          </a:xfrm>
          <a:custGeom>
            <a:avLst/>
            <a:gdLst/>
            <a:ahLst/>
            <a:cxnLst/>
            <a:rect l="l" t="t" r="r" b="b"/>
            <a:pathLst>
              <a:path w="2914015" h="835660">
                <a:moveTo>
                  <a:pt x="0" y="835151"/>
                </a:moveTo>
                <a:lnTo>
                  <a:pt x="2913888" y="835151"/>
                </a:lnTo>
                <a:lnTo>
                  <a:pt x="2913888" y="0"/>
                </a:lnTo>
                <a:lnTo>
                  <a:pt x="0" y="0"/>
                </a:lnTo>
                <a:lnTo>
                  <a:pt x="0" y="83515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28409" y="6034278"/>
            <a:ext cx="1239520" cy="440690"/>
          </a:xfrm>
          <a:custGeom>
            <a:avLst/>
            <a:gdLst/>
            <a:ahLst/>
            <a:cxnLst/>
            <a:rect l="l" t="t" r="r" b="b"/>
            <a:pathLst>
              <a:path w="1239520" h="440689">
                <a:moveTo>
                  <a:pt x="0" y="440436"/>
                </a:moveTo>
                <a:lnTo>
                  <a:pt x="1239012" y="440436"/>
                </a:lnTo>
                <a:lnTo>
                  <a:pt x="1239012" y="0"/>
                </a:lnTo>
                <a:lnTo>
                  <a:pt x="0" y="0"/>
                </a:lnTo>
                <a:lnTo>
                  <a:pt x="0" y="44043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85966" y="6010452"/>
            <a:ext cx="633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=</a:t>
            </a:r>
            <a:r>
              <a:rPr sz="2800" b="1" spc="-85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k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56757" y="1171955"/>
            <a:ext cx="114300" cy="467359"/>
          </a:xfrm>
          <a:custGeom>
            <a:avLst/>
            <a:gdLst/>
            <a:ahLst/>
            <a:cxnLst/>
            <a:rect l="l" t="t" r="r" b="b"/>
            <a:pathLst>
              <a:path w="114300" h="467360">
                <a:moveTo>
                  <a:pt x="0" y="350520"/>
                </a:moveTo>
                <a:lnTo>
                  <a:pt x="52196" y="467106"/>
                </a:lnTo>
                <a:lnTo>
                  <a:pt x="104524" y="372745"/>
                </a:lnTo>
                <a:lnTo>
                  <a:pt x="75310" y="372745"/>
                </a:lnTo>
                <a:lnTo>
                  <a:pt x="37210" y="371094"/>
                </a:lnTo>
                <a:lnTo>
                  <a:pt x="38015" y="352126"/>
                </a:lnTo>
                <a:lnTo>
                  <a:pt x="0" y="350520"/>
                </a:lnTo>
                <a:close/>
              </a:path>
              <a:path w="114300" h="467360">
                <a:moveTo>
                  <a:pt x="38015" y="352126"/>
                </a:moveTo>
                <a:lnTo>
                  <a:pt x="37210" y="371094"/>
                </a:lnTo>
                <a:lnTo>
                  <a:pt x="75310" y="372745"/>
                </a:lnTo>
                <a:lnTo>
                  <a:pt x="76117" y="353737"/>
                </a:lnTo>
                <a:lnTo>
                  <a:pt x="38015" y="352126"/>
                </a:lnTo>
                <a:close/>
              </a:path>
              <a:path w="114300" h="467360">
                <a:moveTo>
                  <a:pt x="76117" y="353737"/>
                </a:moveTo>
                <a:lnTo>
                  <a:pt x="75310" y="372745"/>
                </a:lnTo>
                <a:lnTo>
                  <a:pt x="104524" y="372745"/>
                </a:lnTo>
                <a:lnTo>
                  <a:pt x="114172" y="355346"/>
                </a:lnTo>
                <a:lnTo>
                  <a:pt x="76117" y="353737"/>
                </a:lnTo>
                <a:close/>
              </a:path>
              <a:path w="114300" h="467360">
                <a:moveTo>
                  <a:pt x="52958" y="0"/>
                </a:moveTo>
                <a:lnTo>
                  <a:pt x="38015" y="352126"/>
                </a:lnTo>
                <a:lnTo>
                  <a:pt x="76117" y="353737"/>
                </a:lnTo>
                <a:lnTo>
                  <a:pt x="91058" y="1524"/>
                </a:lnTo>
                <a:lnTo>
                  <a:pt x="5295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03952" y="2718561"/>
            <a:ext cx="307340" cy="702310"/>
          </a:xfrm>
          <a:custGeom>
            <a:avLst/>
            <a:gdLst/>
            <a:ahLst/>
            <a:cxnLst/>
            <a:rect l="l" t="t" r="r" b="b"/>
            <a:pathLst>
              <a:path w="307339" h="702310">
                <a:moveTo>
                  <a:pt x="0" y="574675"/>
                </a:moveTo>
                <a:lnTo>
                  <a:pt x="10413" y="702055"/>
                </a:lnTo>
                <a:lnTo>
                  <a:pt x="102036" y="620776"/>
                </a:lnTo>
                <a:lnTo>
                  <a:pt x="63626" y="620776"/>
                </a:lnTo>
                <a:lnTo>
                  <a:pt x="28194" y="606551"/>
                </a:lnTo>
                <a:lnTo>
                  <a:pt x="35303" y="588838"/>
                </a:lnTo>
                <a:lnTo>
                  <a:pt x="0" y="574675"/>
                </a:lnTo>
                <a:close/>
              </a:path>
              <a:path w="307339" h="702310">
                <a:moveTo>
                  <a:pt x="35303" y="588838"/>
                </a:moveTo>
                <a:lnTo>
                  <a:pt x="28194" y="606551"/>
                </a:lnTo>
                <a:lnTo>
                  <a:pt x="63626" y="620776"/>
                </a:lnTo>
                <a:lnTo>
                  <a:pt x="70736" y="603054"/>
                </a:lnTo>
                <a:lnTo>
                  <a:pt x="35303" y="588838"/>
                </a:lnTo>
                <a:close/>
              </a:path>
              <a:path w="307339" h="702310">
                <a:moveTo>
                  <a:pt x="70736" y="603054"/>
                </a:moveTo>
                <a:lnTo>
                  <a:pt x="63626" y="620776"/>
                </a:lnTo>
                <a:lnTo>
                  <a:pt x="102036" y="620776"/>
                </a:lnTo>
                <a:lnTo>
                  <a:pt x="106045" y="617220"/>
                </a:lnTo>
                <a:lnTo>
                  <a:pt x="70736" y="603054"/>
                </a:lnTo>
                <a:close/>
              </a:path>
              <a:path w="307339" h="702310">
                <a:moveTo>
                  <a:pt x="271652" y="0"/>
                </a:moveTo>
                <a:lnTo>
                  <a:pt x="35303" y="588838"/>
                </a:lnTo>
                <a:lnTo>
                  <a:pt x="70736" y="603054"/>
                </a:lnTo>
                <a:lnTo>
                  <a:pt x="306959" y="14224"/>
                </a:lnTo>
                <a:lnTo>
                  <a:pt x="27165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737604" y="2725673"/>
            <a:ext cx="114300" cy="1879600"/>
          </a:xfrm>
          <a:custGeom>
            <a:avLst/>
            <a:gdLst/>
            <a:ahLst/>
            <a:cxnLst/>
            <a:rect l="l" t="t" r="r" b="b"/>
            <a:pathLst>
              <a:path w="114300" h="1879600">
                <a:moveTo>
                  <a:pt x="38100" y="1764792"/>
                </a:moveTo>
                <a:lnTo>
                  <a:pt x="0" y="1764792"/>
                </a:lnTo>
                <a:lnTo>
                  <a:pt x="57150" y="1879092"/>
                </a:lnTo>
                <a:lnTo>
                  <a:pt x="104775" y="1783842"/>
                </a:lnTo>
                <a:lnTo>
                  <a:pt x="38100" y="1783842"/>
                </a:lnTo>
                <a:lnTo>
                  <a:pt x="38100" y="1764792"/>
                </a:lnTo>
                <a:close/>
              </a:path>
              <a:path w="114300" h="1879600">
                <a:moveTo>
                  <a:pt x="76200" y="0"/>
                </a:moveTo>
                <a:lnTo>
                  <a:pt x="38100" y="0"/>
                </a:lnTo>
                <a:lnTo>
                  <a:pt x="38100" y="1783842"/>
                </a:lnTo>
                <a:lnTo>
                  <a:pt x="76200" y="1783842"/>
                </a:lnTo>
                <a:lnTo>
                  <a:pt x="76200" y="0"/>
                </a:lnTo>
                <a:close/>
              </a:path>
              <a:path w="114300" h="1879600">
                <a:moveTo>
                  <a:pt x="114300" y="1764792"/>
                </a:moveTo>
                <a:lnTo>
                  <a:pt x="76200" y="1764792"/>
                </a:lnTo>
                <a:lnTo>
                  <a:pt x="76200" y="1783842"/>
                </a:lnTo>
                <a:lnTo>
                  <a:pt x="104775" y="1783842"/>
                </a:lnTo>
                <a:lnTo>
                  <a:pt x="114300" y="176479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13804" y="5430773"/>
            <a:ext cx="114300" cy="586740"/>
          </a:xfrm>
          <a:custGeom>
            <a:avLst/>
            <a:gdLst/>
            <a:ahLst/>
            <a:cxnLst/>
            <a:rect l="l" t="t" r="r" b="b"/>
            <a:pathLst>
              <a:path w="114300" h="586739">
                <a:moveTo>
                  <a:pt x="38100" y="472439"/>
                </a:moveTo>
                <a:lnTo>
                  <a:pt x="0" y="472439"/>
                </a:lnTo>
                <a:lnTo>
                  <a:pt x="57150" y="586739"/>
                </a:lnTo>
                <a:lnTo>
                  <a:pt x="104775" y="491489"/>
                </a:lnTo>
                <a:lnTo>
                  <a:pt x="38100" y="491489"/>
                </a:lnTo>
                <a:lnTo>
                  <a:pt x="38100" y="472439"/>
                </a:lnTo>
                <a:close/>
              </a:path>
              <a:path w="114300" h="586739">
                <a:moveTo>
                  <a:pt x="76200" y="0"/>
                </a:moveTo>
                <a:lnTo>
                  <a:pt x="38100" y="0"/>
                </a:lnTo>
                <a:lnTo>
                  <a:pt x="38100" y="491489"/>
                </a:lnTo>
                <a:lnTo>
                  <a:pt x="76200" y="491489"/>
                </a:lnTo>
                <a:lnTo>
                  <a:pt x="76200" y="0"/>
                </a:lnTo>
                <a:close/>
              </a:path>
              <a:path w="114300" h="586739">
                <a:moveTo>
                  <a:pt x="114300" y="472439"/>
                </a:moveTo>
                <a:lnTo>
                  <a:pt x="76200" y="472439"/>
                </a:lnTo>
                <a:lnTo>
                  <a:pt x="76200" y="491489"/>
                </a:lnTo>
                <a:lnTo>
                  <a:pt x="104775" y="491489"/>
                </a:lnTo>
                <a:lnTo>
                  <a:pt x="114300" y="47243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06164" y="1163447"/>
            <a:ext cx="1794510" cy="4559300"/>
          </a:xfrm>
          <a:custGeom>
            <a:avLst/>
            <a:gdLst/>
            <a:ahLst/>
            <a:cxnLst/>
            <a:rect l="l" t="t" r="r" b="b"/>
            <a:pathLst>
              <a:path w="1794510" h="4559300">
                <a:moveTo>
                  <a:pt x="1329182" y="4546600"/>
                </a:moveTo>
                <a:lnTo>
                  <a:pt x="1101344" y="4546600"/>
                </a:lnTo>
                <a:lnTo>
                  <a:pt x="1116330" y="4559300"/>
                </a:lnTo>
                <a:lnTo>
                  <a:pt x="1304036" y="4559300"/>
                </a:lnTo>
                <a:lnTo>
                  <a:pt x="1329182" y="4546600"/>
                </a:lnTo>
                <a:close/>
              </a:path>
              <a:path w="1794510" h="4559300">
                <a:moveTo>
                  <a:pt x="1421002" y="4533900"/>
                </a:moveTo>
                <a:lnTo>
                  <a:pt x="1056513" y="4533900"/>
                </a:lnTo>
                <a:lnTo>
                  <a:pt x="1074927" y="4546600"/>
                </a:lnTo>
                <a:lnTo>
                  <a:pt x="1376299" y="4546600"/>
                </a:lnTo>
                <a:lnTo>
                  <a:pt x="1421002" y="4533900"/>
                </a:lnTo>
                <a:close/>
              </a:path>
              <a:path w="1794510" h="4559300">
                <a:moveTo>
                  <a:pt x="1140078" y="4521200"/>
                </a:moveTo>
                <a:lnTo>
                  <a:pt x="1031113" y="4521200"/>
                </a:lnTo>
                <a:lnTo>
                  <a:pt x="1038860" y="4533900"/>
                </a:lnTo>
                <a:lnTo>
                  <a:pt x="1147445" y="4533900"/>
                </a:lnTo>
                <a:lnTo>
                  <a:pt x="1140078" y="4521200"/>
                </a:lnTo>
                <a:close/>
              </a:path>
              <a:path w="1794510" h="4559300">
                <a:moveTo>
                  <a:pt x="1145159" y="4521200"/>
                </a:moveTo>
                <a:lnTo>
                  <a:pt x="1140078" y="4521200"/>
                </a:lnTo>
                <a:lnTo>
                  <a:pt x="1147445" y="4533900"/>
                </a:lnTo>
                <a:lnTo>
                  <a:pt x="1147699" y="4533900"/>
                </a:lnTo>
                <a:lnTo>
                  <a:pt x="1145159" y="4521200"/>
                </a:lnTo>
                <a:close/>
              </a:path>
              <a:path w="1794510" h="4559300">
                <a:moveTo>
                  <a:pt x="1491614" y="4521200"/>
                </a:moveTo>
                <a:lnTo>
                  <a:pt x="1145159" y="4521200"/>
                </a:lnTo>
                <a:lnTo>
                  <a:pt x="1147699" y="4533900"/>
                </a:lnTo>
                <a:lnTo>
                  <a:pt x="1467231" y="4533900"/>
                </a:lnTo>
                <a:lnTo>
                  <a:pt x="1491614" y="4521200"/>
                </a:lnTo>
                <a:close/>
              </a:path>
              <a:path w="1794510" h="4559300">
                <a:moveTo>
                  <a:pt x="1106043" y="4508500"/>
                </a:moveTo>
                <a:lnTo>
                  <a:pt x="991362" y="4508500"/>
                </a:lnTo>
                <a:lnTo>
                  <a:pt x="998220" y="4521200"/>
                </a:lnTo>
                <a:lnTo>
                  <a:pt x="1114552" y="4521200"/>
                </a:lnTo>
                <a:lnTo>
                  <a:pt x="1106043" y="4508500"/>
                </a:lnTo>
                <a:close/>
              </a:path>
              <a:path w="1794510" h="4559300">
                <a:moveTo>
                  <a:pt x="1545463" y="4508500"/>
                </a:moveTo>
                <a:lnTo>
                  <a:pt x="1325880" y="4508500"/>
                </a:lnTo>
                <a:lnTo>
                  <a:pt x="1300988" y="4521200"/>
                </a:lnTo>
                <a:lnTo>
                  <a:pt x="1531365" y="4521200"/>
                </a:lnTo>
                <a:lnTo>
                  <a:pt x="1545463" y="4508500"/>
                </a:lnTo>
                <a:close/>
              </a:path>
              <a:path w="1794510" h="4559300">
                <a:moveTo>
                  <a:pt x="1069086" y="4495800"/>
                </a:moveTo>
                <a:lnTo>
                  <a:pt x="945514" y="4495800"/>
                </a:lnTo>
                <a:lnTo>
                  <a:pt x="946531" y="4508500"/>
                </a:lnTo>
                <a:lnTo>
                  <a:pt x="1087755" y="4508500"/>
                </a:lnTo>
                <a:lnTo>
                  <a:pt x="1069086" y="4495800"/>
                </a:lnTo>
                <a:close/>
              </a:path>
              <a:path w="1794510" h="4559300">
                <a:moveTo>
                  <a:pt x="1581785" y="4495800"/>
                </a:moveTo>
                <a:lnTo>
                  <a:pt x="1415414" y="4495800"/>
                </a:lnTo>
                <a:lnTo>
                  <a:pt x="1371853" y="4508500"/>
                </a:lnTo>
                <a:lnTo>
                  <a:pt x="1579880" y="4508500"/>
                </a:lnTo>
                <a:lnTo>
                  <a:pt x="1581785" y="4495800"/>
                </a:lnTo>
                <a:close/>
              </a:path>
              <a:path w="1794510" h="4559300">
                <a:moveTo>
                  <a:pt x="1035431" y="4483100"/>
                </a:moveTo>
                <a:lnTo>
                  <a:pt x="929005" y="4483100"/>
                </a:lnTo>
                <a:lnTo>
                  <a:pt x="933450" y="4495800"/>
                </a:lnTo>
                <a:lnTo>
                  <a:pt x="1042797" y="4495800"/>
                </a:lnTo>
                <a:lnTo>
                  <a:pt x="1035431" y="4483100"/>
                </a:lnTo>
                <a:close/>
              </a:path>
              <a:path w="1794510" h="4559300">
                <a:moveTo>
                  <a:pt x="1603883" y="4483100"/>
                </a:moveTo>
                <a:lnTo>
                  <a:pt x="1483360" y="4483100"/>
                </a:lnTo>
                <a:lnTo>
                  <a:pt x="1459738" y="4495800"/>
                </a:lnTo>
                <a:lnTo>
                  <a:pt x="1593214" y="4495800"/>
                </a:lnTo>
                <a:lnTo>
                  <a:pt x="1603883" y="4483100"/>
                </a:lnTo>
                <a:close/>
              </a:path>
              <a:path w="1794510" h="4559300">
                <a:moveTo>
                  <a:pt x="994537" y="4470400"/>
                </a:moveTo>
                <a:lnTo>
                  <a:pt x="917066" y="4470400"/>
                </a:lnTo>
                <a:lnTo>
                  <a:pt x="923798" y="4483100"/>
                </a:lnTo>
                <a:lnTo>
                  <a:pt x="1001395" y="4483100"/>
                </a:lnTo>
                <a:lnTo>
                  <a:pt x="994537" y="4470400"/>
                </a:lnTo>
                <a:close/>
              </a:path>
              <a:path w="1794510" h="4559300">
                <a:moveTo>
                  <a:pt x="1637284" y="4457700"/>
                </a:moveTo>
                <a:lnTo>
                  <a:pt x="1570863" y="4457700"/>
                </a:lnTo>
                <a:lnTo>
                  <a:pt x="1559306" y="4470400"/>
                </a:lnTo>
                <a:lnTo>
                  <a:pt x="1535811" y="4470400"/>
                </a:lnTo>
                <a:lnTo>
                  <a:pt x="1521968" y="4483100"/>
                </a:lnTo>
                <a:lnTo>
                  <a:pt x="1613535" y="4483100"/>
                </a:lnTo>
                <a:lnTo>
                  <a:pt x="1622298" y="4470400"/>
                </a:lnTo>
                <a:lnTo>
                  <a:pt x="1637284" y="4457700"/>
                </a:lnTo>
                <a:close/>
              </a:path>
              <a:path w="1794510" h="4559300">
                <a:moveTo>
                  <a:pt x="891528" y="4444525"/>
                </a:moveTo>
                <a:lnTo>
                  <a:pt x="891794" y="4445000"/>
                </a:lnTo>
                <a:lnTo>
                  <a:pt x="898398" y="4457700"/>
                </a:lnTo>
                <a:lnTo>
                  <a:pt x="908812" y="4470400"/>
                </a:lnTo>
                <a:lnTo>
                  <a:pt x="961389" y="4470400"/>
                </a:lnTo>
                <a:lnTo>
                  <a:pt x="957707" y="4457700"/>
                </a:lnTo>
                <a:lnTo>
                  <a:pt x="952753" y="4457700"/>
                </a:lnTo>
                <a:lnTo>
                  <a:pt x="946276" y="4445000"/>
                </a:lnTo>
                <a:lnTo>
                  <a:pt x="892301" y="4445000"/>
                </a:lnTo>
                <a:lnTo>
                  <a:pt x="891528" y="4444525"/>
                </a:lnTo>
                <a:close/>
              </a:path>
              <a:path w="1794510" h="4559300">
                <a:moveTo>
                  <a:pt x="1666366" y="4432300"/>
                </a:moveTo>
                <a:lnTo>
                  <a:pt x="1606931" y="4432300"/>
                </a:lnTo>
                <a:lnTo>
                  <a:pt x="1599438" y="4445000"/>
                </a:lnTo>
                <a:lnTo>
                  <a:pt x="1581403" y="4457700"/>
                </a:lnTo>
                <a:lnTo>
                  <a:pt x="1643507" y="4457700"/>
                </a:lnTo>
                <a:lnTo>
                  <a:pt x="1649222" y="4445000"/>
                </a:lnTo>
                <a:lnTo>
                  <a:pt x="1658874" y="4445000"/>
                </a:lnTo>
                <a:lnTo>
                  <a:pt x="1666366" y="4432300"/>
                </a:lnTo>
                <a:close/>
              </a:path>
              <a:path w="1794510" h="4559300">
                <a:moveTo>
                  <a:pt x="884682" y="4432300"/>
                </a:moveTo>
                <a:lnTo>
                  <a:pt x="891528" y="4444525"/>
                </a:lnTo>
                <a:lnTo>
                  <a:pt x="892301" y="4445000"/>
                </a:lnTo>
                <a:lnTo>
                  <a:pt x="884682" y="4432300"/>
                </a:lnTo>
                <a:close/>
              </a:path>
              <a:path w="1794510" h="4559300">
                <a:moveTo>
                  <a:pt x="932434" y="4432300"/>
                </a:moveTo>
                <a:lnTo>
                  <a:pt x="884682" y="4432300"/>
                </a:lnTo>
                <a:lnTo>
                  <a:pt x="892301" y="4445000"/>
                </a:lnTo>
                <a:lnTo>
                  <a:pt x="937640" y="4445000"/>
                </a:lnTo>
                <a:lnTo>
                  <a:pt x="932434" y="4432300"/>
                </a:lnTo>
                <a:close/>
              </a:path>
              <a:path w="1794510" h="4559300">
                <a:moveTo>
                  <a:pt x="884682" y="4432300"/>
                </a:moveTo>
                <a:lnTo>
                  <a:pt x="871601" y="4432300"/>
                </a:lnTo>
                <a:lnTo>
                  <a:pt x="891528" y="4444525"/>
                </a:lnTo>
                <a:lnTo>
                  <a:pt x="884682" y="4432300"/>
                </a:lnTo>
                <a:close/>
              </a:path>
              <a:path w="1794510" h="4559300">
                <a:moveTo>
                  <a:pt x="884427" y="4394200"/>
                </a:moveTo>
                <a:lnTo>
                  <a:pt x="780161" y="4394200"/>
                </a:lnTo>
                <a:lnTo>
                  <a:pt x="793369" y="4406900"/>
                </a:lnTo>
                <a:lnTo>
                  <a:pt x="820165" y="4419600"/>
                </a:lnTo>
                <a:lnTo>
                  <a:pt x="846836" y="4419600"/>
                </a:lnTo>
                <a:lnTo>
                  <a:pt x="859663" y="4432300"/>
                </a:lnTo>
                <a:lnTo>
                  <a:pt x="926591" y="4432300"/>
                </a:lnTo>
                <a:lnTo>
                  <a:pt x="920114" y="4419600"/>
                </a:lnTo>
                <a:lnTo>
                  <a:pt x="913002" y="4406900"/>
                </a:lnTo>
                <a:lnTo>
                  <a:pt x="895476" y="4406900"/>
                </a:lnTo>
                <a:lnTo>
                  <a:pt x="884427" y="4394200"/>
                </a:lnTo>
                <a:close/>
              </a:path>
              <a:path w="1794510" h="4559300">
                <a:moveTo>
                  <a:pt x="1714753" y="4406900"/>
                </a:moveTo>
                <a:lnTo>
                  <a:pt x="1634998" y="4406900"/>
                </a:lnTo>
                <a:lnTo>
                  <a:pt x="1620265" y="4419600"/>
                </a:lnTo>
                <a:lnTo>
                  <a:pt x="1613915" y="4432300"/>
                </a:lnTo>
                <a:lnTo>
                  <a:pt x="1677162" y="4432300"/>
                </a:lnTo>
                <a:lnTo>
                  <a:pt x="1681607" y="4419600"/>
                </a:lnTo>
                <a:lnTo>
                  <a:pt x="1709039" y="4419600"/>
                </a:lnTo>
                <a:lnTo>
                  <a:pt x="1714753" y="4406900"/>
                </a:lnTo>
                <a:close/>
              </a:path>
              <a:path w="1794510" h="4559300">
                <a:moveTo>
                  <a:pt x="1750568" y="4394200"/>
                </a:moveTo>
                <a:lnTo>
                  <a:pt x="1655190" y="4394200"/>
                </a:lnTo>
                <a:lnTo>
                  <a:pt x="1648968" y="4406900"/>
                </a:lnTo>
                <a:lnTo>
                  <a:pt x="1744852" y="4406900"/>
                </a:lnTo>
                <a:lnTo>
                  <a:pt x="1750568" y="4394200"/>
                </a:lnTo>
                <a:close/>
              </a:path>
              <a:path w="1794510" h="4559300">
                <a:moveTo>
                  <a:pt x="810768" y="4368800"/>
                </a:moveTo>
                <a:lnTo>
                  <a:pt x="743838" y="4368800"/>
                </a:lnTo>
                <a:lnTo>
                  <a:pt x="755269" y="4381500"/>
                </a:lnTo>
                <a:lnTo>
                  <a:pt x="767461" y="4394200"/>
                </a:lnTo>
                <a:lnTo>
                  <a:pt x="860678" y="4394200"/>
                </a:lnTo>
                <a:lnTo>
                  <a:pt x="810768" y="4368800"/>
                </a:lnTo>
                <a:close/>
              </a:path>
              <a:path w="1794510" h="4559300">
                <a:moveTo>
                  <a:pt x="1764664" y="4368800"/>
                </a:moveTo>
                <a:lnTo>
                  <a:pt x="1732026" y="4368800"/>
                </a:lnTo>
                <a:lnTo>
                  <a:pt x="1720214" y="4381500"/>
                </a:lnTo>
                <a:lnTo>
                  <a:pt x="1674114" y="4381500"/>
                </a:lnTo>
                <a:lnTo>
                  <a:pt x="1667256" y="4394200"/>
                </a:lnTo>
                <a:lnTo>
                  <a:pt x="1756664" y="4394200"/>
                </a:lnTo>
                <a:lnTo>
                  <a:pt x="1759203" y="4381500"/>
                </a:lnTo>
                <a:lnTo>
                  <a:pt x="1764664" y="4368800"/>
                </a:lnTo>
                <a:close/>
              </a:path>
              <a:path w="1794510" h="4559300">
                <a:moveTo>
                  <a:pt x="1722755" y="4368800"/>
                </a:moveTo>
                <a:lnTo>
                  <a:pt x="1715389" y="4368800"/>
                </a:lnTo>
                <a:lnTo>
                  <a:pt x="1701927" y="4381500"/>
                </a:lnTo>
                <a:lnTo>
                  <a:pt x="1720214" y="4381500"/>
                </a:lnTo>
                <a:lnTo>
                  <a:pt x="1722755" y="4368800"/>
                </a:lnTo>
                <a:close/>
              </a:path>
              <a:path w="1794510" h="4559300">
                <a:moveTo>
                  <a:pt x="1789811" y="4279900"/>
                </a:moveTo>
                <a:lnTo>
                  <a:pt x="1749044" y="4279900"/>
                </a:lnTo>
                <a:lnTo>
                  <a:pt x="1743456" y="4305300"/>
                </a:lnTo>
                <a:lnTo>
                  <a:pt x="1737487" y="4318000"/>
                </a:lnTo>
                <a:lnTo>
                  <a:pt x="1728215" y="4356100"/>
                </a:lnTo>
                <a:lnTo>
                  <a:pt x="1725422" y="4356100"/>
                </a:lnTo>
                <a:lnTo>
                  <a:pt x="1722755" y="4368800"/>
                </a:lnTo>
                <a:lnTo>
                  <a:pt x="1720214" y="4381500"/>
                </a:lnTo>
                <a:lnTo>
                  <a:pt x="1732026" y="4368800"/>
                </a:lnTo>
                <a:lnTo>
                  <a:pt x="1764664" y="4368800"/>
                </a:lnTo>
                <a:lnTo>
                  <a:pt x="1767713" y="4356100"/>
                </a:lnTo>
                <a:lnTo>
                  <a:pt x="1773936" y="4330700"/>
                </a:lnTo>
                <a:lnTo>
                  <a:pt x="1779905" y="4318000"/>
                </a:lnTo>
                <a:lnTo>
                  <a:pt x="1782826" y="4305300"/>
                </a:lnTo>
                <a:lnTo>
                  <a:pt x="1785493" y="4292600"/>
                </a:lnTo>
                <a:lnTo>
                  <a:pt x="1787778" y="4292600"/>
                </a:lnTo>
                <a:lnTo>
                  <a:pt x="1789811" y="4279900"/>
                </a:lnTo>
                <a:close/>
              </a:path>
              <a:path w="1794510" h="4559300">
                <a:moveTo>
                  <a:pt x="788288" y="4356100"/>
                </a:moveTo>
                <a:lnTo>
                  <a:pt x="726186" y="4356100"/>
                </a:lnTo>
                <a:lnTo>
                  <a:pt x="733551" y="4368800"/>
                </a:lnTo>
                <a:lnTo>
                  <a:pt x="799211" y="4368800"/>
                </a:lnTo>
                <a:lnTo>
                  <a:pt x="788288" y="4356100"/>
                </a:lnTo>
                <a:close/>
              </a:path>
              <a:path w="1794510" h="4559300">
                <a:moveTo>
                  <a:pt x="769747" y="4343400"/>
                </a:moveTo>
                <a:lnTo>
                  <a:pt x="718820" y="4343400"/>
                </a:lnTo>
                <a:lnTo>
                  <a:pt x="724535" y="4356100"/>
                </a:lnTo>
                <a:lnTo>
                  <a:pt x="778383" y="4356100"/>
                </a:lnTo>
                <a:lnTo>
                  <a:pt x="769747" y="4343400"/>
                </a:lnTo>
                <a:close/>
              </a:path>
              <a:path w="1794510" h="4559300">
                <a:moveTo>
                  <a:pt x="397383" y="3556000"/>
                </a:moveTo>
                <a:lnTo>
                  <a:pt x="357632" y="3556000"/>
                </a:lnTo>
                <a:lnTo>
                  <a:pt x="362203" y="3568700"/>
                </a:lnTo>
                <a:lnTo>
                  <a:pt x="359663" y="3568700"/>
                </a:lnTo>
                <a:lnTo>
                  <a:pt x="361441" y="3581400"/>
                </a:lnTo>
                <a:lnTo>
                  <a:pt x="363474" y="3594100"/>
                </a:lnTo>
                <a:lnTo>
                  <a:pt x="365378" y="3619500"/>
                </a:lnTo>
                <a:lnTo>
                  <a:pt x="367538" y="3632200"/>
                </a:lnTo>
                <a:lnTo>
                  <a:pt x="369824" y="3644900"/>
                </a:lnTo>
                <a:lnTo>
                  <a:pt x="375031" y="3683000"/>
                </a:lnTo>
                <a:lnTo>
                  <a:pt x="381762" y="3721100"/>
                </a:lnTo>
                <a:lnTo>
                  <a:pt x="385825" y="3746500"/>
                </a:lnTo>
                <a:lnTo>
                  <a:pt x="390398" y="3759200"/>
                </a:lnTo>
                <a:lnTo>
                  <a:pt x="395605" y="3784600"/>
                </a:lnTo>
                <a:lnTo>
                  <a:pt x="401447" y="3797300"/>
                </a:lnTo>
                <a:lnTo>
                  <a:pt x="408050" y="3810000"/>
                </a:lnTo>
                <a:lnTo>
                  <a:pt x="415798" y="3822700"/>
                </a:lnTo>
                <a:lnTo>
                  <a:pt x="422401" y="3835400"/>
                </a:lnTo>
                <a:lnTo>
                  <a:pt x="430275" y="3848100"/>
                </a:lnTo>
                <a:lnTo>
                  <a:pt x="438658" y="3848100"/>
                </a:lnTo>
                <a:lnTo>
                  <a:pt x="446659" y="3860800"/>
                </a:lnTo>
                <a:lnTo>
                  <a:pt x="462025" y="3873500"/>
                </a:lnTo>
                <a:lnTo>
                  <a:pt x="468249" y="3886200"/>
                </a:lnTo>
                <a:lnTo>
                  <a:pt x="473456" y="3886200"/>
                </a:lnTo>
                <a:lnTo>
                  <a:pt x="493522" y="3911600"/>
                </a:lnTo>
                <a:lnTo>
                  <a:pt x="512699" y="3949700"/>
                </a:lnTo>
                <a:lnTo>
                  <a:pt x="530351" y="3975100"/>
                </a:lnTo>
                <a:lnTo>
                  <a:pt x="546100" y="4000500"/>
                </a:lnTo>
                <a:lnTo>
                  <a:pt x="562863" y="4051300"/>
                </a:lnTo>
                <a:lnTo>
                  <a:pt x="572262" y="4064000"/>
                </a:lnTo>
                <a:lnTo>
                  <a:pt x="577850" y="4076700"/>
                </a:lnTo>
                <a:lnTo>
                  <a:pt x="583819" y="4089400"/>
                </a:lnTo>
                <a:lnTo>
                  <a:pt x="591058" y="4102100"/>
                </a:lnTo>
                <a:lnTo>
                  <a:pt x="598805" y="4102100"/>
                </a:lnTo>
                <a:lnTo>
                  <a:pt x="614172" y="4127500"/>
                </a:lnTo>
                <a:lnTo>
                  <a:pt x="629285" y="4140200"/>
                </a:lnTo>
                <a:lnTo>
                  <a:pt x="635888" y="4140200"/>
                </a:lnTo>
                <a:lnTo>
                  <a:pt x="641731" y="4152900"/>
                </a:lnTo>
                <a:lnTo>
                  <a:pt x="649859" y="4165600"/>
                </a:lnTo>
                <a:lnTo>
                  <a:pt x="657098" y="4178300"/>
                </a:lnTo>
                <a:lnTo>
                  <a:pt x="663321" y="4178300"/>
                </a:lnTo>
                <a:lnTo>
                  <a:pt x="668909" y="4191000"/>
                </a:lnTo>
                <a:lnTo>
                  <a:pt x="673353" y="4203700"/>
                </a:lnTo>
                <a:lnTo>
                  <a:pt x="677545" y="4216400"/>
                </a:lnTo>
                <a:lnTo>
                  <a:pt x="684657" y="4229100"/>
                </a:lnTo>
                <a:lnTo>
                  <a:pt x="690626" y="4254500"/>
                </a:lnTo>
                <a:lnTo>
                  <a:pt x="693674" y="4254500"/>
                </a:lnTo>
                <a:lnTo>
                  <a:pt x="696849" y="4267200"/>
                </a:lnTo>
                <a:lnTo>
                  <a:pt x="700151" y="4279900"/>
                </a:lnTo>
                <a:lnTo>
                  <a:pt x="703834" y="4292600"/>
                </a:lnTo>
                <a:lnTo>
                  <a:pt x="708025" y="4318000"/>
                </a:lnTo>
                <a:lnTo>
                  <a:pt x="712724" y="4330700"/>
                </a:lnTo>
                <a:lnTo>
                  <a:pt x="717296" y="4343400"/>
                </a:lnTo>
                <a:lnTo>
                  <a:pt x="762381" y="4343400"/>
                </a:lnTo>
                <a:lnTo>
                  <a:pt x="755141" y="4330700"/>
                </a:lnTo>
                <a:lnTo>
                  <a:pt x="752601" y="4330700"/>
                </a:lnTo>
                <a:lnTo>
                  <a:pt x="749300" y="4318000"/>
                </a:lnTo>
                <a:lnTo>
                  <a:pt x="736981" y="4279900"/>
                </a:lnTo>
                <a:lnTo>
                  <a:pt x="727075" y="4241800"/>
                </a:lnTo>
                <a:lnTo>
                  <a:pt x="720216" y="4216400"/>
                </a:lnTo>
                <a:lnTo>
                  <a:pt x="712088" y="4191000"/>
                </a:lnTo>
                <a:lnTo>
                  <a:pt x="707263" y="4191000"/>
                </a:lnTo>
                <a:lnTo>
                  <a:pt x="701675" y="4178300"/>
                </a:lnTo>
                <a:lnTo>
                  <a:pt x="695451" y="4165600"/>
                </a:lnTo>
                <a:lnTo>
                  <a:pt x="688339" y="4152900"/>
                </a:lnTo>
                <a:lnTo>
                  <a:pt x="680338" y="4140200"/>
                </a:lnTo>
                <a:lnTo>
                  <a:pt x="670940" y="4127500"/>
                </a:lnTo>
                <a:lnTo>
                  <a:pt x="663448" y="4114800"/>
                </a:lnTo>
                <a:lnTo>
                  <a:pt x="655827" y="4114800"/>
                </a:lnTo>
                <a:lnTo>
                  <a:pt x="641350" y="4102100"/>
                </a:lnTo>
                <a:lnTo>
                  <a:pt x="627761" y="4089400"/>
                </a:lnTo>
                <a:lnTo>
                  <a:pt x="621919" y="4076700"/>
                </a:lnTo>
                <a:lnTo>
                  <a:pt x="616838" y="4064000"/>
                </a:lnTo>
                <a:lnTo>
                  <a:pt x="611759" y="4064000"/>
                </a:lnTo>
                <a:lnTo>
                  <a:pt x="607060" y="4051300"/>
                </a:lnTo>
                <a:lnTo>
                  <a:pt x="598170" y="4025900"/>
                </a:lnTo>
                <a:lnTo>
                  <a:pt x="589407" y="4013200"/>
                </a:lnTo>
                <a:lnTo>
                  <a:pt x="580136" y="3987800"/>
                </a:lnTo>
                <a:lnTo>
                  <a:pt x="563245" y="3962400"/>
                </a:lnTo>
                <a:lnTo>
                  <a:pt x="544576" y="3924300"/>
                </a:lnTo>
                <a:lnTo>
                  <a:pt x="524637" y="3898900"/>
                </a:lnTo>
                <a:lnTo>
                  <a:pt x="503427" y="3860800"/>
                </a:lnTo>
                <a:lnTo>
                  <a:pt x="495935" y="3860800"/>
                </a:lnTo>
                <a:lnTo>
                  <a:pt x="488188" y="3848100"/>
                </a:lnTo>
                <a:lnTo>
                  <a:pt x="472948" y="3835400"/>
                </a:lnTo>
                <a:lnTo>
                  <a:pt x="465709" y="3822700"/>
                </a:lnTo>
                <a:lnTo>
                  <a:pt x="459486" y="3822700"/>
                </a:lnTo>
                <a:lnTo>
                  <a:pt x="454025" y="3810000"/>
                </a:lnTo>
                <a:lnTo>
                  <a:pt x="449199" y="3810000"/>
                </a:lnTo>
                <a:lnTo>
                  <a:pt x="442975" y="3797300"/>
                </a:lnTo>
                <a:lnTo>
                  <a:pt x="437261" y="3784600"/>
                </a:lnTo>
                <a:lnTo>
                  <a:pt x="432053" y="3771900"/>
                </a:lnTo>
                <a:lnTo>
                  <a:pt x="427355" y="3746500"/>
                </a:lnTo>
                <a:lnTo>
                  <a:pt x="423037" y="3733800"/>
                </a:lnTo>
                <a:lnTo>
                  <a:pt x="419226" y="3721100"/>
                </a:lnTo>
                <a:lnTo>
                  <a:pt x="412750" y="3683000"/>
                </a:lnTo>
                <a:lnTo>
                  <a:pt x="407543" y="3644900"/>
                </a:lnTo>
                <a:lnTo>
                  <a:pt x="405384" y="3632200"/>
                </a:lnTo>
                <a:lnTo>
                  <a:pt x="403225" y="3606800"/>
                </a:lnTo>
                <a:lnTo>
                  <a:pt x="401320" y="3594100"/>
                </a:lnTo>
                <a:lnTo>
                  <a:pt x="399288" y="3581400"/>
                </a:lnTo>
                <a:lnTo>
                  <a:pt x="398335" y="3568700"/>
                </a:lnTo>
                <a:lnTo>
                  <a:pt x="362203" y="3568700"/>
                </a:lnTo>
                <a:lnTo>
                  <a:pt x="358963" y="3564320"/>
                </a:lnTo>
                <a:lnTo>
                  <a:pt x="398007" y="3564320"/>
                </a:lnTo>
                <a:lnTo>
                  <a:pt x="397383" y="3556000"/>
                </a:lnTo>
                <a:close/>
              </a:path>
              <a:path w="1794510" h="4559300">
                <a:moveTo>
                  <a:pt x="751077" y="4318000"/>
                </a:moveTo>
                <a:lnTo>
                  <a:pt x="752601" y="4330700"/>
                </a:lnTo>
                <a:lnTo>
                  <a:pt x="756793" y="4330700"/>
                </a:lnTo>
                <a:lnTo>
                  <a:pt x="751077" y="4318000"/>
                </a:lnTo>
                <a:close/>
              </a:path>
              <a:path w="1794510" h="4559300">
                <a:moveTo>
                  <a:pt x="1757426" y="4254500"/>
                </a:moveTo>
                <a:lnTo>
                  <a:pt x="1756537" y="4254500"/>
                </a:lnTo>
                <a:lnTo>
                  <a:pt x="1753362" y="4267200"/>
                </a:lnTo>
                <a:lnTo>
                  <a:pt x="1751202" y="4279900"/>
                </a:lnTo>
                <a:lnTo>
                  <a:pt x="1791589" y="4279900"/>
                </a:lnTo>
                <a:lnTo>
                  <a:pt x="1792859" y="4267200"/>
                </a:lnTo>
                <a:lnTo>
                  <a:pt x="1794002" y="4267200"/>
                </a:lnTo>
                <a:lnTo>
                  <a:pt x="1757426" y="4254500"/>
                </a:lnTo>
                <a:close/>
              </a:path>
              <a:path w="1794510" h="4559300">
                <a:moveTo>
                  <a:pt x="357632" y="3556000"/>
                </a:moveTo>
                <a:lnTo>
                  <a:pt x="358963" y="3564320"/>
                </a:lnTo>
                <a:lnTo>
                  <a:pt x="362203" y="3568700"/>
                </a:lnTo>
                <a:lnTo>
                  <a:pt x="357632" y="3556000"/>
                </a:lnTo>
                <a:close/>
              </a:path>
              <a:path w="1794510" h="4559300">
                <a:moveTo>
                  <a:pt x="62611" y="457200"/>
                </a:moveTo>
                <a:lnTo>
                  <a:pt x="21716" y="457200"/>
                </a:lnTo>
                <a:lnTo>
                  <a:pt x="15239" y="533400"/>
                </a:lnTo>
                <a:lnTo>
                  <a:pt x="10033" y="596900"/>
                </a:lnTo>
                <a:lnTo>
                  <a:pt x="5969" y="673100"/>
                </a:lnTo>
                <a:lnTo>
                  <a:pt x="2794" y="736600"/>
                </a:lnTo>
                <a:lnTo>
                  <a:pt x="888" y="812800"/>
                </a:lnTo>
                <a:lnTo>
                  <a:pt x="0" y="876300"/>
                </a:lnTo>
                <a:lnTo>
                  <a:pt x="0" y="952500"/>
                </a:lnTo>
                <a:lnTo>
                  <a:pt x="1270" y="1016000"/>
                </a:lnTo>
                <a:lnTo>
                  <a:pt x="3175" y="1092200"/>
                </a:lnTo>
                <a:lnTo>
                  <a:pt x="6096" y="1168400"/>
                </a:lnTo>
                <a:lnTo>
                  <a:pt x="9778" y="1231900"/>
                </a:lnTo>
                <a:lnTo>
                  <a:pt x="14350" y="1308100"/>
                </a:lnTo>
                <a:lnTo>
                  <a:pt x="19812" y="1371600"/>
                </a:lnTo>
                <a:lnTo>
                  <a:pt x="25908" y="1447800"/>
                </a:lnTo>
                <a:lnTo>
                  <a:pt x="32765" y="1511300"/>
                </a:lnTo>
                <a:lnTo>
                  <a:pt x="40386" y="1587500"/>
                </a:lnTo>
                <a:lnTo>
                  <a:pt x="45974" y="1739900"/>
                </a:lnTo>
                <a:lnTo>
                  <a:pt x="50800" y="1905000"/>
                </a:lnTo>
                <a:lnTo>
                  <a:pt x="55752" y="2057400"/>
                </a:lnTo>
                <a:lnTo>
                  <a:pt x="61849" y="2222500"/>
                </a:lnTo>
                <a:lnTo>
                  <a:pt x="69850" y="2387600"/>
                </a:lnTo>
                <a:lnTo>
                  <a:pt x="74930" y="2463800"/>
                </a:lnTo>
                <a:lnTo>
                  <a:pt x="80772" y="2540000"/>
                </a:lnTo>
                <a:lnTo>
                  <a:pt x="87630" y="2628900"/>
                </a:lnTo>
                <a:lnTo>
                  <a:pt x="95503" y="2705100"/>
                </a:lnTo>
                <a:lnTo>
                  <a:pt x="104648" y="2781300"/>
                </a:lnTo>
                <a:lnTo>
                  <a:pt x="115062" y="2857500"/>
                </a:lnTo>
                <a:lnTo>
                  <a:pt x="123189" y="2908300"/>
                </a:lnTo>
                <a:lnTo>
                  <a:pt x="134620" y="2946400"/>
                </a:lnTo>
                <a:lnTo>
                  <a:pt x="141477" y="2971800"/>
                </a:lnTo>
                <a:lnTo>
                  <a:pt x="148716" y="2997200"/>
                </a:lnTo>
                <a:lnTo>
                  <a:pt x="164591" y="3035300"/>
                </a:lnTo>
                <a:lnTo>
                  <a:pt x="181228" y="3073400"/>
                </a:lnTo>
                <a:lnTo>
                  <a:pt x="197993" y="3111500"/>
                </a:lnTo>
                <a:lnTo>
                  <a:pt x="213740" y="3149600"/>
                </a:lnTo>
                <a:lnTo>
                  <a:pt x="221107" y="3175000"/>
                </a:lnTo>
                <a:lnTo>
                  <a:pt x="227964" y="3187700"/>
                </a:lnTo>
                <a:lnTo>
                  <a:pt x="235838" y="3213100"/>
                </a:lnTo>
                <a:lnTo>
                  <a:pt x="242443" y="3238500"/>
                </a:lnTo>
                <a:lnTo>
                  <a:pt x="248412" y="3263900"/>
                </a:lnTo>
                <a:lnTo>
                  <a:pt x="253619" y="3289300"/>
                </a:lnTo>
                <a:lnTo>
                  <a:pt x="268097" y="3365500"/>
                </a:lnTo>
                <a:lnTo>
                  <a:pt x="273431" y="3378200"/>
                </a:lnTo>
                <a:lnTo>
                  <a:pt x="286258" y="3429000"/>
                </a:lnTo>
                <a:lnTo>
                  <a:pt x="303784" y="3479800"/>
                </a:lnTo>
                <a:lnTo>
                  <a:pt x="315087" y="3492500"/>
                </a:lnTo>
                <a:lnTo>
                  <a:pt x="328295" y="3517900"/>
                </a:lnTo>
                <a:lnTo>
                  <a:pt x="336041" y="3530600"/>
                </a:lnTo>
                <a:lnTo>
                  <a:pt x="344170" y="3543300"/>
                </a:lnTo>
                <a:lnTo>
                  <a:pt x="352806" y="3556000"/>
                </a:lnTo>
                <a:lnTo>
                  <a:pt x="358963" y="3564320"/>
                </a:lnTo>
                <a:lnTo>
                  <a:pt x="357632" y="3556000"/>
                </a:lnTo>
                <a:lnTo>
                  <a:pt x="397383" y="3556000"/>
                </a:lnTo>
                <a:lnTo>
                  <a:pt x="395350" y="3543300"/>
                </a:lnTo>
                <a:lnTo>
                  <a:pt x="390778" y="3543300"/>
                </a:lnTo>
                <a:lnTo>
                  <a:pt x="382397" y="3530600"/>
                </a:lnTo>
                <a:lnTo>
                  <a:pt x="374650" y="3517900"/>
                </a:lnTo>
                <a:lnTo>
                  <a:pt x="367411" y="3505200"/>
                </a:lnTo>
                <a:lnTo>
                  <a:pt x="361061" y="3505200"/>
                </a:lnTo>
                <a:lnTo>
                  <a:pt x="349123" y="3479800"/>
                </a:lnTo>
                <a:lnTo>
                  <a:pt x="338836" y="3454400"/>
                </a:lnTo>
                <a:lnTo>
                  <a:pt x="330200" y="3441700"/>
                </a:lnTo>
                <a:lnTo>
                  <a:pt x="322707" y="3416300"/>
                </a:lnTo>
                <a:lnTo>
                  <a:pt x="316230" y="3390900"/>
                </a:lnTo>
                <a:lnTo>
                  <a:pt x="310641" y="3378200"/>
                </a:lnTo>
                <a:lnTo>
                  <a:pt x="305435" y="3352800"/>
                </a:lnTo>
                <a:lnTo>
                  <a:pt x="300609" y="3327400"/>
                </a:lnTo>
                <a:lnTo>
                  <a:pt x="290830" y="3276600"/>
                </a:lnTo>
                <a:lnTo>
                  <a:pt x="279273" y="3225800"/>
                </a:lnTo>
                <a:lnTo>
                  <a:pt x="263906" y="3175000"/>
                </a:lnTo>
                <a:lnTo>
                  <a:pt x="256794" y="3162300"/>
                </a:lnTo>
                <a:lnTo>
                  <a:pt x="249047" y="3136900"/>
                </a:lnTo>
                <a:lnTo>
                  <a:pt x="233045" y="3098800"/>
                </a:lnTo>
                <a:lnTo>
                  <a:pt x="216535" y="3060700"/>
                </a:lnTo>
                <a:lnTo>
                  <a:pt x="200151" y="3022600"/>
                </a:lnTo>
                <a:lnTo>
                  <a:pt x="184785" y="2984500"/>
                </a:lnTo>
                <a:lnTo>
                  <a:pt x="177673" y="2959100"/>
                </a:lnTo>
                <a:lnTo>
                  <a:pt x="171323" y="2933700"/>
                </a:lnTo>
                <a:lnTo>
                  <a:pt x="165481" y="2921000"/>
                </a:lnTo>
                <a:lnTo>
                  <a:pt x="160400" y="2895600"/>
                </a:lnTo>
                <a:lnTo>
                  <a:pt x="156210" y="2882900"/>
                </a:lnTo>
                <a:lnTo>
                  <a:pt x="152908" y="2857500"/>
                </a:lnTo>
                <a:lnTo>
                  <a:pt x="142494" y="2781300"/>
                </a:lnTo>
                <a:lnTo>
                  <a:pt x="133476" y="2705100"/>
                </a:lnTo>
                <a:lnTo>
                  <a:pt x="125475" y="2616200"/>
                </a:lnTo>
                <a:lnTo>
                  <a:pt x="118745" y="2540000"/>
                </a:lnTo>
                <a:lnTo>
                  <a:pt x="112902" y="2463800"/>
                </a:lnTo>
                <a:lnTo>
                  <a:pt x="107823" y="2374900"/>
                </a:lnTo>
                <a:lnTo>
                  <a:pt x="103632" y="2298700"/>
                </a:lnTo>
                <a:lnTo>
                  <a:pt x="99949" y="2222500"/>
                </a:lnTo>
                <a:lnTo>
                  <a:pt x="93852" y="2057400"/>
                </a:lnTo>
                <a:lnTo>
                  <a:pt x="88900" y="1905000"/>
                </a:lnTo>
                <a:lnTo>
                  <a:pt x="84074" y="1739900"/>
                </a:lnTo>
                <a:lnTo>
                  <a:pt x="78232" y="1574800"/>
                </a:lnTo>
                <a:lnTo>
                  <a:pt x="70738" y="1511300"/>
                </a:lnTo>
                <a:lnTo>
                  <a:pt x="63881" y="1435100"/>
                </a:lnTo>
                <a:lnTo>
                  <a:pt x="57785" y="1371600"/>
                </a:lnTo>
                <a:lnTo>
                  <a:pt x="52450" y="1295400"/>
                </a:lnTo>
                <a:lnTo>
                  <a:pt x="47878" y="1231900"/>
                </a:lnTo>
                <a:lnTo>
                  <a:pt x="44196" y="1155700"/>
                </a:lnTo>
                <a:lnTo>
                  <a:pt x="41275" y="1092200"/>
                </a:lnTo>
                <a:lnTo>
                  <a:pt x="39243" y="1016000"/>
                </a:lnTo>
                <a:lnTo>
                  <a:pt x="38100" y="952500"/>
                </a:lnTo>
                <a:lnTo>
                  <a:pt x="38100" y="876300"/>
                </a:lnTo>
                <a:lnTo>
                  <a:pt x="38988" y="812800"/>
                </a:lnTo>
                <a:lnTo>
                  <a:pt x="40894" y="749300"/>
                </a:lnTo>
                <a:lnTo>
                  <a:pt x="43941" y="673100"/>
                </a:lnTo>
                <a:lnTo>
                  <a:pt x="48006" y="609600"/>
                </a:lnTo>
                <a:lnTo>
                  <a:pt x="53212" y="533400"/>
                </a:lnTo>
                <a:lnTo>
                  <a:pt x="59562" y="469900"/>
                </a:lnTo>
                <a:lnTo>
                  <a:pt x="56896" y="469900"/>
                </a:lnTo>
                <a:lnTo>
                  <a:pt x="62611" y="457200"/>
                </a:lnTo>
                <a:close/>
              </a:path>
              <a:path w="1794510" h="4559300">
                <a:moveTo>
                  <a:pt x="1154731" y="410661"/>
                </a:moveTo>
                <a:lnTo>
                  <a:pt x="1117600" y="419100"/>
                </a:lnTo>
                <a:lnTo>
                  <a:pt x="1197356" y="520700"/>
                </a:lnTo>
                <a:lnTo>
                  <a:pt x="1219758" y="431800"/>
                </a:lnTo>
                <a:lnTo>
                  <a:pt x="1158748" y="431800"/>
                </a:lnTo>
                <a:lnTo>
                  <a:pt x="1154731" y="410661"/>
                </a:lnTo>
                <a:close/>
              </a:path>
              <a:path w="1794510" h="4559300">
                <a:moveTo>
                  <a:pt x="105283" y="381000"/>
                </a:moveTo>
                <a:lnTo>
                  <a:pt x="64262" y="381000"/>
                </a:lnTo>
                <a:lnTo>
                  <a:pt x="61468" y="393700"/>
                </a:lnTo>
                <a:lnTo>
                  <a:pt x="57403" y="393700"/>
                </a:lnTo>
                <a:lnTo>
                  <a:pt x="51943" y="406400"/>
                </a:lnTo>
                <a:lnTo>
                  <a:pt x="44703" y="419100"/>
                </a:lnTo>
                <a:lnTo>
                  <a:pt x="35687" y="431800"/>
                </a:lnTo>
                <a:lnTo>
                  <a:pt x="30225" y="444500"/>
                </a:lnTo>
                <a:lnTo>
                  <a:pt x="24384" y="457200"/>
                </a:lnTo>
                <a:lnTo>
                  <a:pt x="67945" y="457200"/>
                </a:lnTo>
                <a:lnTo>
                  <a:pt x="72644" y="444500"/>
                </a:lnTo>
                <a:lnTo>
                  <a:pt x="80899" y="431800"/>
                </a:lnTo>
                <a:lnTo>
                  <a:pt x="84327" y="431800"/>
                </a:lnTo>
                <a:lnTo>
                  <a:pt x="90550" y="419100"/>
                </a:lnTo>
                <a:lnTo>
                  <a:pt x="95503" y="406400"/>
                </a:lnTo>
                <a:lnTo>
                  <a:pt x="99568" y="406400"/>
                </a:lnTo>
                <a:lnTo>
                  <a:pt x="102743" y="393700"/>
                </a:lnTo>
                <a:lnTo>
                  <a:pt x="105283" y="381000"/>
                </a:lnTo>
                <a:close/>
              </a:path>
              <a:path w="1794510" h="4559300">
                <a:moveTo>
                  <a:pt x="1190787" y="402466"/>
                </a:moveTo>
                <a:lnTo>
                  <a:pt x="1154731" y="410661"/>
                </a:lnTo>
                <a:lnTo>
                  <a:pt x="1158748" y="431800"/>
                </a:lnTo>
                <a:lnTo>
                  <a:pt x="1196086" y="431800"/>
                </a:lnTo>
                <a:lnTo>
                  <a:pt x="1191260" y="406400"/>
                </a:lnTo>
                <a:lnTo>
                  <a:pt x="1190787" y="402466"/>
                </a:lnTo>
                <a:close/>
              </a:path>
              <a:path w="1794510" h="4559300">
                <a:moveTo>
                  <a:pt x="1229360" y="393700"/>
                </a:moveTo>
                <a:lnTo>
                  <a:pt x="1190787" y="402466"/>
                </a:lnTo>
                <a:lnTo>
                  <a:pt x="1191260" y="406400"/>
                </a:lnTo>
                <a:lnTo>
                  <a:pt x="1196086" y="431800"/>
                </a:lnTo>
                <a:lnTo>
                  <a:pt x="1219758" y="431800"/>
                </a:lnTo>
                <a:lnTo>
                  <a:pt x="1229360" y="393700"/>
                </a:lnTo>
                <a:close/>
              </a:path>
              <a:path w="1794510" h="4559300">
                <a:moveTo>
                  <a:pt x="1139063" y="279400"/>
                </a:moveTo>
                <a:lnTo>
                  <a:pt x="1082548" y="279400"/>
                </a:lnTo>
                <a:lnTo>
                  <a:pt x="1090549" y="292100"/>
                </a:lnTo>
                <a:lnTo>
                  <a:pt x="1097788" y="292100"/>
                </a:lnTo>
                <a:lnTo>
                  <a:pt x="1104264" y="304800"/>
                </a:lnTo>
                <a:lnTo>
                  <a:pt x="1110234" y="304800"/>
                </a:lnTo>
                <a:lnTo>
                  <a:pt x="1115314" y="317500"/>
                </a:lnTo>
                <a:lnTo>
                  <a:pt x="1124585" y="330200"/>
                </a:lnTo>
                <a:lnTo>
                  <a:pt x="1143253" y="368300"/>
                </a:lnTo>
                <a:lnTo>
                  <a:pt x="1153922" y="406400"/>
                </a:lnTo>
                <a:lnTo>
                  <a:pt x="1154731" y="410661"/>
                </a:lnTo>
                <a:lnTo>
                  <a:pt x="1190787" y="402466"/>
                </a:lnTo>
                <a:lnTo>
                  <a:pt x="1188212" y="381000"/>
                </a:lnTo>
                <a:lnTo>
                  <a:pt x="1184528" y="368300"/>
                </a:lnTo>
                <a:lnTo>
                  <a:pt x="1179830" y="355600"/>
                </a:lnTo>
                <a:lnTo>
                  <a:pt x="1173988" y="342900"/>
                </a:lnTo>
                <a:lnTo>
                  <a:pt x="1166622" y="317500"/>
                </a:lnTo>
                <a:lnTo>
                  <a:pt x="1157351" y="304800"/>
                </a:lnTo>
                <a:lnTo>
                  <a:pt x="1146048" y="292100"/>
                </a:lnTo>
                <a:lnTo>
                  <a:pt x="1139063" y="279400"/>
                </a:lnTo>
                <a:close/>
              </a:path>
              <a:path w="1794510" h="4559300">
                <a:moveTo>
                  <a:pt x="488314" y="38100"/>
                </a:moveTo>
                <a:lnTo>
                  <a:pt x="267588" y="38100"/>
                </a:lnTo>
                <a:lnTo>
                  <a:pt x="260350" y="50800"/>
                </a:lnTo>
                <a:lnTo>
                  <a:pt x="248920" y="63500"/>
                </a:lnTo>
                <a:lnTo>
                  <a:pt x="239013" y="88900"/>
                </a:lnTo>
                <a:lnTo>
                  <a:pt x="221487" y="114300"/>
                </a:lnTo>
                <a:lnTo>
                  <a:pt x="217297" y="114300"/>
                </a:lnTo>
                <a:lnTo>
                  <a:pt x="212598" y="127000"/>
                </a:lnTo>
                <a:lnTo>
                  <a:pt x="200406" y="139700"/>
                </a:lnTo>
                <a:lnTo>
                  <a:pt x="187198" y="152400"/>
                </a:lnTo>
                <a:lnTo>
                  <a:pt x="130175" y="203200"/>
                </a:lnTo>
                <a:lnTo>
                  <a:pt x="115570" y="215900"/>
                </a:lnTo>
                <a:lnTo>
                  <a:pt x="101726" y="228600"/>
                </a:lnTo>
                <a:lnTo>
                  <a:pt x="97536" y="228600"/>
                </a:lnTo>
                <a:lnTo>
                  <a:pt x="96774" y="241300"/>
                </a:lnTo>
                <a:lnTo>
                  <a:pt x="92963" y="254000"/>
                </a:lnTo>
                <a:lnTo>
                  <a:pt x="84074" y="292100"/>
                </a:lnTo>
                <a:lnTo>
                  <a:pt x="77977" y="330200"/>
                </a:lnTo>
                <a:lnTo>
                  <a:pt x="76326" y="330200"/>
                </a:lnTo>
                <a:lnTo>
                  <a:pt x="75057" y="342900"/>
                </a:lnTo>
                <a:lnTo>
                  <a:pt x="72644" y="355600"/>
                </a:lnTo>
                <a:lnTo>
                  <a:pt x="71755" y="355600"/>
                </a:lnTo>
                <a:lnTo>
                  <a:pt x="68199" y="381000"/>
                </a:lnTo>
                <a:lnTo>
                  <a:pt x="107314" y="381000"/>
                </a:lnTo>
                <a:lnTo>
                  <a:pt x="109220" y="368300"/>
                </a:lnTo>
                <a:lnTo>
                  <a:pt x="110109" y="355600"/>
                </a:lnTo>
                <a:lnTo>
                  <a:pt x="112522" y="342900"/>
                </a:lnTo>
                <a:lnTo>
                  <a:pt x="113919" y="342900"/>
                </a:lnTo>
                <a:lnTo>
                  <a:pt x="115315" y="330200"/>
                </a:lnTo>
                <a:lnTo>
                  <a:pt x="117221" y="317500"/>
                </a:lnTo>
                <a:lnTo>
                  <a:pt x="119125" y="317500"/>
                </a:lnTo>
                <a:lnTo>
                  <a:pt x="123951" y="292100"/>
                </a:lnTo>
                <a:lnTo>
                  <a:pt x="126873" y="279400"/>
                </a:lnTo>
                <a:lnTo>
                  <a:pt x="131529" y="254000"/>
                </a:lnTo>
                <a:lnTo>
                  <a:pt x="128905" y="254000"/>
                </a:lnTo>
                <a:lnTo>
                  <a:pt x="133858" y="241300"/>
                </a:lnTo>
                <a:lnTo>
                  <a:pt x="141477" y="241300"/>
                </a:lnTo>
                <a:lnTo>
                  <a:pt x="154812" y="228600"/>
                </a:lnTo>
                <a:lnTo>
                  <a:pt x="183641" y="203200"/>
                </a:lnTo>
                <a:lnTo>
                  <a:pt x="227584" y="165100"/>
                </a:lnTo>
                <a:lnTo>
                  <a:pt x="241935" y="152400"/>
                </a:lnTo>
                <a:lnTo>
                  <a:pt x="248158" y="139700"/>
                </a:lnTo>
                <a:lnTo>
                  <a:pt x="254253" y="139700"/>
                </a:lnTo>
                <a:lnTo>
                  <a:pt x="263906" y="114300"/>
                </a:lnTo>
                <a:lnTo>
                  <a:pt x="272161" y="101600"/>
                </a:lnTo>
                <a:lnTo>
                  <a:pt x="280162" y="88900"/>
                </a:lnTo>
                <a:lnTo>
                  <a:pt x="288798" y="76200"/>
                </a:lnTo>
                <a:lnTo>
                  <a:pt x="292988" y="63500"/>
                </a:lnTo>
                <a:lnTo>
                  <a:pt x="307975" y="63500"/>
                </a:lnTo>
                <a:lnTo>
                  <a:pt x="314198" y="50800"/>
                </a:lnTo>
                <a:lnTo>
                  <a:pt x="432815" y="50800"/>
                </a:lnTo>
                <a:lnTo>
                  <a:pt x="488314" y="38100"/>
                </a:lnTo>
                <a:close/>
              </a:path>
              <a:path w="1794510" h="4559300">
                <a:moveTo>
                  <a:pt x="897509" y="38100"/>
                </a:moveTo>
                <a:lnTo>
                  <a:pt x="761873" y="38100"/>
                </a:lnTo>
                <a:lnTo>
                  <a:pt x="858647" y="63500"/>
                </a:lnTo>
                <a:lnTo>
                  <a:pt x="881888" y="76200"/>
                </a:lnTo>
                <a:lnTo>
                  <a:pt x="925957" y="101600"/>
                </a:lnTo>
                <a:lnTo>
                  <a:pt x="966215" y="127000"/>
                </a:lnTo>
                <a:lnTo>
                  <a:pt x="1002030" y="152400"/>
                </a:lnTo>
                <a:lnTo>
                  <a:pt x="1018159" y="177800"/>
                </a:lnTo>
                <a:lnTo>
                  <a:pt x="1025651" y="177800"/>
                </a:lnTo>
                <a:lnTo>
                  <a:pt x="1045845" y="215900"/>
                </a:lnTo>
                <a:lnTo>
                  <a:pt x="1062482" y="254000"/>
                </a:lnTo>
                <a:lnTo>
                  <a:pt x="1067435" y="266700"/>
                </a:lnTo>
                <a:lnTo>
                  <a:pt x="1070864" y="266700"/>
                </a:lnTo>
                <a:lnTo>
                  <a:pt x="1074039" y="279400"/>
                </a:lnTo>
                <a:lnTo>
                  <a:pt x="1132205" y="279400"/>
                </a:lnTo>
                <a:lnTo>
                  <a:pt x="1124203" y="266700"/>
                </a:lnTo>
                <a:lnTo>
                  <a:pt x="1115822" y="254000"/>
                </a:lnTo>
                <a:lnTo>
                  <a:pt x="1103502" y="254000"/>
                </a:lnTo>
                <a:lnTo>
                  <a:pt x="1096899" y="241300"/>
                </a:lnTo>
                <a:lnTo>
                  <a:pt x="1098550" y="241300"/>
                </a:lnTo>
                <a:lnTo>
                  <a:pt x="1092962" y="228600"/>
                </a:lnTo>
                <a:lnTo>
                  <a:pt x="1086612" y="215900"/>
                </a:lnTo>
                <a:lnTo>
                  <a:pt x="1079881" y="190500"/>
                </a:lnTo>
                <a:lnTo>
                  <a:pt x="1072641" y="177800"/>
                </a:lnTo>
                <a:lnTo>
                  <a:pt x="1064895" y="165100"/>
                </a:lnTo>
                <a:lnTo>
                  <a:pt x="1056894" y="165100"/>
                </a:lnTo>
                <a:lnTo>
                  <a:pt x="1048258" y="152400"/>
                </a:lnTo>
                <a:lnTo>
                  <a:pt x="1030224" y="127000"/>
                </a:lnTo>
                <a:lnTo>
                  <a:pt x="1010538" y="114300"/>
                </a:lnTo>
                <a:lnTo>
                  <a:pt x="989711" y="88900"/>
                </a:lnTo>
                <a:lnTo>
                  <a:pt x="967613" y="76200"/>
                </a:lnTo>
                <a:lnTo>
                  <a:pt x="944880" y="63500"/>
                </a:lnTo>
                <a:lnTo>
                  <a:pt x="897509" y="38100"/>
                </a:lnTo>
                <a:close/>
              </a:path>
              <a:path w="1794510" h="4559300">
                <a:moveTo>
                  <a:pt x="133858" y="241300"/>
                </a:moveTo>
                <a:lnTo>
                  <a:pt x="128905" y="254000"/>
                </a:lnTo>
                <a:lnTo>
                  <a:pt x="132126" y="250746"/>
                </a:lnTo>
                <a:lnTo>
                  <a:pt x="133858" y="241300"/>
                </a:lnTo>
                <a:close/>
              </a:path>
              <a:path w="1794510" h="4559300">
                <a:moveTo>
                  <a:pt x="132126" y="250746"/>
                </a:moveTo>
                <a:lnTo>
                  <a:pt x="128905" y="254000"/>
                </a:lnTo>
                <a:lnTo>
                  <a:pt x="131529" y="254000"/>
                </a:lnTo>
                <a:lnTo>
                  <a:pt x="132126" y="250746"/>
                </a:lnTo>
                <a:close/>
              </a:path>
              <a:path w="1794510" h="4559300">
                <a:moveTo>
                  <a:pt x="1096899" y="241300"/>
                </a:moveTo>
                <a:lnTo>
                  <a:pt x="1103502" y="254000"/>
                </a:lnTo>
                <a:lnTo>
                  <a:pt x="1100201" y="245533"/>
                </a:lnTo>
                <a:lnTo>
                  <a:pt x="1096899" y="241300"/>
                </a:lnTo>
                <a:close/>
              </a:path>
              <a:path w="1794510" h="4559300">
                <a:moveTo>
                  <a:pt x="1100201" y="245533"/>
                </a:moveTo>
                <a:lnTo>
                  <a:pt x="1103502" y="254000"/>
                </a:lnTo>
                <a:lnTo>
                  <a:pt x="1106805" y="254000"/>
                </a:lnTo>
                <a:lnTo>
                  <a:pt x="1100201" y="245533"/>
                </a:lnTo>
                <a:close/>
              </a:path>
              <a:path w="1794510" h="4559300">
                <a:moveTo>
                  <a:pt x="141477" y="241300"/>
                </a:moveTo>
                <a:lnTo>
                  <a:pt x="133858" y="241300"/>
                </a:lnTo>
                <a:lnTo>
                  <a:pt x="132126" y="250746"/>
                </a:lnTo>
                <a:lnTo>
                  <a:pt x="141477" y="241300"/>
                </a:lnTo>
                <a:close/>
              </a:path>
              <a:path w="1794510" h="4559300">
                <a:moveTo>
                  <a:pt x="1098550" y="241300"/>
                </a:moveTo>
                <a:lnTo>
                  <a:pt x="1096899" y="241300"/>
                </a:lnTo>
                <a:lnTo>
                  <a:pt x="1100201" y="245533"/>
                </a:lnTo>
                <a:lnTo>
                  <a:pt x="1098550" y="241300"/>
                </a:lnTo>
                <a:close/>
              </a:path>
              <a:path w="1794510" h="4559300">
                <a:moveTo>
                  <a:pt x="774573" y="0"/>
                </a:moveTo>
                <a:lnTo>
                  <a:pt x="487172" y="0"/>
                </a:lnTo>
                <a:lnTo>
                  <a:pt x="430911" y="12700"/>
                </a:lnTo>
                <a:lnTo>
                  <a:pt x="318388" y="12700"/>
                </a:lnTo>
                <a:lnTo>
                  <a:pt x="306959" y="25400"/>
                </a:lnTo>
                <a:lnTo>
                  <a:pt x="282828" y="25400"/>
                </a:lnTo>
                <a:lnTo>
                  <a:pt x="275716" y="38100"/>
                </a:lnTo>
                <a:lnTo>
                  <a:pt x="873125" y="38100"/>
                </a:lnTo>
                <a:lnTo>
                  <a:pt x="823976" y="12700"/>
                </a:lnTo>
                <a:lnTo>
                  <a:pt x="77457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020432" y="728598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06232" y="1948052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63055" y="3259582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97982" y="3943821"/>
            <a:ext cx="2656205" cy="14598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722120">
              <a:lnSpc>
                <a:spcPct val="100000"/>
              </a:lnSpc>
              <a:spcBef>
                <a:spcPts val="434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150" baseline="-145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90"/>
              </a:spcBef>
            </a:pPr>
            <a:r>
              <a:rPr sz="3200" b="1" u="heavy" spc="10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i=3</a:t>
            </a:r>
            <a:r>
              <a:rPr sz="3200" b="1" spc="-5" dirty="0">
                <a:solidFill>
                  <a:srgbClr val="FFFF99"/>
                </a:solidFill>
                <a:latin typeface="宋体"/>
                <a:cs typeface="宋体"/>
              </a:rPr>
              <a:t>；</a:t>
            </a:r>
            <a:r>
              <a:rPr sz="3200" b="1" spc="-1000" dirty="0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v=v-1;</a:t>
            </a:r>
            <a:endParaRPr sz="2800">
              <a:latin typeface="Times New Roman"/>
              <a:cs typeface="Times New Roman"/>
            </a:endParaRPr>
          </a:p>
          <a:p>
            <a:pPr marL="38735">
              <a:lnSpc>
                <a:spcPct val="100000"/>
              </a:lnSpc>
              <a:spcBef>
                <a:spcPts val="5"/>
              </a:spcBef>
              <a:tabLst>
                <a:tab pos="2202815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v&lt;=20</a:t>
            </a:r>
            <a:r>
              <a:rPr sz="2800" b="1" spc="5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goto	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68132" y="5968390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542153" y="3809872"/>
            <a:ext cx="586740" cy="756920"/>
          </a:xfrm>
          <a:custGeom>
            <a:avLst/>
            <a:gdLst/>
            <a:ahLst/>
            <a:cxnLst/>
            <a:rect l="l" t="t" r="r" b="b"/>
            <a:pathLst>
              <a:path w="586739" h="756920">
                <a:moveTo>
                  <a:pt x="501983" y="677653"/>
                </a:moveTo>
                <a:lnTo>
                  <a:pt x="471677" y="700913"/>
                </a:lnTo>
                <a:lnTo>
                  <a:pt x="586613" y="756793"/>
                </a:lnTo>
                <a:lnTo>
                  <a:pt x="574238" y="692784"/>
                </a:lnTo>
                <a:lnTo>
                  <a:pt x="513588" y="692784"/>
                </a:lnTo>
                <a:lnTo>
                  <a:pt x="501983" y="677653"/>
                </a:lnTo>
                <a:close/>
              </a:path>
              <a:path w="586739" h="756920">
                <a:moveTo>
                  <a:pt x="532168" y="654486"/>
                </a:moveTo>
                <a:lnTo>
                  <a:pt x="501983" y="677653"/>
                </a:lnTo>
                <a:lnTo>
                  <a:pt x="513588" y="692784"/>
                </a:lnTo>
                <a:lnTo>
                  <a:pt x="543813" y="669670"/>
                </a:lnTo>
                <a:lnTo>
                  <a:pt x="532168" y="654486"/>
                </a:lnTo>
                <a:close/>
              </a:path>
              <a:path w="586739" h="756920">
                <a:moveTo>
                  <a:pt x="562356" y="631316"/>
                </a:moveTo>
                <a:lnTo>
                  <a:pt x="532168" y="654486"/>
                </a:lnTo>
                <a:lnTo>
                  <a:pt x="543813" y="669670"/>
                </a:lnTo>
                <a:lnTo>
                  <a:pt x="513588" y="692784"/>
                </a:lnTo>
                <a:lnTo>
                  <a:pt x="574238" y="692784"/>
                </a:lnTo>
                <a:lnTo>
                  <a:pt x="562356" y="631316"/>
                </a:lnTo>
                <a:close/>
              </a:path>
              <a:path w="586739" h="756920">
                <a:moveTo>
                  <a:pt x="30225" y="0"/>
                </a:moveTo>
                <a:lnTo>
                  <a:pt x="0" y="23113"/>
                </a:lnTo>
                <a:lnTo>
                  <a:pt x="501983" y="677653"/>
                </a:lnTo>
                <a:lnTo>
                  <a:pt x="532168" y="654486"/>
                </a:lnTo>
                <a:lnTo>
                  <a:pt x="3022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726429" y="4604765"/>
            <a:ext cx="1287780" cy="378460"/>
          </a:xfrm>
          <a:custGeom>
            <a:avLst/>
            <a:gdLst/>
            <a:ahLst/>
            <a:cxnLst/>
            <a:rect l="l" t="t" r="r" b="b"/>
            <a:pathLst>
              <a:path w="1287779" h="378460">
                <a:moveTo>
                  <a:pt x="0" y="188975"/>
                </a:moveTo>
                <a:lnTo>
                  <a:pt x="14851" y="148428"/>
                </a:lnTo>
                <a:lnTo>
                  <a:pt x="57311" y="110915"/>
                </a:lnTo>
                <a:lnTo>
                  <a:pt x="124236" y="77358"/>
                </a:lnTo>
                <a:lnTo>
                  <a:pt x="165891" y="62350"/>
                </a:lnTo>
                <a:lnTo>
                  <a:pt x="212483" y="48677"/>
                </a:lnTo>
                <a:lnTo>
                  <a:pt x="263621" y="36454"/>
                </a:lnTo>
                <a:lnTo>
                  <a:pt x="318911" y="25795"/>
                </a:lnTo>
                <a:lnTo>
                  <a:pt x="377959" y="16815"/>
                </a:lnTo>
                <a:lnTo>
                  <a:pt x="440375" y="9631"/>
                </a:lnTo>
                <a:lnTo>
                  <a:pt x="505763" y="4357"/>
                </a:lnTo>
                <a:lnTo>
                  <a:pt x="573732" y="1108"/>
                </a:lnTo>
                <a:lnTo>
                  <a:pt x="643890" y="0"/>
                </a:lnTo>
                <a:lnTo>
                  <a:pt x="714047" y="1108"/>
                </a:lnTo>
                <a:lnTo>
                  <a:pt x="782016" y="4357"/>
                </a:lnTo>
                <a:lnTo>
                  <a:pt x="847404" y="9631"/>
                </a:lnTo>
                <a:lnTo>
                  <a:pt x="909820" y="16815"/>
                </a:lnTo>
                <a:lnTo>
                  <a:pt x="968868" y="25795"/>
                </a:lnTo>
                <a:lnTo>
                  <a:pt x="1024158" y="36454"/>
                </a:lnTo>
                <a:lnTo>
                  <a:pt x="1075296" y="48677"/>
                </a:lnTo>
                <a:lnTo>
                  <a:pt x="1121888" y="62350"/>
                </a:lnTo>
                <a:lnTo>
                  <a:pt x="1163543" y="77358"/>
                </a:lnTo>
                <a:lnTo>
                  <a:pt x="1199867" y="93584"/>
                </a:lnTo>
                <a:lnTo>
                  <a:pt x="1254953" y="129235"/>
                </a:lnTo>
                <a:lnTo>
                  <a:pt x="1284001" y="168380"/>
                </a:lnTo>
                <a:lnTo>
                  <a:pt x="1287779" y="188975"/>
                </a:lnTo>
                <a:lnTo>
                  <a:pt x="1284001" y="209571"/>
                </a:lnTo>
                <a:lnTo>
                  <a:pt x="1254953" y="248716"/>
                </a:lnTo>
                <a:lnTo>
                  <a:pt x="1199867" y="284367"/>
                </a:lnTo>
                <a:lnTo>
                  <a:pt x="1163543" y="300593"/>
                </a:lnTo>
                <a:lnTo>
                  <a:pt x="1121888" y="315601"/>
                </a:lnTo>
                <a:lnTo>
                  <a:pt x="1075296" y="329274"/>
                </a:lnTo>
                <a:lnTo>
                  <a:pt x="1024158" y="341497"/>
                </a:lnTo>
                <a:lnTo>
                  <a:pt x="968868" y="352156"/>
                </a:lnTo>
                <a:lnTo>
                  <a:pt x="909820" y="361136"/>
                </a:lnTo>
                <a:lnTo>
                  <a:pt x="847404" y="368320"/>
                </a:lnTo>
                <a:lnTo>
                  <a:pt x="782016" y="373594"/>
                </a:lnTo>
                <a:lnTo>
                  <a:pt x="714047" y="376843"/>
                </a:lnTo>
                <a:lnTo>
                  <a:pt x="643890" y="377951"/>
                </a:lnTo>
                <a:lnTo>
                  <a:pt x="573732" y="376843"/>
                </a:lnTo>
                <a:lnTo>
                  <a:pt x="505763" y="373594"/>
                </a:lnTo>
                <a:lnTo>
                  <a:pt x="440375" y="368320"/>
                </a:lnTo>
                <a:lnTo>
                  <a:pt x="377959" y="361136"/>
                </a:lnTo>
                <a:lnTo>
                  <a:pt x="318911" y="352156"/>
                </a:lnTo>
                <a:lnTo>
                  <a:pt x="263621" y="341497"/>
                </a:lnTo>
                <a:lnTo>
                  <a:pt x="212483" y="329274"/>
                </a:lnTo>
                <a:lnTo>
                  <a:pt x="165891" y="315601"/>
                </a:lnTo>
                <a:lnTo>
                  <a:pt x="124236" y="300593"/>
                </a:lnTo>
                <a:lnTo>
                  <a:pt x="87912" y="284367"/>
                </a:lnTo>
                <a:lnTo>
                  <a:pt x="32826" y="248716"/>
                </a:lnTo>
                <a:lnTo>
                  <a:pt x="3778" y="209571"/>
                </a:lnTo>
                <a:lnTo>
                  <a:pt x="0" y="188975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74715" y="2067305"/>
            <a:ext cx="871855" cy="2543810"/>
          </a:xfrm>
          <a:custGeom>
            <a:avLst/>
            <a:gdLst/>
            <a:ahLst/>
            <a:cxnLst/>
            <a:rect l="l" t="t" r="r" b="b"/>
            <a:pathLst>
              <a:path w="871854" h="2543810">
                <a:moveTo>
                  <a:pt x="824103" y="2386711"/>
                </a:moveTo>
                <a:lnTo>
                  <a:pt x="787908" y="2398649"/>
                </a:lnTo>
                <a:lnTo>
                  <a:pt x="835660" y="2543429"/>
                </a:lnTo>
                <a:lnTo>
                  <a:pt x="871728" y="2531491"/>
                </a:lnTo>
                <a:lnTo>
                  <a:pt x="824103" y="2386711"/>
                </a:lnTo>
                <a:close/>
              </a:path>
              <a:path w="871854" h="2543810">
                <a:moveTo>
                  <a:pt x="740791" y="2133473"/>
                </a:moveTo>
                <a:lnTo>
                  <a:pt x="704596" y="2145284"/>
                </a:lnTo>
                <a:lnTo>
                  <a:pt x="752221" y="2290064"/>
                </a:lnTo>
                <a:lnTo>
                  <a:pt x="788416" y="2278126"/>
                </a:lnTo>
                <a:lnTo>
                  <a:pt x="740791" y="2133473"/>
                </a:lnTo>
                <a:close/>
              </a:path>
              <a:path w="871854" h="2543810">
                <a:moveTo>
                  <a:pt x="657351" y="1880108"/>
                </a:moveTo>
                <a:lnTo>
                  <a:pt x="621157" y="1892046"/>
                </a:lnTo>
                <a:lnTo>
                  <a:pt x="668782" y="2036699"/>
                </a:lnTo>
                <a:lnTo>
                  <a:pt x="704976" y="2024888"/>
                </a:lnTo>
                <a:lnTo>
                  <a:pt x="657351" y="1880108"/>
                </a:lnTo>
                <a:close/>
              </a:path>
              <a:path w="871854" h="2543810">
                <a:moveTo>
                  <a:pt x="574039" y="1626743"/>
                </a:moveTo>
                <a:lnTo>
                  <a:pt x="537845" y="1638681"/>
                </a:lnTo>
                <a:lnTo>
                  <a:pt x="585470" y="1783461"/>
                </a:lnTo>
                <a:lnTo>
                  <a:pt x="621664" y="1771523"/>
                </a:lnTo>
                <a:lnTo>
                  <a:pt x="574039" y="1626743"/>
                </a:lnTo>
                <a:close/>
              </a:path>
              <a:path w="871854" h="2543810">
                <a:moveTo>
                  <a:pt x="490600" y="1373378"/>
                </a:moveTo>
                <a:lnTo>
                  <a:pt x="454406" y="1385316"/>
                </a:lnTo>
                <a:lnTo>
                  <a:pt x="502031" y="1530096"/>
                </a:lnTo>
                <a:lnTo>
                  <a:pt x="538226" y="1518158"/>
                </a:lnTo>
                <a:lnTo>
                  <a:pt x="490600" y="1373378"/>
                </a:lnTo>
                <a:close/>
              </a:path>
              <a:path w="871854" h="2543810">
                <a:moveTo>
                  <a:pt x="407288" y="1120140"/>
                </a:moveTo>
                <a:lnTo>
                  <a:pt x="371094" y="1131951"/>
                </a:lnTo>
                <a:lnTo>
                  <a:pt x="418719" y="1276731"/>
                </a:lnTo>
                <a:lnTo>
                  <a:pt x="454913" y="1264793"/>
                </a:lnTo>
                <a:lnTo>
                  <a:pt x="407288" y="1120140"/>
                </a:lnTo>
                <a:close/>
              </a:path>
              <a:path w="871854" h="2543810">
                <a:moveTo>
                  <a:pt x="323850" y="866775"/>
                </a:moveTo>
                <a:lnTo>
                  <a:pt x="287655" y="878713"/>
                </a:lnTo>
                <a:lnTo>
                  <a:pt x="335280" y="1023366"/>
                </a:lnTo>
                <a:lnTo>
                  <a:pt x="371475" y="1011555"/>
                </a:lnTo>
                <a:lnTo>
                  <a:pt x="323850" y="866775"/>
                </a:lnTo>
                <a:close/>
              </a:path>
              <a:path w="871854" h="2543810">
                <a:moveTo>
                  <a:pt x="240537" y="613410"/>
                </a:moveTo>
                <a:lnTo>
                  <a:pt x="204343" y="625348"/>
                </a:lnTo>
                <a:lnTo>
                  <a:pt x="251968" y="770128"/>
                </a:lnTo>
                <a:lnTo>
                  <a:pt x="288163" y="758190"/>
                </a:lnTo>
                <a:lnTo>
                  <a:pt x="240537" y="613410"/>
                </a:lnTo>
                <a:close/>
              </a:path>
              <a:path w="871854" h="2543810">
                <a:moveTo>
                  <a:pt x="157099" y="360045"/>
                </a:moveTo>
                <a:lnTo>
                  <a:pt x="120904" y="371983"/>
                </a:lnTo>
                <a:lnTo>
                  <a:pt x="168529" y="516763"/>
                </a:lnTo>
                <a:lnTo>
                  <a:pt x="204724" y="504825"/>
                </a:lnTo>
                <a:lnTo>
                  <a:pt x="157099" y="360045"/>
                </a:lnTo>
                <a:close/>
              </a:path>
              <a:path w="871854" h="2543810">
                <a:moveTo>
                  <a:pt x="73787" y="106807"/>
                </a:moveTo>
                <a:lnTo>
                  <a:pt x="37592" y="118618"/>
                </a:lnTo>
                <a:lnTo>
                  <a:pt x="85217" y="263398"/>
                </a:lnTo>
                <a:lnTo>
                  <a:pt x="121412" y="251460"/>
                </a:lnTo>
                <a:lnTo>
                  <a:pt x="73787" y="106807"/>
                </a:lnTo>
                <a:close/>
              </a:path>
              <a:path w="871854" h="2543810">
                <a:moveTo>
                  <a:pt x="18542" y="0"/>
                </a:moveTo>
                <a:lnTo>
                  <a:pt x="0" y="126492"/>
                </a:lnTo>
                <a:lnTo>
                  <a:pt x="108585" y="90678"/>
                </a:lnTo>
                <a:lnTo>
                  <a:pt x="18542" y="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60897" y="756666"/>
            <a:ext cx="897890" cy="416559"/>
          </a:xfrm>
          <a:custGeom>
            <a:avLst/>
            <a:gdLst/>
            <a:ahLst/>
            <a:cxnLst/>
            <a:rect l="l" t="t" r="r" b="b"/>
            <a:pathLst>
              <a:path w="897890" h="416559">
                <a:moveTo>
                  <a:pt x="0" y="208025"/>
                </a:moveTo>
                <a:lnTo>
                  <a:pt x="16030" y="152708"/>
                </a:lnTo>
                <a:lnTo>
                  <a:pt x="61270" y="103011"/>
                </a:lnTo>
                <a:lnTo>
                  <a:pt x="93508" y="80888"/>
                </a:lnTo>
                <a:lnTo>
                  <a:pt x="131445" y="60912"/>
                </a:lnTo>
                <a:lnTo>
                  <a:pt x="174546" y="43331"/>
                </a:lnTo>
                <a:lnTo>
                  <a:pt x="222278" y="28391"/>
                </a:lnTo>
                <a:lnTo>
                  <a:pt x="274105" y="16341"/>
                </a:lnTo>
                <a:lnTo>
                  <a:pt x="329494" y="7427"/>
                </a:lnTo>
                <a:lnTo>
                  <a:pt x="387910" y="1898"/>
                </a:lnTo>
                <a:lnTo>
                  <a:pt x="448817" y="0"/>
                </a:lnTo>
                <a:lnTo>
                  <a:pt x="509725" y="1898"/>
                </a:lnTo>
                <a:lnTo>
                  <a:pt x="568141" y="7427"/>
                </a:lnTo>
                <a:lnTo>
                  <a:pt x="623530" y="16341"/>
                </a:lnTo>
                <a:lnTo>
                  <a:pt x="675357" y="28391"/>
                </a:lnTo>
                <a:lnTo>
                  <a:pt x="723089" y="43331"/>
                </a:lnTo>
                <a:lnTo>
                  <a:pt x="766190" y="60912"/>
                </a:lnTo>
                <a:lnTo>
                  <a:pt x="804127" y="80888"/>
                </a:lnTo>
                <a:lnTo>
                  <a:pt x="836365" y="103011"/>
                </a:lnTo>
                <a:lnTo>
                  <a:pt x="881605" y="152708"/>
                </a:lnTo>
                <a:lnTo>
                  <a:pt x="897635" y="208025"/>
                </a:lnTo>
                <a:lnTo>
                  <a:pt x="893539" y="236263"/>
                </a:lnTo>
                <a:lnTo>
                  <a:pt x="862369" y="289018"/>
                </a:lnTo>
                <a:lnTo>
                  <a:pt x="804127" y="335163"/>
                </a:lnTo>
                <a:lnTo>
                  <a:pt x="766191" y="355139"/>
                </a:lnTo>
                <a:lnTo>
                  <a:pt x="723089" y="372720"/>
                </a:lnTo>
                <a:lnTo>
                  <a:pt x="675357" y="387660"/>
                </a:lnTo>
                <a:lnTo>
                  <a:pt x="623530" y="399710"/>
                </a:lnTo>
                <a:lnTo>
                  <a:pt x="568141" y="408624"/>
                </a:lnTo>
                <a:lnTo>
                  <a:pt x="509725" y="414153"/>
                </a:lnTo>
                <a:lnTo>
                  <a:pt x="448817" y="416051"/>
                </a:lnTo>
                <a:lnTo>
                  <a:pt x="387910" y="414153"/>
                </a:lnTo>
                <a:lnTo>
                  <a:pt x="329494" y="408624"/>
                </a:lnTo>
                <a:lnTo>
                  <a:pt x="274105" y="399710"/>
                </a:lnTo>
                <a:lnTo>
                  <a:pt x="222278" y="387660"/>
                </a:lnTo>
                <a:lnTo>
                  <a:pt x="174546" y="372720"/>
                </a:lnTo>
                <a:lnTo>
                  <a:pt x="131445" y="355139"/>
                </a:lnTo>
                <a:lnTo>
                  <a:pt x="93508" y="335163"/>
                </a:lnTo>
                <a:lnTo>
                  <a:pt x="61270" y="313040"/>
                </a:lnTo>
                <a:lnTo>
                  <a:pt x="16030" y="263343"/>
                </a:lnTo>
                <a:lnTo>
                  <a:pt x="0" y="208025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660897" y="1160652"/>
            <a:ext cx="592455" cy="716280"/>
          </a:xfrm>
          <a:custGeom>
            <a:avLst/>
            <a:gdLst/>
            <a:ahLst/>
            <a:cxnLst/>
            <a:rect l="l" t="t" r="r" b="b"/>
            <a:pathLst>
              <a:path w="592454" h="716280">
                <a:moveTo>
                  <a:pt x="562863" y="0"/>
                </a:moveTo>
                <a:lnTo>
                  <a:pt x="466216" y="117856"/>
                </a:lnTo>
                <a:lnTo>
                  <a:pt x="495680" y="141986"/>
                </a:lnTo>
                <a:lnTo>
                  <a:pt x="592327" y="24130"/>
                </a:lnTo>
                <a:lnTo>
                  <a:pt x="562863" y="0"/>
                </a:lnTo>
                <a:close/>
              </a:path>
              <a:path w="592454" h="716280">
                <a:moveTo>
                  <a:pt x="393700" y="206121"/>
                </a:moveTo>
                <a:lnTo>
                  <a:pt x="297052" y="323976"/>
                </a:lnTo>
                <a:lnTo>
                  <a:pt x="326516" y="348107"/>
                </a:lnTo>
                <a:lnTo>
                  <a:pt x="423163" y="230377"/>
                </a:lnTo>
                <a:lnTo>
                  <a:pt x="393700" y="206121"/>
                </a:lnTo>
                <a:close/>
              </a:path>
              <a:path w="592454" h="716280">
                <a:moveTo>
                  <a:pt x="76580" y="532638"/>
                </a:moveTo>
                <a:lnTo>
                  <a:pt x="0" y="716152"/>
                </a:lnTo>
                <a:lnTo>
                  <a:pt x="164973" y="605155"/>
                </a:lnTo>
                <a:lnTo>
                  <a:pt x="76580" y="532638"/>
                </a:lnTo>
                <a:close/>
              </a:path>
              <a:path w="592454" h="716280">
                <a:moveTo>
                  <a:pt x="224536" y="412369"/>
                </a:moveTo>
                <a:lnTo>
                  <a:pt x="127888" y="530225"/>
                </a:lnTo>
                <a:lnTo>
                  <a:pt x="157352" y="554355"/>
                </a:lnTo>
                <a:lnTo>
                  <a:pt x="254000" y="436499"/>
                </a:lnTo>
                <a:lnTo>
                  <a:pt x="224536" y="412369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949576" y="11378"/>
            <a:ext cx="18942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代码优化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871472" y="6365747"/>
            <a:ext cx="364490" cy="413384"/>
          </a:xfrm>
          <a:custGeom>
            <a:avLst/>
            <a:gdLst/>
            <a:ahLst/>
            <a:cxnLst/>
            <a:rect l="l" t="t" r="r" b="b"/>
            <a:pathLst>
              <a:path w="364489" h="413384">
                <a:moveTo>
                  <a:pt x="364235" y="0"/>
                </a:moveTo>
                <a:lnTo>
                  <a:pt x="0" y="0"/>
                </a:lnTo>
                <a:lnTo>
                  <a:pt x="0" y="413002"/>
                </a:lnTo>
                <a:lnTo>
                  <a:pt x="364235" y="413002"/>
                </a:lnTo>
                <a:lnTo>
                  <a:pt x="364235" y="343090"/>
                </a:lnTo>
                <a:lnTo>
                  <a:pt x="45465" y="343090"/>
                </a:lnTo>
                <a:lnTo>
                  <a:pt x="45465" y="69913"/>
                </a:lnTo>
                <a:lnTo>
                  <a:pt x="364235" y="69913"/>
                </a:lnTo>
                <a:lnTo>
                  <a:pt x="364235" y="0"/>
                </a:lnTo>
                <a:close/>
              </a:path>
              <a:path w="364489" h="413384">
                <a:moveTo>
                  <a:pt x="318642" y="69913"/>
                </a:moveTo>
                <a:lnTo>
                  <a:pt x="79628" y="69913"/>
                </a:lnTo>
                <a:lnTo>
                  <a:pt x="79628" y="343090"/>
                </a:lnTo>
                <a:lnTo>
                  <a:pt x="318642" y="343090"/>
                </a:lnTo>
                <a:lnTo>
                  <a:pt x="113791" y="206501"/>
                </a:lnTo>
                <a:lnTo>
                  <a:pt x="318642" y="69913"/>
                </a:lnTo>
                <a:close/>
              </a:path>
              <a:path w="364489" h="413384">
                <a:moveTo>
                  <a:pt x="364235" y="69913"/>
                </a:moveTo>
                <a:lnTo>
                  <a:pt x="318642" y="69913"/>
                </a:lnTo>
                <a:lnTo>
                  <a:pt x="318642" y="343090"/>
                </a:lnTo>
                <a:lnTo>
                  <a:pt x="364235" y="343090"/>
                </a:lnTo>
                <a:lnTo>
                  <a:pt x="364235" y="69913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210047" y="11378"/>
            <a:ext cx="23653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916938" y="6435661"/>
            <a:ext cx="273685" cy="273685"/>
          </a:xfrm>
          <a:custGeom>
            <a:avLst/>
            <a:gdLst/>
            <a:ahLst/>
            <a:cxnLst/>
            <a:rect l="l" t="t" r="r" b="b"/>
            <a:pathLst>
              <a:path w="273685" h="273684">
                <a:moveTo>
                  <a:pt x="273176" y="0"/>
                </a:moveTo>
                <a:lnTo>
                  <a:pt x="68325" y="136588"/>
                </a:lnTo>
                <a:lnTo>
                  <a:pt x="273176" y="273177"/>
                </a:lnTo>
                <a:lnTo>
                  <a:pt x="273176" y="0"/>
                </a:lnTo>
                <a:close/>
              </a:path>
              <a:path w="273685" h="273684">
                <a:moveTo>
                  <a:pt x="34162" y="0"/>
                </a:moveTo>
                <a:lnTo>
                  <a:pt x="0" y="0"/>
                </a:lnTo>
                <a:lnTo>
                  <a:pt x="0" y="273177"/>
                </a:lnTo>
                <a:lnTo>
                  <a:pt x="34162" y="273177"/>
                </a:lnTo>
                <a:lnTo>
                  <a:pt x="34162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26491" y="4983378"/>
            <a:ext cx="3025140" cy="1720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76200" algn="ctr">
              <a:lnSpc>
                <a:spcPct val="130000"/>
              </a:lnSpc>
              <a:spcBef>
                <a:spcPts val="95"/>
              </a:spcBef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条件</a:t>
            </a: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(i)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和</a:t>
            </a:r>
            <a:r>
              <a:rPr sz="3200" b="1" dirty="0">
                <a:solidFill>
                  <a:srgbClr val="66FFFF"/>
                </a:solidFill>
                <a:latin typeface="Times New Roman"/>
                <a:cs typeface="Times New Roman"/>
              </a:rPr>
              <a:t>(ii)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都不 能阻挡将</a:t>
            </a: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i=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外提</a:t>
            </a:r>
            <a:endParaRPr sz="3200">
              <a:latin typeface="宋体"/>
              <a:cs typeface="宋体"/>
            </a:endParaRPr>
          </a:p>
          <a:p>
            <a:pPr marL="29845" algn="ctr">
              <a:lnSpc>
                <a:spcPct val="100000"/>
              </a:lnSpc>
              <a:spcBef>
                <a:spcPts val="1685"/>
              </a:spcBef>
            </a:pPr>
            <a:r>
              <a:rPr sz="1400" b="1" spc="5" dirty="0">
                <a:latin typeface="宋体"/>
                <a:cs typeface="宋体"/>
                <a:hlinkClick r:id="rId3" action="ppaction://hlinksldjump"/>
              </a:rPr>
              <a:t>返回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1140" y="404469"/>
            <a:ext cx="4109720" cy="3788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470" marR="5080" indent="-192405">
              <a:lnSpc>
                <a:spcPct val="150700"/>
              </a:lnSpc>
              <a:spcBef>
                <a:spcPts val="100"/>
              </a:spcBef>
            </a:pP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说明外提的限制条件：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关于条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件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endParaRPr sz="3200">
              <a:latin typeface="宋体"/>
              <a:cs typeface="宋体"/>
            </a:endParaRPr>
          </a:p>
          <a:p>
            <a:pPr marL="204470">
              <a:lnSpc>
                <a:spcPct val="100000"/>
              </a:lnSpc>
              <a:spcBef>
                <a:spcPts val="575"/>
              </a:spcBef>
            </a:pPr>
            <a:r>
              <a:rPr sz="3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(iii)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的举例：</a:t>
            </a:r>
            <a:endParaRPr sz="3200">
              <a:latin typeface="宋体"/>
              <a:cs typeface="宋体"/>
            </a:endParaRPr>
          </a:p>
          <a:p>
            <a:pPr marL="204470" marR="880110" algn="just">
              <a:lnSpc>
                <a:spcPct val="114999"/>
              </a:lnSpc>
              <a:spcBef>
                <a:spcPts val="385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中所有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的引用 点只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的定 值才能到达；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422398" y="4713732"/>
            <a:ext cx="3314700" cy="114300"/>
          </a:xfrm>
          <a:custGeom>
            <a:avLst/>
            <a:gdLst/>
            <a:ahLst/>
            <a:cxnLst/>
            <a:rect l="l" t="t" r="r" b="b"/>
            <a:pathLst>
              <a:path w="3314700" h="114300">
                <a:moveTo>
                  <a:pt x="3200400" y="0"/>
                </a:moveTo>
                <a:lnTo>
                  <a:pt x="3200400" y="114300"/>
                </a:lnTo>
                <a:lnTo>
                  <a:pt x="3276600" y="76200"/>
                </a:lnTo>
                <a:lnTo>
                  <a:pt x="3219450" y="76200"/>
                </a:lnTo>
                <a:lnTo>
                  <a:pt x="3219450" y="38100"/>
                </a:lnTo>
                <a:lnTo>
                  <a:pt x="3276600" y="38100"/>
                </a:lnTo>
                <a:lnTo>
                  <a:pt x="3200400" y="0"/>
                </a:lnTo>
                <a:close/>
              </a:path>
              <a:path w="3314700" h="114300">
                <a:moveTo>
                  <a:pt x="3200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200400" y="76200"/>
                </a:lnTo>
                <a:lnTo>
                  <a:pt x="3200400" y="38100"/>
                </a:lnTo>
                <a:close/>
              </a:path>
              <a:path w="3314700" h="114300">
                <a:moveTo>
                  <a:pt x="3276600" y="38100"/>
                </a:moveTo>
                <a:lnTo>
                  <a:pt x="3219450" y="38100"/>
                </a:lnTo>
                <a:lnTo>
                  <a:pt x="3219450" y="76200"/>
                </a:lnTo>
                <a:lnTo>
                  <a:pt x="3276600" y="76200"/>
                </a:lnTo>
                <a:lnTo>
                  <a:pt x="3314700" y="57150"/>
                </a:lnTo>
                <a:lnTo>
                  <a:pt x="3276600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79881" y="4583429"/>
            <a:ext cx="1842770" cy="474345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3285"/>
              </a:lnSpc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不变运算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107</a:t>
            </a:fld>
            <a:r>
              <a:rPr sz="1400" b="1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6971" y="6422135"/>
            <a:ext cx="364490" cy="411480"/>
          </a:xfrm>
          <a:custGeom>
            <a:avLst/>
            <a:gdLst/>
            <a:ahLst/>
            <a:cxnLst/>
            <a:rect l="l" t="t" r="r" b="b"/>
            <a:pathLst>
              <a:path w="364490" h="411479">
                <a:moveTo>
                  <a:pt x="364236" y="0"/>
                </a:moveTo>
                <a:lnTo>
                  <a:pt x="0" y="0"/>
                </a:lnTo>
                <a:lnTo>
                  <a:pt x="0" y="411479"/>
                </a:lnTo>
                <a:lnTo>
                  <a:pt x="364236" y="411479"/>
                </a:lnTo>
                <a:lnTo>
                  <a:pt x="364236" y="342327"/>
                </a:lnTo>
                <a:lnTo>
                  <a:pt x="45529" y="342327"/>
                </a:lnTo>
                <a:lnTo>
                  <a:pt x="45529" y="69151"/>
                </a:lnTo>
                <a:lnTo>
                  <a:pt x="364236" y="69151"/>
                </a:lnTo>
                <a:lnTo>
                  <a:pt x="364236" y="0"/>
                </a:lnTo>
                <a:close/>
              </a:path>
              <a:path w="364490" h="411479">
                <a:moveTo>
                  <a:pt x="318706" y="69151"/>
                </a:moveTo>
                <a:lnTo>
                  <a:pt x="79679" y="69151"/>
                </a:lnTo>
                <a:lnTo>
                  <a:pt x="79679" y="342327"/>
                </a:lnTo>
                <a:lnTo>
                  <a:pt x="318706" y="342327"/>
                </a:lnTo>
                <a:lnTo>
                  <a:pt x="113830" y="205739"/>
                </a:lnTo>
                <a:lnTo>
                  <a:pt x="318706" y="69151"/>
                </a:lnTo>
                <a:close/>
              </a:path>
              <a:path w="364490" h="411479">
                <a:moveTo>
                  <a:pt x="364236" y="69151"/>
                </a:moveTo>
                <a:lnTo>
                  <a:pt x="318706" y="69151"/>
                </a:lnTo>
                <a:lnTo>
                  <a:pt x="318706" y="342327"/>
                </a:lnTo>
                <a:lnTo>
                  <a:pt x="364236" y="342327"/>
                </a:lnTo>
                <a:lnTo>
                  <a:pt x="364236" y="69151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2501" y="6491287"/>
            <a:ext cx="273685" cy="273685"/>
          </a:xfrm>
          <a:custGeom>
            <a:avLst/>
            <a:gdLst/>
            <a:ahLst/>
            <a:cxnLst/>
            <a:rect l="l" t="t" r="r" b="b"/>
            <a:pathLst>
              <a:path w="273684" h="273684">
                <a:moveTo>
                  <a:pt x="273177" y="0"/>
                </a:moveTo>
                <a:lnTo>
                  <a:pt x="68300" y="136588"/>
                </a:lnTo>
                <a:lnTo>
                  <a:pt x="273177" y="273175"/>
                </a:lnTo>
                <a:lnTo>
                  <a:pt x="273177" y="0"/>
                </a:lnTo>
                <a:close/>
              </a:path>
              <a:path w="273684" h="273684">
                <a:moveTo>
                  <a:pt x="34150" y="0"/>
                </a:moveTo>
                <a:lnTo>
                  <a:pt x="0" y="0"/>
                </a:lnTo>
                <a:lnTo>
                  <a:pt x="0" y="273175"/>
                </a:lnTo>
                <a:lnTo>
                  <a:pt x="34150" y="273175"/>
                </a:lnTo>
                <a:lnTo>
                  <a:pt x="3415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6710" y="6520078"/>
            <a:ext cx="3854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5" dirty="0">
                <a:latin typeface="宋体"/>
                <a:cs typeface="宋体"/>
                <a:hlinkClick r:id="rId2" action="ppaction://hlinksldjump"/>
              </a:rPr>
              <a:t>返回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49576" y="11378"/>
            <a:ext cx="18942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代码优化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27114" y="651509"/>
            <a:ext cx="1237615" cy="474345"/>
          </a:xfrm>
          <a:custGeom>
            <a:avLst/>
            <a:gdLst/>
            <a:ahLst/>
            <a:cxnLst/>
            <a:rect l="l" t="t" r="r" b="b"/>
            <a:pathLst>
              <a:path w="1237615" h="474344">
                <a:moveTo>
                  <a:pt x="0" y="473963"/>
                </a:moveTo>
                <a:lnTo>
                  <a:pt x="1237487" y="473963"/>
                </a:lnTo>
                <a:lnTo>
                  <a:pt x="1237487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210047" y="11378"/>
            <a:ext cx="23653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84289" y="623697"/>
            <a:ext cx="5054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i=1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65114" y="2565654"/>
            <a:ext cx="2914015" cy="741045"/>
          </a:xfrm>
          <a:custGeom>
            <a:avLst/>
            <a:gdLst/>
            <a:ahLst/>
            <a:cxnLst/>
            <a:rect l="l" t="t" r="r" b="b"/>
            <a:pathLst>
              <a:path w="2914015" h="741045">
                <a:moveTo>
                  <a:pt x="0" y="740663"/>
                </a:moveTo>
                <a:lnTo>
                  <a:pt x="2913888" y="740663"/>
                </a:lnTo>
                <a:lnTo>
                  <a:pt x="2913888" y="0"/>
                </a:lnTo>
                <a:lnTo>
                  <a:pt x="0" y="0"/>
                </a:lnTo>
                <a:lnTo>
                  <a:pt x="0" y="74066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032372" y="2518359"/>
            <a:ext cx="11137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66FFFF"/>
                </a:solidFill>
                <a:latin typeface="Times New Roman"/>
                <a:cs typeface="Times New Roman"/>
              </a:rPr>
              <a:t>k=</a:t>
            </a:r>
            <a:r>
              <a:rPr sz="2800" b="1" spc="-40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i+v;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59602" y="3763517"/>
            <a:ext cx="1403985" cy="375285"/>
          </a:xfrm>
          <a:custGeom>
            <a:avLst/>
            <a:gdLst/>
            <a:ahLst/>
            <a:cxnLst/>
            <a:rect l="l" t="t" r="r" b="b"/>
            <a:pathLst>
              <a:path w="1403984" h="375285">
                <a:moveTo>
                  <a:pt x="0" y="374903"/>
                </a:moveTo>
                <a:lnTo>
                  <a:pt x="1403603" y="374903"/>
                </a:lnTo>
                <a:lnTo>
                  <a:pt x="1403603" y="0"/>
                </a:lnTo>
                <a:lnTo>
                  <a:pt x="0" y="0"/>
                </a:lnTo>
                <a:lnTo>
                  <a:pt x="0" y="37490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67805" y="4900421"/>
            <a:ext cx="2915920" cy="794385"/>
          </a:xfrm>
          <a:custGeom>
            <a:avLst/>
            <a:gdLst/>
            <a:ahLst/>
            <a:cxnLst/>
            <a:rect l="l" t="t" r="r" b="b"/>
            <a:pathLst>
              <a:path w="2915920" h="794385">
                <a:moveTo>
                  <a:pt x="0" y="794003"/>
                </a:moveTo>
                <a:lnTo>
                  <a:pt x="2915411" y="794003"/>
                </a:lnTo>
                <a:lnTo>
                  <a:pt x="2915411" y="0"/>
                </a:lnTo>
                <a:lnTo>
                  <a:pt x="0" y="0"/>
                </a:lnTo>
                <a:lnTo>
                  <a:pt x="0" y="794003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47308" y="4787595"/>
            <a:ext cx="10896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v=</a:t>
            </a:r>
            <a:r>
              <a:rPr sz="2800" b="1" spc="-85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v-1;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35700" y="5214873"/>
            <a:ext cx="2604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76780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v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&lt;=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0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g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t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62266" y="6096761"/>
            <a:ext cx="931544" cy="440690"/>
          </a:xfrm>
          <a:custGeom>
            <a:avLst/>
            <a:gdLst/>
            <a:ahLst/>
            <a:cxnLst/>
            <a:rect l="l" t="t" r="r" b="b"/>
            <a:pathLst>
              <a:path w="931545" h="440690">
                <a:moveTo>
                  <a:pt x="0" y="440435"/>
                </a:moveTo>
                <a:lnTo>
                  <a:pt x="931164" y="440435"/>
                </a:lnTo>
                <a:lnTo>
                  <a:pt x="931164" y="0"/>
                </a:lnTo>
                <a:lnTo>
                  <a:pt x="0" y="0"/>
                </a:lnTo>
                <a:lnTo>
                  <a:pt x="0" y="44043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65720" y="1124077"/>
            <a:ext cx="114300" cy="518159"/>
          </a:xfrm>
          <a:custGeom>
            <a:avLst/>
            <a:gdLst/>
            <a:ahLst/>
            <a:cxnLst/>
            <a:rect l="l" t="t" r="r" b="b"/>
            <a:pathLst>
              <a:path w="114300" h="518160">
                <a:moveTo>
                  <a:pt x="37963" y="329438"/>
                </a:moveTo>
                <a:lnTo>
                  <a:pt x="0" y="332232"/>
                </a:lnTo>
                <a:lnTo>
                  <a:pt x="70993" y="518033"/>
                </a:lnTo>
                <a:lnTo>
                  <a:pt x="108472" y="348488"/>
                </a:lnTo>
                <a:lnTo>
                  <a:pt x="39370" y="348488"/>
                </a:lnTo>
                <a:lnTo>
                  <a:pt x="37963" y="329438"/>
                </a:lnTo>
                <a:close/>
              </a:path>
              <a:path w="114300" h="518160">
                <a:moveTo>
                  <a:pt x="75943" y="326644"/>
                </a:moveTo>
                <a:lnTo>
                  <a:pt x="37963" y="329438"/>
                </a:lnTo>
                <a:lnTo>
                  <a:pt x="39370" y="348488"/>
                </a:lnTo>
                <a:lnTo>
                  <a:pt x="77343" y="345694"/>
                </a:lnTo>
                <a:lnTo>
                  <a:pt x="75943" y="326644"/>
                </a:lnTo>
                <a:close/>
              </a:path>
              <a:path w="114300" h="518160">
                <a:moveTo>
                  <a:pt x="113919" y="323850"/>
                </a:moveTo>
                <a:lnTo>
                  <a:pt x="75943" y="326644"/>
                </a:lnTo>
                <a:lnTo>
                  <a:pt x="77343" y="345694"/>
                </a:lnTo>
                <a:lnTo>
                  <a:pt x="39370" y="348488"/>
                </a:lnTo>
                <a:lnTo>
                  <a:pt x="108472" y="348488"/>
                </a:lnTo>
                <a:lnTo>
                  <a:pt x="113919" y="323850"/>
                </a:lnTo>
                <a:close/>
              </a:path>
              <a:path w="114300" h="518160">
                <a:moveTo>
                  <a:pt x="51943" y="0"/>
                </a:moveTo>
                <a:lnTo>
                  <a:pt x="13843" y="2794"/>
                </a:lnTo>
                <a:lnTo>
                  <a:pt x="37963" y="329438"/>
                </a:lnTo>
                <a:lnTo>
                  <a:pt x="75943" y="326644"/>
                </a:lnTo>
                <a:lnTo>
                  <a:pt x="5194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84214" y="3286125"/>
            <a:ext cx="355600" cy="489584"/>
          </a:xfrm>
          <a:custGeom>
            <a:avLst/>
            <a:gdLst/>
            <a:ahLst/>
            <a:cxnLst/>
            <a:rect l="l" t="t" r="r" b="b"/>
            <a:pathLst>
              <a:path w="355600" h="489585">
                <a:moveTo>
                  <a:pt x="63753" y="301116"/>
                </a:moveTo>
                <a:lnTo>
                  <a:pt x="0" y="489585"/>
                </a:lnTo>
                <a:lnTo>
                  <a:pt x="156845" y="367411"/>
                </a:lnTo>
                <a:lnTo>
                  <a:pt x="147571" y="360806"/>
                </a:lnTo>
                <a:lnTo>
                  <a:pt x="114808" y="360806"/>
                </a:lnTo>
                <a:lnTo>
                  <a:pt x="83693" y="338708"/>
                </a:lnTo>
                <a:lnTo>
                  <a:pt x="94729" y="323176"/>
                </a:lnTo>
                <a:lnTo>
                  <a:pt x="63753" y="301116"/>
                </a:lnTo>
                <a:close/>
              </a:path>
              <a:path w="355600" h="489585">
                <a:moveTo>
                  <a:pt x="94729" y="323176"/>
                </a:moveTo>
                <a:lnTo>
                  <a:pt x="83693" y="338708"/>
                </a:lnTo>
                <a:lnTo>
                  <a:pt x="114808" y="360806"/>
                </a:lnTo>
                <a:lnTo>
                  <a:pt x="125812" y="345311"/>
                </a:lnTo>
                <a:lnTo>
                  <a:pt x="94729" y="323176"/>
                </a:lnTo>
                <a:close/>
              </a:path>
              <a:path w="355600" h="489585">
                <a:moveTo>
                  <a:pt x="125812" y="345311"/>
                </a:moveTo>
                <a:lnTo>
                  <a:pt x="114808" y="360806"/>
                </a:lnTo>
                <a:lnTo>
                  <a:pt x="147571" y="360806"/>
                </a:lnTo>
                <a:lnTo>
                  <a:pt x="125812" y="345311"/>
                </a:lnTo>
                <a:close/>
              </a:path>
              <a:path w="355600" h="489585">
                <a:moveTo>
                  <a:pt x="324358" y="0"/>
                </a:moveTo>
                <a:lnTo>
                  <a:pt x="94729" y="323176"/>
                </a:lnTo>
                <a:lnTo>
                  <a:pt x="125812" y="345311"/>
                </a:lnTo>
                <a:lnTo>
                  <a:pt x="355345" y="22098"/>
                </a:lnTo>
                <a:lnTo>
                  <a:pt x="32435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91322" y="3296920"/>
            <a:ext cx="114300" cy="1604010"/>
          </a:xfrm>
          <a:custGeom>
            <a:avLst/>
            <a:gdLst/>
            <a:ahLst/>
            <a:cxnLst/>
            <a:rect l="l" t="t" r="r" b="b"/>
            <a:pathLst>
              <a:path w="114300" h="1604010">
                <a:moveTo>
                  <a:pt x="0" y="1412366"/>
                </a:moveTo>
                <a:lnTo>
                  <a:pt x="54991" y="1603502"/>
                </a:lnTo>
                <a:lnTo>
                  <a:pt x="108468" y="1432305"/>
                </a:lnTo>
                <a:lnTo>
                  <a:pt x="75946" y="1432305"/>
                </a:lnTo>
                <a:lnTo>
                  <a:pt x="37846" y="1431797"/>
                </a:lnTo>
                <a:lnTo>
                  <a:pt x="38063" y="1412789"/>
                </a:lnTo>
                <a:lnTo>
                  <a:pt x="0" y="1412366"/>
                </a:lnTo>
                <a:close/>
              </a:path>
              <a:path w="114300" h="1604010">
                <a:moveTo>
                  <a:pt x="38063" y="1412789"/>
                </a:moveTo>
                <a:lnTo>
                  <a:pt x="37846" y="1431797"/>
                </a:lnTo>
                <a:lnTo>
                  <a:pt x="75946" y="1432305"/>
                </a:lnTo>
                <a:lnTo>
                  <a:pt x="76164" y="1413213"/>
                </a:lnTo>
                <a:lnTo>
                  <a:pt x="38063" y="1412789"/>
                </a:lnTo>
                <a:close/>
              </a:path>
              <a:path w="114300" h="1604010">
                <a:moveTo>
                  <a:pt x="76164" y="1413213"/>
                </a:moveTo>
                <a:lnTo>
                  <a:pt x="75946" y="1432305"/>
                </a:lnTo>
                <a:lnTo>
                  <a:pt x="108468" y="1432305"/>
                </a:lnTo>
                <a:lnTo>
                  <a:pt x="114300" y="1413636"/>
                </a:lnTo>
                <a:lnTo>
                  <a:pt x="76164" y="1413213"/>
                </a:lnTo>
                <a:close/>
              </a:path>
              <a:path w="114300" h="1604010">
                <a:moveTo>
                  <a:pt x="54228" y="0"/>
                </a:moveTo>
                <a:lnTo>
                  <a:pt x="38063" y="1412789"/>
                </a:lnTo>
                <a:lnTo>
                  <a:pt x="76164" y="1413213"/>
                </a:lnTo>
                <a:lnTo>
                  <a:pt x="92328" y="507"/>
                </a:lnTo>
                <a:lnTo>
                  <a:pt x="5422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883652" y="5724905"/>
            <a:ext cx="114300" cy="350520"/>
          </a:xfrm>
          <a:custGeom>
            <a:avLst/>
            <a:gdLst/>
            <a:ahLst/>
            <a:cxnLst/>
            <a:rect l="l" t="t" r="r" b="b"/>
            <a:pathLst>
              <a:path w="114300" h="350520">
                <a:moveTo>
                  <a:pt x="38100" y="160020"/>
                </a:moveTo>
                <a:lnTo>
                  <a:pt x="0" y="160020"/>
                </a:lnTo>
                <a:lnTo>
                  <a:pt x="57150" y="350520"/>
                </a:lnTo>
                <a:lnTo>
                  <a:pt x="108584" y="179070"/>
                </a:lnTo>
                <a:lnTo>
                  <a:pt x="38100" y="179070"/>
                </a:lnTo>
                <a:lnTo>
                  <a:pt x="38100" y="160020"/>
                </a:lnTo>
                <a:close/>
              </a:path>
              <a:path w="114300" h="350520">
                <a:moveTo>
                  <a:pt x="76200" y="0"/>
                </a:moveTo>
                <a:lnTo>
                  <a:pt x="38100" y="0"/>
                </a:lnTo>
                <a:lnTo>
                  <a:pt x="38100" y="179070"/>
                </a:lnTo>
                <a:lnTo>
                  <a:pt x="76200" y="179070"/>
                </a:lnTo>
                <a:lnTo>
                  <a:pt x="76200" y="0"/>
                </a:lnTo>
                <a:close/>
              </a:path>
              <a:path w="114300" h="350520">
                <a:moveTo>
                  <a:pt x="114300" y="160020"/>
                </a:moveTo>
                <a:lnTo>
                  <a:pt x="76200" y="160020"/>
                </a:lnTo>
                <a:lnTo>
                  <a:pt x="76200" y="179070"/>
                </a:lnTo>
                <a:lnTo>
                  <a:pt x="108584" y="179070"/>
                </a:lnTo>
                <a:lnTo>
                  <a:pt x="114300" y="16002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014461" y="604215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18580" y="2753000"/>
            <a:ext cx="2294255" cy="138303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60"/>
              </a:spcBef>
              <a:tabLst>
                <a:tab pos="1841500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u&lt;v</a:t>
            </a:r>
            <a:r>
              <a:rPr sz="2800" b="1" spc="20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goto	B4</a:t>
            </a:r>
            <a:endParaRPr sz="2800">
              <a:latin typeface="Times New Roman"/>
              <a:cs typeface="Times New Roman"/>
            </a:endParaRPr>
          </a:p>
          <a:p>
            <a:pPr marR="377190" algn="ctr">
              <a:lnSpc>
                <a:spcPts val="3000"/>
              </a:lnSpc>
              <a:spcBef>
                <a:spcPts val="660"/>
              </a:spcBef>
            </a:pP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150" baseline="-14550">
              <a:latin typeface="Times New Roman"/>
              <a:cs typeface="Times New Roman"/>
            </a:endParaRPr>
          </a:p>
          <a:p>
            <a:pPr marL="132715">
              <a:lnSpc>
                <a:spcPts val="3000"/>
              </a:lnSpc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u=u+1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74684" y="4446854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04125" y="6069584"/>
            <a:ext cx="1252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42010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=</a:t>
            </a:r>
            <a:r>
              <a:rPr sz="2800" b="1" spc="5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k	</a:t>
            </a:r>
            <a:r>
              <a:rPr sz="4200" b="1" spc="7" baseline="2976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0582" dirty="0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150" baseline="-10582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65214" y="1642110"/>
            <a:ext cx="1237615" cy="440690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3240"/>
              </a:lnSpc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i=3;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55560" y="2094864"/>
            <a:ext cx="114300" cy="520065"/>
          </a:xfrm>
          <a:custGeom>
            <a:avLst/>
            <a:gdLst/>
            <a:ahLst/>
            <a:cxnLst/>
            <a:rect l="l" t="t" r="r" b="b"/>
            <a:pathLst>
              <a:path w="114300" h="520064">
                <a:moveTo>
                  <a:pt x="0" y="325374"/>
                </a:moveTo>
                <a:lnTo>
                  <a:pt x="43053" y="519557"/>
                </a:lnTo>
                <a:lnTo>
                  <a:pt x="107834" y="350012"/>
                </a:lnTo>
                <a:lnTo>
                  <a:pt x="74675" y="350012"/>
                </a:lnTo>
                <a:lnTo>
                  <a:pt x="36575" y="347218"/>
                </a:lnTo>
                <a:lnTo>
                  <a:pt x="37976" y="328165"/>
                </a:lnTo>
                <a:lnTo>
                  <a:pt x="0" y="325374"/>
                </a:lnTo>
                <a:close/>
              </a:path>
              <a:path w="114300" h="520064">
                <a:moveTo>
                  <a:pt x="37976" y="328165"/>
                </a:moveTo>
                <a:lnTo>
                  <a:pt x="36575" y="347218"/>
                </a:lnTo>
                <a:lnTo>
                  <a:pt x="74675" y="350012"/>
                </a:lnTo>
                <a:lnTo>
                  <a:pt x="76076" y="330965"/>
                </a:lnTo>
                <a:lnTo>
                  <a:pt x="37976" y="328165"/>
                </a:lnTo>
                <a:close/>
              </a:path>
              <a:path w="114300" h="520064">
                <a:moveTo>
                  <a:pt x="76076" y="330965"/>
                </a:moveTo>
                <a:lnTo>
                  <a:pt x="74675" y="350012"/>
                </a:lnTo>
                <a:lnTo>
                  <a:pt x="107834" y="350012"/>
                </a:lnTo>
                <a:lnTo>
                  <a:pt x="114046" y="333756"/>
                </a:lnTo>
                <a:lnTo>
                  <a:pt x="76076" y="330965"/>
                </a:lnTo>
                <a:close/>
              </a:path>
              <a:path w="114300" h="520064">
                <a:moveTo>
                  <a:pt x="62103" y="0"/>
                </a:moveTo>
                <a:lnTo>
                  <a:pt x="37976" y="328165"/>
                </a:lnTo>
                <a:lnTo>
                  <a:pt x="76076" y="330965"/>
                </a:lnTo>
                <a:lnTo>
                  <a:pt x="100203" y="2794"/>
                </a:lnTo>
                <a:lnTo>
                  <a:pt x="6210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900161" y="1538630"/>
            <a:ext cx="592455" cy="106743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2775" b="1" baseline="-15015" dirty="0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2775" baseline="-15015">
              <a:latin typeface="Times New Roman"/>
              <a:cs typeface="Times New Roman"/>
            </a:endParaRPr>
          </a:p>
          <a:p>
            <a:pPr marL="182245">
              <a:lnSpc>
                <a:spcPct val="100000"/>
              </a:lnSpc>
              <a:spcBef>
                <a:spcPts val="74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580885" y="4163821"/>
            <a:ext cx="655955" cy="736600"/>
          </a:xfrm>
          <a:custGeom>
            <a:avLst/>
            <a:gdLst/>
            <a:ahLst/>
            <a:cxnLst/>
            <a:rect l="l" t="t" r="r" b="b"/>
            <a:pathLst>
              <a:path w="655954" h="736600">
                <a:moveTo>
                  <a:pt x="515202" y="606673"/>
                </a:moveTo>
                <a:lnTo>
                  <a:pt x="486664" y="631951"/>
                </a:lnTo>
                <a:lnTo>
                  <a:pt x="655828" y="736600"/>
                </a:lnTo>
                <a:lnTo>
                  <a:pt x="602254" y="620902"/>
                </a:lnTo>
                <a:lnTo>
                  <a:pt x="527812" y="620902"/>
                </a:lnTo>
                <a:lnTo>
                  <a:pt x="515202" y="606673"/>
                </a:lnTo>
                <a:close/>
              </a:path>
              <a:path w="655954" h="736600">
                <a:moveTo>
                  <a:pt x="543757" y="581381"/>
                </a:moveTo>
                <a:lnTo>
                  <a:pt x="515202" y="606673"/>
                </a:lnTo>
                <a:lnTo>
                  <a:pt x="527812" y="620902"/>
                </a:lnTo>
                <a:lnTo>
                  <a:pt x="556387" y="595629"/>
                </a:lnTo>
                <a:lnTo>
                  <a:pt x="543757" y="581381"/>
                </a:lnTo>
                <a:close/>
              </a:path>
              <a:path w="655954" h="736600">
                <a:moveTo>
                  <a:pt x="572262" y="556132"/>
                </a:moveTo>
                <a:lnTo>
                  <a:pt x="543757" y="581381"/>
                </a:lnTo>
                <a:lnTo>
                  <a:pt x="556387" y="595629"/>
                </a:lnTo>
                <a:lnTo>
                  <a:pt x="527812" y="620902"/>
                </a:lnTo>
                <a:lnTo>
                  <a:pt x="602254" y="620902"/>
                </a:lnTo>
                <a:lnTo>
                  <a:pt x="572262" y="556132"/>
                </a:lnTo>
                <a:close/>
              </a:path>
              <a:path w="655954" h="736600">
                <a:moveTo>
                  <a:pt x="28448" y="0"/>
                </a:moveTo>
                <a:lnTo>
                  <a:pt x="0" y="25272"/>
                </a:lnTo>
                <a:lnTo>
                  <a:pt x="515202" y="606673"/>
                </a:lnTo>
                <a:lnTo>
                  <a:pt x="543757" y="581381"/>
                </a:lnTo>
                <a:lnTo>
                  <a:pt x="2844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617464" y="2935985"/>
            <a:ext cx="452120" cy="2379980"/>
          </a:xfrm>
          <a:custGeom>
            <a:avLst/>
            <a:gdLst/>
            <a:ahLst/>
            <a:cxnLst/>
            <a:rect l="l" t="t" r="r" b="b"/>
            <a:pathLst>
              <a:path w="452120" h="2379979">
                <a:moveTo>
                  <a:pt x="157760" y="72798"/>
                </a:moveTo>
                <a:lnTo>
                  <a:pt x="152781" y="79121"/>
                </a:lnTo>
                <a:lnTo>
                  <a:pt x="151891" y="80644"/>
                </a:lnTo>
                <a:lnTo>
                  <a:pt x="151147" y="82423"/>
                </a:lnTo>
                <a:lnTo>
                  <a:pt x="146050" y="94234"/>
                </a:lnTo>
                <a:lnTo>
                  <a:pt x="130810" y="134492"/>
                </a:lnTo>
                <a:lnTo>
                  <a:pt x="116077" y="179959"/>
                </a:lnTo>
                <a:lnTo>
                  <a:pt x="97536" y="248158"/>
                </a:lnTo>
                <a:lnTo>
                  <a:pt x="88519" y="285368"/>
                </a:lnTo>
                <a:lnTo>
                  <a:pt x="80010" y="324485"/>
                </a:lnTo>
                <a:lnTo>
                  <a:pt x="71755" y="365378"/>
                </a:lnTo>
                <a:lnTo>
                  <a:pt x="63753" y="408050"/>
                </a:lnTo>
                <a:lnTo>
                  <a:pt x="56387" y="452247"/>
                </a:lnTo>
                <a:lnTo>
                  <a:pt x="49149" y="497966"/>
                </a:lnTo>
                <a:lnTo>
                  <a:pt x="42418" y="545084"/>
                </a:lnTo>
                <a:lnTo>
                  <a:pt x="36068" y="593471"/>
                </a:lnTo>
                <a:lnTo>
                  <a:pt x="30099" y="643001"/>
                </a:lnTo>
                <a:lnTo>
                  <a:pt x="24637" y="693674"/>
                </a:lnTo>
                <a:lnTo>
                  <a:pt x="19685" y="745363"/>
                </a:lnTo>
                <a:lnTo>
                  <a:pt x="15239" y="797813"/>
                </a:lnTo>
                <a:lnTo>
                  <a:pt x="11430" y="851026"/>
                </a:lnTo>
                <a:lnTo>
                  <a:pt x="7874" y="905001"/>
                </a:lnTo>
                <a:lnTo>
                  <a:pt x="5143" y="961008"/>
                </a:lnTo>
                <a:lnTo>
                  <a:pt x="2921" y="1014221"/>
                </a:lnTo>
                <a:lnTo>
                  <a:pt x="1381" y="1070228"/>
                </a:lnTo>
                <a:lnTo>
                  <a:pt x="252" y="1125093"/>
                </a:lnTo>
                <a:lnTo>
                  <a:pt x="0" y="1180211"/>
                </a:lnTo>
                <a:lnTo>
                  <a:pt x="635" y="1235964"/>
                </a:lnTo>
                <a:lnTo>
                  <a:pt x="2539" y="1291589"/>
                </a:lnTo>
                <a:lnTo>
                  <a:pt x="5587" y="1347089"/>
                </a:lnTo>
                <a:lnTo>
                  <a:pt x="9778" y="1402080"/>
                </a:lnTo>
                <a:lnTo>
                  <a:pt x="15112" y="1456689"/>
                </a:lnTo>
                <a:lnTo>
                  <a:pt x="21462" y="1510791"/>
                </a:lnTo>
                <a:lnTo>
                  <a:pt x="28956" y="1564258"/>
                </a:lnTo>
                <a:lnTo>
                  <a:pt x="37464" y="1616837"/>
                </a:lnTo>
                <a:lnTo>
                  <a:pt x="46736" y="1668907"/>
                </a:lnTo>
                <a:lnTo>
                  <a:pt x="57150" y="1719580"/>
                </a:lnTo>
                <a:lnTo>
                  <a:pt x="68325" y="1769490"/>
                </a:lnTo>
                <a:lnTo>
                  <a:pt x="80390" y="1818005"/>
                </a:lnTo>
                <a:lnTo>
                  <a:pt x="93218" y="1865376"/>
                </a:lnTo>
                <a:lnTo>
                  <a:pt x="106807" y="1911350"/>
                </a:lnTo>
                <a:lnTo>
                  <a:pt x="121158" y="1955672"/>
                </a:lnTo>
                <a:lnTo>
                  <a:pt x="136271" y="1998599"/>
                </a:lnTo>
                <a:lnTo>
                  <a:pt x="151891" y="2039620"/>
                </a:lnTo>
                <a:lnTo>
                  <a:pt x="168148" y="2079116"/>
                </a:lnTo>
                <a:lnTo>
                  <a:pt x="185165" y="2116328"/>
                </a:lnTo>
                <a:lnTo>
                  <a:pt x="202564" y="2151888"/>
                </a:lnTo>
                <a:lnTo>
                  <a:pt x="229743" y="2200656"/>
                </a:lnTo>
                <a:lnTo>
                  <a:pt x="258063" y="2244725"/>
                </a:lnTo>
                <a:lnTo>
                  <a:pt x="287527" y="2283587"/>
                </a:lnTo>
                <a:lnTo>
                  <a:pt x="318008" y="2316353"/>
                </a:lnTo>
                <a:lnTo>
                  <a:pt x="349631" y="2343023"/>
                </a:lnTo>
                <a:lnTo>
                  <a:pt x="382650" y="2363089"/>
                </a:lnTo>
                <a:lnTo>
                  <a:pt x="428371" y="2377821"/>
                </a:lnTo>
                <a:lnTo>
                  <a:pt x="449961" y="2379726"/>
                </a:lnTo>
                <a:lnTo>
                  <a:pt x="451865" y="2341626"/>
                </a:lnTo>
                <a:lnTo>
                  <a:pt x="441706" y="2341117"/>
                </a:lnTo>
                <a:lnTo>
                  <a:pt x="433070" y="2340102"/>
                </a:lnTo>
                <a:lnTo>
                  <a:pt x="389255" y="2323465"/>
                </a:lnTo>
                <a:lnTo>
                  <a:pt x="353060" y="2296795"/>
                </a:lnTo>
                <a:lnTo>
                  <a:pt x="325374" y="2269109"/>
                </a:lnTo>
                <a:lnTo>
                  <a:pt x="298069" y="2235327"/>
                </a:lnTo>
                <a:lnTo>
                  <a:pt x="271145" y="2195576"/>
                </a:lnTo>
                <a:lnTo>
                  <a:pt x="236093" y="2133727"/>
                </a:lnTo>
                <a:lnTo>
                  <a:pt x="202946" y="2063369"/>
                </a:lnTo>
                <a:lnTo>
                  <a:pt x="187071" y="2025014"/>
                </a:lnTo>
                <a:lnTo>
                  <a:pt x="171831" y="1985009"/>
                </a:lnTo>
                <a:lnTo>
                  <a:pt x="157099" y="1943100"/>
                </a:lnTo>
                <a:lnTo>
                  <a:pt x="143128" y="1899665"/>
                </a:lnTo>
                <a:lnTo>
                  <a:pt x="129666" y="1854581"/>
                </a:lnTo>
                <a:lnTo>
                  <a:pt x="117221" y="1808099"/>
                </a:lnTo>
                <a:lnTo>
                  <a:pt x="105283" y="1760346"/>
                </a:lnTo>
                <a:lnTo>
                  <a:pt x="94361" y="1711325"/>
                </a:lnTo>
                <a:lnTo>
                  <a:pt x="84074" y="1661287"/>
                </a:lnTo>
                <a:lnTo>
                  <a:pt x="74930" y="1610233"/>
                </a:lnTo>
                <a:lnTo>
                  <a:pt x="66675" y="1558289"/>
                </a:lnTo>
                <a:lnTo>
                  <a:pt x="59309" y="1505584"/>
                </a:lnTo>
                <a:lnTo>
                  <a:pt x="52959" y="1452245"/>
                </a:lnTo>
                <a:lnTo>
                  <a:pt x="47751" y="1398396"/>
                </a:lnTo>
                <a:lnTo>
                  <a:pt x="43561" y="1344168"/>
                </a:lnTo>
                <a:lnTo>
                  <a:pt x="40512" y="1289431"/>
                </a:lnTo>
                <a:lnTo>
                  <a:pt x="38608" y="1234694"/>
                </a:lnTo>
                <a:lnTo>
                  <a:pt x="38100" y="1179702"/>
                </a:lnTo>
                <a:lnTo>
                  <a:pt x="38358" y="1124839"/>
                </a:lnTo>
                <a:lnTo>
                  <a:pt x="39392" y="1069466"/>
                </a:lnTo>
                <a:lnTo>
                  <a:pt x="41066" y="1014221"/>
                </a:lnTo>
                <a:lnTo>
                  <a:pt x="43180" y="961008"/>
                </a:lnTo>
                <a:lnTo>
                  <a:pt x="45974" y="906907"/>
                </a:lnTo>
                <a:lnTo>
                  <a:pt x="49402" y="853566"/>
                </a:lnTo>
                <a:lnTo>
                  <a:pt x="53339" y="800607"/>
                </a:lnTo>
                <a:lnTo>
                  <a:pt x="57658" y="748538"/>
                </a:lnTo>
                <a:lnTo>
                  <a:pt x="62611" y="697357"/>
                </a:lnTo>
                <a:lnTo>
                  <a:pt x="67945" y="647064"/>
                </a:lnTo>
                <a:lnTo>
                  <a:pt x="73913" y="597915"/>
                </a:lnTo>
                <a:lnTo>
                  <a:pt x="80137" y="549910"/>
                </a:lnTo>
                <a:lnTo>
                  <a:pt x="86868" y="503300"/>
                </a:lnTo>
                <a:lnTo>
                  <a:pt x="93980" y="458215"/>
                </a:lnTo>
                <a:lnTo>
                  <a:pt x="101346" y="414400"/>
                </a:lnTo>
                <a:lnTo>
                  <a:pt x="109220" y="372363"/>
                </a:lnTo>
                <a:lnTo>
                  <a:pt x="117348" y="331977"/>
                </a:lnTo>
                <a:lnTo>
                  <a:pt x="125730" y="293497"/>
                </a:lnTo>
                <a:lnTo>
                  <a:pt x="143510" y="222630"/>
                </a:lnTo>
                <a:lnTo>
                  <a:pt x="157352" y="175260"/>
                </a:lnTo>
                <a:lnTo>
                  <a:pt x="171703" y="133350"/>
                </a:lnTo>
                <a:lnTo>
                  <a:pt x="184437" y="101473"/>
                </a:lnTo>
                <a:lnTo>
                  <a:pt x="183769" y="101473"/>
                </a:lnTo>
                <a:lnTo>
                  <a:pt x="185751" y="98103"/>
                </a:lnTo>
                <a:lnTo>
                  <a:pt x="157760" y="72798"/>
                </a:lnTo>
                <a:close/>
              </a:path>
              <a:path w="452120" h="2379979">
                <a:moveTo>
                  <a:pt x="231265" y="58800"/>
                </a:moveTo>
                <a:lnTo>
                  <a:pt x="168783" y="58800"/>
                </a:lnTo>
                <a:lnTo>
                  <a:pt x="198755" y="82423"/>
                </a:lnTo>
                <a:lnTo>
                  <a:pt x="186141" y="98456"/>
                </a:lnTo>
                <a:lnTo>
                  <a:pt x="213360" y="123062"/>
                </a:lnTo>
                <a:lnTo>
                  <a:pt x="231265" y="58800"/>
                </a:lnTo>
                <a:close/>
              </a:path>
              <a:path w="452120" h="2379979">
                <a:moveTo>
                  <a:pt x="185751" y="98103"/>
                </a:moveTo>
                <a:lnTo>
                  <a:pt x="183769" y="101473"/>
                </a:lnTo>
                <a:lnTo>
                  <a:pt x="185258" y="99579"/>
                </a:lnTo>
                <a:lnTo>
                  <a:pt x="185744" y="98456"/>
                </a:lnTo>
                <a:lnTo>
                  <a:pt x="185751" y="98103"/>
                </a:lnTo>
                <a:close/>
              </a:path>
              <a:path w="452120" h="2379979">
                <a:moveTo>
                  <a:pt x="185258" y="99579"/>
                </a:moveTo>
                <a:lnTo>
                  <a:pt x="183769" y="101473"/>
                </a:lnTo>
                <a:lnTo>
                  <a:pt x="184437" y="101473"/>
                </a:lnTo>
                <a:lnTo>
                  <a:pt x="185258" y="99579"/>
                </a:lnTo>
                <a:close/>
              </a:path>
              <a:path w="452120" h="2379979">
                <a:moveTo>
                  <a:pt x="185856" y="98198"/>
                </a:moveTo>
                <a:lnTo>
                  <a:pt x="185258" y="99579"/>
                </a:lnTo>
                <a:lnTo>
                  <a:pt x="186141" y="98456"/>
                </a:lnTo>
                <a:lnTo>
                  <a:pt x="185856" y="98198"/>
                </a:lnTo>
                <a:close/>
              </a:path>
              <a:path w="452120" h="2379979">
                <a:moveTo>
                  <a:pt x="187165" y="97154"/>
                </a:moveTo>
                <a:lnTo>
                  <a:pt x="186309" y="97154"/>
                </a:lnTo>
                <a:lnTo>
                  <a:pt x="185856" y="98198"/>
                </a:lnTo>
                <a:lnTo>
                  <a:pt x="186141" y="98456"/>
                </a:lnTo>
                <a:lnTo>
                  <a:pt x="187165" y="97154"/>
                </a:lnTo>
                <a:close/>
              </a:path>
              <a:path w="452120" h="2379979">
                <a:moveTo>
                  <a:pt x="186309" y="97154"/>
                </a:moveTo>
                <a:lnTo>
                  <a:pt x="185751" y="98103"/>
                </a:lnTo>
                <a:lnTo>
                  <a:pt x="186309" y="97154"/>
                </a:lnTo>
                <a:close/>
              </a:path>
              <a:path w="452120" h="2379979">
                <a:moveTo>
                  <a:pt x="168783" y="58800"/>
                </a:moveTo>
                <a:lnTo>
                  <a:pt x="157760" y="72798"/>
                </a:lnTo>
                <a:lnTo>
                  <a:pt x="185751" y="98103"/>
                </a:lnTo>
                <a:lnTo>
                  <a:pt x="186309" y="97154"/>
                </a:lnTo>
                <a:lnTo>
                  <a:pt x="187165" y="97154"/>
                </a:lnTo>
                <a:lnTo>
                  <a:pt x="198755" y="82423"/>
                </a:lnTo>
                <a:lnTo>
                  <a:pt x="168783" y="58800"/>
                </a:lnTo>
                <a:close/>
              </a:path>
              <a:path w="452120" h="2379979">
                <a:moveTo>
                  <a:pt x="247650" y="0"/>
                </a:moveTo>
                <a:lnTo>
                  <a:pt x="128650" y="46481"/>
                </a:lnTo>
                <a:lnTo>
                  <a:pt x="157760" y="72798"/>
                </a:lnTo>
                <a:lnTo>
                  <a:pt x="168783" y="58800"/>
                </a:lnTo>
                <a:lnTo>
                  <a:pt x="231265" y="58800"/>
                </a:lnTo>
                <a:lnTo>
                  <a:pt x="24765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207002" y="925830"/>
            <a:ext cx="2115820" cy="944880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vert="horz" wrap="square" lIns="0" tIns="120015" rIns="0" bIns="0" rtlCol="0">
            <a:spAutoFit/>
          </a:bodyPr>
          <a:lstStyle/>
          <a:p>
            <a:pPr marL="91440" marR="231775">
              <a:lnSpc>
                <a:spcPts val="3040"/>
              </a:lnSpc>
              <a:spcBef>
                <a:spcPts val="94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外提不变运 算后的流图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772661" y="2509266"/>
            <a:ext cx="1788160" cy="3066415"/>
          </a:xfrm>
          <a:custGeom>
            <a:avLst/>
            <a:gdLst/>
            <a:ahLst/>
            <a:cxnLst/>
            <a:rect l="l" t="t" r="r" b="b"/>
            <a:pathLst>
              <a:path w="1788160" h="3066415">
                <a:moveTo>
                  <a:pt x="0" y="3066288"/>
                </a:moveTo>
                <a:lnTo>
                  <a:pt x="1787652" y="3066288"/>
                </a:lnTo>
                <a:lnTo>
                  <a:pt x="1787652" y="0"/>
                </a:lnTo>
                <a:lnTo>
                  <a:pt x="0" y="0"/>
                </a:lnTo>
                <a:lnTo>
                  <a:pt x="0" y="30662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851275" y="2528447"/>
            <a:ext cx="1452245" cy="2970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将“不变 </a:t>
            </a: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运算”外 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提后，会 改变程序 的计算结 果。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47166" y="680466"/>
            <a:ext cx="1237615" cy="472440"/>
          </a:xfrm>
          <a:custGeom>
            <a:avLst/>
            <a:gdLst/>
            <a:ahLst/>
            <a:cxnLst/>
            <a:rect l="l" t="t" r="r" b="b"/>
            <a:pathLst>
              <a:path w="1237614" h="472440">
                <a:moveTo>
                  <a:pt x="0" y="472439"/>
                </a:moveTo>
                <a:lnTo>
                  <a:pt x="1237487" y="472439"/>
                </a:lnTo>
                <a:lnTo>
                  <a:pt x="1237487" y="0"/>
                </a:lnTo>
                <a:lnTo>
                  <a:pt x="0" y="0"/>
                </a:lnTo>
                <a:lnTo>
                  <a:pt x="0" y="47243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203452" y="671322"/>
            <a:ext cx="5054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i=1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28422" y="1800605"/>
            <a:ext cx="2914015" cy="753110"/>
          </a:xfrm>
          <a:custGeom>
            <a:avLst/>
            <a:gdLst/>
            <a:ahLst/>
            <a:cxnLst/>
            <a:rect l="l" t="t" r="r" b="b"/>
            <a:pathLst>
              <a:path w="2914015" h="753110">
                <a:moveTo>
                  <a:pt x="0" y="752856"/>
                </a:moveTo>
                <a:lnTo>
                  <a:pt x="2913888" y="752856"/>
                </a:lnTo>
                <a:lnTo>
                  <a:pt x="2913888" y="0"/>
                </a:lnTo>
                <a:lnTo>
                  <a:pt x="0" y="0"/>
                </a:lnTo>
                <a:lnTo>
                  <a:pt x="0" y="752856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05790" y="1757552"/>
            <a:ext cx="2243455" cy="770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935"/>
              </a:lnSpc>
              <a:spcBef>
                <a:spcPts val="95"/>
              </a:spcBef>
            </a:pPr>
            <a:r>
              <a:rPr sz="2800" b="1" spc="-15" dirty="0">
                <a:solidFill>
                  <a:srgbClr val="66FFFF"/>
                </a:solidFill>
                <a:latin typeface="Times New Roman"/>
                <a:cs typeface="Times New Roman"/>
              </a:rPr>
              <a:t>k=</a:t>
            </a:r>
            <a:r>
              <a:rPr sz="2800" b="1" spc="20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i+v;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2935"/>
              </a:lnSpc>
              <a:tabLst>
                <a:tab pos="1816100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u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&lt;v</a:t>
            </a:r>
            <a:r>
              <a:rPr sz="2800" b="1" spc="10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g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o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to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96418" y="3419094"/>
            <a:ext cx="1240790" cy="367665"/>
          </a:xfrm>
          <a:custGeom>
            <a:avLst/>
            <a:gdLst/>
            <a:ahLst/>
            <a:cxnLst/>
            <a:rect l="l" t="t" r="r" b="b"/>
            <a:pathLst>
              <a:path w="1240790" h="367664">
                <a:moveTo>
                  <a:pt x="0" y="367284"/>
                </a:moveTo>
                <a:lnTo>
                  <a:pt x="1240536" y="367284"/>
                </a:lnTo>
                <a:lnTo>
                  <a:pt x="1240536" y="0"/>
                </a:lnTo>
                <a:lnTo>
                  <a:pt x="0" y="0"/>
                </a:lnTo>
                <a:lnTo>
                  <a:pt x="0" y="36728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09422" y="4578858"/>
            <a:ext cx="2914015" cy="835660"/>
          </a:xfrm>
          <a:custGeom>
            <a:avLst/>
            <a:gdLst/>
            <a:ahLst/>
            <a:cxnLst/>
            <a:rect l="l" t="t" r="r" b="b"/>
            <a:pathLst>
              <a:path w="2914015" h="835660">
                <a:moveTo>
                  <a:pt x="0" y="835152"/>
                </a:moveTo>
                <a:lnTo>
                  <a:pt x="2913888" y="835152"/>
                </a:lnTo>
                <a:lnTo>
                  <a:pt x="2913888" y="0"/>
                </a:lnTo>
                <a:lnTo>
                  <a:pt x="0" y="0"/>
                </a:lnTo>
                <a:lnTo>
                  <a:pt x="0" y="83515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480566" y="6015990"/>
            <a:ext cx="1237615" cy="439420"/>
          </a:xfrm>
          <a:custGeom>
            <a:avLst/>
            <a:gdLst/>
            <a:ahLst/>
            <a:cxnLst/>
            <a:rect l="l" t="t" r="r" b="b"/>
            <a:pathLst>
              <a:path w="1237614" h="439420">
                <a:moveTo>
                  <a:pt x="0" y="438912"/>
                </a:moveTo>
                <a:lnTo>
                  <a:pt x="1237487" y="438912"/>
                </a:lnTo>
                <a:lnTo>
                  <a:pt x="1237487" y="0"/>
                </a:lnTo>
                <a:lnTo>
                  <a:pt x="0" y="0"/>
                </a:lnTo>
                <a:lnTo>
                  <a:pt x="0" y="4389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736851" y="5991555"/>
            <a:ext cx="633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=</a:t>
            </a:r>
            <a:r>
              <a:rPr sz="2800" b="1" spc="-85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k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507363" y="1152652"/>
            <a:ext cx="114300" cy="777875"/>
          </a:xfrm>
          <a:custGeom>
            <a:avLst/>
            <a:gdLst/>
            <a:ahLst/>
            <a:cxnLst/>
            <a:rect l="l" t="t" r="r" b="b"/>
            <a:pathLst>
              <a:path w="114300" h="777875">
                <a:moveTo>
                  <a:pt x="38130" y="663405"/>
                </a:moveTo>
                <a:lnTo>
                  <a:pt x="0" y="663828"/>
                </a:lnTo>
                <a:lnTo>
                  <a:pt x="58546" y="777494"/>
                </a:lnTo>
                <a:lnTo>
                  <a:pt x="104627" y="682498"/>
                </a:lnTo>
                <a:lnTo>
                  <a:pt x="38353" y="682498"/>
                </a:lnTo>
                <a:lnTo>
                  <a:pt x="38130" y="663405"/>
                </a:lnTo>
                <a:close/>
              </a:path>
              <a:path w="114300" h="777875">
                <a:moveTo>
                  <a:pt x="76231" y="662981"/>
                </a:moveTo>
                <a:lnTo>
                  <a:pt x="38130" y="663405"/>
                </a:lnTo>
                <a:lnTo>
                  <a:pt x="38353" y="682498"/>
                </a:lnTo>
                <a:lnTo>
                  <a:pt x="76453" y="681989"/>
                </a:lnTo>
                <a:lnTo>
                  <a:pt x="76231" y="662981"/>
                </a:lnTo>
                <a:close/>
              </a:path>
              <a:path w="114300" h="777875">
                <a:moveTo>
                  <a:pt x="114300" y="662559"/>
                </a:moveTo>
                <a:lnTo>
                  <a:pt x="76231" y="662981"/>
                </a:lnTo>
                <a:lnTo>
                  <a:pt x="76453" y="681989"/>
                </a:lnTo>
                <a:lnTo>
                  <a:pt x="38353" y="682498"/>
                </a:lnTo>
                <a:lnTo>
                  <a:pt x="104627" y="682498"/>
                </a:lnTo>
                <a:lnTo>
                  <a:pt x="114300" y="662559"/>
                </a:lnTo>
                <a:close/>
              </a:path>
              <a:path w="114300" h="777875">
                <a:moveTo>
                  <a:pt x="68453" y="0"/>
                </a:moveTo>
                <a:lnTo>
                  <a:pt x="30353" y="508"/>
                </a:lnTo>
                <a:lnTo>
                  <a:pt x="38130" y="663405"/>
                </a:lnTo>
                <a:lnTo>
                  <a:pt x="76231" y="662981"/>
                </a:lnTo>
                <a:lnTo>
                  <a:pt x="6845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65061" y="2386076"/>
            <a:ext cx="362585" cy="1014730"/>
          </a:xfrm>
          <a:custGeom>
            <a:avLst/>
            <a:gdLst/>
            <a:ahLst/>
            <a:cxnLst/>
            <a:rect l="l" t="t" r="r" b="b"/>
            <a:pathLst>
              <a:path w="362584" h="1014729">
                <a:moveTo>
                  <a:pt x="0" y="888364"/>
                </a:moveTo>
                <a:lnTo>
                  <a:pt x="19392" y="1014729"/>
                </a:lnTo>
                <a:lnTo>
                  <a:pt x="102459" y="929894"/>
                </a:lnTo>
                <a:lnTo>
                  <a:pt x="66700" y="929894"/>
                </a:lnTo>
                <a:lnTo>
                  <a:pt x="30429" y="918210"/>
                </a:lnTo>
                <a:lnTo>
                  <a:pt x="36272" y="900050"/>
                </a:lnTo>
                <a:lnTo>
                  <a:pt x="0" y="888364"/>
                </a:lnTo>
                <a:close/>
              </a:path>
              <a:path w="362584" h="1014729">
                <a:moveTo>
                  <a:pt x="36272" y="900050"/>
                </a:moveTo>
                <a:lnTo>
                  <a:pt x="30429" y="918210"/>
                </a:lnTo>
                <a:lnTo>
                  <a:pt x="66700" y="929894"/>
                </a:lnTo>
                <a:lnTo>
                  <a:pt x="72542" y="911735"/>
                </a:lnTo>
                <a:lnTo>
                  <a:pt x="36272" y="900050"/>
                </a:lnTo>
                <a:close/>
              </a:path>
              <a:path w="362584" h="1014729">
                <a:moveTo>
                  <a:pt x="72542" y="911735"/>
                </a:moveTo>
                <a:lnTo>
                  <a:pt x="66700" y="929894"/>
                </a:lnTo>
                <a:lnTo>
                  <a:pt x="102459" y="929894"/>
                </a:lnTo>
                <a:lnTo>
                  <a:pt x="108800" y="923416"/>
                </a:lnTo>
                <a:lnTo>
                  <a:pt x="72542" y="911735"/>
                </a:lnTo>
                <a:close/>
              </a:path>
              <a:path w="362584" h="1014729">
                <a:moveTo>
                  <a:pt x="325869" y="0"/>
                </a:moveTo>
                <a:lnTo>
                  <a:pt x="36272" y="900050"/>
                </a:lnTo>
                <a:lnTo>
                  <a:pt x="72542" y="911735"/>
                </a:lnTo>
                <a:lnTo>
                  <a:pt x="362140" y="11684"/>
                </a:lnTo>
                <a:lnTo>
                  <a:pt x="32586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89760" y="2391917"/>
            <a:ext cx="114300" cy="2193290"/>
          </a:xfrm>
          <a:custGeom>
            <a:avLst/>
            <a:gdLst/>
            <a:ahLst/>
            <a:cxnLst/>
            <a:rect l="l" t="t" r="r" b="b"/>
            <a:pathLst>
              <a:path w="114300" h="2193290">
                <a:moveTo>
                  <a:pt x="38100" y="2078736"/>
                </a:moveTo>
                <a:lnTo>
                  <a:pt x="0" y="2078736"/>
                </a:lnTo>
                <a:lnTo>
                  <a:pt x="57150" y="2193036"/>
                </a:lnTo>
                <a:lnTo>
                  <a:pt x="104775" y="2097786"/>
                </a:lnTo>
                <a:lnTo>
                  <a:pt x="38100" y="2097786"/>
                </a:lnTo>
                <a:lnTo>
                  <a:pt x="38100" y="2078736"/>
                </a:lnTo>
                <a:close/>
              </a:path>
              <a:path w="114300" h="2193290">
                <a:moveTo>
                  <a:pt x="76200" y="0"/>
                </a:moveTo>
                <a:lnTo>
                  <a:pt x="38100" y="0"/>
                </a:lnTo>
                <a:lnTo>
                  <a:pt x="38100" y="2097786"/>
                </a:lnTo>
                <a:lnTo>
                  <a:pt x="76200" y="2097786"/>
                </a:lnTo>
                <a:lnTo>
                  <a:pt x="76200" y="0"/>
                </a:lnTo>
                <a:close/>
              </a:path>
              <a:path w="114300" h="2193290">
                <a:moveTo>
                  <a:pt x="114300" y="2078736"/>
                </a:moveTo>
                <a:lnTo>
                  <a:pt x="76200" y="2078736"/>
                </a:lnTo>
                <a:lnTo>
                  <a:pt x="76200" y="2097786"/>
                </a:lnTo>
                <a:lnTo>
                  <a:pt x="104775" y="2097786"/>
                </a:lnTo>
                <a:lnTo>
                  <a:pt x="114300" y="207873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65960" y="5410961"/>
            <a:ext cx="114300" cy="586740"/>
          </a:xfrm>
          <a:custGeom>
            <a:avLst/>
            <a:gdLst/>
            <a:ahLst/>
            <a:cxnLst/>
            <a:rect l="l" t="t" r="r" b="b"/>
            <a:pathLst>
              <a:path w="114300" h="586739">
                <a:moveTo>
                  <a:pt x="38100" y="472440"/>
                </a:moveTo>
                <a:lnTo>
                  <a:pt x="0" y="472440"/>
                </a:lnTo>
                <a:lnTo>
                  <a:pt x="57150" y="586740"/>
                </a:lnTo>
                <a:lnTo>
                  <a:pt x="104775" y="491490"/>
                </a:lnTo>
                <a:lnTo>
                  <a:pt x="38100" y="491490"/>
                </a:lnTo>
                <a:lnTo>
                  <a:pt x="38100" y="472440"/>
                </a:lnTo>
                <a:close/>
              </a:path>
              <a:path w="114300" h="586739">
                <a:moveTo>
                  <a:pt x="76200" y="0"/>
                </a:moveTo>
                <a:lnTo>
                  <a:pt x="38100" y="0"/>
                </a:lnTo>
                <a:lnTo>
                  <a:pt x="38100" y="491490"/>
                </a:lnTo>
                <a:lnTo>
                  <a:pt x="76200" y="491490"/>
                </a:lnTo>
                <a:lnTo>
                  <a:pt x="76200" y="0"/>
                </a:lnTo>
                <a:close/>
              </a:path>
              <a:path w="114300" h="586739">
                <a:moveTo>
                  <a:pt x="114300" y="472440"/>
                </a:moveTo>
                <a:lnTo>
                  <a:pt x="76200" y="472440"/>
                </a:lnTo>
                <a:lnTo>
                  <a:pt x="76200" y="491490"/>
                </a:lnTo>
                <a:lnTo>
                  <a:pt x="104775" y="491490"/>
                </a:lnTo>
                <a:lnTo>
                  <a:pt x="114300" y="47244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6484" y="1143901"/>
            <a:ext cx="986790" cy="4559300"/>
          </a:xfrm>
          <a:custGeom>
            <a:avLst/>
            <a:gdLst/>
            <a:ahLst/>
            <a:cxnLst/>
            <a:rect l="l" t="t" r="r" b="b"/>
            <a:pathLst>
              <a:path w="986790" h="4559300">
                <a:moveTo>
                  <a:pt x="779627" y="4533900"/>
                </a:moveTo>
                <a:lnTo>
                  <a:pt x="581977" y="4533900"/>
                </a:lnTo>
                <a:lnTo>
                  <a:pt x="600417" y="4546600"/>
                </a:lnTo>
                <a:lnTo>
                  <a:pt x="604100" y="4559300"/>
                </a:lnTo>
                <a:lnTo>
                  <a:pt x="714921" y="4559300"/>
                </a:lnTo>
                <a:lnTo>
                  <a:pt x="728662" y="4546600"/>
                </a:lnTo>
                <a:lnTo>
                  <a:pt x="754710" y="4546600"/>
                </a:lnTo>
                <a:lnTo>
                  <a:pt x="779627" y="4533900"/>
                </a:lnTo>
                <a:close/>
              </a:path>
              <a:path w="986790" h="4559300">
                <a:moveTo>
                  <a:pt x="592924" y="4495800"/>
                </a:moveTo>
                <a:lnTo>
                  <a:pt x="514718" y="4495800"/>
                </a:lnTo>
                <a:lnTo>
                  <a:pt x="515912" y="4508500"/>
                </a:lnTo>
                <a:lnTo>
                  <a:pt x="538530" y="4508500"/>
                </a:lnTo>
                <a:lnTo>
                  <a:pt x="545744" y="4521200"/>
                </a:lnTo>
                <a:lnTo>
                  <a:pt x="563054" y="4521200"/>
                </a:lnTo>
                <a:lnTo>
                  <a:pt x="572160" y="4533900"/>
                </a:lnTo>
                <a:lnTo>
                  <a:pt x="632040" y="4533900"/>
                </a:lnTo>
                <a:lnTo>
                  <a:pt x="622020" y="4521200"/>
                </a:lnTo>
                <a:lnTo>
                  <a:pt x="603123" y="4508500"/>
                </a:lnTo>
                <a:lnTo>
                  <a:pt x="592924" y="4495800"/>
                </a:lnTo>
                <a:close/>
              </a:path>
              <a:path w="986790" h="4559300">
                <a:moveTo>
                  <a:pt x="819213" y="4521200"/>
                </a:moveTo>
                <a:lnTo>
                  <a:pt x="622604" y="4521200"/>
                </a:lnTo>
                <a:lnTo>
                  <a:pt x="634822" y="4533900"/>
                </a:lnTo>
                <a:lnTo>
                  <a:pt x="805675" y="4533900"/>
                </a:lnTo>
                <a:lnTo>
                  <a:pt x="819213" y="4521200"/>
                </a:lnTo>
                <a:close/>
              </a:path>
              <a:path w="986790" h="4559300">
                <a:moveTo>
                  <a:pt x="867918" y="4495800"/>
                </a:moveTo>
                <a:lnTo>
                  <a:pt x="780554" y="4495800"/>
                </a:lnTo>
                <a:lnTo>
                  <a:pt x="769518" y="4508500"/>
                </a:lnTo>
                <a:lnTo>
                  <a:pt x="722566" y="4508500"/>
                </a:lnTo>
                <a:lnTo>
                  <a:pt x="709256" y="4521200"/>
                </a:lnTo>
                <a:lnTo>
                  <a:pt x="833615" y="4521200"/>
                </a:lnTo>
                <a:lnTo>
                  <a:pt x="848842" y="4508500"/>
                </a:lnTo>
                <a:lnTo>
                  <a:pt x="867918" y="4495800"/>
                </a:lnTo>
                <a:close/>
              </a:path>
              <a:path w="986790" h="4559300">
                <a:moveTo>
                  <a:pt x="574281" y="4483100"/>
                </a:moveTo>
                <a:lnTo>
                  <a:pt x="503313" y="4483100"/>
                </a:lnTo>
                <a:lnTo>
                  <a:pt x="506095" y="4495800"/>
                </a:lnTo>
                <a:lnTo>
                  <a:pt x="582993" y="4495800"/>
                </a:lnTo>
                <a:lnTo>
                  <a:pt x="574281" y="4483100"/>
                </a:lnTo>
                <a:close/>
              </a:path>
              <a:path w="986790" h="4559300">
                <a:moveTo>
                  <a:pt x="889215" y="4470400"/>
                </a:moveTo>
                <a:lnTo>
                  <a:pt x="832510" y="4470400"/>
                </a:lnTo>
                <a:lnTo>
                  <a:pt x="818019" y="4483100"/>
                </a:lnTo>
                <a:lnTo>
                  <a:pt x="804799" y="4483100"/>
                </a:lnTo>
                <a:lnTo>
                  <a:pt x="792238" y="4495800"/>
                </a:lnTo>
                <a:lnTo>
                  <a:pt x="870229" y="4495800"/>
                </a:lnTo>
                <a:lnTo>
                  <a:pt x="878293" y="4483100"/>
                </a:lnTo>
                <a:lnTo>
                  <a:pt x="889215" y="4470400"/>
                </a:lnTo>
                <a:close/>
              </a:path>
              <a:path w="986790" h="4559300">
                <a:moveTo>
                  <a:pt x="547941" y="4470400"/>
                </a:moveTo>
                <a:lnTo>
                  <a:pt x="494626" y="4470400"/>
                </a:lnTo>
                <a:lnTo>
                  <a:pt x="498068" y="4483100"/>
                </a:lnTo>
                <a:lnTo>
                  <a:pt x="554939" y="4483100"/>
                </a:lnTo>
                <a:lnTo>
                  <a:pt x="547941" y="4470400"/>
                </a:lnTo>
                <a:close/>
              </a:path>
              <a:path w="986790" h="4559300">
                <a:moveTo>
                  <a:pt x="532726" y="4457700"/>
                </a:moveTo>
                <a:lnTo>
                  <a:pt x="490093" y="4457700"/>
                </a:lnTo>
                <a:lnTo>
                  <a:pt x="492391" y="4470400"/>
                </a:lnTo>
                <a:lnTo>
                  <a:pt x="535368" y="4470400"/>
                </a:lnTo>
                <a:lnTo>
                  <a:pt x="532726" y="4457700"/>
                </a:lnTo>
                <a:close/>
              </a:path>
              <a:path w="986790" h="4559300">
                <a:moveTo>
                  <a:pt x="923632" y="4419600"/>
                </a:moveTo>
                <a:lnTo>
                  <a:pt x="877366" y="4419600"/>
                </a:lnTo>
                <a:lnTo>
                  <a:pt x="870927" y="4432300"/>
                </a:lnTo>
                <a:lnTo>
                  <a:pt x="863041" y="4445000"/>
                </a:lnTo>
                <a:lnTo>
                  <a:pt x="858431" y="4445000"/>
                </a:lnTo>
                <a:lnTo>
                  <a:pt x="847813" y="4470400"/>
                </a:lnTo>
                <a:lnTo>
                  <a:pt x="893940" y="4470400"/>
                </a:lnTo>
                <a:lnTo>
                  <a:pt x="908570" y="4445000"/>
                </a:lnTo>
                <a:lnTo>
                  <a:pt x="913841" y="4432300"/>
                </a:lnTo>
                <a:lnTo>
                  <a:pt x="921245" y="4432300"/>
                </a:lnTo>
                <a:lnTo>
                  <a:pt x="923632" y="4419600"/>
                </a:lnTo>
                <a:close/>
              </a:path>
              <a:path w="986790" h="4559300">
                <a:moveTo>
                  <a:pt x="426618" y="4330700"/>
                </a:moveTo>
                <a:lnTo>
                  <a:pt x="386867" y="4330700"/>
                </a:lnTo>
                <a:lnTo>
                  <a:pt x="390626" y="4343400"/>
                </a:lnTo>
                <a:lnTo>
                  <a:pt x="395363" y="4356100"/>
                </a:lnTo>
                <a:lnTo>
                  <a:pt x="400913" y="4368800"/>
                </a:lnTo>
                <a:lnTo>
                  <a:pt x="407111" y="4381500"/>
                </a:lnTo>
                <a:lnTo>
                  <a:pt x="414058" y="4381500"/>
                </a:lnTo>
                <a:lnTo>
                  <a:pt x="428345" y="4394200"/>
                </a:lnTo>
                <a:lnTo>
                  <a:pt x="458635" y="4419600"/>
                </a:lnTo>
                <a:lnTo>
                  <a:pt x="478040" y="4432300"/>
                </a:lnTo>
                <a:lnTo>
                  <a:pt x="483362" y="4445000"/>
                </a:lnTo>
                <a:lnTo>
                  <a:pt x="484225" y="4445000"/>
                </a:lnTo>
                <a:lnTo>
                  <a:pt x="487400" y="4457700"/>
                </a:lnTo>
                <a:lnTo>
                  <a:pt x="529120" y="4457700"/>
                </a:lnTo>
                <a:lnTo>
                  <a:pt x="526973" y="4445000"/>
                </a:lnTo>
                <a:lnTo>
                  <a:pt x="521677" y="4432300"/>
                </a:lnTo>
                <a:lnTo>
                  <a:pt x="518566" y="4432300"/>
                </a:lnTo>
                <a:lnTo>
                  <a:pt x="511136" y="4419600"/>
                </a:lnTo>
                <a:lnTo>
                  <a:pt x="509676" y="4406900"/>
                </a:lnTo>
                <a:lnTo>
                  <a:pt x="493445" y="4406900"/>
                </a:lnTo>
                <a:lnTo>
                  <a:pt x="480910" y="4394200"/>
                </a:lnTo>
                <a:lnTo>
                  <a:pt x="467982" y="4381500"/>
                </a:lnTo>
                <a:lnTo>
                  <a:pt x="455383" y="4368800"/>
                </a:lnTo>
                <a:lnTo>
                  <a:pt x="443382" y="4356100"/>
                </a:lnTo>
                <a:lnTo>
                  <a:pt x="438327" y="4356100"/>
                </a:lnTo>
                <a:lnTo>
                  <a:pt x="433857" y="4343400"/>
                </a:lnTo>
                <a:lnTo>
                  <a:pt x="429882" y="4343400"/>
                </a:lnTo>
                <a:lnTo>
                  <a:pt x="426618" y="4330700"/>
                </a:lnTo>
                <a:close/>
              </a:path>
              <a:path w="986790" h="4559300">
                <a:moveTo>
                  <a:pt x="476986" y="4432300"/>
                </a:moveTo>
                <a:lnTo>
                  <a:pt x="480885" y="4445000"/>
                </a:lnTo>
                <a:lnTo>
                  <a:pt x="483362" y="4445000"/>
                </a:lnTo>
                <a:lnTo>
                  <a:pt x="476986" y="4432300"/>
                </a:lnTo>
                <a:close/>
              </a:path>
              <a:path w="986790" h="4559300">
                <a:moveTo>
                  <a:pt x="941705" y="4406900"/>
                </a:moveTo>
                <a:lnTo>
                  <a:pt x="889838" y="4406900"/>
                </a:lnTo>
                <a:lnTo>
                  <a:pt x="882192" y="4419600"/>
                </a:lnTo>
                <a:lnTo>
                  <a:pt x="932395" y="4419600"/>
                </a:lnTo>
                <a:lnTo>
                  <a:pt x="941705" y="4406900"/>
                </a:lnTo>
                <a:close/>
              </a:path>
              <a:path w="986790" h="4559300">
                <a:moveTo>
                  <a:pt x="962367" y="4394200"/>
                </a:moveTo>
                <a:lnTo>
                  <a:pt x="896670" y="4394200"/>
                </a:lnTo>
                <a:lnTo>
                  <a:pt x="893152" y="4406900"/>
                </a:lnTo>
                <a:lnTo>
                  <a:pt x="949109" y="4406900"/>
                </a:lnTo>
                <a:lnTo>
                  <a:pt x="962367" y="4394200"/>
                </a:lnTo>
                <a:close/>
              </a:path>
              <a:path w="986790" h="4559300">
                <a:moveTo>
                  <a:pt x="968400" y="4368800"/>
                </a:moveTo>
                <a:lnTo>
                  <a:pt x="936967" y="4368800"/>
                </a:lnTo>
                <a:lnTo>
                  <a:pt x="928649" y="4381500"/>
                </a:lnTo>
                <a:lnTo>
                  <a:pt x="909167" y="4381500"/>
                </a:lnTo>
                <a:lnTo>
                  <a:pt x="904747" y="4394200"/>
                </a:lnTo>
                <a:lnTo>
                  <a:pt x="965390" y="4394200"/>
                </a:lnTo>
                <a:lnTo>
                  <a:pt x="966254" y="4381500"/>
                </a:lnTo>
                <a:lnTo>
                  <a:pt x="968400" y="4368800"/>
                </a:lnTo>
                <a:close/>
              </a:path>
              <a:path w="986790" h="4559300">
                <a:moveTo>
                  <a:pt x="930789" y="4368800"/>
                </a:moveTo>
                <a:lnTo>
                  <a:pt x="927887" y="4368800"/>
                </a:lnTo>
                <a:lnTo>
                  <a:pt x="920813" y="4381500"/>
                </a:lnTo>
                <a:lnTo>
                  <a:pt x="928649" y="4381500"/>
                </a:lnTo>
                <a:lnTo>
                  <a:pt x="930789" y="4368800"/>
                </a:lnTo>
                <a:close/>
              </a:path>
              <a:path w="986790" h="4559300">
                <a:moveTo>
                  <a:pt x="985088" y="4267200"/>
                </a:moveTo>
                <a:lnTo>
                  <a:pt x="946569" y="4267200"/>
                </a:lnTo>
                <a:lnTo>
                  <a:pt x="945400" y="4279900"/>
                </a:lnTo>
                <a:lnTo>
                  <a:pt x="944181" y="4292600"/>
                </a:lnTo>
                <a:lnTo>
                  <a:pt x="942746" y="4292600"/>
                </a:lnTo>
                <a:lnTo>
                  <a:pt x="934681" y="4343400"/>
                </a:lnTo>
                <a:lnTo>
                  <a:pt x="932929" y="4356100"/>
                </a:lnTo>
                <a:lnTo>
                  <a:pt x="928649" y="4381500"/>
                </a:lnTo>
                <a:lnTo>
                  <a:pt x="936967" y="4368800"/>
                </a:lnTo>
                <a:lnTo>
                  <a:pt x="968400" y="4368800"/>
                </a:lnTo>
                <a:lnTo>
                  <a:pt x="970546" y="4356100"/>
                </a:lnTo>
                <a:lnTo>
                  <a:pt x="972223" y="4356100"/>
                </a:lnTo>
                <a:lnTo>
                  <a:pt x="980338" y="4305300"/>
                </a:lnTo>
                <a:lnTo>
                  <a:pt x="981773" y="4292600"/>
                </a:lnTo>
                <a:lnTo>
                  <a:pt x="983030" y="4279900"/>
                </a:lnTo>
                <a:lnTo>
                  <a:pt x="984148" y="4279900"/>
                </a:lnTo>
                <a:lnTo>
                  <a:pt x="985088" y="4267200"/>
                </a:lnTo>
                <a:close/>
              </a:path>
              <a:path w="986790" h="4559300">
                <a:moveTo>
                  <a:pt x="49697" y="457200"/>
                </a:moveTo>
                <a:lnTo>
                  <a:pt x="11727" y="457200"/>
                </a:lnTo>
                <a:lnTo>
                  <a:pt x="8214" y="533400"/>
                </a:lnTo>
                <a:lnTo>
                  <a:pt x="5350" y="596900"/>
                </a:lnTo>
                <a:lnTo>
                  <a:pt x="3152" y="673100"/>
                </a:lnTo>
                <a:lnTo>
                  <a:pt x="1529" y="736600"/>
                </a:lnTo>
                <a:lnTo>
                  <a:pt x="478" y="812800"/>
                </a:lnTo>
                <a:lnTo>
                  <a:pt x="0" y="876300"/>
                </a:lnTo>
                <a:lnTo>
                  <a:pt x="571" y="1016000"/>
                </a:lnTo>
                <a:lnTo>
                  <a:pt x="3242" y="1155700"/>
                </a:lnTo>
                <a:lnTo>
                  <a:pt x="7725" y="1308100"/>
                </a:lnTo>
                <a:lnTo>
                  <a:pt x="13925" y="1447800"/>
                </a:lnTo>
                <a:lnTo>
                  <a:pt x="21747" y="1574800"/>
                </a:lnTo>
                <a:lnTo>
                  <a:pt x="24768" y="1739900"/>
                </a:lnTo>
                <a:lnTo>
                  <a:pt x="30101" y="2057400"/>
                </a:lnTo>
                <a:lnTo>
                  <a:pt x="33341" y="2222500"/>
                </a:lnTo>
                <a:lnTo>
                  <a:pt x="37726" y="2387600"/>
                </a:lnTo>
                <a:lnTo>
                  <a:pt x="43541" y="2539999"/>
                </a:lnTo>
                <a:lnTo>
                  <a:pt x="47264" y="2616199"/>
                </a:lnTo>
                <a:lnTo>
                  <a:pt x="51558" y="2705099"/>
                </a:lnTo>
                <a:lnTo>
                  <a:pt x="56423" y="2781299"/>
                </a:lnTo>
                <a:lnTo>
                  <a:pt x="62052" y="2857499"/>
                </a:lnTo>
                <a:lnTo>
                  <a:pt x="66294" y="2908299"/>
                </a:lnTo>
                <a:lnTo>
                  <a:pt x="72491" y="2946399"/>
                </a:lnTo>
                <a:lnTo>
                  <a:pt x="80022" y="2984499"/>
                </a:lnTo>
                <a:lnTo>
                  <a:pt x="88493" y="3035299"/>
                </a:lnTo>
                <a:lnTo>
                  <a:pt x="106476" y="3111499"/>
                </a:lnTo>
                <a:lnTo>
                  <a:pt x="115011" y="3149599"/>
                </a:lnTo>
                <a:lnTo>
                  <a:pt x="122758" y="3187699"/>
                </a:lnTo>
                <a:lnTo>
                  <a:pt x="130695" y="3238499"/>
                </a:lnTo>
                <a:lnTo>
                  <a:pt x="136829" y="3289300"/>
                </a:lnTo>
                <a:lnTo>
                  <a:pt x="142036" y="3340100"/>
                </a:lnTo>
                <a:lnTo>
                  <a:pt x="147485" y="3378200"/>
                </a:lnTo>
                <a:lnTo>
                  <a:pt x="150672" y="3403600"/>
                </a:lnTo>
                <a:lnTo>
                  <a:pt x="154355" y="3429000"/>
                </a:lnTo>
                <a:lnTo>
                  <a:pt x="158635" y="3454400"/>
                </a:lnTo>
                <a:lnTo>
                  <a:pt x="163626" y="3467100"/>
                </a:lnTo>
                <a:lnTo>
                  <a:pt x="169646" y="3492500"/>
                </a:lnTo>
                <a:lnTo>
                  <a:pt x="176771" y="3517900"/>
                </a:lnTo>
                <a:lnTo>
                  <a:pt x="185000" y="3543300"/>
                </a:lnTo>
                <a:lnTo>
                  <a:pt x="194703" y="3556000"/>
                </a:lnTo>
                <a:lnTo>
                  <a:pt x="193027" y="3556000"/>
                </a:lnTo>
                <a:lnTo>
                  <a:pt x="196164" y="3594100"/>
                </a:lnTo>
                <a:lnTo>
                  <a:pt x="197307" y="3619500"/>
                </a:lnTo>
                <a:lnTo>
                  <a:pt x="198450" y="3632200"/>
                </a:lnTo>
                <a:lnTo>
                  <a:pt x="199682" y="3644900"/>
                </a:lnTo>
                <a:lnTo>
                  <a:pt x="202463" y="3683000"/>
                </a:lnTo>
                <a:lnTo>
                  <a:pt x="206019" y="3721100"/>
                </a:lnTo>
                <a:lnTo>
                  <a:pt x="208153" y="3746500"/>
                </a:lnTo>
                <a:lnTo>
                  <a:pt x="210591" y="3759200"/>
                </a:lnTo>
                <a:lnTo>
                  <a:pt x="213321" y="3771900"/>
                </a:lnTo>
                <a:lnTo>
                  <a:pt x="216484" y="3797300"/>
                </a:lnTo>
                <a:lnTo>
                  <a:pt x="219964" y="3810000"/>
                </a:lnTo>
                <a:lnTo>
                  <a:pt x="223926" y="3822700"/>
                </a:lnTo>
                <a:lnTo>
                  <a:pt x="227482" y="3835400"/>
                </a:lnTo>
                <a:lnTo>
                  <a:pt x="231482" y="3835400"/>
                </a:lnTo>
                <a:lnTo>
                  <a:pt x="240309" y="3860800"/>
                </a:lnTo>
                <a:lnTo>
                  <a:pt x="248627" y="3873500"/>
                </a:lnTo>
                <a:lnTo>
                  <a:pt x="252031" y="3873500"/>
                </a:lnTo>
                <a:lnTo>
                  <a:pt x="254901" y="3886200"/>
                </a:lnTo>
                <a:lnTo>
                  <a:pt x="265747" y="3911600"/>
                </a:lnTo>
                <a:lnTo>
                  <a:pt x="276301" y="3937000"/>
                </a:lnTo>
                <a:lnTo>
                  <a:pt x="285889" y="3975100"/>
                </a:lnTo>
                <a:lnTo>
                  <a:pt x="294424" y="4000500"/>
                </a:lnTo>
                <a:lnTo>
                  <a:pt x="299008" y="4025900"/>
                </a:lnTo>
                <a:lnTo>
                  <a:pt x="303644" y="4038600"/>
                </a:lnTo>
                <a:lnTo>
                  <a:pt x="308673" y="4064000"/>
                </a:lnTo>
                <a:lnTo>
                  <a:pt x="314617" y="4089400"/>
                </a:lnTo>
                <a:lnTo>
                  <a:pt x="318477" y="4089400"/>
                </a:lnTo>
                <a:lnTo>
                  <a:pt x="322529" y="4102100"/>
                </a:lnTo>
                <a:lnTo>
                  <a:pt x="330847" y="4114800"/>
                </a:lnTo>
                <a:lnTo>
                  <a:pt x="339013" y="4127500"/>
                </a:lnTo>
                <a:lnTo>
                  <a:pt x="342519" y="4140200"/>
                </a:lnTo>
                <a:lnTo>
                  <a:pt x="345732" y="4152900"/>
                </a:lnTo>
                <a:lnTo>
                  <a:pt x="350202" y="4152900"/>
                </a:lnTo>
                <a:lnTo>
                  <a:pt x="354088" y="4165600"/>
                </a:lnTo>
                <a:lnTo>
                  <a:pt x="360616" y="4191000"/>
                </a:lnTo>
                <a:lnTo>
                  <a:pt x="365429" y="4203700"/>
                </a:lnTo>
                <a:lnTo>
                  <a:pt x="369303" y="4229100"/>
                </a:lnTo>
                <a:lnTo>
                  <a:pt x="372694" y="4241800"/>
                </a:lnTo>
                <a:lnTo>
                  <a:pt x="374370" y="4254500"/>
                </a:lnTo>
                <a:lnTo>
                  <a:pt x="377863" y="4279900"/>
                </a:lnTo>
                <a:lnTo>
                  <a:pt x="382066" y="4305300"/>
                </a:lnTo>
                <a:lnTo>
                  <a:pt x="384568" y="4330700"/>
                </a:lnTo>
                <a:lnTo>
                  <a:pt x="424091" y="4330700"/>
                </a:lnTo>
                <a:lnTo>
                  <a:pt x="422198" y="4318000"/>
                </a:lnTo>
                <a:lnTo>
                  <a:pt x="419747" y="4305300"/>
                </a:lnTo>
                <a:lnTo>
                  <a:pt x="415569" y="4279900"/>
                </a:lnTo>
                <a:lnTo>
                  <a:pt x="412013" y="4254500"/>
                </a:lnTo>
                <a:lnTo>
                  <a:pt x="410260" y="4241800"/>
                </a:lnTo>
                <a:lnTo>
                  <a:pt x="406603" y="4216400"/>
                </a:lnTo>
                <a:lnTo>
                  <a:pt x="402285" y="4203700"/>
                </a:lnTo>
                <a:lnTo>
                  <a:pt x="396811" y="4178300"/>
                </a:lnTo>
                <a:lnTo>
                  <a:pt x="389813" y="4152900"/>
                </a:lnTo>
                <a:lnTo>
                  <a:pt x="385508" y="4140200"/>
                </a:lnTo>
                <a:lnTo>
                  <a:pt x="380453" y="4127500"/>
                </a:lnTo>
                <a:lnTo>
                  <a:pt x="376428" y="4127500"/>
                </a:lnTo>
                <a:lnTo>
                  <a:pt x="372313" y="4114800"/>
                </a:lnTo>
                <a:lnTo>
                  <a:pt x="364477" y="4102100"/>
                </a:lnTo>
                <a:lnTo>
                  <a:pt x="357174" y="4089400"/>
                </a:lnTo>
                <a:lnTo>
                  <a:pt x="353987" y="4076700"/>
                </a:lnTo>
                <a:lnTo>
                  <a:pt x="351180" y="4076700"/>
                </a:lnTo>
                <a:lnTo>
                  <a:pt x="345694" y="4051300"/>
                </a:lnTo>
                <a:lnTo>
                  <a:pt x="340817" y="4038600"/>
                </a:lnTo>
                <a:lnTo>
                  <a:pt x="336118" y="4013200"/>
                </a:lnTo>
                <a:lnTo>
                  <a:pt x="331177" y="3987800"/>
                </a:lnTo>
                <a:lnTo>
                  <a:pt x="322186" y="3962400"/>
                </a:lnTo>
                <a:lnTo>
                  <a:pt x="312153" y="3924300"/>
                </a:lnTo>
                <a:lnTo>
                  <a:pt x="301371" y="3898900"/>
                </a:lnTo>
                <a:lnTo>
                  <a:pt x="289928" y="3873500"/>
                </a:lnTo>
                <a:lnTo>
                  <a:pt x="285940" y="3860800"/>
                </a:lnTo>
                <a:lnTo>
                  <a:pt x="281724" y="3848100"/>
                </a:lnTo>
                <a:lnTo>
                  <a:pt x="273659" y="3835400"/>
                </a:lnTo>
                <a:lnTo>
                  <a:pt x="266293" y="3822700"/>
                </a:lnTo>
                <a:lnTo>
                  <a:pt x="263245" y="3822700"/>
                </a:lnTo>
                <a:lnTo>
                  <a:pt x="260515" y="3810000"/>
                </a:lnTo>
                <a:lnTo>
                  <a:pt x="257048" y="3797300"/>
                </a:lnTo>
                <a:lnTo>
                  <a:pt x="253860" y="3784600"/>
                </a:lnTo>
                <a:lnTo>
                  <a:pt x="250926" y="3771900"/>
                </a:lnTo>
                <a:lnTo>
                  <a:pt x="248323" y="3759200"/>
                </a:lnTo>
                <a:lnTo>
                  <a:pt x="245999" y="3733800"/>
                </a:lnTo>
                <a:lnTo>
                  <a:pt x="243941" y="3721100"/>
                </a:lnTo>
                <a:lnTo>
                  <a:pt x="240449" y="3683000"/>
                </a:lnTo>
                <a:lnTo>
                  <a:pt x="237693" y="3644900"/>
                </a:lnTo>
                <a:lnTo>
                  <a:pt x="236461" y="3632200"/>
                </a:lnTo>
                <a:lnTo>
                  <a:pt x="235318" y="3606800"/>
                </a:lnTo>
                <a:lnTo>
                  <a:pt x="234175" y="3594100"/>
                </a:lnTo>
                <a:lnTo>
                  <a:pt x="232067" y="3568700"/>
                </a:lnTo>
                <a:lnTo>
                  <a:pt x="230847" y="3543300"/>
                </a:lnTo>
                <a:lnTo>
                  <a:pt x="230289" y="3543300"/>
                </a:lnTo>
                <a:lnTo>
                  <a:pt x="220573" y="3517900"/>
                </a:lnTo>
                <a:lnTo>
                  <a:pt x="212991" y="3505200"/>
                </a:lnTo>
                <a:lnTo>
                  <a:pt x="206400" y="3479800"/>
                </a:lnTo>
                <a:lnTo>
                  <a:pt x="200799" y="3467100"/>
                </a:lnTo>
                <a:lnTo>
                  <a:pt x="196075" y="3441700"/>
                </a:lnTo>
                <a:lnTo>
                  <a:pt x="191973" y="3416300"/>
                </a:lnTo>
                <a:lnTo>
                  <a:pt x="188417" y="3403600"/>
                </a:lnTo>
                <a:lnTo>
                  <a:pt x="185318" y="3378200"/>
                </a:lnTo>
                <a:lnTo>
                  <a:pt x="179908" y="3327400"/>
                </a:lnTo>
                <a:lnTo>
                  <a:pt x="174637" y="3276600"/>
                </a:lnTo>
                <a:lnTo>
                  <a:pt x="168389" y="3238499"/>
                </a:lnTo>
                <a:lnTo>
                  <a:pt x="164592" y="3213099"/>
                </a:lnTo>
                <a:lnTo>
                  <a:pt x="160134" y="3174999"/>
                </a:lnTo>
                <a:lnTo>
                  <a:pt x="152260" y="3136899"/>
                </a:lnTo>
                <a:lnTo>
                  <a:pt x="143649" y="3098799"/>
                </a:lnTo>
                <a:lnTo>
                  <a:pt x="125818" y="3022599"/>
                </a:lnTo>
                <a:lnTo>
                  <a:pt x="117525" y="2984499"/>
                </a:lnTo>
                <a:lnTo>
                  <a:pt x="110197" y="2946399"/>
                </a:lnTo>
                <a:lnTo>
                  <a:pt x="104203" y="2895599"/>
                </a:lnTo>
                <a:lnTo>
                  <a:pt x="100063" y="2857499"/>
                </a:lnTo>
                <a:lnTo>
                  <a:pt x="94449" y="2781299"/>
                </a:lnTo>
                <a:lnTo>
                  <a:pt x="89598" y="2705099"/>
                </a:lnTo>
                <a:lnTo>
                  <a:pt x="85318" y="2616199"/>
                </a:lnTo>
                <a:lnTo>
                  <a:pt x="81622" y="2539999"/>
                </a:lnTo>
                <a:lnTo>
                  <a:pt x="75806" y="2374900"/>
                </a:lnTo>
                <a:lnTo>
                  <a:pt x="71437" y="2222500"/>
                </a:lnTo>
                <a:lnTo>
                  <a:pt x="68199" y="2057400"/>
                </a:lnTo>
                <a:lnTo>
                  <a:pt x="62865" y="1739900"/>
                </a:lnTo>
                <a:lnTo>
                  <a:pt x="59786" y="1574800"/>
                </a:lnTo>
                <a:lnTo>
                  <a:pt x="51987" y="1435100"/>
                </a:lnTo>
                <a:lnTo>
                  <a:pt x="45805" y="1295400"/>
                </a:lnTo>
                <a:lnTo>
                  <a:pt x="41334" y="1155700"/>
                </a:lnTo>
                <a:lnTo>
                  <a:pt x="38671" y="1016000"/>
                </a:lnTo>
                <a:lnTo>
                  <a:pt x="38099" y="876300"/>
                </a:lnTo>
                <a:lnTo>
                  <a:pt x="38573" y="812800"/>
                </a:lnTo>
                <a:lnTo>
                  <a:pt x="39618" y="736600"/>
                </a:lnTo>
                <a:lnTo>
                  <a:pt x="41234" y="673100"/>
                </a:lnTo>
                <a:lnTo>
                  <a:pt x="43417" y="596900"/>
                </a:lnTo>
                <a:lnTo>
                  <a:pt x="49126" y="469900"/>
                </a:lnTo>
                <a:lnTo>
                  <a:pt x="48760" y="469900"/>
                </a:lnTo>
                <a:lnTo>
                  <a:pt x="49697" y="457200"/>
                </a:lnTo>
                <a:close/>
              </a:path>
              <a:path w="986790" h="4559300">
                <a:moveTo>
                  <a:pt x="948867" y="4254500"/>
                </a:moveTo>
                <a:lnTo>
                  <a:pt x="948512" y="4254500"/>
                </a:lnTo>
                <a:lnTo>
                  <a:pt x="947534" y="4267200"/>
                </a:lnTo>
                <a:lnTo>
                  <a:pt x="986231" y="4267200"/>
                </a:lnTo>
                <a:lnTo>
                  <a:pt x="948867" y="4254500"/>
                </a:lnTo>
                <a:close/>
              </a:path>
              <a:path w="986790" h="4559300">
                <a:moveTo>
                  <a:pt x="623784" y="414809"/>
                </a:moveTo>
                <a:lnTo>
                  <a:pt x="585419" y="419100"/>
                </a:lnTo>
                <a:lnTo>
                  <a:pt x="655320" y="520700"/>
                </a:lnTo>
                <a:lnTo>
                  <a:pt x="689269" y="431800"/>
                </a:lnTo>
                <a:lnTo>
                  <a:pt x="625449" y="431800"/>
                </a:lnTo>
                <a:lnTo>
                  <a:pt x="623784" y="414809"/>
                </a:lnTo>
                <a:close/>
              </a:path>
              <a:path w="986790" h="4559300">
                <a:moveTo>
                  <a:pt x="49697" y="457200"/>
                </a:moveTo>
                <a:lnTo>
                  <a:pt x="48760" y="469900"/>
                </a:lnTo>
                <a:lnTo>
                  <a:pt x="49208" y="468078"/>
                </a:lnTo>
                <a:lnTo>
                  <a:pt x="49697" y="457200"/>
                </a:lnTo>
                <a:close/>
              </a:path>
              <a:path w="986790" h="4559300">
                <a:moveTo>
                  <a:pt x="49208" y="468078"/>
                </a:moveTo>
                <a:lnTo>
                  <a:pt x="48760" y="469900"/>
                </a:lnTo>
                <a:lnTo>
                  <a:pt x="49126" y="469900"/>
                </a:lnTo>
                <a:lnTo>
                  <a:pt x="49208" y="468078"/>
                </a:lnTo>
                <a:close/>
              </a:path>
              <a:path w="986790" h="4559300">
                <a:moveTo>
                  <a:pt x="59668" y="431800"/>
                </a:moveTo>
                <a:lnTo>
                  <a:pt x="18622" y="431800"/>
                </a:lnTo>
                <a:lnTo>
                  <a:pt x="15741" y="444500"/>
                </a:lnTo>
                <a:lnTo>
                  <a:pt x="12043" y="457200"/>
                </a:lnTo>
                <a:lnTo>
                  <a:pt x="49697" y="457200"/>
                </a:lnTo>
                <a:lnTo>
                  <a:pt x="49208" y="468078"/>
                </a:lnTo>
                <a:lnTo>
                  <a:pt x="51885" y="457200"/>
                </a:lnTo>
                <a:lnTo>
                  <a:pt x="57238" y="444500"/>
                </a:lnTo>
                <a:lnTo>
                  <a:pt x="59668" y="431800"/>
                </a:lnTo>
                <a:close/>
              </a:path>
              <a:path w="986790" h="4559300">
                <a:moveTo>
                  <a:pt x="63601" y="419100"/>
                </a:moveTo>
                <a:lnTo>
                  <a:pt x="23580" y="419100"/>
                </a:lnTo>
                <a:lnTo>
                  <a:pt x="21247" y="431800"/>
                </a:lnTo>
                <a:lnTo>
                  <a:pt x="61823" y="431800"/>
                </a:lnTo>
                <a:lnTo>
                  <a:pt x="63601" y="419100"/>
                </a:lnTo>
                <a:close/>
              </a:path>
              <a:path w="986790" h="4559300">
                <a:moveTo>
                  <a:pt x="661232" y="410620"/>
                </a:moveTo>
                <a:lnTo>
                  <a:pt x="623784" y="414809"/>
                </a:lnTo>
                <a:lnTo>
                  <a:pt x="625449" y="431800"/>
                </a:lnTo>
                <a:lnTo>
                  <a:pt x="663308" y="431800"/>
                </a:lnTo>
                <a:lnTo>
                  <a:pt x="661232" y="410620"/>
                </a:lnTo>
                <a:close/>
              </a:path>
              <a:path w="986790" h="4559300">
                <a:moveTo>
                  <a:pt x="698969" y="406400"/>
                </a:moveTo>
                <a:lnTo>
                  <a:pt x="661232" y="410620"/>
                </a:lnTo>
                <a:lnTo>
                  <a:pt x="663308" y="431800"/>
                </a:lnTo>
                <a:lnTo>
                  <a:pt x="689269" y="431800"/>
                </a:lnTo>
                <a:lnTo>
                  <a:pt x="698969" y="406400"/>
                </a:lnTo>
                <a:close/>
              </a:path>
              <a:path w="986790" h="4559300">
                <a:moveTo>
                  <a:pt x="71577" y="393700"/>
                </a:moveTo>
                <a:lnTo>
                  <a:pt x="32698" y="393700"/>
                </a:lnTo>
                <a:lnTo>
                  <a:pt x="30431" y="406400"/>
                </a:lnTo>
                <a:lnTo>
                  <a:pt x="25615" y="419100"/>
                </a:lnTo>
                <a:lnTo>
                  <a:pt x="66916" y="419100"/>
                </a:lnTo>
                <a:lnTo>
                  <a:pt x="69405" y="406400"/>
                </a:lnTo>
                <a:lnTo>
                  <a:pt x="71577" y="393700"/>
                </a:lnTo>
                <a:close/>
              </a:path>
              <a:path w="986790" h="4559300">
                <a:moveTo>
                  <a:pt x="430568" y="0"/>
                </a:moveTo>
                <a:lnTo>
                  <a:pt x="271056" y="0"/>
                </a:lnTo>
                <a:lnTo>
                  <a:pt x="240195" y="12700"/>
                </a:lnTo>
                <a:lnTo>
                  <a:pt x="175425" y="12700"/>
                </a:lnTo>
                <a:lnTo>
                  <a:pt x="170091" y="25400"/>
                </a:lnTo>
                <a:lnTo>
                  <a:pt x="413105" y="25400"/>
                </a:lnTo>
                <a:lnTo>
                  <a:pt x="439267" y="50800"/>
                </a:lnTo>
                <a:lnTo>
                  <a:pt x="464769" y="63500"/>
                </a:lnTo>
                <a:lnTo>
                  <a:pt x="476973" y="76200"/>
                </a:lnTo>
                <a:lnTo>
                  <a:pt x="488708" y="88900"/>
                </a:lnTo>
                <a:lnTo>
                  <a:pt x="499986" y="88900"/>
                </a:lnTo>
                <a:lnTo>
                  <a:pt x="510819" y="101600"/>
                </a:lnTo>
                <a:lnTo>
                  <a:pt x="521144" y="114300"/>
                </a:lnTo>
                <a:lnTo>
                  <a:pt x="530974" y="139700"/>
                </a:lnTo>
                <a:lnTo>
                  <a:pt x="540283" y="152400"/>
                </a:lnTo>
                <a:lnTo>
                  <a:pt x="549109" y="165100"/>
                </a:lnTo>
                <a:lnTo>
                  <a:pt x="553199" y="177800"/>
                </a:lnTo>
                <a:lnTo>
                  <a:pt x="557098" y="190500"/>
                </a:lnTo>
                <a:lnTo>
                  <a:pt x="560781" y="203200"/>
                </a:lnTo>
                <a:lnTo>
                  <a:pt x="564261" y="203200"/>
                </a:lnTo>
                <a:lnTo>
                  <a:pt x="567537" y="215900"/>
                </a:lnTo>
                <a:lnTo>
                  <a:pt x="570572" y="228600"/>
                </a:lnTo>
                <a:lnTo>
                  <a:pt x="573417" y="254000"/>
                </a:lnTo>
                <a:lnTo>
                  <a:pt x="576567" y="266700"/>
                </a:lnTo>
                <a:lnTo>
                  <a:pt x="579170" y="266700"/>
                </a:lnTo>
                <a:lnTo>
                  <a:pt x="587997" y="279400"/>
                </a:lnTo>
                <a:lnTo>
                  <a:pt x="606666" y="317500"/>
                </a:lnTo>
                <a:lnTo>
                  <a:pt x="617067" y="355600"/>
                </a:lnTo>
                <a:lnTo>
                  <a:pt x="619366" y="381000"/>
                </a:lnTo>
                <a:lnTo>
                  <a:pt x="621309" y="393700"/>
                </a:lnTo>
                <a:lnTo>
                  <a:pt x="622960" y="406400"/>
                </a:lnTo>
                <a:lnTo>
                  <a:pt x="623784" y="414809"/>
                </a:lnTo>
                <a:lnTo>
                  <a:pt x="661232" y="410620"/>
                </a:lnTo>
                <a:lnTo>
                  <a:pt x="660819" y="406400"/>
                </a:lnTo>
                <a:lnTo>
                  <a:pt x="659231" y="393700"/>
                </a:lnTo>
                <a:lnTo>
                  <a:pt x="657174" y="368300"/>
                </a:lnTo>
                <a:lnTo>
                  <a:pt x="654710" y="355600"/>
                </a:lnTo>
                <a:lnTo>
                  <a:pt x="651738" y="342900"/>
                </a:lnTo>
                <a:lnTo>
                  <a:pt x="647776" y="330200"/>
                </a:lnTo>
                <a:lnTo>
                  <a:pt x="643013" y="304800"/>
                </a:lnTo>
                <a:lnTo>
                  <a:pt x="637057" y="292100"/>
                </a:lnTo>
                <a:lnTo>
                  <a:pt x="629678" y="279400"/>
                </a:lnTo>
                <a:lnTo>
                  <a:pt x="620915" y="266700"/>
                </a:lnTo>
                <a:lnTo>
                  <a:pt x="610501" y="254000"/>
                </a:lnTo>
                <a:lnTo>
                  <a:pt x="613587" y="254000"/>
                </a:lnTo>
                <a:lnTo>
                  <a:pt x="604608" y="215900"/>
                </a:lnTo>
                <a:lnTo>
                  <a:pt x="593140" y="177800"/>
                </a:lnTo>
                <a:lnTo>
                  <a:pt x="574522" y="127000"/>
                </a:lnTo>
                <a:lnTo>
                  <a:pt x="540359" y="88900"/>
                </a:lnTo>
                <a:lnTo>
                  <a:pt x="527761" y="63500"/>
                </a:lnTo>
                <a:lnTo>
                  <a:pt x="514654" y="50800"/>
                </a:lnTo>
                <a:lnTo>
                  <a:pt x="501243" y="50800"/>
                </a:lnTo>
                <a:lnTo>
                  <a:pt x="460844" y="12700"/>
                </a:lnTo>
                <a:lnTo>
                  <a:pt x="430568" y="0"/>
                </a:lnTo>
                <a:close/>
              </a:path>
              <a:path w="986790" h="4559300">
                <a:moveTo>
                  <a:pt x="182562" y="50800"/>
                </a:moveTo>
                <a:lnTo>
                  <a:pt x="139839" y="50800"/>
                </a:lnTo>
                <a:lnTo>
                  <a:pt x="133718" y="63500"/>
                </a:lnTo>
                <a:lnTo>
                  <a:pt x="128549" y="88900"/>
                </a:lnTo>
                <a:lnTo>
                  <a:pt x="123812" y="101600"/>
                </a:lnTo>
                <a:lnTo>
                  <a:pt x="119037" y="114300"/>
                </a:lnTo>
                <a:lnTo>
                  <a:pt x="116624" y="127000"/>
                </a:lnTo>
                <a:lnTo>
                  <a:pt x="114020" y="127000"/>
                </a:lnTo>
                <a:lnTo>
                  <a:pt x="85166" y="177800"/>
                </a:lnTo>
                <a:lnTo>
                  <a:pt x="61658" y="215900"/>
                </a:lnTo>
                <a:lnTo>
                  <a:pt x="53025" y="228600"/>
                </a:lnTo>
                <a:lnTo>
                  <a:pt x="52322" y="228600"/>
                </a:lnTo>
                <a:lnTo>
                  <a:pt x="50045" y="254000"/>
                </a:lnTo>
                <a:lnTo>
                  <a:pt x="45252" y="292100"/>
                </a:lnTo>
                <a:lnTo>
                  <a:pt x="41911" y="330200"/>
                </a:lnTo>
                <a:lnTo>
                  <a:pt x="41128" y="330200"/>
                </a:lnTo>
                <a:lnTo>
                  <a:pt x="39712" y="355600"/>
                </a:lnTo>
                <a:lnTo>
                  <a:pt x="39135" y="355600"/>
                </a:lnTo>
                <a:lnTo>
                  <a:pt x="37626" y="368300"/>
                </a:lnTo>
                <a:lnTo>
                  <a:pt x="36649" y="381000"/>
                </a:lnTo>
                <a:lnTo>
                  <a:pt x="35596" y="381000"/>
                </a:lnTo>
                <a:lnTo>
                  <a:pt x="34343" y="393700"/>
                </a:lnTo>
                <a:lnTo>
                  <a:pt x="73177" y="393700"/>
                </a:lnTo>
                <a:lnTo>
                  <a:pt x="74409" y="381000"/>
                </a:lnTo>
                <a:lnTo>
                  <a:pt x="75526" y="368300"/>
                </a:lnTo>
                <a:lnTo>
                  <a:pt x="77063" y="355600"/>
                </a:lnTo>
                <a:lnTo>
                  <a:pt x="78295" y="342900"/>
                </a:lnTo>
                <a:lnTo>
                  <a:pt x="79070" y="342900"/>
                </a:lnTo>
                <a:lnTo>
                  <a:pt x="79819" y="330200"/>
                </a:lnTo>
                <a:lnTo>
                  <a:pt x="80746" y="317500"/>
                </a:lnTo>
                <a:lnTo>
                  <a:pt x="81902" y="304800"/>
                </a:lnTo>
                <a:lnTo>
                  <a:pt x="83146" y="304800"/>
                </a:lnTo>
                <a:lnTo>
                  <a:pt x="84455" y="292100"/>
                </a:lnTo>
                <a:lnTo>
                  <a:pt x="86067" y="279400"/>
                </a:lnTo>
                <a:lnTo>
                  <a:pt x="88607" y="254000"/>
                </a:lnTo>
                <a:lnTo>
                  <a:pt x="87807" y="254000"/>
                </a:lnTo>
                <a:lnTo>
                  <a:pt x="89877" y="241300"/>
                </a:lnTo>
                <a:lnTo>
                  <a:pt x="94551" y="241300"/>
                </a:lnTo>
                <a:lnTo>
                  <a:pt x="101676" y="228600"/>
                </a:lnTo>
                <a:lnTo>
                  <a:pt x="117335" y="203200"/>
                </a:lnTo>
                <a:lnTo>
                  <a:pt x="141147" y="165100"/>
                </a:lnTo>
                <a:lnTo>
                  <a:pt x="148869" y="139700"/>
                </a:lnTo>
                <a:lnTo>
                  <a:pt x="152171" y="139700"/>
                </a:lnTo>
                <a:lnTo>
                  <a:pt x="155282" y="127000"/>
                </a:lnTo>
                <a:lnTo>
                  <a:pt x="160413" y="114300"/>
                </a:lnTo>
                <a:lnTo>
                  <a:pt x="165011" y="101600"/>
                </a:lnTo>
                <a:lnTo>
                  <a:pt x="169367" y="88900"/>
                </a:lnTo>
                <a:lnTo>
                  <a:pt x="174104" y="76200"/>
                </a:lnTo>
                <a:lnTo>
                  <a:pt x="176453" y="63500"/>
                </a:lnTo>
                <a:lnTo>
                  <a:pt x="178752" y="63500"/>
                </a:lnTo>
                <a:lnTo>
                  <a:pt x="182562" y="50800"/>
                </a:lnTo>
                <a:close/>
              </a:path>
              <a:path w="986790" h="4559300">
                <a:moveTo>
                  <a:pt x="89877" y="241300"/>
                </a:moveTo>
                <a:lnTo>
                  <a:pt x="87807" y="254000"/>
                </a:lnTo>
                <a:lnTo>
                  <a:pt x="88793" y="252143"/>
                </a:lnTo>
                <a:lnTo>
                  <a:pt x="89877" y="241300"/>
                </a:lnTo>
                <a:close/>
              </a:path>
              <a:path w="986790" h="4559300">
                <a:moveTo>
                  <a:pt x="88793" y="252143"/>
                </a:moveTo>
                <a:lnTo>
                  <a:pt x="87807" y="254000"/>
                </a:lnTo>
                <a:lnTo>
                  <a:pt x="88607" y="254000"/>
                </a:lnTo>
                <a:lnTo>
                  <a:pt x="88793" y="252143"/>
                </a:lnTo>
                <a:close/>
              </a:path>
              <a:path w="986790" h="4559300">
                <a:moveTo>
                  <a:pt x="94551" y="241300"/>
                </a:moveTo>
                <a:lnTo>
                  <a:pt x="89877" y="241300"/>
                </a:lnTo>
                <a:lnTo>
                  <a:pt x="88793" y="252143"/>
                </a:lnTo>
                <a:lnTo>
                  <a:pt x="94551" y="241300"/>
                </a:lnTo>
                <a:close/>
              </a:path>
              <a:path w="986790" h="4559300">
                <a:moveTo>
                  <a:pt x="184632" y="50800"/>
                </a:moveTo>
                <a:lnTo>
                  <a:pt x="182562" y="50800"/>
                </a:lnTo>
                <a:lnTo>
                  <a:pt x="180352" y="63500"/>
                </a:lnTo>
                <a:lnTo>
                  <a:pt x="184632" y="50800"/>
                </a:lnTo>
                <a:close/>
              </a:path>
              <a:path w="986790" h="4559300">
                <a:moveTo>
                  <a:pt x="273202" y="38100"/>
                </a:moveTo>
                <a:lnTo>
                  <a:pt x="148336" y="38100"/>
                </a:lnTo>
                <a:lnTo>
                  <a:pt x="143776" y="50800"/>
                </a:lnTo>
                <a:lnTo>
                  <a:pt x="243674" y="50800"/>
                </a:lnTo>
                <a:lnTo>
                  <a:pt x="273202" y="38100"/>
                </a:lnTo>
                <a:close/>
              </a:path>
              <a:path w="986790" h="4559300">
                <a:moveTo>
                  <a:pt x="413105" y="25400"/>
                </a:moveTo>
                <a:lnTo>
                  <a:pt x="153555" y="25400"/>
                </a:lnTo>
                <a:lnTo>
                  <a:pt x="152806" y="38100"/>
                </a:lnTo>
                <a:lnTo>
                  <a:pt x="424891" y="38100"/>
                </a:lnTo>
                <a:lnTo>
                  <a:pt x="413105" y="25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171445" y="709422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235198" y="1928875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471417" y="2084324"/>
            <a:ext cx="16129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spc="15" dirty="0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48691" y="2907029"/>
            <a:ext cx="1061085" cy="852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0875">
              <a:lnSpc>
                <a:spcPts val="3254"/>
              </a:lnSpc>
              <a:spcBef>
                <a:spcPts val="9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150" baseline="-14550">
              <a:latin typeface="Times New Roman"/>
              <a:cs typeface="Times New Roman"/>
            </a:endParaRPr>
          </a:p>
          <a:p>
            <a:pPr marL="38100">
              <a:lnSpc>
                <a:spcPts val="3254"/>
              </a:lnSpc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u=u+1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49782" y="3925974"/>
            <a:ext cx="2657475" cy="14566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721485">
              <a:lnSpc>
                <a:spcPct val="100000"/>
              </a:lnSpc>
              <a:spcBef>
                <a:spcPts val="42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150" baseline="-145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80"/>
              </a:spcBef>
            </a:pPr>
            <a:r>
              <a:rPr sz="3200" b="1" dirty="0">
                <a:solidFill>
                  <a:srgbClr val="FFFF99"/>
                </a:solidFill>
                <a:latin typeface="Times New Roman"/>
                <a:cs typeface="Times New Roman"/>
              </a:rPr>
              <a:t>i=3</a:t>
            </a:r>
            <a:r>
              <a:rPr sz="3200" b="1" spc="-10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99"/>
                </a:solidFill>
                <a:latin typeface="Times New Roman"/>
                <a:cs typeface="Times New Roman"/>
              </a:rPr>
              <a:t>;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v=v-1;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tabLst>
                <a:tab pos="2204085" algn="l"/>
              </a:tabLst>
            </a:pP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if</a:t>
            </a:r>
            <a:r>
              <a:rPr sz="2800" b="1" spc="5" dirty="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99"/>
                </a:solidFill>
                <a:latin typeface="Times New Roman"/>
                <a:cs typeface="Times New Roman"/>
              </a:rPr>
              <a:t>v&lt;=20 goto	</a:t>
            </a:r>
            <a:r>
              <a:rPr sz="2800" b="1" spc="-5" dirty="0">
                <a:solidFill>
                  <a:srgbClr val="FFFF99"/>
                </a:solidFill>
                <a:latin typeface="Times New Roman"/>
                <a:cs typeface="Times New Roman"/>
              </a:rPr>
              <a:t>B2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819145" y="5949492"/>
            <a:ext cx="4483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sz="3150" b="1" spc="7" baseline="-14550" dirty="0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150" baseline="-145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94321" y="3791584"/>
            <a:ext cx="586740" cy="755650"/>
          </a:xfrm>
          <a:custGeom>
            <a:avLst/>
            <a:gdLst/>
            <a:ahLst/>
            <a:cxnLst/>
            <a:rect l="l" t="t" r="r" b="b"/>
            <a:pathLst>
              <a:path w="586740" h="755650">
                <a:moveTo>
                  <a:pt x="501849" y="676274"/>
                </a:moveTo>
                <a:lnTo>
                  <a:pt x="471639" y="699515"/>
                </a:lnTo>
                <a:lnTo>
                  <a:pt x="586600" y="755269"/>
                </a:lnTo>
                <a:lnTo>
                  <a:pt x="574212" y="691388"/>
                </a:lnTo>
                <a:lnTo>
                  <a:pt x="513461" y="691388"/>
                </a:lnTo>
                <a:lnTo>
                  <a:pt x="501849" y="676274"/>
                </a:lnTo>
                <a:close/>
              </a:path>
              <a:path w="586740" h="755650">
                <a:moveTo>
                  <a:pt x="532051" y="653039"/>
                </a:moveTo>
                <a:lnTo>
                  <a:pt x="501849" y="676274"/>
                </a:lnTo>
                <a:lnTo>
                  <a:pt x="513461" y="691388"/>
                </a:lnTo>
                <a:lnTo>
                  <a:pt x="543661" y="668146"/>
                </a:lnTo>
                <a:lnTo>
                  <a:pt x="532051" y="653039"/>
                </a:lnTo>
                <a:close/>
              </a:path>
              <a:path w="586740" h="755650">
                <a:moveTo>
                  <a:pt x="562267" y="629792"/>
                </a:moveTo>
                <a:lnTo>
                  <a:pt x="532051" y="653039"/>
                </a:lnTo>
                <a:lnTo>
                  <a:pt x="543661" y="668146"/>
                </a:lnTo>
                <a:lnTo>
                  <a:pt x="513461" y="691388"/>
                </a:lnTo>
                <a:lnTo>
                  <a:pt x="574212" y="691388"/>
                </a:lnTo>
                <a:lnTo>
                  <a:pt x="562267" y="629792"/>
                </a:lnTo>
                <a:close/>
              </a:path>
              <a:path w="586740" h="755650">
                <a:moveTo>
                  <a:pt x="30200" y="0"/>
                </a:moveTo>
                <a:lnTo>
                  <a:pt x="0" y="23113"/>
                </a:lnTo>
                <a:lnTo>
                  <a:pt x="501849" y="676274"/>
                </a:lnTo>
                <a:lnTo>
                  <a:pt x="532051" y="653039"/>
                </a:lnTo>
                <a:lnTo>
                  <a:pt x="302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108</a:t>
            </a:fld>
            <a:r>
              <a:rPr sz="1400" b="1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040" y="516229"/>
            <a:ext cx="8189595" cy="192786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  <a:tabLst>
                <a:tab pos="826135" algn="l"/>
              </a:tabLst>
            </a:pPr>
            <a:r>
              <a:rPr sz="3200" u="none" spc="-10" dirty="0">
                <a:solidFill>
                  <a:srgbClr val="FFFF00"/>
                </a:solidFill>
                <a:latin typeface="宋体"/>
                <a:cs typeface="宋体"/>
              </a:rPr>
              <a:t>二</a:t>
            </a:r>
            <a:r>
              <a:rPr sz="3200" u="none" spc="-81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3200" u="none" dirty="0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sz="3200" u="none" dirty="0">
                <a:solidFill>
                  <a:srgbClr val="FFFF00"/>
                </a:solidFill>
                <a:latin typeface="宋体"/>
                <a:cs typeface="宋体"/>
              </a:rPr>
              <a:t>强度削弱与删除归纳变量</a:t>
            </a:r>
            <a:endParaRPr sz="3200">
              <a:latin typeface="宋体"/>
              <a:cs typeface="宋体"/>
            </a:endParaRPr>
          </a:p>
          <a:p>
            <a:pPr marL="12700" marR="5080" indent="711200">
              <a:lnSpc>
                <a:spcPct val="130000"/>
              </a:lnSpc>
              <a:spcBef>
                <a:spcPts val="5"/>
              </a:spcBef>
            </a:pP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强度削弱是将程序中强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度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高的运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使用强 度低的运算替</a:t>
            </a:r>
            <a:r>
              <a:rPr sz="3200" u="none" spc="5" dirty="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sz="3200" u="none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以便使程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运行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sz="3200" u="none" spc="-5" dirty="0">
                <a:solidFill>
                  <a:srgbClr val="FFFFFF"/>
                </a:solidFill>
                <a:latin typeface="宋体"/>
                <a:cs typeface="宋体"/>
              </a:rPr>
              <a:t>间缩</a:t>
            </a:r>
            <a:r>
              <a:rPr sz="3200" u="none" spc="10" dirty="0">
                <a:solidFill>
                  <a:srgbClr val="FFFFFF"/>
                </a:solidFill>
                <a:latin typeface="宋体"/>
                <a:cs typeface="宋体"/>
              </a:rPr>
              <a:t>短</a:t>
            </a:r>
            <a:r>
              <a:rPr sz="3200" u="none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9539" y="2810001"/>
            <a:ext cx="6672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1320" algn="l"/>
                <a:tab pos="3181350" algn="l"/>
                <a:tab pos="5471160" algn="l"/>
              </a:tabLst>
            </a:pPr>
            <a:r>
              <a:rPr sz="1650" spc="25" dirty="0">
                <a:solidFill>
                  <a:srgbClr val="FF66FF"/>
                </a:solidFill>
                <a:latin typeface="Wingdings 3"/>
                <a:cs typeface="Wingdings 3"/>
              </a:rPr>
              <a:t></a:t>
            </a:r>
            <a:r>
              <a:rPr sz="1650" spc="25" dirty="0">
                <a:solidFill>
                  <a:srgbClr val="FF66FF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一般情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况	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循环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中存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在	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I=I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±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20261" y="3768090"/>
            <a:ext cx="4165600" cy="472440"/>
          </a:xfrm>
          <a:custGeom>
            <a:avLst/>
            <a:gdLst/>
            <a:ahLst/>
            <a:cxnLst/>
            <a:rect l="l" t="t" r="r" b="b"/>
            <a:pathLst>
              <a:path w="4165600" h="472439">
                <a:moveTo>
                  <a:pt x="0" y="472440"/>
                </a:moveTo>
                <a:lnTo>
                  <a:pt x="4165091" y="472440"/>
                </a:lnTo>
                <a:lnTo>
                  <a:pt x="4165091" y="0"/>
                </a:lnTo>
                <a:lnTo>
                  <a:pt x="0" y="0"/>
                </a:lnTo>
                <a:lnTo>
                  <a:pt x="0" y="472440"/>
                </a:lnTo>
                <a:close/>
              </a:path>
            </a:pathLst>
          </a:custGeom>
          <a:ln w="38100">
            <a:solidFill>
              <a:srgbClr val="99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20261" y="3768090"/>
            <a:ext cx="4165600" cy="472440"/>
          </a:xfrm>
          <a:prstGeom prst="rect">
            <a:avLst/>
          </a:prstGeom>
          <a:ln w="38100">
            <a:solidFill>
              <a:srgbClr val="99FF3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275"/>
              </a:lnSpc>
              <a:tabLst>
                <a:tab pos="3308985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中存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-3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800" b="1" spc="-5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K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sz="28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I	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±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44973" y="3330717"/>
            <a:ext cx="982979" cy="3977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44973" y="3392804"/>
            <a:ext cx="982980" cy="335915"/>
          </a:xfrm>
          <a:custGeom>
            <a:avLst/>
            <a:gdLst/>
            <a:ahLst/>
            <a:cxnLst/>
            <a:rect l="l" t="t" r="r" b="b"/>
            <a:pathLst>
              <a:path w="982979" h="335914">
                <a:moveTo>
                  <a:pt x="982979" y="236220"/>
                </a:moveTo>
                <a:lnTo>
                  <a:pt x="737235" y="236220"/>
                </a:lnTo>
                <a:lnTo>
                  <a:pt x="737235" y="0"/>
                </a:lnTo>
                <a:lnTo>
                  <a:pt x="245745" y="0"/>
                </a:lnTo>
                <a:lnTo>
                  <a:pt x="245745" y="236220"/>
                </a:lnTo>
                <a:lnTo>
                  <a:pt x="0" y="236220"/>
                </a:lnTo>
                <a:lnTo>
                  <a:pt x="491489" y="335661"/>
                </a:lnTo>
                <a:lnTo>
                  <a:pt x="982979" y="23622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71669" y="3336448"/>
            <a:ext cx="529590" cy="63500"/>
          </a:xfrm>
          <a:custGeom>
            <a:avLst/>
            <a:gdLst/>
            <a:ahLst/>
            <a:cxnLst/>
            <a:rect l="l" t="t" r="r" b="b"/>
            <a:pathLst>
              <a:path w="529589" h="63500">
                <a:moveTo>
                  <a:pt x="0" y="62960"/>
                </a:moveTo>
                <a:lnTo>
                  <a:pt x="529589" y="62960"/>
                </a:lnTo>
                <a:lnTo>
                  <a:pt x="529589" y="0"/>
                </a:lnTo>
                <a:lnTo>
                  <a:pt x="0" y="0"/>
                </a:lnTo>
                <a:lnTo>
                  <a:pt x="0" y="629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71669" y="3311667"/>
            <a:ext cx="529590" cy="50800"/>
          </a:xfrm>
          <a:custGeom>
            <a:avLst/>
            <a:gdLst/>
            <a:ahLst/>
            <a:cxnLst/>
            <a:rect l="l" t="t" r="r" b="b"/>
            <a:pathLst>
              <a:path w="529589" h="50800">
                <a:moveTo>
                  <a:pt x="0" y="50530"/>
                </a:moveTo>
                <a:lnTo>
                  <a:pt x="529589" y="50530"/>
                </a:lnTo>
                <a:lnTo>
                  <a:pt x="529589" y="0"/>
                </a:lnTo>
                <a:lnTo>
                  <a:pt x="0" y="0"/>
                </a:lnTo>
                <a:lnTo>
                  <a:pt x="0" y="505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27953" y="4266438"/>
            <a:ext cx="0" cy="256540"/>
          </a:xfrm>
          <a:custGeom>
            <a:avLst/>
            <a:gdLst/>
            <a:ahLst/>
            <a:cxnLst/>
            <a:rect l="l" t="t" r="r" b="b"/>
            <a:pathLst>
              <a:path h="256539">
                <a:moveTo>
                  <a:pt x="0" y="256031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70369" y="4264914"/>
            <a:ext cx="0" cy="256540"/>
          </a:xfrm>
          <a:custGeom>
            <a:avLst/>
            <a:gdLst/>
            <a:ahLst/>
            <a:cxnLst/>
            <a:rect l="l" t="t" r="r" b="b"/>
            <a:pathLst>
              <a:path h="256539">
                <a:moveTo>
                  <a:pt x="0" y="256031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74970" y="3754373"/>
            <a:ext cx="457200" cy="512445"/>
          </a:xfrm>
          <a:custGeom>
            <a:avLst/>
            <a:gdLst/>
            <a:ahLst/>
            <a:cxnLst/>
            <a:rect l="l" t="t" r="r" b="b"/>
            <a:pathLst>
              <a:path w="457200" h="512445">
                <a:moveTo>
                  <a:pt x="0" y="256031"/>
                </a:moveTo>
                <a:lnTo>
                  <a:pt x="4644" y="204447"/>
                </a:lnTo>
                <a:lnTo>
                  <a:pt x="17966" y="156394"/>
                </a:lnTo>
                <a:lnTo>
                  <a:pt x="39045" y="112904"/>
                </a:lnTo>
                <a:lnTo>
                  <a:pt x="66960" y="75009"/>
                </a:lnTo>
                <a:lnTo>
                  <a:pt x="100793" y="43739"/>
                </a:lnTo>
                <a:lnTo>
                  <a:pt x="139624" y="20127"/>
                </a:lnTo>
                <a:lnTo>
                  <a:pt x="182533" y="5203"/>
                </a:lnTo>
                <a:lnTo>
                  <a:pt x="228600" y="0"/>
                </a:lnTo>
                <a:lnTo>
                  <a:pt x="274666" y="5203"/>
                </a:lnTo>
                <a:lnTo>
                  <a:pt x="317575" y="20127"/>
                </a:lnTo>
                <a:lnTo>
                  <a:pt x="356406" y="43739"/>
                </a:lnTo>
                <a:lnTo>
                  <a:pt x="390239" y="75009"/>
                </a:lnTo>
                <a:lnTo>
                  <a:pt x="418154" y="112904"/>
                </a:lnTo>
                <a:lnTo>
                  <a:pt x="439233" y="156394"/>
                </a:lnTo>
                <a:lnTo>
                  <a:pt x="452555" y="204447"/>
                </a:lnTo>
                <a:lnTo>
                  <a:pt x="457200" y="256031"/>
                </a:lnTo>
                <a:lnTo>
                  <a:pt x="452555" y="307616"/>
                </a:lnTo>
                <a:lnTo>
                  <a:pt x="439233" y="355669"/>
                </a:lnTo>
                <a:lnTo>
                  <a:pt x="418154" y="399159"/>
                </a:lnTo>
                <a:lnTo>
                  <a:pt x="390239" y="437054"/>
                </a:lnTo>
                <a:lnTo>
                  <a:pt x="356406" y="468324"/>
                </a:lnTo>
                <a:lnTo>
                  <a:pt x="317575" y="491936"/>
                </a:lnTo>
                <a:lnTo>
                  <a:pt x="274666" y="506860"/>
                </a:lnTo>
                <a:lnTo>
                  <a:pt x="228600" y="512063"/>
                </a:lnTo>
                <a:lnTo>
                  <a:pt x="182533" y="506860"/>
                </a:lnTo>
                <a:lnTo>
                  <a:pt x="139624" y="491936"/>
                </a:lnTo>
                <a:lnTo>
                  <a:pt x="100793" y="468324"/>
                </a:lnTo>
                <a:lnTo>
                  <a:pt x="66960" y="437054"/>
                </a:lnTo>
                <a:lnTo>
                  <a:pt x="39045" y="399159"/>
                </a:lnTo>
                <a:lnTo>
                  <a:pt x="17966" y="355669"/>
                </a:lnTo>
                <a:lnTo>
                  <a:pt x="4644" y="307616"/>
                </a:lnTo>
                <a:lnTo>
                  <a:pt x="0" y="25603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15861" y="3766565"/>
            <a:ext cx="457200" cy="512445"/>
          </a:xfrm>
          <a:custGeom>
            <a:avLst/>
            <a:gdLst/>
            <a:ahLst/>
            <a:cxnLst/>
            <a:rect l="l" t="t" r="r" b="b"/>
            <a:pathLst>
              <a:path w="457200" h="512445">
                <a:moveTo>
                  <a:pt x="0" y="256031"/>
                </a:moveTo>
                <a:lnTo>
                  <a:pt x="4644" y="204447"/>
                </a:lnTo>
                <a:lnTo>
                  <a:pt x="17966" y="156394"/>
                </a:lnTo>
                <a:lnTo>
                  <a:pt x="39045" y="112904"/>
                </a:lnTo>
                <a:lnTo>
                  <a:pt x="66960" y="75009"/>
                </a:lnTo>
                <a:lnTo>
                  <a:pt x="100793" y="43739"/>
                </a:lnTo>
                <a:lnTo>
                  <a:pt x="139624" y="20127"/>
                </a:lnTo>
                <a:lnTo>
                  <a:pt x="182533" y="5203"/>
                </a:lnTo>
                <a:lnTo>
                  <a:pt x="228600" y="0"/>
                </a:lnTo>
                <a:lnTo>
                  <a:pt x="274666" y="5203"/>
                </a:lnTo>
                <a:lnTo>
                  <a:pt x="317575" y="20127"/>
                </a:lnTo>
                <a:lnTo>
                  <a:pt x="356406" y="43739"/>
                </a:lnTo>
                <a:lnTo>
                  <a:pt x="390239" y="75009"/>
                </a:lnTo>
                <a:lnTo>
                  <a:pt x="418154" y="112904"/>
                </a:lnTo>
                <a:lnTo>
                  <a:pt x="439233" y="156394"/>
                </a:lnTo>
                <a:lnTo>
                  <a:pt x="452555" y="204447"/>
                </a:lnTo>
                <a:lnTo>
                  <a:pt x="457200" y="256031"/>
                </a:lnTo>
                <a:lnTo>
                  <a:pt x="452555" y="307616"/>
                </a:lnTo>
                <a:lnTo>
                  <a:pt x="439233" y="355669"/>
                </a:lnTo>
                <a:lnTo>
                  <a:pt x="418154" y="399159"/>
                </a:lnTo>
                <a:lnTo>
                  <a:pt x="390239" y="437054"/>
                </a:lnTo>
                <a:lnTo>
                  <a:pt x="356406" y="468324"/>
                </a:lnTo>
                <a:lnTo>
                  <a:pt x="317575" y="491936"/>
                </a:lnTo>
                <a:lnTo>
                  <a:pt x="274666" y="506860"/>
                </a:lnTo>
                <a:lnTo>
                  <a:pt x="228600" y="512063"/>
                </a:lnTo>
                <a:lnTo>
                  <a:pt x="182533" y="506860"/>
                </a:lnTo>
                <a:lnTo>
                  <a:pt x="139624" y="491936"/>
                </a:lnTo>
                <a:lnTo>
                  <a:pt x="100793" y="468324"/>
                </a:lnTo>
                <a:lnTo>
                  <a:pt x="66960" y="437054"/>
                </a:lnTo>
                <a:lnTo>
                  <a:pt x="39045" y="399159"/>
                </a:lnTo>
                <a:lnTo>
                  <a:pt x="17966" y="355669"/>
                </a:lnTo>
                <a:lnTo>
                  <a:pt x="4644" y="307616"/>
                </a:lnTo>
                <a:lnTo>
                  <a:pt x="0" y="25603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27953" y="4522470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80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66103" y="4520946"/>
            <a:ext cx="114300" cy="368935"/>
          </a:xfrm>
          <a:custGeom>
            <a:avLst/>
            <a:gdLst/>
            <a:ahLst/>
            <a:cxnLst/>
            <a:rect l="l" t="t" r="r" b="b"/>
            <a:pathLst>
              <a:path w="114300" h="368935">
                <a:moveTo>
                  <a:pt x="38100" y="254507"/>
                </a:moveTo>
                <a:lnTo>
                  <a:pt x="0" y="254507"/>
                </a:lnTo>
                <a:lnTo>
                  <a:pt x="57150" y="368807"/>
                </a:lnTo>
                <a:lnTo>
                  <a:pt x="104775" y="273557"/>
                </a:lnTo>
                <a:lnTo>
                  <a:pt x="38100" y="273557"/>
                </a:lnTo>
                <a:lnTo>
                  <a:pt x="38100" y="254507"/>
                </a:lnTo>
                <a:close/>
              </a:path>
              <a:path w="114300" h="368935">
                <a:moveTo>
                  <a:pt x="76200" y="0"/>
                </a:moveTo>
                <a:lnTo>
                  <a:pt x="38100" y="0"/>
                </a:lnTo>
                <a:lnTo>
                  <a:pt x="38100" y="273557"/>
                </a:lnTo>
                <a:lnTo>
                  <a:pt x="76200" y="273557"/>
                </a:lnTo>
                <a:lnTo>
                  <a:pt x="76200" y="0"/>
                </a:lnTo>
                <a:close/>
              </a:path>
              <a:path w="114300" h="368935">
                <a:moveTo>
                  <a:pt x="114300" y="254507"/>
                </a:moveTo>
                <a:lnTo>
                  <a:pt x="76200" y="254507"/>
                </a:lnTo>
                <a:lnTo>
                  <a:pt x="76200" y="273557"/>
                </a:lnTo>
                <a:lnTo>
                  <a:pt x="104775" y="273557"/>
                </a:lnTo>
                <a:lnTo>
                  <a:pt x="114300" y="25450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83608" y="5019675"/>
            <a:ext cx="660400" cy="171450"/>
          </a:xfrm>
          <a:custGeom>
            <a:avLst/>
            <a:gdLst/>
            <a:ahLst/>
            <a:cxnLst/>
            <a:rect l="l" t="t" r="r" b="b"/>
            <a:pathLst>
              <a:path w="660400" h="171450">
                <a:moveTo>
                  <a:pt x="171450" y="0"/>
                </a:moveTo>
                <a:lnTo>
                  <a:pt x="0" y="85725"/>
                </a:lnTo>
                <a:lnTo>
                  <a:pt x="171450" y="171450"/>
                </a:lnTo>
                <a:lnTo>
                  <a:pt x="171450" y="114300"/>
                </a:lnTo>
                <a:lnTo>
                  <a:pt x="142875" y="114300"/>
                </a:lnTo>
                <a:lnTo>
                  <a:pt x="142875" y="57150"/>
                </a:lnTo>
                <a:lnTo>
                  <a:pt x="171450" y="57150"/>
                </a:lnTo>
                <a:lnTo>
                  <a:pt x="171450" y="0"/>
                </a:lnTo>
                <a:close/>
              </a:path>
              <a:path w="660400" h="171450">
                <a:moveTo>
                  <a:pt x="171450" y="57150"/>
                </a:moveTo>
                <a:lnTo>
                  <a:pt x="142875" y="57150"/>
                </a:lnTo>
                <a:lnTo>
                  <a:pt x="142875" y="114300"/>
                </a:lnTo>
                <a:lnTo>
                  <a:pt x="171450" y="114300"/>
                </a:lnTo>
                <a:lnTo>
                  <a:pt x="171450" y="57150"/>
                </a:lnTo>
                <a:close/>
              </a:path>
              <a:path w="660400" h="171450">
                <a:moveTo>
                  <a:pt x="659891" y="57150"/>
                </a:moveTo>
                <a:lnTo>
                  <a:pt x="171450" y="57150"/>
                </a:lnTo>
                <a:lnTo>
                  <a:pt x="171450" y="114300"/>
                </a:lnTo>
                <a:lnTo>
                  <a:pt x="659891" y="114300"/>
                </a:lnTo>
                <a:lnTo>
                  <a:pt x="659891" y="571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31140" y="4868926"/>
            <a:ext cx="4142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求出递增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减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K1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，用</a:t>
            </a: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±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替代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21357" y="5311917"/>
            <a:ext cx="984504" cy="3977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21357" y="5374004"/>
            <a:ext cx="984885" cy="335915"/>
          </a:xfrm>
          <a:custGeom>
            <a:avLst/>
            <a:gdLst/>
            <a:ahLst/>
            <a:cxnLst/>
            <a:rect l="l" t="t" r="r" b="b"/>
            <a:pathLst>
              <a:path w="984885" h="335914">
                <a:moveTo>
                  <a:pt x="984504" y="236220"/>
                </a:moveTo>
                <a:lnTo>
                  <a:pt x="738378" y="236220"/>
                </a:lnTo>
                <a:lnTo>
                  <a:pt x="738378" y="0"/>
                </a:lnTo>
                <a:lnTo>
                  <a:pt x="246125" y="0"/>
                </a:lnTo>
                <a:lnTo>
                  <a:pt x="246125" y="236220"/>
                </a:lnTo>
                <a:lnTo>
                  <a:pt x="0" y="236220"/>
                </a:lnTo>
                <a:lnTo>
                  <a:pt x="492252" y="335661"/>
                </a:lnTo>
                <a:lnTo>
                  <a:pt x="984504" y="236220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48433" y="5317648"/>
            <a:ext cx="530860" cy="63500"/>
          </a:xfrm>
          <a:custGeom>
            <a:avLst/>
            <a:gdLst/>
            <a:ahLst/>
            <a:cxnLst/>
            <a:rect l="l" t="t" r="r" b="b"/>
            <a:pathLst>
              <a:path w="530860" h="63500">
                <a:moveTo>
                  <a:pt x="0" y="62960"/>
                </a:moveTo>
                <a:lnTo>
                  <a:pt x="530351" y="62960"/>
                </a:lnTo>
                <a:lnTo>
                  <a:pt x="530351" y="0"/>
                </a:lnTo>
                <a:lnTo>
                  <a:pt x="0" y="0"/>
                </a:lnTo>
                <a:lnTo>
                  <a:pt x="0" y="629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48433" y="5292867"/>
            <a:ext cx="530860" cy="50800"/>
          </a:xfrm>
          <a:custGeom>
            <a:avLst/>
            <a:gdLst/>
            <a:ahLst/>
            <a:cxnLst/>
            <a:rect l="l" t="t" r="r" b="b"/>
            <a:pathLst>
              <a:path w="530860" h="50800">
                <a:moveTo>
                  <a:pt x="0" y="50530"/>
                </a:moveTo>
                <a:lnTo>
                  <a:pt x="530351" y="50530"/>
                </a:lnTo>
                <a:lnTo>
                  <a:pt x="530351" y="0"/>
                </a:lnTo>
                <a:lnTo>
                  <a:pt x="0" y="0"/>
                </a:lnTo>
                <a:lnTo>
                  <a:pt x="0" y="505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495171" y="5854090"/>
            <a:ext cx="17849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T = T </a:t>
            </a:r>
            <a:r>
              <a:rPr sz="2400" b="1" spc="-10" dirty="0">
                <a:solidFill>
                  <a:srgbClr val="FFFF00"/>
                </a:solidFill>
                <a:latin typeface="宋体"/>
                <a:cs typeface="宋体"/>
              </a:rPr>
              <a:t>±</a:t>
            </a:r>
            <a:r>
              <a:rPr sz="2400" b="1" spc="-82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K1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67959" y="4867783"/>
            <a:ext cx="2778760" cy="1303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呈线性函数</a:t>
            </a:r>
            <a:endParaRPr sz="2800">
              <a:latin typeface="宋体"/>
              <a:cs typeface="宋体"/>
            </a:endParaRPr>
          </a:p>
          <a:p>
            <a:pPr marL="196215">
              <a:lnSpc>
                <a:spcPct val="100000"/>
              </a:lnSpc>
              <a:spcBef>
                <a:spcPts val="80"/>
              </a:spcBef>
            </a:pPr>
            <a:r>
              <a:rPr sz="2400" b="1" spc="-5" dirty="0">
                <a:solidFill>
                  <a:srgbClr val="66FFFF"/>
                </a:solidFill>
                <a:latin typeface="宋体"/>
                <a:cs typeface="宋体"/>
              </a:rPr>
              <a:t>（</a:t>
            </a:r>
            <a:r>
              <a:rPr sz="24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sz="2400" b="1" dirty="0">
                <a:solidFill>
                  <a:srgbClr val="66FFFF"/>
                </a:solidFill>
                <a:latin typeface="宋体"/>
                <a:cs typeface="宋体"/>
              </a:rPr>
              <a:t>是归纳变量</a:t>
            </a:r>
            <a:endParaRPr sz="2400">
              <a:latin typeface="宋体"/>
              <a:cs typeface="宋体"/>
            </a:endParaRPr>
          </a:p>
          <a:p>
            <a:pPr marL="196215">
              <a:lnSpc>
                <a:spcPct val="100000"/>
              </a:lnSpc>
              <a:spcBef>
                <a:spcPts val="860"/>
              </a:spcBef>
            </a:pPr>
            <a:r>
              <a:rPr sz="2400" b="1" dirty="0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66FFFF"/>
                </a:solidFill>
                <a:latin typeface="宋体"/>
                <a:cs typeface="宋体"/>
              </a:rPr>
              <a:t>是基本归纳变量）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949576" y="11378"/>
            <a:ext cx="56261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272790" algn="l"/>
                <a:tab pos="3780154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109</a:t>
            </a:fld>
            <a:r>
              <a:rPr sz="1400" b="1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4642" y="11378"/>
            <a:ext cx="8431530" cy="5878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algn="ctr">
              <a:lnSpc>
                <a:spcPct val="100000"/>
              </a:lnSpc>
              <a:spcBef>
                <a:spcPts val="100"/>
              </a:spcBef>
              <a:tabLst>
                <a:tab pos="1007110" algn="l"/>
                <a:tab pos="3624579" algn="l"/>
                <a:tab pos="4131945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8.5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50">
              <a:latin typeface="华文新魏"/>
              <a:cs typeface="华文新魏"/>
            </a:endParaRPr>
          </a:p>
          <a:p>
            <a:pPr marL="459105" indent="-408940">
              <a:lnSpc>
                <a:spcPct val="100000"/>
              </a:lnSpc>
              <a:buClr>
                <a:srgbClr val="66FFFF"/>
              </a:buClr>
              <a:buSzPct val="109375"/>
              <a:buFont typeface="Wingdings"/>
              <a:buChar char=""/>
              <a:tabLst>
                <a:tab pos="459105" algn="l"/>
                <a:tab pos="459740" algn="l"/>
                <a:tab pos="1989455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8.8	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基本归纳变量</a:t>
            </a:r>
            <a:r>
              <a:rPr sz="2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归纳变量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50800" marR="161925" indent="614045">
              <a:lnSpc>
                <a:spcPct val="135000"/>
              </a:lnSpc>
              <a:spcBef>
                <a:spcPts val="5"/>
              </a:spcBef>
              <a:tabLst>
                <a:tab pos="7380605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如果循环中变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仅有惟一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2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I=I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±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C	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形式 的赋值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为循环不变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，则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为循环中</a:t>
            </a:r>
            <a:endParaRPr sz="32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151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基本归纳变量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50800" indent="614045">
              <a:lnSpc>
                <a:spcPct val="100000"/>
              </a:lnSpc>
              <a:spcBef>
                <a:spcPts val="1175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如果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是循环中一基本归纳变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endParaRPr sz="3200">
              <a:latin typeface="宋体"/>
              <a:cs typeface="宋体"/>
            </a:endParaRPr>
          </a:p>
          <a:p>
            <a:pPr marL="50800" marR="43180">
              <a:lnSpc>
                <a:spcPct val="135000"/>
              </a:lnSpc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循环中的定值总可化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的某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线性函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形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式：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J=</a:t>
            </a:r>
            <a:r>
              <a:rPr sz="3200" b="1" spc="-7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2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sz="3150" b="1" spc="7" baseline="-15873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32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*I</a:t>
            </a:r>
            <a:r>
              <a:rPr sz="3200" b="1" spc="5" dirty="0">
                <a:solidFill>
                  <a:srgbClr val="FFFF00"/>
                </a:solidFill>
                <a:latin typeface="宋体"/>
                <a:cs typeface="宋体"/>
              </a:rPr>
              <a:t>±</a:t>
            </a:r>
            <a:r>
              <a:rPr sz="32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sz="3150" b="1" spc="7" baseline="-15873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150" b="1" spc="7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3200" b="1" spc="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150" b="1" spc="7" baseline="-1587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循环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sz="3200" b="1" spc="10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则称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是归纳变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量，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族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110</a:t>
            </a:fld>
            <a:r>
              <a:rPr sz="1400" b="1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3443" y="581304"/>
            <a:ext cx="6000750" cy="1346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305" marR="5080" indent="-281305">
              <a:lnSpc>
                <a:spcPct val="154800"/>
              </a:lnSpc>
              <a:spcBef>
                <a:spcPts val="100"/>
              </a:spcBef>
              <a:buClr>
                <a:srgbClr val="66FFFF"/>
              </a:buClr>
              <a:buSzPct val="108928"/>
              <a:buFont typeface="Wingdings"/>
              <a:buChar char=""/>
              <a:tabLst>
                <a:tab pos="281305" algn="l"/>
              </a:tabLst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循环优化中强度削弱和删除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归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纳变量 </a:t>
            </a:r>
            <a:r>
              <a:rPr sz="28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有次序且相关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6461" y="2718054"/>
            <a:ext cx="1207135" cy="474345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1620">
              <a:lnSpc>
                <a:spcPts val="3245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W2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15361" y="2889504"/>
            <a:ext cx="1181100" cy="114300"/>
          </a:xfrm>
          <a:custGeom>
            <a:avLst/>
            <a:gdLst/>
            <a:ahLst/>
            <a:cxnLst/>
            <a:rect l="l" t="t" r="r" b="b"/>
            <a:pathLst>
              <a:path w="1181100" h="114300">
                <a:moveTo>
                  <a:pt x="990600" y="0"/>
                </a:moveTo>
                <a:lnTo>
                  <a:pt x="990600" y="114300"/>
                </a:lnTo>
                <a:lnTo>
                  <a:pt x="1117600" y="76200"/>
                </a:lnTo>
                <a:lnTo>
                  <a:pt x="1009650" y="76200"/>
                </a:lnTo>
                <a:lnTo>
                  <a:pt x="1009650" y="38100"/>
                </a:lnTo>
                <a:lnTo>
                  <a:pt x="1117600" y="38100"/>
                </a:lnTo>
                <a:lnTo>
                  <a:pt x="990600" y="0"/>
                </a:lnTo>
                <a:close/>
              </a:path>
              <a:path w="1181100" h="114300">
                <a:moveTo>
                  <a:pt x="9906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90600" y="76200"/>
                </a:lnTo>
                <a:lnTo>
                  <a:pt x="990600" y="38100"/>
                </a:lnTo>
                <a:close/>
              </a:path>
              <a:path w="1181100" h="114300">
                <a:moveTo>
                  <a:pt x="1117600" y="38100"/>
                </a:moveTo>
                <a:lnTo>
                  <a:pt x="1009650" y="38100"/>
                </a:lnTo>
                <a:lnTo>
                  <a:pt x="1009650" y="76200"/>
                </a:lnTo>
                <a:lnTo>
                  <a:pt x="1117600" y="76200"/>
                </a:lnTo>
                <a:lnTo>
                  <a:pt x="1181100" y="57150"/>
                </a:lnTo>
                <a:lnTo>
                  <a:pt x="1117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84570" y="2718054"/>
            <a:ext cx="1205865" cy="474345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1620">
              <a:lnSpc>
                <a:spcPts val="3245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W3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03470" y="2889504"/>
            <a:ext cx="1181100" cy="114300"/>
          </a:xfrm>
          <a:custGeom>
            <a:avLst/>
            <a:gdLst/>
            <a:ahLst/>
            <a:cxnLst/>
            <a:rect l="l" t="t" r="r" b="b"/>
            <a:pathLst>
              <a:path w="1181100" h="114300">
                <a:moveTo>
                  <a:pt x="990600" y="0"/>
                </a:moveTo>
                <a:lnTo>
                  <a:pt x="990600" y="114300"/>
                </a:lnTo>
                <a:lnTo>
                  <a:pt x="1117600" y="76200"/>
                </a:lnTo>
                <a:lnTo>
                  <a:pt x="1009650" y="76200"/>
                </a:lnTo>
                <a:lnTo>
                  <a:pt x="1009650" y="38100"/>
                </a:lnTo>
                <a:lnTo>
                  <a:pt x="1117600" y="38100"/>
                </a:lnTo>
                <a:lnTo>
                  <a:pt x="990600" y="0"/>
                </a:lnTo>
                <a:close/>
              </a:path>
              <a:path w="1181100" h="114300">
                <a:moveTo>
                  <a:pt x="9906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90600" y="76200"/>
                </a:lnTo>
                <a:lnTo>
                  <a:pt x="990600" y="38100"/>
                </a:lnTo>
                <a:close/>
              </a:path>
              <a:path w="1181100" h="114300">
                <a:moveTo>
                  <a:pt x="1117600" y="38100"/>
                </a:moveTo>
                <a:lnTo>
                  <a:pt x="1009650" y="38100"/>
                </a:lnTo>
                <a:lnTo>
                  <a:pt x="1009650" y="76200"/>
                </a:lnTo>
                <a:lnTo>
                  <a:pt x="1117600" y="76200"/>
                </a:lnTo>
                <a:lnTo>
                  <a:pt x="1181100" y="57150"/>
                </a:lnTo>
                <a:lnTo>
                  <a:pt x="1117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08353" y="2705861"/>
            <a:ext cx="1207135" cy="472440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2255">
              <a:lnSpc>
                <a:spcPts val="3240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W1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6343" y="3408045"/>
            <a:ext cx="2067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寻找归纳变量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4575" y="3408045"/>
            <a:ext cx="1454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强度削弱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43702" y="3408045"/>
            <a:ext cx="2067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删除归纳变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00"/>
              </a:spcBef>
              <a:tabLst>
                <a:tab pos="1036955" algn="l"/>
                <a:tab pos="3653790" algn="l"/>
                <a:tab pos="4161154" algn="l"/>
              </a:tabLst>
            </a:pPr>
            <a:r>
              <a:rPr sz="2000" u="none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u="none" dirty="0">
                <a:latin typeface="Times New Roman"/>
                <a:cs typeface="Times New Roman"/>
              </a:rPr>
              <a:t>h8	</a:t>
            </a:r>
            <a:r>
              <a:rPr u="none" spc="5" dirty="0"/>
              <a:t>代码优</a:t>
            </a:r>
            <a:r>
              <a:rPr u="none" dirty="0"/>
              <a:t>化	</a:t>
            </a:r>
            <a:r>
              <a:rPr sz="2000" dirty="0">
                <a:latin typeface="Times New Roman"/>
                <a:cs typeface="Times New Roman"/>
              </a:rPr>
              <a:t>8</a:t>
            </a:r>
            <a:r>
              <a:rPr sz="2000" spc="5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5	</a:t>
            </a:r>
            <a:r>
              <a:rPr spc="5" dirty="0"/>
              <a:t>循环优</a:t>
            </a:r>
            <a:r>
              <a:rPr dirty="0"/>
              <a:t>化实</a:t>
            </a:r>
            <a:r>
              <a:rPr spc="-10" dirty="0"/>
              <a:t>施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111</a:t>
            </a:fld>
            <a:r>
              <a:rPr sz="1400" b="1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943" y="796543"/>
            <a:ext cx="1450975" cy="495934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80670" indent="-268605">
              <a:lnSpc>
                <a:spcPct val="100000"/>
              </a:lnSpc>
              <a:spcBef>
                <a:spcPts val="380"/>
              </a:spcBef>
              <a:buClr>
                <a:srgbClr val="66FFFF"/>
              </a:buClr>
              <a:buSzPct val="108928"/>
              <a:buFont typeface="Wingdings"/>
              <a:buChar char=""/>
              <a:tabLst>
                <a:tab pos="281305" algn="l"/>
              </a:tabLst>
            </a:pPr>
            <a:r>
              <a:rPr sz="2800" u="none" spc="-5" dirty="0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sz="2800" u="none" spc="-5" dirty="0">
                <a:solidFill>
                  <a:srgbClr val="FFFF00"/>
                </a:solidFill>
                <a:latin typeface="Times New Roman"/>
                <a:cs typeface="Times New Roman"/>
              </a:rPr>
              <a:t>8.5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9143" y="1524748"/>
            <a:ext cx="8726170" cy="4735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6815" marR="485775" indent="-1155700">
              <a:lnSpc>
                <a:spcPct val="11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输入：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带有到达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定值信息和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循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环不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运算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信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循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环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75"/>
              </a:spcBef>
            </a:pP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输出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查找循环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中的一组归纳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方法：</a:t>
            </a:r>
            <a:endParaRPr sz="2800">
              <a:latin typeface="宋体"/>
              <a:cs typeface="宋体"/>
            </a:endParaRPr>
          </a:p>
          <a:p>
            <a:pPr marL="457200">
              <a:lnSpc>
                <a:spcPct val="100000"/>
              </a:lnSpc>
              <a:spcBef>
                <a:spcPts val="1010"/>
              </a:spcBef>
              <a:tabLst>
                <a:tab pos="1543685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step1:	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扫描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找出所有基本归纳变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sz="2800" b="1" spc="-67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I=I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±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12700" marR="152400" indent="533400">
              <a:lnSpc>
                <a:spcPts val="4370"/>
              </a:lnSpc>
              <a:spcBef>
                <a:spcPts val="310"/>
              </a:spcBef>
              <a:tabLst>
                <a:tab pos="1633855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ep2: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寻找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中只有一个定值的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归纳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量）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其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形式为：</a:t>
            </a:r>
            <a:endParaRPr sz="2800">
              <a:latin typeface="宋体"/>
              <a:cs typeface="宋体"/>
            </a:endParaRPr>
          </a:p>
          <a:p>
            <a:pPr marL="634365">
              <a:lnSpc>
                <a:spcPct val="100000"/>
              </a:lnSpc>
              <a:spcBef>
                <a:spcPts val="695"/>
              </a:spcBef>
              <a:tabLst>
                <a:tab pos="2200275" algn="l"/>
                <a:tab pos="3766820" algn="l"/>
                <a:tab pos="5342255" algn="l"/>
                <a:tab pos="7179945" algn="l"/>
              </a:tabLst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K=J*C;	K=C*J;	K=J/C;	K=J</a:t>
            </a:r>
            <a:r>
              <a:rPr sz="2800" b="1" spc="4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±</a:t>
            </a:r>
            <a:r>
              <a:rPr sz="2800" b="1" spc="-70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C;	K=C 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±</a:t>
            </a:r>
            <a:r>
              <a:rPr sz="2800" b="1" spc="-73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2600" b="1" u="heavy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（其中</a:t>
            </a:r>
            <a:r>
              <a:rPr sz="2600" b="1" u="heavy" spc="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：</a:t>
            </a:r>
            <a:r>
              <a:rPr sz="2600" b="1" u="heavy" spc="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2600" b="1" u="heavy" spc="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为循环不变</a:t>
            </a:r>
            <a:r>
              <a:rPr sz="26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量；</a:t>
            </a:r>
            <a:r>
              <a:rPr sz="26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J</a:t>
            </a:r>
            <a:r>
              <a:rPr sz="2600" b="1" u="heavy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为基本</a:t>
            </a:r>
            <a:r>
              <a:rPr sz="26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归纳</a:t>
            </a:r>
            <a:r>
              <a:rPr sz="2600" b="1" u="heavy" spc="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变</a:t>
            </a:r>
            <a:r>
              <a:rPr sz="26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量或</a:t>
            </a:r>
            <a:r>
              <a:rPr sz="2600" b="1" u="heavy" spc="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归</a:t>
            </a:r>
            <a:r>
              <a:rPr sz="26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纳变</a:t>
            </a:r>
            <a:r>
              <a:rPr sz="2600" b="1" u="heavy" spc="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量</a:t>
            </a:r>
            <a:r>
              <a:rPr sz="26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；）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49576" y="11378"/>
            <a:ext cx="5626100" cy="127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272790" algn="l"/>
                <a:tab pos="3780154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>
              <a:latin typeface="华文新魏"/>
              <a:cs typeface="华文新魏"/>
            </a:endParaRPr>
          </a:p>
          <a:p>
            <a:pPr marL="177800">
              <a:lnSpc>
                <a:spcPct val="100000"/>
              </a:lnSpc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sz="2800" b="1" spc="-4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W1</a:t>
            </a:r>
            <a:r>
              <a:rPr sz="28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：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查找归纳变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2800" b="1" spc="-67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112</a:t>
            </a:fld>
            <a:r>
              <a:rPr sz="1400" b="1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9351" y="863346"/>
            <a:ext cx="8061959" cy="4681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6409" indent="-474345">
              <a:lnSpc>
                <a:spcPct val="100000"/>
              </a:lnSpc>
              <a:spcBef>
                <a:spcPts val="95"/>
              </a:spcBef>
              <a:buFont typeface="Times New Roman"/>
              <a:buAutoNum type="arabicParenR"/>
              <a:tabLst>
                <a:tab pos="486409" algn="l"/>
                <a:tab pos="487045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是基本归纳变量，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族中；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{K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、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同族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455930" marR="288925" indent="-443865">
              <a:lnSpc>
                <a:spcPct val="130000"/>
              </a:lnSpc>
              <a:spcBef>
                <a:spcPts val="1060"/>
              </a:spcBef>
              <a:buClr>
                <a:srgbClr val="FFFFFF"/>
              </a:buClr>
              <a:buFont typeface="Times New Roman"/>
              <a:buAutoNum type="arabicParenR"/>
              <a:tabLst>
                <a:tab pos="520065" algn="l"/>
                <a:tab pos="520700" algn="l"/>
              </a:tabLst>
            </a:pPr>
            <a:r>
              <a:rPr dirty="0"/>
              <a:t>	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是归纳变量，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族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74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同族的附加 要求：</a:t>
            </a:r>
            <a:endParaRPr sz="2800">
              <a:latin typeface="宋体"/>
              <a:cs typeface="宋体"/>
            </a:endParaRPr>
          </a:p>
          <a:p>
            <a:pPr marL="767080" marR="5080" lvl="1" indent="-443865">
              <a:lnSpc>
                <a:spcPct val="130100"/>
              </a:lnSpc>
              <a:spcBef>
                <a:spcPts val="110"/>
              </a:spcBef>
              <a:buClr>
                <a:srgbClr val="FFFF00"/>
              </a:buClr>
              <a:buFont typeface="Times New Roman"/>
              <a:buAutoNum type="alphaLcParenR"/>
              <a:tabLst>
                <a:tab pos="797560" algn="l"/>
                <a:tab pos="798195" algn="l"/>
              </a:tabLst>
            </a:pPr>
            <a:r>
              <a:rPr dirty="0"/>
              <a:t>	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中对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的惟一定值和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的定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间没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sz="2800" b="1" spc="15" dirty="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定值；</a:t>
            </a:r>
            <a:endParaRPr sz="2800">
              <a:latin typeface="宋体"/>
              <a:cs typeface="宋体"/>
            </a:endParaRPr>
          </a:p>
          <a:p>
            <a:pPr marL="793750" lvl="1" indent="-496570">
              <a:lnSpc>
                <a:spcPct val="100000"/>
              </a:lnSpc>
              <a:spcBef>
                <a:spcPts val="1445"/>
              </a:spcBef>
              <a:buClr>
                <a:srgbClr val="FFFF00"/>
              </a:buClr>
              <a:buAutoNum type="alphaLcParenR"/>
              <a:tabLst>
                <a:tab pos="793750" algn="l"/>
                <a:tab pos="794385" algn="l"/>
              </a:tabLst>
            </a:pP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外没有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的定值可到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达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704215" marR="215265" indent="-533400">
              <a:lnSpc>
                <a:spcPct val="130000"/>
              </a:lnSpc>
              <a:spcBef>
                <a:spcPts val="1110"/>
              </a:spcBef>
              <a:tabLst>
                <a:tab pos="704215" algn="l"/>
                <a:tab pos="2841625" algn="l"/>
              </a:tabLst>
            </a:pP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*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*</a:t>
            </a:r>
            <a:r>
              <a:rPr sz="2800" b="1" dirty="0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找出一族归纳变量，可以变换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计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算归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纳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变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量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的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指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令</a:t>
            </a:r>
            <a:r>
              <a:rPr sz="2800" b="1" spc="-69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*	</a:t>
            </a: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13482" y="5283708"/>
            <a:ext cx="495300" cy="114300"/>
          </a:xfrm>
          <a:custGeom>
            <a:avLst/>
            <a:gdLst/>
            <a:ahLst/>
            <a:cxnLst/>
            <a:rect l="l" t="t" r="r" b="b"/>
            <a:pathLst>
              <a:path w="495300" h="114300">
                <a:moveTo>
                  <a:pt x="381000" y="0"/>
                </a:moveTo>
                <a:lnTo>
                  <a:pt x="381000" y="114299"/>
                </a:lnTo>
                <a:lnTo>
                  <a:pt x="457200" y="76199"/>
                </a:lnTo>
                <a:lnTo>
                  <a:pt x="400050" y="76199"/>
                </a:lnTo>
                <a:lnTo>
                  <a:pt x="400050" y="38099"/>
                </a:lnTo>
                <a:lnTo>
                  <a:pt x="457200" y="38099"/>
                </a:lnTo>
                <a:lnTo>
                  <a:pt x="381000" y="0"/>
                </a:lnTo>
                <a:close/>
              </a:path>
              <a:path w="495300" h="114300">
                <a:moveTo>
                  <a:pt x="3810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81000" y="76199"/>
                </a:lnTo>
                <a:lnTo>
                  <a:pt x="381000" y="38099"/>
                </a:lnTo>
                <a:close/>
              </a:path>
              <a:path w="495300" h="114300">
                <a:moveTo>
                  <a:pt x="457200" y="38099"/>
                </a:moveTo>
                <a:lnTo>
                  <a:pt x="400050" y="38099"/>
                </a:lnTo>
                <a:lnTo>
                  <a:pt x="400050" y="76199"/>
                </a:lnTo>
                <a:lnTo>
                  <a:pt x="457200" y="76199"/>
                </a:lnTo>
                <a:lnTo>
                  <a:pt x="495300" y="57149"/>
                </a:lnTo>
                <a:lnTo>
                  <a:pt x="457200" y="38099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00"/>
              </a:spcBef>
              <a:tabLst>
                <a:tab pos="1036955" algn="l"/>
                <a:tab pos="3653790" algn="l"/>
                <a:tab pos="4161154" algn="l"/>
              </a:tabLst>
            </a:pPr>
            <a:r>
              <a:rPr sz="2000" u="none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u="none" dirty="0">
                <a:latin typeface="Times New Roman"/>
                <a:cs typeface="Times New Roman"/>
              </a:rPr>
              <a:t>h8	</a:t>
            </a:r>
            <a:r>
              <a:rPr u="none" spc="5" dirty="0"/>
              <a:t>代码优</a:t>
            </a:r>
            <a:r>
              <a:rPr u="none" dirty="0"/>
              <a:t>化	</a:t>
            </a:r>
            <a:r>
              <a:rPr sz="2000" dirty="0">
                <a:latin typeface="Times New Roman"/>
                <a:cs typeface="Times New Roman"/>
              </a:rPr>
              <a:t>8</a:t>
            </a:r>
            <a:r>
              <a:rPr sz="2000" spc="5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5	</a:t>
            </a:r>
            <a:r>
              <a:rPr spc="5" dirty="0"/>
              <a:t>循环优</a:t>
            </a:r>
            <a:r>
              <a:rPr dirty="0"/>
              <a:t>化实</a:t>
            </a:r>
            <a:r>
              <a:rPr spc="-10" dirty="0"/>
              <a:t>施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113</a:t>
            </a:fld>
            <a:r>
              <a:rPr sz="1400" b="1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943" y="541985"/>
            <a:ext cx="1451610" cy="49593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0670" indent="-268605">
              <a:lnSpc>
                <a:spcPct val="100000"/>
              </a:lnSpc>
              <a:spcBef>
                <a:spcPts val="385"/>
              </a:spcBef>
              <a:buClr>
                <a:srgbClr val="66FFFF"/>
              </a:buClr>
              <a:buSzPct val="108928"/>
              <a:buFont typeface="Wingdings"/>
              <a:buChar char=""/>
              <a:tabLst>
                <a:tab pos="281305" algn="l"/>
              </a:tabLst>
            </a:pPr>
            <a:r>
              <a:rPr sz="2800" u="none" spc="-10" dirty="0">
                <a:solidFill>
                  <a:srgbClr val="FFFF00"/>
                </a:solidFill>
                <a:latin typeface="宋体"/>
                <a:cs typeface="宋体"/>
              </a:rPr>
              <a:t>算</a:t>
            </a:r>
            <a:r>
              <a:rPr sz="2800" u="none" spc="-5" dirty="0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sz="2800" u="none" spc="-5" dirty="0">
                <a:solidFill>
                  <a:srgbClr val="FFFF00"/>
                </a:solidFill>
                <a:latin typeface="Times New Roman"/>
                <a:cs typeface="Times New Roman"/>
              </a:rPr>
              <a:t>8.6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15514" y="578561"/>
            <a:ext cx="27559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sz="2800" b="1" spc="-8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W2</a:t>
            </a:r>
            <a:r>
              <a:rPr sz="28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：</a:t>
            </a:r>
            <a:r>
              <a:rPr sz="28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强度削</a:t>
            </a:r>
            <a:r>
              <a:rPr sz="2800" b="1" u="heavy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弱</a:t>
            </a:r>
            <a:r>
              <a:rPr sz="2800" b="1" spc="-72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341" y="1108989"/>
            <a:ext cx="7623809" cy="511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560070" indent="18415">
              <a:lnSpc>
                <a:spcPct val="1449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输入：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带有到达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定值信息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纳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变量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族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输出：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进行强度削弱优化后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64"/>
              </a:spcBef>
            </a:pP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方法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依次考察基本归纳变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对每个形如</a:t>
            </a:r>
            <a:endParaRPr sz="2800">
              <a:latin typeface="宋体"/>
              <a:cs typeface="宋体"/>
            </a:endParaRPr>
          </a:p>
          <a:p>
            <a:pPr marL="1612900">
              <a:lnSpc>
                <a:spcPct val="100000"/>
              </a:lnSpc>
              <a:spcBef>
                <a:spcPts val="101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J=C*I</a:t>
            </a:r>
            <a:r>
              <a:rPr sz="28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±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的四元式：</a:t>
            </a:r>
            <a:endParaRPr sz="2800">
              <a:latin typeface="宋体"/>
              <a:cs typeface="宋体"/>
            </a:endParaRPr>
          </a:p>
          <a:p>
            <a:pPr marL="457200">
              <a:lnSpc>
                <a:spcPct val="100000"/>
              </a:lnSpc>
              <a:spcBef>
                <a:spcPts val="1170"/>
              </a:spcBef>
              <a:tabLst>
                <a:tab pos="1464945" algn="l"/>
              </a:tabLst>
            </a:pPr>
            <a:r>
              <a:rPr sz="2600" b="1" dirty="0">
                <a:solidFill>
                  <a:srgbClr val="66FFFF"/>
                </a:solidFill>
                <a:latin typeface="Times New Roman"/>
                <a:cs typeface="Times New Roman"/>
              </a:rPr>
              <a:t>step1:	</a:t>
            </a:r>
            <a:r>
              <a:rPr sz="2600" b="1" dirty="0">
                <a:solidFill>
                  <a:srgbClr val="FFFFFF"/>
                </a:solidFill>
                <a:latin typeface="宋体"/>
                <a:cs typeface="宋体"/>
              </a:rPr>
              <a:t>建立新变</a:t>
            </a:r>
            <a:r>
              <a:rPr sz="2600" b="1" spc="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S;</a:t>
            </a:r>
            <a:endParaRPr sz="260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  <a:spcBef>
                <a:spcPts val="1025"/>
              </a:spcBef>
              <a:tabLst>
                <a:tab pos="1515110" algn="l"/>
              </a:tabLst>
            </a:pPr>
            <a:r>
              <a:rPr sz="26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step2:	</a:t>
            </a:r>
            <a:r>
              <a:rPr sz="2600" b="1" dirty="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sz="26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J=S</a:t>
            </a:r>
            <a:r>
              <a:rPr sz="2600" b="1" dirty="0">
                <a:solidFill>
                  <a:srgbClr val="FFFFFF"/>
                </a:solidFill>
                <a:latin typeface="宋体"/>
                <a:cs typeface="宋体"/>
              </a:rPr>
              <a:t>代替原</a:t>
            </a:r>
            <a:r>
              <a:rPr sz="2600" b="1" spc="5" dirty="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sz="26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600" b="1" dirty="0">
                <a:solidFill>
                  <a:srgbClr val="FFFFFF"/>
                </a:solidFill>
                <a:latin typeface="宋体"/>
                <a:cs typeface="宋体"/>
              </a:rPr>
              <a:t>的定</a:t>
            </a:r>
            <a:r>
              <a:rPr sz="2600" b="1" spc="615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  <a:spcBef>
                <a:spcPts val="935"/>
              </a:spcBef>
              <a:tabLst>
                <a:tab pos="1515110" algn="l"/>
              </a:tabLst>
            </a:pPr>
            <a:r>
              <a:rPr sz="26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step3:	</a:t>
            </a:r>
            <a:r>
              <a:rPr sz="2600" b="1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600" b="1" dirty="0">
                <a:solidFill>
                  <a:srgbClr val="FFFFFF"/>
                </a:solidFill>
                <a:latin typeface="宋体"/>
                <a:cs typeface="宋体"/>
              </a:rPr>
              <a:t>中每</a:t>
            </a:r>
            <a:r>
              <a:rPr sz="2600" b="1" spc="5" dirty="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I=I+n(n</a:t>
            </a:r>
            <a:r>
              <a:rPr sz="2600" b="1" dirty="0">
                <a:solidFill>
                  <a:srgbClr val="FFFFFF"/>
                </a:solidFill>
                <a:latin typeface="宋体"/>
                <a:cs typeface="宋体"/>
              </a:rPr>
              <a:t>为常量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600" b="1" dirty="0">
                <a:solidFill>
                  <a:srgbClr val="FFFFFF"/>
                </a:solidFill>
                <a:latin typeface="宋体"/>
                <a:cs typeface="宋体"/>
              </a:rPr>
              <a:t>的四元式后加上</a:t>
            </a:r>
            <a:endParaRPr sz="2600">
              <a:latin typeface="宋体"/>
              <a:cs typeface="宋体"/>
            </a:endParaRPr>
          </a:p>
          <a:p>
            <a:pPr marL="1581150">
              <a:lnSpc>
                <a:spcPct val="100000"/>
              </a:lnSpc>
              <a:spcBef>
                <a:spcPts val="900"/>
              </a:spcBef>
            </a:pP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S=S+C*n</a:t>
            </a:r>
            <a:r>
              <a:rPr sz="26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  <a:spcBef>
                <a:spcPts val="975"/>
              </a:spcBef>
              <a:tabLst>
                <a:tab pos="1515110" algn="l"/>
              </a:tabLst>
            </a:pPr>
            <a:r>
              <a:rPr sz="26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step4:	</a:t>
            </a:r>
            <a:r>
              <a:rPr sz="2600" b="1" dirty="0">
                <a:solidFill>
                  <a:srgbClr val="FFFFFF"/>
                </a:solidFill>
                <a:latin typeface="宋体"/>
                <a:cs typeface="宋体"/>
              </a:rPr>
              <a:t>保证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600" b="1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600" b="1" dirty="0">
                <a:solidFill>
                  <a:srgbClr val="FFFFFF"/>
                </a:solidFill>
                <a:latin typeface="宋体"/>
                <a:cs typeface="宋体"/>
              </a:rPr>
              <a:t>入口的初值</a:t>
            </a:r>
            <a:r>
              <a:rPr sz="2600" b="1" spc="-5" dirty="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C*I+d</a:t>
            </a:r>
            <a:r>
              <a:rPr sz="26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49576" y="11378"/>
            <a:ext cx="18942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代码优化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114</a:t>
            </a:fld>
            <a:r>
              <a:rPr sz="1400" b="1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10047" y="11378"/>
            <a:ext cx="23653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943" y="541985"/>
            <a:ext cx="1451610" cy="49593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0670" indent="-268605">
              <a:lnSpc>
                <a:spcPct val="100000"/>
              </a:lnSpc>
              <a:spcBef>
                <a:spcPts val="385"/>
              </a:spcBef>
              <a:buClr>
                <a:srgbClr val="66FFFF"/>
              </a:buClr>
              <a:buSzPct val="108928"/>
              <a:buFont typeface="Wingdings"/>
              <a:buChar char=""/>
              <a:tabLst>
                <a:tab pos="281305" algn="l"/>
              </a:tabLst>
            </a:pPr>
            <a:r>
              <a:rPr sz="2800" u="none" spc="-10" dirty="0">
                <a:solidFill>
                  <a:srgbClr val="FFFF00"/>
                </a:solidFill>
                <a:latin typeface="宋体"/>
                <a:cs typeface="宋体"/>
              </a:rPr>
              <a:t>算</a:t>
            </a:r>
            <a:r>
              <a:rPr sz="2800" u="none" spc="-5" dirty="0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sz="2800" u="none" spc="-5" dirty="0">
                <a:solidFill>
                  <a:srgbClr val="FFFF00"/>
                </a:solidFill>
                <a:latin typeface="Times New Roman"/>
                <a:cs typeface="Times New Roman"/>
              </a:rPr>
              <a:t>8.7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78173" y="4907978"/>
            <a:ext cx="1440179" cy="396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78173" y="4969890"/>
            <a:ext cx="1440180" cy="334645"/>
          </a:xfrm>
          <a:custGeom>
            <a:avLst/>
            <a:gdLst/>
            <a:ahLst/>
            <a:cxnLst/>
            <a:rect l="l" t="t" r="r" b="b"/>
            <a:pathLst>
              <a:path w="1440179" h="334645">
                <a:moveTo>
                  <a:pt x="1440179" y="235330"/>
                </a:moveTo>
                <a:lnTo>
                  <a:pt x="1080135" y="235330"/>
                </a:lnTo>
                <a:lnTo>
                  <a:pt x="1080135" y="0"/>
                </a:lnTo>
                <a:lnTo>
                  <a:pt x="360045" y="0"/>
                </a:lnTo>
                <a:lnTo>
                  <a:pt x="360045" y="235330"/>
                </a:lnTo>
                <a:lnTo>
                  <a:pt x="0" y="235330"/>
                </a:lnTo>
                <a:lnTo>
                  <a:pt x="720089" y="334390"/>
                </a:lnTo>
                <a:lnTo>
                  <a:pt x="1440179" y="23533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19169" y="4913757"/>
            <a:ext cx="758190" cy="62865"/>
          </a:xfrm>
          <a:custGeom>
            <a:avLst/>
            <a:gdLst/>
            <a:ahLst/>
            <a:cxnLst/>
            <a:rect l="l" t="t" r="r" b="b"/>
            <a:pathLst>
              <a:path w="758189" h="62864">
                <a:moveTo>
                  <a:pt x="0" y="62864"/>
                </a:moveTo>
                <a:lnTo>
                  <a:pt x="758189" y="62864"/>
                </a:lnTo>
                <a:lnTo>
                  <a:pt x="758189" y="0"/>
                </a:lnTo>
                <a:lnTo>
                  <a:pt x="0" y="0"/>
                </a:lnTo>
                <a:lnTo>
                  <a:pt x="0" y="6286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19169" y="4888928"/>
            <a:ext cx="758190" cy="50800"/>
          </a:xfrm>
          <a:custGeom>
            <a:avLst/>
            <a:gdLst/>
            <a:ahLst/>
            <a:cxnLst/>
            <a:rect l="l" t="t" r="r" b="b"/>
            <a:pathLst>
              <a:path w="758189" h="50800">
                <a:moveTo>
                  <a:pt x="0" y="50482"/>
                </a:moveTo>
                <a:lnTo>
                  <a:pt x="758189" y="50482"/>
                </a:lnTo>
                <a:lnTo>
                  <a:pt x="758189" y="0"/>
                </a:lnTo>
                <a:lnTo>
                  <a:pt x="0" y="0"/>
                </a:lnTo>
                <a:lnTo>
                  <a:pt x="0" y="5048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862" y="5487161"/>
            <a:ext cx="7899400" cy="472440"/>
          </a:xfrm>
          <a:custGeom>
            <a:avLst/>
            <a:gdLst/>
            <a:ahLst/>
            <a:cxnLst/>
            <a:rect l="l" t="t" r="r" b="b"/>
            <a:pathLst>
              <a:path w="7899400" h="472439">
                <a:moveTo>
                  <a:pt x="0" y="472440"/>
                </a:moveTo>
                <a:lnTo>
                  <a:pt x="7898892" y="472440"/>
                </a:lnTo>
                <a:lnTo>
                  <a:pt x="7898892" y="0"/>
                </a:lnTo>
                <a:lnTo>
                  <a:pt x="0" y="0"/>
                </a:lnTo>
                <a:lnTo>
                  <a:pt x="0" y="472440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9143" y="1358798"/>
            <a:ext cx="8329930" cy="455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0" marR="89535" indent="-1067435">
              <a:lnSpc>
                <a:spcPct val="1101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输入：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带有到达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定值信息、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循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环不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运算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信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活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跃变量信息的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1275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输出：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删除归纳变量优化后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0000"/>
              </a:lnSpc>
              <a:spcBef>
                <a:spcPts val="1295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方法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sz="2800" b="1" spc="-78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考察每个仅用于计算同族中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它归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纳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和条 件分支的基本归纳变量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，取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族的一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归纳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sz="2800" b="1" spc="20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将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含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的测试改为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代替。</a:t>
            </a:r>
            <a:endParaRPr sz="2800">
              <a:latin typeface="宋体"/>
              <a:cs typeface="宋体"/>
            </a:endParaRPr>
          </a:p>
          <a:p>
            <a:pPr marL="5194300">
              <a:lnSpc>
                <a:spcPct val="100000"/>
              </a:lnSpc>
              <a:spcBef>
                <a:spcPts val="1445"/>
              </a:spcBef>
            </a:pPr>
            <a:r>
              <a:rPr sz="2400" b="1" spc="5" dirty="0">
                <a:solidFill>
                  <a:srgbClr val="66FFFF"/>
                </a:solidFill>
                <a:latin typeface="宋体"/>
                <a:cs typeface="宋体"/>
              </a:rPr>
              <a:t>据</a:t>
            </a:r>
            <a:r>
              <a:rPr sz="24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du</a:t>
            </a:r>
            <a:r>
              <a:rPr sz="2400" b="1" dirty="0">
                <a:solidFill>
                  <a:srgbClr val="66FFFF"/>
                </a:solidFill>
                <a:latin typeface="宋体"/>
                <a:cs typeface="宋体"/>
              </a:rPr>
              <a:t>链信息</a:t>
            </a:r>
            <a:endParaRPr sz="2400">
              <a:latin typeface="宋体"/>
              <a:cs typeface="宋体"/>
            </a:endParaRPr>
          </a:p>
          <a:p>
            <a:pPr marL="482600">
              <a:lnSpc>
                <a:spcPct val="100000"/>
              </a:lnSpc>
              <a:spcBef>
                <a:spcPts val="1570"/>
              </a:spcBef>
            </a:pPr>
            <a:r>
              <a:rPr sz="2800" b="1" spc="-5" dirty="0">
                <a:solidFill>
                  <a:srgbClr val="99FFCC"/>
                </a:solidFill>
                <a:latin typeface="宋体"/>
                <a:cs typeface="宋体"/>
              </a:rPr>
              <a:t>替代后的</a:t>
            </a:r>
            <a:r>
              <a:rPr sz="2800" b="1" spc="-5" dirty="0">
                <a:solidFill>
                  <a:srgbClr val="99FFCC"/>
                </a:solidFill>
                <a:latin typeface="Times New Roman"/>
                <a:cs typeface="Times New Roman"/>
              </a:rPr>
              <a:t>I</a:t>
            </a:r>
            <a:r>
              <a:rPr sz="2800" b="1" spc="-5" dirty="0">
                <a:solidFill>
                  <a:srgbClr val="99FFCC"/>
                </a:solidFill>
                <a:latin typeface="宋体"/>
                <a:cs typeface="宋体"/>
              </a:rPr>
              <a:t>不再引用时，</a:t>
            </a:r>
            <a:r>
              <a:rPr sz="2800" b="1" spc="-15" dirty="0">
                <a:solidFill>
                  <a:srgbClr val="99FFCC"/>
                </a:solidFill>
                <a:latin typeface="宋体"/>
                <a:cs typeface="宋体"/>
              </a:rPr>
              <a:t>从</a:t>
            </a:r>
            <a:r>
              <a:rPr sz="2800" b="1" spc="-10" dirty="0">
                <a:solidFill>
                  <a:srgbClr val="99FFCC"/>
                </a:solidFill>
                <a:latin typeface="Times New Roman"/>
                <a:cs typeface="Times New Roman"/>
              </a:rPr>
              <a:t>L</a:t>
            </a:r>
            <a:r>
              <a:rPr sz="2800" b="1" spc="-5" dirty="0">
                <a:solidFill>
                  <a:srgbClr val="99FFCC"/>
                </a:solidFill>
                <a:latin typeface="宋体"/>
                <a:cs typeface="宋体"/>
              </a:rPr>
              <a:t>中删去</a:t>
            </a:r>
            <a:r>
              <a:rPr sz="2800" b="1" dirty="0">
                <a:solidFill>
                  <a:srgbClr val="99FFCC"/>
                </a:solidFill>
                <a:latin typeface="宋体"/>
                <a:cs typeface="宋体"/>
              </a:rPr>
              <a:t>对</a:t>
            </a:r>
            <a:r>
              <a:rPr sz="2800" b="1" spc="-5" dirty="0">
                <a:solidFill>
                  <a:srgbClr val="99FFCC"/>
                </a:solidFill>
                <a:latin typeface="Times New Roman"/>
                <a:cs typeface="Times New Roman"/>
              </a:rPr>
              <a:t>I</a:t>
            </a:r>
            <a:r>
              <a:rPr sz="2800" b="1" spc="5" dirty="0">
                <a:solidFill>
                  <a:srgbClr val="99FFCC"/>
                </a:solidFill>
                <a:latin typeface="宋体"/>
                <a:cs typeface="宋体"/>
              </a:rPr>
              <a:t>定</a:t>
            </a:r>
            <a:r>
              <a:rPr sz="2800" b="1" spc="-10" dirty="0">
                <a:solidFill>
                  <a:srgbClr val="99FFCC"/>
                </a:solidFill>
                <a:latin typeface="宋体"/>
                <a:cs typeface="宋体"/>
              </a:rPr>
              <a:t>值</a:t>
            </a:r>
            <a:r>
              <a:rPr sz="2800" b="1" spc="5" dirty="0">
                <a:solidFill>
                  <a:srgbClr val="99FFCC"/>
                </a:solidFill>
                <a:latin typeface="宋体"/>
                <a:cs typeface="宋体"/>
              </a:rPr>
              <a:t>的</a:t>
            </a:r>
            <a:r>
              <a:rPr sz="2800" b="1" spc="-10" dirty="0">
                <a:solidFill>
                  <a:srgbClr val="99FFCC"/>
                </a:solidFill>
                <a:latin typeface="宋体"/>
                <a:cs typeface="宋体"/>
              </a:rPr>
              <a:t>语</a:t>
            </a:r>
            <a:r>
              <a:rPr sz="2800" b="1" spc="-15" dirty="0">
                <a:solidFill>
                  <a:srgbClr val="99FFCC"/>
                </a:solidFill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49576" y="0"/>
            <a:ext cx="5626100" cy="119189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tabLst>
                <a:tab pos="655955" algn="l"/>
                <a:tab pos="3272790" algn="l"/>
                <a:tab pos="3780154" algn="l"/>
              </a:tabLst>
            </a:pPr>
            <a:r>
              <a:rPr sz="2000" b="1" spc="5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代码优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化	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20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2400" b="1" u="sng" spc="5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循环优</a:t>
            </a:r>
            <a:r>
              <a:rPr sz="2400" b="1" u="sng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化实</a:t>
            </a:r>
            <a:r>
              <a:rPr sz="2400" b="1" u="sng" spc="-10" dirty="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施</a:t>
            </a:r>
            <a:endParaRPr sz="2400">
              <a:latin typeface="华文新魏"/>
              <a:cs typeface="华文新魏"/>
            </a:endParaRPr>
          </a:p>
          <a:p>
            <a:pPr marL="267335">
              <a:lnSpc>
                <a:spcPct val="100000"/>
              </a:lnSpc>
              <a:spcBef>
                <a:spcPts val="1580"/>
              </a:spcBef>
            </a:pP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sz="2800" b="1" spc="-45" dirty="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W3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：</a:t>
            </a: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删除归纳变</a:t>
            </a:r>
            <a:r>
              <a:rPr sz="2800" b="1" u="heavy" spc="-15" dirty="0">
                <a:solidFill>
                  <a:srgbClr val="FF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量</a:t>
            </a:r>
            <a:r>
              <a:rPr sz="2800" b="1" spc="-68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115</a:t>
            </a:fld>
            <a:r>
              <a:rPr sz="1400" b="1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7243" y="26923"/>
            <a:ext cx="7901940" cy="6071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7075" algn="ctr">
              <a:lnSpc>
                <a:spcPct val="100000"/>
              </a:lnSpc>
              <a:spcBef>
                <a:spcPts val="100"/>
              </a:spcBef>
              <a:tabLst>
                <a:tab pos="1370330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代</a:t>
            </a:r>
            <a:r>
              <a:rPr sz="2000" b="1" spc="-509" dirty="0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码</a:t>
            </a:r>
            <a:r>
              <a:rPr sz="2000" b="1" spc="-495" dirty="0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优</a:t>
            </a:r>
            <a:r>
              <a:rPr sz="2000" b="1" spc="-509" dirty="0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50">
              <a:latin typeface="宋体"/>
              <a:cs typeface="宋体"/>
            </a:endParaRPr>
          </a:p>
          <a:p>
            <a:pPr marL="318770" indent="-306705">
              <a:lnSpc>
                <a:spcPct val="100000"/>
              </a:lnSpc>
              <a:buClr>
                <a:srgbClr val="66FFFF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实施优化的综合考虑</a:t>
            </a:r>
            <a:endParaRPr sz="3200">
              <a:latin typeface="宋体"/>
              <a:cs typeface="宋体"/>
            </a:endParaRPr>
          </a:p>
          <a:p>
            <a:pPr marL="309880" marR="537210" indent="-88900">
              <a:lnSpc>
                <a:spcPct val="130100"/>
              </a:lnSpc>
              <a:spcBef>
                <a:spcPts val="1250"/>
              </a:spcBef>
              <a:tabLst>
                <a:tab pos="935355" algn="l"/>
              </a:tabLst>
            </a:pP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综合应用各类优化技术的共性</a:t>
            </a:r>
            <a:r>
              <a:rPr sz="2800" b="1" spc="5" dirty="0">
                <a:solidFill>
                  <a:srgbClr val="66FFFF"/>
                </a:solidFill>
                <a:latin typeface="宋体"/>
                <a:cs typeface="宋体"/>
              </a:rPr>
              <a:t>应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考虑</a:t>
            </a:r>
            <a:r>
              <a:rPr sz="2800" b="1" spc="5" dirty="0">
                <a:solidFill>
                  <a:srgbClr val="66FFFF"/>
                </a:solidFill>
                <a:latin typeface="宋体"/>
                <a:cs typeface="宋体"/>
              </a:rPr>
              <a:t>的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因</a:t>
            </a:r>
            <a:r>
              <a:rPr sz="2800" b="1" spc="5" dirty="0">
                <a:solidFill>
                  <a:srgbClr val="66FFFF"/>
                </a:solidFill>
                <a:latin typeface="宋体"/>
                <a:cs typeface="宋体"/>
              </a:rPr>
              <a:t>素</a:t>
            </a:r>
            <a:r>
              <a:rPr sz="2800" b="1" spc="-15" dirty="0">
                <a:solidFill>
                  <a:srgbClr val="66FFFF"/>
                </a:solidFill>
                <a:latin typeface="宋体"/>
                <a:cs typeface="宋体"/>
              </a:rPr>
              <a:t>：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一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中间代码的选择</a:t>
            </a:r>
            <a:endParaRPr sz="2800">
              <a:latin typeface="宋体"/>
              <a:cs typeface="宋体"/>
            </a:endParaRPr>
          </a:p>
          <a:p>
            <a:pPr marL="1110615" lvl="1" indent="-534670">
              <a:lnSpc>
                <a:spcPct val="100000"/>
              </a:lnSpc>
              <a:spcBef>
                <a:spcPts val="1005"/>
              </a:spcBef>
              <a:buFont typeface="Times New Roman"/>
              <a:buAutoNum type="arabicPeriod"/>
              <a:tabLst>
                <a:tab pos="1110615" algn="l"/>
                <a:tab pos="1111250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便于生成目标代码；</a:t>
            </a:r>
            <a:endParaRPr sz="2800">
              <a:latin typeface="宋体"/>
              <a:cs typeface="宋体"/>
            </a:endParaRPr>
          </a:p>
          <a:p>
            <a:pPr marL="1110615" lvl="1" indent="-534670">
              <a:lnSpc>
                <a:spcPct val="100000"/>
              </a:lnSpc>
              <a:spcBef>
                <a:spcPts val="1010"/>
              </a:spcBef>
              <a:buFont typeface="Times New Roman"/>
              <a:buAutoNum type="arabicPeriod"/>
              <a:tabLst>
                <a:tab pos="1110615" algn="l"/>
                <a:tab pos="1111250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便于优化；</a:t>
            </a:r>
            <a:endParaRPr sz="2800">
              <a:latin typeface="宋体"/>
              <a:cs typeface="宋体"/>
            </a:endParaRPr>
          </a:p>
          <a:p>
            <a:pPr marL="221615">
              <a:lnSpc>
                <a:spcPct val="100000"/>
              </a:lnSpc>
              <a:spcBef>
                <a:spcPts val="2760"/>
              </a:spcBef>
              <a:tabLst>
                <a:tab pos="845185" algn="l"/>
              </a:tabLst>
            </a:pP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二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确定实施各类优化的内容、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次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序和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具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体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技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术</a:t>
            </a:r>
            <a:endParaRPr sz="2800">
              <a:latin typeface="宋体"/>
              <a:cs typeface="宋体"/>
            </a:endParaRPr>
          </a:p>
          <a:p>
            <a:pPr marL="1110615" indent="-534670">
              <a:lnSpc>
                <a:spcPct val="100000"/>
              </a:lnSpc>
              <a:spcBef>
                <a:spcPts val="1010"/>
              </a:spcBef>
              <a:buFont typeface="Times New Roman"/>
              <a:buAutoNum type="arabicPeriod"/>
              <a:tabLst>
                <a:tab pos="1110615" algn="l"/>
                <a:tab pos="1111250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内容：适合实施的具体优化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工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作；</a:t>
            </a:r>
            <a:endParaRPr sz="2800">
              <a:latin typeface="宋体"/>
              <a:cs typeface="宋体"/>
            </a:endParaRPr>
          </a:p>
          <a:p>
            <a:pPr marL="1110615" marR="5080" indent="-534035">
              <a:lnSpc>
                <a:spcPts val="4370"/>
              </a:lnSpc>
              <a:spcBef>
                <a:spcPts val="315"/>
              </a:spcBef>
              <a:buFont typeface="Times New Roman"/>
              <a:buAutoNum type="arabicPeriod"/>
              <a:tabLst>
                <a:tab pos="1110615" algn="l"/>
                <a:tab pos="1111250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次序：对提高优化效率，减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少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优化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价很重 要。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116</a:t>
            </a:fld>
            <a:r>
              <a:rPr sz="1400" b="1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3461" y="1181861"/>
            <a:ext cx="2057400" cy="39052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705"/>
              </a:lnSpc>
            </a:pPr>
            <a:r>
              <a:rPr sz="2800" u="none" spc="-5" dirty="0">
                <a:solidFill>
                  <a:srgbClr val="FFFFFF"/>
                </a:solidFill>
                <a:latin typeface="宋体"/>
                <a:cs typeface="宋体"/>
              </a:rPr>
              <a:t>控制流分析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11373" y="2116073"/>
            <a:ext cx="2057400" cy="39052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2700"/>
              </a:lnSpc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数据流分析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9661" y="3048761"/>
            <a:ext cx="2057400" cy="390525"/>
          </a:xfrm>
          <a:custGeom>
            <a:avLst/>
            <a:gdLst/>
            <a:ahLst/>
            <a:cxnLst/>
            <a:rect l="l" t="t" r="r" b="b"/>
            <a:pathLst>
              <a:path w="2057400" h="390525">
                <a:moveTo>
                  <a:pt x="0" y="390144"/>
                </a:moveTo>
                <a:lnTo>
                  <a:pt x="2057400" y="390144"/>
                </a:lnTo>
                <a:lnTo>
                  <a:pt x="2057400" y="0"/>
                </a:lnTo>
                <a:lnTo>
                  <a:pt x="0" y="0"/>
                </a:lnTo>
                <a:lnTo>
                  <a:pt x="0" y="39014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31414" y="2953892"/>
            <a:ext cx="1452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循环优化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11373" y="4325873"/>
            <a:ext cx="2057400" cy="390525"/>
          </a:xfrm>
          <a:custGeom>
            <a:avLst/>
            <a:gdLst/>
            <a:ahLst/>
            <a:cxnLst/>
            <a:rect l="l" t="t" r="r" b="b"/>
            <a:pathLst>
              <a:path w="2057400" h="390525">
                <a:moveTo>
                  <a:pt x="0" y="390144"/>
                </a:moveTo>
                <a:lnTo>
                  <a:pt x="2057400" y="390144"/>
                </a:lnTo>
                <a:lnTo>
                  <a:pt x="2057400" y="0"/>
                </a:lnTo>
                <a:lnTo>
                  <a:pt x="0" y="0"/>
                </a:lnTo>
                <a:lnTo>
                  <a:pt x="0" y="39014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12110" y="4230065"/>
            <a:ext cx="1452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全局优化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9661" y="5316473"/>
            <a:ext cx="2057400" cy="39052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4325">
              <a:lnSpc>
                <a:spcPts val="2705"/>
              </a:lnSpc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局部优化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48811" y="724662"/>
            <a:ext cx="114300" cy="457200"/>
          </a:xfrm>
          <a:custGeom>
            <a:avLst/>
            <a:gdLst/>
            <a:ahLst/>
            <a:cxnLst/>
            <a:rect l="l" t="t" r="r" b="b"/>
            <a:pathLst>
              <a:path w="114300" h="457200">
                <a:moveTo>
                  <a:pt x="38100" y="266700"/>
                </a:moveTo>
                <a:lnTo>
                  <a:pt x="0" y="266700"/>
                </a:lnTo>
                <a:lnTo>
                  <a:pt x="57150" y="457200"/>
                </a:lnTo>
                <a:lnTo>
                  <a:pt x="108585" y="285750"/>
                </a:lnTo>
                <a:lnTo>
                  <a:pt x="38100" y="285750"/>
                </a:lnTo>
                <a:lnTo>
                  <a:pt x="38100" y="266700"/>
                </a:lnTo>
                <a:close/>
              </a:path>
              <a:path w="114300" h="457200">
                <a:moveTo>
                  <a:pt x="76200" y="0"/>
                </a:moveTo>
                <a:lnTo>
                  <a:pt x="38100" y="0"/>
                </a:lnTo>
                <a:lnTo>
                  <a:pt x="38100" y="285750"/>
                </a:lnTo>
                <a:lnTo>
                  <a:pt x="76200" y="285750"/>
                </a:lnTo>
                <a:lnTo>
                  <a:pt x="76200" y="0"/>
                </a:lnTo>
                <a:close/>
              </a:path>
              <a:path w="114300" h="457200">
                <a:moveTo>
                  <a:pt x="114300" y="266700"/>
                </a:moveTo>
                <a:lnTo>
                  <a:pt x="76200" y="266700"/>
                </a:lnTo>
                <a:lnTo>
                  <a:pt x="76200" y="285750"/>
                </a:lnTo>
                <a:lnTo>
                  <a:pt x="108585" y="285750"/>
                </a:lnTo>
                <a:lnTo>
                  <a:pt x="11430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48811" y="1572005"/>
            <a:ext cx="114300" cy="544195"/>
          </a:xfrm>
          <a:custGeom>
            <a:avLst/>
            <a:gdLst/>
            <a:ahLst/>
            <a:cxnLst/>
            <a:rect l="l" t="t" r="r" b="b"/>
            <a:pathLst>
              <a:path w="114300" h="544194">
                <a:moveTo>
                  <a:pt x="38100" y="353568"/>
                </a:moveTo>
                <a:lnTo>
                  <a:pt x="0" y="353568"/>
                </a:lnTo>
                <a:lnTo>
                  <a:pt x="57150" y="544068"/>
                </a:lnTo>
                <a:lnTo>
                  <a:pt x="108585" y="372618"/>
                </a:lnTo>
                <a:lnTo>
                  <a:pt x="38100" y="372618"/>
                </a:lnTo>
                <a:lnTo>
                  <a:pt x="38100" y="353568"/>
                </a:lnTo>
                <a:close/>
              </a:path>
              <a:path w="114300" h="544194">
                <a:moveTo>
                  <a:pt x="76200" y="0"/>
                </a:moveTo>
                <a:lnTo>
                  <a:pt x="38100" y="0"/>
                </a:lnTo>
                <a:lnTo>
                  <a:pt x="38100" y="372618"/>
                </a:lnTo>
                <a:lnTo>
                  <a:pt x="76200" y="372618"/>
                </a:lnTo>
                <a:lnTo>
                  <a:pt x="76200" y="0"/>
                </a:lnTo>
                <a:close/>
              </a:path>
              <a:path w="114300" h="544194">
                <a:moveTo>
                  <a:pt x="114300" y="353568"/>
                </a:moveTo>
                <a:lnTo>
                  <a:pt x="76200" y="353568"/>
                </a:lnTo>
                <a:lnTo>
                  <a:pt x="76200" y="372618"/>
                </a:lnTo>
                <a:lnTo>
                  <a:pt x="108585" y="372618"/>
                </a:lnTo>
                <a:lnTo>
                  <a:pt x="114300" y="35356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30523" y="2524505"/>
            <a:ext cx="114300" cy="544195"/>
          </a:xfrm>
          <a:custGeom>
            <a:avLst/>
            <a:gdLst/>
            <a:ahLst/>
            <a:cxnLst/>
            <a:rect l="l" t="t" r="r" b="b"/>
            <a:pathLst>
              <a:path w="114300" h="544194">
                <a:moveTo>
                  <a:pt x="38100" y="353568"/>
                </a:moveTo>
                <a:lnTo>
                  <a:pt x="0" y="353568"/>
                </a:lnTo>
                <a:lnTo>
                  <a:pt x="57150" y="544068"/>
                </a:lnTo>
                <a:lnTo>
                  <a:pt x="108585" y="372618"/>
                </a:lnTo>
                <a:lnTo>
                  <a:pt x="38100" y="372618"/>
                </a:lnTo>
                <a:lnTo>
                  <a:pt x="38100" y="353568"/>
                </a:lnTo>
                <a:close/>
              </a:path>
              <a:path w="114300" h="544194">
                <a:moveTo>
                  <a:pt x="76200" y="0"/>
                </a:moveTo>
                <a:lnTo>
                  <a:pt x="38100" y="0"/>
                </a:lnTo>
                <a:lnTo>
                  <a:pt x="38100" y="372618"/>
                </a:lnTo>
                <a:lnTo>
                  <a:pt x="76200" y="372618"/>
                </a:lnTo>
                <a:lnTo>
                  <a:pt x="76200" y="0"/>
                </a:lnTo>
                <a:close/>
              </a:path>
              <a:path w="114300" h="544194">
                <a:moveTo>
                  <a:pt x="114300" y="353568"/>
                </a:moveTo>
                <a:lnTo>
                  <a:pt x="76200" y="353568"/>
                </a:lnTo>
                <a:lnTo>
                  <a:pt x="76200" y="372618"/>
                </a:lnTo>
                <a:lnTo>
                  <a:pt x="108585" y="372618"/>
                </a:lnTo>
                <a:lnTo>
                  <a:pt x="114300" y="35356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48811" y="3461765"/>
            <a:ext cx="114300" cy="864235"/>
          </a:xfrm>
          <a:custGeom>
            <a:avLst/>
            <a:gdLst/>
            <a:ahLst/>
            <a:cxnLst/>
            <a:rect l="l" t="t" r="r" b="b"/>
            <a:pathLst>
              <a:path w="114300" h="864235">
                <a:moveTo>
                  <a:pt x="38100" y="673608"/>
                </a:moveTo>
                <a:lnTo>
                  <a:pt x="0" y="673608"/>
                </a:lnTo>
                <a:lnTo>
                  <a:pt x="57150" y="864108"/>
                </a:lnTo>
                <a:lnTo>
                  <a:pt x="108585" y="692658"/>
                </a:lnTo>
                <a:lnTo>
                  <a:pt x="38100" y="692658"/>
                </a:lnTo>
                <a:lnTo>
                  <a:pt x="38100" y="673608"/>
                </a:lnTo>
                <a:close/>
              </a:path>
              <a:path w="114300" h="864235">
                <a:moveTo>
                  <a:pt x="76200" y="0"/>
                </a:moveTo>
                <a:lnTo>
                  <a:pt x="38100" y="0"/>
                </a:lnTo>
                <a:lnTo>
                  <a:pt x="38100" y="692658"/>
                </a:lnTo>
                <a:lnTo>
                  <a:pt x="76200" y="692658"/>
                </a:lnTo>
                <a:lnTo>
                  <a:pt x="76200" y="0"/>
                </a:lnTo>
                <a:close/>
              </a:path>
              <a:path w="114300" h="864235">
                <a:moveTo>
                  <a:pt x="114300" y="673608"/>
                </a:moveTo>
                <a:lnTo>
                  <a:pt x="76200" y="673608"/>
                </a:lnTo>
                <a:lnTo>
                  <a:pt x="76200" y="692658"/>
                </a:lnTo>
                <a:lnTo>
                  <a:pt x="108585" y="692658"/>
                </a:lnTo>
                <a:lnTo>
                  <a:pt x="114300" y="67360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48811" y="4772405"/>
            <a:ext cx="114300" cy="544195"/>
          </a:xfrm>
          <a:custGeom>
            <a:avLst/>
            <a:gdLst/>
            <a:ahLst/>
            <a:cxnLst/>
            <a:rect l="l" t="t" r="r" b="b"/>
            <a:pathLst>
              <a:path w="114300" h="544195">
                <a:moveTo>
                  <a:pt x="38100" y="353568"/>
                </a:moveTo>
                <a:lnTo>
                  <a:pt x="0" y="353568"/>
                </a:lnTo>
                <a:lnTo>
                  <a:pt x="57150" y="544068"/>
                </a:lnTo>
                <a:lnTo>
                  <a:pt x="108585" y="372618"/>
                </a:lnTo>
                <a:lnTo>
                  <a:pt x="38100" y="372618"/>
                </a:lnTo>
                <a:lnTo>
                  <a:pt x="38100" y="353568"/>
                </a:lnTo>
                <a:close/>
              </a:path>
              <a:path w="114300" h="544195">
                <a:moveTo>
                  <a:pt x="76200" y="0"/>
                </a:moveTo>
                <a:lnTo>
                  <a:pt x="38100" y="0"/>
                </a:lnTo>
                <a:lnTo>
                  <a:pt x="38100" y="372618"/>
                </a:lnTo>
                <a:lnTo>
                  <a:pt x="76200" y="372618"/>
                </a:lnTo>
                <a:lnTo>
                  <a:pt x="76200" y="0"/>
                </a:lnTo>
                <a:close/>
              </a:path>
              <a:path w="114300" h="544195">
                <a:moveTo>
                  <a:pt x="114300" y="353568"/>
                </a:moveTo>
                <a:lnTo>
                  <a:pt x="76200" y="353568"/>
                </a:lnTo>
                <a:lnTo>
                  <a:pt x="76200" y="372618"/>
                </a:lnTo>
                <a:lnTo>
                  <a:pt x="108585" y="372618"/>
                </a:lnTo>
                <a:lnTo>
                  <a:pt x="114300" y="35356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44061" y="5706617"/>
            <a:ext cx="0" cy="524510"/>
          </a:xfrm>
          <a:custGeom>
            <a:avLst/>
            <a:gdLst/>
            <a:ahLst/>
            <a:cxnLst/>
            <a:rect l="l" t="t" r="r" b="b"/>
            <a:pathLst>
              <a:path h="524510">
                <a:moveTo>
                  <a:pt x="0" y="0"/>
                </a:moveTo>
                <a:lnTo>
                  <a:pt x="0" y="52425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20774" y="6230873"/>
            <a:ext cx="1923414" cy="0"/>
          </a:xfrm>
          <a:custGeom>
            <a:avLst/>
            <a:gdLst/>
            <a:ahLst/>
            <a:cxnLst/>
            <a:rect l="l" t="t" r="r" b="b"/>
            <a:pathLst>
              <a:path w="1923414">
                <a:moveTo>
                  <a:pt x="0" y="0"/>
                </a:moveTo>
                <a:lnTo>
                  <a:pt x="192328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20774" y="3833621"/>
            <a:ext cx="0" cy="2397760"/>
          </a:xfrm>
          <a:custGeom>
            <a:avLst/>
            <a:gdLst/>
            <a:ahLst/>
            <a:cxnLst/>
            <a:rect l="l" t="t" r="r" b="b"/>
            <a:pathLst>
              <a:path h="2397760">
                <a:moveTo>
                  <a:pt x="0" y="2397252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20774" y="3776471"/>
            <a:ext cx="1866900" cy="114300"/>
          </a:xfrm>
          <a:custGeom>
            <a:avLst/>
            <a:gdLst/>
            <a:ahLst/>
            <a:cxnLst/>
            <a:rect l="l" t="t" r="r" b="b"/>
            <a:pathLst>
              <a:path w="1866900" h="114300">
                <a:moveTo>
                  <a:pt x="1676400" y="0"/>
                </a:moveTo>
                <a:lnTo>
                  <a:pt x="1676400" y="114300"/>
                </a:lnTo>
                <a:lnTo>
                  <a:pt x="1803400" y="76200"/>
                </a:lnTo>
                <a:lnTo>
                  <a:pt x="1695450" y="76200"/>
                </a:lnTo>
                <a:lnTo>
                  <a:pt x="1695450" y="38100"/>
                </a:lnTo>
                <a:lnTo>
                  <a:pt x="1803400" y="38100"/>
                </a:lnTo>
                <a:lnTo>
                  <a:pt x="1676400" y="0"/>
                </a:lnTo>
                <a:close/>
              </a:path>
              <a:path w="1866900" h="114300">
                <a:moveTo>
                  <a:pt x="1676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676400" y="76200"/>
                </a:lnTo>
                <a:lnTo>
                  <a:pt x="1676400" y="38100"/>
                </a:lnTo>
                <a:close/>
              </a:path>
              <a:path w="1866900" h="114300">
                <a:moveTo>
                  <a:pt x="1803400" y="38100"/>
                </a:moveTo>
                <a:lnTo>
                  <a:pt x="1695450" y="38100"/>
                </a:lnTo>
                <a:lnTo>
                  <a:pt x="1695450" y="76200"/>
                </a:lnTo>
                <a:lnTo>
                  <a:pt x="1803400" y="76200"/>
                </a:lnTo>
                <a:lnTo>
                  <a:pt x="1866900" y="57150"/>
                </a:lnTo>
                <a:lnTo>
                  <a:pt x="18034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16373" y="3211067"/>
            <a:ext cx="1428115" cy="114300"/>
          </a:xfrm>
          <a:custGeom>
            <a:avLst/>
            <a:gdLst/>
            <a:ahLst/>
            <a:cxnLst/>
            <a:rect l="l" t="t" r="r" b="b"/>
            <a:pathLst>
              <a:path w="1428114" h="114300">
                <a:moveTo>
                  <a:pt x="1237488" y="0"/>
                </a:moveTo>
                <a:lnTo>
                  <a:pt x="1237488" y="114300"/>
                </a:lnTo>
                <a:lnTo>
                  <a:pt x="1364488" y="76200"/>
                </a:lnTo>
                <a:lnTo>
                  <a:pt x="1256538" y="76200"/>
                </a:lnTo>
                <a:lnTo>
                  <a:pt x="1256538" y="38100"/>
                </a:lnTo>
                <a:lnTo>
                  <a:pt x="1364488" y="38100"/>
                </a:lnTo>
                <a:lnTo>
                  <a:pt x="1237488" y="0"/>
                </a:lnTo>
                <a:close/>
              </a:path>
              <a:path w="1428114" h="114300">
                <a:moveTo>
                  <a:pt x="12374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237488" y="76200"/>
                </a:lnTo>
                <a:lnTo>
                  <a:pt x="1237488" y="38100"/>
                </a:lnTo>
                <a:close/>
              </a:path>
              <a:path w="1428114" h="114300">
                <a:moveTo>
                  <a:pt x="1364488" y="38100"/>
                </a:moveTo>
                <a:lnTo>
                  <a:pt x="1256538" y="38100"/>
                </a:lnTo>
                <a:lnTo>
                  <a:pt x="1256538" y="76200"/>
                </a:lnTo>
                <a:lnTo>
                  <a:pt x="1364488" y="76200"/>
                </a:lnTo>
                <a:lnTo>
                  <a:pt x="1427988" y="57150"/>
                </a:lnTo>
                <a:lnTo>
                  <a:pt x="1364488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023228" y="2974086"/>
            <a:ext cx="1452245" cy="81597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600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会加入新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的基本块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40173" y="4486655"/>
            <a:ext cx="1428115" cy="114300"/>
          </a:xfrm>
          <a:custGeom>
            <a:avLst/>
            <a:gdLst/>
            <a:ahLst/>
            <a:cxnLst/>
            <a:rect l="l" t="t" r="r" b="b"/>
            <a:pathLst>
              <a:path w="1428114" h="114300">
                <a:moveTo>
                  <a:pt x="1237488" y="0"/>
                </a:moveTo>
                <a:lnTo>
                  <a:pt x="1237488" y="114300"/>
                </a:lnTo>
                <a:lnTo>
                  <a:pt x="1364488" y="76200"/>
                </a:lnTo>
                <a:lnTo>
                  <a:pt x="1256538" y="76200"/>
                </a:lnTo>
                <a:lnTo>
                  <a:pt x="1256538" y="38100"/>
                </a:lnTo>
                <a:lnTo>
                  <a:pt x="1364488" y="38100"/>
                </a:lnTo>
                <a:lnTo>
                  <a:pt x="1237488" y="0"/>
                </a:lnTo>
                <a:close/>
              </a:path>
              <a:path w="1428114" h="114300">
                <a:moveTo>
                  <a:pt x="12374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237488" y="76200"/>
                </a:lnTo>
                <a:lnTo>
                  <a:pt x="1237488" y="38100"/>
                </a:lnTo>
                <a:close/>
              </a:path>
              <a:path w="1428114" h="114300">
                <a:moveTo>
                  <a:pt x="1364488" y="38100"/>
                </a:moveTo>
                <a:lnTo>
                  <a:pt x="1256538" y="38100"/>
                </a:lnTo>
                <a:lnTo>
                  <a:pt x="1256538" y="76200"/>
                </a:lnTo>
                <a:lnTo>
                  <a:pt x="1364488" y="76200"/>
                </a:lnTo>
                <a:lnTo>
                  <a:pt x="1427988" y="57150"/>
                </a:lnTo>
                <a:lnTo>
                  <a:pt x="1364488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947028" y="4174616"/>
            <a:ext cx="2165350" cy="81597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600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调整语句，撤 消某个基本块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69644" y="4393209"/>
            <a:ext cx="381000" cy="1135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完 善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821429" y="26923"/>
            <a:ext cx="1880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代</a:t>
            </a:r>
            <a:r>
              <a:rPr sz="2000" b="1" spc="-535" dirty="0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码</a:t>
            </a:r>
            <a:r>
              <a:rPr sz="2000" b="1" spc="-525" dirty="0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优</a:t>
            </a:r>
            <a:r>
              <a:rPr sz="2000" b="1" spc="-535" dirty="0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905000" y="723900"/>
            <a:ext cx="3467100" cy="2045335"/>
          </a:xfrm>
          <a:custGeom>
            <a:avLst/>
            <a:gdLst/>
            <a:ahLst/>
            <a:cxnLst/>
            <a:rect l="l" t="t" r="r" b="b"/>
            <a:pathLst>
              <a:path w="3467100" h="2045335">
                <a:moveTo>
                  <a:pt x="0" y="2045208"/>
                </a:moveTo>
                <a:lnTo>
                  <a:pt x="3467100" y="2045208"/>
                </a:lnTo>
                <a:lnTo>
                  <a:pt x="3467100" y="0"/>
                </a:lnTo>
                <a:lnTo>
                  <a:pt x="0" y="0"/>
                </a:lnTo>
                <a:lnTo>
                  <a:pt x="0" y="2045208"/>
                </a:lnTo>
                <a:close/>
              </a:path>
            </a:pathLst>
          </a:custGeom>
          <a:ln w="76200">
            <a:solidFill>
              <a:srgbClr val="66FFF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117</a:t>
            </a:fld>
            <a:r>
              <a:rPr sz="1400" b="1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21429" y="26923"/>
            <a:ext cx="1880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b="1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b="1" dirty="0">
                <a:solidFill>
                  <a:srgbClr val="A15100"/>
                </a:solidFill>
                <a:latin typeface="Times New Roman"/>
                <a:cs typeface="Times New Roman"/>
              </a:rPr>
              <a:t>h8	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代</a:t>
            </a:r>
            <a:r>
              <a:rPr sz="2000" b="1" spc="-535" dirty="0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码</a:t>
            </a:r>
            <a:r>
              <a:rPr sz="2000" b="1" spc="-525" dirty="0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优</a:t>
            </a:r>
            <a:r>
              <a:rPr sz="2000" b="1" spc="-535" dirty="0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sz="2000" b="1" spc="-5" dirty="0">
                <a:solidFill>
                  <a:srgbClr val="A15100"/>
                </a:solidFill>
                <a:latin typeface="宋体"/>
                <a:cs typeface="宋体"/>
              </a:rPr>
              <a:t>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9940" y="501142"/>
            <a:ext cx="70758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5635" algn="l"/>
              </a:tabLst>
            </a:pPr>
            <a:r>
              <a:rPr sz="2800" u="none" spc="-5" dirty="0">
                <a:solidFill>
                  <a:srgbClr val="FFFF00"/>
                </a:solidFill>
                <a:latin typeface="宋体"/>
                <a:cs typeface="宋体"/>
              </a:rPr>
              <a:t>三</a:t>
            </a:r>
            <a:r>
              <a:rPr sz="2800" u="none" spc="-5" dirty="0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sz="2800" u="none" spc="-5" dirty="0">
                <a:solidFill>
                  <a:srgbClr val="FFFF00"/>
                </a:solidFill>
                <a:latin typeface="宋体"/>
                <a:cs typeface="宋体"/>
              </a:rPr>
              <a:t>平衡提高优化效率、减少优</a:t>
            </a:r>
            <a:r>
              <a:rPr sz="2800" u="none" spc="5" dirty="0">
                <a:solidFill>
                  <a:srgbClr val="FFFF00"/>
                </a:solidFill>
                <a:latin typeface="宋体"/>
                <a:cs typeface="宋体"/>
              </a:rPr>
              <a:t>化</a:t>
            </a:r>
            <a:r>
              <a:rPr sz="2800" u="none" spc="-5" dirty="0">
                <a:solidFill>
                  <a:srgbClr val="FFFF00"/>
                </a:solidFill>
                <a:latin typeface="宋体"/>
                <a:cs typeface="宋体"/>
              </a:rPr>
              <a:t>代价</a:t>
            </a:r>
            <a:r>
              <a:rPr sz="2800" u="none" spc="5" dirty="0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sz="2800" u="none" spc="-5" dirty="0">
                <a:solidFill>
                  <a:srgbClr val="FFFF00"/>
                </a:solidFill>
                <a:latin typeface="宋体"/>
                <a:cs typeface="宋体"/>
              </a:rPr>
              <a:t>矛盾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3242" y="896618"/>
            <a:ext cx="7837805" cy="553402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565150" indent="-490220">
              <a:lnSpc>
                <a:spcPct val="100000"/>
              </a:lnSpc>
              <a:spcBef>
                <a:spcPts val="440"/>
              </a:spcBef>
              <a:buClr>
                <a:srgbClr val="FF66FF"/>
              </a:buClr>
              <a:buSzPct val="108928"/>
              <a:buFont typeface="Wingdings"/>
              <a:buChar char=""/>
              <a:tabLst>
                <a:tab pos="565150" algn="l"/>
                <a:tab pos="565785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优化效率本身的矛盾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sz="2800" b="1" spc="-71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代码执行时间的减少；</a:t>
            </a:r>
            <a:endParaRPr sz="2800" dirty="0">
              <a:latin typeface="宋体"/>
              <a:cs typeface="宋体"/>
            </a:endParaRPr>
          </a:p>
          <a:p>
            <a:pPr marL="4255135">
              <a:lnSpc>
                <a:spcPct val="100000"/>
              </a:lnSpc>
              <a:spcBef>
                <a:spcPts val="340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存储空间占用的减少；</a:t>
            </a:r>
            <a:endParaRPr sz="2800" dirty="0">
              <a:latin typeface="宋体"/>
              <a:cs typeface="宋体"/>
            </a:endParaRPr>
          </a:p>
          <a:p>
            <a:pPr marL="647700" marR="46990" indent="-534035" algn="just">
              <a:lnSpc>
                <a:spcPct val="110000"/>
              </a:lnSpc>
              <a:spcBef>
                <a:spcPts val="645"/>
              </a:spcBef>
              <a:buClr>
                <a:srgbClr val="FF66FF"/>
              </a:buClr>
              <a:buSzPct val="108928"/>
              <a:buFont typeface="Wingdings"/>
              <a:buChar char=""/>
              <a:tabLst>
                <a:tab pos="603885" algn="l"/>
              </a:tabLst>
            </a:pP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优化考虑严密、完善，不顾及完</a:t>
            </a:r>
            <a:r>
              <a:rPr sz="2800" b="1" spc="5" dirty="0">
                <a:solidFill>
                  <a:srgbClr val="FFFF99"/>
                </a:solidFill>
                <a:latin typeface="宋体"/>
                <a:cs typeface="宋体"/>
              </a:rPr>
              <a:t>成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优化</a:t>
            </a:r>
            <a:r>
              <a:rPr sz="2800" b="1" spc="5" dirty="0">
                <a:solidFill>
                  <a:srgbClr val="FFFF99"/>
                </a:solidFill>
                <a:latin typeface="宋体"/>
                <a:cs typeface="宋体"/>
              </a:rPr>
              <a:t>所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花费 </a:t>
            </a:r>
            <a:r>
              <a:rPr sz="2800" b="1" spc="-10" dirty="0">
                <a:solidFill>
                  <a:srgbClr val="FFFF99"/>
                </a:solidFill>
                <a:latin typeface="宋体"/>
                <a:cs typeface="宋体"/>
              </a:rPr>
              <a:t>的代价，则会相对抵消整个编</a:t>
            </a:r>
            <a:r>
              <a:rPr sz="2800" b="1" dirty="0">
                <a:solidFill>
                  <a:srgbClr val="FFFF99"/>
                </a:solidFill>
                <a:latin typeface="宋体"/>
                <a:cs typeface="宋体"/>
              </a:rPr>
              <a:t>译</a:t>
            </a:r>
            <a:r>
              <a:rPr sz="2800" b="1" spc="-10" dirty="0">
                <a:solidFill>
                  <a:srgbClr val="FFFF99"/>
                </a:solidFill>
                <a:latin typeface="宋体"/>
                <a:cs typeface="宋体"/>
              </a:rPr>
              <a:t>程序</a:t>
            </a:r>
            <a:r>
              <a:rPr sz="2800" b="1" dirty="0">
                <a:solidFill>
                  <a:srgbClr val="FFFF99"/>
                </a:solidFill>
                <a:latin typeface="宋体"/>
                <a:cs typeface="宋体"/>
              </a:rPr>
              <a:t>的</a:t>
            </a:r>
            <a:r>
              <a:rPr sz="2800" b="1" spc="-10" dirty="0">
                <a:solidFill>
                  <a:srgbClr val="FFFF99"/>
                </a:solidFill>
                <a:latin typeface="宋体"/>
                <a:cs typeface="宋体"/>
              </a:rPr>
              <a:t>效</a:t>
            </a:r>
            <a:r>
              <a:rPr sz="2800" b="1" dirty="0">
                <a:solidFill>
                  <a:srgbClr val="FFFF99"/>
                </a:solidFill>
                <a:latin typeface="宋体"/>
                <a:cs typeface="宋体"/>
              </a:rPr>
              <a:t>率</a:t>
            </a:r>
            <a:r>
              <a:rPr sz="2800" b="1" spc="-15" dirty="0">
                <a:solidFill>
                  <a:srgbClr val="FFFF99"/>
                </a:solidFill>
                <a:latin typeface="宋体"/>
                <a:cs typeface="宋体"/>
              </a:rPr>
              <a:t>、 </a:t>
            </a:r>
            <a:r>
              <a:rPr sz="2800" b="1" spc="-5" dirty="0">
                <a:solidFill>
                  <a:srgbClr val="FFFF99"/>
                </a:solidFill>
                <a:latin typeface="宋体"/>
                <a:cs typeface="宋体"/>
              </a:rPr>
              <a:t>质量甚至影响优化的实际效率；</a:t>
            </a:r>
            <a:endParaRPr sz="2800" dirty="0">
              <a:latin typeface="宋体"/>
              <a:cs typeface="宋体"/>
            </a:endParaRPr>
          </a:p>
          <a:p>
            <a:pPr marL="502284" marR="193040" indent="-502284" algn="just">
              <a:lnSpc>
                <a:spcPct val="110100"/>
              </a:lnSpc>
              <a:spcBef>
                <a:spcPts val="745"/>
              </a:spcBef>
              <a:buClr>
                <a:srgbClr val="FF66FF"/>
              </a:buClr>
              <a:buSzPct val="108928"/>
              <a:buFont typeface="Wingdings"/>
              <a:buChar char=""/>
              <a:tabLst>
                <a:tab pos="502284" algn="l"/>
              </a:tabLst>
            </a:pP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策略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针对具体问题抓住主要矛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盾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，估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主要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因素；如，</a:t>
            </a:r>
            <a:endParaRPr sz="2800" dirty="0">
              <a:latin typeface="宋体"/>
              <a:cs typeface="宋体"/>
            </a:endParaRPr>
          </a:p>
          <a:p>
            <a:pPr marL="1612900" lvl="1" indent="-355600">
              <a:lnSpc>
                <a:spcPct val="100000"/>
              </a:lnSpc>
              <a:spcBef>
                <a:spcPts val="335"/>
              </a:spcBef>
              <a:buFont typeface="Times New Roman"/>
              <a:buChar char="*"/>
              <a:tabLst>
                <a:tab pos="1612900" algn="l"/>
                <a:tab pos="1613535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目标机环境；</a:t>
            </a:r>
            <a:endParaRPr sz="2800" dirty="0">
              <a:latin typeface="宋体"/>
              <a:cs typeface="宋体"/>
            </a:endParaRPr>
          </a:p>
          <a:p>
            <a:pPr marL="1701164" lvl="1" indent="-443865">
              <a:lnSpc>
                <a:spcPct val="100000"/>
              </a:lnSpc>
              <a:spcBef>
                <a:spcPts val="335"/>
              </a:spcBef>
              <a:buFont typeface="Times New Roman"/>
              <a:buChar char="*"/>
              <a:tabLst>
                <a:tab pos="1701164" algn="l"/>
                <a:tab pos="1701800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循环优化：最内层优化；</a:t>
            </a:r>
            <a:endParaRPr sz="2800" dirty="0">
              <a:latin typeface="宋体"/>
              <a:cs typeface="宋体"/>
            </a:endParaRPr>
          </a:p>
          <a:p>
            <a:pPr marL="1701164" lvl="1" indent="-443865">
              <a:lnSpc>
                <a:spcPct val="100000"/>
              </a:lnSpc>
              <a:spcBef>
                <a:spcPts val="975"/>
              </a:spcBef>
              <a:buFont typeface="Times New Roman"/>
              <a:buChar char="*"/>
              <a:tabLst>
                <a:tab pos="1701164" algn="l"/>
                <a:tab pos="1701800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数据流分析信息对优化的应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价值；</a:t>
            </a:r>
            <a:endParaRPr sz="2800" dirty="0">
              <a:latin typeface="宋体"/>
              <a:cs typeface="宋体"/>
            </a:endParaRPr>
          </a:p>
          <a:p>
            <a:pPr marL="1701164" lvl="1" indent="-443865">
              <a:lnSpc>
                <a:spcPct val="100000"/>
              </a:lnSpc>
              <a:spcBef>
                <a:spcPts val="1010"/>
              </a:spcBef>
              <a:buFont typeface="Times New Roman"/>
              <a:buChar char="*"/>
              <a:tabLst>
                <a:tab pos="1701164" algn="l"/>
                <a:tab pos="1701800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通用、专用性语言，库函数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包</a:t>
            </a:r>
            <a:r>
              <a:rPr sz="2800" b="1" spc="-65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66304" y="6679692"/>
            <a:ext cx="285115" cy="178435"/>
          </a:xfrm>
          <a:custGeom>
            <a:avLst/>
            <a:gdLst/>
            <a:ahLst/>
            <a:cxnLst/>
            <a:rect l="l" t="t" r="r" b="b"/>
            <a:pathLst>
              <a:path w="285115" h="178434">
                <a:moveTo>
                  <a:pt x="284988" y="0"/>
                </a:moveTo>
                <a:lnTo>
                  <a:pt x="0" y="0"/>
                </a:lnTo>
                <a:lnTo>
                  <a:pt x="0" y="178306"/>
                </a:lnTo>
                <a:lnTo>
                  <a:pt x="284988" y="178306"/>
                </a:lnTo>
                <a:lnTo>
                  <a:pt x="284988" y="177355"/>
                </a:lnTo>
                <a:lnTo>
                  <a:pt x="66548" y="177355"/>
                </a:lnTo>
                <a:lnTo>
                  <a:pt x="66548" y="25336"/>
                </a:lnTo>
                <a:lnTo>
                  <a:pt x="284988" y="25336"/>
                </a:lnTo>
                <a:lnTo>
                  <a:pt x="284988" y="0"/>
                </a:lnTo>
                <a:close/>
              </a:path>
              <a:path w="285115" h="178434">
                <a:moveTo>
                  <a:pt x="218440" y="25336"/>
                </a:moveTo>
                <a:lnTo>
                  <a:pt x="85471" y="25336"/>
                </a:lnTo>
                <a:lnTo>
                  <a:pt x="85471" y="177355"/>
                </a:lnTo>
                <a:lnTo>
                  <a:pt x="218440" y="177355"/>
                </a:lnTo>
                <a:lnTo>
                  <a:pt x="104521" y="101344"/>
                </a:lnTo>
                <a:lnTo>
                  <a:pt x="218440" y="25336"/>
                </a:lnTo>
                <a:close/>
              </a:path>
              <a:path w="285115" h="178434">
                <a:moveTo>
                  <a:pt x="284988" y="25336"/>
                </a:moveTo>
                <a:lnTo>
                  <a:pt x="218440" y="25336"/>
                </a:lnTo>
                <a:lnTo>
                  <a:pt x="218440" y="177355"/>
                </a:lnTo>
                <a:lnTo>
                  <a:pt x="284988" y="177355"/>
                </a:lnTo>
                <a:lnTo>
                  <a:pt x="284988" y="25336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32852" y="6705028"/>
            <a:ext cx="151892" cy="1520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118</a:t>
            </a:fld>
            <a:r>
              <a:rPr sz="1400" b="1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7243" y="26923"/>
            <a:ext cx="8101330" cy="6463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8955" algn="ctr">
              <a:lnSpc>
                <a:spcPct val="100000"/>
              </a:lnSpc>
              <a:spcBef>
                <a:spcPts val="100"/>
              </a:spcBef>
              <a:tabLst>
                <a:tab pos="1172210" algn="l"/>
              </a:tabLst>
            </a:pPr>
            <a:r>
              <a:rPr sz="2000" b="1" dirty="0">
                <a:solidFill>
                  <a:srgbClr val="A73737"/>
                </a:solidFill>
                <a:latin typeface="Times New Roman"/>
                <a:cs typeface="Times New Roman"/>
              </a:rPr>
              <a:t>Ch8	</a:t>
            </a:r>
            <a:r>
              <a:rPr sz="2000" b="1" spc="-5" dirty="0">
                <a:solidFill>
                  <a:srgbClr val="A73737"/>
                </a:solidFill>
                <a:latin typeface="宋体"/>
                <a:cs typeface="宋体"/>
              </a:rPr>
              <a:t>代</a:t>
            </a:r>
            <a:r>
              <a:rPr sz="2000" b="1" spc="-509" dirty="0">
                <a:solidFill>
                  <a:srgbClr val="A73737"/>
                </a:solidFill>
                <a:latin typeface="宋体"/>
                <a:cs typeface="宋体"/>
              </a:rPr>
              <a:t> </a:t>
            </a:r>
            <a:r>
              <a:rPr sz="2000" b="1" spc="-5" dirty="0">
                <a:solidFill>
                  <a:srgbClr val="A73737"/>
                </a:solidFill>
                <a:latin typeface="宋体"/>
                <a:cs typeface="宋体"/>
              </a:rPr>
              <a:t>码</a:t>
            </a:r>
            <a:r>
              <a:rPr sz="2000" b="1" spc="-495" dirty="0">
                <a:solidFill>
                  <a:srgbClr val="A73737"/>
                </a:solidFill>
                <a:latin typeface="宋体"/>
                <a:cs typeface="宋体"/>
              </a:rPr>
              <a:t> </a:t>
            </a:r>
            <a:r>
              <a:rPr sz="2000" b="1" spc="-5" dirty="0">
                <a:solidFill>
                  <a:srgbClr val="A73737"/>
                </a:solidFill>
                <a:latin typeface="宋体"/>
                <a:cs typeface="宋体"/>
              </a:rPr>
              <a:t>优</a:t>
            </a:r>
            <a:r>
              <a:rPr sz="2000" b="1" spc="-509" dirty="0">
                <a:solidFill>
                  <a:srgbClr val="A73737"/>
                </a:solidFill>
                <a:latin typeface="宋体"/>
                <a:cs typeface="宋体"/>
              </a:rPr>
              <a:t> </a:t>
            </a:r>
            <a:r>
              <a:rPr sz="2000" b="1" spc="5" dirty="0">
                <a:solidFill>
                  <a:srgbClr val="A73737"/>
                </a:solidFill>
                <a:latin typeface="宋体"/>
                <a:cs typeface="宋体"/>
              </a:rPr>
              <a:t>化概要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200">
              <a:latin typeface="宋体"/>
              <a:cs typeface="宋体"/>
            </a:endParaRPr>
          </a:p>
          <a:p>
            <a:pPr marL="332740" indent="-320675">
              <a:lnSpc>
                <a:spcPct val="100000"/>
              </a:lnSpc>
              <a:spcBef>
                <a:spcPts val="1685"/>
              </a:spcBef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代码优化的基本概念</a:t>
            </a:r>
            <a:endParaRPr sz="3200">
              <a:latin typeface="宋体"/>
              <a:cs typeface="宋体"/>
            </a:endParaRPr>
          </a:p>
          <a:p>
            <a:pPr marL="332740" indent="-320675">
              <a:lnSpc>
                <a:spcPct val="100000"/>
              </a:lnSpc>
              <a:spcBef>
                <a:spcPts val="1155"/>
              </a:spcBef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代码优化的目的</a:t>
            </a:r>
            <a:endParaRPr sz="3200">
              <a:latin typeface="宋体"/>
              <a:cs typeface="宋体"/>
            </a:endParaRPr>
          </a:p>
          <a:p>
            <a:pPr marL="332740" indent="-320675">
              <a:lnSpc>
                <a:spcPct val="100000"/>
              </a:lnSpc>
              <a:spcBef>
                <a:spcPts val="1155"/>
              </a:spcBef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优化技术的几种分类方法及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sz="3200" b="1" spc="-10" dirty="0">
                <a:solidFill>
                  <a:srgbClr val="FFFFFF"/>
                </a:solidFill>
                <a:latin typeface="宋体"/>
                <a:cs typeface="宋体"/>
              </a:rPr>
              <a:t>别</a:t>
            </a:r>
            <a:endParaRPr sz="3200">
              <a:latin typeface="宋体"/>
              <a:cs typeface="宋体"/>
            </a:endParaRPr>
          </a:p>
          <a:p>
            <a:pPr marL="317500" marR="5080" indent="-304800">
              <a:lnSpc>
                <a:spcPts val="4990"/>
              </a:lnSpc>
              <a:spcBef>
                <a:spcPts val="359"/>
              </a:spcBef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优化的技术基础：控制流分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（流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图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）和数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据流分析</a:t>
            </a:r>
            <a:endParaRPr sz="3200">
              <a:latin typeface="宋体"/>
              <a:cs typeface="宋体"/>
            </a:endParaRPr>
          </a:p>
          <a:p>
            <a:pPr marL="332740" indent="-320675">
              <a:lnSpc>
                <a:spcPct val="100000"/>
              </a:lnSpc>
              <a:spcBef>
                <a:spcPts val="795"/>
              </a:spcBef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局部优化：概念，基本块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DAG</a:t>
            </a:r>
            <a:endParaRPr sz="3200">
              <a:latin typeface="Times New Roman"/>
              <a:cs typeface="Times New Roman"/>
            </a:endParaRPr>
          </a:p>
          <a:p>
            <a:pPr marL="317500" marR="5080" indent="-304800" algn="just">
              <a:lnSpc>
                <a:spcPct val="130000"/>
              </a:lnSpc>
              <a:spcBef>
                <a:spcPts val="5"/>
              </a:spcBef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循环优化的技术基础：控制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循环查 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找）基础上的数据流分析，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据流</a:t>
            </a:r>
            <a:r>
              <a:rPr sz="3200" b="1" spc="-15" dirty="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sz="3200" b="1" spc="-5" dirty="0">
                <a:solidFill>
                  <a:srgbClr val="FFFFFF"/>
                </a:solidFill>
                <a:latin typeface="宋体"/>
                <a:cs typeface="宋体"/>
              </a:rPr>
              <a:t>程及其 </a:t>
            </a: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中引入的概念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119</a:t>
            </a:fld>
            <a:r>
              <a:rPr sz="1400" b="1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166861" y="6678574"/>
            <a:ext cx="8261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120</a:t>
            </a:r>
            <a:r>
              <a:rPr sz="1400" b="1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21429" y="26923"/>
            <a:ext cx="1880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2000" u="none" dirty="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sz="2000" u="none" dirty="0">
                <a:latin typeface="Times New Roman"/>
                <a:cs typeface="Times New Roman"/>
              </a:rPr>
              <a:t>h8	</a:t>
            </a:r>
            <a:r>
              <a:rPr sz="2000" u="none" spc="-5" dirty="0">
                <a:latin typeface="宋体"/>
                <a:cs typeface="宋体"/>
              </a:rPr>
              <a:t>代</a:t>
            </a:r>
            <a:r>
              <a:rPr sz="2000" u="none" spc="-535" dirty="0">
                <a:latin typeface="宋体"/>
                <a:cs typeface="宋体"/>
              </a:rPr>
              <a:t> </a:t>
            </a:r>
            <a:r>
              <a:rPr sz="2000" u="none" spc="-5" dirty="0">
                <a:latin typeface="宋体"/>
                <a:cs typeface="宋体"/>
              </a:rPr>
              <a:t>码</a:t>
            </a:r>
            <a:r>
              <a:rPr sz="2000" u="none" spc="-525" dirty="0">
                <a:latin typeface="宋体"/>
                <a:cs typeface="宋体"/>
              </a:rPr>
              <a:t> </a:t>
            </a:r>
            <a:r>
              <a:rPr sz="2000" u="none" spc="-5" dirty="0">
                <a:latin typeface="宋体"/>
                <a:cs typeface="宋体"/>
              </a:rPr>
              <a:t>优</a:t>
            </a:r>
            <a:r>
              <a:rPr sz="2000" u="none" spc="-535" dirty="0">
                <a:latin typeface="宋体"/>
                <a:cs typeface="宋体"/>
              </a:rPr>
              <a:t> </a:t>
            </a:r>
            <a:r>
              <a:rPr sz="2000" u="none" spc="-5" dirty="0">
                <a:latin typeface="宋体"/>
                <a:cs typeface="宋体"/>
              </a:rPr>
              <a:t>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32177" y="2075307"/>
            <a:ext cx="5445125" cy="2738755"/>
          </a:xfrm>
          <a:custGeom>
            <a:avLst/>
            <a:gdLst/>
            <a:ahLst/>
            <a:cxnLst/>
            <a:rect l="l" t="t" r="r" b="b"/>
            <a:pathLst>
              <a:path w="5445125" h="2738754">
                <a:moveTo>
                  <a:pt x="773430" y="967358"/>
                </a:moveTo>
                <a:lnTo>
                  <a:pt x="723142" y="968853"/>
                </a:lnTo>
                <a:lnTo>
                  <a:pt x="674154" y="973337"/>
                </a:lnTo>
                <a:lnTo>
                  <a:pt x="626466" y="980809"/>
                </a:lnTo>
                <a:lnTo>
                  <a:pt x="580078" y="991270"/>
                </a:lnTo>
                <a:lnTo>
                  <a:pt x="534992" y="1004719"/>
                </a:lnTo>
                <a:lnTo>
                  <a:pt x="491208" y="1021155"/>
                </a:lnTo>
                <a:lnTo>
                  <a:pt x="448726" y="1040579"/>
                </a:lnTo>
                <a:lnTo>
                  <a:pt x="407548" y="1062989"/>
                </a:lnTo>
                <a:lnTo>
                  <a:pt x="367674" y="1088386"/>
                </a:lnTo>
                <a:lnTo>
                  <a:pt x="329105" y="1116770"/>
                </a:lnTo>
                <a:lnTo>
                  <a:pt x="291842" y="1148139"/>
                </a:lnTo>
                <a:lnTo>
                  <a:pt x="255884" y="1182494"/>
                </a:lnTo>
                <a:lnTo>
                  <a:pt x="221234" y="1219834"/>
                </a:lnTo>
                <a:lnTo>
                  <a:pt x="190765" y="1256510"/>
                </a:lnTo>
                <a:lnTo>
                  <a:pt x="162552" y="1294417"/>
                </a:lnTo>
                <a:lnTo>
                  <a:pt x="136594" y="1333557"/>
                </a:lnTo>
                <a:lnTo>
                  <a:pt x="112893" y="1373930"/>
                </a:lnTo>
                <a:lnTo>
                  <a:pt x="91447" y="1415534"/>
                </a:lnTo>
                <a:lnTo>
                  <a:pt x="72257" y="1458372"/>
                </a:lnTo>
                <a:lnTo>
                  <a:pt x="55324" y="1502441"/>
                </a:lnTo>
                <a:lnTo>
                  <a:pt x="40648" y="1547743"/>
                </a:lnTo>
                <a:lnTo>
                  <a:pt x="28229" y="1594278"/>
                </a:lnTo>
                <a:lnTo>
                  <a:pt x="18067" y="1642045"/>
                </a:lnTo>
                <a:lnTo>
                  <a:pt x="10163" y="1691044"/>
                </a:lnTo>
                <a:lnTo>
                  <a:pt x="4517" y="1741276"/>
                </a:lnTo>
                <a:lnTo>
                  <a:pt x="1129" y="1792740"/>
                </a:lnTo>
                <a:lnTo>
                  <a:pt x="0" y="1845436"/>
                </a:lnTo>
                <a:lnTo>
                  <a:pt x="1141" y="1905666"/>
                </a:lnTo>
                <a:lnTo>
                  <a:pt x="4564" y="1963889"/>
                </a:lnTo>
                <a:lnTo>
                  <a:pt x="10269" y="2020107"/>
                </a:lnTo>
                <a:lnTo>
                  <a:pt x="18256" y="2074319"/>
                </a:lnTo>
                <a:lnTo>
                  <a:pt x="28526" y="2126527"/>
                </a:lnTo>
                <a:lnTo>
                  <a:pt x="41078" y="2176730"/>
                </a:lnTo>
                <a:lnTo>
                  <a:pt x="55911" y="2224928"/>
                </a:lnTo>
                <a:lnTo>
                  <a:pt x="73027" y="2271123"/>
                </a:lnTo>
                <a:lnTo>
                  <a:pt x="92425" y="2315313"/>
                </a:lnTo>
                <a:lnTo>
                  <a:pt x="114105" y="2357500"/>
                </a:lnTo>
                <a:lnTo>
                  <a:pt x="138067" y="2397684"/>
                </a:lnTo>
                <a:lnTo>
                  <a:pt x="164312" y="2435864"/>
                </a:lnTo>
                <a:lnTo>
                  <a:pt x="192838" y="2472042"/>
                </a:lnTo>
                <a:lnTo>
                  <a:pt x="223647" y="2506217"/>
                </a:lnTo>
                <a:lnTo>
                  <a:pt x="258829" y="2540571"/>
                </a:lnTo>
                <a:lnTo>
                  <a:pt x="295564" y="2572177"/>
                </a:lnTo>
                <a:lnTo>
                  <a:pt x="333849" y="2601038"/>
                </a:lnTo>
                <a:lnTo>
                  <a:pt x="373688" y="2627151"/>
                </a:lnTo>
                <a:lnTo>
                  <a:pt x="415078" y="2650517"/>
                </a:lnTo>
                <a:lnTo>
                  <a:pt x="458021" y="2671135"/>
                </a:lnTo>
                <a:lnTo>
                  <a:pt x="502518" y="2689006"/>
                </a:lnTo>
                <a:lnTo>
                  <a:pt x="548568" y="2704128"/>
                </a:lnTo>
                <a:lnTo>
                  <a:pt x="596171" y="2716501"/>
                </a:lnTo>
                <a:lnTo>
                  <a:pt x="645329" y="2726125"/>
                </a:lnTo>
                <a:lnTo>
                  <a:pt x="696042" y="2733000"/>
                </a:lnTo>
                <a:lnTo>
                  <a:pt x="748309" y="2737125"/>
                </a:lnTo>
                <a:lnTo>
                  <a:pt x="802132" y="2738500"/>
                </a:lnTo>
                <a:lnTo>
                  <a:pt x="857152" y="2736881"/>
                </a:lnTo>
                <a:lnTo>
                  <a:pt x="909816" y="2732025"/>
                </a:lnTo>
                <a:lnTo>
                  <a:pt x="960125" y="2723931"/>
                </a:lnTo>
                <a:lnTo>
                  <a:pt x="1008077" y="2712601"/>
                </a:lnTo>
                <a:lnTo>
                  <a:pt x="1053671" y="2698035"/>
                </a:lnTo>
                <a:lnTo>
                  <a:pt x="1096907" y="2680235"/>
                </a:lnTo>
                <a:lnTo>
                  <a:pt x="1137783" y="2659201"/>
                </a:lnTo>
                <a:lnTo>
                  <a:pt x="1176300" y="2634934"/>
                </a:lnTo>
                <a:lnTo>
                  <a:pt x="1212456" y="2607434"/>
                </a:lnTo>
                <a:lnTo>
                  <a:pt x="1246251" y="2576703"/>
                </a:lnTo>
                <a:lnTo>
                  <a:pt x="1276447" y="2544953"/>
                </a:lnTo>
                <a:lnTo>
                  <a:pt x="833882" y="2544953"/>
                </a:lnTo>
                <a:lnTo>
                  <a:pt x="779512" y="2542511"/>
                </a:lnTo>
                <a:lnTo>
                  <a:pt x="727656" y="2535187"/>
                </a:lnTo>
                <a:lnTo>
                  <a:pt x="678315" y="2522979"/>
                </a:lnTo>
                <a:lnTo>
                  <a:pt x="631491" y="2505884"/>
                </a:lnTo>
                <a:lnTo>
                  <a:pt x="587185" y="2483902"/>
                </a:lnTo>
                <a:lnTo>
                  <a:pt x="545399" y="2457031"/>
                </a:lnTo>
                <a:lnTo>
                  <a:pt x="506134" y="2425269"/>
                </a:lnTo>
                <a:lnTo>
                  <a:pt x="469392" y="2388616"/>
                </a:lnTo>
                <a:lnTo>
                  <a:pt x="444759" y="2358646"/>
                </a:lnTo>
                <a:lnTo>
                  <a:pt x="422469" y="2325608"/>
                </a:lnTo>
                <a:lnTo>
                  <a:pt x="402524" y="2289503"/>
                </a:lnTo>
                <a:lnTo>
                  <a:pt x="384923" y="2250328"/>
                </a:lnTo>
                <a:lnTo>
                  <a:pt x="369666" y="2208085"/>
                </a:lnTo>
                <a:lnTo>
                  <a:pt x="356756" y="2162772"/>
                </a:lnTo>
                <a:lnTo>
                  <a:pt x="346191" y="2114389"/>
                </a:lnTo>
                <a:lnTo>
                  <a:pt x="337973" y="2062934"/>
                </a:lnTo>
                <a:lnTo>
                  <a:pt x="332103" y="2008409"/>
                </a:lnTo>
                <a:lnTo>
                  <a:pt x="328580" y="1950811"/>
                </a:lnTo>
                <a:lnTo>
                  <a:pt x="327406" y="1890140"/>
                </a:lnTo>
                <a:lnTo>
                  <a:pt x="1503172" y="1890140"/>
                </a:lnTo>
                <a:lnTo>
                  <a:pt x="1502328" y="1826332"/>
                </a:lnTo>
                <a:lnTo>
                  <a:pt x="1499796" y="1765018"/>
                </a:lnTo>
                <a:lnTo>
                  <a:pt x="1497029" y="1726437"/>
                </a:lnTo>
                <a:lnTo>
                  <a:pt x="327406" y="1726437"/>
                </a:lnTo>
                <a:lnTo>
                  <a:pt x="328986" y="1668319"/>
                </a:lnTo>
                <a:lnTo>
                  <a:pt x="333726" y="1612749"/>
                </a:lnTo>
                <a:lnTo>
                  <a:pt x="341625" y="1559729"/>
                </a:lnTo>
                <a:lnTo>
                  <a:pt x="352681" y="1509258"/>
                </a:lnTo>
                <a:lnTo>
                  <a:pt x="366895" y="1461337"/>
                </a:lnTo>
                <a:lnTo>
                  <a:pt x="384264" y="1415965"/>
                </a:lnTo>
                <a:lnTo>
                  <a:pt x="404788" y="1373142"/>
                </a:lnTo>
                <a:lnTo>
                  <a:pt x="428465" y="1332869"/>
                </a:lnTo>
                <a:lnTo>
                  <a:pt x="455295" y="1295145"/>
                </a:lnTo>
                <a:lnTo>
                  <a:pt x="488304" y="1256700"/>
                </a:lnTo>
                <a:lnTo>
                  <a:pt x="523515" y="1223377"/>
                </a:lnTo>
                <a:lnTo>
                  <a:pt x="560926" y="1195175"/>
                </a:lnTo>
                <a:lnTo>
                  <a:pt x="600535" y="1172098"/>
                </a:lnTo>
                <a:lnTo>
                  <a:pt x="642340" y="1154147"/>
                </a:lnTo>
                <a:lnTo>
                  <a:pt x="686341" y="1141323"/>
                </a:lnTo>
                <a:lnTo>
                  <a:pt x="732536" y="1133627"/>
                </a:lnTo>
                <a:lnTo>
                  <a:pt x="780923" y="1131062"/>
                </a:lnTo>
                <a:lnTo>
                  <a:pt x="1244014" y="1131062"/>
                </a:lnTo>
                <a:lnTo>
                  <a:pt x="1206066" y="1102025"/>
                </a:lnTo>
                <a:lnTo>
                  <a:pt x="1163424" y="1073761"/>
                </a:lnTo>
                <a:lnTo>
                  <a:pt x="1119423" y="1048823"/>
                </a:lnTo>
                <a:lnTo>
                  <a:pt x="1074065" y="1027210"/>
                </a:lnTo>
                <a:lnTo>
                  <a:pt x="1027349" y="1008922"/>
                </a:lnTo>
                <a:lnTo>
                  <a:pt x="979277" y="993959"/>
                </a:lnTo>
                <a:lnTo>
                  <a:pt x="929848" y="982321"/>
                </a:lnTo>
                <a:lnTo>
                  <a:pt x="879063" y="974009"/>
                </a:lnTo>
                <a:lnTo>
                  <a:pt x="826924" y="969021"/>
                </a:lnTo>
                <a:lnTo>
                  <a:pt x="773430" y="967358"/>
                </a:lnTo>
                <a:close/>
              </a:path>
              <a:path w="5445125" h="2738754">
                <a:moveTo>
                  <a:pt x="1311783" y="2157984"/>
                </a:moveTo>
                <a:lnTo>
                  <a:pt x="1290735" y="2210477"/>
                </a:lnTo>
                <a:lnTo>
                  <a:pt x="1267655" y="2259211"/>
                </a:lnTo>
                <a:lnTo>
                  <a:pt x="1242546" y="2304191"/>
                </a:lnTo>
                <a:lnTo>
                  <a:pt x="1215414" y="2345421"/>
                </a:lnTo>
                <a:lnTo>
                  <a:pt x="1186262" y="2382905"/>
                </a:lnTo>
                <a:lnTo>
                  <a:pt x="1155095" y="2416648"/>
                </a:lnTo>
                <a:lnTo>
                  <a:pt x="1121918" y="2446654"/>
                </a:lnTo>
                <a:lnTo>
                  <a:pt x="1080685" y="2476690"/>
                </a:lnTo>
                <a:lnTo>
                  <a:pt x="1036743" y="2501265"/>
                </a:lnTo>
                <a:lnTo>
                  <a:pt x="990092" y="2520378"/>
                </a:lnTo>
                <a:lnTo>
                  <a:pt x="940731" y="2534030"/>
                </a:lnTo>
                <a:lnTo>
                  <a:pt x="888661" y="2542222"/>
                </a:lnTo>
                <a:lnTo>
                  <a:pt x="833882" y="2544953"/>
                </a:lnTo>
                <a:lnTo>
                  <a:pt x="1276447" y="2544953"/>
                </a:lnTo>
                <a:lnTo>
                  <a:pt x="1320667" y="2493595"/>
                </a:lnTo>
                <a:lnTo>
                  <a:pt x="1352538" y="2450359"/>
                </a:lnTo>
                <a:lnTo>
                  <a:pt x="1380855" y="2405999"/>
                </a:lnTo>
                <a:lnTo>
                  <a:pt x="1405617" y="2360514"/>
                </a:lnTo>
                <a:lnTo>
                  <a:pt x="1426827" y="2313902"/>
                </a:lnTo>
                <a:lnTo>
                  <a:pt x="1444485" y="2266162"/>
                </a:lnTo>
                <a:lnTo>
                  <a:pt x="1458595" y="2217292"/>
                </a:lnTo>
                <a:lnTo>
                  <a:pt x="1311783" y="2157984"/>
                </a:lnTo>
                <a:close/>
              </a:path>
              <a:path w="5445125" h="2738754">
                <a:moveTo>
                  <a:pt x="1244014" y="1131062"/>
                </a:moveTo>
                <a:lnTo>
                  <a:pt x="780923" y="1131062"/>
                </a:lnTo>
                <a:lnTo>
                  <a:pt x="831557" y="1134249"/>
                </a:lnTo>
                <a:lnTo>
                  <a:pt x="879395" y="1143807"/>
                </a:lnTo>
                <a:lnTo>
                  <a:pt x="924437" y="1159733"/>
                </a:lnTo>
                <a:lnTo>
                  <a:pt x="966688" y="1182021"/>
                </a:lnTo>
                <a:lnTo>
                  <a:pt x="1006148" y="1210668"/>
                </a:lnTo>
                <a:lnTo>
                  <a:pt x="1042819" y="1245668"/>
                </a:lnTo>
                <a:lnTo>
                  <a:pt x="1076706" y="1287017"/>
                </a:lnTo>
                <a:lnTo>
                  <a:pt x="1100412" y="1323260"/>
                </a:lnTo>
                <a:lnTo>
                  <a:pt x="1120985" y="1362645"/>
                </a:lnTo>
                <a:lnTo>
                  <a:pt x="1138423" y="1405175"/>
                </a:lnTo>
                <a:lnTo>
                  <a:pt x="1152725" y="1450849"/>
                </a:lnTo>
                <a:lnTo>
                  <a:pt x="1163890" y="1499670"/>
                </a:lnTo>
                <a:lnTo>
                  <a:pt x="1171918" y="1551638"/>
                </a:lnTo>
                <a:lnTo>
                  <a:pt x="1176806" y="1606755"/>
                </a:lnTo>
                <a:lnTo>
                  <a:pt x="1178555" y="1665021"/>
                </a:lnTo>
                <a:lnTo>
                  <a:pt x="1177163" y="1726437"/>
                </a:lnTo>
                <a:lnTo>
                  <a:pt x="1497029" y="1726437"/>
                </a:lnTo>
                <a:lnTo>
                  <a:pt x="1489672" y="1649872"/>
                </a:lnTo>
                <a:lnTo>
                  <a:pt x="1482079" y="1596041"/>
                </a:lnTo>
                <a:lnTo>
                  <a:pt x="1472799" y="1544704"/>
                </a:lnTo>
                <a:lnTo>
                  <a:pt x="1461833" y="1495862"/>
                </a:lnTo>
                <a:lnTo>
                  <a:pt x="1449181" y="1449514"/>
                </a:lnTo>
                <a:lnTo>
                  <a:pt x="1434842" y="1405660"/>
                </a:lnTo>
                <a:lnTo>
                  <a:pt x="1418817" y="1364301"/>
                </a:lnTo>
                <a:lnTo>
                  <a:pt x="1401106" y="1325436"/>
                </a:lnTo>
                <a:lnTo>
                  <a:pt x="1381710" y="1289065"/>
                </a:lnTo>
                <a:lnTo>
                  <a:pt x="1360628" y="1255189"/>
                </a:lnTo>
                <a:lnTo>
                  <a:pt x="1337861" y="1223807"/>
                </a:lnTo>
                <a:lnTo>
                  <a:pt x="1287272" y="1168527"/>
                </a:lnTo>
                <a:lnTo>
                  <a:pt x="1247348" y="1133613"/>
                </a:lnTo>
                <a:lnTo>
                  <a:pt x="1244014" y="1131062"/>
                </a:lnTo>
                <a:close/>
              </a:path>
              <a:path w="5445125" h="2738754">
                <a:moveTo>
                  <a:pt x="2514092" y="2544953"/>
                </a:moveTo>
                <a:lnTo>
                  <a:pt x="1799717" y="2544953"/>
                </a:lnTo>
                <a:lnTo>
                  <a:pt x="1799717" y="2708655"/>
                </a:lnTo>
                <a:lnTo>
                  <a:pt x="2514092" y="2708655"/>
                </a:lnTo>
                <a:lnTo>
                  <a:pt x="2514092" y="2544953"/>
                </a:lnTo>
                <a:close/>
              </a:path>
              <a:path w="5445125" h="2738754">
                <a:moveTo>
                  <a:pt x="3526028" y="2544953"/>
                </a:moveTo>
                <a:lnTo>
                  <a:pt x="2811653" y="2544953"/>
                </a:lnTo>
                <a:lnTo>
                  <a:pt x="2811653" y="2708655"/>
                </a:lnTo>
                <a:lnTo>
                  <a:pt x="3526028" y="2708655"/>
                </a:lnTo>
                <a:lnTo>
                  <a:pt x="3526028" y="2544953"/>
                </a:lnTo>
                <a:close/>
              </a:path>
              <a:path w="5445125" h="2738754">
                <a:moveTo>
                  <a:pt x="2305685" y="922781"/>
                </a:moveTo>
                <a:lnTo>
                  <a:pt x="2211705" y="922781"/>
                </a:lnTo>
                <a:lnTo>
                  <a:pt x="2178841" y="944760"/>
                </a:lnTo>
                <a:lnTo>
                  <a:pt x="2146728" y="962310"/>
                </a:lnTo>
                <a:lnTo>
                  <a:pt x="2084705" y="984122"/>
                </a:lnTo>
                <a:lnTo>
                  <a:pt x="2021363" y="993901"/>
                </a:lnTo>
                <a:lnTo>
                  <a:pt x="1952498" y="997203"/>
                </a:lnTo>
                <a:lnTo>
                  <a:pt x="1799717" y="997203"/>
                </a:lnTo>
                <a:lnTo>
                  <a:pt x="1799717" y="1160906"/>
                </a:lnTo>
                <a:lnTo>
                  <a:pt x="1972437" y="1160906"/>
                </a:lnTo>
                <a:lnTo>
                  <a:pt x="1983769" y="1161339"/>
                </a:lnTo>
                <a:lnTo>
                  <a:pt x="2007997" y="1203705"/>
                </a:lnTo>
                <a:lnTo>
                  <a:pt x="2007997" y="2457957"/>
                </a:lnTo>
                <a:lnTo>
                  <a:pt x="2003393" y="2500407"/>
                </a:lnTo>
                <a:lnTo>
                  <a:pt x="1978044" y="2534666"/>
                </a:lnTo>
                <a:lnTo>
                  <a:pt x="1918716" y="2544953"/>
                </a:lnTo>
                <a:lnTo>
                  <a:pt x="2394966" y="2544953"/>
                </a:lnTo>
                <a:lnTo>
                  <a:pt x="2343334" y="2534237"/>
                </a:lnTo>
                <a:lnTo>
                  <a:pt x="2311781" y="2499407"/>
                </a:lnTo>
                <a:lnTo>
                  <a:pt x="2305685" y="2457957"/>
                </a:lnTo>
                <a:lnTo>
                  <a:pt x="2305685" y="1466722"/>
                </a:lnTo>
                <a:lnTo>
                  <a:pt x="2340524" y="1420686"/>
                </a:lnTo>
                <a:lnTo>
                  <a:pt x="2376710" y="1378086"/>
                </a:lnTo>
                <a:lnTo>
                  <a:pt x="2414238" y="1338929"/>
                </a:lnTo>
                <a:lnTo>
                  <a:pt x="2453099" y="1303222"/>
                </a:lnTo>
                <a:lnTo>
                  <a:pt x="2493286" y="1270972"/>
                </a:lnTo>
                <a:lnTo>
                  <a:pt x="2530581" y="1245107"/>
                </a:lnTo>
                <a:lnTo>
                  <a:pt x="2305685" y="1245107"/>
                </a:lnTo>
                <a:lnTo>
                  <a:pt x="2305685" y="922781"/>
                </a:lnTo>
                <a:close/>
              </a:path>
              <a:path w="5445125" h="2738754">
                <a:moveTo>
                  <a:pt x="3229384" y="1160906"/>
                </a:moveTo>
                <a:lnTo>
                  <a:pt x="2777744" y="1160906"/>
                </a:lnTo>
                <a:lnTo>
                  <a:pt x="2834245" y="1165931"/>
                </a:lnTo>
                <a:lnTo>
                  <a:pt x="2883328" y="1181004"/>
                </a:lnTo>
                <a:lnTo>
                  <a:pt x="2924958" y="1206126"/>
                </a:lnTo>
                <a:lnTo>
                  <a:pt x="2959100" y="1241297"/>
                </a:lnTo>
                <a:lnTo>
                  <a:pt x="2981045" y="1276656"/>
                </a:lnTo>
                <a:lnTo>
                  <a:pt x="2998114" y="1318276"/>
                </a:lnTo>
                <a:lnTo>
                  <a:pt x="3010306" y="1366168"/>
                </a:lnTo>
                <a:lnTo>
                  <a:pt x="3017621" y="1420345"/>
                </a:lnTo>
                <a:lnTo>
                  <a:pt x="3020060" y="1480819"/>
                </a:lnTo>
                <a:lnTo>
                  <a:pt x="3020060" y="2457957"/>
                </a:lnTo>
                <a:lnTo>
                  <a:pt x="3015408" y="2500407"/>
                </a:lnTo>
                <a:lnTo>
                  <a:pt x="2990089" y="2534666"/>
                </a:lnTo>
                <a:lnTo>
                  <a:pt x="2930779" y="2544953"/>
                </a:lnTo>
                <a:lnTo>
                  <a:pt x="3407029" y="2544953"/>
                </a:lnTo>
                <a:lnTo>
                  <a:pt x="3355343" y="2534237"/>
                </a:lnTo>
                <a:lnTo>
                  <a:pt x="3323844" y="2499344"/>
                </a:lnTo>
                <a:lnTo>
                  <a:pt x="3317756" y="2457957"/>
                </a:lnTo>
                <a:lnTo>
                  <a:pt x="3317748" y="1522983"/>
                </a:lnTo>
                <a:lnTo>
                  <a:pt x="3316195" y="1464606"/>
                </a:lnTo>
                <a:lnTo>
                  <a:pt x="3311537" y="1409359"/>
                </a:lnTo>
                <a:lnTo>
                  <a:pt x="3303773" y="1357244"/>
                </a:lnTo>
                <a:lnTo>
                  <a:pt x="3292901" y="1308258"/>
                </a:lnTo>
                <a:lnTo>
                  <a:pt x="3278920" y="1262400"/>
                </a:lnTo>
                <a:lnTo>
                  <a:pt x="3261830" y="1219670"/>
                </a:lnTo>
                <a:lnTo>
                  <a:pt x="3241629" y="1180066"/>
                </a:lnTo>
                <a:lnTo>
                  <a:pt x="3229384" y="1160906"/>
                </a:lnTo>
                <a:close/>
              </a:path>
              <a:path w="5445125" h="2738754">
                <a:moveTo>
                  <a:pt x="2795905" y="967358"/>
                </a:moveTo>
                <a:lnTo>
                  <a:pt x="2743359" y="969539"/>
                </a:lnTo>
                <a:lnTo>
                  <a:pt x="2691896" y="976079"/>
                </a:lnTo>
                <a:lnTo>
                  <a:pt x="2641520" y="986980"/>
                </a:lnTo>
                <a:lnTo>
                  <a:pt x="2592234" y="1002241"/>
                </a:lnTo>
                <a:lnTo>
                  <a:pt x="2544042" y="1021863"/>
                </a:lnTo>
                <a:lnTo>
                  <a:pt x="2496947" y="1045844"/>
                </a:lnTo>
                <a:lnTo>
                  <a:pt x="2452846" y="1073181"/>
                </a:lnTo>
                <a:lnTo>
                  <a:pt x="2413635" y="1102868"/>
                </a:lnTo>
                <a:lnTo>
                  <a:pt x="2379313" y="1134903"/>
                </a:lnTo>
                <a:lnTo>
                  <a:pt x="2349881" y="1169289"/>
                </a:lnTo>
                <a:lnTo>
                  <a:pt x="2325338" y="1206023"/>
                </a:lnTo>
                <a:lnTo>
                  <a:pt x="2305685" y="1245107"/>
                </a:lnTo>
                <a:lnTo>
                  <a:pt x="2530581" y="1245107"/>
                </a:lnTo>
                <a:lnTo>
                  <a:pt x="2534793" y="1242187"/>
                </a:lnTo>
                <a:lnTo>
                  <a:pt x="2584992" y="1212909"/>
                </a:lnTo>
                <a:lnTo>
                  <a:pt x="2634393" y="1190149"/>
                </a:lnTo>
                <a:lnTo>
                  <a:pt x="2682989" y="1173899"/>
                </a:lnTo>
                <a:lnTo>
                  <a:pt x="2730775" y="1164154"/>
                </a:lnTo>
                <a:lnTo>
                  <a:pt x="2777744" y="1160906"/>
                </a:lnTo>
                <a:lnTo>
                  <a:pt x="3229384" y="1160906"/>
                </a:lnTo>
                <a:lnTo>
                  <a:pt x="3218316" y="1143588"/>
                </a:lnTo>
                <a:lnTo>
                  <a:pt x="3191891" y="1110233"/>
                </a:lnTo>
                <a:lnTo>
                  <a:pt x="3162163" y="1080247"/>
                </a:lnTo>
                <a:lnTo>
                  <a:pt x="3128864" y="1053789"/>
                </a:lnTo>
                <a:lnTo>
                  <a:pt x="3091993" y="1030859"/>
                </a:lnTo>
                <a:lnTo>
                  <a:pt x="3051554" y="1011456"/>
                </a:lnTo>
                <a:lnTo>
                  <a:pt x="3007549" y="995581"/>
                </a:lnTo>
                <a:lnTo>
                  <a:pt x="2959979" y="983234"/>
                </a:lnTo>
                <a:lnTo>
                  <a:pt x="2908847" y="974414"/>
                </a:lnTo>
                <a:lnTo>
                  <a:pt x="2854155" y="969122"/>
                </a:lnTo>
                <a:lnTo>
                  <a:pt x="2795905" y="967358"/>
                </a:lnTo>
                <a:close/>
              </a:path>
              <a:path w="5445125" h="2738754">
                <a:moveTo>
                  <a:pt x="4548632" y="982217"/>
                </a:moveTo>
                <a:lnTo>
                  <a:pt x="4499229" y="983887"/>
                </a:lnTo>
                <a:lnTo>
                  <a:pt x="4451033" y="988894"/>
                </a:lnTo>
                <a:lnTo>
                  <a:pt x="4404044" y="997239"/>
                </a:lnTo>
                <a:lnTo>
                  <a:pt x="4358263" y="1008920"/>
                </a:lnTo>
                <a:lnTo>
                  <a:pt x="4313691" y="1023937"/>
                </a:lnTo>
                <a:lnTo>
                  <a:pt x="4270327" y="1042288"/>
                </a:lnTo>
                <a:lnTo>
                  <a:pt x="4228172" y="1063974"/>
                </a:lnTo>
                <a:lnTo>
                  <a:pt x="4187227" y="1088992"/>
                </a:lnTo>
                <a:lnTo>
                  <a:pt x="4147492" y="1117342"/>
                </a:lnTo>
                <a:lnTo>
                  <a:pt x="4108967" y="1149023"/>
                </a:lnTo>
                <a:lnTo>
                  <a:pt x="4071654" y="1184034"/>
                </a:lnTo>
                <a:lnTo>
                  <a:pt x="4035552" y="1222375"/>
                </a:lnTo>
                <a:lnTo>
                  <a:pt x="4006213" y="1257432"/>
                </a:lnTo>
                <a:lnTo>
                  <a:pt x="3979047" y="1294026"/>
                </a:lnTo>
                <a:lnTo>
                  <a:pt x="3954054" y="1332155"/>
                </a:lnTo>
                <a:lnTo>
                  <a:pt x="3931235" y="1371820"/>
                </a:lnTo>
                <a:lnTo>
                  <a:pt x="3910589" y="1413020"/>
                </a:lnTo>
                <a:lnTo>
                  <a:pt x="3892117" y="1455756"/>
                </a:lnTo>
                <a:lnTo>
                  <a:pt x="3875817" y="1500028"/>
                </a:lnTo>
                <a:lnTo>
                  <a:pt x="3861691" y="1545836"/>
                </a:lnTo>
                <a:lnTo>
                  <a:pt x="3849738" y="1593179"/>
                </a:lnTo>
                <a:lnTo>
                  <a:pt x="3839959" y="1642058"/>
                </a:lnTo>
                <a:lnTo>
                  <a:pt x="3832352" y="1692472"/>
                </a:lnTo>
                <a:lnTo>
                  <a:pt x="3826919" y="1744422"/>
                </a:lnTo>
                <a:lnTo>
                  <a:pt x="3823659" y="1797908"/>
                </a:lnTo>
                <a:lnTo>
                  <a:pt x="3822573" y="1852929"/>
                </a:lnTo>
                <a:lnTo>
                  <a:pt x="3823595" y="1913475"/>
                </a:lnTo>
                <a:lnTo>
                  <a:pt x="3826662" y="1971941"/>
                </a:lnTo>
                <a:lnTo>
                  <a:pt x="3831774" y="2028328"/>
                </a:lnTo>
                <a:lnTo>
                  <a:pt x="3838929" y="2082634"/>
                </a:lnTo>
                <a:lnTo>
                  <a:pt x="3848129" y="2134860"/>
                </a:lnTo>
                <a:lnTo>
                  <a:pt x="3859372" y="2185006"/>
                </a:lnTo>
                <a:lnTo>
                  <a:pt x="3872658" y="2233072"/>
                </a:lnTo>
                <a:lnTo>
                  <a:pt x="3887987" y="2279059"/>
                </a:lnTo>
                <a:lnTo>
                  <a:pt x="3905360" y="2322965"/>
                </a:lnTo>
                <a:lnTo>
                  <a:pt x="3924774" y="2364791"/>
                </a:lnTo>
                <a:lnTo>
                  <a:pt x="3946231" y="2404538"/>
                </a:lnTo>
                <a:lnTo>
                  <a:pt x="3969730" y="2442204"/>
                </a:lnTo>
                <a:lnTo>
                  <a:pt x="3995270" y="2477791"/>
                </a:lnTo>
                <a:lnTo>
                  <a:pt x="4022852" y="2511297"/>
                </a:lnTo>
                <a:lnTo>
                  <a:pt x="4059928" y="2550710"/>
                </a:lnTo>
                <a:lnTo>
                  <a:pt x="4098354" y="2586375"/>
                </a:lnTo>
                <a:lnTo>
                  <a:pt x="4138130" y="2618290"/>
                </a:lnTo>
                <a:lnTo>
                  <a:pt x="4179256" y="2646455"/>
                </a:lnTo>
                <a:lnTo>
                  <a:pt x="4221735" y="2670869"/>
                </a:lnTo>
                <a:lnTo>
                  <a:pt x="4265568" y="2691529"/>
                </a:lnTo>
                <a:lnTo>
                  <a:pt x="4310755" y="2708436"/>
                </a:lnTo>
                <a:lnTo>
                  <a:pt x="4357297" y="2721587"/>
                </a:lnTo>
                <a:lnTo>
                  <a:pt x="4405197" y="2730983"/>
                </a:lnTo>
                <a:lnTo>
                  <a:pt x="4454454" y="2736621"/>
                </a:lnTo>
                <a:lnTo>
                  <a:pt x="4505071" y="2738500"/>
                </a:lnTo>
                <a:lnTo>
                  <a:pt x="4561725" y="2736057"/>
                </a:lnTo>
                <a:lnTo>
                  <a:pt x="4616125" y="2728731"/>
                </a:lnTo>
                <a:lnTo>
                  <a:pt x="4668281" y="2716529"/>
                </a:lnTo>
                <a:lnTo>
                  <a:pt x="4718205" y="2699460"/>
                </a:lnTo>
                <a:lnTo>
                  <a:pt x="4765906" y="2677529"/>
                </a:lnTo>
                <a:lnTo>
                  <a:pt x="4811395" y="2650743"/>
                </a:lnTo>
                <a:lnTo>
                  <a:pt x="4859036" y="2614410"/>
                </a:lnTo>
                <a:lnTo>
                  <a:pt x="4895588" y="2575511"/>
                </a:lnTo>
                <a:lnTo>
                  <a:pt x="4914356" y="2544953"/>
                </a:lnTo>
                <a:lnTo>
                  <a:pt x="4551553" y="2544953"/>
                </a:lnTo>
                <a:lnTo>
                  <a:pt x="4499294" y="2541757"/>
                </a:lnTo>
                <a:lnTo>
                  <a:pt x="4450396" y="2532173"/>
                </a:lnTo>
                <a:lnTo>
                  <a:pt x="4404862" y="2516201"/>
                </a:lnTo>
                <a:lnTo>
                  <a:pt x="4362694" y="2493844"/>
                </a:lnTo>
                <a:lnTo>
                  <a:pt x="4323893" y="2465105"/>
                </a:lnTo>
                <a:lnTo>
                  <a:pt x="4288463" y="2429986"/>
                </a:lnTo>
                <a:lnTo>
                  <a:pt x="4256405" y="2388488"/>
                </a:lnTo>
                <a:lnTo>
                  <a:pt x="4236173" y="2355242"/>
                </a:lnTo>
                <a:lnTo>
                  <a:pt x="4218075" y="2318140"/>
                </a:lnTo>
                <a:lnTo>
                  <a:pt x="4202109" y="2277180"/>
                </a:lnTo>
                <a:lnTo>
                  <a:pt x="4188274" y="2232362"/>
                </a:lnTo>
                <a:lnTo>
                  <a:pt x="4176569" y="2183685"/>
                </a:lnTo>
                <a:lnTo>
                  <a:pt x="4166994" y="2131149"/>
                </a:lnTo>
                <a:lnTo>
                  <a:pt x="4159549" y="2074752"/>
                </a:lnTo>
                <a:lnTo>
                  <a:pt x="4154231" y="2014495"/>
                </a:lnTo>
                <a:lnTo>
                  <a:pt x="4151042" y="1950375"/>
                </a:lnTo>
                <a:lnTo>
                  <a:pt x="4149979" y="1882393"/>
                </a:lnTo>
                <a:lnTo>
                  <a:pt x="4150911" y="1824217"/>
                </a:lnTo>
                <a:lnTo>
                  <a:pt x="4153707" y="1768284"/>
                </a:lnTo>
                <a:lnTo>
                  <a:pt x="4158367" y="1714595"/>
                </a:lnTo>
                <a:lnTo>
                  <a:pt x="4164891" y="1663151"/>
                </a:lnTo>
                <a:lnTo>
                  <a:pt x="4173279" y="1613954"/>
                </a:lnTo>
                <a:lnTo>
                  <a:pt x="4183532" y="1567005"/>
                </a:lnTo>
                <a:lnTo>
                  <a:pt x="4195648" y="1522304"/>
                </a:lnTo>
                <a:lnTo>
                  <a:pt x="4209629" y="1479853"/>
                </a:lnTo>
                <a:lnTo>
                  <a:pt x="4225473" y="1439653"/>
                </a:lnTo>
                <a:lnTo>
                  <a:pt x="4243182" y="1401706"/>
                </a:lnTo>
                <a:lnTo>
                  <a:pt x="4262755" y="1366012"/>
                </a:lnTo>
                <a:lnTo>
                  <a:pt x="4292163" y="1321410"/>
                </a:lnTo>
                <a:lnTo>
                  <a:pt x="4324000" y="1282761"/>
                </a:lnTo>
                <a:lnTo>
                  <a:pt x="4358266" y="1250062"/>
                </a:lnTo>
                <a:lnTo>
                  <a:pt x="4394962" y="1223311"/>
                </a:lnTo>
                <a:lnTo>
                  <a:pt x="4434085" y="1202508"/>
                </a:lnTo>
                <a:lnTo>
                  <a:pt x="4475638" y="1187650"/>
                </a:lnTo>
                <a:lnTo>
                  <a:pt x="4519620" y="1178736"/>
                </a:lnTo>
                <a:lnTo>
                  <a:pt x="4566031" y="1175765"/>
                </a:lnTo>
                <a:lnTo>
                  <a:pt x="5236464" y="1175765"/>
                </a:lnTo>
                <a:lnTo>
                  <a:pt x="5236464" y="1173860"/>
                </a:lnTo>
                <a:lnTo>
                  <a:pt x="4938776" y="1173860"/>
                </a:lnTo>
                <a:lnTo>
                  <a:pt x="4932945" y="1135760"/>
                </a:lnTo>
                <a:lnTo>
                  <a:pt x="4909566" y="1100518"/>
                </a:lnTo>
                <a:lnTo>
                  <a:pt x="4868660" y="1068133"/>
                </a:lnTo>
                <a:lnTo>
                  <a:pt x="4810252" y="1038605"/>
                </a:lnTo>
                <a:lnTo>
                  <a:pt x="4756745" y="1018306"/>
                </a:lnTo>
                <a:lnTo>
                  <a:pt x="4703823" y="1002517"/>
                </a:lnTo>
                <a:lnTo>
                  <a:pt x="4651493" y="991240"/>
                </a:lnTo>
                <a:lnTo>
                  <a:pt x="4599761" y="984473"/>
                </a:lnTo>
                <a:lnTo>
                  <a:pt x="4548632" y="982217"/>
                </a:lnTo>
                <a:close/>
              </a:path>
              <a:path w="5445125" h="2738754">
                <a:moveTo>
                  <a:pt x="5260275" y="2443353"/>
                </a:moveTo>
                <a:lnTo>
                  <a:pt x="4938776" y="2443353"/>
                </a:lnTo>
                <a:lnTo>
                  <a:pt x="4938776" y="2708655"/>
                </a:lnTo>
                <a:lnTo>
                  <a:pt x="5023231" y="2708655"/>
                </a:lnTo>
                <a:lnTo>
                  <a:pt x="5067498" y="2686821"/>
                </a:lnTo>
                <a:lnTo>
                  <a:pt x="5109813" y="2668190"/>
                </a:lnTo>
                <a:lnTo>
                  <a:pt x="5150175" y="2652774"/>
                </a:lnTo>
                <a:lnTo>
                  <a:pt x="5188585" y="2640584"/>
                </a:lnTo>
                <a:lnTo>
                  <a:pt x="5257355" y="2624693"/>
                </a:lnTo>
                <a:lnTo>
                  <a:pt x="5313933" y="2619374"/>
                </a:lnTo>
                <a:lnTo>
                  <a:pt x="5444744" y="2619374"/>
                </a:lnTo>
                <a:lnTo>
                  <a:pt x="5444744" y="2455672"/>
                </a:lnTo>
                <a:lnTo>
                  <a:pt x="5303012" y="2455672"/>
                </a:lnTo>
                <a:lnTo>
                  <a:pt x="5287771" y="2454552"/>
                </a:lnTo>
                <a:lnTo>
                  <a:pt x="5274436" y="2451195"/>
                </a:lnTo>
                <a:lnTo>
                  <a:pt x="5263007" y="2445599"/>
                </a:lnTo>
                <a:lnTo>
                  <a:pt x="5260275" y="2443353"/>
                </a:lnTo>
                <a:close/>
              </a:path>
              <a:path w="5445125" h="2738754">
                <a:moveTo>
                  <a:pt x="5236464" y="1175765"/>
                </a:moveTo>
                <a:lnTo>
                  <a:pt x="4566031" y="1175765"/>
                </a:lnTo>
                <a:lnTo>
                  <a:pt x="4618182" y="1178716"/>
                </a:lnTo>
                <a:lnTo>
                  <a:pt x="4670440" y="1187561"/>
                </a:lnTo>
                <a:lnTo>
                  <a:pt x="4722818" y="1202287"/>
                </a:lnTo>
                <a:lnTo>
                  <a:pt x="4775327" y="1222882"/>
                </a:lnTo>
                <a:lnTo>
                  <a:pt x="4824976" y="1249435"/>
                </a:lnTo>
                <a:lnTo>
                  <a:pt x="4868767" y="1282049"/>
                </a:lnTo>
                <a:lnTo>
                  <a:pt x="4906700" y="1320734"/>
                </a:lnTo>
                <a:lnTo>
                  <a:pt x="4938776" y="1365503"/>
                </a:lnTo>
                <a:lnTo>
                  <a:pt x="4938776" y="2158999"/>
                </a:lnTo>
                <a:lnTo>
                  <a:pt x="4922026" y="2213629"/>
                </a:lnTo>
                <a:lnTo>
                  <a:pt x="4903562" y="2263979"/>
                </a:lnTo>
                <a:lnTo>
                  <a:pt x="4883378" y="2310042"/>
                </a:lnTo>
                <a:lnTo>
                  <a:pt x="4861471" y="2351816"/>
                </a:lnTo>
                <a:lnTo>
                  <a:pt x="4837835" y="2389295"/>
                </a:lnTo>
                <a:lnTo>
                  <a:pt x="4812466" y="2422476"/>
                </a:lnTo>
                <a:lnTo>
                  <a:pt x="4785360" y="2451354"/>
                </a:lnTo>
                <a:lnTo>
                  <a:pt x="4744670" y="2485033"/>
                </a:lnTo>
                <a:lnTo>
                  <a:pt x="4700938" y="2511239"/>
                </a:lnTo>
                <a:lnTo>
                  <a:pt x="4654171" y="2529964"/>
                </a:lnTo>
                <a:lnTo>
                  <a:pt x="4604373" y="2541204"/>
                </a:lnTo>
                <a:lnTo>
                  <a:pt x="4551553" y="2544953"/>
                </a:lnTo>
                <a:lnTo>
                  <a:pt x="4914356" y="2544953"/>
                </a:lnTo>
                <a:lnTo>
                  <a:pt x="4921058" y="2534039"/>
                </a:lnTo>
                <a:lnTo>
                  <a:pt x="4935452" y="2489988"/>
                </a:lnTo>
                <a:lnTo>
                  <a:pt x="4938776" y="2443353"/>
                </a:lnTo>
                <a:lnTo>
                  <a:pt x="5260275" y="2443353"/>
                </a:lnTo>
                <a:lnTo>
                  <a:pt x="5240734" y="2407840"/>
                </a:lnTo>
                <a:lnTo>
                  <a:pt x="5236514" y="2355242"/>
                </a:lnTo>
                <a:lnTo>
                  <a:pt x="5236464" y="1175765"/>
                </a:lnTo>
                <a:close/>
              </a:path>
              <a:path w="5445125" h="2738754">
                <a:moveTo>
                  <a:pt x="5236464" y="0"/>
                </a:moveTo>
                <a:lnTo>
                  <a:pt x="5181142" y="30205"/>
                </a:lnTo>
                <a:lnTo>
                  <a:pt x="5132222" y="56052"/>
                </a:lnTo>
                <a:lnTo>
                  <a:pt x="5089702" y="77541"/>
                </a:lnTo>
                <a:lnTo>
                  <a:pt x="5053584" y="94670"/>
                </a:lnTo>
                <a:lnTo>
                  <a:pt x="4990907" y="119036"/>
                </a:lnTo>
                <a:lnTo>
                  <a:pt x="4926085" y="132320"/>
                </a:lnTo>
                <a:lnTo>
                  <a:pt x="4894199" y="133984"/>
                </a:lnTo>
                <a:lnTo>
                  <a:pt x="4685792" y="133984"/>
                </a:lnTo>
                <a:lnTo>
                  <a:pt x="4685792" y="297688"/>
                </a:lnTo>
                <a:lnTo>
                  <a:pt x="4849495" y="297688"/>
                </a:lnTo>
                <a:lnTo>
                  <a:pt x="4872876" y="299452"/>
                </a:lnTo>
                <a:lnTo>
                  <a:pt x="4919472" y="326008"/>
                </a:lnTo>
                <a:lnTo>
                  <a:pt x="4933934" y="365839"/>
                </a:lnTo>
                <a:lnTo>
                  <a:pt x="4938776" y="428625"/>
                </a:lnTo>
                <a:lnTo>
                  <a:pt x="4938776" y="1173860"/>
                </a:lnTo>
                <a:lnTo>
                  <a:pt x="5236464" y="1173860"/>
                </a:lnTo>
                <a:lnTo>
                  <a:pt x="523646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</TotalTime>
  <Words>9568</Words>
  <Application>Microsoft Office PowerPoint</Application>
  <PresentationFormat>全屏显示(4:3)</PresentationFormat>
  <Paragraphs>1852</Paragraphs>
  <Slides>120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120</vt:i4>
      </vt:variant>
    </vt:vector>
  </HeadingPairs>
  <TitlesOfParts>
    <vt:vector size="135" baseType="lpstr">
      <vt:lpstr>等线</vt:lpstr>
      <vt:lpstr>方正舒体</vt:lpstr>
      <vt:lpstr>黑体</vt:lpstr>
      <vt:lpstr>华文新魏</vt:lpstr>
      <vt:lpstr>隶书</vt:lpstr>
      <vt:lpstr>宋体</vt:lpstr>
      <vt:lpstr>幼圆</vt:lpstr>
      <vt:lpstr>Arial</vt:lpstr>
      <vt:lpstr>Calibri</vt:lpstr>
      <vt:lpstr>Courier New</vt:lpstr>
      <vt:lpstr>Symbol</vt:lpstr>
      <vt:lpstr>Times New Roman</vt:lpstr>
      <vt:lpstr>Wingdings</vt:lpstr>
      <vt:lpstr>Wingdings 3</vt:lpstr>
      <vt:lpstr>Office Theme</vt:lpstr>
      <vt:lpstr>课 程 内 容</vt:lpstr>
      <vt:lpstr>第 8 章 代码优化（optimization）</vt:lpstr>
      <vt:lpstr>8.1 代码优化综述</vt:lpstr>
      <vt:lpstr>PowerPoint 演示文稿</vt:lpstr>
      <vt:lpstr>PowerPoint 演示文稿</vt:lpstr>
      <vt:lpstr>PowerPoint 演示文稿</vt:lpstr>
      <vt:lpstr>PowerPoint 演示文稿</vt:lpstr>
      <vt:lpstr>8.1 代码优化综述</vt:lpstr>
      <vt:lpstr>一. 优化所涉及的源程序的范围</vt:lpstr>
      <vt:lpstr>PowerPoint 演示文稿</vt:lpstr>
      <vt:lpstr>2 . 公共子表达式删除</vt:lpstr>
      <vt:lpstr>4. 无用赋值删除</vt:lpstr>
      <vt:lpstr>PowerPoint 演示文稿</vt:lpstr>
      <vt:lpstr>7. 函数内嵌</vt:lpstr>
      <vt:lpstr>8. 简单循环内的运算强度削弱</vt:lpstr>
      <vt:lpstr>9. 动态循环内的运算强度削弱</vt:lpstr>
      <vt:lpstr>10. 复合变量循环的转换 C source code</vt:lpstr>
      <vt:lpstr>before optimization i = 0; j = 0;</vt:lpstr>
      <vt:lpstr>8.1 代码优化综述</vt:lpstr>
      <vt:lpstr>Ch8 代码优化</vt:lpstr>
      <vt:lpstr>第 8 章 代码优化（optimization）</vt:lpstr>
      <vt:lpstr>8.2 局部优化</vt:lpstr>
      <vt:lpstr>PowerPoint 演示文稿</vt:lpstr>
      <vt:lpstr>PowerPoint 演示文稿</vt:lpstr>
      <vt:lpstr>第2步：根据确定的基本块的入口语句，构造 其所属的基本块。即： ⑴ 由该入口语句直到下一个入口语句(不包含 下一个入口语句)之间的所有语句构成一 个基本块；</vt:lpstr>
      <vt:lpstr>PowerPoint 演示文稿</vt:lpstr>
      <vt:lpstr>PowerPoint 演示文稿</vt:lpstr>
      <vt:lpstr>8.2 局部优化</vt:lpstr>
      <vt:lpstr>PowerPoint 演示文稿</vt:lpstr>
      <vt:lpstr>PowerPoint 演示文稿</vt:lpstr>
      <vt:lpstr>PowerPoint 演示文稿</vt:lpstr>
      <vt:lpstr>例8.2</vt:lpstr>
      <vt:lpstr>8.2 局部优化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算法8.1</vt:lpstr>
      <vt:lpstr>8.2.3 DAG定义与应用</vt:lpstr>
      <vt:lpstr>④ 执行B op C(即常量合并)，设得到的新常数为P。如果NODE(B)或</vt:lpstr>
      <vt:lpstr>Ch8 代码优化 8.2 局部优化 8.2.3 DAG定义与应用</vt:lpstr>
      <vt:lpstr>PowerPoint 演示文稿</vt:lpstr>
      <vt:lpstr>PowerPoint 演示文稿</vt:lpstr>
      <vt:lpstr>PowerPoint 演示文稿</vt:lpstr>
      <vt:lpstr>PowerPoint 演示文稿</vt:lpstr>
      <vt:lpstr>第 8 章 代码优化（optimization）</vt:lpstr>
      <vt:lpstr>PowerPoint 演示文稿</vt:lpstr>
      <vt:lpstr>PowerPoint 演示文稿</vt:lpstr>
      <vt:lpstr>定义8.2</vt:lpstr>
      <vt:lpstr>例如下图，</vt:lpstr>
      <vt:lpstr>定义8.3</vt:lpstr>
      <vt:lpstr>PowerPoint 演示文稿</vt:lpstr>
      <vt:lpstr>例8.5</vt:lpstr>
      <vt:lpstr>定义8.5 （回边）</vt:lpstr>
      <vt:lpstr>PowerPoint 演示文稿</vt:lpstr>
      <vt:lpstr>PowerPoint 演示文稿</vt:lpstr>
      <vt:lpstr>PowerPoint 演示文稿</vt:lpstr>
      <vt:lpstr>第 8 章 代码优化（optimization）</vt:lpstr>
      <vt:lpstr>一. 数据流分析基础</vt:lpstr>
      <vt:lpstr>PowerPoint 演示文稿</vt:lpstr>
      <vt:lpstr>PowerPoint 演示文稿</vt:lpstr>
      <vt:lpstr>PowerPoint 演示文稿</vt:lpstr>
      <vt:lpstr>PowerPoint 演示文稿</vt:lpstr>
      <vt:lpstr>Ch8 代码优化</vt:lpstr>
      <vt:lpstr>定义8.6 （ud链） 假设在程序中某点P引用了变量A的值，则 把G中能到达P的A的定值点的全体，称为A在 引用点P的引用─定值链（即ud链）。</vt:lpstr>
      <vt:lpstr> ud链是相对于引用点的定值情况。</vt:lpstr>
      <vt:lpstr>PowerPoint 演示文稿</vt:lpstr>
      <vt:lpstr>定义8.7 （du链）</vt:lpstr>
      <vt:lpstr>PowerPoint 演示文稿</vt:lpstr>
      <vt:lpstr>PowerPoint 演示文稿</vt:lpstr>
      <vt:lpstr>二. 重要数据流方程</vt:lpstr>
      <vt:lpstr>PowerPoint 演示文稿</vt:lpstr>
      <vt:lpstr>PowerPoint 演示文稿</vt:lpstr>
      <vt:lpstr>（每个基本块Bi的有关信息利用其 后继基本块的信息来计算）</vt:lpstr>
      <vt:lpstr>PowerPoint 演示文稿</vt:lpstr>
      <vt:lpstr>kill(Bi): 在基本块Bi中定值的量在其它地方的 定值点的集合。</vt:lpstr>
      <vt:lpstr>Ch8 代码优化</vt:lpstr>
      <vt:lpstr>对out(B)，可由以下条件得到：</vt:lpstr>
      <vt:lpstr>算法8.2</vt:lpstr>
      <vt:lpstr>例8.8</vt:lpstr>
      <vt:lpstr>8.4 数据流分析基础</vt:lpstr>
      <vt:lpstr>PowerPoint 演示文稿</vt:lpstr>
      <vt:lpstr>第八章习题讲解（8－13）</vt:lpstr>
      <vt:lpstr>PowerPoint 演示文稿</vt:lpstr>
      <vt:lpstr>t1=4*i</vt:lpstr>
      <vt:lpstr>PowerPoint 演示文稿</vt:lpstr>
      <vt:lpstr>PowerPoint 演示文稿</vt:lpstr>
      <vt:lpstr>Ch8 代码优化 8.4 数据流分析基础</vt:lpstr>
      <vt:lpstr>Ch8代码优化</vt:lpstr>
      <vt:lpstr>第 8 章 代码优化（optimization）</vt:lpstr>
      <vt:lpstr>PowerPoint 演示文稿</vt:lpstr>
      <vt:lpstr>Ch8 代码优化 8.5 循环优化实施</vt:lpstr>
      <vt:lpstr>Ch8 代码优化 8.5 循环优化实施</vt:lpstr>
      <vt:lpstr>代码外提就是将循环中的不变运算提到循 环的前置结点中。这里所指的不变运算，是指 与循环执行次数无关的运算或不受循环控制变 量影响的那些运算。</vt:lpstr>
      <vt:lpstr>例8.10</vt:lpstr>
      <vt:lpstr>Ch8 代码优化</vt:lpstr>
      <vt:lpstr>PowerPoint 演示文稿</vt:lpstr>
      <vt:lpstr>PowerPoint 演示文稿</vt:lpstr>
      <vt:lpstr>算法8.4</vt:lpstr>
      <vt:lpstr>①(i)S所在的结点是L的所有出口结点的必经结点；</vt:lpstr>
      <vt:lpstr>说明外提的限制条件：</vt:lpstr>
      <vt:lpstr>PowerPoint 演示文稿</vt:lpstr>
      <vt:lpstr>说明外提的限制条件：</vt:lpstr>
      <vt:lpstr>PowerPoint 演示文稿</vt:lpstr>
      <vt:lpstr>PowerPoint 演示文稿</vt:lpstr>
      <vt:lpstr>PowerPoint 演示文稿</vt:lpstr>
      <vt:lpstr>二 . 强度削弱与删除归纳变量 强度削弱是将程序中强度高的运算使用强 度低的运算替代，以便使程序运行时间缩短。</vt:lpstr>
      <vt:lpstr>PowerPoint 演示文稿</vt:lpstr>
      <vt:lpstr>Ch8 代码优化 8.5 循环优化实施</vt:lpstr>
      <vt:lpstr>算法8.5</vt:lpstr>
      <vt:lpstr>Ch8 代码优化 8.5 循环优化实施</vt:lpstr>
      <vt:lpstr>算法8.6</vt:lpstr>
      <vt:lpstr>算法8.7</vt:lpstr>
      <vt:lpstr>PowerPoint 演示文稿</vt:lpstr>
      <vt:lpstr>控制流分析</vt:lpstr>
      <vt:lpstr>三. 平衡提高优化效率、减少优化代价的矛盾</vt:lpstr>
      <vt:lpstr>PowerPoint 演示文稿</vt:lpstr>
      <vt:lpstr>Ch8 代 码 优 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第八章 代码优化</dc:title>
  <dc:creator>王贵珍</dc:creator>
  <cp:lastModifiedBy>- Vel</cp:lastModifiedBy>
  <cp:revision>5</cp:revision>
  <dcterms:created xsi:type="dcterms:W3CDTF">2025-05-26T15:39:30Z</dcterms:created>
  <dcterms:modified xsi:type="dcterms:W3CDTF">2025-05-27T06:47:23Z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2025-05-26T00:00:00Z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2025-05-26T00:00:00Z</vt:filetime>
  </property>
</Properties>
</file>