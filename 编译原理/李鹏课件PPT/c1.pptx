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4617720"/>
            <a:ext cx="8305800" cy="2240280"/>
          </a:xfrm>
          <a:custGeom>
            <a:avLst/>
            <a:gdLst/>
            <a:ahLst/>
            <a:cxnLst/>
            <a:rect l="l" t="t" r="r" b="b"/>
            <a:pathLst>
              <a:path w="8305800" h="2240279">
                <a:moveTo>
                  <a:pt x="0" y="2240279"/>
                </a:moveTo>
                <a:lnTo>
                  <a:pt x="8305800" y="2240279"/>
                </a:lnTo>
                <a:lnTo>
                  <a:pt x="8305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33756" y="4629150"/>
            <a:ext cx="8810625" cy="2228850"/>
          </a:xfrm>
          <a:custGeom>
            <a:avLst/>
            <a:gdLst/>
            <a:ahLst/>
            <a:cxnLst/>
            <a:rect l="l" t="t" r="r" b="b"/>
            <a:pathLst>
              <a:path w="8810625" h="2228850">
                <a:moveTo>
                  <a:pt x="0" y="2228850"/>
                </a:moveTo>
                <a:lnTo>
                  <a:pt x="8810244" y="2228850"/>
                </a:lnTo>
                <a:lnTo>
                  <a:pt x="8810244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57605" y="1828800"/>
            <a:ext cx="8286750" cy="2800350"/>
          </a:xfrm>
          <a:custGeom>
            <a:avLst/>
            <a:gdLst/>
            <a:ahLst/>
            <a:cxnLst/>
            <a:rect l="l" t="t" r="r" b="b"/>
            <a:pathLst>
              <a:path w="8286750" h="2800350">
                <a:moveTo>
                  <a:pt x="0" y="2800350"/>
                </a:moveTo>
                <a:lnTo>
                  <a:pt x="8286394" y="2800350"/>
                </a:lnTo>
                <a:lnTo>
                  <a:pt x="8286394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3574" y="849629"/>
            <a:ext cx="7216851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4617720"/>
            <a:ext cx="8305800" cy="2240280"/>
          </a:xfrm>
          <a:custGeom>
            <a:avLst/>
            <a:gdLst/>
            <a:ahLst/>
            <a:cxnLst/>
            <a:rect l="l" t="t" r="r" b="b"/>
            <a:pathLst>
              <a:path w="8305800" h="2240279">
                <a:moveTo>
                  <a:pt x="0" y="2240279"/>
                </a:moveTo>
                <a:lnTo>
                  <a:pt x="8305800" y="2240279"/>
                </a:lnTo>
                <a:lnTo>
                  <a:pt x="8305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33756" y="4629150"/>
            <a:ext cx="8810625" cy="2228850"/>
          </a:xfrm>
          <a:custGeom>
            <a:avLst/>
            <a:gdLst/>
            <a:ahLst/>
            <a:cxnLst/>
            <a:rect l="l" t="t" r="r" b="b"/>
            <a:pathLst>
              <a:path w="8810625" h="2228850">
                <a:moveTo>
                  <a:pt x="0" y="2228850"/>
                </a:moveTo>
                <a:lnTo>
                  <a:pt x="8810244" y="2228850"/>
                </a:lnTo>
                <a:lnTo>
                  <a:pt x="8810244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57605" y="1828800"/>
            <a:ext cx="8286750" cy="2800350"/>
          </a:xfrm>
          <a:custGeom>
            <a:avLst/>
            <a:gdLst/>
            <a:ahLst/>
            <a:cxnLst/>
            <a:rect l="l" t="t" r="r" b="b"/>
            <a:pathLst>
              <a:path w="8286750" h="2800350">
                <a:moveTo>
                  <a:pt x="0" y="2800350"/>
                </a:moveTo>
                <a:lnTo>
                  <a:pt x="8286394" y="2800350"/>
                </a:lnTo>
                <a:lnTo>
                  <a:pt x="8286394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7840" y="2164206"/>
            <a:ext cx="3314065" cy="3972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4617720"/>
            <a:ext cx="8305800" cy="2240280"/>
          </a:xfrm>
          <a:custGeom>
            <a:avLst/>
            <a:gdLst/>
            <a:ahLst/>
            <a:cxnLst/>
            <a:rect l="l" t="t" r="r" b="b"/>
            <a:pathLst>
              <a:path w="8305800" h="2240279">
                <a:moveTo>
                  <a:pt x="0" y="2240279"/>
                </a:moveTo>
                <a:lnTo>
                  <a:pt x="8305800" y="2240279"/>
                </a:lnTo>
                <a:lnTo>
                  <a:pt x="8305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33756" y="4629150"/>
            <a:ext cx="8810625" cy="2228850"/>
          </a:xfrm>
          <a:custGeom>
            <a:avLst/>
            <a:gdLst/>
            <a:ahLst/>
            <a:cxnLst/>
            <a:rect l="l" t="t" r="r" b="b"/>
            <a:pathLst>
              <a:path w="8810625" h="2228850">
                <a:moveTo>
                  <a:pt x="0" y="2228850"/>
                </a:moveTo>
                <a:lnTo>
                  <a:pt x="8810244" y="2228850"/>
                </a:lnTo>
                <a:lnTo>
                  <a:pt x="8810244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57605" y="1828800"/>
            <a:ext cx="8286750" cy="2800350"/>
          </a:xfrm>
          <a:custGeom>
            <a:avLst/>
            <a:gdLst/>
            <a:ahLst/>
            <a:cxnLst/>
            <a:rect l="l" t="t" r="r" b="b"/>
            <a:pathLst>
              <a:path w="8286750" h="2800350">
                <a:moveTo>
                  <a:pt x="0" y="2800350"/>
                </a:moveTo>
                <a:lnTo>
                  <a:pt x="8286394" y="2800350"/>
                </a:lnTo>
                <a:lnTo>
                  <a:pt x="8286394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4617720"/>
            <a:ext cx="8305800" cy="2240280"/>
          </a:xfrm>
          <a:custGeom>
            <a:avLst/>
            <a:gdLst/>
            <a:ahLst/>
            <a:cxnLst/>
            <a:rect l="l" t="t" r="r" b="b"/>
            <a:pathLst>
              <a:path w="8305800" h="2240279">
                <a:moveTo>
                  <a:pt x="0" y="2240279"/>
                </a:moveTo>
                <a:lnTo>
                  <a:pt x="8305800" y="2240279"/>
                </a:lnTo>
                <a:lnTo>
                  <a:pt x="8305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33756" y="4629150"/>
            <a:ext cx="8810625" cy="2228850"/>
          </a:xfrm>
          <a:custGeom>
            <a:avLst/>
            <a:gdLst/>
            <a:ahLst/>
            <a:cxnLst/>
            <a:rect l="l" t="t" r="r" b="b"/>
            <a:pathLst>
              <a:path w="8810625" h="2228850">
                <a:moveTo>
                  <a:pt x="0" y="2228850"/>
                </a:moveTo>
                <a:lnTo>
                  <a:pt x="8810244" y="2228850"/>
                </a:lnTo>
                <a:lnTo>
                  <a:pt x="8810244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57605" y="1828800"/>
            <a:ext cx="8286750" cy="2800350"/>
          </a:xfrm>
          <a:custGeom>
            <a:avLst/>
            <a:gdLst/>
            <a:ahLst/>
            <a:cxnLst/>
            <a:rect l="l" t="t" r="r" b="b"/>
            <a:pathLst>
              <a:path w="8286750" h="2800350">
                <a:moveTo>
                  <a:pt x="0" y="2800350"/>
                </a:moveTo>
                <a:lnTo>
                  <a:pt x="8286394" y="2800350"/>
                </a:lnTo>
                <a:lnTo>
                  <a:pt x="8286394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1342" y="1166825"/>
            <a:ext cx="584200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0842" y="1518411"/>
            <a:ext cx="7023100" cy="2010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FF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27593" y="66217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3.png"/><Relationship Id="rId42" Type="http://schemas.openxmlformats.org/officeDocument/2006/relationships/image" Target="../media/image74.png"/><Relationship Id="rId47" Type="http://schemas.openxmlformats.org/officeDocument/2006/relationships/image" Target="../media/image79.png"/><Relationship Id="rId63" Type="http://schemas.openxmlformats.org/officeDocument/2006/relationships/image" Target="../media/image95.png"/><Relationship Id="rId68" Type="http://schemas.openxmlformats.org/officeDocument/2006/relationships/image" Target="../media/image100.png"/><Relationship Id="rId16" Type="http://schemas.openxmlformats.org/officeDocument/2006/relationships/image" Target="../media/image48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32" Type="http://schemas.openxmlformats.org/officeDocument/2006/relationships/image" Target="../media/image64.png"/><Relationship Id="rId37" Type="http://schemas.openxmlformats.org/officeDocument/2006/relationships/image" Target="../media/image69.png"/><Relationship Id="rId40" Type="http://schemas.openxmlformats.org/officeDocument/2006/relationships/image" Target="../media/image72.png"/><Relationship Id="rId45" Type="http://schemas.openxmlformats.org/officeDocument/2006/relationships/image" Target="../media/image77.png"/><Relationship Id="rId53" Type="http://schemas.openxmlformats.org/officeDocument/2006/relationships/image" Target="../media/image85.png"/><Relationship Id="rId58" Type="http://schemas.openxmlformats.org/officeDocument/2006/relationships/image" Target="../media/image90.png"/><Relationship Id="rId66" Type="http://schemas.openxmlformats.org/officeDocument/2006/relationships/image" Target="../media/image98.png"/><Relationship Id="rId74" Type="http://schemas.openxmlformats.org/officeDocument/2006/relationships/image" Target="../media/image106.png"/><Relationship Id="rId79" Type="http://schemas.openxmlformats.org/officeDocument/2006/relationships/image" Target="../media/image111.png"/><Relationship Id="rId5" Type="http://schemas.openxmlformats.org/officeDocument/2006/relationships/image" Target="../media/image37.png"/><Relationship Id="rId61" Type="http://schemas.openxmlformats.org/officeDocument/2006/relationships/image" Target="../media/image93.png"/><Relationship Id="rId19" Type="http://schemas.openxmlformats.org/officeDocument/2006/relationships/image" Target="../media/image5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Relationship Id="rId30" Type="http://schemas.openxmlformats.org/officeDocument/2006/relationships/image" Target="../media/image62.png"/><Relationship Id="rId35" Type="http://schemas.openxmlformats.org/officeDocument/2006/relationships/image" Target="../media/image67.png"/><Relationship Id="rId43" Type="http://schemas.openxmlformats.org/officeDocument/2006/relationships/image" Target="../media/image75.png"/><Relationship Id="rId48" Type="http://schemas.openxmlformats.org/officeDocument/2006/relationships/image" Target="../media/image80.png"/><Relationship Id="rId56" Type="http://schemas.openxmlformats.org/officeDocument/2006/relationships/image" Target="../media/image88.png"/><Relationship Id="rId64" Type="http://schemas.openxmlformats.org/officeDocument/2006/relationships/image" Target="../media/image96.png"/><Relationship Id="rId69" Type="http://schemas.openxmlformats.org/officeDocument/2006/relationships/image" Target="../media/image101.png"/><Relationship Id="rId77" Type="http://schemas.openxmlformats.org/officeDocument/2006/relationships/image" Target="../media/image109.png"/><Relationship Id="rId8" Type="http://schemas.openxmlformats.org/officeDocument/2006/relationships/image" Target="../media/image40.png"/><Relationship Id="rId51" Type="http://schemas.openxmlformats.org/officeDocument/2006/relationships/image" Target="../media/image83.png"/><Relationship Id="rId72" Type="http://schemas.openxmlformats.org/officeDocument/2006/relationships/image" Target="../media/image104.png"/><Relationship Id="rId80" Type="http://schemas.openxmlformats.org/officeDocument/2006/relationships/image" Target="../media/image112.png"/><Relationship Id="rId3" Type="http://schemas.openxmlformats.org/officeDocument/2006/relationships/image" Target="../media/image35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33" Type="http://schemas.openxmlformats.org/officeDocument/2006/relationships/image" Target="../media/image65.png"/><Relationship Id="rId38" Type="http://schemas.openxmlformats.org/officeDocument/2006/relationships/image" Target="../media/image70.png"/><Relationship Id="rId46" Type="http://schemas.openxmlformats.org/officeDocument/2006/relationships/image" Target="../media/image78.png"/><Relationship Id="rId59" Type="http://schemas.openxmlformats.org/officeDocument/2006/relationships/image" Target="../media/image91.png"/><Relationship Id="rId67" Type="http://schemas.openxmlformats.org/officeDocument/2006/relationships/image" Target="../media/image99.png"/><Relationship Id="rId20" Type="http://schemas.openxmlformats.org/officeDocument/2006/relationships/image" Target="../media/image52.png"/><Relationship Id="rId41" Type="http://schemas.openxmlformats.org/officeDocument/2006/relationships/image" Target="../media/image73.png"/><Relationship Id="rId54" Type="http://schemas.openxmlformats.org/officeDocument/2006/relationships/image" Target="../media/image86.png"/><Relationship Id="rId62" Type="http://schemas.openxmlformats.org/officeDocument/2006/relationships/image" Target="../media/image94.png"/><Relationship Id="rId70" Type="http://schemas.openxmlformats.org/officeDocument/2006/relationships/image" Target="../media/image102.png"/><Relationship Id="rId75" Type="http://schemas.openxmlformats.org/officeDocument/2006/relationships/image" Target="../media/image10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36" Type="http://schemas.openxmlformats.org/officeDocument/2006/relationships/image" Target="../media/image68.png"/><Relationship Id="rId49" Type="http://schemas.openxmlformats.org/officeDocument/2006/relationships/image" Target="../media/image81.png"/><Relationship Id="rId57" Type="http://schemas.openxmlformats.org/officeDocument/2006/relationships/image" Target="../media/image89.png"/><Relationship Id="rId10" Type="http://schemas.openxmlformats.org/officeDocument/2006/relationships/image" Target="../media/image42.png"/><Relationship Id="rId31" Type="http://schemas.openxmlformats.org/officeDocument/2006/relationships/image" Target="../media/image63.png"/><Relationship Id="rId44" Type="http://schemas.openxmlformats.org/officeDocument/2006/relationships/image" Target="../media/image76.png"/><Relationship Id="rId52" Type="http://schemas.openxmlformats.org/officeDocument/2006/relationships/image" Target="../media/image84.png"/><Relationship Id="rId60" Type="http://schemas.openxmlformats.org/officeDocument/2006/relationships/image" Target="../media/image92.png"/><Relationship Id="rId65" Type="http://schemas.openxmlformats.org/officeDocument/2006/relationships/image" Target="../media/image97.png"/><Relationship Id="rId73" Type="http://schemas.openxmlformats.org/officeDocument/2006/relationships/image" Target="../media/image105.png"/><Relationship Id="rId78" Type="http://schemas.openxmlformats.org/officeDocument/2006/relationships/image" Target="../media/image110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9" Type="http://schemas.openxmlformats.org/officeDocument/2006/relationships/image" Target="../media/image71.png"/><Relationship Id="rId34" Type="http://schemas.openxmlformats.org/officeDocument/2006/relationships/image" Target="../media/image66.png"/><Relationship Id="rId50" Type="http://schemas.openxmlformats.org/officeDocument/2006/relationships/image" Target="../media/image82.png"/><Relationship Id="rId55" Type="http://schemas.openxmlformats.org/officeDocument/2006/relationships/image" Target="../media/image87.png"/><Relationship Id="rId76" Type="http://schemas.openxmlformats.org/officeDocument/2006/relationships/image" Target="../media/image108.png"/><Relationship Id="rId7" Type="http://schemas.openxmlformats.org/officeDocument/2006/relationships/image" Target="../media/image39.png"/><Relationship Id="rId71" Type="http://schemas.openxmlformats.org/officeDocument/2006/relationships/image" Target="../media/image103.png"/><Relationship Id="rId2" Type="http://schemas.openxmlformats.org/officeDocument/2006/relationships/image" Target="../media/image2.png"/><Relationship Id="rId29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19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2.png"/><Relationship Id="rId7" Type="http://schemas.openxmlformats.org/officeDocument/2006/relationships/image" Target="../media/image1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6655" y="1167383"/>
            <a:ext cx="8433816" cy="2211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7525" y="1504010"/>
            <a:ext cx="71564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5" dirty="0">
                <a:solidFill>
                  <a:srgbClr val="FFFFB7"/>
                </a:solidFill>
                <a:latin typeface="宋体"/>
                <a:cs typeface="宋体"/>
              </a:rPr>
              <a:t>编译</a:t>
            </a:r>
            <a:r>
              <a:rPr sz="8000" spc="5" dirty="0">
                <a:solidFill>
                  <a:srgbClr val="FFFFB7"/>
                </a:solidFill>
                <a:latin typeface="宋体"/>
                <a:cs typeface="宋体"/>
              </a:rPr>
              <a:t>原</a:t>
            </a:r>
            <a:r>
              <a:rPr sz="8000" spc="-5" dirty="0">
                <a:solidFill>
                  <a:srgbClr val="FFFFB7"/>
                </a:solidFill>
                <a:latin typeface="宋体"/>
                <a:cs typeface="宋体"/>
              </a:rPr>
              <a:t>理与技</a:t>
            </a:r>
            <a:r>
              <a:rPr sz="8000" spc="-25" dirty="0">
                <a:solidFill>
                  <a:srgbClr val="FFFFB7"/>
                </a:solidFill>
                <a:latin typeface="宋体"/>
                <a:cs typeface="宋体"/>
              </a:rPr>
              <a:t>术</a:t>
            </a:r>
            <a:endParaRPr sz="8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2692" y="446531"/>
            <a:ext cx="6560058" cy="12291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576199"/>
            <a:ext cx="56775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FFFFB7"/>
                </a:solidFill>
                <a:latin typeface="Arial Black"/>
                <a:cs typeface="Arial Black"/>
              </a:rPr>
              <a:t>About </a:t>
            </a:r>
            <a:r>
              <a:rPr sz="4400" b="0" spc="25" dirty="0">
                <a:solidFill>
                  <a:srgbClr val="FFFFB7"/>
                </a:solidFill>
                <a:latin typeface="Arial Black"/>
                <a:cs typeface="Arial Black"/>
              </a:rPr>
              <a:t>This</a:t>
            </a:r>
            <a:r>
              <a:rPr sz="4400" b="0" spc="-60" dirty="0">
                <a:solidFill>
                  <a:srgbClr val="FFFFB7"/>
                </a:solidFill>
                <a:latin typeface="Arial Black"/>
                <a:cs typeface="Arial Black"/>
              </a:rPr>
              <a:t> </a:t>
            </a:r>
            <a:r>
              <a:rPr sz="4400" b="0" spc="15" dirty="0">
                <a:solidFill>
                  <a:srgbClr val="FFFFB7"/>
                </a:solidFill>
                <a:latin typeface="Arial Black"/>
                <a:cs typeface="Arial Black"/>
              </a:rPr>
              <a:t>Course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7244" y="1931035"/>
            <a:ext cx="7532370" cy="392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b="1" dirty="0">
                <a:solidFill>
                  <a:srgbClr val="99FF66"/>
                </a:solidFill>
                <a:latin typeface="宋体"/>
                <a:cs typeface="宋体"/>
              </a:rPr>
              <a:t>课程进度：</a:t>
            </a:r>
            <a:r>
              <a:rPr sz="3200" b="1" dirty="0">
                <a:solidFill>
                  <a:srgbClr val="FFFF00"/>
                </a:solidFill>
                <a:latin typeface="Arial"/>
                <a:cs typeface="Arial"/>
              </a:rPr>
              <a:t>48</a:t>
            </a:r>
            <a:r>
              <a:rPr sz="3200" b="1" spc="-4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学时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9FF66"/>
              </a:buClr>
              <a:buFont typeface="Wingdings"/>
              <a:buChar char=""/>
            </a:pPr>
            <a:endParaRPr sz="4150">
              <a:latin typeface="宋体"/>
              <a:cs typeface="宋体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b="1" dirty="0">
                <a:solidFill>
                  <a:srgbClr val="99FF66"/>
                </a:solidFill>
                <a:latin typeface="宋体"/>
                <a:cs typeface="宋体"/>
              </a:rPr>
              <a:t>课程特点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99FF66"/>
              </a:buClr>
              <a:buFont typeface="Wingdings"/>
              <a:buChar char=""/>
            </a:pPr>
            <a:endParaRPr sz="4150">
              <a:latin typeface="宋体"/>
              <a:cs typeface="宋体"/>
            </a:endParaRPr>
          </a:p>
          <a:p>
            <a:pPr marL="354965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b="1" dirty="0">
                <a:solidFill>
                  <a:srgbClr val="99FF66"/>
                </a:solidFill>
                <a:latin typeface="宋体"/>
                <a:cs typeface="宋体"/>
              </a:rPr>
              <a:t>最后成绩</a:t>
            </a:r>
            <a:endParaRPr sz="3200">
              <a:latin typeface="宋体"/>
              <a:cs typeface="宋体"/>
            </a:endParaRPr>
          </a:p>
          <a:p>
            <a:pPr marL="354965" marR="5080" indent="-342900">
              <a:lnSpc>
                <a:spcPct val="100000"/>
              </a:lnSpc>
              <a:spcBef>
                <a:spcPts val="770"/>
              </a:spcBef>
              <a:buClr>
                <a:srgbClr val="99FF66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成绩评定：试</a:t>
            </a:r>
            <a:r>
              <a:rPr sz="3200" b="1" spc="5" dirty="0">
                <a:solidFill>
                  <a:srgbClr val="FFFF00"/>
                </a:solidFill>
                <a:latin typeface="宋体"/>
                <a:cs typeface="宋体"/>
              </a:rPr>
              <a:t>验</a:t>
            </a:r>
            <a:r>
              <a:rPr sz="3200" b="1" spc="-5" dirty="0">
                <a:solidFill>
                  <a:srgbClr val="FFFF00"/>
                </a:solidFill>
                <a:latin typeface="Arial"/>
                <a:cs typeface="Arial"/>
              </a:rPr>
              <a:t>/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项目</a:t>
            </a:r>
            <a:r>
              <a:rPr sz="3200" b="1" spc="-5" dirty="0">
                <a:solidFill>
                  <a:srgbClr val="FFFF00"/>
                </a:solidFill>
                <a:latin typeface="Arial"/>
                <a:cs typeface="Arial"/>
              </a:rPr>
              <a:t>/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出勤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占</a:t>
            </a:r>
            <a:r>
              <a:rPr sz="3200" b="1" spc="-5" dirty="0">
                <a:solidFill>
                  <a:srgbClr val="FFFF00"/>
                </a:solidFill>
                <a:latin typeface="Arial"/>
                <a:cs typeface="Arial"/>
              </a:rPr>
              <a:t>30</a:t>
            </a:r>
            <a:r>
              <a:rPr sz="3200" b="1" spc="-10" dirty="0">
                <a:solidFill>
                  <a:srgbClr val="FFFF00"/>
                </a:solidFill>
                <a:latin typeface="Arial"/>
                <a:cs typeface="Arial"/>
              </a:rPr>
              <a:t>%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，期末 </a:t>
            </a:r>
            <a:r>
              <a:rPr sz="3200" b="1" spc="-5" dirty="0">
                <a:solidFill>
                  <a:srgbClr val="FFFF00"/>
                </a:solidFill>
                <a:latin typeface="宋体"/>
                <a:cs typeface="宋体"/>
              </a:rPr>
              <a:t>为闭卷笔试考试，成绩</a:t>
            </a: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占</a:t>
            </a:r>
            <a:r>
              <a:rPr sz="3200" b="1" spc="-10" dirty="0">
                <a:solidFill>
                  <a:srgbClr val="FFFF00"/>
                </a:solidFill>
                <a:latin typeface="Arial"/>
                <a:cs typeface="Arial"/>
              </a:rPr>
              <a:t>70</a:t>
            </a:r>
            <a:r>
              <a:rPr sz="3200" b="1" spc="-10" dirty="0">
                <a:solidFill>
                  <a:srgbClr val="FFFF00"/>
                </a:solidFill>
                <a:latin typeface="宋体"/>
                <a:cs typeface="宋体"/>
              </a:rPr>
              <a:t>％。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712621"/>
            <a:ext cx="2322195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078355" algn="l"/>
              </a:tabLst>
            </a:pPr>
            <a:r>
              <a:rPr sz="3350" i="1" spc="-110" dirty="0">
                <a:solidFill>
                  <a:srgbClr val="66FFFF"/>
                </a:solidFill>
                <a:latin typeface="Tahoma"/>
                <a:cs typeface="Tahoma"/>
              </a:rPr>
              <a:t>Comp</a:t>
            </a:r>
            <a:r>
              <a:rPr sz="3350" i="1" spc="-40" dirty="0">
                <a:solidFill>
                  <a:srgbClr val="66FFFF"/>
                </a:solidFill>
                <a:latin typeface="Tahoma"/>
                <a:cs typeface="Tahoma"/>
              </a:rPr>
              <a:t>i</a:t>
            </a:r>
            <a:r>
              <a:rPr sz="3350" i="1" spc="-65" dirty="0">
                <a:solidFill>
                  <a:srgbClr val="66FFFF"/>
                </a:solidFill>
                <a:latin typeface="Tahoma"/>
                <a:cs typeface="Tahoma"/>
              </a:rPr>
              <a:t>ler</a:t>
            </a:r>
            <a:r>
              <a:rPr sz="3350" i="1" dirty="0">
                <a:solidFill>
                  <a:srgbClr val="66FFFF"/>
                </a:solidFill>
                <a:latin typeface="Tahoma"/>
                <a:cs typeface="Tahoma"/>
              </a:rPr>
              <a:t>	</a:t>
            </a:r>
            <a:r>
              <a:rPr sz="3350" i="1" spc="-85" dirty="0">
                <a:solidFill>
                  <a:srgbClr val="66FFFF"/>
                </a:solidFill>
                <a:latin typeface="Tahoma"/>
                <a:cs typeface="Tahoma"/>
              </a:rPr>
              <a:t>?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647" y="4853482"/>
            <a:ext cx="8063865" cy="194310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558165" indent="-546100">
              <a:lnSpc>
                <a:spcPct val="100000"/>
              </a:lnSpc>
              <a:spcBef>
                <a:spcPts val="1780"/>
              </a:spcBef>
              <a:buClr>
                <a:srgbClr val="FF92B7"/>
              </a:buClr>
              <a:buFont typeface="Wingdings"/>
              <a:buChar char=""/>
              <a:tabLst>
                <a:tab pos="558165" algn="l"/>
                <a:tab pos="55880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编译程序是将高级语言翻译成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器语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序；</a:t>
            </a:r>
            <a:endParaRPr sz="2800">
              <a:latin typeface="宋体"/>
              <a:cs typeface="宋体"/>
            </a:endParaRPr>
          </a:p>
          <a:p>
            <a:pPr marL="558165" indent="-546100">
              <a:lnSpc>
                <a:spcPct val="100000"/>
              </a:lnSpc>
              <a:spcBef>
                <a:spcPts val="1680"/>
              </a:spcBef>
              <a:buClr>
                <a:srgbClr val="FF92B7"/>
              </a:buClr>
              <a:buFont typeface="Wingdings"/>
              <a:buChar char=""/>
              <a:tabLst>
                <a:tab pos="558165" algn="l"/>
                <a:tab pos="55880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人、机交互的工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具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913130" indent="-901065">
              <a:lnSpc>
                <a:spcPct val="100000"/>
              </a:lnSpc>
              <a:spcBef>
                <a:spcPts val="1655"/>
              </a:spcBef>
              <a:buClr>
                <a:srgbClr val="FF92B7"/>
              </a:buClr>
              <a:buFont typeface="Wingdings"/>
              <a:buChar char=""/>
              <a:tabLst>
                <a:tab pos="913130" algn="l"/>
                <a:tab pos="913765" algn="l"/>
              </a:tabLst>
            </a:pP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……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640" y="1069710"/>
            <a:ext cx="7349490" cy="3809365"/>
          </a:xfrm>
          <a:prstGeom prst="rect">
            <a:avLst/>
          </a:prstGeom>
        </p:spPr>
        <p:txBody>
          <a:bodyPr vert="horz" wrap="square" lIns="0" tIns="470534" rIns="0" bIns="0" rtlCol="0">
            <a:spAutoFit/>
          </a:bodyPr>
          <a:lstStyle/>
          <a:p>
            <a:pPr marL="522605" indent="-376555">
              <a:lnSpc>
                <a:spcPct val="100000"/>
              </a:lnSpc>
              <a:spcBef>
                <a:spcPts val="3704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522605" algn="l"/>
              </a:tabLst>
            </a:pP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  <a:hlinkClick r:id="rId3" action="ppaction://hlinksldjump"/>
              </a:rPr>
              <a:t>定</a:t>
            </a:r>
            <a:r>
              <a:rPr sz="3600" b="1" dirty="0">
                <a:solidFill>
                  <a:srgbClr val="FFFF00"/>
                </a:solidFill>
                <a:latin typeface="宋体"/>
                <a:cs typeface="宋体"/>
                <a:hlinkClick r:id="rId3" action="ppaction://hlinksldjump"/>
              </a:rPr>
              <a:t>义</a:t>
            </a:r>
            <a:r>
              <a:rPr sz="3600" b="1" dirty="0">
                <a:solidFill>
                  <a:srgbClr val="FFFF00"/>
                </a:solidFill>
                <a:latin typeface="Times New Roman"/>
                <a:cs typeface="Times New Roman"/>
                <a:hlinkClick r:id="rId3" action="ppaction://hlinksldjump"/>
              </a:rPr>
              <a:t>1.1</a:t>
            </a:r>
            <a:r>
              <a:rPr sz="3600" b="1" spc="-5" dirty="0">
                <a:solidFill>
                  <a:srgbClr val="FFFF00"/>
                </a:solidFill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3600" b="1" dirty="0">
                <a:solidFill>
                  <a:srgbClr val="FFFF00"/>
                </a:solidFill>
                <a:latin typeface="Times New Roman"/>
                <a:cs typeface="Times New Roman"/>
                <a:hlinkClick r:id="rId3" action="ppaction://hlinksldjump"/>
              </a:rPr>
              <a:t>:</a:t>
            </a:r>
            <a:endParaRPr sz="3600" dirty="0">
              <a:latin typeface="Times New Roman"/>
              <a:cs typeface="Times New Roman"/>
            </a:endParaRPr>
          </a:p>
          <a:p>
            <a:pPr marL="146050" marR="5080" indent="768985">
              <a:lnSpc>
                <a:spcPct val="147700"/>
              </a:lnSpc>
              <a:spcBef>
                <a:spcPts val="254"/>
              </a:spcBef>
              <a:tabLst>
                <a:tab pos="5057140" algn="l"/>
              </a:tabLst>
            </a:pP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将某一</a:t>
            </a:r>
            <a:r>
              <a:rPr sz="2800" b="1" spc="-10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种</a:t>
            </a:r>
            <a:r>
              <a:rPr sz="2800" b="1" u="heavy" spc="-5" dirty="0">
                <a:solidFill>
                  <a:srgbClr val="99FF66"/>
                </a:solidFill>
                <a:highlight>
                  <a:srgbClr val="FFFF00"/>
                </a:highlight>
                <a:uFill>
                  <a:solidFill>
                    <a:srgbClr val="99FF66"/>
                  </a:solidFill>
                </a:uFill>
                <a:latin typeface="宋体"/>
                <a:cs typeface="宋体"/>
                <a:hlinkClick r:id="rId4" action="ppaction://hlinksldjump"/>
              </a:rPr>
              <a:t>程序设计语言</a:t>
            </a: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写的</a:t>
            </a:r>
            <a:r>
              <a:rPr sz="2800" b="1" u="heavy" spc="-5" dirty="0">
                <a:solidFill>
                  <a:srgbClr val="99FF66"/>
                </a:solidFill>
                <a:highlight>
                  <a:srgbClr val="FFFF00"/>
                </a:highlight>
                <a:uFill>
                  <a:solidFill>
                    <a:srgbClr val="99FF66"/>
                  </a:solidFill>
                </a:uFill>
                <a:latin typeface="宋体"/>
                <a:cs typeface="宋体"/>
                <a:hlinkClick r:id="rId4" action="ppaction://hlinksldjump"/>
              </a:rPr>
              <a:t>程</a:t>
            </a:r>
            <a:r>
              <a:rPr sz="2800" b="1" u="heavy" spc="5" dirty="0">
                <a:solidFill>
                  <a:srgbClr val="99FF66"/>
                </a:solidFill>
                <a:highlight>
                  <a:srgbClr val="FFFF00"/>
                </a:highlight>
                <a:uFill>
                  <a:solidFill>
                    <a:srgbClr val="99FF66"/>
                  </a:solidFill>
                </a:uFill>
                <a:latin typeface="宋体"/>
                <a:cs typeface="宋体"/>
                <a:hlinkClick r:id="rId4" action="ppaction://hlinksldjump"/>
              </a:rPr>
              <a:t>序</a:t>
            </a:r>
            <a:r>
              <a:rPr sz="2800" b="1" spc="-10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翻</a:t>
            </a:r>
            <a:r>
              <a:rPr sz="2800" b="1" spc="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译</a:t>
            </a:r>
            <a:r>
              <a:rPr sz="2800" b="1" spc="-10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成</a:t>
            </a:r>
            <a:r>
              <a:rPr sz="2800" b="1" spc="-1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等 </a:t>
            </a: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价的</a:t>
            </a:r>
            <a:r>
              <a:rPr sz="2800" b="1" u="heavy" spc="-5" dirty="0">
                <a:solidFill>
                  <a:srgbClr val="99FF66"/>
                </a:solidFill>
                <a:highlight>
                  <a:srgbClr val="FFFF00"/>
                </a:highlight>
                <a:uFill>
                  <a:solidFill>
                    <a:srgbClr val="99FF66"/>
                  </a:solidFill>
                </a:uFill>
                <a:latin typeface="宋体"/>
                <a:cs typeface="宋体"/>
                <a:hlinkClick r:id="rId4" action="ppaction://hlinksldjump"/>
              </a:rPr>
              <a:t>另一种语</a:t>
            </a:r>
            <a:r>
              <a:rPr sz="2800" b="1" u="heavy" spc="-10" dirty="0">
                <a:solidFill>
                  <a:srgbClr val="99FF66"/>
                </a:solidFill>
                <a:highlight>
                  <a:srgbClr val="FFFF00"/>
                </a:highlight>
                <a:uFill>
                  <a:solidFill>
                    <a:srgbClr val="99FF66"/>
                  </a:solidFill>
                </a:uFill>
                <a:latin typeface="宋体"/>
                <a:cs typeface="宋体"/>
                <a:hlinkClick r:id="rId4" action="ppaction://hlinksldjump"/>
              </a:rPr>
              <a:t>言</a:t>
            </a: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的</a:t>
            </a:r>
            <a:r>
              <a:rPr sz="2800" b="1" u="heavy" spc="-5" dirty="0">
                <a:solidFill>
                  <a:srgbClr val="99FF66"/>
                </a:solidFill>
                <a:highlight>
                  <a:srgbClr val="FFFF00"/>
                </a:highlight>
                <a:uFill>
                  <a:solidFill>
                    <a:srgbClr val="99FF66"/>
                  </a:solidFill>
                </a:uFill>
                <a:latin typeface="宋体"/>
                <a:cs typeface="宋体"/>
                <a:hlinkClick r:id="rId5" action="ppaction://hlinksldjump"/>
              </a:rPr>
              <a:t>程序</a:t>
            </a: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的程序</a:t>
            </a: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Times New Roman"/>
                <a:cs typeface="Times New Roman"/>
                <a:hlinkClick r:id="rId3" action="ppaction://hlinksldjump"/>
              </a:rPr>
              <a:t>,	</a:t>
            </a: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称之为编译程 </a:t>
            </a:r>
            <a:r>
              <a:rPr sz="2800" b="1" spc="-10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序</a:t>
            </a:r>
            <a:r>
              <a:rPr sz="2800" b="1" spc="-5" dirty="0">
                <a:solidFill>
                  <a:srgbClr val="FFFF00"/>
                </a:solidFill>
                <a:highlight>
                  <a:srgbClr val="FFFF00"/>
                </a:highlight>
                <a:latin typeface="Times New Roman"/>
                <a:cs typeface="Times New Roman"/>
                <a:hlinkClick r:id="rId3" action="ppaction://hlinksldjump"/>
              </a:rPr>
              <a:t>(compiler)</a:t>
            </a:r>
            <a:r>
              <a:rPr sz="2800" b="1" spc="5" dirty="0">
                <a:solidFill>
                  <a:srgbClr val="FFFF00"/>
                </a:solidFill>
                <a:highlight>
                  <a:srgbClr val="FFFF00"/>
                </a:highlight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2800" b="1" spc="-15" dirty="0">
                <a:solidFill>
                  <a:srgbClr val="FFFF00"/>
                </a:solidFill>
                <a:highlight>
                  <a:srgbClr val="FFFF00"/>
                </a:highlight>
                <a:latin typeface="宋体"/>
                <a:cs typeface="宋体"/>
                <a:hlinkClick r:id="rId3" action="ppaction://hlinksldjump"/>
              </a:rPr>
              <a:t>。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 dirty="0">
              <a:latin typeface="宋体"/>
              <a:cs typeface="宋体"/>
            </a:endParaRPr>
          </a:p>
          <a:p>
            <a:pPr marL="648335" indent="-636270">
              <a:lnSpc>
                <a:spcPct val="100000"/>
              </a:lnSpc>
              <a:buClr>
                <a:srgbClr val="FF92B7"/>
              </a:buClr>
              <a:buFont typeface="Wingdings"/>
              <a:buChar char=""/>
              <a:tabLst>
                <a:tab pos="648335" algn="l"/>
                <a:tab pos="64897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编译程序是语言处理系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统</a:t>
            </a:r>
            <a:r>
              <a:rPr sz="2800" b="1" spc="-65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103" y="298704"/>
            <a:ext cx="2963418" cy="12291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07335" y="352043"/>
            <a:ext cx="912113" cy="1229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76144" y="298704"/>
            <a:ext cx="2963418" cy="12291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3376" y="298704"/>
            <a:ext cx="3522726" cy="12291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103" y="969263"/>
            <a:ext cx="4082034" cy="12291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2742" y="480517"/>
            <a:ext cx="766762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FFFFFF"/>
                </a:solidFill>
                <a:latin typeface="宋体"/>
                <a:cs typeface="宋体"/>
              </a:rPr>
              <a:t>简而言</a:t>
            </a:r>
            <a:r>
              <a:rPr sz="4400" b="0" spc="5" dirty="0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sz="4400" b="0" dirty="0">
                <a:solidFill>
                  <a:srgbClr val="FFFFFF"/>
                </a:solidFill>
                <a:latin typeface="Arial Black"/>
                <a:cs typeface="Arial Black"/>
              </a:rPr>
              <a:t>,</a:t>
            </a:r>
            <a:r>
              <a:rPr sz="4400" b="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400" b="0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编译程序</a:t>
            </a:r>
            <a:r>
              <a:rPr sz="4400" b="0" spc="5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就是一种语 </a:t>
            </a:r>
            <a:r>
              <a:rPr sz="4400" b="0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言翻译程序</a:t>
            </a:r>
            <a:r>
              <a:rPr sz="4400" b="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4400" dirty="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4880" y="2534411"/>
            <a:ext cx="598169" cy="7322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71016" y="2479548"/>
            <a:ext cx="7248906" cy="7901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71016" y="2991611"/>
            <a:ext cx="7248906" cy="7901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71016" y="3503676"/>
            <a:ext cx="2609850" cy="7901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10711" y="3503676"/>
            <a:ext cx="649986" cy="79019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90544" y="3503676"/>
            <a:ext cx="1896618" cy="7901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17008" y="3503676"/>
            <a:ext cx="649986" cy="7901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96840" y="3503676"/>
            <a:ext cx="1896617" cy="79019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23304" y="3503676"/>
            <a:ext cx="835913" cy="7901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89064" y="3503676"/>
            <a:ext cx="1540002" cy="79019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37919" y="2506560"/>
            <a:ext cx="7157084" cy="1562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20000"/>
              </a:lnSpc>
              <a:spcBef>
                <a:spcPts val="105"/>
              </a:spcBef>
              <a:buClr>
                <a:srgbClr val="99FF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定义：所谓翻译程序，是指这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样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序， 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它能将高级程序设计语言程序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翻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译成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逻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辑等 价的低级语言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汇编语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言,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机器语言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sz="2800" b="1" spc="-4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程序。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3625" y="4270593"/>
            <a:ext cx="125222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i="1" spc="-150" dirty="0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endParaRPr sz="335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62961" y="4515611"/>
            <a:ext cx="1143000" cy="114300"/>
          </a:xfrm>
          <a:custGeom>
            <a:avLst/>
            <a:gdLst/>
            <a:ahLst/>
            <a:cxnLst/>
            <a:rect l="l" t="t" r="r" b="b"/>
            <a:pathLst>
              <a:path w="1143000" h="114300">
                <a:moveTo>
                  <a:pt x="952500" y="0"/>
                </a:moveTo>
                <a:lnTo>
                  <a:pt x="1028700" y="57150"/>
                </a:lnTo>
                <a:lnTo>
                  <a:pt x="952500" y="114300"/>
                </a:lnTo>
                <a:lnTo>
                  <a:pt x="1079500" y="76200"/>
                </a:lnTo>
                <a:lnTo>
                  <a:pt x="1028700" y="76200"/>
                </a:lnTo>
                <a:lnTo>
                  <a:pt x="1028700" y="63500"/>
                </a:lnTo>
                <a:lnTo>
                  <a:pt x="1121833" y="63500"/>
                </a:lnTo>
                <a:lnTo>
                  <a:pt x="1143000" y="57150"/>
                </a:lnTo>
                <a:lnTo>
                  <a:pt x="1121833" y="50800"/>
                </a:lnTo>
                <a:lnTo>
                  <a:pt x="1028700" y="50800"/>
                </a:lnTo>
                <a:lnTo>
                  <a:pt x="1028700" y="38100"/>
                </a:lnTo>
                <a:lnTo>
                  <a:pt x="1079500" y="38100"/>
                </a:lnTo>
                <a:lnTo>
                  <a:pt x="952500" y="0"/>
                </a:lnTo>
                <a:close/>
              </a:path>
              <a:path w="1143000" h="114300">
                <a:moveTo>
                  <a:pt x="1020233" y="63500"/>
                </a:moveTo>
                <a:lnTo>
                  <a:pt x="0" y="63500"/>
                </a:lnTo>
                <a:lnTo>
                  <a:pt x="0" y="76200"/>
                </a:lnTo>
                <a:lnTo>
                  <a:pt x="1003300" y="76200"/>
                </a:lnTo>
                <a:lnTo>
                  <a:pt x="1020233" y="63500"/>
                </a:lnTo>
                <a:close/>
              </a:path>
              <a:path w="1143000" h="114300">
                <a:moveTo>
                  <a:pt x="1121833" y="63500"/>
                </a:moveTo>
                <a:lnTo>
                  <a:pt x="1028700" y="63500"/>
                </a:lnTo>
                <a:lnTo>
                  <a:pt x="1028700" y="76200"/>
                </a:lnTo>
                <a:lnTo>
                  <a:pt x="1079500" y="76200"/>
                </a:lnTo>
                <a:lnTo>
                  <a:pt x="1121833" y="63500"/>
                </a:lnTo>
                <a:close/>
              </a:path>
              <a:path w="1143000" h="114300">
                <a:moveTo>
                  <a:pt x="1003300" y="38100"/>
                </a:moveTo>
                <a:lnTo>
                  <a:pt x="0" y="38100"/>
                </a:lnTo>
                <a:lnTo>
                  <a:pt x="0" y="50800"/>
                </a:lnTo>
                <a:lnTo>
                  <a:pt x="1020233" y="50800"/>
                </a:lnTo>
                <a:lnTo>
                  <a:pt x="1003300" y="38100"/>
                </a:lnTo>
                <a:close/>
              </a:path>
              <a:path w="1143000" h="114300">
                <a:moveTo>
                  <a:pt x="1079500" y="38100"/>
                </a:moveTo>
                <a:lnTo>
                  <a:pt x="1028700" y="38100"/>
                </a:lnTo>
                <a:lnTo>
                  <a:pt x="1028700" y="50800"/>
                </a:lnTo>
                <a:lnTo>
                  <a:pt x="1121833" y="50800"/>
                </a:lnTo>
                <a:lnTo>
                  <a:pt x="10795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87496" y="4191000"/>
            <a:ext cx="2425065" cy="902335"/>
          </a:xfrm>
          <a:custGeom>
            <a:avLst/>
            <a:gdLst/>
            <a:ahLst/>
            <a:cxnLst/>
            <a:rect l="l" t="t" r="r" b="b"/>
            <a:pathLst>
              <a:path w="2425065" h="902335">
                <a:moveTo>
                  <a:pt x="0" y="902207"/>
                </a:moveTo>
                <a:lnTo>
                  <a:pt x="2424683" y="902207"/>
                </a:lnTo>
                <a:lnTo>
                  <a:pt x="2424683" y="0"/>
                </a:lnTo>
                <a:lnTo>
                  <a:pt x="0" y="0"/>
                </a:lnTo>
                <a:lnTo>
                  <a:pt x="0" y="90220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87496" y="4191000"/>
            <a:ext cx="2425065" cy="902335"/>
          </a:xfrm>
          <a:custGeom>
            <a:avLst/>
            <a:gdLst/>
            <a:ahLst/>
            <a:cxnLst/>
            <a:rect l="l" t="t" r="r" b="b"/>
            <a:pathLst>
              <a:path w="2425065" h="902335">
                <a:moveTo>
                  <a:pt x="0" y="902207"/>
                </a:moveTo>
                <a:lnTo>
                  <a:pt x="2424683" y="902207"/>
                </a:lnTo>
                <a:lnTo>
                  <a:pt x="2424683" y="0"/>
                </a:lnTo>
                <a:lnTo>
                  <a:pt x="0" y="0"/>
                </a:lnTo>
                <a:lnTo>
                  <a:pt x="0" y="90220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70452" y="4345304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编译程序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86094" y="4596384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647700" y="0"/>
                </a:moveTo>
                <a:lnTo>
                  <a:pt x="723900" y="57150"/>
                </a:lnTo>
                <a:lnTo>
                  <a:pt x="647700" y="114300"/>
                </a:lnTo>
                <a:lnTo>
                  <a:pt x="774700" y="76200"/>
                </a:lnTo>
                <a:lnTo>
                  <a:pt x="723900" y="76200"/>
                </a:lnTo>
                <a:lnTo>
                  <a:pt x="723900" y="63500"/>
                </a:lnTo>
                <a:lnTo>
                  <a:pt x="817033" y="63500"/>
                </a:lnTo>
                <a:lnTo>
                  <a:pt x="838200" y="57150"/>
                </a:lnTo>
                <a:lnTo>
                  <a:pt x="817033" y="50800"/>
                </a:lnTo>
                <a:lnTo>
                  <a:pt x="723900" y="50800"/>
                </a:lnTo>
                <a:lnTo>
                  <a:pt x="723900" y="38100"/>
                </a:lnTo>
                <a:lnTo>
                  <a:pt x="774700" y="38100"/>
                </a:lnTo>
                <a:lnTo>
                  <a:pt x="647700" y="0"/>
                </a:lnTo>
                <a:close/>
              </a:path>
              <a:path w="838200" h="114300">
                <a:moveTo>
                  <a:pt x="715433" y="63500"/>
                </a:moveTo>
                <a:lnTo>
                  <a:pt x="0" y="63500"/>
                </a:lnTo>
                <a:lnTo>
                  <a:pt x="0" y="76200"/>
                </a:lnTo>
                <a:lnTo>
                  <a:pt x="698500" y="76200"/>
                </a:lnTo>
                <a:lnTo>
                  <a:pt x="715433" y="63500"/>
                </a:lnTo>
                <a:close/>
              </a:path>
              <a:path w="838200" h="114300">
                <a:moveTo>
                  <a:pt x="817033" y="63500"/>
                </a:moveTo>
                <a:lnTo>
                  <a:pt x="723900" y="63500"/>
                </a:lnTo>
                <a:lnTo>
                  <a:pt x="723900" y="76200"/>
                </a:lnTo>
                <a:lnTo>
                  <a:pt x="774700" y="76200"/>
                </a:lnTo>
                <a:lnTo>
                  <a:pt x="817033" y="63500"/>
                </a:lnTo>
                <a:close/>
              </a:path>
              <a:path w="838200" h="114300">
                <a:moveTo>
                  <a:pt x="698500" y="38100"/>
                </a:moveTo>
                <a:lnTo>
                  <a:pt x="0" y="38100"/>
                </a:lnTo>
                <a:lnTo>
                  <a:pt x="0" y="50800"/>
                </a:lnTo>
                <a:lnTo>
                  <a:pt x="715433" y="50800"/>
                </a:lnTo>
                <a:lnTo>
                  <a:pt x="698500" y="38100"/>
                </a:lnTo>
                <a:close/>
              </a:path>
              <a:path w="838200" h="114300">
                <a:moveTo>
                  <a:pt x="774700" y="38100"/>
                </a:moveTo>
                <a:lnTo>
                  <a:pt x="723900" y="38100"/>
                </a:lnTo>
                <a:lnTo>
                  <a:pt x="723900" y="50800"/>
                </a:lnTo>
                <a:lnTo>
                  <a:pt x="817033" y="50800"/>
                </a:lnTo>
                <a:lnTo>
                  <a:pt x="7747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846569" y="4300819"/>
            <a:ext cx="165925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i="1" spc="-150" dirty="0">
                <a:solidFill>
                  <a:srgbClr val="FFFFFF"/>
                </a:solidFill>
                <a:latin typeface="宋体"/>
                <a:cs typeface="宋体"/>
              </a:rPr>
              <a:t>目标程序</a:t>
            </a:r>
            <a:endParaRPr sz="3350">
              <a:latin typeface="宋体"/>
              <a:cs typeface="宋体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65454" y="5051552"/>
            <a:ext cx="1972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(*.C /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*.PAS)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57518" y="5051552"/>
            <a:ext cx="2490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(*.OBJ /</a:t>
            </a:r>
            <a:r>
              <a:rPr sz="28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*.EXE)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7217" y="427481"/>
            <a:ext cx="8044180" cy="612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065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它把高级语言写的各种程序</a:t>
            </a:r>
            <a:r>
              <a:rPr sz="4000" b="1" dirty="0">
                <a:solidFill>
                  <a:srgbClr val="FFFFFF"/>
                </a:solidFill>
                <a:latin typeface="宋体"/>
                <a:cs typeface="宋体"/>
              </a:rPr>
              <a:t>翻</a:t>
            </a:r>
            <a:r>
              <a:rPr sz="4000" b="1" spc="-20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endParaRPr sz="4000" dirty="0">
              <a:latin typeface="宋体"/>
              <a:cs typeface="宋体"/>
            </a:endParaRPr>
          </a:p>
          <a:p>
            <a:pPr marL="12700" marR="387985" algn="just">
              <a:lnSpc>
                <a:spcPct val="98900"/>
              </a:lnSpc>
              <a:spcBef>
                <a:spcPts val="270"/>
              </a:spcBef>
            </a:pP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成为可以在计算机上执行的程</a:t>
            </a:r>
            <a:r>
              <a:rPr sz="4000" b="1" spc="-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编译程序作为一个语言</a:t>
            </a:r>
            <a:r>
              <a:rPr sz="4000" b="1" spc="-10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翻译</a:t>
            </a: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软</a:t>
            </a:r>
            <a:r>
              <a:rPr sz="4000" b="1" dirty="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sz="4000" b="1" spc="-15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也要在翻译过程中检查源程序</a:t>
            </a:r>
            <a:r>
              <a:rPr sz="4000" b="1" spc="-5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的</a:t>
            </a:r>
            <a:r>
              <a:rPr sz="4000" b="1" spc="-15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语 </a:t>
            </a:r>
            <a:r>
              <a:rPr sz="4000" b="1" spc="-10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法和语义，报告一些出错和警</a:t>
            </a:r>
            <a:r>
              <a:rPr sz="4000" b="1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告</a:t>
            </a:r>
            <a:r>
              <a:rPr sz="4000" b="1" spc="-15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信 息，帮助程序员更正源程序</a:t>
            </a: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4000" dirty="0">
              <a:latin typeface="宋体"/>
              <a:cs typeface="宋体"/>
            </a:endParaRPr>
          </a:p>
          <a:p>
            <a:pPr marL="1028700">
              <a:lnSpc>
                <a:spcPct val="100000"/>
              </a:lnSpc>
            </a:pP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编译程序属于</a:t>
            </a:r>
            <a:r>
              <a:rPr sz="4000" b="1" spc="-10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系统软件</a:t>
            </a: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，居于</a:t>
            </a:r>
            <a:endParaRPr sz="4000" dirty="0">
              <a:latin typeface="宋体"/>
              <a:cs typeface="宋体"/>
            </a:endParaRPr>
          </a:p>
          <a:p>
            <a:pPr marL="12700" marR="387985" algn="just">
              <a:lnSpc>
                <a:spcPct val="97800"/>
              </a:lnSpc>
              <a:spcBef>
                <a:spcPts val="325"/>
              </a:spcBef>
            </a:pP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计算机系统中</a:t>
            </a:r>
            <a:r>
              <a:rPr sz="4000" b="1" spc="-10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最靠近硬件</a:t>
            </a: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的一</a:t>
            </a:r>
            <a:r>
              <a:rPr sz="4000" b="1" dirty="0">
                <a:solidFill>
                  <a:srgbClr val="FFFFFF"/>
                </a:solidFill>
                <a:latin typeface="宋体"/>
                <a:cs typeface="宋体"/>
              </a:rPr>
              <a:t>层</a:t>
            </a: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其它软件一般都通过系统软件</a:t>
            </a:r>
            <a:r>
              <a:rPr sz="4000" b="1" dirty="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挥 </a:t>
            </a: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作用。</a:t>
            </a:r>
            <a:endParaRPr sz="40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64323" y="6650735"/>
            <a:ext cx="346075" cy="207645"/>
          </a:xfrm>
          <a:custGeom>
            <a:avLst/>
            <a:gdLst/>
            <a:ahLst/>
            <a:cxnLst/>
            <a:rect l="l" t="t" r="r" b="b"/>
            <a:pathLst>
              <a:path w="346075" h="207645">
                <a:moveTo>
                  <a:pt x="345948" y="0"/>
                </a:moveTo>
                <a:lnTo>
                  <a:pt x="0" y="0"/>
                </a:lnTo>
                <a:lnTo>
                  <a:pt x="0" y="207263"/>
                </a:lnTo>
                <a:lnTo>
                  <a:pt x="345948" y="207263"/>
                </a:lnTo>
                <a:lnTo>
                  <a:pt x="345948" y="181356"/>
                </a:lnTo>
                <a:lnTo>
                  <a:pt x="153543" y="181354"/>
                </a:lnTo>
                <a:lnTo>
                  <a:pt x="130825" y="176773"/>
                </a:lnTo>
                <a:lnTo>
                  <a:pt x="112299" y="164281"/>
                </a:lnTo>
                <a:lnTo>
                  <a:pt x="99822" y="145752"/>
                </a:lnTo>
                <a:lnTo>
                  <a:pt x="95250" y="123061"/>
                </a:lnTo>
                <a:lnTo>
                  <a:pt x="95250" y="64770"/>
                </a:lnTo>
                <a:lnTo>
                  <a:pt x="172974" y="64770"/>
                </a:lnTo>
                <a:lnTo>
                  <a:pt x="211835" y="25908"/>
                </a:lnTo>
                <a:lnTo>
                  <a:pt x="345948" y="25908"/>
                </a:lnTo>
                <a:lnTo>
                  <a:pt x="345948" y="0"/>
                </a:lnTo>
                <a:close/>
              </a:path>
              <a:path w="346075" h="207645">
                <a:moveTo>
                  <a:pt x="345948" y="25908"/>
                </a:moveTo>
                <a:lnTo>
                  <a:pt x="211835" y="25908"/>
                </a:lnTo>
                <a:lnTo>
                  <a:pt x="250698" y="64770"/>
                </a:lnTo>
                <a:lnTo>
                  <a:pt x="231267" y="64770"/>
                </a:lnTo>
                <a:lnTo>
                  <a:pt x="231267" y="123061"/>
                </a:lnTo>
                <a:lnTo>
                  <a:pt x="226677" y="145752"/>
                </a:lnTo>
                <a:lnTo>
                  <a:pt x="214169" y="164281"/>
                </a:lnTo>
                <a:lnTo>
                  <a:pt x="195637" y="176774"/>
                </a:lnTo>
                <a:lnTo>
                  <a:pt x="172974" y="181356"/>
                </a:lnTo>
                <a:lnTo>
                  <a:pt x="345948" y="181356"/>
                </a:lnTo>
                <a:lnTo>
                  <a:pt x="345948" y="25908"/>
                </a:lnTo>
                <a:close/>
              </a:path>
              <a:path w="346075" h="207645">
                <a:moveTo>
                  <a:pt x="192404" y="64770"/>
                </a:moveTo>
                <a:lnTo>
                  <a:pt x="134111" y="64770"/>
                </a:lnTo>
                <a:lnTo>
                  <a:pt x="134111" y="123061"/>
                </a:lnTo>
                <a:lnTo>
                  <a:pt x="135630" y="130625"/>
                </a:lnTo>
                <a:lnTo>
                  <a:pt x="139779" y="136802"/>
                </a:lnTo>
                <a:lnTo>
                  <a:pt x="145952" y="140967"/>
                </a:lnTo>
                <a:lnTo>
                  <a:pt x="153543" y="142494"/>
                </a:lnTo>
                <a:lnTo>
                  <a:pt x="172974" y="142492"/>
                </a:lnTo>
                <a:lnTo>
                  <a:pt x="180510" y="140965"/>
                </a:lnTo>
                <a:lnTo>
                  <a:pt x="186690" y="136801"/>
                </a:lnTo>
                <a:lnTo>
                  <a:pt x="190869" y="130625"/>
                </a:lnTo>
                <a:lnTo>
                  <a:pt x="192404" y="123061"/>
                </a:lnTo>
                <a:lnTo>
                  <a:pt x="192404" y="6477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59573" y="6676643"/>
            <a:ext cx="155448" cy="1554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1052829"/>
            <a:ext cx="46081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7360" algn="l"/>
              </a:tabLst>
            </a:pPr>
            <a:r>
              <a:rPr sz="3000" spc="-5" dirty="0">
                <a:solidFill>
                  <a:srgbClr val="66FFFF"/>
                </a:solidFill>
                <a:latin typeface="宋体"/>
                <a:cs typeface="宋体"/>
              </a:rPr>
              <a:t>源语言</a:t>
            </a:r>
            <a:r>
              <a:rPr sz="3000" spc="-15" dirty="0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sz="3000" spc="-750" dirty="0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sz="3000" spc="-5" dirty="0">
                <a:solidFill>
                  <a:srgbClr val="66FFFF"/>
                </a:solidFill>
              </a:rPr>
              <a:t>(sou</a:t>
            </a:r>
            <a:r>
              <a:rPr sz="3000" spc="-60" dirty="0">
                <a:solidFill>
                  <a:srgbClr val="66FFFF"/>
                </a:solidFill>
              </a:rPr>
              <a:t>r</a:t>
            </a:r>
            <a:r>
              <a:rPr sz="3000" dirty="0">
                <a:solidFill>
                  <a:srgbClr val="66FFFF"/>
                </a:solidFill>
              </a:rPr>
              <a:t>ce	language)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940" y="1511325"/>
            <a:ext cx="7968615" cy="477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1665">
              <a:lnSpc>
                <a:spcPct val="15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源语言是用来编写源程序的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语言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800" b="1" spc="-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一般是汇编语 言或高级程序设计语言。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3000" b="1" dirty="0">
                <a:solidFill>
                  <a:srgbClr val="FF99FF"/>
                </a:solidFill>
                <a:latin typeface="宋体"/>
                <a:cs typeface="宋体"/>
              </a:rPr>
              <a:t>源程序</a:t>
            </a:r>
            <a:r>
              <a:rPr sz="3000" b="1" spc="-10" dirty="0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sz="3000" b="1" spc="-760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3000" b="1" spc="-10" dirty="0">
                <a:solidFill>
                  <a:srgbClr val="FF99FF"/>
                </a:solidFill>
                <a:latin typeface="Times New Roman"/>
                <a:cs typeface="Times New Roman"/>
              </a:rPr>
              <a:t>(source</a:t>
            </a:r>
            <a:r>
              <a:rPr sz="3000" b="1" dirty="0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99FF"/>
                </a:solidFill>
                <a:latin typeface="Times New Roman"/>
                <a:cs typeface="Times New Roman"/>
              </a:rPr>
              <a:t>program)</a:t>
            </a:r>
            <a:endParaRPr sz="3000" dirty="0">
              <a:latin typeface="Times New Roman"/>
              <a:cs typeface="Times New Roman"/>
            </a:endParaRPr>
          </a:p>
          <a:p>
            <a:pPr marL="634365">
              <a:lnSpc>
                <a:spcPct val="100000"/>
              </a:lnSpc>
              <a:spcBef>
                <a:spcPts val="1689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用源语言写的程序称为源程</a:t>
            </a:r>
            <a:r>
              <a:rPr sz="2800" b="1" spc="10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5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3218815" algn="l"/>
              </a:tabLst>
            </a:pPr>
            <a:r>
              <a:rPr sz="3000" b="1" spc="-5" dirty="0">
                <a:solidFill>
                  <a:srgbClr val="66FFFF"/>
                </a:solidFill>
                <a:latin typeface="宋体"/>
                <a:cs typeface="宋体"/>
              </a:rPr>
              <a:t>目标语言：</a:t>
            </a:r>
            <a:r>
              <a:rPr sz="30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(target	language)</a:t>
            </a:r>
            <a:endParaRPr sz="3000" dirty="0">
              <a:latin typeface="Times New Roman"/>
              <a:cs typeface="Times New Roman"/>
            </a:endParaRPr>
          </a:p>
          <a:p>
            <a:pPr marL="730250">
              <a:lnSpc>
                <a:spcPct val="100000"/>
              </a:lnSpc>
              <a:spcBef>
                <a:spcPts val="176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目标程序的描述语言称为目标语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言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64323" y="6650735"/>
            <a:ext cx="346075" cy="207645"/>
          </a:xfrm>
          <a:custGeom>
            <a:avLst/>
            <a:gdLst/>
            <a:ahLst/>
            <a:cxnLst/>
            <a:rect l="l" t="t" r="r" b="b"/>
            <a:pathLst>
              <a:path w="346075" h="207645">
                <a:moveTo>
                  <a:pt x="345948" y="0"/>
                </a:moveTo>
                <a:lnTo>
                  <a:pt x="0" y="0"/>
                </a:lnTo>
                <a:lnTo>
                  <a:pt x="0" y="207263"/>
                </a:lnTo>
                <a:lnTo>
                  <a:pt x="345948" y="207263"/>
                </a:lnTo>
                <a:lnTo>
                  <a:pt x="345948" y="181356"/>
                </a:lnTo>
                <a:lnTo>
                  <a:pt x="153543" y="181354"/>
                </a:lnTo>
                <a:lnTo>
                  <a:pt x="130825" y="176773"/>
                </a:lnTo>
                <a:lnTo>
                  <a:pt x="112299" y="164281"/>
                </a:lnTo>
                <a:lnTo>
                  <a:pt x="99822" y="145752"/>
                </a:lnTo>
                <a:lnTo>
                  <a:pt x="95250" y="123061"/>
                </a:lnTo>
                <a:lnTo>
                  <a:pt x="95250" y="64770"/>
                </a:lnTo>
                <a:lnTo>
                  <a:pt x="172974" y="64770"/>
                </a:lnTo>
                <a:lnTo>
                  <a:pt x="211835" y="25908"/>
                </a:lnTo>
                <a:lnTo>
                  <a:pt x="345948" y="25908"/>
                </a:lnTo>
                <a:lnTo>
                  <a:pt x="345948" y="0"/>
                </a:lnTo>
                <a:close/>
              </a:path>
              <a:path w="346075" h="207645">
                <a:moveTo>
                  <a:pt x="345948" y="25908"/>
                </a:moveTo>
                <a:lnTo>
                  <a:pt x="211835" y="25908"/>
                </a:lnTo>
                <a:lnTo>
                  <a:pt x="250698" y="64770"/>
                </a:lnTo>
                <a:lnTo>
                  <a:pt x="231267" y="64770"/>
                </a:lnTo>
                <a:lnTo>
                  <a:pt x="231267" y="123061"/>
                </a:lnTo>
                <a:lnTo>
                  <a:pt x="226677" y="145752"/>
                </a:lnTo>
                <a:lnTo>
                  <a:pt x="214169" y="164281"/>
                </a:lnTo>
                <a:lnTo>
                  <a:pt x="195637" y="176774"/>
                </a:lnTo>
                <a:lnTo>
                  <a:pt x="172974" y="181356"/>
                </a:lnTo>
                <a:lnTo>
                  <a:pt x="345948" y="181356"/>
                </a:lnTo>
                <a:lnTo>
                  <a:pt x="345948" y="25908"/>
                </a:lnTo>
                <a:close/>
              </a:path>
              <a:path w="346075" h="207645">
                <a:moveTo>
                  <a:pt x="192404" y="64770"/>
                </a:moveTo>
                <a:lnTo>
                  <a:pt x="134111" y="64770"/>
                </a:lnTo>
                <a:lnTo>
                  <a:pt x="134111" y="123061"/>
                </a:lnTo>
                <a:lnTo>
                  <a:pt x="135630" y="130625"/>
                </a:lnTo>
                <a:lnTo>
                  <a:pt x="139779" y="136802"/>
                </a:lnTo>
                <a:lnTo>
                  <a:pt x="145952" y="140967"/>
                </a:lnTo>
                <a:lnTo>
                  <a:pt x="153543" y="142494"/>
                </a:lnTo>
                <a:lnTo>
                  <a:pt x="172974" y="142492"/>
                </a:lnTo>
                <a:lnTo>
                  <a:pt x="180510" y="140965"/>
                </a:lnTo>
                <a:lnTo>
                  <a:pt x="186690" y="136801"/>
                </a:lnTo>
                <a:lnTo>
                  <a:pt x="190869" y="130625"/>
                </a:lnTo>
                <a:lnTo>
                  <a:pt x="192404" y="123061"/>
                </a:lnTo>
                <a:lnTo>
                  <a:pt x="192404" y="6477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59573" y="6676643"/>
            <a:ext cx="155448" cy="1554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7042" y="1001628"/>
            <a:ext cx="8236584" cy="495871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  <a:tabLst>
                <a:tab pos="3003550" algn="l"/>
              </a:tabLst>
            </a:pPr>
            <a:r>
              <a:rPr sz="2800" b="1" spc="-10" dirty="0">
                <a:solidFill>
                  <a:srgbClr val="66FFFF"/>
                </a:solidFill>
                <a:latin typeface="宋体"/>
                <a:cs typeface="宋体"/>
              </a:rPr>
              <a:t>目标程</a:t>
            </a: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序：</a:t>
            </a:r>
            <a:r>
              <a:rPr sz="2800" b="1" spc="-5" dirty="0">
                <a:solidFill>
                  <a:srgbClr val="66FFFF"/>
                </a:solidFill>
                <a:latin typeface="Times New Roman"/>
                <a:cs typeface="Times New Roman"/>
              </a:rPr>
              <a:t>(target	</a:t>
            </a:r>
            <a:r>
              <a:rPr sz="2800" b="1" spc="-10" dirty="0">
                <a:solidFill>
                  <a:srgbClr val="66FFFF"/>
                </a:solidFill>
                <a:latin typeface="Times New Roman"/>
                <a:cs typeface="Times New Roman"/>
              </a:rPr>
              <a:t>program)</a:t>
            </a:r>
            <a:endParaRPr sz="2800" dirty="0">
              <a:latin typeface="Times New Roman"/>
              <a:cs typeface="Times New Roman"/>
            </a:endParaRPr>
          </a:p>
          <a:p>
            <a:pPr marL="730250">
              <a:lnSpc>
                <a:spcPct val="100000"/>
              </a:lnSpc>
              <a:spcBef>
                <a:spcPts val="168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源程序经过编译后生成的程序称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之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目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标程</a:t>
            </a:r>
            <a:r>
              <a:rPr sz="2800" b="1" spc="25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FF99FF"/>
                </a:solidFill>
                <a:highlight>
                  <a:srgbClr val="000080"/>
                </a:highlight>
                <a:latin typeface="宋体"/>
                <a:cs typeface="宋体"/>
              </a:rPr>
              <a:t>宿主</a:t>
            </a:r>
            <a:r>
              <a:rPr sz="2800" b="1" spc="-5" dirty="0">
                <a:solidFill>
                  <a:srgbClr val="FF99FF"/>
                </a:solidFill>
                <a:latin typeface="宋体"/>
                <a:cs typeface="宋体"/>
              </a:rPr>
              <a:t>语言：</a:t>
            </a:r>
            <a:endParaRPr sz="2800" dirty="0">
              <a:latin typeface="宋体"/>
              <a:cs typeface="宋体"/>
            </a:endParaRPr>
          </a:p>
          <a:p>
            <a:pPr marL="634365">
              <a:lnSpc>
                <a:spcPct val="100000"/>
              </a:lnSpc>
              <a:spcBef>
                <a:spcPts val="1680"/>
              </a:spcBef>
            </a:pPr>
            <a:r>
              <a:rPr sz="2800" b="1" spc="-10" dirty="0">
                <a:solidFill>
                  <a:srgbClr val="FFFFFF"/>
                </a:solidFill>
                <a:highlight>
                  <a:srgbClr val="000080"/>
                </a:highlight>
                <a:latin typeface="宋体"/>
                <a:cs typeface="宋体"/>
              </a:rPr>
              <a:t>编译程序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的实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现语言。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宿主机（目标机）：</a:t>
            </a:r>
            <a:endParaRPr sz="2800" dirty="0">
              <a:latin typeface="宋体"/>
              <a:cs typeface="宋体"/>
            </a:endParaRPr>
          </a:p>
          <a:p>
            <a:pPr marL="634365">
              <a:lnSpc>
                <a:spcPct val="100000"/>
              </a:lnSpc>
              <a:spcBef>
                <a:spcPts val="168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编译程序的运行环境。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85646" y="5837021"/>
            <a:ext cx="3591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用户直接关心的工具。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942" y="5132070"/>
            <a:ext cx="8733790" cy="1156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312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( 2 )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软件学科的重要分支，系统软件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重要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成部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69215">
              <a:lnSpc>
                <a:spcPct val="100000"/>
              </a:lnSpc>
              <a:spcBef>
                <a:spcPts val="219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( 3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942" y="4426965"/>
            <a:ext cx="4809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3125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( 1 )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人、机交互的基本界面；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86911" y="838200"/>
            <a:ext cx="2095500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00983" y="1057402"/>
            <a:ext cx="1466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600"/>
                </a:solidFill>
              </a:rPr>
              <a:t>Compiler</a:t>
            </a:r>
            <a:endParaRPr sz="2800"/>
          </a:p>
        </p:txBody>
      </p:sp>
      <p:sp>
        <p:nvSpPr>
          <p:cNvPr id="8" name="object 8"/>
          <p:cNvSpPr/>
          <p:nvPr/>
        </p:nvSpPr>
        <p:spPr>
          <a:xfrm>
            <a:off x="1143761" y="1373124"/>
            <a:ext cx="2344420" cy="114300"/>
          </a:xfrm>
          <a:custGeom>
            <a:avLst/>
            <a:gdLst/>
            <a:ahLst/>
            <a:cxnLst/>
            <a:rect l="l" t="t" r="r" b="b"/>
            <a:pathLst>
              <a:path w="2344420" h="114300">
                <a:moveTo>
                  <a:pt x="2153412" y="0"/>
                </a:moveTo>
                <a:lnTo>
                  <a:pt x="2153412" y="114300"/>
                </a:lnTo>
                <a:lnTo>
                  <a:pt x="2280412" y="76200"/>
                </a:lnTo>
                <a:lnTo>
                  <a:pt x="2172462" y="76200"/>
                </a:lnTo>
                <a:lnTo>
                  <a:pt x="2172462" y="38100"/>
                </a:lnTo>
                <a:lnTo>
                  <a:pt x="2280412" y="38100"/>
                </a:lnTo>
                <a:lnTo>
                  <a:pt x="2153412" y="0"/>
                </a:lnTo>
                <a:close/>
              </a:path>
              <a:path w="2344420" h="114300">
                <a:moveTo>
                  <a:pt x="21534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153412" y="76200"/>
                </a:lnTo>
                <a:lnTo>
                  <a:pt x="2153412" y="38100"/>
                </a:lnTo>
                <a:close/>
              </a:path>
              <a:path w="2344420" h="114300">
                <a:moveTo>
                  <a:pt x="2280412" y="38100"/>
                </a:moveTo>
                <a:lnTo>
                  <a:pt x="2172462" y="38100"/>
                </a:lnTo>
                <a:lnTo>
                  <a:pt x="2172462" y="76200"/>
                </a:lnTo>
                <a:lnTo>
                  <a:pt x="2280412" y="76200"/>
                </a:lnTo>
                <a:lnTo>
                  <a:pt x="2343912" y="57150"/>
                </a:lnTo>
                <a:lnTo>
                  <a:pt x="2280412" y="3810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83173" y="1353311"/>
            <a:ext cx="2342515" cy="114300"/>
          </a:xfrm>
          <a:custGeom>
            <a:avLst/>
            <a:gdLst/>
            <a:ahLst/>
            <a:cxnLst/>
            <a:rect l="l" t="t" r="r" b="b"/>
            <a:pathLst>
              <a:path w="2342515" h="114300">
                <a:moveTo>
                  <a:pt x="2151887" y="0"/>
                </a:moveTo>
                <a:lnTo>
                  <a:pt x="2151887" y="114300"/>
                </a:lnTo>
                <a:lnTo>
                  <a:pt x="2278887" y="76200"/>
                </a:lnTo>
                <a:lnTo>
                  <a:pt x="2170937" y="76200"/>
                </a:lnTo>
                <a:lnTo>
                  <a:pt x="2170937" y="38100"/>
                </a:lnTo>
                <a:lnTo>
                  <a:pt x="2278887" y="38100"/>
                </a:lnTo>
                <a:lnTo>
                  <a:pt x="2151887" y="0"/>
                </a:lnTo>
                <a:close/>
              </a:path>
              <a:path w="2342515" h="114300">
                <a:moveTo>
                  <a:pt x="21518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151887" y="76200"/>
                </a:lnTo>
                <a:lnTo>
                  <a:pt x="2151887" y="38100"/>
                </a:lnTo>
                <a:close/>
              </a:path>
              <a:path w="2342515" h="114300">
                <a:moveTo>
                  <a:pt x="2278887" y="38100"/>
                </a:moveTo>
                <a:lnTo>
                  <a:pt x="2170937" y="38100"/>
                </a:lnTo>
                <a:lnTo>
                  <a:pt x="2170937" y="76200"/>
                </a:lnTo>
                <a:lnTo>
                  <a:pt x="2278887" y="76200"/>
                </a:lnTo>
                <a:lnTo>
                  <a:pt x="2342387" y="57150"/>
                </a:lnTo>
                <a:lnTo>
                  <a:pt x="2278887" y="3810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19452" y="941578"/>
            <a:ext cx="866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00"/>
                </a:solidFill>
                <a:latin typeface="宋体"/>
                <a:cs typeface="宋体"/>
              </a:rPr>
              <a:t>源程序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42379" y="941578"/>
            <a:ext cx="11487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00"/>
                </a:solidFill>
                <a:latin typeface="宋体"/>
                <a:cs typeface="宋体"/>
              </a:rPr>
              <a:t>目标程序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30348" y="1694052"/>
            <a:ext cx="5017135" cy="699770"/>
          </a:xfrm>
          <a:custGeom>
            <a:avLst/>
            <a:gdLst/>
            <a:ahLst/>
            <a:cxnLst/>
            <a:rect l="l" t="t" r="r" b="b"/>
            <a:pathLst>
              <a:path w="5017134" h="699769">
                <a:moveTo>
                  <a:pt x="3548634" y="618490"/>
                </a:moveTo>
                <a:lnTo>
                  <a:pt x="3298571" y="640080"/>
                </a:lnTo>
                <a:lnTo>
                  <a:pt x="3193796" y="647700"/>
                </a:lnTo>
                <a:lnTo>
                  <a:pt x="3145281" y="650240"/>
                </a:lnTo>
                <a:lnTo>
                  <a:pt x="3098673" y="654050"/>
                </a:lnTo>
                <a:lnTo>
                  <a:pt x="3053841" y="656590"/>
                </a:lnTo>
                <a:lnTo>
                  <a:pt x="2925191" y="660400"/>
                </a:lnTo>
                <a:lnTo>
                  <a:pt x="2840736" y="661670"/>
                </a:lnTo>
                <a:lnTo>
                  <a:pt x="1609978" y="661670"/>
                </a:lnTo>
                <a:lnTo>
                  <a:pt x="1666113" y="662940"/>
                </a:lnTo>
                <a:lnTo>
                  <a:pt x="1720468" y="665480"/>
                </a:lnTo>
                <a:lnTo>
                  <a:pt x="1773047" y="666750"/>
                </a:lnTo>
                <a:lnTo>
                  <a:pt x="1823974" y="669290"/>
                </a:lnTo>
                <a:lnTo>
                  <a:pt x="1873250" y="670560"/>
                </a:lnTo>
                <a:lnTo>
                  <a:pt x="1921002" y="673100"/>
                </a:lnTo>
                <a:lnTo>
                  <a:pt x="2011679" y="675640"/>
                </a:lnTo>
                <a:lnTo>
                  <a:pt x="2176145" y="683260"/>
                </a:lnTo>
                <a:lnTo>
                  <a:pt x="2559430" y="695960"/>
                </a:lnTo>
                <a:lnTo>
                  <a:pt x="2611247" y="698500"/>
                </a:lnTo>
                <a:lnTo>
                  <a:pt x="2660650" y="698500"/>
                </a:lnTo>
                <a:lnTo>
                  <a:pt x="2707766" y="699770"/>
                </a:lnTo>
                <a:lnTo>
                  <a:pt x="2840736" y="699770"/>
                </a:lnTo>
                <a:lnTo>
                  <a:pt x="2925826" y="698500"/>
                </a:lnTo>
                <a:lnTo>
                  <a:pt x="3011551" y="695960"/>
                </a:lnTo>
                <a:lnTo>
                  <a:pt x="3055492" y="693420"/>
                </a:lnTo>
                <a:lnTo>
                  <a:pt x="3100704" y="692150"/>
                </a:lnTo>
                <a:lnTo>
                  <a:pt x="3147567" y="688340"/>
                </a:lnTo>
                <a:lnTo>
                  <a:pt x="3196336" y="685800"/>
                </a:lnTo>
                <a:lnTo>
                  <a:pt x="3301491" y="678180"/>
                </a:lnTo>
                <a:lnTo>
                  <a:pt x="3551936" y="656590"/>
                </a:lnTo>
                <a:lnTo>
                  <a:pt x="3552952" y="656590"/>
                </a:lnTo>
                <a:lnTo>
                  <a:pt x="3698081" y="619760"/>
                </a:lnTo>
                <a:lnTo>
                  <a:pt x="3545586" y="619760"/>
                </a:lnTo>
                <a:lnTo>
                  <a:pt x="3548634" y="618490"/>
                </a:lnTo>
                <a:close/>
              </a:path>
              <a:path w="5017134" h="699769">
                <a:moveTo>
                  <a:pt x="2661412" y="660400"/>
                </a:moveTo>
                <a:lnTo>
                  <a:pt x="1607312" y="660400"/>
                </a:lnTo>
                <a:lnTo>
                  <a:pt x="1608709" y="661670"/>
                </a:lnTo>
                <a:lnTo>
                  <a:pt x="2708529" y="661670"/>
                </a:lnTo>
                <a:lnTo>
                  <a:pt x="2661412" y="660400"/>
                </a:lnTo>
                <a:close/>
              </a:path>
              <a:path w="5017134" h="699769">
                <a:moveTo>
                  <a:pt x="99838" y="60506"/>
                </a:moveTo>
                <a:lnTo>
                  <a:pt x="75468" y="90225"/>
                </a:lnTo>
                <a:lnTo>
                  <a:pt x="88518" y="101600"/>
                </a:lnTo>
                <a:lnTo>
                  <a:pt x="112775" y="123190"/>
                </a:lnTo>
                <a:lnTo>
                  <a:pt x="163575" y="166370"/>
                </a:lnTo>
                <a:lnTo>
                  <a:pt x="217550" y="205740"/>
                </a:lnTo>
                <a:lnTo>
                  <a:pt x="273812" y="240030"/>
                </a:lnTo>
                <a:lnTo>
                  <a:pt x="303149" y="257810"/>
                </a:lnTo>
                <a:lnTo>
                  <a:pt x="363981" y="290830"/>
                </a:lnTo>
                <a:lnTo>
                  <a:pt x="427227" y="321310"/>
                </a:lnTo>
                <a:lnTo>
                  <a:pt x="492759" y="350520"/>
                </a:lnTo>
                <a:lnTo>
                  <a:pt x="628395" y="403860"/>
                </a:lnTo>
                <a:lnTo>
                  <a:pt x="767588" y="449580"/>
                </a:lnTo>
                <a:lnTo>
                  <a:pt x="906780" y="490220"/>
                </a:lnTo>
                <a:lnTo>
                  <a:pt x="1042543" y="523240"/>
                </a:lnTo>
                <a:lnTo>
                  <a:pt x="1108328" y="537210"/>
                </a:lnTo>
                <a:lnTo>
                  <a:pt x="1140459" y="544830"/>
                </a:lnTo>
                <a:lnTo>
                  <a:pt x="1171956" y="549910"/>
                </a:lnTo>
                <a:lnTo>
                  <a:pt x="1202944" y="556260"/>
                </a:lnTo>
                <a:lnTo>
                  <a:pt x="1233042" y="561340"/>
                </a:lnTo>
                <a:lnTo>
                  <a:pt x="1229867" y="561340"/>
                </a:lnTo>
                <a:lnTo>
                  <a:pt x="1252854" y="568960"/>
                </a:lnTo>
                <a:lnTo>
                  <a:pt x="1276477" y="577850"/>
                </a:lnTo>
                <a:lnTo>
                  <a:pt x="1323466" y="591820"/>
                </a:lnTo>
                <a:lnTo>
                  <a:pt x="1370711" y="604520"/>
                </a:lnTo>
                <a:lnTo>
                  <a:pt x="1465326" y="627380"/>
                </a:lnTo>
                <a:lnTo>
                  <a:pt x="1512570" y="637540"/>
                </a:lnTo>
                <a:lnTo>
                  <a:pt x="1606041" y="660400"/>
                </a:lnTo>
                <a:lnTo>
                  <a:pt x="2612263" y="660400"/>
                </a:lnTo>
                <a:lnTo>
                  <a:pt x="2560574" y="657860"/>
                </a:lnTo>
                <a:lnTo>
                  <a:pt x="2448305" y="655320"/>
                </a:lnTo>
                <a:lnTo>
                  <a:pt x="2177541" y="645160"/>
                </a:lnTo>
                <a:lnTo>
                  <a:pt x="2013203" y="637540"/>
                </a:lnTo>
                <a:lnTo>
                  <a:pt x="1922399" y="635000"/>
                </a:lnTo>
                <a:lnTo>
                  <a:pt x="1874647" y="632460"/>
                </a:lnTo>
                <a:lnTo>
                  <a:pt x="1825371" y="631190"/>
                </a:lnTo>
                <a:lnTo>
                  <a:pt x="1774443" y="628650"/>
                </a:lnTo>
                <a:lnTo>
                  <a:pt x="1721865" y="627380"/>
                </a:lnTo>
                <a:lnTo>
                  <a:pt x="1667510" y="624840"/>
                </a:lnTo>
                <a:lnTo>
                  <a:pt x="1611376" y="623570"/>
                </a:lnTo>
                <a:lnTo>
                  <a:pt x="1615313" y="623570"/>
                </a:lnTo>
                <a:lnTo>
                  <a:pt x="1520952" y="600710"/>
                </a:lnTo>
                <a:lnTo>
                  <a:pt x="1474089" y="590550"/>
                </a:lnTo>
                <a:lnTo>
                  <a:pt x="1380616" y="567690"/>
                </a:lnTo>
                <a:lnTo>
                  <a:pt x="1334642" y="554990"/>
                </a:lnTo>
                <a:lnTo>
                  <a:pt x="1288541" y="541020"/>
                </a:lnTo>
                <a:lnTo>
                  <a:pt x="1265936" y="533400"/>
                </a:lnTo>
                <a:lnTo>
                  <a:pt x="1241933" y="524510"/>
                </a:lnTo>
                <a:lnTo>
                  <a:pt x="1239901" y="524510"/>
                </a:lnTo>
                <a:lnTo>
                  <a:pt x="1116457" y="500380"/>
                </a:lnTo>
                <a:lnTo>
                  <a:pt x="1051433" y="486410"/>
                </a:lnTo>
                <a:lnTo>
                  <a:pt x="916939" y="453390"/>
                </a:lnTo>
                <a:lnTo>
                  <a:pt x="848232" y="434340"/>
                </a:lnTo>
                <a:lnTo>
                  <a:pt x="779144" y="414020"/>
                </a:lnTo>
                <a:lnTo>
                  <a:pt x="641857" y="368300"/>
                </a:lnTo>
                <a:lnTo>
                  <a:pt x="574294" y="342900"/>
                </a:lnTo>
                <a:lnTo>
                  <a:pt x="508126" y="314960"/>
                </a:lnTo>
                <a:lnTo>
                  <a:pt x="443738" y="287020"/>
                </a:lnTo>
                <a:lnTo>
                  <a:pt x="381634" y="256540"/>
                </a:lnTo>
                <a:lnTo>
                  <a:pt x="322199" y="224790"/>
                </a:lnTo>
                <a:lnTo>
                  <a:pt x="265938" y="190500"/>
                </a:lnTo>
                <a:lnTo>
                  <a:pt x="239140" y="173990"/>
                </a:lnTo>
                <a:lnTo>
                  <a:pt x="187832" y="137160"/>
                </a:lnTo>
                <a:lnTo>
                  <a:pt x="138302" y="95250"/>
                </a:lnTo>
                <a:lnTo>
                  <a:pt x="113411" y="72390"/>
                </a:lnTo>
                <a:lnTo>
                  <a:pt x="99838" y="60506"/>
                </a:lnTo>
                <a:close/>
              </a:path>
              <a:path w="5017134" h="699769">
                <a:moveTo>
                  <a:pt x="4706238" y="223520"/>
                </a:moveTo>
                <a:lnTo>
                  <a:pt x="4646676" y="223520"/>
                </a:lnTo>
                <a:lnTo>
                  <a:pt x="4639945" y="227330"/>
                </a:lnTo>
                <a:lnTo>
                  <a:pt x="4635754" y="228600"/>
                </a:lnTo>
                <a:lnTo>
                  <a:pt x="4632071" y="229870"/>
                </a:lnTo>
                <a:lnTo>
                  <a:pt x="4627372" y="232410"/>
                </a:lnTo>
                <a:lnTo>
                  <a:pt x="4622037" y="233680"/>
                </a:lnTo>
                <a:lnTo>
                  <a:pt x="4609719" y="238760"/>
                </a:lnTo>
                <a:lnTo>
                  <a:pt x="4595622" y="243840"/>
                </a:lnTo>
                <a:lnTo>
                  <a:pt x="4564126" y="254000"/>
                </a:lnTo>
                <a:lnTo>
                  <a:pt x="4484624" y="283210"/>
                </a:lnTo>
                <a:lnTo>
                  <a:pt x="4471924" y="287020"/>
                </a:lnTo>
                <a:lnTo>
                  <a:pt x="4466209" y="289560"/>
                </a:lnTo>
                <a:lnTo>
                  <a:pt x="4456811" y="293370"/>
                </a:lnTo>
                <a:lnTo>
                  <a:pt x="4453128" y="294640"/>
                </a:lnTo>
                <a:lnTo>
                  <a:pt x="4450334" y="295910"/>
                </a:lnTo>
                <a:lnTo>
                  <a:pt x="4447921" y="295910"/>
                </a:lnTo>
                <a:lnTo>
                  <a:pt x="4445889" y="297180"/>
                </a:lnTo>
                <a:lnTo>
                  <a:pt x="4384040" y="322580"/>
                </a:lnTo>
                <a:lnTo>
                  <a:pt x="4291584" y="364490"/>
                </a:lnTo>
                <a:lnTo>
                  <a:pt x="4261231" y="381000"/>
                </a:lnTo>
                <a:lnTo>
                  <a:pt x="4231640" y="398780"/>
                </a:lnTo>
                <a:lnTo>
                  <a:pt x="4217035" y="408940"/>
                </a:lnTo>
                <a:lnTo>
                  <a:pt x="4203700" y="419100"/>
                </a:lnTo>
                <a:lnTo>
                  <a:pt x="4195064" y="425450"/>
                </a:lnTo>
                <a:lnTo>
                  <a:pt x="4140580" y="449580"/>
                </a:lnTo>
                <a:lnTo>
                  <a:pt x="4088638" y="464820"/>
                </a:lnTo>
                <a:lnTo>
                  <a:pt x="4062729" y="471170"/>
                </a:lnTo>
                <a:lnTo>
                  <a:pt x="4037838" y="478790"/>
                </a:lnTo>
                <a:lnTo>
                  <a:pt x="4025900" y="482600"/>
                </a:lnTo>
                <a:lnTo>
                  <a:pt x="4014851" y="486410"/>
                </a:lnTo>
                <a:lnTo>
                  <a:pt x="3898646" y="524510"/>
                </a:lnTo>
                <a:lnTo>
                  <a:pt x="3840226" y="542290"/>
                </a:lnTo>
                <a:lnTo>
                  <a:pt x="3781679" y="558800"/>
                </a:lnTo>
                <a:lnTo>
                  <a:pt x="3545586" y="619760"/>
                </a:lnTo>
                <a:lnTo>
                  <a:pt x="3698081" y="619760"/>
                </a:lnTo>
                <a:lnTo>
                  <a:pt x="3791585" y="595630"/>
                </a:lnTo>
                <a:lnTo>
                  <a:pt x="3850640" y="577850"/>
                </a:lnTo>
                <a:lnTo>
                  <a:pt x="3909567" y="561340"/>
                </a:lnTo>
                <a:lnTo>
                  <a:pt x="3968368" y="542290"/>
                </a:lnTo>
                <a:lnTo>
                  <a:pt x="4027297" y="521970"/>
                </a:lnTo>
                <a:lnTo>
                  <a:pt x="4037711" y="518160"/>
                </a:lnTo>
                <a:lnTo>
                  <a:pt x="4048760" y="515620"/>
                </a:lnTo>
                <a:lnTo>
                  <a:pt x="4072763" y="508000"/>
                </a:lnTo>
                <a:lnTo>
                  <a:pt x="4098416" y="501650"/>
                </a:lnTo>
                <a:lnTo>
                  <a:pt x="4151884" y="486410"/>
                </a:lnTo>
                <a:lnTo>
                  <a:pt x="4177918" y="476250"/>
                </a:lnTo>
                <a:lnTo>
                  <a:pt x="4190746" y="469900"/>
                </a:lnTo>
                <a:lnTo>
                  <a:pt x="4202811" y="464820"/>
                </a:lnTo>
                <a:lnTo>
                  <a:pt x="4214368" y="457200"/>
                </a:lnTo>
                <a:lnTo>
                  <a:pt x="4225163" y="450850"/>
                </a:lnTo>
                <a:lnTo>
                  <a:pt x="4239514" y="439420"/>
                </a:lnTo>
                <a:lnTo>
                  <a:pt x="4281043" y="414020"/>
                </a:lnTo>
                <a:lnTo>
                  <a:pt x="4368673" y="370840"/>
                </a:lnTo>
                <a:lnTo>
                  <a:pt x="4460113" y="332740"/>
                </a:lnTo>
                <a:lnTo>
                  <a:pt x="4462780" y="331470"/>
                </a:lnTo>
                <a:lnTo>
                  <a:pt x="4465828" y="330200"/>
                </a:lnTo>
                <a:lnTo>
                  <a:pt x="4474209" y="327660"/>
                </a:lnTo>
                <a:lnTo>
                  <a:pt x="4479035" y="325120"/>
                </a:lnTo>
                <a:lnTo>
                  <a:pt x="4484624" y="323850"/>
                </a:lnTo>
                <a:lnTo>
                  <a:pt x="4497324" y="318770"/>
                </a:lnTo>
                <a:lnTo>
                  <a:pt x="4511675" y="313690"/>
                </a:lnTo>
                <a:lnTo>
                  <a:pt x="4527296" y="308610"/>
                </a:lnTo>
                <a:lnTo>
                  <a:pt x="4543552" y="302260"/>
                </a:lnTo>
                <a:lnTo>
                  <a:pt x="4576953" y="290830"/>
                </a:lnTo>
                <a:lnTo>
                  <a:pt x="4593208" y="284480"/>
                </a:lnTo>
                <a:lnTo>
                  <a:pt x="4608576" y="279400"/>
                </a:lnTo>
                <a:lnTo>
                  <a:pt x="4622419" y="274320"/>
                </a:lnTo>
                <a:lnTo>
                  <a:pt x="4634737" y="269240"/>
                </a:lnTo>
                <a:lnTo>
                  <a:pt x="4640072" y="267970"/>
                </a:lnTo>
                <a:lnTo>
                  <a:pt x="4644898" y="266700"/>
                </a:lnTo>
                <a:lnTo>
                  <a:pt x="4649216" y="264160"/>
                </a:lnTo>
                <a:lnTo>
                  <a:pt x="4651883" y="264160"/>
                </a:lnTo>
                <a:lnTo>
                  <a:pt x="4663312" y="257810"/>
                </a:lnTo>
                <a:lnTo>
                  <a:pt x="4664075" y="257810"/>
                </a:lnTo>
                <a:lnTo>
                  <a:pt x="4674234" y="251460"/>
                </a:lnTo>
                <a:lnTo>
                  <a:pt x="4683633" y="243840"/>
                </a:lnTo>
                <a:lnTo>
                  <a:pt x="4692269" y="236220"/>
                </a:lnTo>
                <a:lnTo>
                  <a:pt x="4700143" y="228600"/>
                </a:lnTo>
                <a:lnTo>
                  <a:pt x="4706238" y="223520"/>
                </a:lnTo>
                <a:close/>
              </a:path>
              <a:path w="5017134" h="699769">
                <a:moveTo>
                  <a:pt x="4921889" y="67012"/>
                </a:moveTo>
                <a:lnTo>
                  <a:pt x="4908931" y="78740"/>
                </a:lnTo>
                <a:lnTo>
                  <a:pt x="4893436" y="88900"/>
                </a:lnTo>
                <a:lnTo>
                  <a:pt x="4878324" y="99060"/>
                </a:lnTo>
                <a:lnTo>
                  <a:pt x="4831333" y="121920"/>
                </a:lnTo>
                <a:lnTo>
                  <a:pt x="4795266" y="137160"/>
                </a:lnTo>
                <a:lnTo>
                  <a:pt x="4775200" y="146050"/>
                </a:lnTo>
                <a:lnTo>
                  <a:pt x="4753229" y="154940"/>
                </a:lnTo>
                <a:lnTo>
                  <a:pt x="4729353" y="166370"/>
                </a:lnTo>
                <a:lnTo>
                  <a:pt x="4716653" y="172720"/>
                </a:lnTo>
                <a:lnTo>
                  <a:pt x="4701794" y="180340"/>
                </a:lnTo>
                <a:lnTo>
                  <a:pt x="4691633" y="185420"/>
                </a:lnTo>
                <a:lnTo>
                  <a:pt x="4682362" y="193040"/>
                </a:lnTo>
                <a:lnTo>
                  <a:pt x="4674361" y="200660"/>
                </a:lnTo>
                <a:lnTo>
                  <a:pt x="4666615" y="207010"/>
                </a:lnTo>
                <a:lnTo>
                  <a:pt x="4659630" y="213360"/>
                </a:lnTo>
                <a:lnTo>
                  <a:pt x="4652899" y="219710"/>
                </a:lnTo>
                <a:lnTo>
                  <a:pt x="4644262" y="224790"/>
                </a:lnTo>
                <a:lnTo>
                  <a:pt x="4646676" y="223520"/>
                </a:lnTo>
                <a:lnTo>
                  <a:pt x="4706238" y="223520"/>
                </a:lnTo>
                <a:lnTo>
                  <a:pt x="4707762" y="222250"/>
                </a:lnTo>
                <a:lnTo>
                  <a:pt x="4714875" y="215900"/>
                </a:lnTo>
                <a:lnTo>
                  <a:pt x="4721606" y="212090"/>
                </a:lnTo>
                <a:lnTo>
                  <a:pt x="4733290" y="207010"/>
                </a:lnTo>
                <a:lnTo>
                  <a:pt x="4745735" y="200660"/>
                </a:lnTo>
                <a:lnTo>
                  <a:pt x="4769104" y="190500"/>
                </a:lnTo>
                <a:lnTo>
                  <a:pt x="4790440" y="180340"/>
                </a:lnTo>
                <a:lnTo>
                  <a:pt x="4828540" y="165100"/>
                </a:lnTo>
                <a:lnTo>
                  <a:pt x="4896866" y="132080"/>
                </a:lnTo>
                <a:lnTo>
                  <a:pt x="4930902" y="109220"/>
                </a:lnTo>
                <a:lnTo>
                  <a:pt x="4948729" y="94063"/>
                </a:lnTo>
                <a:lnTo>
                  <a:pt x="4921889" y="67012"/>
                </a:lnTo>
                <a:close/>
              </a:path>
              <a:path w="5017134" h="699769">
                <a:moveTo>
                  <a:pt x="4999299" y="53340"/>
                </a:moveTo>
                <a:lnTo>
                  <a:pt x="4936998" y="53340"/>
                </a:lnTo>
                <a:lnTo>
                  <a:pt x="4962271" y="82550"/>
                </a:lnTo>
                <a:lnTo>
                  <a:pt x="4948729" y="94063"/>
                </a:lnTo>
                <a:lnTo>
                  <a:pt x="4976368" y="121920"/>
                </a:lnTo>
                <a:lnTo>
                  <a:pt x="4999299" y="53340"/>
                </a:lnTo>
                <a:close/>
              </a:path>
              <a:path w="5017134" h="699769">
                <a:moveTo>
                  <a:pt x="0" y="2540"/>
                </a:moveTo>
                <a:lnTo>
                  <a:pt x="51562" y="119380"/>
                </a:lnTo>
                <a:lnTo>
                  <a:pt x="75468" y="90225"/>
                </a:lnTo>
                <a:lnTo>
                  <a:pt x="60832" y="77470"/>
                </a:lnTo>
                <a:lnTo>
                  <a:pt x="85851" y="48260"/>
                </a:lnTo>
                <a:lnTo>
                  <a:pt x="109880" y="48260"/>
                </a:lnTo>
                <a:lnTo>
                  <a:pt x="124459" y="30480"/>
                </a:lnTo>
                <a:lnTo>
                  <a:pt x="0" y="2540"/>
                </a:lnTo>
                <a:close/>
              </a:path>
              <a:path w="5017134" h="699769">
                <a:moveTo>
                  <a:pt x="4936998" y="53340"/>
                </a:moveTo>
                <a:lnTo>
                  <a:pt x="4921889" y="67012"/>
                </a:lnTo>
                <a:lnTo>
                  <a:pt x="4948729" y="94063"/>
                </a:lnTo>
                <a:lnTo>
                  <a:pt x="4962271" y="82550"/>
                </a:lnTo>
                <a:lnTo>
                  <a:pt x="4936998" y="53340"/>
                </a:lnTo>
                <a:close/>
              </a:path>
              <a:path w="5017134" h="699769">
                <a:moveTo>
                  <a:pt x="85851" y="48260"/>
                </a:moveTo>
                <a:lnTo>
                  <a:pt x="60832" y="77470"/>
                </a:lnTo>
                <a:lnTo>
                  <a:pt x="75468" y="90225"/>
                </a:lnTo>
                <a:lnTo>
                  <a:pt x="99838" y="60506"/>
                </a:lnTo>
                <a:lnTo>
                  <a:pt x="85851" y="48260"/>
                </a:lnTo>
                <a:close/>
              </a:path>
              <a:path w="5017134" h="699769">
                <a:moveTo>
                  <a:pt x="5017134" y="0"/>
                </a:moveTo>
                <a:lnTo>
                  <a:pt x="4895723" y="40640"/>
                </a:lnTo>
                <a:lnTo>
                  <a:pt x="4921889" y="67012"/>
                </a:lnTo>
                <a:lnTo>
                  <a:pt x="4936998" y="53340"/>
                </a:lnTo>
                <a:lnTo>
                  <a:pt x="4999299" y="53340"/>
                </a:lnTo>
                <a:lnTo>
                  <a:pt x="5017134" y="0"/>
                </a:lnTo>
                <a:close/>
              </a:path>
              <a:path w="5017134" h="699769">
                <a:moveTo>
                  <a:pt x="109880" y="48260"/>
                </a:moveTo>
                <a:lnTo>
                  <a:pt x="85851" y="48260"/>
                </a:lnTo>
                <a:lnTo>
                  <a:pt x="99838" y="60506"/>
                </a:lnTo>
                <a:lnTo>
                  <a:pt x="109880" y="482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67583" y="2358008"/>
            <a:ext cx="2514600" cy="939800"/>
          </a:xfrm>
          <a:custGeom>
            <a:avLst/>
            <a:gdLst/>
            <a:ahLst/>
            <a:cxnLst/>
            <a:rect l="l" t="t" r="r" b="b"/>
            <a:pathLst>
              <a:path w="2514600" h="939800">
                <a:moveTo>
                  <a:pt x="2355955" y="0"/>
                </a:moveTo>
                <a:lnTo>
                  <a:pt x="2113512" y="262000"/>
                </a:lnTo>
                <a:lnTo>
                  <a:pt x="2172229" y="280118"/>
                </a:lnTo>
                <a:lnTo>
                  <a:pt x="2226333" y="299126"/>
                </a:lnTo>
                <a:lnTo>
                  <a:pt x="2275815" y="318951"/>
                </a:lnTo>
                <a:lnTo>
                  <a:pt x="2320666" y="339520"/>
                </a:lnTo>
                <a:lnTo>
                  <a:pt x="2360879" y="360762"/>
                </a:lnTo>
                <a:lnTo>
                  <a:pt x="2396444" y="382602"/>
                </a:lnTo>
                <a:lnTo>
                  <a:pt x="2427353" y="404968"/>
                </a:lnTo>
                <a:lnTo>
                  <a:pt x="2475171" y="450988"/>
                </a:lnTo>
                <a:lnTo>
                  <a:pt x="2504263" y="498237"/>
                </a:lnTo>
                <a:lnTo>
                  <a:pt x="2514562" y="546132"/>
                </a:lnTo>
                <a:lnTo>
                  <a:pt x="2512643" y="570141"/>
                </a:lnTo>
                <a:lnTo>
                  <a:pt x="2494625" y="617914"/>
                </a:lnTo>
                <a:lnTo>
                  <a:pt x="2457645" y="664877"/>
                </a:lnTo>
                <a:lnTo>
                  <a:pt x="2401634" y="710447"/>
                </a:lnTo>
                <a:lnTo>
                  <a:pt x="2366470" y="732527"/>
                </a:lnTo>
                <a:lnTo>
                  <a:pt x="2326524" y="754040"/>
                </a:lnTo>
                <a:lnTo>
                  <a:pt x="2281786" y="774914"/>
                </a:lnTo>
                <a:lnTo>
                  <a:pt x="2232248" y="795075"/>
                </a:lnTo>
                <a:lnTo>
                  <a:pt x="2177901" y="814451"/>
                </a:lnTo>
                <a:lnTo>
                  <a:pt x="2137755" y="827281"/>
                </a:lnTo>
                <a:lnTo>
                  <a:pt x="2096194" y="839421"/>
                </a:lnTo>
                <a:lnTo>
                  <a:pt x="2053297" y="850869"/>
                </a:lnTo>
                <a:lnTo>
                  <a:pt x="2009141" y="861624"/>
                </a:lnTo>
                <a:lnTo>
                  <a:pt x="1963805" y="871685"/>
                </a:lnTo>
                <a:lnTo>
                  <a:pt x="1917368" y="881051"/>
                </a:lnTo>
                <a:lnTo>
                  <a:pt x="1869909" y="889721"/>
                </a:lnTo>
                <a:lnTo>
                  <a:pt x="1821504" y="897695"/>
                </a:lnTo>
                <a:lnTo>
                  <a:pt x="1772234" y="904972"/>
                </a:lnTo>
                <a:lnTo>
                  <a:pt x="1722175" y="911550"/>
                </a:lnTo>
                <a:lnTo>
                  <a:pt x="1671408" y="917429"/>
                </a:lnTo>
                <a:lnTo>
                  <a:pt x="1620009" y="922607"/>
                </a:lnTo>
                <a:lnTo>
                  <a:pt x="1568058" y="927085"/>
                </a:lnTo>
                <a:lnTo>
                  <a:pt x="1515633" y="930861"/>
                </a:lnTo>
                <a:lnTo>
                  <a:pt x="1462812" y="933934"/>
                </a:lnTo>
                <a:lnTo>
                  <a:pt x="1409674" y="936303"/>
                </a:lnTo>
                <a:lnTo>
                  <a:pt x="1356297" y="937967"/>
                </a:lnTo>
                <a:lnTo>
                  <a:pt x="1302760" y="938926"/>
                </a:lnTo>
                <a:lnTo>
                  <a:pt x="1249141" y="939179"/>
                </a:lnTo>
                <a:lnTo>
                  <a:pt x="1195518" y="938724"/>
                </a:lnTo>
                <a:lnTo>
                  <a:pt x="1141970" y="937561"/>
                </a:lnTo>
                <a:lnTo>
                  <a:pt x="1088575" y="935689"/>
                </a:lnTo>
                <a:lnTo>
                  <a:pt x="1035412" y="933107"/>
                </a:lnTo>
                <a:lnTo>
                  <a:pt x="982558" y="929814"/>
                </a:lnTo>
                <a:lnTo>
                  <a:pt x="930094" y="925809"/>
                </a:lnTo>
                <a:lnTo>
                  <a:pt x="878096" y="921091"/>
                </a:lnTo>
                <a:lnTo>
                  <a:pt x="826643" y="915660"/>
                </a:lnTo>
                <a:lnTo>
                  <a:pt x="775814" y="909514"/>
                </a:lnTo>
                <a:lnTo>
                  <a:pt x="725687" y="902652"/>
                </a:lnTo>
                <a:lnTo>
                  <a:pt x="676341" y="895075"/>
                </a:lnTo>
                <a:lnTo>
                  <a:pt x="627853" y="886780"/>
                </a:lnTo>
                <a:lnTo>
                  <a:pt x="580303" y="877767"/>
                </a:lnTo>
                <a:lnTo>
                  <a:pt x="533769" y="868035"/>
                </a:lnTo>
                <a:lnTo>
                  <a:pt x="488329" y="857583"/>
                </a:lnTo>
                <a:lnTo>
                  <a:pt x="444061" y="846411"/>
                </a:lnTo>
                <a:lnTo>
                  <a:pt x="401044" y="834516"/>
                </a:lnTo>
                <a:lnTo>
                  <a:pt x="342327" y="816399"/>
                </a:lnTo>
                <a:lnTo>
                  <a:pt x="288224" y="797391"/>
                </a:lnTo>
                <a:lnTo>
                  <a:pt x="238742" y="777566"/>
                </a:lnTo>
                <a:lnTo>
                  <a:pt x="193891" y="756997"/>
                </a:lnTo>
                <a:lnTo>
                  <a:pt x="153679" y="735755"/>
                </a:lnTo>
                <a:lnTo>
                  <a:pt x="118114" y="713915"/>
                </a:lnTo>
                <a:lnTo>
                  <a:pt x="87205" y="691549"/>
                </a:lnTo>
                <a:lnTo>
                  <a:pt x="39389" y="645529"/>
                </a:lnTo>
                <a:lnTo>
                  <a:pt x="10298" y="598280"/>
                </a:lnTo>
                <a:lnTo>
                  <a:pt x="0" y="550385"/>
                </a:lnTo>
                <a:lnTo>
                  <a:pt x="1919" y="526376"/>
                </a:lnTo>
                <a:lnTo>
                  <a:pt x="19937" y="478603"/>
                </a:lnTo>
                <a:lnTo>
                  <a:pt x="56917" y="431640"/>
                </a:lnTo>
                <a:lnTo>
                  <a:pt x="112928" y="386070"/>
                </a:lnTo>
                <a:lnTo>
                  <a:pt x="148090" y="363990"/>
                </a:lnTo>
                <a:lnTo>
                  <a:pt x="188036" y="342477"/>
                </a:lnTo>
                <a:lnTo>
                  <a:pt x="232773" y="321603"/>
                </a:lnTo>
                <a:lnTo>
                  <a:pt x="282310" y="301442"/>
                </a:lnTo>
                <a:lnTo>
                  <a:pt x="336655" y="282066"/>
                </a:lnTo>
                <a:lnTo>
                  <a:pt x="376213" y="269419"/>
                </a:lnTo>
                <a:lnTo>
                  <a:pt x="417281" y="257415"/>
                </a:lnTo>
                <a:lnTo>
                  <a:pt x="459781" y="246061"/>
                </a:lnTo>
                <a:lnTo>
                  <a:pt x="503634" y="235363"/>
                </a:lnTo>
                <a:lnTo>
                  <a:pt x="548763" y="225326"/>
                </a:lnTo>
                <a:lnTo>
                  <a:pt x="595089" y="215956"/>
                </a:lnTo>
                <a:lnTo>
                  <a:pt x="642535" y="207258"/>
                </a:lnTo>
                <a:lnTo>
                  <a:pt x="691022" y="199238"/>
                </a:lnTo>
                <a:lnTo>
                  <a:pt x="740473" y="191901"/>
                </a:lnTo>
                <a:lnTo>
                  <a:pt x="790809" y="185254"/>
                </a:lnTo>
                <a:lnTo>
                  <a:pt x="841952" y="179301"/>
                </a:lnTo>
                <a:lnTo>
                  <a:pt x="893825" y="174049"/>
                </a:lnTo>
                <a:lnTo>
                  <a:pt x="946348" y="169503"/>
                </a:lnTo>
                <a:lnTo>
                  <a:pt x="999445" y="165669"/>
                </a:lnTo>
                <a:lnTo>
                  <a:pt x="1053037" y="162551"/>
                </a:lnTo>
                <a:lnTo>
                  <a:pt x="1107046" y="160157"/>
                </a:lnTo>
                <a:lnTo>
                  <a:pt x="1161394" y="158491"/>
                </a:lnTo>
                <a:lnTo>
                  <a:pt x="1216003" y="157559"/>
                </a:lnTo>
                <a:lnTo>
                  <a:pt x="1270795" y="157367"/>
                </a:lnTo>
                <a:lnTo>
                  <a:pt x="1325692" y="157921"/>
                </a:lnTo>
                <a:lnTo>
                  <a:pt x="1380616" y="159225"/>
                </a:lnTo>
                <a:lnTo>
                  <a:pt x="1435488" y="161285"/>
                </a:lnTo>
                <a:lnTo>
                  <a:pt x="1490231" y="164108"/>
                </a:lnTo>
                <a:lnTo>
                  <a:pt x="1544767" y="167699"/>
                </a:lnTo>
                <a:lnTo>
                  <a:pt x="1599018" y="172063"/>
                </a:lnTo>
                <a:lnTo>
                  <a:pt x="1652905" y="177206"/>
                </a:lnTo>
                <a:lnTo>
                  <a:pt x="1706350" y="183133"/>
                </a:lnTo>
                <a:lnTo>
                  <a:pt x="2355955" y="0"/>
                </a:lnTo>
                <a:close/>
              </a:path>
            </a:pathLst>
          </a:custGeom>
          <a:ln w="38100">
            <a:solidFill>
              <a:srgbClr val="99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89861" y="2675635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等价变换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95900" y="3011170"/>
            <a:ext cx="572135" cy="1706880"/>
          </a:xfrm>
          <a:custGeom>
            <a:avLst/>
            <a:gdLst/>
            <a:ahLst/>
            <a:cxnLst/>
            <a:rect l="l" t="t" r="r" b="b"/>
            <a:pathLst>
              <a:path w="572135" h="1706879">
                <a:moveTo>
                  <a:pt x="190500" y="418845"/>
                </a:moveTo>
                <a:lnTo>
                  <a:pt x="0" y="1127252"/>
                </a:lnTo>
                <a:lnTo>
                  <a:pt x="190500" y="1706625"/>
                </a:lnTo>
                <a:lnTo>
                  <a:pt x="190500" y="1384680"/>
                </a:lnTo>
                <a:lnTo>
                  <a:pt x="217866" y="1364050"/>
                </a:lnTo>
                <a:lnTo>
                  <a:pt x="270074" y="1315487"/>
                </a:lnTo>
                <a:lnTo>
                  <a:pt x="318762" y="1257783"/>
                </a:lnTo>
                <a:lnTo>
                  <a:pt x="341728" y="1225726"/>
                </a:lnTo>
                <a:lnTo>
                  <a:pt x="363746" y="1191651"/>
                </a:lnTo>
                <a:lnTo>
                  <a:pt x="384791" y="1155647"/>
                </a:lnTo>
                <a:lnTo>
                  <a:pt x="404842" y="1117803"/>
                </a:lnTo>
                <a:lnTo>
                  <a:pt x="423875" y="1078208"/>
                </a:lnTo>
                <a:lnTo>
                  <a:pt x="441866" y="1036951"/>
                </a:lnTo>
                <a:lnTo>
                  <a:pt x="458794" y="994122"/>
                </a:lnTo>
                <a:lnTo>
                  <a:pt x="474635" y="949809"/>
                </a:lnTo>
                <a:lnTo>
                  <a:pt x="489367" y="904101"/>
                </a:lnTo>
                <a:lnTo>
                  <a:pt x="502966" y="857088"/>
                </a:lnTo>
                <a:lnTo>
                  <a:pt x="515409" y="808858"/>
                </a:lnTo>
                <a:lnTo>
                  <a:pt x="526673" y="759501"/>
                </a:lnTo>
                <a:lnTo>
                  <a:pt x="530409" y="740790"/>
                </a:lnTo>
                <a:lnTo>
                  <a:pt x="190500" y="740790"/>
                </a:lnTo>
                <a:lnTo>
                  <a:pt x="190500" y="418845"/>
                </a:lnTo>
                <a:close/>
              </a:path>
              <a:path w="572135" h="1706879">
                <a:moveTo>
                  <a:pt x="547751" y="0"/>
                </a:moveTo>
                <a:lnTo>
                  <a:pt x="537711" y="60214"/>
                </a:lnTo>
                <a:lnTo>
                  <a:pt x="526047" y="118870"/>
                </a:lnTo>
                <a:lnTo>
                  <a:pt x="512809" y="175862"/>
                </a:lnTo>
                <a:lnTo>
                  <a:pt x="498049" y="231086"/>
                </a:lnTo>
                <a:lnTo>
                  <a:pt x="481816" y="284438"/>
                </a:lnTo>
                <a:lnTo>
                  <a:pt x="464161" y="335815"/>
                </a:lnTo>
                <a:lnTo>
                  <a:pt x="445133" y="385112"/>
                </a:lnTo>
                <a:lnTo>
                  <a:pt x="424785" y="432224"/>
                </a:lnTo>
                <a:lnTo>
                  <a:pt x="403165" y="477049"/>
                </a:lnTo>
                <a:lnTo>
                  <a:pt x="380325" y="519482"/>
                </a:lnTo>
                <a:lnTo>
                  <a:pt x="356314" y="559419"/>
                </a:lnTo>
                <a:lnTo>
                  <a:pt x="331184" y="596755"/>
                </a:lnTo>
                <a:lnTo>
                  <a:pt x="304984" y="631387"/>
                </a:lnTo>
                <a:lnTo>
                  <a:pt x="277766" y="663211"/>
                </a:lnTo>
                <a:lnTo>
                  <a:pt x="249578" y="692122"/>
                </a:lnTo>
                <a:lnTo>
                  <a:pt x="220473" y="718016"/>
                </a:lnTo>
                <a:lnTo>
                  <a:pt x="190500" y="740790"/>
                </a:lnTo>
                <a:lnTo>
                  <a:pt x="530409" y="740790"/>
                </a:lnTo>
                <a:lnTo>
                  <a:pt x="545574" y="657761"/>
                </a:lnTo>
                <a:lnTo>
                  <a:pt x="553164" y="605556"/>
                </a:lnTo>
                <a:lnTo>
                  <a:pt x="559484" y="552580"/>
                </a:lnTo>
                <a:lnTo>
                  <a:pt x="564511" y="498922"/>
                </a:lnTo>
                <a:lnTo>
                  <a:pt x="568221" y="444671"/>
                </a:lnTo>
                <a:lnTo>
                  <a:pt x="570591" y="389915"/>
                </a:lnTo>
                <a:lnTo>
                  <a:pt x="571599" y="334745"/>
                </a:lnTo>
                <a:lnTo>
                  <a:pt x="571222" y="279249"/>
                </a:lnTo>
                <a:lnTo>
                  <a:pt x="569436" y="223517"/>
                </a:lnTo>
                <a:lnTo>
                  <a:pt x="566219" y="167636"/>
                </a:lnTo>
                <a:lnTo>
                  <a:pt x="561548" y="111697"/>
                </a:lnTo>
                <a:lnTo>
                  <a:pt x="555399" y="55789"/>
                </a:lnTo>
                <a:lnTo>
                  <a:pt x="54775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95900" y="1562100"/>
            <a:ext cx="571500" cy="1771650"/>
          </a:xfrm>
          <a:custGeom>
            <a:avLst/>
            <a:gdLst/>
            <a:ahLst/>
            <a:cxnLst/>
            <a:rect l="l" t="t" r="r" b="b"/>
            <a:pathLst>
              <a:path w="571500" h="1771650">
                <a:moveTo>
                  <a:pt x="0" y="0"/>
                </a:moveTo>
                <a:lnTo>
                  <a:pt x="0" y="643889"/>
                </a:lnTo>
                <a:lnTo>
                  <a:pt x="31353" y="645557"/>
                </a:lnTo>
                <a:lnTo>
                  <a:pt x="62264" y="650504"/>
                </a:lnTo>
                <a:lnTo>
                  <a:pt x="122589" y="669890"/>
                </a:lnTo>
                <a:lnTo>
                  <a:pt x="180624" y="701359"/>
                </a:lnTo>
                <a:lnTo>
                  <a:pt x="236021" y="744223"/>
                </a:lnTo>
                <a:lnTo>
                  <a:pt x="288431" y="797795"/>
                </a:lnTo>
                <a:lnTo>
                  <a:pt x="313406" y="828381"/>
                </a:lnTo>
                <a:lnTo>
                  <a:pt x="337505" y="861387"/>
                </a:lnTo>
                <a:lnTo>
                  <a:pt x="360682" y="896725"/>
                </a:lnTo>
                <a:lnTo>
                  <a:pt x="382894" y="934311"/>
                </a:lnTo>
                <a:lnTo>
                  <a:pt x="404098" y="974058"/>
                </a:lnTo>
                <a:lnTo>
                  <a:pt x="424249" y="1015880"/>
                </a:lnTo>
                <a:lnTo>
                  <a:pt x="443306" y="1059691"/>
                </a:lnTo>
                <a:lnTo>
                  <a:pt x="461223" y="1105405"/>
                </a:lnTo>
                <a:lnTo>
                  <a:pt x="477957" y="1152937"/>
                </a:lnTo>
                <a:lnTo>
                  <a:pt x="493465" y="1202200"/>
                </a:lnTo>
                <a:lnTo>
                  <a:pt x="507703" y="1253109"/>
                </a:lnTo>
                <a:lnTo>
                  <a:pt x="520627" y="1305577"/>
                </a:lnTo>
                <a:lnTo>
                  <a:pt x="532194" y="1359518"/>
                </a:lnTo>
                <a:lnTo>
                  <a:pt x="542361" y="1414847"/>
                </a:lnTo>
                <a:lnTo>
                  <a:pt x="551082" y="1471477"/>
                </a:lnTo>
                <a:lnTo>
                  <a:pt x="558316" y="1529323"/>
                </a:lnTo>
                <a:lnTo>
                  <a:pt x="564019" y="1588298"/>
                </a:lnTo>
                <a:lnTo>
                  <a:pt x="568146" y="1648317"/>
                </a:lnTo>
                <a:lnTo>
                  <a:pt x="570654" y="1709293"/>
                </a:lnTo>
                <a:lnTo>
                  <a:pt x="571500" y="1771141"/>
                </a:lnTo>
                <a:lnTo>
                  <a:pt x="571500" y="1127252"/>
                </a:lnTo>
                <a:lnTo>
                  <a:pt x="570654" y="1065403"/>
                </a:lnTo>
                <a:lnTo>
                  <a:pt x="568146" y="1004427"/>
                </a:lnTo>
                <a:lnTo>
                  <a:pt x="564019" y="944408"/>
                </a:lnTo>
                <a:lnTo>
                  <a:pt x="558316" y="885433"/>
                </a:lnTo>
                <a:lnTo>
                  <a:pt x="551082" y="827587"/>
                </a:lnTo>
                <a:lnTo>
                  <a:pt x="542361" y="770957"/>
                </a:lnTo>
                <a:lnTo>
                  <a:pt x="532194" y="715628"/>
                </a:lnTo>
                <a:lnTo>
                  <a:pt x="520627" y="661687"/>
                </a:lnTo>
                <a:lnTo>
                  <a:pt x="507703" y="609219"/>
                </a:lnTo>
                <a:lnTo>
                  <a:pt x="493465" y="558310"/>
                </a:lnTo>
                <a:lnTo>
                  <a:pt x="477957" y="509047"/>
                </a:lnTo>
                <a:lnTo>
                  <a:pt x="461223" y="461515"/>
                </a:lnTo>
                <a:lnTo>
                  <a:pt x="443306" y="415801"/>
                </a:lnTo>
                <a:lnTo>
                  <a:pt x="424249" y="371990"/>
                </a:lnTo>
                <a:lnTo>
                  <a:pt x="404098" y="330168"/>
                </a:lnTo>
                <a:lnTo>
                  <a:pt x="382894" y="290421"/>
                </a:lnTo>
                <a:lnTo>
                  <a:pt x="360682" y="252835"/>
                </a:lnTo>
                <a:lnTo>
                  <a:pt x="337505" y="217497"/>
                </a:lnTo>
                <a:lnTo>
                  <a:pt x="313406" y="184491"/>
                </a:lnTo>
                <a:lnTo>
                  <a:pt x="288431" y="153905"/>
                </a:lnTo>
                <a:lnTo>
                  <a:pt x="262621" y="125823"/>
                </a:lnTo>
                <a:lnTo>
                  <a:pt x="208674" y="77519"/>
                </a:lnTo>
                <a:lnTo>
                  <a:pt x="151914" y="40267"/>
                </a:lnTo>
                <a:lnTo>
                  <a:pt x="92691" y="14754"/>
                </a:lnTo>
                <a:lnTo>
                  <a:pt x="31353" y="1667"/>
                </a:lnTo>
                <a:lnTo>
                  <a:pt x="0" y="0"/>
                </a:lnTo>
                <a:close/>
              </a:path>
            </a:pathLst>
          </a:custGeom>
          <a:solidFill>
            <a:srgbClr val="CD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95900" y="1562100"/>
            <a:ext cx="571500" cy="3155950"/>
          </a:xfrm>
          <a:custGeom>
            <a:avLst/>
            <a:gdLst/>
            <a:ahLst/>
            <a:cxnLst/>
            <a:rect l="l" t="t" r="r" b="b"/>
            <a:pathLst>
              <a:path w="571500" h="3155950">
                <a:moveTo>
                  <a:pt x="571500" y="1771141"/>
                </a:moveTo>
                <a:lnTo>
                  <a:pt x="570654" y="1709293"/>
                </a:lnTo>
                <a:lnTo>
                  <a:pt x="568146" y="1648317"/>
                </a:lnTo>
                <a:lnTo>
                  <a:pt x="564019" y="1588298"/>
                </a:lnTo>
                <a:lnTo>
                  <a:pt x="558316" y="1529323"/>
                </a:lnTo>
                <a:lnTo>
                  <a:pt x="551082" y="1471477"/>
                </a:lnTo>
                <a:lnTo>
                  <a:pt x="542361" y="1414847"/>
                </a:lnTo>
                <a:lnTo>
                  <a:pt x="532194" y="1359518"/>
                </a:lnTo>
                <a:lnTo>
                  <a:pt x="520627" y="1305577"/>
                </a:lnTo>
                <a:lnTo>
                  <a:pt x="507703" y="1253109"/>
                </a:lnTo>
                <a:lnTo>
                  <a:pt x="493465" y="1202200"/>
                </a:lnTo>
                <a:lnTo>
                  <a:pt x="477957" y="1152937"/>
                </a:lnTo>
                <a:lnTo>
                  <a:pt x="461223" y="1105405"/>
                </a:lnTo>
                <a:lnTo>
                  <a:pt x="443306" y="1059691"/>
                </a:lnTo>
                <a:lnTo>
                  <a:pt x="424249" y="1015880"/>
                </a:lnTo>
                <a:lnTo>
                  <a:pt x="404098" y="974058"/>
                </a:lnTo>
                <a:lnTo>
                  <a:pt x="382894" y="934311"/>
                </a:lnTo>
                <a:lnTo>
                  <a:pt x="360682" y="896725"/>
                </a:lnTo>
                <a:lnTo>
                  <a:pt x="337505" y="861387"/>
                </a:lnTo>
                <a:lnTo>
                  <a:pt x="313406" y="828381"/>
                </a:lnTo>
                <a:lnTo>
                  <a:pt x="288431" y="797795"/>
                </a:lnTo>
                <a:lnTo>
                  <a:pt x="262621" y="769713"/>
                </a:lnTo>
                <a:lnTo>
                  <a:pt x="208674" y="721409"/>
                </a:lnTo>
                <a:lnTo>
                  <a:pt x="151914" y="684157"/>
                </a:lnTo>
                <a:lnTo>
                  <a:pt x="92691" y="658644"/>
                </a:lnTo>
                <a:lnTo>
                  <a:pt x="31353" y="645557"/>
                </a:lnTo>
                <a:lnTo>
                  <a:pt x="0" y="643889"/>
                </a:lnTo>
                <a:lnTo>
                  <a:pt x="0" y="0"/>
                </a:lnTo>
                <a:lnTo>
                  <a:pt x="62264" y="6614"/>
                </a:lnTo>
                <a:lnTo>
                  <a:pt x="122589" y="26000"/>
                </a:lnTo>
                <a:lnTo>
                  <a:pt x="180624" y="57469"/>
                </a:lnTo>
                <a:lnTo>
                  <a:pt x="236021" y="100333"/>
                </a:lnTo>
                <a:lnTo>
                  <a:pt x="288431" y="153905"/>
                </a:lnTo>
                <a:lnTo>
                  <a:pt x="313406" y="184491"/>
                </a:lnTo>
                <a:lnTo>
                  <a:pt x="337505" y="217497"/>
                </a:lnTo>
                <a:lnTo>
                  <a:pt x="360682" y="252835"/>
                </a:lnTo>
                <a:lnTo>
                  <a:pt x="382894" y="290421"/>
                </a:lnTo>
                <a:lnTo>
                  <a:pt x="404098" y="330168"/>
                </a:lnTo>
                <a:lnTo>
                  <a:pt x="424249" y="371990"/>
                </a:lnTo>
                <a:lnTo>
                  <a:pt x="443306" y="415801"/>
                </a:lnTo>
                <a:lnTo>
                  <a:pt x="461223" y="461515"/>
                </a:lnTo>
                <a:lnTo>
                  <a:pt x="477957" y="509047"/>
                </a:lnTo>
                <a:lnTo>
                  <a:pt x="493465" y="558310"/>
                </a:lnTo>
                <a:lnTo>
                  <a:pt x="507703" y="609219"/>
                </a:lnTo>
                <a:lnTo>
                  <a:pt x="520627" y="661687"/>
                </a:lnTo>
                <a:lnTo>
                  <a:pt x="532194" y="715628"/>
                </a:lnTo>
                <a:lnTo>
                  <a:pt x="542361" y="770957"/>
                </a:lnTo>
                <a:lnTo>
                  <a:pt x="551082" y="827587"/>
                </a:lnTo>
                <a:lnTo>
                  <a:pt x="558316" y="885433"/>
                </a:lnTo>
                <a:lnTo>
                  <a:pt x="564019" y="944408"/>
                </a:lnTo>
                <a:lnTo>
                  <a:pt x="568146" y="1004427"/>
                </a:lnTo>
                <a:lnTo>
                  <a:pt x="570654" y="1065403"/>
                </a:lnTo>
                <a:lnTo>
                  <a:pt x="571500" y="1127252"/>
                </a:lnTo>
                <a:lnTo>
                  <a:pt x="571500" y="1771141"/>
                </a:lnTo>
                <a:lnTo>
                  <a:pt x="570710" y="1830562"/>
                </a:lnTo>
                <a:lnTo>
                  <a:pt x="568364" y="1889349"/>
                </a:lnTo>
                <a:lnTo>
                  <a:pt x="564494" y="1947411"/>
                </a:lnTo>
                <a:lnTo>
                  <a:pt x="559135" y="2004652"/>
                </a:lnTo>
                <a:lnTo>
                  <a:pt x="552319" y="2060981"/>
                </a:lnTo>
                <a:lnTo>
                  <a:pt x="544079" y="2116304"/>
                </a:lnTo>
                <a:lnTo>
                  <a:pt x="534451" y="2170527"/>
                </a:lnTo>
                <a:lnTo>
                  <a:pt x="523465" y="2223558"/>
                </a:lnTo>
                <a:lnTo>
                  <a:pt x="511157" y="2275303"/>
                </a:lnTo>
                <a:lnTo>
                  <a:pt x="497559" y="2325668"/>
                </a:lnTo>
                <a:lnTo>
                  <a:pt x="482706" y="2374562"/>
                </a:lnTo>
                <a:lnTo>
                  <a:pt x="466629" y="2421890"/>
                </a:lnTo>
                <a:lnTo>
                  <a:pt x="449363" y="2467558"/>
                </a:lnTo>
                <a:lnTo>
                  <a:pt x="430942" y="2511475"/>
                </a:lnTo>
                <a:lnTo>
                  <a:pt x="411398" y="2553546"/>
                </a:lnTo>
                <a:lnTo>
                  <a:pt x="390764" y="2593678"/>
                </a:lnTo>
                <a:lnTo>
                  <a:pt x="369075" y="2631778"/>
                </a:lnTo>
                <a:lnTo>
                  <a:pt x="346364" y="2667754"/>
                </a:lnTo>
                <a:lnTo>
                  <a:pt x="322664" y="2701510"/>
                </a:lnTo>
                <a:lnTo>
                  <a:pt x="298009" y="2732955"/>
                </a:lnTo>
                <a:lnTo>
                  <a:pt x="272431" y="2761995"/>
                </a:lnTo>
                <a:lnTo>
                  <a:pt x="218643" y="2812486"/>
                </a:lnTo>
                <a:lnTo>
                  <a:pt x="190500" y="2833751"/>
                </a:lnTo>
                <a:lnTo>
                  <a:pt x="190500" y="3155696"/>
                </a:lnTo>
                <a:lnTo>
                  <a:pt x="0" y="2576322"/>
                </a:lnTo>
                <a:lnTo>
                  <a:pt x="190500" y="1867915"/>
                </a:lnTo>
                <a:lnTo>
                  <a:pt x="190500" y="2189861"/>
                </a:lnTo>
                <a:lnTo>
                  <a:pt x="220473" y="2167086"/>
                </a:lnTo>
                <a:lnTo>
                  <a:pt x="249578" y="2141192"/>
                </a:lnTo>
                <a:lnTo>
                  <a:pt x="277766" y="2112281"/>
                </a:lnTo>
                <a:lnTo>
                  <a:pt x="304984" y="2080457"/>
                </a:lnTo>
                <a:lnTo>
                  <a:pt x="331184" y="2045825"/>
                </a:lnTo>
                <a:lnTo>
                  <a:pt x="356314" y="2008489"/>
                </a:lnTo>
                <a:lnTo>
                  <a:pt x="380325" y="1968552"/>
                </a:lnTo>
                <a:lnTo>
                  <a:pt x="403165" y="1926119"/>
                </a:lnTo>
                <a:lnTo>
                  <a:pt x="424785" y="1881294"/>
                </a:lnTo>
                <a:lnTo>
                  <a:pt x="445133" y="1834182"/>
                </a:lnTo>
                <a:lnTo>
                  <a:pt x="464161" y="1784885"/>
                </a:lnTo>
                <a:lnTo>
                  <a:pt x="481816" y="1733508"/>
                </a:lnTo>
                <a:lnTo>
                  <a:pt x="498049" y="1680156"/>
                </a:lnTo>
                <a:lnTo>
                  <a:pt x="512809" y="1624932"/>
                </a:lnTo>
                <a:lnTo>
                  <a:pt x="526047" y="1567940"/>
                </a:lnTo>
                <a:lnTo>
                  <a:pt x="537711" y="1509284"/>
                </a:lnTo>
                <a:lnTo>
                  <a:pt x="547751" y="1449070"/>
                </a:lnTo>
              </a:path>
            </a:pathLst>
          </a:custGeom>
          <a:ln w="9525">
            <a:solidFill>
              <a:srgbClr val="99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32119" y="2761615"/>
            <a:ext cx="330200" cy="12954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algn="just">
              <a:lnSpc>
                <a:spcPct val="82400"/>
              </a:lnSpc>
              <a:spcBef>
                <a:spcPts val="605"/>
              </a:spcBef>
            </a:pP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作 用 地 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77000" y="6629400"/>
            <a:ext cx="375285" cy="228600"/>
          </a:xfrm>
          <a:custGeom>
            <a:avLst/>
            <a:gdLst/>
            <a:ahLst/>
            <a:cxnLst/>
            <a:rect l="l" t="t" r="r" b="b"/>
            <a:pathLst>
              <a:path w="375284" h="228600">
                <a:moveTo>
                  <a:pt x="374903" y="0"/>
                </a:moveTo>
                <a:lnTo>
                  <a:pt x="0" y="0"/>
                </a:lnTo>
                <a:lnTo>
                  <a:pt x="0" y="228597"/>
                </a:lnTo>
                <a:lnTo>
                  <a:pt x="87375" y="228597"/>
                </a:lnTo>
                <a:lnTo>
                  <a:pt x="87375" y="33337"/>
                </a:lnTo>
                <a:lnTo>
                  <a:pt x="374903" y="33337"/>
                </a:lnTo>
                <a:lnTo>
                  <a:pt x="374903" y="0"/>
                </a:lnTo>
                <a:close/>
              </a:path>
              <a:path w="375284" h="228600">
                <a:moveTo>
                  <a:pt x="287400" y="33337"/>
                </a:moveTo>
                <a:lnTo>
                  <a:pt x="112395" y="33337"/>
                </a:lnTo>
                <a:lnTo>
                  <a:pt x="112395" y="228597"/>
                </a:lnTo>
                <a:lnTo>
                  <a:pt x="280256" y="228597"/>
                </a:lnTo>
                <a:lnTo>
                  <a:pt x="137414" y="133348"/>
                </a:lnTo>
                <a:lnTo>
                  <a:pt x="287400" y="33337"/>
                </a:lnTo>
                <a:close/>
              </a:path>
              <a:path w="375284" h="228600">
                <a:moveTo>
                  <a:pt x="374903" y="33337"/>
                </a:moveTo>
                <a:lnTo>
                  <a:pt x="287400" y="33337"/>
                </a:lnTo>
                <a:lnTo>
                  <a:pt x="287400" y="228597"/>
                </a:lnTo>
                <a:lnTo>
                  <a:pt x="374903" y="228597"/>
                </a:lnTo>
                <a:lnTo>
                  <a:pt x="374903" y="33337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64376" y="6662737"/>
            <a:ext cx="200025" cy="195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842" y="690448"/>
            <a:ext cx="50260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8369" algn="l"/>
              </a:tabLst>
            </a:pPr>
            <a:r>
              <a:rPr spc="-5" dirty="0">
                <a:solidFill>
                  <a:srgbClr val="FF99FF"/>
                </a:solidFill>
                <a:latin typeface="宋体"/>
                <a:cs typeface="宋体"/>
              </a:rPr>
              <a:t>一</a:t>
            </a:r>
            <a:r>
              <a:rPr dirty="0">
                <a:solidFill>
                  <a:srgbClr val="FF99FF"/>
                </a:solidFill>
              </a:rPr>
              <a:t>.	</a:t>
            </a:r>
            <a:r>
              <a:rPr spc="-5" dirty="0">
                <a:solidFill>
                  <a:srgbClr val="FF99FF"/>
                </a:solidFill>
                <a:latin typeface="宋体"/>
                <a:cs typeface="宋体"/>
              </a:rPr>
              <a:t>编译程序的分类与执行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3652" y="2040127"/>
            <a:ext cx="1452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CC"/>
                </a:solidFill>
                <a:latin typeface="宋体"/>
                <a:cs typeface="宋体"/>
              </a:rPr>
              <a:t>编译程序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78073" y="1506474"/>
            <a:ext cx="208915" cy="1551940"/>
          </a:xfrm>
          <a:custGeom>
            <a:avLst/>
            <a:gdLst/>
            <a:ahLst/>
            <a:cxnLst/>
            <a:rect l="l" t="t" r="r" b="b"/>
            <a:pathLst>
              <a:path w="208914" h="1551939">
                <a:moveTo>
                  <a:pt x="208787" y="1551431"/>
                </a:moveTo>
                <a:lnTo>
                  <a:pt x="168151" y="1541309"/>
                </a:lnTo>
                <a:lnTo>
                  <a:pt x="134969" y="1513697"/>
                </a:lnTo>
                <a:lnTo>
                  <a:pt x="112597" y="1472725"/>
                </a:lnTo>
                <a:lnTo>
                  <a:pt x="104393" y="1422527"/>
                </a:lnTo>
                <a:lnTo>
                  <a:pt x="104393" y="904621"/>
                </a:lnTo>
                <a:lnTo>
                  <a:pt x="96190" y="854422"/>
                </a:lnTo>
                <a:lnTo>
                  <a:pt x="73818" y="813450"/>
                </a:lnTo>
                <a:lnTo>
                  <a:pt x="40636" y="785838"/>
                </a:lnTo>
                <a:lnTo>
                  <a:pt x="0" y="775715"/>
                </a:lnTo>
                <a:lnTo>
                  <a:pt x="40636" y="765593"/>
                </a:lnTo>
                <a:lnTo>
                  <a:pt x="73818" y="737981"/>
                </a:lnTo>
                <a:lnTo>
                  <a:pt x="96190" y="697009"/>
                </a:lnTo>
                <a:lnTo>
                  <a:pt x="104393" y="646811"/>
                </a:lnTo>
                <a:lnTo>
                  <a:pt x="104393" y="128904"/>
                </a:lnTo>
                <a:lnTo>
                  <a:pt x="112597" y="78706"/>
                </a:lnTo>
                <a:lnTo>
                  <a:pt x="134969" y="37734"/>
                </a:lnTo>
                <a:lnTo>
                  <a:pt x="168151" y="10122"/>
                </a:lnTo>
                <a:lnTo>
                  <a:pt x="2087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74897" y="1340358"/>
            <a:ext cx="1453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解释程序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4897" y="1949653"/>
            <a:ext cx="1453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编译程序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442" y="2664713"/>
            <a:ext cx="8689340" cy="4031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FFFF"/>
                </a:solidFill>
                <a:latin typeface="宋体"/>
                <a:cs typeface="宋体"/>
              </a:rPr>
              <a:t>汇编程序</a:t>
            </a:r>
            <a:endParaRPr sz="2800">
              <a:latin typeface="宋体"/>
              <a:cs typeface="宋体"/>
            </a:endParaRPr>
          </a:p>
          <a:p>
            <a:pPr marL="1879600" marR="372745" indent="-1867535">
              <a:lnSpc>
                <a:spcPct val="130000"/>
              </a:lnSpc>
              <a:spcBef>
                <a:spcPts val="1220"/>
              </a:spcBef>
            </a:pPr>
            <a:r>
              <a:rPr sz="2800" b="1" spc="-5" dirty="0">
                <a:solidFill>
                  <a:srgbClr val="FF99FF"/>
                </a:solidFill>
                <a:latin typeface="宋体"/>
                <a:cs typeface="宋体"/>
              </a:rPr>
              <a:t>解释程序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sz="2800" b="1" spc="-775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接受某语言的源程序将其直接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翻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目标 代码且执行。</a:t>
            </a:r>
            <a:endParaRPr sz="2800">
              <a:latin typeface="宋体"/>
              <a:cs typeface="宋体"/>
            </a:endParaRPr>
          </a:p>
          <a:p>
            <a:pPr marL="1955800" marR="296545" indent="-1867535">
              <a:lnSpc>
                <a:spcPct val="130000"/>
              </a:lnSpc>
              <a:spcBef>
                <a:spcPts val="380"/>
              </a:spcBef>
            </a:pPr>
            <a:r>
              <a:rPr sz="2800" b="1" spc="-5" dirty="0">
                <a:solidFill>
                  <a:srgbClr val="FF99FF"/>
                </a:solidFill>
                <a:latin typeface="宋体"/>
                <a:cs typeface="宋体"/>
              </a:rPr>
              <a:t>编译程序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sz="2800" b="1" spc="-775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接受某语言的源程序将其直接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翻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成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等价 的目标代码，然后执行且允许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重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复执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行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98650" marR="5080" indent="-1867535">
              <a:lnSpc>
                <a:spcPct val="130100"/>
              </a:lnSpc>
              <a:spcBef>
                <a:spcPts val="375"/>
              </a:spcBef>
            </a:pPr>
            <a:r>
              <a:rPr sz="2800" b="1" spc="-10" dirty="0">
                <a:solidFill>
                  <a:srgbClr val="FF99FF"/>
                </a:solidFill>
                <a:latin typeface="宋体"/>
                <a:cs typeface="宋体"/>
              </a:rPr>
              <a:t>汇编程序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sz="2800" b="1" spc="-690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B6DDEB"/>
                </a:solidFill>
                <a:latin typeface="宋体"/>
                <a:cs typeface="宋体"/>
              </a:rPr>
              <a:t>接受汇编源程序将其翻译成等</a:t>
            </a:r>
            <a:r>
              <a:rPr sz="2800" b="1" dirty="0">
                <a:solidFill>
                  <a:srgbClr val="B6DDEB"/>
                </a:solidFill>
                <a:latin typeface="宋体"/>
                <a:cs typeface="宋体"/>
              </a:rPr>
              <a:t>价</a:t>
            </a:r>
            <a:r>
              <a:rPr sz="2800" b="1" spc="-10" dirty="0">
                <a:solidFill>
                  <a:srgbClr val="B6DDEB"/>
                </a:solidFill>
                <a:latin typeface="宋体"/>
                <a:cs typeface="宋体"/>
              </a:rPr>
              <a:t>的</a:t>
            </a:r>
            <a:r>
              <a:rPr sz="2800" b="1" dirty="0">
                <a:solidFill>
                  <a:srgbClr val="B6DDEB"/>
                </a:solidFill>
                <a:latin typeface="宋体"/>
                <a:cs typeface="宋体"/>
              </a:rPr>
              <a:t>机</a:t>
            </a:r>
            <a:r>
              <a:rPr sz="2800" b="1" spc="-10" dirty="0">
                <a:solidFill>
                  <a:srgbClr val="B6DDEB"/>
                </a:solidFill>
                <a:latin typeface="宋体"/>
                <a:cs typeface="宋体"/>
              </a:rPr>
              <a:t>器语 </a:t>
            </a:r>
            <a:r>
              <a:rPr sz="2800" b="1" spc="-5" dirty="0">
                <a:solidFill>
                  <a:srgbClr val="B6DDEB"/>
                </a:solidFill>
                <a:latin typeface="宋体"/>
                <a:cs typeface="宋体"/>
              </a:rPr>
              <a:t>言的目标程序，然后执行且允</a:t>
            </a:r>
            <a:r>
              <a:rPr sz="2800" b="1" spc="5" dirty="0">
                <a:solidFill>
                  <a:srgbClr val="B6DDEB"/>
                </a:solidFill>
                <a:latin typeface="宋体"/>
                <a:cs typeface="宋体"/>
              </a:rPr>
              <a:t>许</a:t>
            </a:r>
            <a:r>
              <a:rPr sz="2800" b="1" spc="-5" dirty="0">
                <a:solidFill>
                  <a:srgbClr val="B6DDEB"/>
                </a:solidFill>
                <a:latin typeface="宋体"/>
                <a:cs typeface="宋体"/>
              </a:rPr>
              <a:t>重复</a:t>
            </a:r>
            <a:r>
              <a:rPr sz="2800" b="1" spc="5" dirty="0">
                <a:solidFill>
                  <a:srgbClr val="B6DDEB"/>
                </a:solidFill>
                <a:latin typeface="宋体"/>
                <a:cs typeface="宋体"/>
              </a:rPr>
              <a:t>执</a:t>
            </a:r>
            <a:r>
              <a:rPr sz="2800" b="1" spc="-5" dirty="0">
                <a:solidFill>
                  <a:srgbClr val="B6DDEB"/>
                </a:solidFill>
                <a:latin typeface="宋体"/>
                <a:cs typeface="宋体"/>
              </a:rPr>
              <a:t>行。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29308" y="11378"/>
            <a:ext cx="6941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0620" algn="l"/>
                <a:tab pos="3042285" algn="l"/>
                <a:tab pos="3573145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10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spc="-5" dirty="0">
                <a:solidFill>
                  <a:srgbClr val="A15100"/>
                </a:solidFill>
                <a:latin typeface="Times New Roman"/>
                <a:cs typeface="Times New Roman"/>
              </a:rPr>
              <a:t>1.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程序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设计语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与编译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程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5440" y="749554"/>
            <a:ext cx="1808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解释执行：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440" y="3321507"/>
            <a:ext cx="1808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编译执行：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03438" y="4776342"/>
            <a:ext cx="587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00"/>
                </a:solidFill>
                <a:latin typeface="宋体"/>
                <a:cs typeface="宋体"/>
              </a:rPr>
              <a:t>结果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38300" y="4134611"/>
            <a:ext cx="1811020" cy="1466215"/>
          </a:xfrm>
          <a:custGeom>
            <a:avLst/>
            <a:gdLst/>
            <a:ahLst/>
            <a:cxnLst/>
            <a:rect l="l" t="t" r="r" b="b"/>
            <a:pathLst>
              <a:path w="1811020" h="1466214">
                <a:moveTo>
                  <a:pt x="0" y="1466088"/>
                </a:moveTo>
                <a:lnTo>
                  <a:pt x="1810512" y="1466088"/>
                </a:lnTo>
                <a:lnTo>
                  <a:pt x="1810512" y="0"/>
                </a:lnTo>
                <a:lnTo>
                  <a:pt x="0" y="0"/>
                </a:lnTo>
                <a:lnTo>
                  <a:pt x="0" y="1466088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5000" y="4309871"/>
            <a:ext cx="1213103" cy="6370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05000" y="4454728"/>
            <a:ext cx="12134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Compiler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6976" y="4820665"/>
            <a:ext cx="1285240" cy="114300"/>
          </a:xfrm>
          <a:custGeom>
            <a:avLst/>
            <a:gdLst/>
            <a:ahLst/>
            <a:cxnLst/>
            <a:rect l="l" t="t" r="r" b="b"/>
            <a:pathLst>
              <a:path w="1285239" h="114300">
                <a:moveTo>
                  <a:pt x="1221782" y="38099"/>
                </a:moveTo>
                <a:lnTo>
                  <a:pt x="1113307" y="38099"/>
                </a:lnTo>
                <a:lnTo>
                  <a:pt x="1113307" y="76199"/>
                </a:lnTo>
                <a:lnTo>
                  <a:pt x="1094299" y="76221"/>
                </a:lnTo>
                <a:lnTo>
                  <a:pt x="1094384" y="114299"/>
                </a:lnTo>
                <a:lnTo>
                  <a:pt x="1284757" y="56895"/>
                </a:lnTo>
                <a:lnTo>
                  <a:pt x="1221782" y="38099"/>
                </a:lnTo>
                <a:close/>
              </a:path>
              <a:path w="1285239" h="114300">
                <a:moveTo>
                  <a:pt x="1094215" y="38121"/>
                </a:moveTo>
                <a:lnTo>
                  <a:pt x="0" y="39369"/>
                </a:lnTo>
                <a:lnTo>
                  <a:pt x="50" y="77469"/>
                </a:lnTo>
                <a:lnTo>
                  <a:pt x="1094299" y="76221"/>
                </a:lnTo>
                <a:lnTo>
                  <a:pt x="1094215" y="38121"/>
                </a:lnTo>
                <a:close/>
              </a:path>
              <a:path w="1285239" h="114300">
                <a:moveTo>
                  <a:pt x="1113307" y="38099"/>
                </a:moveTo>
                <a:lnTo>
                  <a:pt x="1094215" y="38121"/>
                </a:lnTo>
                <a:lnTo>
                  <a:pt x="1094299" y="76221"/>
                </a:lnTo>
                <a:lnTo>
                  <a:pt x="1113307" y="76199"/>
                </a:lnTo>
                <a:lnTo>
                  <a:pt x="1113307" y="38099"/>
                </a:lnTo>
                <a:close/>
              </a:path>
              <a:path w="1285239" h="114300">
                <a:moveTo>
                  <a:pt x="1094130" y="0"/>
                </a:moveTo>
                <a:lnTo>
                  <a:pt x="1094215" y="38121"/>
                </a:lnTo>
                <a:lnTo>
                  <a:pt x="1221782" y="38099"/>
                </a:lnTo>
                <a:lnTo>
                  <a:pt x="1094130" y="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49573" y="4895088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381000" y="0"/>
                </a:moveTo>
                <a:lnTo>
                  <a:pt x="381000" y="114300"/>
                </a:lnTo>
                <a:lnTo>
                  <a:pt x="508000" y="76200"/>
                </a:lnTo>
                <a:lnTo>
                  <a:pt x="400050" y="76200"/>
                </a:lnTo>
                <a:lnTo>
                  <a:pt x="400050" y="38100"/>
                </a:lnTo>
                <a:lnTo>
                  <a:pt x="508000" y="38100"/>
                </a:lnTo>
                <a:lnTo>
                  <a:pt x="381000" y="0"/>
                </a:lnTo>
                <a:close/>
              </a:path>
              <a:path w="571500" h="114300">
                <a:moveTo>
                  <a:pt x="381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81000" y="76200"/>
                </a:lnTo>
                <a:lnTo>
                  <a:pt x="381000" y="38100"/>
                </a:lnTo>
                <a:close/>
              </a:path>
              <a:path w="571500" h="114300">
                <a:moveTo>
                  <a:pt x="508000" y="38100"/>
                </a:moveTo>
                <a:lnTo>
                  <a:pt x="400050" y="38100"/>
                </a:lnTo>
                <a:lnTo>
                  <a:pt x="400050" y="76200"/>
                </a:lnTo>
                <a:lnTo>
                  <a:pt x="508000" y="76200"/>
                </a:lnTo>
                <a:lnTo>
                  <a:pt x="571500" y="57150"/>
                </a:lnTo>
                <a:lnTo>
                  <a:pt x="508000" y="3810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7463" y="4409694"/>
            <a:ext cx="866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00"/>
                </a:solidFill>
                <a:latin typeface="宋体"/>
                <a:cs typeface="宋体"/>
              </a:rPr>
              <a:t>源程序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08120" y="4748784"/>
            <a:ext cx="1173480" cy="436245"/>
          </a:xfrm>
          <a:prstGeom prst="rect">
            <a:avLst/>
          </a:prstGeom>
          <a:solidFill>
            <a:srgbClr val="006600">
              <a:alpha val="30195"/>
            </a:srgbClr>
          </a:solidFill>
          <a:ln w="9525">
            <a:solidFill>
              <a:srgbClr val="FFFFF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310"/>
              </a:spcBef>
            </a:pPr>
            <a:r>
              <a:rPr sz="2200" b="1" spc="-5" dirty="0">
                <a:solidFill>
                  <a:srgbClr val="FFFF00"/>
                </a:solidFill>
                <a:latin typeface="宋体"/>
                <a:cs typeface="宋体"/>
              </a:rPr>
              <a:t>目标程序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6854" y="5067046"/>
            <a:ext cx="1072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66"/>
                </a:solidFill>
                <a:latin typeface="Times New Roman"/>
                <a:cs typeface="Times New Roman"/>
              </a:rPr>
              <a:t>computer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15000" y="4148328"/>
            <a:ext cx="1811020" cy="1466215"/>
          </a:xfrm>
          <a:custGeom>
            <a:avLst/>
            <a:gdLst/>
            <a:ahLst/>
            <a:cxnLst/>
            <a:rect l="l" t="t" r="r" b="b"/>
            <a:pathLst>
              <a:path w="1811020" h="1466214">
                <a:moveTo>
                  <a:pt x="0" y="1466088"/>
                </a:moveTo>
                <a:lnTo>
                  <a:pt x="1810511" y="1466088"/>
                </a:lnTo>
                <a:lnTo>
                  <a:pt x="1810511" y="0"/>
                </a:lnTo>
                <a:lnTo>
                  <a:pt x="0" y="0"/>
                </a:lnTo>
                <a:lnTo>
                  <a:pt x="0" y="1466088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81700" y="4325111"/>
            <a:ext cx="1213103" cy="6355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81700" y="4472127"/>
            <a:ext cx="12134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宋体"/>
                <a:cs typeface="宋体"/>
              </a:rPr>
              <a:t>运行程序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26273" y="4908803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381000" y="0"/>
                </a:moveTo>
                <a:lnTo>
                  <a:pt x="381000" y="114300"/>
                </a:lnTo>
                <a:lnTo>
                  <a:pt x="508000" y="76200"/>
                </a:lnTo>
                <a:lnTo>
                  <a:pt x="400050" y="76200"/>
                </a:lnTo>
                <a:lnTo>
                  <a:pt x="400050" y="38100"/>
                </a:lnTo>
                <a:lnTo>
                  <a:pt x="508000" y="38100"/>
                </a:lnTo>
                <a:lnTo>
                  <a:pt x="381000" y="0"/>
                </a:lnTo>
                <a:close/>
              </a:path>
              <a:path w="571500" h="114300">
                <a:moveTo>
                  <a:pt x="381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81000" y="76200"/>
                </a:lnTo>
                <a:lnTo>
                  <a:pt x="381000" y="38100"/>
                </a:lnTo>
                <a:close/>
              </a:path>
              <a:path w="571500" h="114300">
                <a:moveTo>
                  <a:pt x="508000" y="38100"/>
                </a:moveTo>
                <a:lnTo>
                  <a:pt x="400050" y="38100"/>
                </a:lnTo>
                <a:lnTo>
                  <a:pt x="400050" y="76200"/>
                </a:lnTo>
                <a:lnTo>
                  <a:pt x="508000" y="76200"/>
                </a:lnTo>
                <a:lnTo>
                  <a:pt x="571500" y="57150"/>
                </a:lnTo>
                <a:lnTo>
                  <a:pt x="508000" y="3810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84189" y="5081397"/>
            <a:ext cx="1072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66"/>
                </a:solidFill>
                <a:latin typeface="Times New Roman"/>
                <a:cs typeface="Times New Roman"/>
              </a:rPr>
              <a:t>computer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82361" y="4931664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381000" y="0"/>
                </a:moveTo>
                <a:lnTo>
                  <a:pt x="381000" y="114300"/>
                </a:lnTo>
                <a:lnTo>
                  <a:pt x="508000" y="76200"/>
                </a:lnTo>
                <a:lnTo>
                  <a:pt x="400050" y="76200"/>
                </a:lnTo>
                <a:lnTo>
                  <a:pt x="400050" y="38100"/>
                </a:lnTo>
                <a:lnTo>
                  <a:pt x="508000" y="38100"/>
                </a:lnTo>
                <a:lnTo>
                  <a:pt x="381000" y="0"/>
                </a:lnTo>
                <a:close/>
              </a:path>
              <a:path w="571500" h="114300">
                <a:moveTo>
                  <a:pt x="381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81000" y="76200"/>
                </a:lnTo>
                <a:lnTo>
                  <a:pt x="381000" y="38100"/>
                </a:lnTo>
                <a:close/>
              </a:path>
              <a:path w="571500" h="114300">
                <a:moveTo>
                  <a:pt x="508000" y="38100"/>
                </a:moveTo>
                <a:lnTo>
                  <a:pt x="400050" y="38100"/>
                </a:lnTo>
                <a:lnTo>
                  <a:pt x="400050" y="76200"/>
                </a:lnTo>
                <a:lnTo>
                  <a:pt x="508000" y="76200"/>
                </a:lnTo>
                <a:lnTo>
                  <a:pt x="571500" y="57150"/>
                </a:lnTo>
                <a:lnTo>
                  <a:pt x="508000" y="3810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020311" y="4107179"/>
            <a:ext cx="925194" cy="436245"/>
          </a:xfrm>
          <a:prstGeom prst="rect">
            <a:avLst/>
          </a:prstGeom>
          <a:solidFill>
            <a:srgbClr val="006600">
              <a:alpha val="30195"/>
            </a:srgbClr>
          </a:solidFill>
          <a:ln w="9525">
            <a:solidFill>
              <a:srgbClr val="FFFFF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310"/>
              </a:spcBef>
            </a:pPr>
            <a:r>
              <a:rPr sz="2200" b="1" spc="-5" dirty="0">
                <a:solidFill>
                  <a:srgbClr val="FFFF00"/>
                </a:solidFill>
                <a:latin typeface="宋体"/>
                <a:cs typeface="宋体"/>
              </a:rPr>
              <a:t>数据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46141" y="4310634"/>
            <a:ext cx="417830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0" y="0"/>
                </a:moveTo>
                <a:lnTo>
                  <a:pt x="417575" y="0"/>
                </a:lnTo>
              </a:path>
            </a:pathLst>
          </a:custGeom>
          <a:ln w="38100">
            <a:solidFill>
              <a:srgbClr val="FFC3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92852" y="4306061"/>
            <a:ext cx="114300" cy="553720"/>
          </a:xfrm>
          <a:custGeom>
            <a:avLst/>
            <a:gdLst/>
            <a:ahLst/>
            <a:cxnLst/>
            <a:rect l="l" t="t" r="r" b="b"/>
            <a:pathLst>
              <a:path w="114300" h="553720">
                <a:moveTo>
                  <a:pt x="38100" y="438912"/>
                </a:moveTo>
                <a:lnTo>
                  <a:pt x="0" y="438912"/>
                </a:lnTo>
                <a:lnTo>
                  <a:pt x="57150" y="553212"/>
                </a:lnTo>
                <a:lnTo>
                  <a:pt x="104775" y="457962"/>
                </a:lnTo>
                <a:lnTo>
                  <a:pt x="38100" y="457962"/>
                </a:lnTo>
                <a:lnTo>
                  <a:pt x="38100" y="438912"/>
                </a:lnTo>
                <a:close/>
              </a:path>
              <a:path w="114300" h="553720">
                <a:moveTo>
                  <a:pt x="76200" y="0"/>
                </a:moveTo>
                <a:lnTo>
                  <a:pt x="38100" y="0"/>
                </a:lnTo>
                <a:lnTo>
                  <a:pt x="38100" y="457962"/>
                </a:lnTo>
                <a:lnTo>
                  <a:pt x="76200" y="457962"/>
                </a:lnTo>
                <a:lnTo>
                  <a:pt x="76200" y="0"/>
                </a:lnTo>
                <a:close/>
              </a:path>
              <a:path w="114300" h="553720">
                <a:moveTo>
                  <a:pt x="114300" y="438912"/>
                </a:moveTo>
                <a:lnTo>
                  <a:pt x="76200" y="438912"/>
                </a:lnTo>
                <a:lnTo>
                  <a:pt x="76200" y="457962"/>
                </a:lnTo>
                <a:lnTo>
                  <a:pt x="104775" y="457962"/>
                </a:lnTo>
                <a:lnTo>
                  <a:pt x="114300" y="438912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76600" y="1456944"/>
            <a:ext cx="1811020" cy="1468120"/>
          </a:xfrm>
          <a:custGeom>
            <a:avLst/>
            <a:gdLst/>
            <a:ahLst/>
            <a:cxnLst/>
            <a:rect l="l" t="t" r="r" b="b"/>
            <a:pathLst>
              <a:path w="1811020" h="1468120">
                <a:moveTo>
                  <a:pt x="0" y="1467612"/>
                </a:moveTo>
                <a:lnTo>
                  <a:pt x="1810512" y="1467612"/>
                </a:lnTo>
                <a:lnTo>
                  <a:pt x="1810512" y="0"/>
                </a:lnTo>
                <a:lnTo>
                  <a:pt x="0" y="0"/>
                </a:lnTo>
                <a:lnTo>
                  <a:pt x="0" y="146761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43300" y="1633727"/>
            <a:ext cx="1213103" cy="6370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624834" y="1781048"/>
            <a:ext cx="1049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006600"/>
                </a:solidFill>
                <a:latin typeface="宋体"/>
                <a:cs typeface="宋体"/>
              </a:rPr>
              <a:t>解释程序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35301" y="2144522"/>
            <a:ext cx="1285240" cy="114300"/>
          </a:xfrm>
          <a:custGeom>
            <a:avLst/>
            <a:gdLst/>
            <a:ahLst/>
            <a:cxnLst/>
            <a:rect l="l" t="t" r="r" b="b"/>
            <a:pathLst>
              <a:path w="1285239" h="114300">
                <a:moveTo>
                  <a:pt x="1221757" y="38100"/>
                </a:moveTo>
                <a:lnTo>
                  <a:pt x="1113282" y="38100"/>
                </a:lnTo>
                <a:lnTo>
                  <a:pt x="1113282" y="76200"/>
                </a:lnTo>
                <a:lnTo>
                  <a:pt x="1094274" y="76221"/>
                </a:lnTo>
                <a:lnTo>
                  <a:pt x="1094359" y="114300"/>
                </a:lnTo>
                <a:lnTo>
                  <a:pt x="1284732" y="56895"/>
                </a:lnTo>
                <a:lnTo>
                  <a:pt x="1221757" y="38100"/>
                </a:lnTo>
                <a:close/>
              </a:path>
              <a:path w="1285239" h="114300">
                <a:moveTo>
                  <a:pt x="1094189" y="38121"/>
                </a:moveTo>
                <a:lnTo>
                  <a:pt x="0" y="39369"/>
                </a:lnTo>
                <a:lnTo>
                  <a:pt x="0" y="77469"/>
                </a:lnTo>
                <a:lnTo>
                  <a:pt x="1094274" y="76221"/>
                </a:lnTo>
                <a:lnTo>
                  <a:pt x="1094189" y="38121"/>
                </a:lnTo>
                <a:close/>
              </a:path>
              <a:path w="1285239" h="114300">
                <a:moveTo>
                  <a:pt x="1113282" y="38100"/>
                </a:moveTo>
                <a:lnTo>
                  <a:pt x="1094189" y="38121"/>
                </a:lnTo>
                <a:lnTo>
                  <a:pt x="1094274" y="76221"/>
                </a:lnTo>
                <a:lnTo>
                  <a:pt x="1113282" y="76200"/>
                </a:lnTo>
                <a:lnTo>
                  <a:pt x="1113282" y="38100"/>
                </a:lnTo>
                <a:close/>
              </a:path>
              <a:path w="1285239" h="114300">
                <a:moveTo>
                  <a:pt x="1094105" y="0"/>
                </a:moveTo>
                <a:lnTo>
                  <a:pt x="1094189" y="38121"/>
                </a:lnTo>
                <a:lnTo>
                  <a:pt x="1221757" y="38100"/>
                </a:lnTo>
                <a:lnTo>
                  <a:pt x="1094105" y="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87873" y="2218944"/>
            <a:ext cx="571500" cy="114300"/>
          </a:xfrm>
          <a:custGeom>
            <a:avLst/>
            <a:gdLst/>
            <a:ahLst/>
            <a:cxnLst/>
            <a:rect l="l" t="t" r="r" b="b"/>
            <a:pathLst>
              <a:path w="571500" h="114300">
                <a:moveTo>
                  <a:pt x="381000" y="0"/>
                </a:moveTo>
                <a:lnTo>
                  <a:pt x="381000" y="114300"/>
                </a:lnTo>
                <a:lnTo>
                  <a:pt x="508000" y="76200"/>
                </a:lnTo>
                <a:lnTo>
                  <a:pt x="400050" y="76200"/>
                </a:lnTo>
                <a:lnTo>
                  <a:pt x="400050" y="38100"/>
                </a:lnTo>
                <a:lnTo>
                  <a:pt x="508000" y="38100"/>
                </a:lnTo>
                <a:lnTo>
                  <a:pt x="381000" y="0"/>
                </a:lnTo>
                <a:close/>
              </a:path>
              <a:path w="571500" h="114300">
                <a:moveTo>
                  <a:pt x="381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81000" y="76200"/>
                </a:lnTo>
                <a:lnTo>
                  <a:pt x="381000" y="38100"/>
                </a:lnTo>
                <a:close/>
              </a:path>
              <a:path w="571500" h="114300">
                <a:moveTo>
                  <a:pt x="508000" y="38100"/>
                </a:moveTo>
                <a:lnTo>
                  <a:pt x="400050" y="38100"/>
                </a:lnTo>
                <a:lnTo>
                  <a:pt x="400050" y="76200"/>
                </a:lnTo>
                <a:lnTo>
                  <a:pt x="508000" y="76200"/>
                </a:lnTo>
                <a:lnTo>
                  <a:pt x="571500" y="57150"/>
                </a:lnTo>
                <a:lnTo>
                  <a:pt x="508000" y="3810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37917" y="1731975"/>
            <a:ext cx="9448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00"/>
                </a:solidFill>
                <a:latin typeface="宋体"/>
                <a:cs typeface="宋体"/>
              </a:rPr>
              <a:t>源程序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96766" y="2389454"/>
            <a:ext cx="1172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66"/>
                </a:solidFill>
                <a:latin typeface="Times New Roman"/>
                <a:cs typeface="Times New Roman"/>
              </a:rPr>
              <a:t>comput</a:t>
            </a:r>
            <a:r>
              <a:rPr sz="2200" b="1" spc="-15" dirty="0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sz="2200" b="1" spc="-5" dirty="0">
                <a:solidFill>
                  <a:srgbClr val="FFFF66"/>
                </a:solidFill>
                <a:latin typeface="Times New Roman"/>
                <a:cs typeface="Times New Roman"/>
              </a:rPr>
              <a:t>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04052" y="2129409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结果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50797" y="5778246"/>
            <a:ext cx="2970530" cy="363220"/>
          </a:xfrm>
          <a:custGeom>
            <a:avLst/>
            <a:gdLst/>
            <a:ahLst/>
            <a:cxnLst/>
            <a:rect l="l" t="t" r="r" b="b"/>
            <a:pathLst>
              <a:path w="2970529" h="363220">
                <a:moveTo>
                  <a:pt x="2970276" y="0"/>
                </a:moveTo>
                <a:lnTo>
                  <a:pt x="2963727" y="41584"/>
                </a:lnTo>
                <a:lnTo>
                  <a:pt x="2945074" y="79757"/>
                </a:lnTo>
                <a:lnTo>
                  <a:pt x="2915801" y="113430"/>
                </a:lnTo>
                <a:lnTo>
                  <a:pt x="2877396" y="141515"/>
                </a:lnTo>
                <a:lnTo>
                  <a:pt x="2831344" y="162923"/>
                </a:lnTo>
                <a:lnTo>
                  <a:pt x="2779131" y="176566"/>
                </a:lnTo>
                <a:lnTo>
                  <a:pt x="2722244" y="181355"/>
                </a:lnTo>
                <a:lnTo>
                  <a:pt x="1733169" y="181355"/>
                </a:lnTo>
                <a:lnTo>
                  <a:pt x="1676282" y="186145"/>
                </a:lnTo>
                <a:lnTo>
                  <a:pt x="1624069" y="199788"/>
                </a:lnTo>
                <a:lnTo>
                  <a:pt x="1578017" y="221196"/>
                </a:lnTo>
                <a:lnTo>
                  <a:pt x="1539612" y="249281"/>
                </a:lnTo>
                <a:lnTo>
                  <a:pt x="1510339" y="282954"/>
                </a:lnTo>
                <a:lnTo>
                  <a:pt x="1491686" y="321127"/>
                </a:lnTo>
                <a:lnTo>
                  <a:pt x="1485138" y="362711"/>
                </a:lnTo>
                <a:lnTo>
                  <a:pt x="1478589" y="321127"/>
                </a:lnTo>
                <a:lnTo>
                  <a:pt x="1459936" y="282954"/>
                </a:lnTo>
                <a:lnTo>
                  <a:pt x="1430663" y="249281"/>
                </a:lnTo>
                <a:lnTo>
                  <a:pt x="1392258" y="221196"/>
                </a:lnTo>
                <a:lnTo>
                  <a:pt x="1346206" y="199788"/>
                </a:lnTo>
                <a:lnTo>
                  <a:pt x="1293993" y="186145"/>
                </a:lnTo>
                <a:lnTo>
                  <a:pt x="1237107" y="181355"/>
                </a:lnTo>
                <a:lnTo>
                  <a:pt x="248031" y="181355"/>
                </a:lnTo>
                <a:lnTo>
                  <a:pt x="191160" y="176566"/>
                </a:lnTo>
                <a:lnTo>
                  <a:pt x="138953" y="162923"/>
                </a:lnTo>
                <a:lnTo>
                  <a:pt x="92900" y="141515"/>
                </a:lnTo>
                <a:lnTo>
                  <a:pt x="54490" y="113430"/>
                </a:lnTo>
                <a:lnTo>
                  <a:pt x="25210" y="79757"/>
                </a:lnTo>
                <a:lnTo>
                  <a:pt x="6550" y="41584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119629" y="6252768"/>
            <a:ext cx="830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Step</a:t>
            </a:r>
            <a:r>
              <a:rPr sz="2400" b="1" spc="-8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728209" y="5759958"/>
            <a:ext cx="2970530" cy="361315"/>
          </a:xfrm>
          <a:custGeom>
            <a:avLst/>
            <a:gdLst/>
            <a:ahLst/>
            <a:cxnLst/>
            <a:rect l="l" t="t" r="r" b="b"/>
            <a:pathLst>
              <a:path w="2970529" h="361314">
                <a:moveTo>
                  <a:pt x="2970275" y="0"/>
                </a:moveTo>
                <a:lnTo>
                  <a:pt x="2963750" y="41410"/>
                </a:lnTo>
                <a:lnTo>
                  <a:pt x="2945164" y="79423"/>
                </a:lnTo>
                <a:lnTo>
                  <a:pt x="2916001" y="112955"/>
                </a:lnTo>
                <a:lnTo>
                  <a:pt x="2877745" y="140921"/>
                </a:lnTo>
                <a:lnTo>
                  <a:pt x="2831881" y="162239"/>
                </a:lnTo>
                <a:lnTo>
                  <a:pt x="2779891" y="175824"/>
                </a:lnTo>
                <a:lnTo>
                  <a:pt x="2723261" y="180593"/>
                </a:lnTo>
                <a:lnTo>
                  <a:pt x="1732152" y="180593"/>
                </a:lnTo>
                <a:lnTo>
                  <a:pt x="1675522" y="185363"/>
                </a:lnTo>
                <a:lnTo>
                  <a:pt x="1623532" y="198948"/>
                </a:lnTo>
                <a:lnTo>
                  <a:pt x="1577668" y="220266"/>
                </a:lnTo>
                <a:lnTo>
                  <a:pt x="1539412" y="248232"/>
                </a:lnTo>
                <a:lnTo>
                  <a:pt x="1510249" y="281764"/>
                </a:lnTo>
                <a:lnTo>
                  <a:pt x="1491663" y="319777"/>
                </a:lnTo>
                <a:lnTo>
                  <a:pt x="1485138" y="361187"/>
                </a:lnTo>
                <a:lnTo>
                  <a:pt x="1478612" y="319777"/>
                </a:lnTo>
                <a:lnTo>
                  <a:pt x="1460026" y="281764"/>
                </a:lnTo>
                <a:lnTo>
                  <a:pt x="1430863" y="248232"/>
                </a:lnTo>
                <a:lnTo>
                  <a:pt x="1392607" y="220266"/>
                </a:lnTo>
                <a:lnTo>
                  <a:pt x="1346743" y="198948"/>
                </a:lnTo>
                <a:lnTo>
                  <a:pt x="1294753" y="185363"/>
                </a:lnTo>
                <a:lnTo>
                  <a:pt x="1238123" y="180593"/>
                </a:lnTo>
                <a:lnTo>
                  <a:pt x="247014" y="180593"/>
                </a:lnTo>
                <a:lnTo>
                  <a:pt x="190384" y="175824"/>
                </a:lnTo>
                <a:lnTo>
                  <a:pt x="138394" y="162237"/>
                </a:lnTo>
                <a:lnTo>
                  <a:pt x="92530" y="140917"/>
                </a:lnTo>
                <a:lnTo>
                  <a:pt x="54274" y="112949"/>
                </a:lnTo>
                <a:lnTo>
                  <a:pt x="25111" y="79417"/>
                </a:lnTo>
                <a:lnTo>
                  <a:pt x="6525" y="41406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96788" y="6234176"/>
            <a:ext cx="829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Step</a:t>
            </a:r>
            <a:r>
              <a:rPr sz="2400" b="1" spc="-7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27593" y="6621789"/>
            <a:ext cx="73787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89660" y="1456944"/>
            <a:ext cx="1893569" cy="7871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3019" y="1959864"/>
            <a:ext cx="1466850" cy="57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9660" y="3685032"/>
            <a:ext cx="1893569" cy="7871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3019" y="4187952"/>
            <a:ext cx="1466850" cy="571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8650" y="749554"/>
            <a:ext cx="8311515" cy="576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7680" algn="l"/>
              </a:tabLst>
            </a:pPr>
            <a:r>
              <a:rPr sz="2800" spc="-5" dirty="0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sz="2800" spc="-5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编译执行和解释执行的区别：</a:t>
            </a:r>
            <a:endParaRPr sz="2800">
              <a:latin typeface="宋体"/>
              <a:cs typeface="宋体"/>
            </a:endParaRPr>
          </a:p>
          <a:p>
            <a:pPr marL="271780" marR="175260" indent="609600">
              <a:lnSpc>
                <a:spcPct val="150000"/>
              </a:lnSpc>
              <a:spcBef>
                <a:spcPts val="1410"/>
              </a:spcBef>
            </a:pPr>
            <a:r>
              <a:rPr sz="2800" b="1" u="heavy" spc="-5" dirty="0">
                <a:solidFill>
                  <a:srgbClr val="B6DDEB"/>
                </a:solidFill>
                <a:uFill>
                  <a:solidFill>
                    <a:srgbClr val="B6DDEB"/>
                  </a:solidFill>
                </a:uFill>
                <a:latin typeface="宋体"/>
                <a:cs typeface="宋体"/>
              </a:rPr>
              <a:t>编译执行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是由编译程序生成一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与源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程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等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价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的目标程序，它可以完全取代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源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程序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该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目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标程序 可以运行任意次。</a:t>
            </a:r>
            <a:endParaRPr sz="2800">
              <a:latin typeface="宋体"/>
              <a:cs typeface="宋体"/>
            </a:endParaRPr>
          </a:p>
          <a:p>
            <a:pPr marL="271780" marR="281940" indent="609600">
              <a:lnSpc>
                <a:spcPct val="150100"/>
              </a:lnSpc>
              <a:spcBef>
                <a:spcPts val="2430"/>
              </a:spcBef>
            </a:pPr>
            <a:r>
              <a:rPr sz="2800" b="1" u="heavy" spc="-5" dirty="0">
                <a:solidFill>
                  <a:srgbClr val="B6DDEB"/>
                </a:solidFill>
                <a:uFill>
                  <a:solidFill>
                    <a:srgbClr val="B6DDEB"/>
                  </a:solidFill>
                </a:uFill>
                <a:latin typeface="宋体"/>
                <a:cs typeface="宋体"/>
              </a:rPr>
              <a:t>解释执行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不生成目标程序，仅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对源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逐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句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解释逐句执行。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宋体"/>
              <a:cs typeface="宋体"/>
            </a:endParaRPr>
          </a:p>
          <a:p>
            <a:pPr marL="271780" marR="5080" indent="533400">
              <a:lnSpc>
                <a:spcPct val="15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编译执行类似于自然语言的笔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；解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释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执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行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类似 自然语言的口译。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840" y="709930"/>
            <a:ext cx="28848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99FF"/>
                </a:solidFill>
                <a:latin typeface="宋体"/>
                <a:cs typeface="宋体"/>
              </a:rPr>
              <a:t>编译程序的表示</a:t>
            </a:r>
          </a:p>
        </p:txBody>
      </p:sp>
      <p:sp>
        <p:nvSpPr>
          <p:cNvPr id="3" name="object 3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4040" y="1280066"/>
            <a:ext cx="7590790" cy="275399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80"/>
              </a:spcBef>
              <a:tabLst>
                <a:tab pos="7507605" algn="l"/>
              </a:tabLst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）</a:t>
            </a:r>
            <a:r>
              <a:rPr sz="2800" b="1" u="heavy" spc="-74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函数表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示</a:t>
            </a:r>
            <a:r>
              <a:rPr sz="2800" b="1" spc="-4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：	</a:t>
            </a:r>
            <a:endParaRPr sz="2800">
              <a:latin typeface="宋体"/>
              <a:cs typeface="宋体"/>
            </a:endParaRPr>
          </a:p>
          <a:p>
            <a:pPr marL="2031364">
              <a:lnSpc>
                <a:spcPct val="100000"/>
              </a:lnSpc>
              <a:spcBef>
                <a:spcPts val="1180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 =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R="52069" algn="r">
              <a:lnSpc>
                <a:spcPct val="100000"/>
              </a:lnSpc>
              <a:spcBef>
                <a:spcPts val="1839"/>
              </a:spcBef>
              <a:tabLst>
                <a:tab pos="2647315" algn="l"/>
                <a:tab pos="5608320" algn="l"/>
                <a:tab pos="6104255" algn="l"/>
              </a:tabLst>
            </a:pPr>
            <a:r>
              <a:rPr sz="2800" b="1" spc="-21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目标程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C:</a:t>
            </a:r>
            <a:r>
              <a:rPr sz="280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编译程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S: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源程序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sz="2800" b="1" spc="-76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型图表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示</a:t>
            </a:r>
            <a:r>
              <a:rPr sz="2800" b="1" spc="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体现编译程序的三个要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1213" y="4540758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128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1213" y="4540758"/>
            <a:ext cx="0" cy="788035"/>
          </a:xfrm>
          <a:custGeom>
            <a:avLst/>
            <a:gdLst/>
            <a:ahLst/>
            <a:cxnLst/>
            <a:rect l="l" t="t" r="r" b="b"/>
            <a:pathLst>
              <a:path h="788035">
                <a:moveTo>
                  <a:pt x="0" y="0"/>
                </a:moveTo>
                <a:lnTo>
                  <a:pt x="0" y="7879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52494" y="4540758"/>
            <a:ext cx="0" cy="788035"/>
          </a:xfrm>
          <a:custGeom>
            <a:avLst/>
            <a:gdLst/>
            <a:ahLst/>
            <a:cxnLst/>
            <a:rect l="l" t="t" r="r" b="b"/>
            <a:pathLst>
              <a:path h="788035">
                <a:moveTo>
                  <a:pt x="0" y="0"/>
                </a:moveTo>
                <a:lnTo>
                  <a:pt x="0" y="7879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1213" y="5282946"/>
            <a:ext cx="873760" cy="0"/>
          </a:xfrm>
          <a:custGeom>
            <a:avLst/>
            <a:gdLst/>
            <a:ahLst/>
            <a:cxnLst/>
            <a:rect l="l" t="t" r="r" b="b"/>
            <a:pathLst>
              <a:path w="873760">
                <a:moveTo>
                  <a:pt x="0" y="0"/>
                </a:moveTo>
                <a:lnTo>
                  <a:pt x="87325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77717" y="5308853"/>
            <a:ext cx="875030" cy="0"/>
          </a:xfrm>
          <a:custGeom>
            <a:avLst/>
            <a:gdLst/>
            <a:ahLst/>
            <a:cxnLst/>
            <a:rect l="l" t="t" r="r" b="b"/>
            <a:pathLst>
              <a:path w="875029">
                <a:moveTo>
                  <a:pt x="0" y="0"/>
                </a:moveTo>
                <a:lnTo>
                  <a:pt x="874776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04466" y="5282946"/>
            <a:ext cx="0" cy="525780"/>
          </a:xfrm>
          <a:custGeom>
            <a:avLst/>
            <a:gdLst/>
            <a:ahLst/>
            <a:cxnLst/>
            <a:rect l="l" t="t" r="r" b="b"/>
            <a:pathLst>
              <a:path h="525779">
                <a:moveTo>
                  <a:pt x="0" y="0"/>
                </a:moveTo>
                <a:lnTo>
                  <a:pt x="0" y="52577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03626" y="5308853"/>
            <a:ext cx="0" cy="524510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0"/>
                </a:moveTo>
                <a:lnTo>
                  <a:pt x="0" y="52425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04466" y="5813297"/>
            <a:ext cx="873760" cy="0"/>
          </a:xfrm>
          <a:custGeom>
            <a:avLst/>
            <a:gdLst/>
            <a:ahLst/>
            <a:cxnLst/>
            <a:rect l="l" t="t" r="r" b="b"/>
            <a:pathLst>
              <a:path w="873760">
                <a:moveTo>
                  <a:pt x="0" y="0"/>
                </a:moveTo>
                <a:lnTo>
                  <a:pt x="873251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50263" y="4655820"/>
            <a:ext cx="2583180" cy="608330"/>
          </a:xfrm>
          <a:prstGeom prst="rect">
            <a:avLst/>
          </a:prstGeom>
          <a:solidFill>
            <a:srgbClr val="006600">
              <a:alpha val="30195"/>
            </a:srgbClr>
          </a:solidFill>
        </p:spPr>
        <p:txBody>
          <a:bodyPr vert="horz" wrap="square" lIns="0" tIns="33019" rIns="0" bIns="0" rtlCol="0">
            <a:spAutoFit/>
          </a:bodyPr>
          <a:lstStyle/>
          <a:p>
            <a:pPr marL="1041400" marR="39370" indent="-920750">
              <a:lnSpc>
                <a:spcPts val="2570"/>
              </a:lnSpc>
              <a:spcBef>
                <a:spcPts val="259"/>
              </a:spcBef>
              <a:tabLst>
                <a:tab pos="1512570" algn="l"/>
              </a:tabLst>
            </a:pPr>
            <a:r>
              <a:rPr sz="2000" b="1" spc="5" dirty="0">
                <a:solidFill>
                  <a:srgbClr val="FFFFFF"/>
                </a:solidFill>
                <a:latin typeface="宋体"/>
                <a:cs typeface="宋体"/>
              </a:rPr>
              <a:t>源语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		</a:t>
            </a:r>
            <a:r>
              <a:rPr sz="2000" b="1" spc="5" dirty="0">
                <a:solidFill>
                  <a:srgbClr val="AEE1FF"/>
                </a:solidFill>
                <a:latin typeface="宋体"/>
                <a:cs typeface="宋体"/>
              </a:rPr>
              <a:t>目标语言 </a:t>
            </a:r>
            <a:r>
              <a:rPr sz="2000" b="1" spc="5" dirty="0">
                <a:solidFill>
                  <a:srgbClr val="FF3300"/>
                </a:solidFill>
                <a:latin typeface="宋体"/>
                <a:cs typeface="宋体"/>
              </a:rPr>
              <a:t>宿主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9091" y="5374030"/>
            <a:ext cx="537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3300"/>
                </a:solid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61915" y="5269991"/>
            <a:ext cx="1551940" cy="281940"/>
          </a:xfrm>
          <a:custGeom>
            <a:avLst/>
            <a:gdLst/>
            <a:ahLst/>
            <a:cxnLst/>
            <a:rect l="l" t="t" r="r" b="b"/>
            <a:pathLst>
              <a:path w="1551939" h="281939">
                <a:moveTo>
                  <a:pt x="0" y="140970"/>
                </a:moveTo>
                <a:lnTo>
                  <a:pt x="311276" y="0"/>
                </a:lnTo>
                <a:lnTo>
                  <a:pt x="311276" y="70485"/>
                </a:lnTo>
                <a:lnTo>
                  <a:pt x="1240155" y="70485"/>
                </a:lnTo>
                <a:lnTo>
                  <a:pt x="1240155" y="0"/>
                </a:lnTo>
                <a:lnTo>
                  <a:pt x="1551432" y="140970"/>
                </a:lnTo>
                <a:lnTo>
                  <a:pt x="1240155" y="281940"/>
                </a:lnTo>
                <a:lnTo>
                  <a:pt x="1240155" y="211455"/>
                </a:lnTo>
                <a:lnTo>
                  <a:pt x="311276" y="211455"/>
                </a:lnTo>
                <a:lnTo>
                  <a:pt x="311276" y="281940"/>
                </a:lnTo>
                <a:lnTo>
                  <a:pt x="0" y="140970"/>
                </a:lnTo>
                <a:close/>
              </a:path>
            </a:pathLst>
          </a:custGeom>
          <a:ln w="57150">
            <a:solidFill>
              <a:srgbClr val="99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56069" y="5008575"/>
            <a:ext cx="5213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325994" y="5541670"/>
            <a:ext cx="280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3300"/>
                </a:solidFill>
                <a:latin typeface="宋体"/>
                <a:cs typeface="宋体"/>
              </a:rPr>
              <a:t>宿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5533" y="4349241"/>
            <a:ext cx="1988185" cy="96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符号表示</a:t>
            </a:r>
            <a:endParaRPr sz="2800">
              <a:latin typeface="宋体"/>
              <a:cs typeface="宋体"/>
            </a:endParaRPr>
          </a:p>
          <a:p>
            <a:pPr marL="516255">
              <a:lnSpc>
                <a:spcPct val="100000"/>
              </a:lnSpc>
              <a:spcBef>
                <a:spcPts val="1660"/>
              </a:spcBef>
            </a:pP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源</a:t>
            </a:r>
            <a:r>
              <a:rPr sz="2000" b="1" spc="-7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AEE1FF"/>
                </a:solidFill>
                <a:latin typeface="宋体"/>
                <a:cs typeface="宋体"/>
              </a:rPr>
              <a:t>目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065" y="357073"/>
            <a:ext cx="32931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FFFFFF"/>
                </a:solidFill>
                <a:latin typeface="宋体"/>
                <a:cs typeface="宋体"/>
              </a:rPr>
              <a:t>编译器实现的途径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4065" y="846836"/>
            <a:ext cx="7992745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399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：手工构造：用机器语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汇编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言或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级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设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计语言编写。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自动构造工具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yacc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3: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自展方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利用一系列自展途径而形成编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程序的 过程。</a:t>
            </a:r>
            <a:endParaRPr sz="2800">
              <a:latin typeface="宋体"/>
              <a:cs typeface="宋体"/>
            </a:endParaRPr>
          </a:p>
          <a:p>
            <a:pPr marL="12700" marR="69215" indent="711835">
              <a:lnSpc>
                <a:spcPct val="100000"/>
              </a:lnSpc>
              <a:spcBef>
                <a:spcPts val="168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自展方式举例：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语言有二个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属于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用自展方式构造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PC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机上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言的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065" y="4463541"/>
            <a:ext cx="3796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第一步：三个任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065" y="4890261"/>
            <a:ext cx="3745229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机的汇编语言构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C1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编译程序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A;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C1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语言构 造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的编译程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C2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的编译程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20258" y="4383581"/>
            <a:ext cx="2874010" cy="0"/>
          </a:xfrm>
          <a:custGeom>
            <a:avLst/>
            <a:gdLst/>
            <a:ahLst/>
            <a:cxnLst/>
            <a:rect l="l" t="t" r="r" b="b"/>
            <a:pathLst>
              <a:path w="2874009">
                <a:moveTo>
                  <a:pt x="0" y="0"/>
                </a:moveTo>
                <a:lnTo>
                  <a:pt x="2873815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94074" y="4383581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4">
                <a:moveTo>
                  <a:pt x="0" y="0"/>
                </a:moveTo>
                <a:lnTo>
                  <a:pt x="0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01152" y="438358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0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61019" y="4383581"/>
            <a:ext cx="1078230" cy="1075055"/>
          </a:xfrm>
          <a:custGeom>
            <a:avLst/>
            <a:gdLst/>
            <a:ahLst/>
            <a:cxnLst/>
            <a:rect l="l" t="t" r="r" b="b"/>
            <a:pathLst>
              <a:path w="1078229" h="1075054">
                <a:moveTo>
                  <a:pt x="0" y="0"/>
                </a:moveTo>
                <a:lnTo>
                  <a:pt x="0" y="1074513"/>
                </a:lnTo>
                <a:lnTo>
                  <a:pt x="1077643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16368" y="5458094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29">
                <a:moveTo>
                  <a:pt x="107770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38662" y="5458094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4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16368" y="5458094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4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38662" y="6532681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29">
                <a:moveTo>
                  <a:pt x="0" y="0"/>
                </a:moveTo>
                <a:lnTo>
                  <a:pt x="107770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82746" y="4338908"/>
            <a:ext cx="284734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59965" algn="l"/>
              </a:tabLst>
            </a:pPr>
            <a:r>
              <a:rPr sz="4750" spc="15" dirty="0">
                <a:latin typeface="Times New Roman"/>
                <a:cs typeface="Times New Roman"/>
              </a:rPr>
              <a:t>c1	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50279" y="5383587"/>
            <a:ext cx="600075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27701" y="5759297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4065" y="4195953"/>
            <a:ext cx="1808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第二步：用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065" y="4602556"/>
            <a:ext cx="2301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编译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065" y="5029961"/>
            <a:ext cx="188658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得到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的编 译程序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44172" y="422705"/>
            <a:ext cx="2872740" cy="0"/>
          </a:xfrm>
          <a:custGeom>
            <a:avLst/>
            <a:gdLst/>
            <a:ahLst/>
            <a:cxnLst/>
            <a:rect l="l" t="t" r="r" b="b"/>
            <a:pathLst>
              <a:path w="2872740">
                <a:moveTo>
                  <a:pt x="0" y="0"/>
                </a:moveTo>
                <a:lnTo>
                  <a:pt x="2872599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6771" y="422705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5">
                <a:moveTo>
                  <a:pt x="0" y="0"/>
                </a:moveTo>
                <a:lnTo>
                  <a:pt x="0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25243" y="422705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4">
                <a:moveTo>
                  <a:pt x="4488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5084" y="422705"/>
            <a:ext cx="1077595" cy="1075055"/>
          </a:xfrm>
          <a:custGeom>
            <a:avLst/>
            <a:gdLst/>
            <a:ahLst/>
            <a:cxnLst/>
            <a:rect l="l" t="t" r="r" b="b"/>
            <a:pathLst>
              <a:path w="1077595" h="1075055">
                <a:moveTo>
                  <a:pt x="0" y="0"/>
                </a:moveTo>
                <a:lnTo>
                  <a:pt x="0" y="1074513"/>
                </a:lnTo>
                <a:lnTo>
                  <a:pt x="1077186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39521" y="1497218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107725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62271" y="1497218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5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39521" y="1497218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5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62271" y="2571805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0" y="0"/>
                </a:moveTo>
                <a:lnTo>
                  <a:pt x="10772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443459" y="378032"/>
            <a:ext cx="58674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75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475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66156" y="378032"/>
            <a:ext cx="58674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3793" y="1422711"/>
            <a:ext cx="59944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50" spc="10" dirty="0">
                <a:latin typeface="Times New Roman"/>
                <a:cs typeface="Times New Roman"/>
              </a:rPr>
              <a:t>c</a:t>
            </a:r>
            <a:r>
              <a:rPr sz="4750" spc="15" dirty="0">
                <a:latin typeface="Times New Roman"/>
                <a:cs typeface="Times New Roman"/>
              </a:rPr>
              <a:t>1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4917" y="1940432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75479" y="494333"/>
            <a:ext cx="2874010" cy="0"/>
          </a:xfrm>
          <a:custGeom>
            <a:avLst/>
            <a:gdLst/>
            <a:ahLst/>
            <a:cxnLst/>
            <a:rect l="l" t="t" r="r" b="b"/>
            <a:pathLst>
              <a:path w="2874009">
                <a:moveTo>
                  <a:pt x="0" y="0"/>
                </a:moveTo>
                <a:lnTo>
                  <a:pt x="2873815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49295" y="494333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5">
                <a:moveTo>
                  <a:pt x="0" y="0"/>
                </a:moveTo>
                <a:lnTo>
                  <a:pt x="0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56372" y="494333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0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16239" y="494333"/>
            <a:ext cx="1078230" cy="1075055"/>
          </a:xfrm>
          <a:custGeom>
            <a:avLst/>
            <a:gdLst/>
            <a:ahLst/>
            <a:cxnLst/>
            <a:rect l="l" t="t" r="r" b="b"/>
            <a:pathLst>
              <a:path w="1078229" h="1075055">
                <a:moveTo>
                  <a:pt x="0" y="0"/>
                </a:moveTo>
                <a:lnTo>
                  <a:pt x="0" y="1074513"/>
                </a:lnTo>
                <a:lnTo>
                  <a:pt x="1077642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71589" y="1568846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29">
                <a:moveTo>
                  <a:pt x="107770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93882" y="1568846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5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71589" y="1568846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5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93882" y="2643433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29">
                <a:moveTo>
                  <a:pt x="0" y="0"/>
                </a:moveTo>
                <a:lnTo>
                  <a:pt x="107770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26714" y="449660"/>
            <a:ext cx="28321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750" spc="15" dirty="0">
                <a:latin typeface="Times New Roman"/>
                <a:cs typeface="Times New Roman"/>
              </a:rPr>
              <a:t>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98319" y="449660"/>
            <a:ext cx="587375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95403" y="1874520"/>
            <a:ext cx="1075055" cy="767715"/>
          </a:xfrm>
          <a:prstGeom prst="rect">
            <a:avLst/>
          </a:prstGeom>
          <a:solidFill>
            <a:srgbClr val="006600">
              <a:alpha val="3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22250">
              <a:lnSpc>
                <a:spcPts val="2830"/>
              </a:lnSpc>
            </a:pPr>
            <a:r>
              <a:rPr sz="4750" spc="15" dirty="0">
                <a:latin typeface="Times New Roman"/>
                <a:cs typeface="Times New Roman"/>
              </a:rPr>
              <a:t>c2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15102" y="2013585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44172" y="2798603"/>
            <a:ext cx="2872740" cy="0"/>
          </a:xfrm>
          <a:custGeom>
            <a:avLst/>
            <a:gdLst/>
            <a:ahLst/>
            <a:cxnLst/>
            <a:rect l="l" t="t" r="r" b="b"/>
            <a:pathLst>
              <a:path w="2872740">
                <a:moveTo>
                  <a:pt x="0" y="0"/>
                </a:moveTo>
                <a:lnTo>
                  <a:pt x="2872599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616771" y="2798603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25243" y="2798603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4">
                <a:moveTo>
                  <a:pt x="4488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85084" y="2798603"/>
            <a:ext cx="1077595" cy="1075690"/>
          </a:xfrm>
          <a:custGeom>
            <a:avLst/>
            <a:gdLst/>
            <a:ahLst/>
            <a:cxnLst/>
            <a:rect l="l" t="t" r="r" b="b"/>
            <a:pathLst>
              <a:path w="1077595" h="1075689">
                <a:moveTo>
                  <a:pt x="0" y="0"/>
                </a:moveTo>
                <a:lnTo>
                  <a:pt x="0" y="1075275"/>
                </a:lnTo>
                <a:lnTo>
                  <a:pt x="1077186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39521" y="3873878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107725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62271" y="387387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39521" y="387387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62271" y="4949226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0" y="0"/>
                </a:moveTo>
                <a:lnTo>
                  <a:pt x="10772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430759" y="2753907"/>
            <a:ext cx="59944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10" dirty="0">
                <a:latin typeface="Times New Roman"/>
                <a:cs typeface="Times New Roman"/>
              </a:rPr>
              <a:t>c</a:t>
            </a:r>
            <a:r>
              <a:rPr sz="4750" spc="15" dirty="0">
                <a:latin typeface="Times New Roman"/>
                <a:cs typeface="Times New Roman"/>
              </a:rPr>
              <a:t>2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53456" y="2753907"/>
            <a:ext cx="59944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73793" y="3799327"/>
            <a:ext cx="59944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10" dirty="0">
                <a:latin typeface="Times New Roman"/>
                <a:cs typeface="Times New Roman"/>
              </a:rPr>
              <a:t>c</a:t>
            </a:r>
            <a:r>
              <a:rPr sz="4750" spc="15" dirty="0">
                <a:latin typeface="Times New Roman"/>
                <a:cs typeface="Times New Roman"/>
              </a:rPr>
              <a:t>1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904006" y="3877595"/>
            <a:ext cx="2874010" cy="0"/>
          </a:xfrm>
          <a:custGeom>
            <a:avLst/>
            <a:gdLst/>
            <a:ahLst/>
            <a:cxnLst/>
            <a:rect l="l" t="t" r="r" b="b"/>
            <a:pathLst>
              <a:path w="2874009">
                <a:moveTo>
                  <a:pt x="0" y="0"/>
                </a:moveTo>
                <a:lnTo>
                  <a:pt x="2873815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777822" y="3877595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484900" y="387759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0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44767" y="3877595"/>
            <a:ext cx="1078230" cy="1075690"/>
          </a:xfrm>
          <a:custGeom>
            <a:avLst/>
            <a:gdLst/>
            <a:ahLst/>
            <a:cxnLst/>
            <a:rect l="l" t="t" r="r" b="b"/>
            <a:pathLst>
              <a:path w="1078229" h="1075689">
                <a:moveTo>
                  <a:pt x="0" y="0"/>
                </a:moveTo>
                <a:lnTo>
                  <a:pt x="0" y="1075275"/>
                </a:lnTo>
                <a:lnTo>
                  <a:pt x="1077643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00116" y="4952870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29">
                <a:moveTo>
                  <a:pt x="107770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22410" y="4952870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700116" y="4952870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22410" y="6028218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29">
                <a:moveTo>
                  <a:pt x="0" y="0"/>
                </a:moveTo>
                <a:lnTo>
                  <a:pt x="107770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666495" y="3832899"/>
            <a:ext cx="600075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15" dirty="0">
                <a:latin typeface="Times New Roman"/>
                <a:cs typeface="Times New Roman"/>
              </a:rPr>
              <a:t>c1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34027" y="4878319"/>
            <a:ext cx="600075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991559" y="2798603"/>
            <a:ext cx="2872740" cy="0"/>
          </a:xfrm>
          <a:custGeom>
            <a:avLst/>
            <a:gdLst/>
            <a:ahLst/>
            <a:cxnLst/>
            <a:rect l="l" t="t" r="r" b="b"/>
            <a:pathLst>
              <a:path w="2872740">
                <a:moveTo>
                  <a:pt x="0" y="0"/>
                </a:moveTo>
                <a:lnTo>
                  <a:pt x="2872599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864159" y="2798603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72630" y="2798603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5">
                <a:moveTo>
                  <a:pt x="4488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632472" y="2798603"/>
            <a:ext cx="1077595" cy="1075690"/>
          </a:xfrm>
          <a:custGeom>
            <a:avLst/>
            <a:gdLst/>
            <a:ahLst/>
            <a:cxnLst/>
            <a:rect l="l" t="t" r="r" b="b"/>
            <a:pathLst>
              <a:path w="1077595" h="1075689">
                <a:moveTo>
                  <a:pt x="0" y="0"/>
                </a:moveTo>
                <a:lnTo>
                  <a:pt x="0" y="1075275"/>
                </a:lnTo>
                <a:lnTo>
                  <a:pt x="1077186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786909" y="3873878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107725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709659" y="387387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786909" y="387387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709659" y="4949226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0" y="0"/>
                </a:moveTo>
                <a:lnTo>
                  <a:pt x="10772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686308" y="2753907"/>
            <a:ext cx="73533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20" dirty="0">
                <a:latin typeface="Times New Roman"/>
                <a:cs typeface="Times New Roman"/>
              </a:rPr>
              <a:t>C2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7763828" y="2753907"/>
            <a:ext cx="76962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20" dirty="0">
                <a:latin typeface="Times New Roman"/>
                <a:cs typeface="Times New Roman"/>
              </a:rPr>
              <a:t>P</a:t>
            </a:r>
            <a:r>
              <a:rPr sz="4750" spc="25" dirty="0">
                <a:latin typeface="Times New Roman"/>
                <a:cs typeface="Times New Roman"/>
              </a:rPr>
              <a:t>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914147" y="3799327"/>
            <a:ext cx="1691639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34719" algn="l"/>
              </a:tabLst>
            </a:pPr>
            <a:r>
              <a:rPr sz="7125" spc="22" baseline="-2923" dirty="0">
                <a:latin typeface="Times New Roman"/>
                <a:cs typeface="Times New Roman"/>
              </a:rPr>
              <a:t>pc	</a:t>
            </a:r>
            <a:r>
              <a:rPr sz="4750" spc="20" dirty="0">
                <a:latin typeface="Times New Roman"/>
                <a:cs typeface="Times New Roman"/>
              </a:rPr>
              <a:t>P</a:t>
            </a:r>
            <a:r>
              <a:rPr sz="4750" spc="25" dirty="0">
                <a:latin typeface="Times New Roman"/>
                <a:cs typeface="Times New Roman"/>
              </a:rPr>
              <a:t>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81213" y="4462017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815283"/>
            <a:ext cx="8390890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606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第三步：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上编译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编译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完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成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自展，构造了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PC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机上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语言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编译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5080" indent="88265">
              <a:lnSpc>
                <a:spcPct val="100000"/>
              </a:lnSpc>
              <a:spcBef>
                <a:spcPts val="168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：移植方式：利用一个具有自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译性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级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语言编 辑另一个高级语言的编译程序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例如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机上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已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语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言的编译程序，希望实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PASCAL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语言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编译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6376212"/>
            <a:ext cx="5887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已知：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机上已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的编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99236" y="1646477"/>
            <a:ext cx="2872740" cy="0"/>
          </a:xfrm>
          <a:custGeom>
            <a:avLst/>
            <a:gdLst/>
            <a:ahLst/>
            <a:cxnLst/>
            <a:rect l="l" t="t" r="r" b="b"/>
            <a:pathLst>
              <a:path w="2872740">
                <a:moveTo>
                  <a:pt x="0" y="0"/>
                </a:moveTo>
                <a:lnTo>
                  <a:pt x="2872599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71835" y="1646477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5">
                <a:moveTo>
                  <a:pt x="0" y="0"/>
                </a:moveTo>
                <a:lnTo>
                  <a:pt x="0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0307" y="1646477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5">
                <a:moveTo>
                  <a:pt x="4488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0148" y="1646477"/>
            <a:ext cx="1077595" cy="1075055"/>
          </a:xfrm>
          <a:custGeom>
            <a:avLst/>
            <a:gdLst/>
            <a:ahLst/>
            <a:cxnLst/>
            <a:rect l="l" t="t" r="r" b="b"/>
            <a:pathLst>
              <a:path w="1077595" h="1075055">
                <a:moveTo>
                  <a:pt x="0" y="0"/>
                </a:moveTo>
                <a:lnTo>
                  <a:pt x="0" y="1074513"/>
                </a:lnTo>
                <a:lnTo>
                  <a:pt x="1077186" y="10745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4585" y="2720990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107725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17335" y="2720990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4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94585" y="2720990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4">
                <a:moveTo>
                  <a:pt x="0" y="0"/>
                </a:moveTo>
                <a:lnTo>
                  <a:pt x="0" y="10745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17335" y="3795577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0" y="0"/>
                </a:moveTo>
                <a:lnTo>
                  <a:pt x="10772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06684" y="1601804"/>
            <a:ext cx="72263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750" spc="20" dirty="0">
                <a:latin typeface="Times New Roman"/>
                <a:cs typeface="Times New Roman"/>
              </a:rPr>
              <a:t>C2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4204" y="1601804"/>
            <a:ext cx="75692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750" spc="20" dirty="0">
                <a:latin typeface="Times New Roman"/>
                <a:cs typeface="Times New Roman"/>
              </a:rPr>
              <a:t>P</a:t>
            </a:r>
            <a:r>
              <a:rPr sz="4750" spc="25" dirty="0">
                <a:latin typeface="Times New Roman"/>
                <a:cs typeface="Times New Roman"/>
              </a:rPr>
              <a:t>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3984" y="2646483"/>
            <a:ext cx="769620" cy="753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50" spc="20" dirty="0">
                <a:latin typeface="Times New Roman"/>
                <a:cs typeface="Times New Roman"/>
              </a:rPr>
              <a:t>P</a:t>
            </a:r>
            <a:r>
              <a:rPr sz="4750" spc="25" dirty="0">
                <a:latin typeface="Times New Roman"/>
                <a:cs typeface="Times New Roman"/>
              </a:rPr>
              <a:t>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40055" y="565943"/>
            <a:ext cx="2874010" cy="0"/>
          </a:xfrm>
          <a:custGeom>
            <a:avLst/>
            <a:gdLst/>
            <a:ahLst/>
            <a:cxnLst/>
            <a:rect l="l" t="t" r="r" b="b"/>
            <a:pathLst>
              <a:path w="2874010">
                <a:moveTo>
                  <a:pt x="0" y="0"/>
                </a:moveTo>
                <a:lnTo>
                  <a:pt x="2873815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13870" y="565943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0948" y="565943"/>
            <a:ext cx="449580" cy="0"/>
          </a:xfrm>
          <a:custGeom>
            <a:avLst/>
            <a:gdLst/>
            <a:ahLst/>
            <a:cxnLst/>
            <a:rect l="l" t="t" r="r" b="b"/>
            <a:pathLst>
              <a:path w="449580">
                <a:moveTo>
                  <a:pt x="4490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0815" y="565943"/>
            <a:ext cx="1078230" cy="1075690"/>
          </a:xfrm>
          <a:custGeom>
            <a:avLst/>
            <a:gdLst/>
            <a:ahLst/>
            <a:cxnLst/>
            <a:rect l="l" t="t" r="r" b="b"/>
            <a:pathLst>
              <a:path w="1078230" h="1075689">
                <a:moveTo>
                  <a:pt x="0" y="0"/>
                </a:moveTo>
                <a:lnTo>
                  <a:pt x="0" y="1075275"/>
                </a:lnTo>
                <a:lnTo>
                  <a:pt x="1077642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36164" y="1641218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29">
                <a:moveTo>
                  <a:pt x="107770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58458" y="164121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36164" y="164121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8458" y="2716566"/>
            <a:ext cx="1078230" cy="0"/>
          </a:xfrm>
          <a:custGeom>
            <a:avLst/>
            <a:gdLst/>
            <a:ahLst/>
            <a:cxnLst/>
            <a:rect l="l" t="t" r="r" b="b"/>
            <a:pathLst>
              <a:path w="1078230">
                <a:moveTo>
                  <a:pt x="0" y="0"/>
                </a:moveTo>
                <a:lnTo>
                  <a:pt x="107770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078590" y="521247"/>
            <a:ext cx="29591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50195" y="521247"/>
            <a:ext cx="600075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59979" y="1874520"/>
            <a:ext cx="1075055" cy="843280"/>
          </a:xfrm>
          <a:prstGeom prst="rect">
            <a:avLst/>
          </a:prstGeom>
          <a:solidFill>
            <a:srgbClr val="006600">
              <a:alpha val="3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22250">
              <a:lnSpc>
                <a:spcPts val="3404"/>
              </a:lnSpc>
            </a:pPr>
            <a:r>
              <a:rPr sz="4750" spc="15" dirty="0">
                <a:latin typeface="Times New Roman"/>
                <a:cs typeface="Times New Roman"/>
              </a:rPr>
              <a:t>c2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560267" y="565943"/>
            <a:ext cx="2872740" cy="0"/>
          </a:xfrm>
          <a:custGeom>
            <a:avLst/>
            <a:gdLst/>
            <a:ahLst/>
            <a:cxnLst/>
            <a:rect l="l" t="t" r="r" b="b"/>
            <a:pathLst>
              <a:path w="2872740">
                <a:moveTo>
                  <a:pt x="0" y="0"/>
                </a:moveTo>
                <a:lnTo>
                  <a:pt x="2872599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32867" y="565943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41338" y="565943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5">
                <a:moveTo>
                  <a:pt x="4488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01180" y="565943"/>
            <a:ext cx="1077595" cy="1075690"/>
          </a:xfrm>
          <a:custGeom>
            <a:avLst/>
            <a:gdLst/>
            <a:ahLst/>
            <a:cxnLst/>
            <a:rect l="l" t="t" r="r" b="b"/>
            <a:pathLst>
              <a:path w="1077595" h="1075689">
                <a:moveTo>
                  <a:pt x="0" y="0"/>
                </a:moveTo>
                <a:lnTo>
                  <a:pt x="0" y="1075275"/>
                </a:lnTo>
                <a:lnTo>
                  <a:pt x="1077186" y="10752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55617" y="1641218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107725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78367" y="164121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55617" y="164121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3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78367" y="2716566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0" y="0"/>
                </a:moveTo>
                <a:lnTo>
                  <a:pt x="10772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487574" y="521247"/>
            <a:ext cx="282575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750" spc="15" dirty="0">
                <a:latin typeface="Times New Roman"/>
                <a:cs typeface="Times New Roman"/>
              </a:rPr>
              <a:t>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82252" y="521247"/>
            <a:ext cx="58674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76621" y="1874520"/>
            <a:ext cx="1077595" cy="843280"/>
          </a:xfrm>
          <a:prstGeom prst="rect">
            <a:avLst/>
          </a:prstGeom>
          <a:solidFill>
            <a:srgbClr val="006600">
              <a:alpha val="3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25425">
              <a:lnSpc>
                <a:spcPts val="3404"/>
              </a:lnSpc>
            </a:pPr>
            <a:r>
              <a:rPr sz="4750" spc="15" dirty="0">
                <a:latin typeface="Times New Roman"/>
                <a:cs typeface="Times New Roman"/>
              </a:rPr>
              <a:t>pc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04886" y="186918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28226" y="1931295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>
                <a:moveTo>
                  <a:pt x="0" y="0"/>
                </a:moveTo>
                <a:lnTo>
                  <a:pt x="258925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28226" y="1931295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>
                <a:moveTo>
                  <a:pt x="258925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0334" y="1931295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88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04314" y="1931295"/>
            <a:ext cx="972185" cy="969644"/>
          </a:xfrm>
          <a:custGeom>
            <a:avLst/>
            <a:gdLst/>
            <a:ahLst/>
            <a:cxnLst/>
            <a:rect l="l" t="t" r="r" b="b"/>
            <a:pathLst>
              <a:path w="972185" h="969644">
                <a:moveTo>
                  <a:pt x="0" y="0"/>
                </a:moveTo>
                <a:lnTo>
                  <a:pt x="0" y="969226"/>
                </a:lnTo>
                <a:lnTo>
                  <a:pt x="971668" y="9692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75982" y="2900521"/>
            <a:ext cx="0" cy="191770"/>
          </a:xfrm>
          <a:custGeom>
            <a:avLst/>
            <a:gdLst/>
            <a:ahLst/>
            <a:cxnLst/>
            <a:rect l="l" t="t" r="r" b="b"/>
            <a:pathLst>
              <a:path h="191769">
                <a:moveTo>
                  <a:pt x="0" y="0"/>
                </a:moveTo>
                <a:lnTo>
                  <a:pt x="0" y="19130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4065" y="360121"/>
            <a:ext cx="8141970" cy="221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语言构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PASCAL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译程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，然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它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机上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编译，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能得</a:t>
            </a:r>
            <a:r>
              <a:rPr sz="2800" b="1" spc="10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SCA</a:t>
            </a:r>
            <a:r>
              <a:rPr sz="2800" b="1" spc="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言的编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  <a:tabLst>
                <a:tab pos="427101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已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知	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构造</a:t>
            </a:r>
            <a:endParaRPr sz="2800">
              <a:latin typeface="宋体"/>
              <a:cs typeface="宋体"/>
            </a:endParaRPr>
          </a:p>
          <a:p>
            <a:pPr marL="1426845">
              <a:lnSpc>
                <a:spcPct val="100000"/>
              </a:lnSpc>
              <a:spcBef>
                <a:spcPts val="290"/>
              </a:spcBef>
              <a:tabLst>
                <a:tab pos="3232785" algn="l"/>
              </a:tabLst>
            </a:pPr>
            <a:r>
              <a:rPr sz="4300" spc="10" dirty="0">
                <a:latin typeface="Times New Roman"/>
                <a:cs typeface="Times New Roman"/>
              </a:rPr>
              <a:t>C	A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58651" y="3948367"/>
            <a:ext cx="2478405" cy="0"/>
          </a:xfrm>
          <a:custGeom>
            <a:avLst/>
            <a:gdLst/>
            <a:ahLst/>
            <a:cxnLst/>
            <a:rect l="l" t="t" r="r" b="b"/>
            <a:pathLst>
              <a:path w="2478404">
                <a:moveTo>
                  <a:pt x="0" y="0"/>
                </a:moveTo>
                <a:lnTo>
                  <a:pt x="2477876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36527" y="3948367"/>
            <a:ext cx="0" cy="927735"/>
          </a:xfrm>
          <a:custGeom>
            <a:avLst/>
            <a:gdLst/>
            <a:ahLst/>
            <a:cxnLst/>
            <a:rect l="l" t="t" r="r" b="b"/>
            <a:pathLst>
              <a:path h="927735">
                <a:moveTo>
                  <a:pt x="0" y="0"/>
                </a:moveTo>
                <a:lnTo>
                  <a:pt x="0" y="9274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7286" y="3948367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7173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48905" y="3948367"/>
            <a:ext cx="929640" cy="927735"/>
          </a:xfrm>
          <a:custGeom>
            <a:avLst/>
            <a:gdLst/>
            <a:ahLst/>
            <a:cxnLst/>
            <a:rect l="l" t="t" r="r" b="b"/>
            <a:pathLst>
              <a:path w="929640" h="927735">
                <a:moveTo>
                  <a:pt x="0" y="0"/>
                </a:moveTo>
                <a:lnTo>
                  <a:pt x="0" y="927424"/>
                </a:lnTo>
                <a:lnTo>
                  <a:pt x="929171" y="9274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07302" y="4875792"/>
            <a:ext cx="929640" cy="0"/>
          </a:xfrm>
          <a:custGeom>
            <a:avLst/>
            <a:gdLst/>
            <a:ahLst/>
            <a:cxnLst/>
            <a:rect l="l" t="t" r="r" b="b"/>
            <a:pathLst>
              <a:path w="929640">
                <a:moveTo>
                  <a:pt x="92922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78076" y="4875792"/>
            <a:ext cx="0" cy="927735"/>
          </a:xfrm>
          <a:custGeom>
            <a:avLst/>
            <a:gdLst/>
            <a:ahLst/>
            <a:cxnLst/>
            <a:rect l="l" t="t" r="r" b="b"/>
            <a:pathLst>
              <a:path h="927735">
                <a:moveTo>
                  <a:pt x="0" y="0"/>
                </a:moveTo>
                <a:lnTo>
                  <a:pt x="0" y="92748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07302" y="4875792"/>
            <a:ext cx="0" cy="927735"/>
          </a:xfrm>
          <a:custGeom>
            <a:avLst/>
            <a:gdLst/>
            <a:ahLst/>
            <a:cxnLst/>
            <a:rect l="l" t="t" r="r" b="b"/>
            <a:pathLst>
              <a:path h="927735">
                <a:moveTo>
                  <a:pt x="0" y="0"/>
                </a:moveTo>
                <a:lnTo>
                  <a:pt x="0" y="92748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78076" y="5803280"/>
            <a:ext cx="929640" cy="0"/>
          </a:xfrm>
          <a:custGeom>
            <a:avLst/>
            <a:gdLst/>
            <a:ahLst/>
            <a:cxnLst/>
            <a:rect l="l" t="t" r="r" b="b"/>
            <a:pathLst>
              <a:path w="929640">
                <a:moveTo>
                  <a:pt x="0" y="0"/>
                </a:moveTo>
                <a:lnTo>
                  <a:pt x="92922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800923" y="3908071"/>
            <a:ext cx="30480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100" spc="15" dirty="0">
                <a:latin typeface="Times New Roman"/>
                <a:cs typeface="Times New Roman"/>
              </a:rPr>
              <a:t>P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64233" y="3908071"/>
            <a:ext cx="39179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100" spc="20" dirty="0">
                <a:latin typeface="Times New Roman"/>
                <a:cs typeface="Times New Roman"/>
              </a:rPr>
              <a:t>A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51355" y="4809746"/>
            <a:ext cx="40449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20" dirty="0">
                <a:latin typeface="Times New Roman"/>
                <a:cs typeface="Times New Roman"/>
              </a:rPr>
              <a:t>A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72850" y="4895474"/>
            <a:ext cx="2591435" cy="0"/>
          </a:xfrm>
          <a:custGeom>
            <a:avLst/>
            <a:gdLst/>
            <a:ahLst/>
            <a:cxnLst/>
            <a:rect l="l" t="t" r="r" b="b"/>
            <a:pathLst>
              <a:path w="2591434">
                <a:moveTo>
                  <a:pt x="0" y="0"/>
                </a:moveTo>
                <a:lnTo>
                  <a:pt x="2591206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64056" y="4895474"/>
            <a:ext cx="0" cy="969644"/>
          </a:xfrm>
          <a:custGeom>
            <a:avLst/>
            <a:gdLst/>
            <a:ahLst/>
            <a:cxnLst/>
            <a:rect l="l" t="t" r="r" b="b"/>
            <a:pathLst>
              <a:path h="969645">
                <a:moveTo>
                  <a:pt x="0" y="0"/>
                </a:moveTo>
                <a:lnTo>
                  <a:pt x="0" y="9692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94958" y="4895474"/>
            <a:ext cx="405130" cy="0"/>
          </a:xfrm>
          <a:custGeom>
            <a:avLst/>
            <a:gdLst/>
            <a:ahLst/>
            <a:cxnLst/>
            <a:rect l="l" t="t" r="r" b="b"/>
            <a:pathLst>
              <a:path w="405129">
                <a:moveTo>
                  <a:pt x="40488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48938" y="4895474"/>
            <a:ext cx="972185" cy="969644"/>
          </a:xfrm>
          <a:custGeom>
            <a:avLst/>
            <a:gdLst/>
            <a:ahLst/>
            <a:cxnLst/>
            <a:rect l="l" t="t" r="r" b="b"/>
            <a:pathLst>
              <a:path w="972185" h="969645">
                <a:moveTo>
                  <a:pt x="0" y="0"/>
                </a:moveTo>
                <a:lnTo>
                  <a:pt x="0" y="969226"/>
                </a:lnTo>
                <a:lnTo>
                  <a:pt x="971668" y="9692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92331" y="5864700"/>
            <a:ext cx="972185" cy="0"/>
          </a:xfrm>
          <a:custGeom>
            <a:avLst/>
            <a:gdLst/>
            <a:ahLst/>
            <a:cxnLst/>
            <a:rect l="l" t="t" r="r" b="b"/>
            <a:pathLst>
              <a:path w="972184">
                <a:moveTo>
                  <a:pt x="97172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20606" y="5864700"/>
            <a:ext cx="0" cy="969644"/>
          </a:xfrm>
          <a:custGeom>
            <a:avLst/>
            <a:gdLst/>
            <a:ahLst/>
            <a:cxnLst/>
            <a:rect l="l" t="t" r="r" b="b"/>
            <a:pathLst>
              <a:path h="969645">
                <a:moveTo>
                  <a:pt x="0" y="0"/>
                </a:moveTo>
                <a:lnTo>
                  <a:pt x="0" y="9692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92331" y="5864700"/>
            <a:ext cx="0" cy="969644"/>
          </a:xfrm>
          <a:custGeom>
            <a:avLst/>
            <a:gdLst/>
            <a:ahLst/>
            <a:cxnLst/>
            <a:rect l="l" t="t" r="r" b="b"/>
            <a:pathLst>
              <a:path h="969645">
                <a:moveTo>
                  <a:pt x="0" y="0"/>
                </a:moveTo>
                <a:lnTo>
                  <a:pt x="0" y="9692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20606" y="6833992"/>
            <a:ext cx="972185" cy="0"/>
          </a:xfrm>
          <a:custGeom>
            <a:avLst/>
            <a:gdLst/>
            <a:ahLst/>
            <a:cxnLst/>
            <a:rect l="l" t="t" r="r" b="b"/>
            <a:pathLst>
              <a:path w="972185">
                <a:moveTo>
                  <a:pt x="0" y="0"/>
                </a:moveTo>
                <a:lnTo>
                  <a:pt x="97172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846076" y="4853934"/>
            <a:ext cx="379095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300" spc="10" dirty="0">
                <a:latin typeface="Times New Roman"/>
                <a:cs typeface="Times New Roman"/>
              </a:rPr>
              <a:t>C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51867" y="4853934"/>
            <a:ext cx="408940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300" spc="10" dirty="0">
                <a:latin typeface="Times New Roman"/>
                <a:cs typeface="Times New Roman"/>
              </a:rPr>
              <a:t>A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02391" y="5796249"/>
            <a:ext cx="421640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10" dirty="0">
                <a:latin typeface="Times New Roman"/>
                <a:cs typeface="Times New Roman"/>
              </a:rPr>
              <a:t>A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84782" y="3948674"/>
            <a:ext cx="2535555" cy="0"/>
          </a:xfrm>
          <a:custGeom>
            <a:avLst/>
            <a:gdLst/>
            <a:ahLst/>
            <a:cxnLst/>
            <a:rect l="l" t="t" r="r" b="b"/>
            <a:pathLst>
              <a:path w="2535554">
                <a:moveTo>
                  <a:pt x="0" y="0"/>
                </a:moveTo>
                <a:lnTo>
                  <a:pt x="2535113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19896" y="3948674"/>
            <a:ext cx="0" cy="948690"/>
          </a:xfrm>
          <a:custGeom>
            <a:avLst/>
            <a:gdLst/>
            <a:ahLst/>
            <a:cxnLst/>
            <a:rect l="l" t="t" r="r" b="b"/>
            <a:pathLst>
              <a:path h="948689">
                <a:moveTo>
                  <a:pt x="0" y="0"/>
                </a:moveTo>
                <a:lnTo>
                  <a:pt x="0" y="94834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15071" y="394867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>
                <a:moveTo>
                  <a:pt x="39611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67882" y="3948674"/>
            <a:ext cx="951230" cy="948690"/>
          </a:xfrm>
          <a:custGeom>
            <a:avLst/>
            <a:gdLst/>
            <a:ahLst/>
            <a:cxnLst/>
            <a:rect l="l" t="t" r="r" b="b"/>
            <a:pathLst>
              <a:path w="951230" h="948689">
                <a:moveTo>
                  <a:pt x="0" y="0"/>
                </a:moveTo>
                <a:lnTo>
                  <a:pt x="0" y="948347"/>
                </a:lnTo>
                <a:lnTo>
                  <a:pt x="950634" y="94834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69206" y="4897022"/>
            <a:ext cx="951230" cy="0"/>
          </a:xfrm>
          <a:custGeom>
            <a:avLst/>
            <a:gdLst/>
            <a:ahLst/>
            <a:cxnLst/>
            <a:rect l="l" t="t" r="r" b="b"/>
            <a:pathLst>
              <a:path w="951229">
                <a:moveTo>
                  <a:pt x="95069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18516" y="4897022"/>
            <a:ext cx="0" cy="948690"/>
          </a:xfrm>
          <a:custGeom>
            <a:avLst/>
            <a:gdLst/>
            <a:ahLst/>
            <a:cxnLst/>
            <a:rect l="l" t="t" r="r" b="b"/>
            <a:pathLst>
              <a:path h="948689">
                <a:moveTo>
                  <a:pt x="0" y="0"/>
                </a:moveTo>
                <a:lnTo>
                  <a:pt x="0" y="9484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69206" y="4897022"/>
            <a:ext cx="0" cy="948690"/>
          </a:xfrm>
          <a:custGeom>
            <a:avLst/>
            <a:gdLst/>
            <a:ahLst/>
            <a:cxnLst/>
            <a:rect l="l" t="t" r="r" b="b"/>
            <a:pathLst>
              <a:path h="948689">
                <a:moveTo>
                  <a:pt x="0" y="0"/>
                </a:moveTo>
                <a:lnTo>
                  <a:pt x="0" y="9484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718516" y="5845434"/>
            <a:ext cx="951230" cy="0"/>
          </a:xfrm>
          <a:custGeom>
            <a:avLst/>
            <a:gdLst/>
            <a:ahLst/>
            <a:cxnLst/>
            <a:rect l="l" t="t" r="r" b="b"/>
            <a:pathLst>
              <a:path w="951229">
                <a:moveTo>
                  <a:pt x="0" y="0"/>
                </a:moveTo>
                <a:lnTo>
                  <a:pt x="95069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923411" y="3907755"/>
            <a:ext cx="311150" cy="668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200" spc="10" dirty="0">
                <a:latin typeface="Times New Roman"/>
                <a:cs typeface="Times New Roman"/>
              </a:rPr>
              <a:t>P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27453" y="3907755"/>
            <a:ext cx="400685" cy="668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200" spc="15" dirty="0">
                <a:latin typeface="Times New Roman"/>
                <a:cs typeface="Times New Roman"/>
              </a:rPr>
              <a:t>A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77926" y="4829771"/>
            <a:ext cx="383540" cy="668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00" spc="15" dirty="0">
                <a:latin typeface="Times New Roman"/>
                <a:cs typeface="Times New Roman"/>
              </a:rPr>
              <a:t>C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8540" y="4051553"/>
            <a:ext cx="381000" cy="85851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移 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509259" y="1773935"/>
            <a:ext cx="3276599" cy="2066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06424" y="1001267"/>
            <a:ext cx="7010400" cy="4895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68928" y="2551531"/>
            <a:ext cx="1816100" cy="140779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R="244475" algn="ctr">
              <a:lnSpc>
                <a:spcPct val="100000"/>
              </a:lnSpc>
              <a:spcBef>
                <a:spcPts val="555"/>
              </a:spcBef>
            </a:pPr>
            <a:r>
              <a:rPr sz="2000" b="1" spc="5" dirty="0">
                <a:solidFill>
                  <a:srgbClr val="006600"/>
                </a:solidFill>
                <a:latin typeface="宋体"/>
                <a:cs typeface="宋体"/>
              </a:rPr>
              <a:t>核心语句编译</a:t>
            </a:r>
            <a:endParaRPr sz="2000">
              <a:latin typeface="宋体"/>
              <a:cs typeface="宋体"/>
            </a:endParaRPr>
          </a:p>
          <a:p>
            <a:pPr marR="248285" algn="ctr">
              <a:lnSpc>
                <a:spcPct val="100000"/>
              </a:lnSpc>
              <a:spcBef>
                <a:spcPts val="45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x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…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x.asm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</a:pPr>
            <a:r>
              <a:rPr sz="2000" b="1" dirty="0">
                <a:solidFill>
                  <a:srgbClr val="006600"/>
                </a:solidFill>
                <a:latin typeface="宋体"/>
                <a:cs typeface="宋体"/>
              </a:rPr>
              <a:t>用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x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…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x.asm</a:t>
            </a:r>
            <a:r>
              <a:rPr sz="2000" b="1" dirty="0">
                <a:solidFill>
                  <a:srgbClr val="006600"/>
                </a:solidFill>
                <a:latin typeface="宋体"/>
                <a:cs typeface="宋体"/>
              </a:rPr>
              <a:t>编译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8321" y="4265421"/>
            <a:ext cx="2676525" cy="12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6600"/>
                </a:solidFill>
                <a:latin typeface="Arial"/>
                <a:cs typeface="Arial"/>
              </a:rPr>
              <a:t>……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2400" b="1" spc="-185" dirty="0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C</a:t>
            </a: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L</a:t>
            </a:r>
            <a:r>
              <a:rPr sz="2400" b="1" dirty="0">
                <a:solidFill>
                  <a:srgbClr val="3333CC"/>
                </a:solidFill>
                <a:latin typeface="Arial"/>
                <a:cs typeface="Arial"/>
              </a:rPr>
              <a:t>—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co</a:t>
            </a:r>
            <a:r>
              <a:rPr sz="24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pil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55964" y="5399532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90" h="287020">
                <a:moveTo>
                  <a:pt x="288035" y="0"/>
                </a:moveTo>
                <a:lnTo>
                  <a:pt x="0" y="0"/>
                </a:lnTo>
                <a:lnTo>
                  <a:pt x="0" y="286512"/>
                </a:lnTo>
                <a:lnTo>
                  <a:pt x="288035" y="286512"/>
                </a:lnTo>
                <a:lnTo>
                  <a:pt x="288035" y="250698"/>
                </a:lnTo>
                <a:lnTo>
                  <a:pt x="117093" y="250698"/>
                </a:lnTo>
                <a:lnTo>
                  <a:pt x="85760" y="244364"/>
                </a:lnTo>
                <a:lnTo>
                  <a:pt x="60166" y="227087"/>
                </a:lnTo>
                <a:lnTo>
                  <a:pt x="42906" y="201454"/>
                </a:lnTo>
                <a:lnTo>
                  <a:pt x="36575" y="170053"/>
                </a:lnTo>
                <a:lnTo>
                  <a:pt x="36575" y="89535"/>
                </a:lnTo>
                <a:lnTo>
                  <a:pt x="144017" y="89535"/>
                </a:lnTo>
                <a:lnTo>
                  <a:pt x="197738" y="35814"/>
                </a:lnTo>
                <a:lnTo>
                  <a:pt x="288035" y="35814"/>
                </a:lnTo>
                <a:lnTo>
                  <a:pt x="288035" y="0"/>
                </a:lnTo>
                <a:close/>
              </a:path>
              <a:path w="288290" h="287020">
                <a:moveTo>
                  <a:pt x="288035" y="35814"/>
                </a:moveTo>
                <a:lnTo>
                  <a:pt x="197738" y="35814"/>
                </a:lnTo>
                <a:lnTo>
                  <a:pt x="251459" y="89535"/>
                </a:lnTo>
                <a:lnTo>
                  <a:pt x="224535" y="89535"/>
                </a:lnTo>
                <a:lnTo>
                  <a:pt x="224535" y="170053"/>
                </a:lnTo>
                <a:lnTo>
                  <a:pt x="218205" y="201454"/>
                </a:lnTo>
                <a:lnTo>
                  <a:pt x="200945" y="227087"/>
                </a:lnTo>
                <a:lnTo>
                  <a:pt x="175351" y="244364"/>
                </a:lnTo>
                <a:lnTo>
                  <a:pt x="144017" y="250698"/>
                </a:lnTo>
                <a:lnTo>
                  <a:pt x="288035" y="250698"/>
                </a:lnTo>
                <a:lnTo>
                  <a:pt x="288035" y="35814"/>
                </a:lnTo>
                <a:close/>
              </a:path>
              <a:path w="288290" h="287020">
                <a:moveTo>
                  <a:pt x="170814" y="89535"/>
                </a:moveTo>
                <a:lnTo>
                  <a:pt x="90296" y="89535"/>
                </a:lnTo>
                <a:lnTo>
                  <a:pt x="90296" y="170053"/>
                </a:lnTo>
                <a:lnTo>
                  <a:pt x="92412" y="180528"/>
                </a:lnTo>
                <a:lnTo>
                  <a:pt x="98170" y="189087"/>
                </a:lnTo>
                <a:lnTo>
                  <a:pt x="106691" y="194859"/>
                </a:lnTo>
                <a:lnTo>
                  <a:pt x="117093" y="196977"/>
                </a:lnTo>
                <a:lnTo>
                  <a:pt x="144017" y="196977"/>
                </a:lnTo>
                <a:lnTo>
                  <a:pt x="154473" y="194859"/>
                </a:lnTo>
                <a:lnTo>
                  <a:pt x="162988" y="189087"/>
                </a:lnTo>
                <a:lnTo>
                  <a:pt x="168717" y="180528"/>
                </a:lnTo>
                <a:lnTo>
                  <a:pt x="170814" y="170053"/>
                </a:lnTo>
                <a:lnTo>
                  <a:pt x="170814" y="8953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92540" y="5435346"/>
            <a:ext cx="214883" cy="2148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0274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4" y="2389632"/>
                </a:lnTo>
                <a:lnTo>
                  <a:pt x="580644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30274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4" y="2389632"/>
                </a:lnTo>
                <a:lnTo>
                  <a:pt x="580644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73273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4" y="2389632"/>
                </a:lnTo>
                <a:lnTo>
                  <a:pt x="580644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3273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4" y="2389632"/>
                </a:lnTo>
                <a:lnTo>
                  <a:pt x="580644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68261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4" y="2389632"/>
                </a:lnTo>
                <a:lnTo>
                  <a:pt x="580644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68261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4" y="2389632"/>
                </a:lnTo>
                <a:lnTo>
                  <a:pt x="580644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96461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3" y="2389632"/>
                </a:lnTo>
                <a:lnTo>
                  <a:pt x="580643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96461" y="2521457"/>
            <a:ext cx="581025" cy="2390140"/>
          </a:xfrm>
          <a:custGeom>
            <a:avLst/>
            <a:gdLst/>
            <a:ahLst/>
            <a:cxnLst/>
            <a:rect l="l" t="t" r="r" b="b"/>
            <a:pathLst>
              <a:path w="581025" h="2390140">
                <a:moveTo>
                  <a:pt x="0" y="2389632"/>
                </a:moveTo>
                <a:lnTo>
                  <a:pt x="580643" y="2389632"/>
                </a:lnTo>
                <a:lnTo>
                  <a:pt x="580643" y="0"/>
                </a:lnTo>
                <a:lnTo>
                  <a:pt x="0" y="0"/>
                </a:lnTo>
                <a:lnTo>
                  <a:pt x="0" y="2389632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77105" y="2521457"/>
            <a:ext cx="943610" cy="2380615"/>
          </a:xfrm>
          <a:custGeom>
            <a:avLst/>
            <a:gdLst/>
            <a:ahLst/>
            <a:cxnLst/>
            <a:rect l="l" t="t" r="r" b="b"/>
            <a:pathLst>
              <a:path w="943610" h="2380615">
                <a:moveTo>
                  <a:pt x="0" y="2380488"/>
                </a:moveTo>
                <a:lnTo>
                  <a:pt x="943355" y="2380488"/>
                </a:lnTo>
                <a:lnTo>
                  <a:pt x="943355" y="0"/>
                </a:lnTo>
                <a:lnTo>
                  <a:pt x="0" y="0"/>
                </a:lnTo>
                <a:lnTo>
                  <a:pt x="0" y="2380488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62754" y="2507107"/>
            <a:ext cx="971931" cy="24090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961" y="2512314"/>
            <a:ext cx="29209" cy="38100"/>
          </a:xfrm>
          <a:custGeom>
            <a:avLst/>
            <a:gdLst/>
            <a:ahLst/>
            <a:cxnLst/>
            <a:rect l="l" t="t" r="r" b="b"/>
            <a:pathLst>
              <a:path w="29210" h="38100">
                <a:moveTo>
                  <a:pt x="28955" y="0"/>
                </a:moveTo>
                <a:lnTo>
                  <a:pt x="0" y="0"/>
                </a:lnTo>
                <a:lnTo>
                  <a:pt x="0" y="38100"/>
                </a:lnTo>
                <a:lnTo>
                  <a:pt x="28955" y="38100"/>
                </a:lnTo>
                <a:lnTo>
                  <a:pt x="28955" y="28575"/>
                </a:lnTo>
                <a:lnTo>
                  <a:pt x="9651" y="28575"/>
                </a:lnTo>
                <a:lnTo>
                  <a:pt x="9651" y="9525"/>
                </a:lnTo>
                <a:lnTo>
                  <a:pt x="28955" y="9525"/>
                </a:lnTo>
                <a:lnTo>
                  <a:pt x="28955" y="0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53610" y="2498089"/>
            <a:ext cx="57530" cy="666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67961" y="25793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53610" y="2565019"/>
            <a:ext cx="57530" cy="561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7961" y="26357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53610" y="2621407"/>
            <a:ext cx="57530" cy="576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67961" y="26936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53610" y="2679319"/>
            <a:ext cx="57530" cy="561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67961" y="27500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53610" y="2735707"/>
            <a:ext cx="57530" cy="5765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67961" y="28079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53610" y="2793619"/>
            <a:ext cx="57530" cy="561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67961" y="28643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53610" y="2850007"/>
            <a:ext cx="57530" cy="576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67961" y="29222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53610" y="2907919"/>
            <a:ext cx="57530" cy="5613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67961" y="29786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53610" y="2964307"/>
            <a:ext cx="57530" cy="576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67961" y="30365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53610" y="3022219"/>
            <a:ext cx="57530" cy="5613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67961" y="30929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53610" y="3078607"/>
            <a:ext cx="57530" cy="5765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67961" y="31508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53610" y="3136519"/>
            <a:ext cx="57530" cy="5613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67961" y="32072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53610" y="3192907"/>
            <a:ext cx="57530" cy="576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67961" y="32651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53610" y="3250819"/>
            <a:ext cx="57530" cy="5600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67961" y="33215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53610" y="3307207"/>
            <a:ext cx="57530" cy="5753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67961" y="33794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53610" y="3365119"/>
            <a:ext cx="57530" cy="5600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267961" y="34358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53610" y="3421507"/>
            <a:ext cx="57530" cy="5753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67961" y="34937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53610" y="3479419"/>
            <a:ext cx="57530" cy="5600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67961" y="35501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53610" y="3535807"/>
            <a:ext cx="57530" cy="5753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67961" y="36080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53610" y="3593719"/>
            <a:ext cx="57530" cy="5600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267961" y="36644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253610" y="3650107"/>
            <a:ext cx="57530" cy="5753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67961" y="37223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253610" y="3708019"/>
            <a:ext cx="57530" cy="5600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67961" y="37787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53610" y="3764407"/>
            <a:ext cx="57530" cy="5753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267961" y="38366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253610" y="3822319"/>
            <a:ext cx="57530" cy="5600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67961" y="38930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253610" y="3878707"/>
            <a:ext cx="57530" cy="5753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267961" y="39509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253610" y="3936619"/>
            <a:ext cx="57530" cy="5600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267961" y="40058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253610" y="3991483"/>
            <a:ext cx="57530" cy="5753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267961" y="40637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253610" y="4049395"/>
            <a:ext cx="57530" cy="5600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67961" y="41201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253610" y="4105783"/>
            <a:ext cx="57530" cy="5753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267961" y="41780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253610" y="4163695"/>
            <a:ext cx="57530" cy="5600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267961" y="42344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253610" y="4220083"/>
            <a:ext cx="57530" cy="5753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267961" y="42923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253610" y="4277995"/>
            <a:ext cx="57530" cy="5600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267961" y="43487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253610" y="4334383"/>
            <a:ext cx="57530" cy="5753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267961" y="44066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253610" y="4392295"/>
            <a:ext cx="57530" cy="5600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267961" y="44630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253610" y="4448683"/>
            <a:ext cx="57530" cy="5753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267961" y="45209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253610" y="4506595"/>
            <a:ext cx="57530" cy="5600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267961" y="45773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253610" y="4562983"/>
            <a:ext cx="57530" cy="5753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267961" y="46352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253610" y="4620895"/>
            <a:ext cx="57530" cy="5600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267961" y="46916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253610" y="4677283"/>
            <a:ext cx="57530" cy="5753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267961" y="47495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253610" y="4735195"/>
            <a:ext cx="57530" cy="5600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267961" y="48059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253610" y="4791583"/>
            <a:ext cx="57530" cy="5753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267961" y="48638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253610" y="4849495"/>
            <a:ext cx="57530" cy="5600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296917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282566" y="4876927"/>
            <a:ext cx="57531" cy="5753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353305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338954" y="4876927"/>
            <a:ext cx="57531" cy="5753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411217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396866" y="4876927"/>
            <a:ext cx="57531" cy="5753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467605" y="4891278"/>
            <a:ext cx="19050" cy="29209"/>
          </a:xfrm>
          <a:custGeom>
            <a:avLst/>
            <a:gdLst/>
            <a:ahLst/>
            <a:cxnLst/>
            <a:rect l="l" t="t" r="r" b="b"/>
            <a:pathLst>
              <a:path w="19050" h="29210">
                <a:moveTo>
                  <a:pt x="0" y="28956"/>
                </a:moveTo>
                <a:lnTo>
                  <a:pt x="19050" y="28956"/>
                </a:lnTo>
                <a:lnTo>
                  <a:pt x="19050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453254" y="4876927"/>
            <a:ext cx="57531" cy="5753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553711" y="4891278"/>
            <a:ext cx="1270" cy="29209"/>
          </a:xfrm>
          <a:custGeom>
            <a:avLst/>
            <a:gdLst/>
            <a:ahLst/>
            <a:cxnLst/>
            <a:rect l="l" t="t" r="r" b="b"/>
            <a:pathLst>
              <a:path w="1270" h="29210">
                <a:moveTo>
                  <a:pt x="0" y="28956"/>
                </a:moveTo>
                <a:lnTo>
                  <a:pt x="762" y="28956"/>
                </a:lnTo>
                <a:lnTo>
                  <a:pt x="762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511166" y="4876927"/>
            <a:ext cx="57531" cy="5753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581905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567554" y="4876927"/>
            <a:ext cx="57531" cy="57531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639817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625466" y="4876927"/>
            <a:ext cx="57531" cy="57531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696205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681854" y="4876927"/>
            <a:ext cx="57531" cy="5753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754117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739766" y="4876927"/>
            <a:ext cx="57531" cy="57531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810505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796154" y="4876927"/>
            <a:ext cx="57531" cy="57531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868417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854066" y="4876927"/>
            <a:ext cx="57531" cy="57531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924805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910454" y="4876927"/>
            <a:ext cx="57531" cy="5753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982717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968366" y="4876927"/>
            <a:ext cx="57531" cy="57531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039105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024754" y="4876927"/>
            <a:ext cx="57531" cy="57531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097017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082666" y="4876927"/>
            <a:ext cx="57531" cy="57531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153405" y="4891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139054" y="4876927"/>
            <a:ext cx="57531" cy="5753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5211317" y="4882134"/>
            <a:ext cx="29209" cy="38100"/>
          </a:xfrm>
          <a:custGeom>
            <a:avLst/>
            <a:gdLst/>
            <a:ahLst/>
            <a:cxnLst/>
            <a:rect l="l" t="t" r="r" b="b"/>
            <a:pathLst>
              <a:path w="29210" h="38100">
                <a:moveTo>
                  <a:pt x="28956" y="0"/>
                </a:moveTo>
                <a:lnTo>
                  <a:pt x="0" y="0"/>
                </a:lnTo>
                <a:lnTo>
                  <a:pt x="0" y="9525"/>
                </a:lnTo>
                <a:lnTo>
                  <a:pt x="9652" y="9525"/>
                </a:lnTo>
                <a:lnTo>
                  <a:pt x="9652" y="19050"/>
                </a:lnTo>
                <a:lnTo>
                  <a:pt x="0" y="19050"/>
                </a:lnTo>
                <a:lnTo>
                  <a:pt x="0" y="38100"/>
                </a:lnTo>
                <a:lnTo>
                  <a:pt x="19304" y="38100"/>
                </a:lnTo>
                <a:lnTo>
                  <a:pt x="28956" y="19050"/>
                </a:lnTo>
                <a:lnTo>
                  <a:pt x="28956" y="0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196966" y="4867783"/>
            <a:ext cx="57531" cy="66675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211317" y="48257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196966" y="4811395"/>
            <a:ext cx="57531" cy="5600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211317" y="47678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196966" y="4753483"/>
            <a:ext cx="57531" cy="57531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211317" y="47114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196966" y="4697095"/>
            <a:ext cx="57531" cy="5600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211317" y="46535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196966" y="4639183"/>
            <a:ext cx="57531" cy="57531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211317" y="45971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196966" y="4582795"/>
            <a:ext cx="57531" cy="5600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211317" y="45392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196966" y="4524883"/>
            <a:ext cx="57531" cy="57531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211317" y="44828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196966" y="4468495"/>
            <a:ext cx="57531" cy="5600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211317" y="44249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196966" y="4410583"/>
            <a:ext cx="57531" cy="57531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211317" y="43685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196966" y="4354195"/>
            <a:ext cx="57531" cy="5600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211317" y="43106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196966" y="4296283"/>
            <a:ext cx="57531" cy="57531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5211317" y="42542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5196966" y="4239895"/>
            <a:ext cx="57531" cy="5600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5211317" y="41963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196966" y="4181983"/>
            <a:ext cx="57531" cy="57531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211317" y="41399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5196966" y="4125595"/>
            <a:ext cx="57531" cy="5600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5211317" y="408203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196966" y="4067683"/>
            <a:ext cx="57531" cy="57531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211317" y="4025646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5196966" y="4011295"/>
            <a:ext cx="57531" cy="5600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211317" y="396925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5196966" y="3954907"/>
            <a:ext cx="57531" cy="5600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211317" y="39128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196966" y="3898519"/>
            <a:ext cx="57531" cy="5600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211317" y="38549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196966" y="3840607"/>
            <a:ext cx="57531" cy="57531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211317" y="37985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5196966" y="3784219"/>
            <a:ext cx="57531" cy="5600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211317" y="37406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196966" y="3726307"/>
            <a:ext cx="57531" cy="57531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211317" y="36842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5196966" y="3669919"/>
            <a:ext cx="57531" cy="5600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5211317" y="36263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196966" y="3612007"/>
            <a:ext cx="57531" cy="57531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5211317" y="35699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196966" y="3555619"/>
            <a:ext cx="57531" cy="5600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211317" y="35120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196966" y="3497707"/>
            <a:ext cx="57531" cy="57530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211317" y="34556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196966" y="3441319"/>
            <a:ext cx="57531" cy="5600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211317" y="33977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196966" y="3383407"/>
            <a:ext cx="57531" cy="57530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211317" y="33413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196966" y="3327019"/>
            <a:ext cx="57531" cy="5600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211317" y="328345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196966" y="3269107"/>
            <a:ext cx="57531" cy="57530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5211317" y="32270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5196966" y="3212719"/>
            <a:ext cx="57531" cy="5600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5211317" y="31691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5196966" y="3154807"/>
            <a:ext cx="57531" cy="57657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5211317" y="31127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5196966" y="3098419"/>
            <a:ext cx="57531" cy="56133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5211317" y="30548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5196966" y="3040507"/>
            <a:ext cx="57531" cy="57657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5211317" y="29984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5196966" y="2984119"/>
            <a:ext cx="57531" cy="56133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5211317" y="29405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5196966" y="2926207"/>
            <a:ext cx="57531" cy="57657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211317" y="28841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196966" y="2869819"/>
            <a:ext cx="57531" cy="56133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5211317" y="28262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5196966" y="2811907"/>
            <a:ext cx="57531" cy="57657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5211317" y="27698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5196966" y="2755519"/>
            <a:ext cx="57531" cy="56133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5211317" y="27119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5196966" y="2697607"/>
            <a:ext cx="57531" cy="57657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5211317" y="26555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5196966" y="2641219"/>
            <a:ext cx="57531" cy="56133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5211317" y="259765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5196966" y="2583307"/>
            <a:ext cx="57531" cy="57657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5211317" y="2541270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5196966" y="2526919"/>
            <a:ext cx="57531" cy="56133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5182361" y="25123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5168010" y="2498089"/>
            <a:ext cx="57530" cy="57404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51259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5111622" y="2498089"/>
            <a:ext cx="56006" cy="5740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5068061" y="25123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5053710" y="2498089"/>
            <a:ext cx="57530" cy="57404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50116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4997322" y="2498089"/>
            <a:ext cx="56006" cy="5740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4953761" y="25123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4939410" y="2498089"/>
            <a:ext cx="57530" cy="57404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8973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4883022" y="2498089"/>
            <a:ext cx="56006" cy="57404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4839461" y="25123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4825110" y="2498089"/>
            <a:ext cx="57530" cy="57404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7830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4768722" y="2498089"/>
            <a:ext cx="56006" cy="5740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4725161" y="25123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4710810" y="2498089"/>
            <a:ext cx="57530" cy="57404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6687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4654422" y="2498089"/>
            <a:ext cx="56006" cy="5740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4610861" y="25123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596510" y="2498089"/>
            <a:ext cx="57530" cy="57404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5544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540122" y="2498089"/>
            <a:ext cx="56006" cy="5740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496561" y="2540507"/>
            <a:ext cx="29209" cy="1270"/>
          </a:xfrm>
          <a:custGeom>
            <a:avLst/>
            <a:gdLst/>
            <a:ahLst/>
            <a:cxnLst/>
            <a:rect l="l" t="t" r="r" b="b"/>
            <a:pathLst>
              <a:path w="29210" h="1269">
                <a:moveTo>
                  <a:pt x="0" y="762"/>
                </a:moveTo>
                <a:lnTo>
                  <a:pt x="28955" y="762"/>
                </a:lnTo>
                <a:lnTo>
                  <a:pt x="28955" y="0"/>
                </a:lnTo>
                <a:lnTo>
                  <a:pt x="0" y="0"/>
                </a:lnTo>
                <a:lnTo>
                  <a:pt x="0" y="76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482210" y="2498089"/>
            <a:ext cx="57530" cy="57404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4401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4425822" y="2498089"/>
            <a:ext cx="56006" cy="57404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4382261" y="25123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367910" y="2498089"/>
            <a:ext cx="57530" cy="57404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4325873" y="2512314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4311522" y="2498089"/>
            <a:ext cx="56006" cy="57404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5544311" y="2520695"/>
            <a:ext cx="571500" cy="2380615"/>
          </a:xfrm>
          <a:custGeom>
            <a:avLst/>
            <a:gdLst/>
            <a:ahLst/>
            <a:cxnLst/>
            <a:rect l="l" t="t" r="r" b="b"/>
            <a:pathLst>
              <a:path w="571500" h="2380615">
                <a:moveTo>
                  <a:pt x="0" y="2380487"/>
                </a:moveTo>
                <a:lnTo>
                  <a:pt x="571500" y="2380487"/>
                </a:lnTo>
                <a:lnTo>
                  <a:pt x="571500" y="0"/>
                </a:lnTo>
                <a:lnTo>
                  <a:pt x="0" y="0"/>
                </a:lnTo>
                <a:lnTo>
                  <a:pt x="0" y="2380487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533644" y="2511551"/>
            <a:ext cx="29209" cy="38100"/>
          </a:xfrm>
          <a:custGeom>
            <a:avLst/>
            <a:gdLst/>
            <a:ahLst/>
            <a:cxnLst/>
            <a:rect l="l" t="t" r="r" b="b"/>
            <a:pathLst>
              <a:path w="29210" h="38100">
                <a:moveTo>
                  <a:pt x="28955" y="0"/>
                </a:moveTo>
                <a:lnTo>
                  <a:pt x="0" y="0"/>
                </a:lnTo>
                <a:lnTo>
                  <a:pt x="0" y="38100"/>
                </a:lnTo>
                <a:lnTo>
                  <a:pt x="28955" y="38100"/>
                </a:lnTo>
                <a:lnTo>
                  <a:pt x="28955" y="28575"/>
                </a:lnTo>
                <a:lnTo>
                  <a:pt x="9651" y="28575"/>
                </a:lnTo>
                <a:lnTo>
                  <a:pt x="9651" y="9525"/>
                </a:lnTo>
                <a:lnTo>
                  <a:pt x="28955" y="9525"/>
                </a:lnTo>
                <a:lnTo>
                  <a:pt x="28955" y="0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533644" y="2578607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5533644" y="263499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5533644" y="2692907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5533644" y="274929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5533644" y="2807207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533644" y="286359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533644" y="2921507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533644" y="297789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5533644" y="3035807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5533644" y="309219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533644" y="3150107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533644" y="320649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5533644" y="326440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533644" y="332079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5533644" y="337870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5533644" y="343509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5533644" y="349300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5533644" y="354939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5533644" y="360730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5533644" y="366369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5533644" y="372160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5533644" y="377799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5533644" y="383590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5533644" y="389229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5533644" y="3950208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2"/>
                </a:moveTo>
                <a:lnTo>
                  <a:pt x="28955" y="27432"/>
                </a:lnTo>
                <a:lnTo>
                  <a:pt x="28955" y="0"/>
                </a:lnTo>
                <a:lnTo>
                  <a:pt x="0" y="0"/>
                </a:lnTo>
                <a:lnTo>
                  <a:pt x="0" y="27432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5533644" y="40050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5533644" y="40629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5533644" y="41193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5533644" y="41772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5533644" y="42336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5533644" y="42915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5533644" y="43479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5533644" y="44058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5533644" y="44622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5533644" y="45201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5533644" y="45765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5533644" y="46344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5533644" y="46908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5533644" y="47487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5533644" y="480517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5533644" y="4863084"/>
            <a:ext cx="29209" cy="27940"/>
          </a:xfrm>
          <a:custGeom>
            <a:avLst/>
            <a:gdLst/>
            <a:ahLst/>
            <a:cxnLst/>
            <a:rect l="l" t="t" r="r" b="b"/>
            <a:pathLst>
              <a:path w="29210" h="27939">
                <a:moveTo>
                  <a:pt x="0" y="27431"/>
                </a:moveTo>
                <a:lnTo>
                  <a:pt x="28955" y="27431"/>
                </a:lnTo>
                <a:lnTo>
                  <a:pt x="28955" y="0"/>
                </a:lnTo>
                <a:lnTo>
                  <a:pt x="0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5562600" y="48905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5620511" y="4890515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5676900" y="48905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5734811" y="4890515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5849111" y="4890515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5905500" y="48905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5963411" y="4890515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6019800" y="48905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6077711" y="4890515"/>
            <a:ext cx="27940" cy="29209"/>
          </a:xfrm>
          <a:custGeom>
            <a:avLst/>
            <a:gdLst/>
            <a:ahLst/>
            <a:cxnLst/>
            <a:rect l="l" t="t" r="r" b="b"/>
            <a:pathLst>
              <a:path w="27939" h="29210">
                <a:moveTo>
                  <a:pt x="0" y="28955"/>
                </a:moveTo>
                <a:lnTo>
                  <a:pt x="27432" y="28955"/>
                </a:lnTo>
                <a:lnTo>
                  <a:pt x="27432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6105144" y="48524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6105144" y="47960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6105144" y="47381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6105144" y="46817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6105144" y="46238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6105144" y="45674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6105144" y="45095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6105144" y="44531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6105144" y="43952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6105144" y="43388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6105144" y="42809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6105144" y="42245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6105144" y="41666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6105144" y="41102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6105144" y="40523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6105144" y="39959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6105144" y="39395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6105144" y="38831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6105144" y="38252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6105144" y="37688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6105144" y="37109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6105144" y="36545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6105144" y="35966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6"/>
                </a:moveTo>
                <a:lnTo>
                  <a:pt x="28955" y="28956"/>
                </a:lnTo>
                <a:lnTo>
                  <a:pt x="28955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6105144" y="35402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6105144" y="34823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6105144" y="34259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6105144" y="33680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6105144" y="33116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6105144" y="32537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6105144" y="31973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6105144" y="31394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6105144" y="30830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6105144" y="30251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6105144" y="29687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6105144" y="29108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6105144" y="28544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6105144" y="27965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6105144" y="27401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6105144" y="26822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6105144" y="26258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6105144" y="25679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6105144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28955" y="0"/>
                </a:moveTo>
                <a:lnTo>
                  <a:pt x="0" y="0"/>
                </a:lnTo>
                <a:lnTo>
                  <a:pt x="0" y="9651"/>
                </a:lnTo>
                <a:lnTo>
                  <a:pt x="9651" y="9651"/>
                </a:lnTo>
                <a:lnTo>
                  <a:pt x="9651" y="28956"/>
                </a:lnTo>
                <a:lnTo>
                  <a:pt x="28955" y="28956"/>
                </a:lnTo>
                <a:lnTo>
                  <a:pt x="28955" y="0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6048755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5990844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5934455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5876544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5820155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5705855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5647944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5591555" y="25115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0" y="28955"/>
                </a:moveTo>
                <a:lnTo>
                  <a:pt x="28955" y="28955"/>
                </a:lnTo>
                <a:lnTo>
                  <a:pt x="28955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1430274" y="1302258"/>
            <a:ext cx="5838825" cy="600710"/>
          </a:xfrm>
          <a:custGeom>
            <a:avLst/>
            <a:gdLst/>
            <a:ahLst/>
            <a:cxnLst/>
            <a:rect l="l" t="t" r="r" b="b"/>
            <a:pathLst>
              <a:path w="5838825" h="600710">
                <a:moveTo>
                  <a:pt x="0" y="600456"/>
                </a:moveTo>
                <a:lnTo>
                  <a:pt x="5838444" y="600456"/>
                </a:lnTo>
                <a:lnTo>
                  <a:pt x="5838444" y="0"/>
                </a:lnTo>
                <a:lnTo>
                  <a:pt x="0" y="0"/>
                </a:lnTo>
                <a:lnTo>
                  <a:pt x="0" y="600456"/>
                </a:lnTo>
                <a:close/>
              </a:path>
            </a:pathLst>
          </a:custGeom>
          <a:solidFill>
            <a:srgbClr val="FF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1430274" y="1302258"/>
            <a:ext cx="5838825" cy="600710"/>
          </a:xfrm>
          <a:custGeom>
            <a:avLst/>
            <a:gdLst/>
            <a:ahLst/>
            <a:cxnLst/>
            <a:rect l="l" t="t" r="r" b="b"/>
            <a:pathLst>
              <a:path w="5838825" h="600710">
                <a:moveTo>
                  <a:pt x="0" y="600456"/>
                </a:moveTo>
                <a:lnTo>
                  <a:pt x="5838444" y="600456"/>
                </a:lnTo>
                <a:lnTo>
                  <a:pt x="5838444" y="0"/>
                </a:lnTo>
                <a:lnTo>
                  <a:pt x="0" y="0"/>
                </a:lnTo>
                <a:lnTo>
                  <a:pt x="0" y="600456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1430274" y="5301234"/>
            <a:ext cx="5838825" cy="600710"/>
          </a:xfrm>
          <a:custGeom>
            <a:avLst/>
            <a:gdLst/>
            <a:ahLst/>
            <a:cxnLst/>
            <a:rect l="l" t="t" r="r" b="b"/>
            <a:pathLst>
              <a:path w="5838825" h="600710">
                <a:moveTo>
                  <a:pt x="0" y="600455"/>
                </a:moveTo>
                <a:lnTo>
                  <a:pt x="5838444" y="600455"/>
                </a:lnTo>
                <a:lnTo>
                  <a:pt x="5838444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solidFill>
            <a:srgbClr val="FF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1430274" y="5301234"/>
            <a:ext cx="5838825" cy="600710"/>
          </a:xfrm>
          <a:custGeom>
            <a:avLst/>
            <a:gdLst/>
            <a:ahLst/>
            <a:cxnLst/>
            <a:rect l="l" t="t" r="r" b="b"/>
            <a:pathLst>
              <a:path w="5838825" h="600710">
                <a:moveTo>
                  <a:pt x="0" y="600455"/>
                </a:moveTo>
                <a:lnTo>
                  <a:pt x="5838444" y="600455"/>
                </a:lnTo>
                <a:lnTo>
                  <a:pt x="5838444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 txBox="1"/>
          <p:nvPr/>
        </p:nvSpPr>
        <p:spPr>
          <a:xfrm>
            <a:off x="735888" y="2641304"/>
            <a:ext cx="375920" cy="1225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050">
              <a:lnSpc>
                <a:spcPct val="1515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00"/>
                </a:solidFill>
                <a:latin typeface="宋体"/>
                <a:cs typeface="宋体"/>
              </a:rPr>
              <a:t>源 程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53" name="object 353"/>
          <p:cNvSpPr txBox="1"/>
          <p:nvPr/>
        </p:nvSpPr>
        <p:spPr>
          <a:xfrm>
            <a:off x="735888" y="4082922"/>
            <a:ext cx="3562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1545716" y="2488666"/>
            <a:ext cx="384810" cy="230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marR="5080" indent="8890">
              <a:lnSpc>
                <a:spcPct val="137000"/>
              </a:lnSpc>
              <a:spcBef>
                <a:spcPts val="100"/>
              </a:spcBef>
            </a:pPr>
            <a:r>
              <a:rPr sz="2600" b="1" spc="-10" dirty="0">
                <a:latin typeface="宋体"/>
                <a:cs typeface="宋体"/>
              </a:rPr>
              <a:t>词 法</a:t>
            </a:r>
            <a:endParaRPr sz="2600">
              <a:latin typeface="宋体"/>
              <a:cs typeface="宋体"/>
            </a:endParaRPr>
          </a:p>
          <a:p>
            <a:pPr marL="31115" marR="13970" indent="-19050">
              <a:lnSpc>
                <a:spcPts val="4710"/>
              </a:lnSpc>
              <a:spcBef>
                <a:spcPts val="360"/>
              </a:spcBef>
            </a:pPr>
            <a:r>
              <a:rPr sz="2600" b="1" spc="-10" dirty="0">
                <a:latin typeface="宋体"/>
                <a:cs typeface="宋体"/>
              </a:rPr>
              <a:t>分 析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2707894" y="2488666"/>
            <a:ext cx="384810" cy="230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37000"/>
              </a:lnSpc>
              <a:spcBef>
                <a:spcPts val="100"/>
              </a:spcBef>
            </a:pPr>
            <a:r>
              <a:rPr sz="2600" b="1" spc="-10" dirty="0">
                <a:latin typeface="宋体"/>
                <a:cs typeface="宋体"/>
              </a:rPr>
              <a:t>语 法</a:t>
            </a:r>
            <a:endParaRPr sz="2600">
              <a:latin typeface="宋体"/>
              <a:cs typeface="宋体"/>
            </a:endParaRPr>
          </a:p>
          <a:p>
            <a:pPr marL="41275" marR="5080" indent="-19685">
              <a:lnSpc>
                <a:spcPts val="4710"/>
              </a:lnSpc>
              <a:spcBef>
                <a:spcPts val="360"/>
              </a:spcBef>
            </a:pPr>
            <a:r>
              <a:rPr sz="2600" b="1" spc="-10" dirty="0">
                <a:latin typeface="宋体"/>
                <a:cs typeface="宋体"/>
              </a:rPr>
              <a:t>分 析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3860672" y="2526766"/>
            <a:ext cx="2165985" cy="222440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1793875" algn="l"/>
              </a:tabLst>
            </a:pPr>
            <a:r>
              <a:rPr sz="2600" b="1" spc="-10" dirty="0">
                <a:latin typeface="宋体"/>
                <a:cs typeface="宋体"/>
              </a:rPr>
              <a:t>语</a:t>
            </a:r>
            <a:r>
              <a:rPr sz="2600" b="1" spc="60" dirty="0">
                <a:latin typeface="宋体"/>
                <a:cs typeface="宋体"/>
              </a:rPr>
              <a:t> </a:t>
            </a:r>
            <a:r>
              <a:rPr sz="2600" b="1" spc="-10" dirty="0">
                <a:latin typeface="宋体"/>
                <a:cs typeface="宋体"/>
              </a:rPr>
              <a:t>中	代</a:t>
            </a:r>
            <a:endParaRPr sz="2600">
              <a:latin typeface="宋体"/>
              <a:cs typeface="宋体"/>
            </a:endParaRPr>
          </a:p>
          <a:p>
            <a:pPr marL="40640">
              <a:lnSpc>
                <a:spcPct val="100000"/>
              </a:lnSpc>
              <a:spcBef>
                <a:spcPts val="855"/>
              </a:spcBef>
              <a:tabLst>
                <a:tab pos="1822450" algn="l"/>
              </a:tabLst>
            </a:pPr>
            <a:r>
              <a:rPr sz="2600" b="1" spc="-10" dirty="0">
                <a:latin typeface="宋体"/>
                <a:cs typeface="宋体"/>
              </a:rPr>
              <a:t>义</a:t>
            </a:r>
            <a:r>
              <a:rPr sz="2600" b="1" spc="60" dirty="0">
                <a:latin typeface="宋体"/>
                <a:cs typeface="宋体"/>
              </a:rPr>
              <a:t> </a:t>
            </a:r>
            <a:r>
              <a:rPr sz="2600" b="1" spc="459" dirty="0">
                <a:latin typeface="宋体"/>
                <a:cs typeface="宋体"/>
              </a:rPr>
              <a:t>间</a:t>
            </a:r>
            <a:r>
              <a:rPr sz="2600" b="1" spc="-10" dirty="0">
                <a:latin typeface="宋体"/>
                <a:cs typeface="宋体"/>
              </a:rPr>
              <a:t>生</a:t>
            </a:r>
            <a:r>
              <a:rPr sz="2600" b="1" dirty="0">
                <a:latin typeface="宋体"/>
                <a:cs typeface="宋体"/>
              </a:rPr>
              <a:t>	</a:t>
            </a:r>
            <a:r>
              <a:rPr sz="2600" b="1" spc="-10" dirty="0">
                <a:latin typeface="宋体"/>
                <a:cs typeface="宋体"/>
              </a:rPr>
              <a:t>码</a:t>
            </a:r>
            <a:endParaRPr sz="2600">
              <a:latin typeface="宋体"/>
              <a:cs typeface="宋体"/>
            </a:endParaRPr>
          </a:p>
          <a:p>
            <a:pPr marL="22225">
              <a:lnSpc>
                <a:spcPct val="100000"/>
              </a:lnSpc>
              <a:spcBef>
                <a:spcPts val="1530"/>
              </a:spcBef>
              <a:tabLst>
                <a:tab pos="1803400" algn="l"/>
              </a:tabLst>
            </a:pPr>
            <a:r>
              <a:rPr sz="2600" b="1" spc="-10" dirty="0">
                <a:latin typeface="宋体"/>
                <a:cs typeface="宋体"/>
              </a:rPr>
              <a:t>处</a:t>
            </a:r>
            <a:r>
              <a:rPr sz="2600" b="1" spc="60" dirty="0">
                <a:latin typeface="宋体"/>
                <a:cs typeface="宋体"/>
              </a:rPr>
              <a:t> </a:t>
            </a:r>
            <a:r>
              <a:rPr sz="2600" b="1" spc="459" dirty="0">
                <a:latin typeface="宋体"/>
                <a:cs typeface="宋体"/>
              </a:rPr>
              <a:t>代</a:t>
            </a:r>
            <a:r>
              <a:rPr sz="2600" b="1" spc="-10" dirty="0">
                <a:latin typeface="宋体"/>
                <a:cs typeface="宋体"/>
              </a:rPr>
              <a:t>成	优</a:t>
            </a:r>
            <a:endParaRPr sz="2600">
              <a:latin typeface="宋体"/>
              <a:cs typeface="宋体"/>
            </a:endParaRPr>
          </a:p>
          <a:p>
            <a:pPr marL="40640">
              <a:lnSpc>
                <a:spcPct val="100000"/>
              </a:lnSpc>
              <a:spcBef>
                <a:spcPts val="1595"/>
              </a:spcBef>
              <a:tabLst>
                <a:tab pos="1803400" algn="l"/>
              </a:tabLst>
            </a:pPr>
            <a:r>
              <a:rPr sz="2600" b="1" spc="-10" dirty="0">
                <a:latin typeface="宋体"/>
                <a:cs typeface="宋体"/>
              </a:rPr>
              <a:t>理</a:t>
            </a:r>
            <a:r>
              <a:rPr sz="2600" b="1" spc="60" dirty="0">
                <a:latin typeface="宋体"/>
                <a:cs typeface="宋体"/>
              </a:rPr>
              <a:t> </a:t>
            </a:r>
            <a:r>
              <a:rPr sz="2600" b="1" spc="-10" dirty="0">
                <a:latin typeface="宋体"/>
                <a:cs typeface="宋体"/>
              </a:rPr>
              <a:t>码	化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6794754" y="2526766"/>
            <a:ext cx="384810" cy="222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8575">
              <a:lnSpc>
                <a:spcPct val="127400"/>
              </a:lnSpc>
              <a:spcBef>
                <a:spcPts val="100"/>
              </a:spcBef>
            </a:pPr>
            <a:r>
              <a:rPr sz="2600" b="1" spc="-10" dirty="0">
                <a:latin typeface="宋体"/>
                <a:cs typeface="宋体"/>
              </a:rPr>
              <a:t>代 码</a:t>
            </a:r>
            <a:endParaRPr sz="2600">
              <a:latin typeface="宋体"/>
              <a:cs typeface="宋体"/>
            </a:endParaRPr>
          </a:p>
          <a:p>
            <a:pPr marL="22225" marR="23495">
              <a:lnSpc>
                <a:spcPts val="4710"/>
              </a:lnSpc>
              <a:spcBef>
                <a:spcPts val="360"/>
              </a:spcBef>
            </a:pPr>
            <a:r>
              <a:rPr sz="2600" b="1" spc="-10" dirty="0">
                <a:latin typeface="宋体"/>
                <a:cs typeface="宋体"/>
              </a:rPr>
              <a:t>生 成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58" name="object 358"/>
          <p:cNvSpPr txBox="1"/>
          <p:nvPr/>
        </p:nvSpPr>
        <p:spPr>
          <a:xfrm>
            <a:off x="7780146" y="2790018"/>
            <a:ext cx="381635" cy="1941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9845">
              <a:lnSpc>
                <a:spcPct val="115799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00"/>
                </a:solidFill>
                <a:latin typeface="宋体"/>
                <a:cs typeface="宋体"/>
              </a:rPr>
              <a:t>目 标</a:t>
            </a:r>
            <a:endParaRPr sz="2600">
              <a:latin typeface="宋体"/>
              <a:cs typeface="宋体"/>
            </a:endParaRPr>
          </a:p>
          <a:p>
            <a:pPr marL="37465" marR="5080">
              <a:lnSpc>
                <a:spcPct val="115799"/>
              </a:lnSpc>
              <a:spcBef>
                <a:spcPts val="640"/>
              </a:spcBef>
            </a:pP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程 序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59" name="object 359"/>
          <p:cNvSpPr txBox="1"/>
          <p:nvPr/>
        </p:nvSpPr>
        <p:spPr>
          <a:xfrm>
            <a:off x="2917317" y="5414568"/>
            <a:ext cx="35687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5" dirty="0">
                <a:latin typeface="宋体"/>
                <a:cs typeface="宋体"/>
              </a:rPr>
              <a:t>出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60" name="object 360"/>
          <p:cNvSpPr txBox="1"/>
          <p:nvPr/>
        </p:nvSpPr>
        <p:spPr>
          <a:xfrm>
            <a:off x="3908297" y="5414568"/>
            <a:ext cx="35687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5" dirty="0">
                <a:latin typeface="宋体"/>
                <a:cs typeface="宋体"/>
              </a:rPr>
              <a:t>错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61" name="object 361"/>
          <p:cNvSpPr txBox="1"/>
          <p:nvPr/>
        </p:nvSpPr>
        <p:spPr>
          <a:xfrm>
            <a:off x="4899152" y="5414568"/>
            <a:ext cx="35687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5" dirty="0">
                <a:latin typeface="宋体"/>
                <a:cs typeface="宋体"/>
              </a:rPr>
              <a:t>处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62" name="object 362"/>
          <p:cNvSpPr txBox="1"/>
          <p:nvPr/>
        </p:nvSpPr>
        <p:spPr>
          <a:xfrm>
            <a:off x="5889752" y="5414568"/>
            <a:ext cx="35687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5" dirty="0">
                <a:latin typeface="宋体"/>
                <a:cs typeface="宋体"/>
              </a:rPr>
              <a:t>理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63" name="object 363"/>
          <p:cNvSpPr txBox="1"/>
          <p:nvPr/>
        </p:nvSpPr>
        <p:spPr>
          <a:xfrm>
            <a:off x="2226055" y="5771184"/>
            <a:ext cx="1587500" cy="105727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40"/>
              </a:spcBef>
              <a:tabLst>
                <a:tab pos="1059815" algn="l"/>
              </a:tabLst>
            </a:pP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sz="2600" b="1" spc="-55" dirty="0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o</a:t>
            </a:r>
            <a:r>
              <a:rPr sz="26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t	end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600" b="1" spc="5" dirty="0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sz="2600" b="1" spc="-30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sz="2600" b="1" spc="-1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64" name="object 364"/>
          <p:cNvSpPr txBox="1"/>
          <p:nvPr/>
        </p:nvSpPr>
        <p:spPr>
          <a:xfrm>
            <a:off x="5356197" y="5720283"/>
            <a:ext cx="1474470" cy="1158875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857250" algn="l"/>
              </a:tabLst>
            </a:pP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back	</a:t>
            </a:r>
            <a:r>
              <a:rPr sz="26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end</a:t>
            </a:r>
            <a:endParaRPr sz="2600">
              <a:latin typeface="Times New Roman"/>
              <a:cs typeface="Times New Roman"/>
            </a:endParaRPr>
          </a:p>
          <a:p>
            <a:pPr marL="132080">
              <a:lnSpc>
                <a:spcPct val="100000"/>
              </a:lnSpc>
              <a:spcBef>
                <a:spcPts val="1340"/>
              </a:spcBef>
            </a:pP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（综合）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65" name="object 365"/>
          <p:cNvSpPr/>
          <p:nvPr/>
        </p:nvSpPr>
        <p:spPr>
          <a:xfrm>
            <a:off x="4516373" y="5377434"/>
            <a:ext cx="1905" cy="1391920"/>
          </a:xfrm>
          <a:custGeom>
            <a:avLst/>
            <a:gdLst/>
            <a:ahLst/>
            <a:cxnLst/>
            <a:rect l="l" t="t" r="r" b="b"/>
            <a:pathLst>
              <a:path w="1904" h="1391920">
                <a:moveTo>
                  <a:pt x="0" y="0"/>
                </a:moveTo>
                <a:lnTo>
                  <a:pt x="1524" y="1391411"/>
                </a:lnTo>
              </a:path>
            </a:pathLst>
          </a:custGeom>
          <a:ln w="34925">
            <a:solidFill>
              <a:srgbClr val="FFFF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4520184" y="4882896"/>
            <a:ext cx="0" cy="437515"/>
          </a:xfrm>
          <a:custGeom>
            <a:avLst/>
            <a:gdLst/>
            <a:ahLst/>
            <a:cxnLst/>
            <a:rect l="l" t="t" r="r" b="b"/>
            <a:pathLst>
              <a:path h="437514">
                <a:moveTo>
                  <a:pt x="0" y="0"/>
                </a:moveTo>
                <a:lnTo>
                  <a:pt x="0" y="437387"/>
                </a:lnTo>
              </a:path>
            </a:pathLst>
          </a:custGeom>
          <a:ln w="6705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6940295" y="4882896"/>
            <a:ext cx="0" cy="437515"/>
          </a:xfrm>
          <a:custGeom>
            <a:avLst/>
            <a:gdLst/>
            <a:ahLst/>
            <a:cxnLst/>
            <a:rect l="l" t="t" r="r" b="b"/>
            <a:pathLst>
              <a:path h="437514">
                <a:moveTo>
                  <a:pt x="0" y="0"/>
                </a:moveTo>
                <a:lnTo>
                  <a:pt x="0" y="437387"/>
                </a:lnTo>
              </a:path>
            </a:pathLst>
          </a:custGeom>
          <a:ln w="6705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5797296" y="4882896"/>
            <a:ext cx="0" cy="437515"/>
          </a:xfrm>
          <a:custGeom>
            <a:avLst/>
            <a:gdLst/>
            <a:ahLst/>
            <a:cxnLst/>
            <a:rect l="l" t="t" r="r" b="b"/>
            <a:pathLst>
              <a:path h="437514">
                <a:moveTo>
                  <a:pt x="0" y="0"/>
                </a:moveTo>
                <a:lnTo>
                  <a:pt x="0" y="437387"/>
                </a:lnTo>
              </a:path>
            </a:pathLst>
          </a:custGeom>
          <a:ln w="6705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1710689" y="4882896"/>
            <a:ext cx="0" cy="437515"/>
          </a:xfrm>
          <a:custGeom>
            <a:avLst/>
            <a:gdLst/>
            <a:ahLst/>
            <a:cxnLst/>
            <a:rect l="l" t="t" r="r" b="b"/>
            <a:pathLst>
              <a:path h="437514">
                <a:moveTo>
                  <a:pt x="0" y="0"/>
                </a:moveTo>
                <a:lnTo>
                  <a:pt x="0" y="437387"/>
                </a:lnTo>
              </a:path>
            </a:pathLst>
          </a:custGeom>
          <a:ln w="65531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2853689" y="4882896"/>
            <a:ext cx="0" cy="437515"/>
          </a:xfrm>
          <a:custGeom>
            <a:avLst/>
            <a:gdLst/>
            <a:ahLst/>
            <a:cxnLst/>
            <a:rect l="l" t="t" r="r" b="b"/>
            <a:pathLst>
              <a:path h="437514">
                <a:moveTo>
                  <a:pt x="0" y="0"/>
                </a:moveTo>
                <a:lnTo>
                  <a:pt x="0" y="437387"/>
                </a:lnTo>
              </a:path>
            </a:pathLst>
          </a:custGeom>
          <a:ln w="65531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6902195" y="1912620"/>
            <a:ext cx="0" cy="628015"/>
          </a:xfrm>
          <a:custGeom>
            <a:avLst/>
            <a:gdLst/>
            <a:ahLst/>
            <a:cxnLst/>
            <a:rect l="l" t="t" r="r" b="b"/>
            <a:pathLst>
              <a:path h="628014">
                <a:moveTo>
                  <a:pt x="0" y="0"/>
                </a:moveTo>
                <a:lnTo>
                  <a:pt x="0" y="627888"/>
                </a:lnTo>
              </a:path>
            </a:pathLst>
          </a:custGeom>
          <a:ln w="6705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5787390" y="1912620"/>
            <a:ext cx="0" cy="628015"/>
          </a:xfrm>
          <a:custGeom>
            <a:avLst/>
            <a:gdLst/>
            <a:ahLst/>
            <a:cxnLst/>
            <a:rect l="l" t="t" r="r" b="b"/>
            <a:pathLst>
              <a:path h="628014">
                <a:moveTo>
                  <a:pt x="0" y="0"/>
                </a:moveTo>
                <a:lnTo>
                  <a:pt x="0" y="627888"/>
                </a:lnTo>
              </a:path>
            </a:pathLst>
          </a:custGeom>
          <a:ln w="6553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1710689" y="1912620"/>
            <a:ext cx="0" cy="628015"/>
          </a:xfrm>
          <a:custGeom>
            <a:avLst/>
            <a:gdLst/>
            <a:ahLst/>
            <a:cxnLst/>
            <a:rect l="l" t="t" r="r" b="b"/>
            <a:pathLst>
              <a:path h="628014">
                <a:moveTo>
                  <a:pt x="0" y="0"/>
                </a:moveTo>
                <a:lnTo>
                  <a:pt x="0" y="627888"/>
                </a:lnTo>
              </a:path>
            </a:pathLst>
          </a:custGeom>
          <a:ln w="65531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4520184" y="1912620"/>
            <a:ext cx="0" cy="628015"/>
          </a:xfrm>
          <a:custGeom>
            <a:avLst/>
            <a:gdLst/>
            <a:ahLst/>
            <a:cxnLst/>
            <a:rect l="l" t="t" r="r" b="b"/>
            <a:pathLst>
              <a:path h="628014">
                <a:moveTo>
                  <a:pt x="0" y="0"/>
                </a:moveTo>
                <a:lnTo>
                  <a:pt x="0" y="627888"/>
                </a:lnTo>
              </a:path>
            </a:pathLst>
          </a:custGeom>
          <a:ln w="6705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2834639" y="1912620"/>
            <a:ext cx="0" cy="628015"/>
          </a:xfrm>
          <a:custGeom>
            <a:avLst/>
            <a:gdLst/>
            <a:ahLst/>
            <a:cxnLst/>
            <a:rect l="l" t="t" r="r" b="b"/>
            <a:pathLst>
              <a:path h="628014">
                <a:moveTo>
                  <a:pt x="0" y="0"/>
                </a:moveTo>
                <a:lnTo>
                  <a:pt x="0" y="627888"/>
                </a:lnTo>
              </a:path>
            </a:pathLst>
          </a:custGeom>
          <a:ln w="6705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1468374" y="5892546"/>
            <a:ext cx="1905" cy="399415"/>
          </a:xfrm>
          <a:custGeom>
            <a:avLst/>
            <a:gdLst/>
            <a:ahLst/>
            <a:cxnLst/>
            <a:rect l="l" t="t" r="r" b="b"/>
            <a:pathLst>
              <a:path w="1905" h="399414">
                <a:moveTo>
                  <a:pt x="0" y="0"/>
                </a:moveTo>
                <a:lnTo>
                  <a:pt x="1523" y="3992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7259573" y="5910834"/>
            <a:ext cx="1905" cy="401320"/>
          </a:xfrm>
          <a:custGeom>
            <a:avLst/>
            <a:gdLst/>
            <a:ahLst/>
            <a:cxnLst/>
            <a:rect l="l" t="t" r="r" b="b"/>
            <a:pathLst>
              <a:path w="1904" h="401320">
                <a:moveTo>
                  <a:pt x="0" y="0"/>
                </a:moveTo>
                <a:lnTo>
                  <a:pt x="1524" y="400811"/>
                </a:lnTo>
              </a:path>
            </a:pathLst>
          </a:custGeom>
          <a:ln w="3492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3982973" y="6130671"/>
            <a:ext cx="495300" cy="57150"/>
          </a:xfrm>
          <a:custGeom>
            <a:avLst/>
            <a:gdLst/>
            <a:ahLst/>
            <a:cxnLst/>
            <a:rect l="l" t="t" r="r" b="b"/>
            <a:pathLst>
              <a:path w="495300" h="57150">
                <a:moveTo>
                  <a:pt x="409575" y="0"/>
                </a:moveTo>
                <a:lnTo>
                  <a:pt x="409575" y="57149"/>
                </a:lnTo>
                <a:lnTo>
                  <a:pt x="452437" y="42862"/>
                </a:lnTo>
                <a:lnTo>
                  <a:pt x="423799" y="42862"/>
                </a:lnTo>
                <a:lnTo>
                  <a:pt x="423799" y="14287"/>
                </a:lnTo>
                <a:lnTo>
                  <a:pt x="452437" y="14287"/>
                </a:lnTo>
                <a:lnTo>
                  <a:pt x="409575" y="0"/>
                </a:lnTo>
                <a:close/>
              </a:path>
              <a:path w="495300" h="57150">
                <a:moveTo>
                  <a:pt x="409575" y="14287"/>
                </a:moveTo>
                <a:lnTo>
                  <a:pt x="0" y="14287"/>
                </a:lnTo>
                <a:lnTo>
                  <a:pt x="0" y="42862"/>
                </a:lnTo>
                <a:lnTo>
                  <a:pt x="409575" y="42862"/>
                </a:lnTo>
                <a:lnTo>
                  <a:pt x="409575" y="14287"/>
                </a:lnTo>
                <a:close/>
              </a:path>
              <a:path w="495300" h="57150">
                <a:moveTo>
                  <a:pt x="452437" y="14287"/>
                </a:moveTo>
                <a:lnTo>
                  <a:pt x="423799" y="14287"/>
                </a:lnTo>
                <a:lnTo>
                  <a:pt x="423799" y="42862"/>
                </a:lnTo>
                <a:lnTo>
                  <a:pt x="452437" y="42862"/>
                </a:lnTo>
                <a:lnTo>
                  <a:pt x="495300" y="28574"/>
                </a:lnTo>
                <a:lnTo>
                  <a:pt x="452437" y="142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6753606" y="6097142"/>
            <a:ext cx="495300" cy="57150"/>
          </a:xfrm>
          <a:custGeom>
            <a:avLst/>
            <a:gdLst/>
            <a:ahLst/>
            <a:cxnLst/>
            <a:rect l="l" t="t" r="r" b="b"/>
            <a:pathLst>
              <a:path w="495300" h="57150">
                <a:moveTo>
                  <a:pt x="409575" y="0"/>
                </a:moveTo>
                <a:lnTo>
                  <a:pt x="409575" y="57149"/>
                </a:lnTo>
                <a:lnTo>
                  <a:pt x="452437" y="42862"/>
                </a:lnTo>
                <a:lnTo>
                  <a:pt x="423799" y="42862"/>
                </a:lnTo>
                <a:lnTo>
                  <a:pt x="423799" y="14287"/>
                </a:lnTo>
                <a:lnTo>
                  <a:pt x="452437" y="14287"/>
                </a:lnTo>
                <a:lnTo>
                  <a:pt x="409575" y="0"/>
                </a:lnTo>
                <a:close/>
              </a:path>
              <a:path w="495300" h="57150">
                <a:moveTo>
                  <a:pt x="409575" y="14287"/>
                </a:moveTo>
                <a:lnTo>
                  <a:pt x="0" y="14287"/>
                </a:lnTo>
                <a:lnTo>
                  <a:pt x="0" y="42862"/>
                </a:lnTo>
                <a:lnTo>
                  <a:pt x="409575" y="42862"/>
                </a:lnTo>
                <a:lnTo>
                  <a:pt x="409575" y="14287"/>
                </a:lnTo>
                <a:close/>
              </a:path>
              <a:path w="495300" h="57150">
                <a:moveTo>
                  <a:pt x="452437" y="14287"/>
                </a:moveTo>
                <a:lnTo>
                  <a:pt x="423799" y="14287"/>
                </a:lnTo>
                <a:lnTo>
                  <a:pt x="423799" y="42862"/>
                </a:lnTo>
                <a:lnTo>
                  <a:pt x="452437" y="42862"/>
                </a:lnTo>
                <a:lnTo>
                  <a:pt x="495300" y="28574"/>
                </a:lnTo>
                <a:lnTo>
                  <a:pt x="452437" y="142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1448561" y="6097142"/>
            <a:ext cx="629920" cy="57150"/>
          </a:xfrm>
          <a:custGeom>
            <a:avLst/>
            <a:gdLst/>
            <a:ahLst/>
            <a:cxnLst/>
            <a:rect l="l" t="t" r="r" b="b"/>
            <a:pathLst>
              <a:path w="629919" h="57150">
                <a:moveTo>
                  <a:pt x="85725" y="0"/>
                </a:moveTo>
                <a:lnTo>
                  <a:pt x="0" y="28574"/>
                </a:lnTo>
                <a:lnTo>
                  <a:pt x="85725" y="57149"/>
                </a:lnTo>
                <a:lnTo>
                  <a:pt x="85725" y="42862"/>
                </a:lnTo>
                <a:lnTo>
                  <a:pt x="71500" y="42862"/>
                </a:lnTo>
                <a:lnTo>
                  <a:pt x="71500" y="14287"/>
                </a:lnTo>
                <a:lnTo>
                  <a:pt x="85725" y="14287"/>
                </a:lnTo>
                <a:lnTo>
                  <a:pt x="85725" y="0"/>
                </a:lnTo>
                <a:close/>
              </a:path>
              <a:path w="629919" h="57150">
                <a:moveTo>
                  <a:pt x="85725" y="14287"/>
                </a:moveTo>
                <a:lnTo>
                  <a:pt x="71500" y="14287"/>
                </a:lnTo>
                <a:lnTo>
                  <a:pt x="71500" y="42862"/>
                </a:lnTo>
                <a:lnTo>
                  <a:pt x="85725" y="42862"/>
                </a:lnTo>
                <a:lnTo>
                  <a:pt x="85725" y="14287"/>
                </a:lnTo>
                <a:close/>
              </a:path>
              <a:path w="629919" h="57150">
                <a:moveTo>
                  <a:pt x="629412" y="14287"/>
                </a:moveTo>
                <a:lnTo>
                  <a:pt x="85725" y="14287"/>
                </a:lnTo>
                <a:lnTo>
                  <a:pt x="85725" y="42862"/>
                </a:lnTo>
                <a:lnTo>
                  <a:pt x="629412" y="42862"/>
                </a:lnTo>
                <a:lnTo>
                  <a:pt x="629412" y="142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4554473" y="6120003"/>
            <a:ext cx="628015" cy="57150"/>
          </a:xfrm>
          <a:custGeom>
            <a:avLst/>
            <a:gdLst/>
            <a:ahLst/>
            <a:cxnLst/>
            <a:rect l="l" t="t" r="r" b="b"/>
            <a:pathLst>
              <a:path w="628014" h="57150">
                <a:moveTo>
                  <a:pt x="85725" y="0"/>
                </a:moveTo>
                <a:lnTo>
                  <a:pt x="0" y="28575"/>
                </a:lnTo>
                <a:lnTo>
                  <a:pt x="85725" y="57150"/>
                </a:lnTo>
                <a:lnTo>
                  <a:pt x="85725" y="42862"/>
                </a:lnTo>
                <a:lnTo>
                  <a:pt x="71500" y="42862"/>
                </a:lnTo>
                <a:lnTo>
                  <a:pt x="71500" y="14287"/>
                </a:lnTo>
                <a:lnTo>
                  <a:pt x="85725" y="14287"/>
                </a:lnTo>
                <a:lnTo>
                  <a:pt x="85725" y="0"/>
                </a:lnTo>
                <a:close/>
              </a:path>
              <a:path w="628014" h="57150">
                <a:moveTo>
                  <a:pt x="85725" y="14287"/>
                </a:moveTo>
                <a:lnTo>
                  <a:pt x="71500" y="14287"/>
                </a:lnTo>
                <a:lnTo>
                  <a:pt x="71500" y="42862"/>
                </a:lnTo>
                <a:lnTo>
                  <a:pt x="85725" y="42862"/>
                </a:lnTo>
                <a:lnTo>
                  <a:pt x="85725" y="14287"/>
                </a:lnTo>
                <a:close/>
              </a:path>
              <a:path w="628014" h="57150">
                <a:moveTo>
                  <a:pt x="627888" y="14287"/>
                </a:moveTo>
                <a:lnTo>
                  <a:pt x="85725" y="14287"/>
                </a:lnTo>
                <a:lnTo>
                  <a:pt x="85725" y="42862"/>
                </a:lnTo>
                <a:lnTo>
                  <a:pt x="627888" y="42862"/>
                </a:lnTo>
                <a:lnTo>
                  <a:pt x="627888" y="142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761" y="0"/>
            <a:ext cx="9143238" cy="419862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761" y="400811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761" y="0"/>
            <a:ext cx="0" cy="420370"/>
          </a:xfrm>
          <a:custGeom>
            <a:avLst/>
            <a:gdLst/>
            <a:ahLst/>
            <a:cxnLst/>
            <a:rect l="l" t="t" r="r" b="b"/>
            <a:pathLst>
              <a:path h="420370">
                <a:moveTo>
                  <a:pt x="0" y="0"/>
                </a:moveTo>
                <a:lnTo>
                  <a:pt x="0" y="419862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 txBox="1"/>
          <p:nvPr/>
        </p:nvSpPr>
        <p:spPr>
          <a:xfrm>
            <a:off x="307340" y="0"/>
            <a:ext cx="7886065" cy="19380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111885">
              <a:lnSpc>
                <a:spcPct val="100000"/>
              </a:lnSpc>
              <a:spcBef>
                <a:spcPts val="530"/>
              </a:spcBef>
              <a:tabLst>
                <a:tab pos="2400300" algn="l"/>
                <a:tab pos="4142104" algn="l"/>
                <a:tab pos="482219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spc="-5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spc="-5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spc="-5" dirty="0">
                <a:solidFill>
                  <a:srgbClr val="A15100"/>
                </a:solidFill>
                <a:latin typeface="华文新魏"/>
                <a:cs typeface="华文新魏"/>
              </a:rPr>
              <a:t>程序的结构与组织</a:t>
            </a:r>
            <a:endParaRPr sz="2400">
              <a:latin typeface="华文新魏"/>
              <a:cs typeface="华文新魏"/>
            </a:endParaRPr>
          </a:p>
          <a:p>
            <a:pPr marL="388620" indent="-376555">
              <a:lnSpc>
                <a:spcPct val="100000"/>
              </a:lnSpc>
              <a:spcBef>
                <a:spcPts val="1705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389255" algn="l"/>
              </a:tabLst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编译程序的逻辑结</a:t>
            </a:r>
            <a:r>
              <a:rPr sz="3600" b="1" spc="-15" dirty="0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sz="3600" b="1" spc="-3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600" b="1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</a:rPr>
              <a:t>经典划</a:t>
            </a:r>
            <a:r>
              <a:rPr sz="3600" b="1" dirty="0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sz="3600" b="1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600">
              <a:latin typeface="Times New Roman"/>
              <a:cs typeface="Times New Roman"/>
            </a:endParaRPr>
          </a:p>
          <a:p>
            <a:pPr marL="605790" algn="ctr">
              <a:lnSpc>
                <a:spcPct val="100000"/>
              </a:lnSpc>
              <a:spcBef>
                <a:spcPts val="2600"/>
              </a:spcBef>
              <a:tabLst>
                <a:tab pos="1596390" algn="l"/>
                <a:tab pos="2748915" algn="l"/>
                <a:tab pos="3902075" algn="l"/>
              </a:tabLst>
            </a:pPr>
            <a:r>
              <a:rPr sz="2600" b="1" spc="-10" dirty="0">
                <a:latin typeface="宋体"/>
                <a:cs typeface="宋体"/>
              </a:rPr>
              <a:t>表	格	管	理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5266" y="730072"/>
            <a:ext cx="4579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</a:tabLst>
            </a:pPr>
            <a:r>
              <a:rPr sz="2800" spc="-5" dirty="0"/>
              <a:t>1.	</a:t>
            </a:r>
            <a:r>
              <a:rPr sz="2800" spc="-10" dirty="0">
                <a:latin typeface="宋体"/>
                <a:cs typeface="宋体"/>
              </a:rPr>
              <a:t>词法分</a:t>
            </a:r>
            <a:r>
              <a:rPr sz="2800" spc="-15" dirty="0">
                <a:latin typeface="宋体"/>
                <a:cs typeface="宋体"/>
              </a:rPr>
              <a:t>析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/>
              <a:t>(lexical</a:t>
            </a:r>
            <a:r>
              <a:rPr sz="2800" spc="-25" dirty="0"/>
              <a:t> </a:t>
            </a:r>
            <a:r>
              <a:rPr sz="2800" dirty="0"/>
              <a:t>analysis)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1342" y="1174241"/>
            <a:ext cx="783844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15315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词法分析阶段的任务是对输入的符号串形式的源程序 进行最初的加工处理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400" b="1" spc="-6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它依次扫描读入的源程序中的每个 字符,识别出源程序中有独立意义的源语言单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,用某种特 定的数据结构对它的属性予以表示和标</a:t>
            </a: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注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。词法分析实际 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上是一种线性分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属性字的数据结构可据不同语言及编 译程序实现方案来设计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2400" b="1" spc="-2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但一般设计成单词属性标识及单 词内码两个数据项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6673" y="5796534"/>
            <a:ext cx="2400300" cy="681355"/>
          </a:xfrm>
          <a:prstGeom prst="rect">
            <a:avLst/>
          </a:prstGeom>
          <a:ln w="38100">
            <a:solidFill>
              <a:srgbClr val="FFD27A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665"/>
              </a:spcBef>
            </a:pPr>
            <a:r>
              <a:rPr sz="3200" b="1" dirty="0">
                <a:solidFill>
                  <a:srgbClr val="006600"/>
                </a:solidFill>
                <a:latin typeface="Times New Roman"/>
                <a:cs typeface="Times New Roman"/>
              </a:rPr>
              <a:t>Scanner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77874" y="6173723"/>
            <a:ext cx="1828800" cy="114300"/>
          </a:xfrm>
          <a:custGeom>
            <a:avLst/>
            <a:gdLst/>
            <a:ahLst/>
            <a:cxnLst/>
            <a:rect l="l" t="t" r="r" b="b"/>
            <a:pathLst>
              <a:path w="1828800" h="114300">
                <a:moveTo>
                  <a:pt x="1638300" y="0"/>
                </a:moveTo>
                <a:lnTo>
                  <a:pt x="1638300" y="114299"/>
                </a:lnTo>
                <a:lnTo>
                  <a:pt x="1765300" y="76199"/>
                </a:lnTo>
                <a:lnTo>
                  <a:pt x="1657350" y="76199"/>
                </a:lnTo>
                <a:lnTo>
                  <a:pt x="1657350" y="38099"/>
                </a:lnTo>
                <a:lnTo>
                  <a:pt x="1765300" y="38099"/>
                </a:lnTo>
                <a:lnTo>
                  <a:pt x="1638300" y="0"/>
                </a:lnTo>
                <a:close/>
              </a:path>
              <a:path w="1828800" h="114300">
                <a:moveTo>
                  <a:pt x="16383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638300" y="76199"/>
                </a:lnTo>
                <a:lnTo>
                  <a:pt x="1638300" y="38099"/>
                </a:lnTo>
                <a:close/>
              </a:path>
              <a:path w="1828800" h="114300">
                <a:moveTo>
                  <a:pt x="1765300" y="38099"/>
                </a:moveTo>
                <a:lnTo>
                  <a:pt x="1657350" y="38099"/>
                </a:lnTo>
                <a:lnTo>
                  <a:pt x="1657350" y="76199"/>
                </a:lnTo>
                <a:lnTo>
                  <a:pt x="1765300" y="76199"/>
                </a:lnTo>
                <a:lnTo>
                  <a:pt x="1828800" y="57149"/>
                </a:lnTo>
                <a:lnTo>
                  <a:pt x="1765300" y="38099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06973" y="6153911"/>
            <a:ext cx="1828800" cy="114300"/>
          </a:xfrm>
          <a:custGeom>
            <a:avLst/>
            <a:gdLst/>
            <a:ahLst/>
            <a:cxnLst/>
            <a:rect l="l" t="t" r="r" b="b"/>
            <a:pathLst>
              <a:path w="1828800" h="114300">
                <a:moveTo>
                  <a:pt x="1638300" y="0"/>
                </a:moveTo>
                <a:lnTo>
                  <a:pt x="1638300" y="114300"/>
                </a:lnTo>
                <a:lnTo>
                  <a:pt x="1765300" y="76200"/>
                </a:lnTo>
                <a:lnTo>
                  <a:pt x="1657350" y="76200"/>
                </a:lnTo>
                <a:lnTo>
                  <a:pt x="1657350" y="38100"/>
                </a:lnTo>
                <a:lnTo>
                  <a:pt x="1765300" y="38100"/>
                </a:lnTo>
                <a:lnTo>
                  <a:pt x="1638300" y="0"/>
                </a:lnTo>
                <a:close/>
              </a:path>
              <a:path w="1828800" h="114300">
                <a:moveTo>
                  <a:pt x="16383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38300" y="76200"/>
                </a:lnTo>
                <a:lnTo>
                  <a:pt x="1638300" y="38100"/>
                </a:lnTo>
                <a:close/>
              </a:path>
              <a:path w="1828800" h="114300">
                <a:moveTo>
                  <a:pt x="1765300" y="38100"/>
                </a:moveTo>
                <a:lnTo>
                  <a:pt x="1657350" y="38100"/>
                </a:lnTo>
                <a:lnTo>
                  <a:pt x="1657350" y="76200"/>
                </a:lnTo>
                <a:lnTo>
                  <a:pt x="1765300" y="76200"/>
                </a:lnTo>
                <a:lnTo>
                  <a:pt x="1828800" y="57150"/>
                </a:lnTo>
                <a:lnTo>
                  <a:pt x="1765300" y="38100"/>
                </a:lnTo>
                <a:close/>
              </a:path>
            </a:pathLst>
          </a:custGeom>
          <a:solidFill>
            <a:srgbClr val="CC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93266" y="5633720"/>
            <a:ext cx="1148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0552" y="5652922"/>
            <a:ext cx="1605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属性字流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58461" y="18295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77973" y="1817751"/>
            <a:ext cx="2814955" cy="3555365"/>
          </a:xfrm>
          <a:custGeom>
            <a:avLst/>
            <a:gdLst/>
            <a:ahLst/>
            <a:cxnLst/>
            <a:rect l="l" t="t" r="r" b="b"/>
            <a:pathLst>
              <a:path w="2814954" h="3555365">
                <a:moveTo>
                  <a:pt x="58927" y="3311905"/>
                </a:moveTo>
                <a:lnTo>
                  <a:pt x="0" y="3555111"/>
                </a:lnTo>
                <a:lnTo>
                  <a:pt x="45409" y="3536188"/>
                </a:lnTo>
                <a:lnTo>
                  <a:pt x="39243" y="3536188"/>
                </a:lnTo>
                <a:lnTo>
                  <a:pt x="9398" y="3512566"/>
                </a:lnTo>
                <a:lnTo>
                  <a:pt x="54978" y="3454875"/>
                </a:lnTo>
                <a:lnTo>
                  <a:pt x="74675" y="3333750"/>
                </a:lnTo>
                <a:lnTo>
                  <a:pt x="74376" y="3326247"/>
                </a:lnTo>
                <a:lnTo>
                  <a:pt x="71326" y="3319637"/>
                </a:lnTo>
                <a:lnTo>
                  <a:pt x="66014" y="3314622"/>
                </a:lnTo>
                <a:lnTo>
                  <a:pt x="58927" y="3311905"/>
                </a:lnTo>
                <a:close/>
              </a:path>
              <a:path w="2814954" h="3555365">
                <a:moveTo>
                  <a:pt x="54978" y="3454875"/>
                </a:moveTo>
                <a:lnTo>
                  <a:pt x="9398" y="3512566"/>
                </a:lnTo>
                <a:lnTo>
                  <a:pt x="39243" y="3536188"/>
                </a:lnTo>
                <a:lnTo>
                  <a:pt x="46166" y="3527425"/>
                </a:lnTo>
                <a:lnTo>
                  <a:pt x="43180" y="3527425"/>
                </a:lnTo>
                <a:lnTo>
                  <a:pt x="17018" y="3506724"/>
                </a:lnTo>
                <a:lnTo>
                  <a:pt x="48693" y="3493520"/>
                </a:lnTo>
                <a:lnTo>
                  <a:pt x="54978" y="3454875"/>
                </a:lnTo>
                <a:close/>
              </a:path>
              <a:path w="2814954" h="3555365">
                <a:moveTo>
                  <a:pt x="205454" y="3429803"/>
                </a:moveTo>
                <a:lnTo>
                  <a:pt x="197993" y="3431286"/>
                </a:lnTo>
                <a:lnTo>
                  <a:pt x="84870" y="3478440"/>
                </a:lnTo>
                <a:lnTo>
                  <a:pt x="39243" y="3536188"/>
                </a:lnTo>
                <a:lnTo>
                  <a:pt x="45409" y="3536188"/>
                </a:lnTo>
                <a:lnTo>
                  <a:pt x="212725" y="3466465"/>
                </a:lnTo>
                <a:lnTo>
                  <a:pt x="218955" y="3462218"/>
                </a:lnTo>
                <a:lnTo>
                  <a:pt x="222948" y="3456114"/>
                </a:lnTo>
                <a:lnTo>
                  <a:pt x="224369" y="3448962"/>
                </a:lnTo>
                <a:lnTo>
                  <a:pt x="222884" y="3441573"/>
                </a:lnTo>
                <a:lnTo>
                  <a:pt x="218709" y="3435268"/>
                </a:lnTo>
                <a:lnTo>
                  <a:pt x="212629" y="3431238"/>
                </a:lnTo>
                <a:lnTo>
                  <a:pt x="205454" y="3429803"/>
                </a:lnTo>
                <a:close/>
              </a:path>
              <a:path w="2814954" h="3555365">
                <a:moveTo>
                  <a:pt x="48693" y="3493520"/>
                </a:moveTo>
                <a:lnTo>
                  <a:pt x="17018" y="3506724"/>
                </a:lnTo>
                <a:lnTo>
                  <a:pt x="43180" y="3527425"/>
                </a:lnTo>
                <a:lnTo>
                  <a:pt x="48693" y="3493520"/>
                </a:lnTo>
                <a:close/>
              </a:path>
              <a:path w="2814954" h="3555365">
                <a:moveTo>
                  <a:pt x="84870" y="3478440"/>
                </a:moveTo>
                <a:lnTo>
                  <a:pt x="48693" y="3493520"/>
                </a:lnTo>
                <a:lnTo>
                  <a:pt x="43180" y="3527425"/>
                </a:lnTo>
                <a:lnTo>
                  <a:pt x="46166" y="3527425"/>
                </a:lnTo>
                <a:lnTo>
                  <a:pt x="84870" y="3478440"/>
                </a:lnTo>
                <a:close/>
              </a:path>
              <a:path w="2814954" h="3555365">
                <a:moveTo>
                  <a:pt x="2784602" y="0"/>
                </a:moveTo>
                <a:lnTo>
                  <a:pt x="54978" y="3454875"/>
                </a:lnTo>
                <a:lnTo>
                  <a:pt x="48693" y="3493520"/>
                </a:lnTo>
                <a:lnTo>
                  <a:pt x="84870" y="3478440"/>
                </a:lnTo>
                <a:lnTo>
                  <a:pt x="2814574" y="23622"/>
                </a:lnTo>
                <a:lnTo>
                  <a:pt x="2784602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10861" y="3429761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912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47334" y="3414648"/>
            <a:ext cx="1149985" cy="1957705"/>
          </a:xfrm>
          <a:custGeom>
            <a:avLst/>
            <a:gdLst/>
            <a:ahLst/>
            <a:cxnLst/>
            <a:rect l="l" t="t" r="r" b="b"/>
            <a:pathLst>
              <a:path w="1149985" h="1957704">
                <a:moveTo>
                  <a:pt x="871475" y="1727215"/>
                </a:moveTo>
                <a:lnTo>
                  <a:pt x="860536" y="1727803"/>
                </a:lnTo>
                <a:lnTo>
                  <a:pt x="850620" y="1732438"/>
                </a:lnTo>
                <a:lnTo>
                  <a:pt x="843026" y="1740789"/>
                </a:lnTo>
                <a:lnTo>
                  <a:pt x="839231" y="1751510"/>
                </a:lnTo>
                <a:lnTo>
                  <a:pt x="839819" y="1762458"/>
                </a:lnTo>
                <a:lnTo>
                  <a:pt x="844454" y="1772382"/>
                </a:lnTo>
                <a:lnTo>
                  <a:pt x="852804" y="1780032"/>
                </a:lnTo>
                <a:lnTo>
                  <a:pt x="1149477" y="1957451"/>
                </a:lnTo>
                <a:lnTo>
                  <a:pt x="1148831" y="1920875"/>
                </a:lnTo>
                <a:lnTo>
                  <a:pt x="1095248" y="1920875"/>
                </a:lnTo>
                <a:lnTo>
                  <a:pt x="1039996" y="1825420"/>
                </a:lnTo>
                <a:lnTo>
                  <a:pt x="882141" y="1731009"/>
                </a:lnTo>
                <a:lnTo>
                  <a:pt x="871475" y="1727215"/>
                </a:lnTo>
                <a:close/>
              </a:path>
              <a:path w="1149985" h="1957704">
                <a:moveTo>
                  <a:pt x="1039996" y="1825420"/>
                </a:moveTo>
                <a:lnTo>
                  <a:pt x="1095248" y="1920875"/>
                </a:lnTo>
                <a:lnTo>
                  <a:pt x="1119136" y="1907032"/>
                </a:lnTo>
                <a:lnTo>
                  <a:pt x="1091438" y="1907032"/>
                </a:lnTo>
                <a:lnTo>
                  <a:pt x="1090528" y="1855643"/>
                </a:lnTo>
                <a:lnTo>
                  <a:pt x="1039996" y="1825420"/>
                </a:lnTo>
                <a:close/>
              </a:path>
              <a:path w="1149985" h="1957704">
                <a:moveTo>
                  <a:pt x="1114298" y="1583817"/>
                </a:moveTo>
                <a:lnTo>
                  <a:pt x="1103233" y="1586235"/>
                </a:lnTo>
                <a:lnTo>
                  <a:pt x="1094263" y="1592500"/>
                </a:lnTo>
                <a:lnTo>
                  <a:pt x="1088294" y="1601694"/>
                </a:lnTo>
                <a:lnTo>
                  <a:pt x="1086230" y="1612900"/>
                </a:lnTo>
                <a:lnTo>
                  <a:pt x="1089483" y="1796645"/>
                </a:lnTo>
                <a:lnTo>
                  <a:pt x="1144777" y="1892173"/>
                </a:lnTo>
                <a:lnTo>
                  <a:pt x="1095248" y="1920875"/>
                </a:lnTo>
                <a:lnTo>
                  <a:pt x="1148831" y="1920875"/>
                </a:lnTo>
                <a:lnTo>
                  <a:pt x="1143380" y="1611883"/>
                </a:lnTo>
                <a:lnTo>
                  <a:pt x="1140944" y="1600765"/>
                </a:lnTo>
                <a:lnTo>
                  <a:pt x="1134649" y="1591802"/>
                </a:lnTo>
                <a:lnTo>
                  <a:pt x="1125450" y="1585862"/>
                </a:lnTo>
                <a:lnTo>
                  <a:pt x="1114298" y="1583817"/>
                </a:lnTo>
                <a:close/>
              </a:path>
              <a:path w="1149985" h="1957704">
                <a:moveTo>
                  <a:pt x="1090528" y="1855643"/>
                </a:moveTo>
                <a:lnTo>
                  <a:pt x="1091438" y="1907032"/>
                </a:lnTo>
                <a:lnTo>
                  <a:pt x="1134617" y="1882013"/>
                </a:lnTo>
                <a:lnTo>
                  <a:pt x="1090528" y="1855643"/>
                </a:lnTo>
                <a:close/>
              </a:path>
              <a:path w="1149985" h="1957704">
                <a:moveTo>
                  <a:pt x="1089483" y="1796645"/>
                </a:moveTo>
                <a:lnTo>
                  <a:pt x="1090528" y="1855643"/>
                </a:lnTo>
                <a:lnTo>
                  <a:pt x="1134617" y="1882013"/>
                </a:lnTo>
                <a:lnTo>
                  <a:pt x="1091438" y="1907032"/>
                </a:lnTo>
                <a:lnTo>
                  <a:pt x="1119136" y="1907032"/>
                </a:lnTo>
                <a:lnTo>
                  <a:pt x="1144777" y="1892173"/>
                </a:lnTo>
                <a:lnTo>
                  <a:pt x="1089483" y="1796645"/>
                </a:lnTo>
                <a:close/>
              </a:path>
              <a:path w="1149985" h="1957704">
                <a:moveTo>
                  <a:pt x="49529" y="0"/>
                </a:moveTo>
                <a:lnTo>
                  <a:pt x="0" y="28701"/>
                </a:lnTo>
                <a:lnTo>
                  <a:pt x="1039996" y="1825420"/>
                </a:lnTo>
                <a:lnTo>
                  <a:pt x="1090528" y="1855643"/>
                </a:lnTo>
                <a:lnTo>
                  <a:pt x="1089483" y="1796645"/>
                </a:lnTo>
                <a:lnTo>
                  <a:pt x="49529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07033" y="11378"/>
            <a:ext cx="6787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  <a:tab pos="3042285" algn="l"/>
                <a:tab pos="372237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675" y="1828800"/>
            <a:ext cx="7315200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515" y="4610100"/>
            <a:ext cx="48768" cy="2247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1640" y="577977"/>
            <a:ext cx="9461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2054" y="577977"/>
            <a:ext cx="2959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有如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sz="2800" b="1" spc="-5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8973" y="1105661"/>
            <a:ext cx="3467100" cy="591820"/>
          </a:xfrm>
          <a:prstGeom prst="rect">
            <a:avLst/>
          </a:prstGeom>
          <a:ln w="38100">
            <a:solidFill>
              <a:srgbClr val="99CCFF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760"/>
              </a:spcBef>
              <a:tabLst>
                <a:tab pos="2593340" algn="l"/>
              </a:tabLst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a[index] = 12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3716" y="1738121"/>
            <a:ext cx="7379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经词法分析后将产生对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个识别的单词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2400" b="1" spc="-5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如下属性标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注: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1815" y="4290948"/>
            <a:ext cx="2960509" cy="2472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730" y="4290948"/>
            <a:ext cx="2961005" cy="2473325"/>
          </a:xfrm>
          <a:custGeom>
            <a:avLst/>
            <a:gdLst/>
            <a:ahLst/>
            <a:cxnLst/>
            <a:rect l="l" t="t" r="r" b="b"/>
            <a:pathLst>
              <a:path w="2961004" h="2473325">
                <a:moveTo>
                  <a:pt x="2960594" y="0"/>
                </a:moveTo>
                <a:lnTo>
                  <a:pt x="875889" y="1371180"/>
                </a:lnTo>
                <a:lnTo>
                  <a:pt x="875972" y="1436196"/>
                </a:lnTo>
                <a:lnTo>
                  <a:pt x="874474" y="1500310"/>
                </a:lnTo>
                <a:lnTo>
                  <a:pt x="871439" y="1563405"/>
                </a:lnTo>
                <a:lnTo>
                  <a:pt x="866911" y="1625367"/>
                </a:lnTo>
                <a:lnTo>
                  <a:pt x="860934" y="1686081"/>
                </a:lnTo>
                <a:lnTo>
                  <a:pt x="853552" y="1745431"/>
                </a:lnTo>
                <a:lnTo>
                  <a:pt x="844810" y="1803303"/>
                </a:lnTo>
                <a:lnTo>
                  <a:pt x="834753" y="1859580"/>
                </a:lnTo>
                <a:lnTo>
                  <a:pt x="823423" y="1914148"/>
                </a:lnTo>
                <a:lnTo>
                  <a:pt x="810867" y="1966892"/>
                </a:lnTo>
                <a:lnTo>
                  <a:pt x="797127" y="2017696"/>
                </a:lnTo>
                <a:lnTo>
                  <a:pt x="782248" y="2066445"/>
                </a:lnTo>
                <a:lnTo>
                  <a:pt x="766275" y="2113023"/>
                </a:lnTo>
                <a:lnTo>
                  <a:pt x="749251" y="2157317"/>
                </a:lnTo>
                <a:lnTo>
                  <a:pt x="731222" y="2199210"/>
                </a:lnTo>
                <a:lnTo>
                  <a:pt x="712230" y="2238587"/>
                </a:lnTo>
                <a:lnTo>
                  <a:pt x="692321" y="2275333"/>
                </a:lnTo>
                <a:lnTo>
                  <a:pt x="671539" y="2309332"/>
                </a:lnTo>
                <a:lnTo>
                  <a:pt x="627532" y="2368632"/>
                </a:lnTo>
                <a:lnTo>
                  <a:pt x="580564" y="2415565"/>
                </a:lnTo>
                <a:lnTo>
                  <a:pt x="530988" y="2449207"/>
                </a:lnTo>
                <a:lnTo>
                  <a:pt x="479158" y="2468639"/>
                </a:lnTo>
                <a:lnTo>
                  <a:pt x="424786" y="2472875"/>
                </a:lnTo>
                <a:lnTo>
                  <a:pt x="397464" y="2468863"/>
                </a:lnTo>
                <a:lnTo>
                  <a:pt x="344238" y="2448876"/>
                </a:lnTo>
                <a:lnTo>
                  <a:pt x="293256" y="2413741"/>
                </a:lnTo>
                <a:lnTo>
                  <a:pt x="244941" y="2364426"/>
                </a:lnTo>
                <a:lnTo>
                  <a:pt x="199717" y="2301897"/>
                </a:lnTo>
                <a:lnTo>
                  <a:pt x="178397" y="2265978"/>
                </a:lnTo>
                <a:lnTo>
                  <a:pt x="158008" y="2227119"/>
                </a:lnTo>
                <a:lnTo>
                  <a:pt x="138605" y="2185438"/>
                </a:lnTo>
                <a:lnTo>
                  <a:pt x="120239" y="2141058"/>
                </a:lnTo>
                <a:lnTo>
                  <a:pt x="102964" y="2094098"/>
                </a:lnTo>
                <a:lnTo>
                  <a:pt x="86832" y="2044680"/>
                </a:lnTo>
                <a:lnTo>
                  <a:pt x="71898" y="1992925"/>
                </a:lnTo>
                <a:lnTo>
                  <a:pt x="58213" y="1938952"/>
                </a:lnTo>
                <a:lnTo>
                  <a:pt x="45831" y="1882884"/>
                </a:lnTo>
                <a:lnTo>
                  <a:pt x="34805" y="1824840"/>
                </a:lnTo>
                <a:lnTo>
                  <a:pt x="25187" y="1764941"/>
                </a:lnTo>
                <a:lnTo>
                  <a:pt x="17031" y="1703309"/>
                </a:lnTo>
                <a:lnTo>
                  <a:pt x="10390" y="1640064"/>
                </a:lnTo>
                <a:lnTo>
                  <a:pt x="5316" y="1575326"/>
                </a:lnTo>
                <a:lnTo>
                  <a:pt x="1863" y="1509216"/>
                </a:lnTo>
                <a:lnTo>
                  <a:pt x="84" y="1441856"/>
                </a:lnTo>
                <a:lnTo>
                  <a:pt x="0" y="1376846"/>
                </a:lnTo>
                <a:lnTo>
                  <a:pt x="1497" y="1312738"/>
                </a:lnTo>
                <a:lnTo>
                  <a:pt x="4531" y="1249647"/>
                </a:lnTo>
                <a:lnTo>
                  <a:pt x="9059" y="1187688"/>
                </a:lnTo>
                <a:lnTo>
                  <a:pt x="15036" y="1126977"/>
                </a:lnTo>
                <a:lnTo>
                  <a:pt x="22418" y="1067628"/>
                </a:lnTo>
                <a:lnTo>
                  <a:pt x="31160" y="1009758"/>
                </a:lnTo>
                <a:lnTo>
                  <a:pt x="41218" y="953481"/>
                </a:lnTo>
                <a:lnTo>
                  <a:pt x="52547" y="898913"/>
                </a:lnTo>
                <a:lnTo>
                  <a:pt x="65105" y="846169"/>
                </a:lnTo>
                <a:lnTo>
                  <a:pt x="78845" y="795365"/>
                </a:lnTo>
                <a:lnTo>
                  <a:pt x="93725" y="746615"/>
                </a:lnTo>
                <a:lnTo>
                  <a:pt x="109699" y="700035"/>
                </a:lnTo>
                <a:lnTo>
                  <a:pt x="126724" y="655741"/>
                </a:lnTo>
                <a:lnTo>
                  <a:pt x="144755" y="613848"/>
                </a:lnTo>
                <a:lnTo>
                  <a:pt x="163747" y="574470"/>
                </a:lnTo>
                <a:lnTo>
                  <a:pt x="183657" y="537724"/>
                </a:lnTo>
                <a:lnTo>
                  <a:pt x="204440" y="503725"/>
                </a:lnTo>
                <a:lnTo>
                  <a:pt x="248449" y="444427"/>
                </a:lnTo>
                <a:lnTo>
                  <a:pt x="295420" y="397501"/>
                </a:lnTo>
                <a:lnTo>
                  <a:pt x="344997" y="363867"/>
                </a:lnTo>
                <a:lnTo>
                  <a:pt x="396828" y="344449"/>
                </a:lnTo>
                <a:lnTo>
                  <a:pt x="423477" y="340359"/>
                </a:lnTo>
                <a:lnTo>
                  <a:pt x="454815" y="340534"/>
                </a:lnTo>
                <a:lnTo>
                  <a:pt x="516223" y="356830"/>
                </a:lnTo>
                <a:lnTo>
                  <a:pt x="575308" y="393420"/>
                </a:lnTo>
                <a:lnTo>
                  <a:pt x="603742" y="418965"/>
                </a:lnTo>
                <a:lnTo>
                  <a:pt x="631311" y="449149"/>
                </a:lnTo>
                <a:lnTo>
                  <a:pt x="657921" y="483828"/>
                </a:lnTo>
                <a:lnTo>
                  <a:pt x="683476" y="522858"/>
                </a:lnTo>
                <a:lnTo>
                  <a:pt x="707882" y="566093"/>
                </a:lnTo>
                <a:lnTo>
                  <a:pt x="731043" y="613390"/>
                </a:lnTo>
                <a:lnTo>
                  <a:pt x="752866" y="664602"/>
                </a:lnTo>
                <a:lnTo>
                  <a:pt x="773254" y="719586"/>
                </a:lnTo>
                <a:lnTo>
                  <a:pt x="792115" y="778197"/>
                </a:lnTo>
                <a:lnTo>
                  <a:pt x="809351" y="840290"/>
                </a:lnTo>
                <a:lnTo>
                  <a:pt x="824870" y="905720"/>
                </a:lnTo>
                <a:lnTo>
                  <a:pt x="838576" y="974344"/>
                </a:lnTo>
                <a:lnTo>
                  <a:pt x="2960594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99465" y="2191511"/>
          <a:ext cx="7169150" cy="455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043">
                <a:tc gridSpan="2"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( 1</a:t>
                      </a:r>
                      <a:r>
                        <a:rPr sz="2400" b="1" spc="-114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99CC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99CCFF"/>
                      </a:solidFill>
                      <a:prstDash val="solid"/>
                    </a:lnL>
                    <a:lnT w="38100">
                      <a:solidFill>
                        <a:srgbClr val="99CCFF"/>
                      </a:solidFill>
                      <a:prstDash val="solid"/>
                    </a:lnT>
                    <a:solidFill>
                      <a:srgbClr val="00660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标识符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99CCFF"/>
                      </a:solidFill>
                      <a:prstDash val="solid"/>
                    </a:lnR>
                    <a:lnT w="38100">
                      <a:solidFill>
                        <a:srgbClr val="99CCFF"/>
                      </a:solidFill>
                      <a:prstDash val="solid"/>
                    </a:lnT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870">
                <a:tc gridSpan="2"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( 2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R w="38100">
                      <a:solidFill>
                        <a:srgbClr val="99CC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[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24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index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38100">
                      <a:solidFill>
                        <a:srgbClr val="99CCFF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左方括号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340995" marR="1798320" indent="4445">
                        <a:lnSpc>
                          <a:spcPct val="135000"/>
                        </a:lnSpc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标识符 </a:t>
                      </a:r>
                      <a:r>
                        <a:rPr sz="2400" b="1" spc="10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右方括号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赋值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R w="38100">
                      <a:solidFill>
                        <a:srgbClr val="99CCFF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902">
                <a:tc gridSpan="2"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( 3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R w="38100">
                      <a:solidFill>
                        <a:srgbClr val="99CC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L w="38100">
                      <a:solidFill>
                        <a:srgbClr val="99CCFF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R w="38100">
                      <a:solidFill>
                        <a:srgbClr val="99CCFF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903">
                <a:tc gridSpan="2"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( 4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R w="38100">
                      <a:solidFill>
                        <a:srgbClr val="99CC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L w="38100">
                      <a:solidFill>
                        <a:srgbClr val="99CCFF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R w="38100">
                      <a:solidFill>
                        <a:srgbClr val="99CCFF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678">
                <a:tc gridSpan="2"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( 5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R w="38100">
                      <a:solidFill>
                        <a:srgbClr val="99CCFF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L w="38100">
                      <a:solidFill>
                        <a:srgbClr val="99CCFF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R w="38100">
                      <a:solidFill>
                        <a:srgbClr val="99CCFF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097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350">
                        <a:latin typeface="Times New Roman"/>
                        <a:cs typeface="Times New Roman"/>
                      </a:endParaRPr>
                    </a:p>
                    <a:p>
                      <a:pPr marL="322580" marR="651510" algn="just">
                        <a:lnSpc>
                          <a:spcPct val="82400"/>
                        </a:lnSpc>
                      </a:pPr>
                      <a:r>
                        <a:rPr sz="2400" b="1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属 性 字 流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3175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4">
                  <a:txBody>
                    <a:bodyPr/>
                    <a:lstStyle/>
                    <a:p>
                      <a:pPr marL="6578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( 6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5786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( 7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5786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( 8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5786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( 9</a:t>
                      </a:r>
                      <a:r>
                        <a:rPr sz="2400" b="1" spc="-10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R w="38100">
                      <a:solidFill>
                        <a:srgbClr val="99CCFF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635"/>
                        </a:spcBef>
                        <a:tabLst>
                          <a:tab pos="1512570" algn="l"/>
                        </a:tabLst>
                      </a:pPr>
                      <a:r>
                        <a:rPr sz="2400" b="1" spc="-5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12	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整常数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0645" marB="0">
                    <a:lnL w="38100">
                      <a:solidFill>
                        <a:srgbClr val="99CCFF"/>
                      </a:solidFill>
                      <a:prstDash val="solid"/>
                    </a:lnL>
                    <a:lnR w="38100">
                      <a:solidFill>
                        <a:srgbClr val="99CCFF"/>
                      </a:solidFill>
                      <a:prstDash val="solid"/>
                    </a:lnR>
                    <a:lnT w="539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600">
                        <a:alpha val="3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9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R w="38100">
                      <a:solidFill>
                        <a:srgbClr val="99CCFF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5"/>
                        </a:spcBef>
                        <a:tabLst>
                          <a:tab pos="1512570" algn="l"/>
                        </a:tabLst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	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乘号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38100">
                      <a:solidFill>
                        <a:srgbClr val="99CCFF"/>
                      </a:solidFill>
                      <a:prstDash val="solid"/>
                    </a:lnL>
                    <a:lnR w="38100">
                      <a:solidFill>
                        <a:srgbClr val="99CCFF"/>
                      </a:solidFill>
                      <a:prstDash val="solid"/>
                    </a:lnR>
                    <a:solidFill>
                      <a:srgbClr val="006600">
                        <a:alpha val="3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62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R w="38100">
                      <a:solidFill>
                        <a:srgbClr val="99CCFF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1512570" algn="l"/>
                        </a:tabLst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整常数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8100">
                      <a:solidFill>
                        <a:srgbClr val="99CCFF"/>
                      </a:solidFill>
                      <a:prstDash val="solid"/>
                    </a:lnL>
                    <a:lnR w="38100">
                      <a:solidFill>
                        <a:srgbClr val="99CCFF"/>
                      </a:solidFill>
                      <a:prstDash val="solid"/>
                    </a:lnR>
                    <a:solidFill>
                      <a:srgbClr val="006600">
                        <a:alpha val="3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55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R w="38100">
                      <a:solidFill>
                        <a:srgbClr val="99CCFF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5"/>
                        </a:spcBef>
                        <a:tabLst>
                          <a:tab pos="1473200" algn="l"/>
                        </a:tabLst>
                      </a:pPr>
                      <a:r>
                        <a:rPr sz="2400" b="1" dirty="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;	</a:t>
                      </a:r>
                      <a:r>
                        <a:rPr sz="2400" b="1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分号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38100">
                      <a:solidFill>
                        <a:srgbClr val="99CCFF"/>
                      </a:solidFill>
                      <a:prstDash val="solid"/>
                    </a:lnL>
                    <a:lnR w="38100">
                      <a:solidFill>
                        <a:srgbClr val="99CCFF"/>
                      </a:solidFill>
                      <a:prstDash val="solid"/>
                    </a:lnR>
                    <a:lnB w="38100">
                      <a:solidFill>
                        <a:srgbClr val="99CCFF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17230" y="1718310"/>
            <a:ext cx="2650124" cy="2304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7230" y="1718310"/>
            <a:ext cx="2650490" cy="2304415"/>
          </a:xfrm>
          <a:custGeom>
            <a:avLst/>
            <a:gdLst/>
            <a:ahLst/>
            <a:cxnLst/>
            <a:rect l="l" t="t" r="r" b="b"/>
            <a:pathLst>
              <a:path w="2650490" h="2304415">
                <a:moveTo>
                  <a:pt x="2650124" y="0"/>
                </a:moveTo>
                <a:lnTo>
                  <a:pt x="880519" y="1450086"/>
                </a:lnTo>
                <a:lnTo>
                  <a:pt x="895846" y="1508306"/>
                </a:lnTo>
                <a:lnTo>
                  <a:pt x="908109" y="1566124"/>
                </a:lnTo>
                <a:lnTo>
                  <a:pt x="917365" y="1623322"/>
                </a:lnTo>
                <a:lnTo>
                  <a:pt x="923667" y="1679684"/>
                </a:lnTo>
                <a:lnTo>
                  <a:pt x="927071" y="1734994"/>
                </a:lnTo>
                <a:lnTo>
                  <a:pt x="927631" y="1789035"/>
                </a:lnTo>
                <a:lnTo>
                  <a:pt x="925402" y="1841591"/>
                </a:lnTo>
                <a:lnTo>
                  <a:pt x="920438" y="1892446"/>
                </a:lnTo>
                <a:lnTo>
                  <a:pt x="912795" y="1941382"/>
                </a:lnTo>
                <a:lnTo>
                  <a:pt x="902528" y="1988185"/>
                </a:lnTo>
                <a:lnTo>
                  <a:pt x="889691" y="2032636"/>
                </a:lnTo>
                <a:lnTo>
                  <a:pt x="874339" y="2074520"/>
                </a:lnTo>
                <a:lnTo>
                  <a:pt x="856526" y="2113621"/>
                </a:lnTo>
                <a:lnTo>
                  <a:pt x="836308" y="2149721"/>
                </a:lnTo>
                <a:lnTo>
                  <a:pt x="813739" y="2182606"/>
                </a:lnTo>
                <a:lnTo>
                  <a:pt x="788875" y="2212057"/>
                </a:lnTo>
                <a:lnTo>
                  <a:pt x="732477" y="2259796"/>
                </a:lnTo>
                <a:lnTo>
                  <a:pt x="667553" y="2291207"/>
                </a:lnTo>
                <a:lnTo>
                  <a:pt x="597295" y="2304180"/>
                </a:lnTo>
                <a:lnTo>
                  <a:pt x="561494" y="2303614"/>
                </a:lnTo>
                <a:lnTo>
                  <a:pt x="489344" y="2289107"/>
                </a:lnTo>
                <a:lnTo>
                  <a:pt x="453315" y="2275458"/>
                </a:lnTo>
                <a:lnTo>
                  <a:pt x="417530" y="2257741"/>
                </a:lnTo>
                <a:lnTo>
                  <a:pt x="382147" y="2236101"/>
                </a:lnTo>
                <a:lnTo>
                  <a:pt x="347328" y="2210684"/>
                </a:lnTo>
                <a:lnTo>
                  <a:pt x="313231" y="2181637"/>
                </a:lnTo>
                <a:lnTo>
                  <a:pt x="280015" y="2149106"/>
                </a:lnTo>
                <a:lnTo>
                  <a:pt x="247842" y="2113237"/>
                </a:lnTo>
                <a:lnTo>
                  <a:pt x="216870" y="2074176"/>
                </a:lnTo>
                <a:lnTo>
                  <a:pt x="187259" y="2032068"/>
                </a:lnTo>
                <a:lnTo>
                  <a:pt x="159169" y="1987061"/>
                </a:lnTo>
                <a:lnTo>
                  <a:pt x="132760" y="1939301"/>
                </a:lnTo>
                <a:lnTo>
                  <a:pt x="108190" y="1888932"/>
                </a:lnTo>
                <a:lnTo>
                  <a:pt x="85621" y="1836103"/>
                </a:lnTo>
                <a:lnTo>
                  <a:pt x="65211" y="1780958"/>
                </a:lnTo>
                <a:lnTo>
                  <a:pt x="47120" y="1723643"/>
                </a:lnTo>
                <a:lnTo>
                  <a:pt x="31791" y="1665423"/>
                </a:lnTo>
                <a:lnTo>
                  <a:pt x="19526" y="1607605"/>
                </a:lnTo>
                <a:lnTo>
                  <a:pt x="10269" y="1550407"/>
                </a:lnTo>
                <a:lnTo>
                  <a:pt x="3965" y="1494045"/>
                </a:lnTo>
                <a:lnTo>
                  <a:pt x="560" y="1438735"/>
                </a:lnTo>
                <a:lnTo>
                  <a:pt x="0" y="1384694"/>
                </a:lnTo>
                <a:lnTo>
                  <a:pt x="2228" y="1332138"/>
                </a:lnTo>
                <a:lnTo>
                  <a:pt x="7190" y="1281283"/>
                </a:lnTo>
                <a:lnTo>
                  <a:pt x="14832" y="1232347"/>
                </a:lnTo>
                <a:lnTo>
                  <a:pt x="25099" y="1185544"/>
                </a:lnTo>
                <a:lnTo>
                  <a:pt x="37936" y="1141093"/>
                </a:lnTo>
                <a:lnTo>
                  <a:pt x="53288" y="1099209"/>
                </a:lnTo>
                <a:lnTo>
                  <a:pt x="71100" y="1060108"/>
                </a:lnTo>
                <a:lnTo>
                  <a:pt x="91318" y="1024008"/>
                </a:lnTo>
                <a:lnTo>
                  <a:pt x="113887" y="991123"/>
                </a:lnTo>
                <a:lnTo>
                  <a:pt x="138751" y="961672"/>
                </a:lnTo>
                <a:lnTo>
                  <a:pt x="195149" y="913933"/>
                </a:lnTo>
                <a:lnTo>
                  <a:pt x="260073" y="882523"/>
                </a:lnTo>
                <a:lnTo>
                  <a:pt x="334641" y="869468"/>
                </a:lnTo>
                <a:lnTo>
                  <a:pt x="372933" y="870878"/>
                </a:lnTo>
                <a:lnTo>
                  <a:pt x="411618" y="877409"/>
                </a:lnTo>
                <a:lnTo>
                  <a:pt x="450485" y="888933"/>
                </a:lnTo>
                <a:lnTo>
                  <a:pt x="489324" y="905323"/>
                </a:lnTo>
                <a:lnTo>
                  <a:pt x="527926" y="926449"/>
                </a:lnTo>
                <a:lnTo>
                  <a:pt x="566080" y="952184"/>
                </a:lnTo>
                <a:lnTo>
                  <a:pt x="603577" y="982400"/>
                </a:lnTo>
                <a:lnTo>
                  <a:pt x="640206" y="1016968"/>
                </a:lnTo>
                <a:lnTo>
                  <a:pt x="675758" y="1055762"/>
                </a:lnTo>
                <a:lnTo>
                  <a:pt x="710023" y="1098653"/>
                </a:lnTo>
                <a:lnTo>
                  <a:pt x="742791" y="1145512"/>
                </a:lnTo>
                <a:lnTo>
                  <a:pt x="773852" y="1196213"/>
                </a:lnTo>
                <a:lnTo>
                  <a:pt x="2650124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9854" y="2871089"/>
            <a:ext cx="443865" cy="908050"/>
          </a:xfrm>
          <a:custGeom>
            <a:avLst/>
            <a:gdLst/>
            <a:ahLst/>
            <a:cxnLst/>
            <a:rect l="l" t="t" r="r" b="b"/>
            <a:pathLst>
              <a:path w="443865" h="908050">
                <a:moveTo>
                  <a:pt x="176847" y="661670"/>
                </a:moveTo>
                <a:lnTo>
                  <a:pt x="190201" y="708660"/>
                </a:lnTo>
                <a:lnTo>
                  <a:pt x="201231" y="750569"/>
                </a:lnTo>
                <a:lnTo>
                  <a:pt x="209316" y="788669"/>
                </a:lnTo>
                <a:lnTo>
                  <a:pt x="214205" y="838200"/>
                </a:lnTo>
                <a:lnTo>
                  <a:pt x="214226" y="843280"/>
                </a:lnTo>
                <a:lnTo>
                  <a:pt x="213001" y="862330"/>
                </a:lnTo>
                <a:lnTo>
                  <a:pt x="209907" y="883919"/>
                </a:lnTo>
                <a:lnTo>
                  <a:pt x="205028" y="906780"/>
                </a:lnTo>
                <a:lnTo>
                  <a:pt x="213817" y="908050"/>
                </a:lnTo>
                <a:lnTo>
                  <a:pt x="222256" y="886460"/>
                </a:lnTo>
                <a:lnTo>
                  <a:pt x="228376" y="864869"/>
                </a:lnTo>
                <a:lnTo>
                  <a:pt x="232178" y="844550"/>
                </a:lnTo>
                <a:lnTo>
                  <a:pt x="233667" y="826769"/>
                </a:lnTo>
                <a:lnTo>
                  <a:pt x="233426" y="807719"/>
                </a:lnTo>
                <a:lnTo>
                  <a:pt x="225933" y="754380"/>
                </a:lnTo>
                <a:lnTo>
                  <a:pt x="217019" y="717550"/>
                </a:lnTo>
                <a:lnTo>
                  <a:pt x="212165" y="698500"/>
                </a:lnTo>
                <a:lnTo>
                  <a:pt x="207048" y="678179"/>
                </a:lnTo>
                <a:lnTo>
                  <a:pt x="250240" y="666750"/>
                </a:lnTo>
                <a:lnTo>
                  <a:pt x="201371" y="666750"/>
                </a:lnTo>
                <a:lnTo>
                  <a:pt x="176847" y="661670"/>
                </a:lnTo>
                <a:close/>
              </a:path>
              <a:path w="443865" h="908050">
                <a:moveTo>
                  <a:pt x="348822" y="751839"/>
                </a:moveTo>
                <a:lnTo>
                  <a:pt x="325564" y="751839"/>
                </a:lnTo>
                <a:lnTo>
                  <a:pt x="346659" y="830580"/>
                </a:lnTo>
                <a:lnTo>
                  <a:pt x="347891" y="838200"/>
                </a:lnTo>
                <a:lnTo>
                  <a:pt x="345668" y="842010"/>
                </a:lnTo>
                <a:lnTo>
                  <a:pt x="339978" y="843280"/>
                </a:lnTo>
                <a:lnTo>
                  <a:pt x="334775" y="844550"/>
                </a:lnTo>
                <a:lnTo>
                  <a:pt x="327698" y="845819"/>
                </a:lnTo>
                <a:lnTo>
                  <a:pt x="318744" y="847089"/>
                </a:lnTo>
                <a:lnTo>
                  <a:pt x="307911" y="848360"/>
                </a:lnTo>
                <a:lnTo>
                  <a:pt x="311099" y="859789"/>
                </a:lnTo>
                <a:lnTo>
                  <a:pt x="325470" y="861060"/>
                </a:lnTo>
                <a:lnTo>
                  <a:pt x="336865" y="862330"/>
                </a:lnTo>
                <a:lnTo>
                  <a:pt x="345287" y="867410"/>
                </a:lnTo>
                <a:lnTo>
                  <a:pt x="350735" y="873760"/>
                </a:lnTo>
                <a:lnTo>
                  <a:pt x="361431" y="863600"/>
                </a:lnTo>
                <a:lnTo>
                  <a:pt x="368123" y="852169"/>
                </a:lnTo>
                <a:lnTo>
                  <a:pt x="370808" y="842010"/>
                </a:lnTo>
                <a:lnTo>
                  <a:pt x="369481" y="829310"/>
                </a:lnTo>
                <a:lnTo>
                  <a:pt x="348822" y="751839"/>
                </a:lnTo>
                <a:close/>
              </a:path>
              <a:path w="443865" h="908050">
                <a:moveTo>
                  <a:pt x="295415" y="702310"/>
                </a:moveTo>
                <a:lnTo>
                  <a:pt x="284988" y="702310"/>
                </a:lnTo>
                <a:lnTo>
                  <a:pt x="283171" y="711200"/>
                </a:lnTo>
                <a:lnTo>
                  <a:pt x="290634" y="715010"/>
                </a:lnTo>
                <a:lnTo>
                  <a:pt x="297721" y="718820"/>
                </a:lnTo>
                <a:lnTo>
                  <a:pt x="324472" y="739139"/>
                </a:lnTo>
                <a:lnTo>
                  <a:pt x="228625" y="764539"/>
                </a:lnTo>
                <a:lnTo>
                  <a:pt x="245414" y="777239"/>
                </a:lnTo>
                <a:lnTo>
                  <a:pt x="252003" y="773430"/>
                </a:lnTo>
                <a:lnTo>
                  <a:pt x="265619" y="768350"/>
                </a:lnTo>
                <a:lnTo>
                  <a:pt x="272643" y="765810"/>
                </a:lnTo>
                <a:lnTo>
                  <a:pt x="325564" y="751839"/>
                </a:lnTo>
                <a:lnTo>
                  <a:pt x="348822" y="751839"/>
                </a:lnTo>
                <a:lnTo>
                  <a:pt x="347129" y="745489"/>
                </a:lnTo>
                <a:lnTo>
                  <a:pt x="391010" y="734060"/>
                </a:lnTo>
                <a:lnTo>
                  <a:pt x="340398" y="734060"/>
                </a:lnTo>
                <a:lnTo>
                  <a:pt x="343662" y="732789"/>
                </a:lnTo>
                <a:lnTo>
                  <a:pt x="345122" y="728979"/>
                </a:lnTo>
                <a:lnTo>
                  <a:pt x="344436" y="720089"/>
                </a:lnTo>
                <a:lnTo>
                  <a:pt x="341909" y="716279"/>
                </a:lnTo>
                <a:lnTo>
                  <a:pt x="337184" y="713739"/>
                </a:lnTo>
                <a:lnTo>
                  <a:pt x="343505" y="707389"/>
                </a:lnTo>
                <a:lnTo>
                  <a:pt x="326682" y="707389"/>
                </a:lnTo>
                <a:lnTo>
                  <a:pt x="316261" y="706120"/>
                </a:lnTo>
                <a:lnTo>
                  <a:pt x="305839" y="703579"/>
                </a:lnTo>
                <a:lnTo>
                  <a:pt x="295415" y="702310"/>
                </a:lnTo>
                <a:close/>
              </a:path>
              <a:path w="443865" h="908050">
                <a:moveTo>
                  <a:pt x="430326" y="730250"/>
                </a:moveTo>
                <a:lnTo>
                  <a:pt x="405638" y="730250"/>
                </a:lnTo>
                <a:lnTo>
                  <a:pt x="397217" y="762000"/>
                </a:lnTo>
                <a:lnTo>
                  <a:pt x="407238" y="763269"/>
                </a:lnTo>
                <a:lnTo>
                  <a:pt x="415296" y="748030"/>
                </a:lnTo>
                <a:lnTo>
                  <a:pt x="424040" y="735329"/>
                </a:lnTo>
                <a:lnTo>
                  <a:pt x="430326" y="730250"/>
                </a:lnTo>
                <a:close/>
              </a:path>
              <a:path w="443865" h="908050">
                <a:moveTo>
                  <a:pt x="410819" y="701039"/>
                </a:moveTo>
                <a:lnTo>
                  <a:pt x="402615" y="717550"/>
                </a:lnTo>
                <a:lnTo>
                  <a:pt x="340398" y="734060"/>
                </a:lnTo>
                <a:lnTo>
                  <a:pt x="391010" y="734060"/>
                </a:lnTo>
                <a:lnTo>
                  <a:pt x="405638" y="730250"/>
                </a:lnTo>
                <a:lnTo>
                  <a:pt x="430326" y="730250"/>
                </a:lnTo>
                <a:lnTo>
                  <a:pt x="433470" y="727710"/>
                </a:lnTo>
                <a:lnTo>
                  <a:pt x="443585" y="722629"/>
                </a:lnTo>
                <a:lnTo>
                  <a:pt x="410819" y="701039"/>
                </a:lnTo>
                <a:close/>
              </a:path>
              <a:path w="443865" h="908050">
                <a:moveTo>
                  <a:pt x="389146" y="669289"/>
                </a:moveTo>
                <a:lnTo>
                  <a:pt x="360387" y="669289"/>
                </a:lnTo>
                <a:lnTo>
                  <a:pt x="326682" y="707389"/>
                </a:lnTo>
                <a:lnTo>
                  <a:pt x="343505" y="707389"/>
                </a:lnTo>
                <a:lnTo>
                  <a:pt x="347298" y="703579"/>
                </a:lnTo>
                <a:lnTo>
                  <a:pt x="356533" y="694689"/>
                </a:lnTo>
                <a:lnTo>
                  <a:pt x="364892" y="687070"/>
                </a:lnTo>
                <a:lnTo>
                  <a:pt x="372376" y="680720"/>
                </a:lnTo>
                <a:lnTo>
                  <a:pt x="379477" y="675639"/>
                </a:lnTo>
                <a:lnTo>
                  <a:pt x="386699" y="670560"/>
                </a:lnTo>
                <a:lnTo>
                  <a:pt x="389146" y="669289"/>
                </a:lnTo>
                <a:close/>
              </a:path>
              <a:path w="443865" h="908050">
                <a:moveTo>
                  <a:pt x="371081" y="640079"/>
                </a:moveTo>
                <a:lnTo>
                  <a:pt x="359905" y="656589"/>
                </a:lnTo>
                <a:lnTo>
                  <a:pt x="228485" y="692150"/>
                </a:lnTo>
                <a:lnTo>
                  <a:pt x="245275" y="704850"/>
                </a:lnTo>
                <a:lnTo>
                  <a:pt x="251863" y="701039"/>
                </a:lnTo>
                <a:lnTo>
                  <a:pt x="265479" y="695960"/>
                </a:lnTo>
                <a:lnTo>
                  <a:pt x="272503" y="693420"/>
                </a:lnTo>
                <a:lnTo>
                  <a:pt x="360387" y="669289"/>
                </a:lnTo>
                <a:lnTo>
                  <a:pt x="389146" y="669289"/>
                </a:lnTo>
                <a:lnTo>
                  <a:pt x="394040" y="666750"/>
                </a:lnTo>
                <a:lnTo>
                  <a:pt x="401497" y="664210"/>
                </a:lnTo>
                <a:lnTo>
                  <a:pt x="371081" y="640079"/>
                </a:lnTo>
                <a:close/>
              </a:path>
              <a:path w="443865" h="908050">
                <a:moveTo>
                  <a:pt x="291247" y="642917"/>
                </a:moveTo>
                <a:lnTo>
                  <a:pt x="201371" y="666750"/>
                </a:lnTo>
                <a:lnTo>
                  <a:pt x="250240" y="666750"/>
                </a:lnTo>
                <a:lnTo>
                  <a:pt x="322227" y="647700"/>
                </a:lnTo>
                <a:lnTo>
                  <a:pt x="298348" y="647700"/>
                </a:lnTo>
                <a:lnTo>
                  <a:pt x="292912" y="645160"/>
                </a:lnTo>
                <a:lnTo>
                  <a:pt x="291247" y="642917"/>
                </a:lnTo>
                <a:close/>
              </a:path>
              <a:path w="443865" h="908050">
                <a:moveTo>
                  <a:pt x="306913" y="638763"/>
                </a:moveTo>
                <a:lnTo>
                  <a:pt x="291247" y="642917"/>
                </a:lnTo>
                <a:lnTo>
                  <a:pt x="292912" y="645160"/>
                </a:lnTo>
                <a:lnTo>
                  <a:pt x="298348" y="647700"/>
                </a:lnTo>
                <a:lnTo>
                  <a:pt x="302615" y="642620"/>
                </a:lnTo>
                <a:lnTo>
                  <a:pt x="306895" y="638810"/>
                </a:lnTo>
                <a:close/>
              </a:path>
              <a:path w="443865" h="908050">
                <a:moveTo>
                  <a:pt x="378040" y="600710"/>
                </a:moveTo>
                <a:lnTo>
                  <a:pt x="364210" y="623570"/>
                </a:lnTo>
                <a:lnTo>
                  <a:pt x="306913" y="638763"/>
                </a:lnTo>
                <a:lnTo>
                  <a:pt x="302615" y="642620"/>
                </a:lnTo>
                <a:lnTo>
                  <a:pt x="298348" y="647700"/>
                </a:lnTo>
                <a:lnTo>
                  <a:pt x="322227" y="647700"/>
                </a:lnTo>
                <a:lnTo>
                  <a:pt x="413410" y="623570"/>
                </a:lnTo>
                <a:lnTo>
                  <a:pt x="378040" y="600710"/>
                </a:lnTo>
                <a:close/>
              </a:path>
              <a:path w="443865" h="908050">
                <a:moveTo>
                  <a:pt x="261010" y="607060"/>
                </a:moveTo>
                <a:lnTo>
                  <a:pt x="259079" y="615950"/>
                </a:lnTo>
                <a:lnTo>
                  <a:pt x="267861" y="621029"/>
                </a:lnTo>
                <a:lnTo>
                  <a:pt x="275328" y="626110"/>
                </a:lnTo>
                <a:lnTo>
                  <a:pt x="281477" y="631189"/>
                </a:lnTo>
                <a:lnTo>
                  <a:pt x="286308" y="636270"/>
                </a:lnTo>
                <a:lnTo>
                  <a:pt x="291247" y="642917"/>
                </a:lnTo>
                <a:lnTo>
                  <a:pt x="306913" y="638763"/>
                </a:lnTo>
                <a:lnTo>
                  <a:pt x="308876" y="633729"/>
                </a:lnTo>
                <a:lnTo>
                  <a:pt x="308305" y="622300"/>
                </a:lnTo>
                <a:lnTo>
                  <a:pt x="304685" y="617220"/>
                </a:lnTo>
                <a:lnTo>
                  <a:pt x="297751" y="614679"/>
                </a:lnTo>
                <a:lnTo>
                  <a:pt x="291548" y="612139"/>
                </a:lnTo>
                <a:lnTo>
                  <a:pt x="283357" y="609600"/>
                </a:lnTo>
                <a:lnTo>
                  <a:pt x="273178" y="608329"/>
                </a:lnTo>
                <a:lnTo>
                  <a:pt x="261010" y="607060"/>
                </a:lnTo>
                <a:close/>
              </a:path>
              <a:path w="443865" h="908050">
                <a:moveTo>
                  <a:pt x="173455" y="476250"/>
                </a:moveTo>
                <a:lnTo>
                  <a:pt x="150063" y="476250"/>
                </a:lnTo>
                <a:lnTo>
                  <a:pt x="160671" y="515620"/>
                </a:lnTo>
                <a:lnTo>
                  <a:pt x="169862" y="551179"/>
                </a:lnTo>
                <a:lnTo>
                  <a:pt x="177634" y="581660"/>
                </a:lnTo>
                <a:lnTo>
                  <a:pt x="183984" y="607060"/>
                </a:lnTo>
                <a:lnTo>
                  <a:pt x="205333" y="590550"/>
                </a:lnTo>
                <a:lnTo>
                  <a:pt x="200389" y="575310"/>
                </a:lnTo>
                <a:lnTo>
                  <a:pt x="192471" y="546100"/>
                </a:lnTo>
                <a:lnTo>
                  <a:pt x="181577" y="506729"/>
                </a:lnTo>
                <a:lnTo>
                  <a:pt x="173455" y="476250"/>
                </a:lnTo>
                <a:close/>
              </a:path>
              <a:path w="443865" h="908050">
                <a:moveTo>
                  <a:pt x="308346" y="497839"/>
                </a:moveTo>
                <a:lnTo>
                  <a:pt x="285432" y="497839"/>
                </a:lnTo>
                <a:lnTo>
                  <a:pt x="297802" y="544829"/>
                </a:lnTo>
                <a:lnTo>
                  <a:pt x="216611" y="566420"/>
                </a:lnTo>
                <a:lnTo>
                  <a:pt x="233375" y="579120"/>
                </a:lnTo>
                <a:lnTo>
                  <a:pt x="239971" y="575310"/>
                </a:lnTo>
                <a:lnTo>
                  <a:pt x="253586" y="570229"/>
                </a:lnTo>
                <a:lnTo>
                  <a:pt x="260603" y="567689"/>
                </a:lnTo>
                <a:lnTo>
                  <a:pt x="370655" y="538479"/>
                </a:lnTo>
                <a:lnTo>
                  <a:pt x="319341" y="538479"/>
                </a:lnTo>
                <a:lnTo>
                  <a:pt x="308346" y="497839"/>
                </a:lnTo>
                <a:close/>
              </a:path>
              <a:path w="443865" h="908050">
                <a:moveTo>
                  <a:pt x="162485" y="435610"/>
                </a:moveTo>
                <a:lnTo>
                  <a:pt x="135813" y="435610"/>
                </a:lnTo>
                <a:lnTo>
                  <a:pt x="135886" y="449579"/>
                </a:lnTo>
                <a:lnTo>
                  <a:pt x="135548" y="461010"/>
                </a:lnTo>
                <a:lnTo>
                  <a:pt x="130644" y="511810"/>
                </a:lnTo>
                <a:lnTo>
                  <a:pt x="122301" y="549910"/>
                </a:lnTo>
                <a:lnTo>
                  <a:pt x="116357" y="571500"/>
                </a:lnTo>
                <a:lnTo>
                  <a:pt x="123278" y="575310"/>
                </a:lnTo>
                <a:lnTo>
                  <a:pt x="134847" y="552450"/>
                </a:lnTo>
                <a:lnTo>
                  <a:pt x="143167" y="528320"/>
                </a:lnTo>
                <a:lnTo>
                  <a:pt x="148239" y="501650"/>
                </a:lnTo>
                <a:lnTo>
                  <a:pt x="150063" y="476250"/>
                </a:lnTo>
                <a:lnTo>
                  <a:pt x="173455" y="476250"/>
                </a:lnTo>
                <a:lnTo>
                  <a:pt x="167703" y="454660"/>
                </a:lnTo>
                <a:lnTo>
                  <a:pt x="198480" y="454660"/>
                </a:lnTo>
                <a:lnTo>
                  <a:pt x="194527" y="452120"/>
                </a:lnTo>
                <a:lnTo>
                  <a:pt x="186683" y="450850"/>
                </a:lnTo>
                <a:lnTo>
                  <a:pt x="176925" y="448310"/>
                </a:lnTo>
                <a:lnTo>
                  <a:pt x="165252" y="445770"/>
                </a:lnTo>
                <a:lnTo>
                  <a:pt x="162485" y="435610"/>
                </a:lnTo>
                <a:close/>
              </a:path>
              <a:path w="443865" h="908050">
                <a:moveTo>
                  <a:pt x="369519" y="509270"/>
                </a:moveTo>
                <a:lnTo>
                  <a:pt x="358089" y="528320"/>
                </a:lnTo>
                <a:lnTo>
                  <a:pt x="319341" y="538479"/>
                </a:lnTo>
                <a:lnTo>
                  <a:pt x="370655" y="538479"/>
                </a:lnTo>
                <a:lnTo>
                  <a:pt x="399364" y="530860"/>
                </a:lnTo>
                <a:lnTo>
                  <a:pt x="369519" y="509270"/>
                </a:lnTo>
                <a:close/>
              </a:path>
              <a:path w="443865" h="908050">
                <a:moveTo>
                  <a:pt x="293871" y="443229"/>
                </a:moveTo>
                <a:lnTo>
                  <a:pt x="270637" y="443229"/>
                </a:lnTo>
                <a:lnTo>
                  <a:pt x="282079" y="485139"/>
                </a:lnTo>
                <a:lnTo>
                  <a:pt x="224561" y="501650"/>
                </a:lnTo>
                <a:lnTo>
                  <a:pt x="241350" y="513079"/>
                </a:lnTo>
                <a:lnTo>
                  <a:pt x="247939" y="510539"/>
                </a:lnTo>
                <a:lnTo>
                  <a:pt x="254674" y="506729"/>
                </a:lnTo>
                <a:lnTo>
                  <a:pt x="261555" y="504189"/>
                </a:lnTo>
                <a:lnTo>
                  <a:pt x="268579" y="502920"/>
                </a:lnTo>
                <a:lnTo>
                  <a:pt x="285432" y="497839"/>
                </a:lnTo>
                <a:lnTo>
                  <a:pt x="308346" y="497839"/>
                </a:lnTo>
                <a:lnTo>
                  <a:pt x="306971" y="492760"/>
                </a:lnTo>
                <a:lnTo>
                  <a:pt x="352083" y="480060"/>
                </a:lnTo>
                <a:lnTo>
                  <a:pt x="303631" y="480060"/>
                </a:lnTo>
                <a:lnTo>
                  <a:pt x="293871" y="443229"/>
                </a:lnTo>
                <a:close/>
              </a:path>
              <a:path w="443865" h="908050">
                <a:moveTo>
                  <a:pt x="198480" y="454660"/>
                </a:moveTo>
                <a:lnTo>
                  <a:pt x="167703" y="454660"/>
                </a:lnTo>
                <a:lnTo>
                  <a:pt x="174037" y="461010"/>
                </a:lnTo>
                <a:lnTo>
                  <a:pt x="180106" y="467360"/>
                </a:lnTo>
                <a:lnTo>
                  <a:pt x="185911" y="473710"/>
                </a:lnTo>
                <a:lnTo>
                  <a:pt x="191452" y="480060"/>
                </a:lnTo>
                <a:lnTo>
                  <a:pt x="197434" y="488950"/>
                </a:lnTo>
                <a:lnTo>
                  <a:pt x="202336" y="491489"/>
                </a:lnTo>
                <a:lnTo>
                  <a:pt x="209016" y="490220"/>
                </a:lnTo>
                <a:lnTo>
                  <a:pt x="211061" y="487679"/>
                </a:lnTo>
                <a:lnTo>
                  <a:pt x="213499" y="477520"/>
                </a:lnTo>
                <a:lnTo>
                  <a:pt x="213525" y="472439"/>
                </a:lnTo>
                <a:lnTo>
                  <a:pt x="211061" y="463550"/>
                </a:lnTo>
                <a:lnTo>
                  <a:pt x="207086" y="459739"/>
                </a:lnTo>
                <a:lnTo>
                  <a:pt x="200456" y="455929"/>
                </a:lnTo>
                <a:lnTo>
                  <a:pt x="198480" y="454660"/>
                </a:lnTo>
                <a:close/>
              </a:path>
              <a:path w="443865" h="908050">
                <a:moveTo>
                  <a:pt x="341680" y="454660"/>
                </a:moveTo>
                <a:lnTo>
                  <a:pt x="331088" y="472439"/>
                </a:lnTo>
                <a:lnTo>
                  <a:pt x="303631" y="480060"/>
                </a:lnTo>
                <a:lnTo>
                  <a:pt x="352083" y="480060"/>
                </a:lnTo>
                <a:lnTo>
                  <a:pt x="370128" y="474979"/>
                </a:lnTo>
                <a:lnTo>
                  <a:pt x="341680" y="454660"/>
                </a:lnTo>
                <a:close/>
              </a:path>
              <a:path w="443865" h="908050">
                <a:moveTo>
                  <a:pt x="332536" y="398779"/>
                </a:moveTo>
                <a:lnTo>
                  <a:pt x="321932" y="415289"/>
                </a:lnTo>
                <a:lnTo>
                  <a:pt x="203009" y="447039"/>
                </a:lnTo>
                <a:lnTo>
                  <a:pt x="219798" y="459739"/>
                </a:lnTo>
                <a:lnTo>
                  <a:pt x="226387" y="457200"/>
                </a:lnTo>
                <a:lnTo>
                  <a:pt x="233122" y="453389"/>
                </a:lnTo>
                <a:lnTo>
                  <a:pt x="240003" y="450850"/>
                </a:lnTo>
                <a:lnTo>
                  <a:pt x="247027" y="449579"/>
                </a:lnTo>
                <a:lnTo>
                  <a:pt x="270637" y="443229"/>
                </a:lnTo>
                <a:lnTo>
                  <a:pt x="293871" y="443229"/>
                </a:lnTo>
                <a:lnTo>
                  <a:pt x="292188" y="436879"/>
                </a:lnTo>
                <a:lnTo>
                  <a:pt x="360972" y="419100"/>
                </a:lnTo>
                <a:lnTo>
                  <a:pt x="332536" y="398779"/>
                </a:lnTo>
                <a:close/>
              </a:path>
              <a:path w="443865" h="908050">
                <a:moveTo>
                  <a:pt x="145922" y="373379"/>
                </a:moveTo>
                <a:lnTo>
                  <a:pt x="122758" y="373379"/>
                </a:lnTo>
                <a:lnTo>
                  <a:pt x="135826" y="422910"/>
                </a:lnTo>
                <a:lnTo>
                  <a:pt x="79463" y="438150"/>
                </a:lnTo>
                <a:lnTo>
                  <a:pt x="96253" y="450850"/>
                </a:lnTo>
                <a:lnTo>
                  <a:pt x="102842" y="447039"/>
                </a:lnTo>
                <a:lnTo>
                  <a:pt x="116457" y="441960"/>
                </a:lnTo>
                <a:lnTo>
                  <a:pt x="123482" y="439420"/>
                </a:lnTo>
                <a:lnTo>
                  <a:pt x="135813" y="435610"/>
                </a:lnTo>
                <a:lnTo>
                  <a:pt x="162485" y="435610"/>
                </a:lnTo>
                <a:lnTo>
                  <a:pt x="160756" y="429260"/>
                </a:lnTo>
                <a:lnTo>
                  <a:pt x="208114" y="416560"/>
                </a:lnTo>
                <a:lnTo>
                  <a:pt x="157391" y="416560"/>
                </a:lnTo>
                <a:lnTo>
                  <a:pt x="145922" y="373379"/>
                </a:lnTo>
                <a:close/>
              </a:path>
              <a:path w="443865" h="908050">
                <a:moveTo>
                  <a:pt x="186296" y="326389"/>
                </a:moveTo>
                <a:lnTo>
                  <a:pt x="190544" y="340360"/>
                </a:lnTo>
                <a:lnTo>
                  <a:pt x="194548" y="354329"/>
                </a:lnTo>
                <a:lnTo>
                  <a:pt x="198308" y="367029"/>
                </a:lnTo>
                <a:lnTo>
                  <a:pt x="201828" y="379729"/>
                </a:lnTo>
                <a:lnTo>
                  <a:pt x="205219" y="392429"/>
                </a:lnTo>
                <a:lnTo>
                  <a:pt x="211995" y="420370"/>
                </a:lnTo>
                <a:lnTo>
                  <a:pt x="215379" y="435610"/>
                </a:lnTo>
                <a:lnTo>
                  <a:pt x="235927" y="421639"/>
                </a:lnTo>
                <a:lnTo>
                  <a:pt x="232917" y="410210"/>
                </a:lnTo>
                <a:lnTo>
                  <a:pt x="278600" y="397510"/>
                </a:lnTo>
                <a:lnTo>
                  <a:pt x="229565" y="397510"/>
                </a:lnTo>
                <a:lnTo>
                  <a:pt x="215353" y="344170"/>
                </a:lnTo>
                <a:lnTo>
                  <a:pt x="259037" y="332739"/>
                </a:lnTo>
                <a:lnTo>
                  <a:pt x="210820" y="332739"/>
                </a:lnTo>
                <a:lnTo>
                  <a:pt x="186296" y="326389"/>
                </a:lnTo>
                <a:close/>
              </a:path>
              <a:path w="443865" h="908050">
                <a:moveTo>
                  <a:pt x="179679" y="396239"/>
                </a:moveTo>
                <a:lnTo>
                  <a:pt x="169062" y="414020"/>
                </a:lnTo>
                <a:lnTo>
                  <a:pt x="157391" y="416560"/>
                </a:lnTo>
                <a:lnTo>
                  <a:pt x="208114" y="416560"/>
                </a:lnTo>
                <a:lnTo>
                  <a:pt x="179679" y="396239"/>
                </a:lnTo>
                <a:close/>
              </a:path>
              <a:path w="443865" h="908050">
                <a:moveTo>
                  <a:pt x="334688" y="388620"/>
                </a:moveTo>
                <a:lnTo>
                  <a:pt x="310578" y="388620"/>
                </a:lnTo>
                <a:lnTo>
                  <a:pt x="314210" y="402589"/>
                </a:lnTo>
                <a:lnTo>
                  <a:pt x="335114" y="389889"/>
                </a:lnTo>
                <a:lnTo>
                  <a:pt x="334688" y="388620"/>
                </a:lnTo>
                <a:close/>
              </a:path>
              <a:path w="443865" h="908050">
                <a:moveTo>
                  <a:pt x="316034" y="323850"/>
                </a:moveTo>
                <a:lnTo>
                  <a:pt x="293014" y="323850"/>
                </a:lnTo>
                <a:lnTo>
                  <a:pt x="307225" y="377189"/>
                </a:lnTo>
                <a:lnTo>
                  <a:pt x="229565" y="397510"/>
                </a:lnTo>
                <a:lnTo>
                  <a:pt x="278600" y="397510"/>
                </a:lnTo>
                <a:lnTo>
                  <a:pt x="310578" y="388620"/>
                </a:lnTo>
                <a:lnTo>
                  <a:pt x="334688" y="388620"/>
                </a:lnTo>
                <a:lnTo>
                  <a:pt x="331707" y="379729"/>
                </a:lnTo>
                <a:lnTo>
                  <a:pt x="327332" y="364489"/>
                </a:lnTo>
                <a:lnTo>
                  <a:pt x="321991" y="345439"/>
                </a:lnTo>
                <a:lnTo>
                  <a:pt x="316034" y="323850"/>
                </a:lnTo>
                <a:close/>
              </a:path>
              <a:path w="443865" h="908050">
                <a:moveTo>
                  <a:pt x="158013" y="326389"/>
                </a:moveTo>
                <a:lnTo>
                  <a:pt x="122923" y="355600"/>
                </a:lnTo>
                <a:lnTo>
                  <a:pt x="110197" y="363220"/>
                </a:lnTo>
                <a:lnTo>
                  <a:pt x="97853" y="370839"/>
                </a:lnTo>
                <a:lnTo>
                  <a:pt x="85890" y="377189"/>
                </a:lnTo>
                <a:lnTo>
                  <a:pt x="74307" y="382270"/>
                </a:lnTo>
                <a:lnTo>
                  <a:pt x="76936" y="392429"/>
                </a:lnTo>
                <a:lnTo>
                  <a:pt x="116171" y="377189"/>
                </a:lnTo>
                <a:lnTo>
                  <a:pt x="122758" y="373379"/>
                </a:lnTo>
                <a:lnTo>
                  <a:pt x="145922" y="373379"/>
                </a:lnTo>
                <a:lnTo>
                  <a:pt x="143560" y="364489"/>
                </a:lnTo>
                <a:lnTo>
                  <a:pt x="155735" y="359410"/>
                </a:lnTo>
                <a:lnTo>
                  <a:pt x="166333" y="354329"/>
                </a:lnTo>
                <a:lnTo>
                  <a:pt x="175352" y="351789"/>
                </a:lnTo>
                <a:lnTo>
                  <a:pt x="182791" y="349250"/>
                </a:lnTo>
                <a:lnTo>
                  <a:pt x="158013" y="326389"/>
                </a:lnTo>
                <a:close/>
              </a:path>
              <a:path w="443865" h="908050">
                <a:moveTo>
                  <a:pt x="299072" y="295910"/>
                </a:moveTo>
                <a:lnTo>
                  <a:pt x="290207" y="311150"/>
                </a:lnTo>
                <a:lnTo>
                  <a:pt x="210820" y="332739"/>
                </a:lnTo>
                <a:lnTo>
                  <a:pt x="259037" y="332739"/>
                </a:lnTo>
                <a:lnTo>
                  <a:pt x="293014" y="323850"/>
                </a:lnTo>
                <a:lnTo>
                  <a:pt x="316034" y="323850"/>
                </a:lnTo>
                <a:lnTo>
                  <a:pt x="315683" y="322579"/>
                </a:lnTo>
                <a:lnTo>
                  <a:pt x="323748" y="311150"/>
                </a:lnTo>
                <a:lnTo>
                  <a:pt x="299072" y="295910"/>
                </a:lnTo>
                <a:close/>
              </a:path>
              <a:path w="443865" h="908050">
                <a:moveTo>
                  <a:pt x="76111" y="45719"/>
                </a:moveTo>
                <a:lnTo>
                  <a:pt x="87152" y="83819"/>
                </a:lnTo>
                <a:lnTo>
                  <a:pt x="100355" y="132079"/>
                </a:lnTo>
                <a:lnTo>
                  <a:pt x="110709" y="181610"/>
                </a:lnTo>
                <a:lnTo>
                  <a:pt x="113195" y="224789"/>
                </a:lnTo>
                <a:lnTo>
                  <a:pt x="111392" y="245110"/>
                </a:lnTo>
                <a:lnTo>
                  <a:pt x="107432" y="265429"/>
                </a:lnTo>
                <a:lnTo>
                  <a:pt x="101315" y="287020"/>
                </a:lnTo>
                <a:lnTo>
                  <a:pt x="98112" y="294884"/>
                </a:lnTo>
                <a:lnTo>
                  <a:pt x="99110" y="298450"/>
                </a:lnTo>
                <a:lnTo>
                  <a:pt x="97167" y="302260"/>
                </a:lnTo>
                <a:lnTo>
                  <a:pt x="94886" y="302807"/>
                </a:lnTo>
                <a:lnTo>
                  <a:pt x="93040" y="307339"/>
                </a:lnTo>
                <a:lnTo>
                  <a:pt x="121443" y="273050"/>
                </a:lnTo>
                <a:lnTo>
                  <a:pt x="133197" y="233679"/>
                </a:lnTo>
                <a:lnTo>
                  <a:pt x="135481" y="213360"/>
                </a:lnTo>
                <a:lnTo>
                  <a:pt x="135475" y="193039"/>
                </a:lnTo>
                <a:lnTo>
                  <a:pt x="128600" y="149860"/>
                </a:lnTo>
                <a:lnTo>
                  <a:pt x="117373" y="105410"/>
                </a:lnTo>
                <a:lnTo>
                  <a:pt x="111930" y="85089"/>
                </a:lnTo>
                <a:lnTo>
                  <a:pt x="106603" y="64769"/>
                </a:lnTo>
                <a:lnTo>
                  <a:pt x="149448" y="53339"/>
                </a:lnTo>
                <a:lnTo>
                  <a:pt x="101104" y="53339"/>
                </a:lnTo>
                <a:lnTo>
                  <a:pt x="76111" y="45719"/>
                </a:lnTo>
                <a:close/>
              </a:path>
              <a:path w="443865" h="908050">
                <a:moveTo>
                  <a:pt x="84137" y="80010"/>
                </a:moveTo>
                <a:lnTo>
                  <a:pt x="72809" y="80010"/>
                </a:lnTo>
                <a:lnTo>
                  <a:pt x="69704" y="137160"/>
                </a:lnTo>
                <a:lnTo>
                  <a:pt x="67141" y="179070"/>
                </a:lnTo>
                <a:lnTo>
                  <a:pt x="63017" y="218439"/>
                </a:lnTo>
                <a:lnTo>
                  <a:pt x="55714" y="229870"/>
                </a:lnTo>
                <a:lnTo>
                  <a:pt x="52469" y="229870"/>
                </a:lnTo>
                <a:lnTo>
                  <a:pt x="46677" y="231139"/>
                </a:lnTo>
                <a:lnTo>
                  <a:pt x="38339" y="232410"/>
                </a:lnTo>
                <a:lnTo>
                  <a:pt x="27457" y="234950"/>
                </a:lnTo>
                <a:lnTo>
                  <a:pt x="30302" y="245110"/>
                </a:lnTo>
                <a:lnTo>
                  <a:pt x="43649" y="245110"/>
                </a:lnTo>
                <a:lnTo>
                  <a:pt x="52044" y="246379"/>
                </a:lnTo>
                <a:lnTo>
                  <a:pt x="58966" y="250189"/>
                </a:lnTo>
                <a:lnTo>
                  <a:pt x="61163" y="252729"/>
                </a:lnTo>
                <a:lnTo>
                  <a:pt x="63233" y="260350"/>
                </a:lnTo>
                <a:lnTo>
                  <a:pt x="63703" y="265429"/>
                </a:lnTo>
                <a:lnTo>
                  <a:pt x="63507" y="273050"/>
                </a:lnTo>
                <a:lnTo>
                  <a:pt x="63385" y="279400"/>
                </a:lnTo>
                <a:lnTo>
                  <a:pt x="64071" y="285750"/>
                </a:lnTo>
                <a:lnTo>
                  <a:pt x="67564" y="298450"/>
                </a:lnTo>
                <a:lnTo>
                  <a:pt x="71780" y="302260"/>
                </a:lnTo>
                <a:lnTo>
                  <a:pt x="78155" y="303529"/>
                </a:lnTo>
                <a:lnTo>
                  <a:pt x="91871" y="303529"/>
                </a:lnTo>
                <a:lnTo>
                  <a:pt x="94886" y="302807"/>
                </a:lnTo>
                <a:lnTo>
                  <a:pt x="98112" y="294884"/>
                </a:lnTo>
                <a:lnTo>
                  <a:pt x="97688" y="293370"/>
                </a:lnTo>
                <a:lnTo>
                  <a:pt x="95928" y="288289"/>
                </a:lnTo>
                <a:lnTo>
                  <a:pt x="93984" y="281939"/>
                </a:lnTo>
                <a:lnTo>
                  <a:pt x="84430" y="237489"/>
                </a:lnTo>
                <a:lnTo>
                  <a:pt x="83245" y="193039"/>
                </a:lnTo>
                <a:lnTo>
                  <a:pt x="83361" y="165100"/>
                </a:lnTo>
                <a:lnTo>
                  <a:pt x="83473" y="147320"/>
                </a:lnTo>
                <a:lnTo>
                  <a:pt x="83599" y="132079"/>
                </a:lnTo>
                <a:lnTo>
                  <a:pt x="84137" y="80010"/>
                </a:lnTo>
                <a:close/>
              </a:path>
              <a:path w="443865" h="908050">
                <a:moveTo>
                  <a:pt x="98112" y="294884"/>
                </a:moveTo>
                <a:lnTo>
                  <a:pt x="94886" y="302807"/>
                </a:lnTo>
                <a:lnTo>
                  <a:pt x="97167" y="302260"/>
                </a:lnTo>
                <a:lnTo>
                  <a:pt x="99110" y="298450"/>
                </a:lnTo>
                <a:lnTo>
                  <a:pt x="98112" y="294884"/>
                </a:lnTo>
                <a:close/>
              </a:path>
              <a:path w="443865" h="908050">
                <a:moveTo>
                  <a:pt x="168973" y="196850"/>
                </a:moveTo>
                <a:lnTo>
                  <a:pt x="165532" y="215900"/>
                </a:lnTo>
                <a:lnTo>
                  <a:pt x="158789" y="237489"/>
                </a:lnTo>
                <a:lnTo>
                  <a:pt x="148744" y="260350"/>
                </a:lnTo>
                <a:lnTo>
                  <a:pt x="135394" y="285750"/>
                </a:lnTo>
                <a:lnTo>
                  <a:pt x="141986" y="290829"/>
                </a:lnTo>
                <a:lnTo>
                  <a:pt x="172938" y="250189"/>
                </a:lnTo>
                <a:lnTo>
                  <a:pt x="183913" y="231139"/>
                </a:lnTo>
                <a:lnTo>
                  <a:pt x="188899" y="223520"/>
                </a:lnTo>
                <a:lnTo>
                  <a:pt x="194257" y="215900"/>
                </a:lnTo>
                <a:lnTo>
                  <a:pt x="199986" y="210820"/>
                </a:lnTo>
                <a:lnTo>
                  <a:pt x="168973" y="196850"/>
                </a:lnTo>
                <a:close/>
              </a:path>
              <a:path w="443865" h="908050">
                <a:moveTo>
                  <a:pt x="226786" y="175260"/>
                </a:moveTo>
                <a:lnTo>
                  <a:pt x="202387" y="175260"/>
                </a:lnTo>
                <a:lnTo>
                  <a:pt x="221449" y="246379"/>
                </a:lnTo>
                <a:lnTo>
                  <a:pt x="219163" y="248920"/>
                </a:lnTo>
                <a:lnTo>
                  <a:pt x="213601" y="250189"/>
                </a:lnTo>
                <a:lnTo>
                  <a:pt x="208777" y="251460"/>
                </a:lnTo>
                <a:lnTo>
                  <a:pt x="202631" y="252729"/>
                </a:lnTo>
                <a:lnTo>
                  <a:pt x="195166" y="254000"/>
                </a:lnTo>
                <a:lnTo>
                  <a:pt x="186385" y="255270"/>
                </a:lnTo>
                <a:lnTo>
                  <a:pt x="189268" y="265429"/>
                </a:lnTo>
                <a:lnTo>
                  <a:pt x="201712" y="265429"/>
                </a:lnTo>
                <a:lnTo>
                  <a:pt x="211405" y="267970"/>
                </a:lnTo>
                <a:lnTo>
                  <a:pt x="218348" y="273050"/>
                </a:lnTo>
                <a:lnTo>
                  <a:pt x="222542" y="280670"/>
                </a:lnTo>
                <a:lnTo>
                  <a:pt x="234910" y="271779"/>
                </a:lnTo>
                <a:lnTo>
                  <a:pt x="242658" y="262889"/>
                </a:lnTo>
                <a:lnTo>
                  <a:pt x="245787" y="251460"/>
                </a:lnTo>
                <a:lnTo>
                  <a:pt x="244297" y="240029"/>
                </a:lnTo>
                <a:lnTo>
                  <a:pt x="226786" y="175260"/>
                </a:lnTo>
                <a:close/>
              </a:path>
              <a:path w="443865" h="908050">
                <a:moveTo>
                  <a:pt x="237350" y="182879"/>
                </a:moveTo>
                <a:lnTo>
                  <a:pt x="234797" y="191770"/>
                </a:lnTo>
                <a:lnTo>
                  <a:pt x="250811" y="203200"/>
                </a:lnTo>
                <a:lnTo>
                  <a:pt x="264067" y="214629"/>
                </a:lnTo>
                <a:lnTo>
                  <a:pt x="274566" y="224789"/>
                </a:lnTo>
                <a:lnTo>
                  <a:pt x="282308" y="233679"/>
                </a:lnTo>
                <a:lnTo>
                  <a:pt x="289420" y="242570"/>
                </a:lnTo>
                <a:lnTo>
                  <a:pt x="294906" y="246379"/>
                </a:lnTo>
                <a:lnTo>
                  <a:pt x="298742" y="245110"/>
                </a:lnTo>
                <a:lnTo>
                  <a:pt x="301713" y="245110"/>
                </a:lnTo>
                <a:lnTo>
                  <a:pt x="303758" y="241300"/>
                </a:lnTo>
                <a:lnTo>
                  <a:pt x="306006" y="228600"/>
                </a:lnTo>
                <a:lnTo>
                  <a:pt x="306006" y="222250"/>
                </a:lnTo>
                <a:lnTo>
                  <a:pt x="304863" y="218439"/>
                </a:lnTo>
                <a:lnTo>
                  <a:pt x="303580" y="213360"/>
                </a:lnTo>
                <a:lnTo>
                  <a:pt x="258879" y="190500"/>
                </a:lnTo>
                <a:lnTo>
                  <a:pt x="237350" y="182879"/>
                </a:lnTo>
                <a:close/>
              </a:path>
              <a:path w="443865" h="908050">
                <a:moveTo>
                  <a:pt x="129641" y="83819"/>
                </a:moveTo>
                <a:lnTo>
                  <a:pt x="134177" y="99060"/>
                </a:lnTo>
                <a:lnTo>
                  <a:pt x="138412" y="113029"/>
                </a:lnTo>
                <a:lnTo>
                  <a:pt x="142344" y="127000"/>
                </a:lnTo>
                <a:lnTo>
                  <a:pt x="145973" y="139700"/>
                </a:lnTo>
                <a:lnTo>
                  <a:pt x="149503" y="153670"/>
                </a:lnTo>
                <a:lnTo>
                  <a:pt x="153119" y="167639"/>
                </a:lnTo>
                <a:lnTo>
                  <a:pt x="156823" y="182879"/>
                </a:lnTo>
                <a:lnTo>
                  <a:pt x="160616" y="199389"/>
                </a:lnTo>
                <a:lnTo>
                  <a:pt x="181165" y="185420"/>
                </a:lnTo>
                <a:lnTo>
                  <a:pt x="179959" y="180339"/>
                </a:lnTo>
                <a:lnTo>
                  <a:pt x="202387" y="175260"/>
                </a:lnTo>
                <a:lnTo>
                  <a:pt x="226786" y="175260"/>
                </a:lnTo>
                <a:lnTo>
                  <a:pt x="225069" y="168910"/>
                </a:lnTo>
                <a:lnTo>
                  <a:pt x="229555" y="167639"/>
                </a:lnTo>
                <a:lnTo>
                  <a:pt x="176618" y="167639"/>
                </a:lnTo>
                <a:lnTo>
                  <a:pt x="168871" y="139700"/>
                </a:lnTo>
                <a:lnTo>
                  <a:pt x="213889" y="127000"/>
                </a:lnTo>
                <a:lnTo>
                  <a:pt x="165519" y="127000"/>
                </a:lnTo>
                <a:lnTo>
                  <a:pt x="158394" y="100329"/>
                </a:lnTo>
                <a:lnTo>
                  <a:pt x="201803" y="88900"/>
                </a:lnTo>
                <a:lnTo>
                  <a:pt x="152692" y="88900"/>
                </a:lnTo>
                <a:lnTo>
                  <a:pt x="129641" y="83819"/>
                </a:lnTo>
                <a:close/>
              </a:path>
              <a:path w="443865" h="908050">
                <a:moveTo>
                  <a:pt x="2222" y="132079"/>
                </a:moveTo>
                <a:lnTo>
                  <a:pt x="0" y="140970"/>
                </a:lnTo>
                <a:lnTo>
                  <a:pt x="11344" y="149860"/>
                </a:lnTo>
                <a:lnTo>
                  <a:pt x="20710" y="157479"/>
                </a:lnTo>
                <a:lnTo>
                  <a:pt x="28099" y="165100"/>
                </a:lnTo>
                <a:lnTo>
                  <a:pt x="33515" y="171450"/>
                </a:lnTo>
                <a:lnTo>
                  <a:pt x="38773" y="180339"/>
                </a:lnTo>
                <a:lnTo>
                  <a:pt x="43408" y="184150"/>
                </a:lnTo>
                <a:lnTo>
                  <a:pt x="57708" y="161289"/>
                </a:lnTo>
                <a:lnTo>
                  <a:pt x="55473" y="153670"/>
                </a:lnTo>
                <a:lnTo>
                  <a:pt x="50882" y="147320"/>
                </a:lnTo>
                <a:lnTo>
                  <a:pt x="40478" y="142239"/>
                </a:lnTo>
                <a:lnTo>
                  <a:pt x="24258" y="137160"/>
                </a:lnTo>
                <a:lnTo>
                  <a:pt x="2222" y="132079"/>
                </a:lnTo>
                <a:close/>
              </a:path>
              <a:path w="443865" h="908050">
                <a:moveTo>
                  <a:pt x="265655" y="162560"/>
                </a:moveTo>
                <a:lnTo>
                  <a:pt x="247497" y="162560"/>
                </a:lnTo>
                <a:lnTo>
                  <a:pt x="250520" y="173989"/>
                </a:lnTo>
                <a:lnTo>
                  <a:pt x="265655" y="162560"/>
                </a:lnTo>
                <a:close/>
              </a:path>
              <a:path w="443865" h="908050">
                <a:moveTo>
                  <a:pt x="259442" y="120650"/>
                </a:moveTo>
                <a:lnTo>
                  <a:pt x="236397" y="120650"/>
                </a:lnTo>
                <a:lnTo>
                  <a:pt x="244144" y="149860"/>
                </a:lnTo>
                <a:lnTo>
                  <a:pt x="176618" y="167639"/>
                </a:lnTo>
                <a:lnTo>
                  <a:pt x="229555" y="167639"/>
                </a:lnTo>
                <a:lnTo>
                  <a:pt x="247497" y="162560"/>
                </a:lnTo>
                <a:lnTo>
                  <a:pt x="265655" y="162560"/>
                </a:lnTo>
                <a:lnTo>
                  <a:pt x="270700" y="158750"/>
                </a:lnTo>
                <a:lnTo>
                  <a:pt x="267781" y="149860"/>
                </a:lnTo>
                <a:lnTo>
                  <a:pt x="259442" y="120650"/>
                </a:lnTo>
                <a:close/>
              </a:path>
              <a:path w="443865" h="908050">
                <a:moveTo>
                  <a:pt x="249219" y="82550"/>
                </a:moveTo>
                <a:lnTo>
                  <a:pt x="225920" y="82550"/>
                </a:lnTo>
                <a:lnTo>
                  <a:pt x="233045" y="109220"/>
                </a:lnTo>
                <a:lnTo>
                  <a:pt x="165519" y="127000"/>
                </a:lnTo>
                <a:lnTo>
                  <a:pt x="213889" y="127000"/>
                </a:lnTo>
                <a:lnTo>
                  <a:pt x="236397" y="120650"/>
                </a:lnTo>
                <a:lnTo>
                  <a:pt x="259442" y="120650"/>
                </a:lnTo>
                <a:lnTo>
                  <a:pt x="256541" y="110489"/>
                </a:lnTo>
                <a:lnTo>
                  <a:pt x="249219" y="82550"/>
                </a:lnTo>
                <a:close/>
              </a:path>
              <a:path w="443865" h="908050">
                <a:moveTo>
                  <a:pt x="9334" y="59689"/>
                </a:moveTo>
                <a:lnTo>
                  <a:pt x="7137" y="68580"/>
                </a:lnTo>
                <a:lnTo>
                  <a:pt x="17838" y="76200"/>
                </a:lnTo>
                <a:lnTo>
                  <a:pt x="26741" y="83819"/>
                </a:lnTo>
                <a:lnTo>
                  <a:pt x="33846" y="91439"/>
                </a:lnTo>
                <a:lnTo>
                  <a:pt x="39154" y="97789"/>
                </a:lnTo>
                <a:lnTo>
                  <a:pt x="43243" y="105410"/>
                </a:lnTo>
                <a:lnTo>
                  <a:pt x="47701" y="107950"/>
                </a:lnTo>
                <a:lnTo>
                  <a:pt x="52539" y="106679"/>
                </a:lnTo>
                <a:lnTo>
                  <a:pt x="55232" y="106679"/>
                </a:lnTo>
                <a:lnTo>
                  <a:pt x="57772" y="102870"/>
                </a:lnTo>
                <a:lnTo>
                  <a:pt x="60134" y="95250"/>
                </a:lnTo>
                <a:lnTo>
                  <a:pt x="62509" y="88900"/>
                </a:lnTo>
                <a:lnTo>
                  <a:pt x="61544" y="82550"/>
                </a:lnTo>
                <a:lnTo>
                  <a:pt x="57238" y="74930"/>
                </a:lnTo>
                <a:lnTo>
                  <a:pt x="51823" y="71119"/>
                </a:lnTo>
                <a:lnTo>
                  <a:pt x="42035" y="67310"/>
                </a:lnTo>
                <a:lnTo>
                  <a:pt x="27872" y="63500"/>
                </a:lnTo>
                <a:lnTo>
                  <a:pt x="9334" y="59689"/>
                </a:lnTo>
                <a:close/>
              </a:path>
              <a:path w="443865" h="908050">
                <a:moveTo>
                  <a:pt x="201142" y="48260"/>
                </a:moveTo>
                <a:lnTo>
                  <a:pt x="168490" y="48260"/>
                </a:lnTo>
                <a:lnTo>
                  <a:pt x="168396" y="54610"/>
                </a:lnTo>
                <a:lnTo>
                  <a:pt x="167751" y="62230"/>
                </a:lnTo>
                <a:lnTo>
                  <a:pt x="166558" y="72389"/>
                </a:lnTo>
                <a:lnTo>
                  <a:pt x="164820" y="85089"/>
                </a:lnTo>
                <a:lnTo>
                  <a:pt x="152692" y="88900"/>
                </a:lnTo>
                <a:lnTo>
                  <a:pt x="201803" y="88900"/>
                </a:lnTo>
                <a:lnTo>
                  <a:pt x="225920" y="82550"/>
                </a:lnTo>
                <a:lnTo>
                  <a:pt x="249219" y="82550"/>
                </a:lnTo>
                <a:lnTo>
                  <a:pt x="248887" y="81280"/>
                </a:lnTo>
                <a:lnTo>
                  <a:pt x="177596" y="81280"/>
                </a:lnTo>
                <a:lnTo>
                  <a:pt x="182511" y="72389"/>
                </a:lnTo>
                <a:lnTo>
                  <a:pt x="186143" y="66039"/>
                </a:lnTo>
                <a:lnTo>
                  <a:pt x="190855" y="58419"/>
                </a:lnTo>
                <a:lnTo>
                  <a:pt x="195072" y="53339"/>
                </a:lnTo>
                <a:lnTo>
                  <a:pt x="201142" y="48260"/>
                </a:lnTo>
                <a:close/>
              </a:path>
              <a:path w="443865" h="908050">
                <a:moveTo>
                  <a:pt x="228688" y="54610"/>
                </a:moveTo>
                <a:lnTo>
                  <a:pt x="222732" y="69850"/>
                </a:lnTo>
                <a:lnTo>
                  <a:pt x="177596" y="81280"/>
                </a:lnTo>
                <a:lnTo>
                  <a:pt x="248887" y="81280"/>
                </a:lnTo>
                <a:lnTo>
                  <a:pt x="248221" y="78739"/>
                </a:lnTo>
                <a:lnTo>
                  <a:pt x="254812" y="67310"/>
                </a:lnTo>
                <a:lnTo>
                  <a:pt x="228688" y="54610"/>
                </a:lnTo>
                <a:close/>
              </a:path>
              <a:path w="443865" h="908050">
                <a:moveTo>
                  <a:pt x="228244" y="0"/>
                </a:moveTo>
                <a:lnTo>
                  <a:pt x="215290" y="22860"/>
                </a:lnTo>
                <a:lnTo>
                  <a:pt x="101104" y="53339"/>
                </a:lnTo>
                <a:lnTo>
                  <a:pt x="149448" y="53339"/>
                </a:lnTo>
                <a:lnTo>
                  <a:pt x="168490" y="48260"/>
                </a:lnTo>
                <a:lnTo>
                  <a:pt x="201142" y="48260"/>
                </a:lnTo>
                <a:lnTo>
                  <a:pt x="181038" y="44450"/>
                </a:lnTo>
                <a:lnTo>
                  <a:pt x="261086" y="24130"/>
                </a:lnTo>
                <a:lnTo>
                  <a:pt x="228244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09076" y="6397752"/>
            <a:ext cx="536575" cy="460375"/>
          </a:xfrm>
          <a:custGeom>
            <a:avLst/>
            <a:gdLst/>
            <a:ahLst/>
            <a:cxnLst/>
            <a:rect l="l" t="t" r="r" b="b"/>
            <a:pathLst>
              <a:path w="536575" h="460375">
                <a:moveTo>
                  <a:pt x="0" y="460248"/>
                </a:moveTo>
                <a:lnTo>
                  <a:pt x="536448" y="460248"/>
                </a:lnTo>
                <a:lnTo>
                  <a:pt x="536448" y="0"/>
                </a:lnTo>
                <a:lnTo>
                  <a:pt x="0" y="0"/>
                </a:lnTo>
                <a:lnTo>
                  <a:pt x="0" y="46024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02193" y="6475882"/>
            <a:ext cx="1167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29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r>
              <a:rPr sz="1400" b="1" spc="-21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600" b="1" baseline="9259" dirty="0">
                <a:solidFill>
                  <a:srgbClr val="FF0000"/>
                </a:solidFill>
                <a:latin typeface="Times New Roman"/>
                <a:cs typeface="Times New Roman"/>
                <a:hlinkClick r:id="rId6" action="ppaction://hlinksldjump"/>
              </a:rPr>
              <a:t>22</a:t>
            </a:r>
            <a:endParaRPr sz="3600" baseline="9259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407033" y="11378"/>
            <a:ext cx="3437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  <a:tab pos="3042285" algn="l"/>
              </a:tabLst>
            </a:pPr>
            <a:r>
              <a:rPr sz="2400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dirty="0">
                <a:solidFill>
                  <a:srgbClr val="A15100"/>
                </a:solidFill>
              </a:rPr>
              <a:t>1.3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17084" y="11378"/>
            <a:ext cx="30772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5142" y="748029"/>
            <a:ext cx="4792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2.</a:t>
            </a:r>
            <a:r>
              <a:rPr sz="3000" spc="-15" dirty="0"/>
              <a:t> </a:t>
            </a:r>
            <a:r>
              <a:rPr sz="3000" spc="-5" dirty="0">
                <a:latin typeface="宋体"/>
                <a:cs typeface="宋体"/>
              </a:rPr>
              <a:t>语法分</a:t>
            </a:r>
            <a:r>
              <a:rPr sz="3000" spc="-15" dirty="0">
                <a:latin typeface="宋体"/>
                <a:cs typeface="宋体"/>
              </a:rPr>
              <a:t>析</a:t>
            </a:r>
            <a:r>
              <a:rPr sz="3000" spc="-755" dirty="0">
                <a:latin typeface="宋体"/>
                <a:cs typeface="宋体"/>
              </a:rPr>
              <a:t> </a:t>
            </a:r>
            <a:r>
              <a:rPr sz="3000" spc="-5" dirty="0"/>
              <a:t>(Syntax</a:t>
            </a:r>
            <a:r>
              <a:rPr sz="3000" spc="-20" dirty="0"/>
              <a:t> </a:t>
            </a:r>
            <a:r>
              <a:rPr sz="3000" spc="-5" dirty="0"/>
              <a:t>analysis)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142" y="1225147"/>
            <a:ext cx="8314690" cy="5137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85420" indent="269875">
              <a:lnSpc>
                <a:spcPct val="150000"/>
              </a:lnSpc>
              <a:spcBef>
                <a:spcPts val="105"/>
              </a:spcBef>
              <a:tabLst>
                <a:tab pos="628015" algn="l"/>
              </a:tabLst>
            </a:pP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语法分析的任务是依据语言文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本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所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规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定的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语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法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规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对词法分析的结果进行语法检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2800" b="1" spc="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并识别出单词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序列所对应的语法范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畴</a:t>
            </a:r>
            <a:r>
              <a:rPr sz="2800" b="1" spc="2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。通常将语法分析的结果表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示为分析树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(parse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tree)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或语法树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(syntax</a:t>
            </a:r>
            <a:r>
              <a:rPr sz="2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tree)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它是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一种层次结构的形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spcBef>
                <a:spcPts val="994"/>
              </a:spcBef>
            </a:pP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1.2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中</a:t>
            </a:r>
            <a:r>
              <a:rPr sz="2600" b="1" spc="5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语言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赋值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达式语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经过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法分</a:t>
            </a:r>
            <a:r>
              <a:rPr sz="2600" b="1" spc="25" dirty="0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确认合 乎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语言的语法规则且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法范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畴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为表达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sz="2600" b="1" spc="10" dirty="0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sz="2600" b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600" b="1" spc="-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FFFF00"/>
                </a:solidFill>
                <a:latin typeface="宋体"/>
                <a:cs typeface="宋体"/>
              </a:rPr>
              <a:t>产生的语 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法树形式的语法分析结果如</a:t>
            </a:r>
            <a:r>
              <a:rPr sz="2600" b="1" spc="-15" dirty="0">
                <a:solidFill>
                  <a:srgbClr val="FFFF00"/>
                </a:solidFill>
                <a:latin typeface="宋体"/>
                <a:cs typeface="宋体"/>
              </a:rPr>
              <a:t>下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图所</a:t>
            </a:r>
            <a:r>
              <a:rPr sz="2600" b="1" spc="-5" dirty="0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7061" y="2649473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05861" y="3277361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68361" y="1981961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5300" y="2628900"/>
            <a:ext cx="515620" cy="0"/>
          </a:xfrm>
          <a:custGeom>
            <a:avLst/>
            <a:gdLst/>
            <a:ahLst/>
            <a:cxnLst/>
            <a:rect l="l" t="t" r="r" b="b"/>
            <a:pathLst>
              <a:path w="515619">
                <a:moveTo>
                  <a:pt x="0" y="0"/>
                </a:moveTo>
                <a:lnTo>
                  <a:pt x="515112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07033" y="11378"/>
            <a:ext cx="6787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  <a:tab pos="3042285" algn="l"/>
                <a:tab pos="372237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7757" y="4920741"/>
            <a:ext cx="1093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a[</a:t>
            </a:r>
            <a:r>
              <a:rPr sz="24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ndex]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4680" y="4920741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表达式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7578" y="4920741"/>
            <a:ext cx="1714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*</a:t>
            </a:r>
            <a:r>
              <a:rPr sz="2400" b="1" spc="111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表 达 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07941" y="2317242"/>
            <a:ext cx="0" cy="508000"/>
          </a:xfrm>
          <a:custGeom>
            <a:avLst/>
            <a:gdLst/>
            <a:ahLst/>
            <a:cxnLst/>
            <a:rect l="l" t="t" r="r" b="b"/>
            <a:pathLst>
              <a:path h="508000">
                <a:moveTo>
                  <a:pt x="0" y="0"/>
                </a:moveTo>
                <a:lnTo>
                  <a:pt x="0" y="50749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79341" y="3441953"/>
            <a:ext cx="0" cy="509270"/>
          </a:xfrm>
          <a:custGeom>
            <a:avLst/>
            <a:gdLst/>
            <a:ahLst/>
            <a:cxnLst/>
            <a:rect l="l" t="t" r="r" b="b"/>
            <a:pathLst>
              <a:path h="509270">
                <a:moveTo>
                  <a:pt x="0" y="0"/>
                </a:moveTo>
                <a:lnTo>
                  <a:pt x="0" y="5090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13838" y="3441953"/>
            <a:ext cx="911860" cy="254635"/>
          </a:xfrm>
          <a:custGeom>
            <a:avLst/>
            <a:gdLst/>
            <a:ahLst/>
            <a:cxnLst/>
            <a:rect l="l" t="t" r="r" b="b"/>
            <a:pathLst>
              <a:path w="911860" h="254635">
                <a:moveTo>
                  <a:pt x="911351" y="0"/>
                </a:moveTo>
                <a:lnTo>
                  <a:pt x="0" y="2545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35017" y="3441953"/>
            <a:ext cx="1365885" cy="254635"/>
          </a:xfrm>
          <a:custGeom>
            <a:avLst/>
            <a:gdLst/>
            <a:ahLst/>
            <a:cxnLst/>
            <a:rect l="l" t="t" r="r" b="b"/>
            <a:pathLst>
              <a:path w="1365885" h="254635">
                <a:moveTo>
                  <a:pt x="0" y="0"/>
                </a:moveTo>
                <a:lnTo>
                  <a:pt x="1365504" y="2545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35073" y="4360926"/>
            <a:ext cx="454659" cy="509270"/>
          </a:xfrm>
          <a:custGeom>
            <a:avLst/>
            <a:gdLst/>
            <a:ahLst/>
            <a:cxnLst/>
            <a:rect l="l" t="t" r="r" b="b"/>
            <a:pathLst>
              <a:path w="454660" h="509270">
                <a:moveTo>
                  <a:pt x="454151" y="0"/>
                </a:moveTo>
                <a:lnTo>
                  <a:pt x="0" y="5090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26102" y="4360926"/>
            <a:ext cx="683260" cy="509270"/>
          </a:xfrm>
          <a:custGeom>
            <a:avLst/>
            <a:gdLst/>
            <a:ahLst/>
            <a:cxnLst/>
            <a:rect l="l" t="t" r="r" b="b"/>
            <a:pathLst>
              <a:path w="683260" h="509270">
                <a:moveTo>
                  <a:pt x="682751" y="0"/>
                </a:moveTo>
                <a:lnTo>
                  <a:pt x="0" y="50901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00521" y="4385309"/>
            <a:ext cx="0" cy="509270"/>
          </a:xfrm>
          <a:custGeom>
            <a:avLst/>
            <a:gdLst/>
            <a:ahLst/>
            <a:cxnLst/>
            <a:rect l="l" t="t" r="r" b="b"/>
            <a:pathLst>
              <a:path h="509270">
                <a:moveTo>
                  <a:pt x="0" y="0"/>
                </a:moveTo>
                <a:lnTo>
                  <a:pt x="0" y="50901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86678" y="4385309"/>
            <a:ext cx="683260" cy="509270"/>
          </a:xfrm>
          <a:custGeom>
            <a:avLst/>
            <a:gdLst/>
            <a:ahLst/>
            <a:cxnLst/>
            <a:rect l="l" t="t" r="r" b="b"/>
            <a:pathLst>
              <a:path w="683259" h="509270">
                <a:moveTo>
                  <a:pt x="0" y="0"/>
                </a:moveTo>
                <a:lnTo>
                  <a:pt x="682751" y="50901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35017" y="5378958"/>
            <a:ext cx="0" cy="509270"/>
          </a:xfrm>
          <a:custGeom>
            <a:avLst/>
            <a:gdLst/>
            <a:ahLst/>
            <a:cxnLst/>
            <a:rect l="l" t="t" r="r" b="b"/>
            <a:pathLst>
              <a:path h="509270">
                <a:moveTo>
                  <a:pt x="0" y="0"/>
                </a:moveTo>
                <a:lnTo>
                  <a:pt x="0" y="50901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34961" y="5378958"/>
            <a:ext cx="0" cy="509270"/>
          </a:xfrm>
          <a:custGeom>
            <a:avLst/>
            <a:gdLst/>
            <a:ahLst/>
            <a:cxnLst/>
            <a:rect l="l" t="t" r="r" b="b"/>
            <a:pathLst>
              <a:path h="509270">
                <a:moveTo>
                  <a:pt x="0" y="0"/>
                </a:moveTo>
                <a:lnTo>
                  <a:pt x="0" y="50901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04797" y="3910329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标识符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8758" y="3960621"/>
            <a:ext cx="280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9776" y="3910329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表达式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7253" y="5914745"/>
            <a:ext cx="101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常</a:t>
            </a:r>
            <a:r>
              <a:rPr sz="2400" b="1" spc="-10" dirty="0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sz="2400" b="1" spc="-68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02755" y="5914745"/>
            <a:ext cx="867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常</a:t>
            </a:r>
            <a:r>
              <a:rPr sz="2400" b="1" spc="-10" dirty="0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sz="2400" b="1" spc="-68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57700" y="2023872"/>
            <a:ext cx="2878074" cy="8008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57700" y="2023872"/>
            <a:ext cx="2878455" cy="801370"/>
          </a:xfrm>
          <a:custGeom>
            <a:avLst/>
            <a:gdLst/>
            <a:ahLst/>
            <a:cxnLst/>
            <a:rect l="l" t="t" r="r" b="b"/>
            <a:pathLst>
              <a:path w="2878454" h="801369">
                <a:moveTo>
                  <a:pt x="2878074" y="716279"/>
                </a:moveTo>
                <a:lnTo>
                  <a:pt x="2871430" y="749212"/>
                </a:lnTo>
                <a:lnTo>
                  <a:pt x="2853308" y="776096"/>
                </a:lnTo>
                <a:lnTo>
                  <a:pt x="2826424" y="794218"/>
                </a:lnTo>
                <a:lnTo>
                  <a:pt x="2793492" y="800862"/>
                </a:lnTo>
                <a:lnTo>
                  <a:pt x="1989074" y="800862"/>
                </a:lnTo>
                <a:lnTo>
                  <a:pt x="1608074" y="800862"/>
                </a:lnTo>
                <a:lnTo>
                  <a:pt x="1438655" y="800862"/>
                </a:lnTo>
                <a:lnTo>
                  <a:pt x="1405723" y="794218"/>
                </a:lnTo>
                <a:lnTo>
                  <a:pt x="1378839" y="776097"/>
                </a:lnTo>
                <a:lnTo>
                  <a:pt x="1360717" y="749212"/>
                </a:lnTo>
                <a:lnTo>
                  <a:pt x="1354074" y="716279"/>
                </a:lnTo>
                <a:lnTo>
                  <a:pt x="1354074" y="504825"/>
                </a:lnTo>
                <a:lnTo>
                  <a:pt x="0" y="0"/>
                </a:lnTo>
                <a:lnTo>
                  <a:pt x="1354074" y="377951"/>
                </a:lnTo>
                <a:lnTo>
                  <a:pt x="1360717" y="345019"/>
                </a:lnTo>
                <a:lnTo>
                  <a:pt x="1378839" y="318135"/>
                </a:lnTo>
                <a:lnTo>
                  <a:pt x="1405723" y="300013"/>
                </a:lnTo>
                <a:lnTo>
                  <a:pt x="1438655" y="293369"/>
                </a:lnTo>
                <a:lnTo>
                  <a:pt x="1608074" y="293369"/>
                </a:lnTo>
                <a:lnTo>
                  <a:pt x="1989074" y="293369"/>
                </a:lnTo>
                <a:lnTo>
                  <a:pt x="2793492" y="293369"/>
                </a:lnTo>
                <a:lnTo>
                  <a:pt x="2826424" y="300013"/>
                </a:lnTo>
                <a:lnTo>
                  <a:pt x="2853308" y="318134"/>
                </a:lnTo>
                <a:lnTo>
                  <a:pt x="2871430" y="345019"/>
                </a:lnTo>
                <a:lnTo>
                  <a:pt x="2878074" y="377951"/>
                </a:lnTo>
                <a:lnTo>
                  <a:pt x="2878074" y="504825"/>
                </a:lnTo>
                <a:lnTo>
                  <a:pt x="2878074" y="716279"/>
                </a:lnTo>
                <a:close/>
              </a:path>
            </a:pathLst>
          </a:custGeom>
          <a:ln w="38100">
            <a:solidFill>
              <a:srgbClr val="FF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32128" y="920572"/>
            <a:ext cx="5965825" cy="2338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69360" algn="l"/>
              </a:tabLst>
            </a:pP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语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句</a:t>
            </a:r>
            <a:r>
              <a:rPr sz="2800" b="1" u="heavy" spc="-6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 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a[index]</a:t>
            </a:r>
            <a:r>
              <a:rPr sz="2800" b="1" u="heavy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800" b="1" u="heavy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12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*</a:t>
            </a:r>
            <a:r>
              <a:rPr sz="28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3	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；的语法树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宋体"/>
              <a:cs typeface="宋体"/>
            </a:endParaRPr>
          </a:p>
          <a:p>
            <a:pPr marR="35560" algn="ctr">
              <a:lnSpc>
                <a:spcPct val="100000"/>
              </a:lnSpc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表达式</a:t>
            </a:r>
            <a:endParaRPr sz="2400">
              <a:latin typeface="宋体"/>
              <a:cs typeface="宋体"/>
            </a:endParaRPr>
          </a:p>
          <a:p>
            <a:pPr marL="4915535" algn="ctr">
              <a:lnSpc>
                <a:spcPct val="100000"/>
              </a:lnSpc>
              <a:spcBef>
                <a:spcPts val="1480"/>
              </a:spcBef>
            </a:pPr>
            <a:r>
              <a:rPr sz="2000" b="1" spc="5" dirty="0">
                <a:solidFill>
                  <a:srgbClr val="006600"/>
                </a:solidFill>
                <a:latin typeface="宋体"/>
                <a:cs typeface="宋体"/>
              </a:rPr>
              <a:t>语法范畴</a:t>
            </a:r>
            <a:endParaRPr sz="2000">
              <a:latin typeface="宋体"/>
              <a:cs typeface="宋体"/>
            </a:endParaRPr>
          </a:p>
          <a:p>
            <a:pPr marR="193040" algn="ctr">
              <a:lnSpc>
                <a:spcPct val="100000"/>
              </a:lnSpc>
              <a:spcBef>
                <a:spcPts val="123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赋值表达式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407033" y="11378"/>
            <a:ext cx="6787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  <a:tab pos="3042285" algn="l"/>
                <a:tab pos="3722370" algn="l"/>
              </a:tabLst>
            </a:pPr>
            <a:r>
              <a:rPr sz="2400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dirty="0">
                <a:solidFill>
                  <a:srgbClr val="A15100"/>
                </a:solidFill>
              </a:rPr>
              <a:t>1.3	</a:t>
            </a:r>
            <a:r>
              <a:rPr sz="2400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7042" y="1107694"/>
            <a:ext cx="830960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3.</a:t>
            </a:r>
            <a:r>
              <a:rPr spc="-25" dirty="0"/>
              <a:t> </a:t>
            </a:r>
            <a:r>
              <a:rPr dirty="0">
                <a:latin typeface="宋体"/>
                <a:cs typeface="宋体"/>
              </a:rPr>
              <a:t>语义分</a:t>
            </a:r>
            <a:r>
              <a:rPr spc="780" dirty="0">
                <a:latin typeface="宋体"/>
                <a:cs typeface="宋体"/>
              </a:rPr>
              <a:t>析</a:t>
            </a:r>
            <a:r>
              <a:rPr dirty="0"/>
              <a:t>(semantic</a:t>
            </a:r>
            <a:r>
              <a:rPr spc="-25" dirty="0"/>
              <a:t> </a:t>
            </a:r>
            <a:r>
              <a:rPr dirty="0"/>
              <a:t>analysis)</a:t>
            </a:r>
            <a:r>
              <a:rPr spc="-5" dirty="0">
                <a:latin typeface="宋体"/>
                <a:cs typeface="宋体"/>
              </a:rPr>
              <a:t>与中间</a:t>
            </a:r>
            <a:r>
              <a:rPr spc="-10" dirty="0">
                <a:latin typeface="宋体"/>
                <a:cs typeface="宋体"/>
              </a:rPr>
              <a:t>代</a:t>
            </a:r>
            <a:r>
              <a:rPr spc="-5" dirty="0">
                <a:latin typeface="宋体"/>
                <a:cs typeface="宋体"/>
              </a:rPr>
              <a:t>码生</a:t>
            </a:r>
            <a:r>
              <a:rPr spc="-10" dirty="0">
                <a:latin typeface="宋体"/>
                <a:cs typeface="宋体"/>
              </a:rPr>
              <a:t>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6874" y="2046753"/>
            <a:ext cx="8051800" cy="32550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664210">
              <a:lnSpc>
                <a:spcPct val="150600"/>
              </a:lnSpc>
              <a:spcBef>
                <a:spcPts val="229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语义分析阶段的任务是依据语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文本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语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义规则对语法分析所识别的语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范畴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义检查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和处理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直至最后翻译成与其等价的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间代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或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目标代码。语义分析是整个编译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序完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实质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性的翻译任务。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63561" y="3391661"/>
            <a:ext cx="1506220" cy="0"/>
          </a:xfrm>
          <a:custGeom>
            <a:avLst/>
            <a:gdLst/>
            <a:ahLst/>
            <a:cxnLst/>
            <a:rect l="l" t="t" r="r" b="b"/>
            <a:pathLst>
              <a:path w="1506220">
                <a:moveTo>
                  <a:pt x="0" y="0"/>
                </a:moveTo>
                <a:lnTo>
                  <a:pt x="1505712" y="0"/>
                </a:lnTo>
              </a:path>
            </a:pathLst>
          </a:custGeom>
          <a:ln w="381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39261" y="4059173"/>
            <a:ext cx="934719" cy="0"/>
          </a:xfrm>
          <a:custGeom>
            <a:avLst/>
            <a:gdLst/>
            <a:ahLst/>
            <a:cxnLst/>
            <a:rect l="l" t="t" r="r" b="b"/>
            <a:pathLst>
              <a:path w="934720">
                <a:moveTo>
                  <a:pt x="0" y="0"/>
                </a:moveTo>
                <a:lnTo>
                  <a:pt x="934212" y="0"/>
                </a:lnTo>
              </a:path>
            </a:pathLst>
          </a:custGeom>
          <a:ln w="381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1174" y="4077461"/>
            <a:ext cx="932815" cy="0"/>
          </a:xfrm>
          <a:custGeom>
            <a:avLst/>
            <a:gdLst/>
            <a:ahLst/>
            <a:cxnLst/>
            <a:rect l="l" t="t" r="r" b="b"/>
            <a:pathLst>
              <a:path w="932814">
                <a:moveTo>
                  <a:pt x="0" y="0"/>
                </a:moveTo>
                <a:lnTo>
                  <a:pt x="932688" y="0"/>
                </a:lnTo>
              </a:path>
            </a:pathLst>
          </a:custGeom>
          <a:ln w="381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07033" y="11378"/>
            <a:ext cx="2539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编译引论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37126" y="11378"/>
            <a:ext cx="37572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7042" y="919733"/>
            <a:ext cx="10801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6929" y="971549"/>
            <a:ext cx="216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设有赋值语句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9822" y="4203013"/>
            <a:ext cx="13303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71855" algn="l"/>
              </a:tabLst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=	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150" b="1" spc="7" baseline="-21164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4091" y="4439792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1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48661" y="2945129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>
                <a:moveTo>
                  <a:pt x="0" y="0"/>
                </a:moveTo>
                <a:lnTo>
                  <a:pt x="44195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7900" y="4183379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>
                <a:moveTo>
                  <a:pt x="0" y="0"/>
                </a:moveTo>
                <a:lnTo>
                  <a:pt x="44196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47900" y="4870703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>
                <a:moveTo>
                  <a:pt x="0" y="0"/>
                </a:moveTo>
                <a:lnTo>
                  <a:pt x="44196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48661" y="2945129"/>
            <a:ext cx="0" cy="2465070"/>
          </a:xfrm>
          <a:custGeom>
            <a:avLst/>
            <a:gdLst/>
            <a:ahLst/>
            <a:cxnLst/>
            <a:rect l="l" t="t" r="r" b="b"/>
            <a:pathLst>
              <a:path h="2465070">
                <a:moveTo>
                  <a:pt x="0" y="0"/>
                </a:moveTo>
                <a:lnTo>
                  <a:pt x="0" y="246507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68261" y="2945129"/>
            <a:ext cx="0" cy="2465070"/>
          </a:xfrm>
          <a:custGeom>
            <a:avLst/>
            <a:gdLst/>
            <a:ahLst/>
            <a:cxnLst/>
            <a:rect l="l" t="t" r="r" b="b"/>
            <a:pathLst>
              <a:path h="2465070">
                <a:moveTo>
                  <a:pt x="0" y="0"/>
                </a:moveTo>
                <a:lnTo>
                  <a:pt x="0" y="246507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47900" y="3605784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>
                <a:moveTo>
                  <a:pt x="0" y="0"/>
                </a:moveTo>
                <a:lnTo>
                  <a:pt x="44196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76400" y="5410200"/>
            <a:ext cx="5791200" cy="668020"/>
          </a:xfrm>
          <a:custGeom>
            <a:avLst/>
            <a:gdLst/>
            <a:ahLst/>
            <a:cxnLst/>
            <a:rect l="l" t="t" r="r" b="b"/>
            <a:pathLst>
              <a:path w="5791200" h="668020">
                <a:moveTo>
                  <a:pt x="0" y="667512"/>
                </a:moveTo>
                <a:lnTo>
                  <a:pt x="5791200" y="667512"/>
                </a:lnTo>
                <a:lnTo>
                  <a:pt x="5791200" y="0"/>
                </a:lnTo>
                <a:lnTo>
                  <a:pt x="0" y="0"/>
                </a:lnTo>
                <a:lnTo>
                  <a:pt x="0" y="667512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6731" y="1819478"/>
            <a:ext cx="5817235" cy="231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B8D0"/>
                </a:solidFill>
                <a:latin typeface="宋体"/>
                <a:cs typeface="宋体"/>
              </a:rPr>
              <a:t>产生的四元式形式的中间代</a:t>
            </a:r>
            <a:r>
              <a:rPr sz="3200" b="1" spc="-15" dirty="0">
                <a:solidFill>
                  <a:srgbClr val="FFB8D0"/>
                </a:solidFill>
                <a:latin typeface="宋体"/>
                <a:cs typeface="宋体"/>
              </a:rPr>
              <a:t>码</a:t>
            </a:r>
            <a:r>
              <a:rPr sz="3200" b="1" spc="-10" dirty="0">
                <a:solidFill>
                  <a:srgbClr val="FFB8D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00">
              <a:latin typeface="宋体"/>
              <a:cs typeface="宋体"/>
            </a:endParaRPr>
          </a:p>
          <a:p>
            <a:pPr marL="1901189">
              <a:lnSpc>
                <a:spcPct val="100000"/>
              </a:lnSpc>
              <a:tabLst>
                <a:tab pos="2742565" algn="l"/>
                <a:tab pos="3656329" algn="l"/>
                <a:tab pos="4585970" algn="l"/>
              </a:tabLst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+	a	b	</a:t>
            </a:r>
            <a:r>
              <a:rPr sz="320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150" b="1" spc="15" baseline="-21164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150" baseline="-21164">
              <a:latin typeface="Times New Roman"/>
              <a:cs typeface="Times New Roman"/>
            </a:endParaRPr>
          </a:p>
          <a:p>
            <a:pPr marL="1901189">
              <a:lnSpc>
                <a:spcPct val="100000"/>
              </a:lnSpc>
              <a:spcBef>
                <a:spcPts val="1360"/>
              </a:spcBef>
              <a:tabLst>
                <a:tab pos="2807970" algn="l"/>
                <a:tab pos="3824604" algn="l"/>
                <a:tab pos="4609465" algn="l"/>
              </a:tabLst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*	</a:t>
            </a:r>
            <a:r>
              <a:rPr sz="32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3150" b="1" spc="7" baseline="-21164" dirty="0">
                <a:solidFill>
                  <a:srgbClr val="FFFF00"/>
                </a:solidFill>
                <a:latin typeface="Times New Roman"/>
                <a:cs typeface="Times New Roman"/>
              </a:rPr>
              <a:t>1	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c	T</a:t>
            </a:r>
            <a:r>
              <a:rPr sz="3150" b="1" baseline="-21164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07033" y="11378"/>
            <a:ext cx="2539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编译引论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37126" y="11378"/>
            <a:ext cx="3757295" cy="142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50">
              <a:latin typeface="华文新魏"/>
              <a:cs typeface="华文新魏"/>
            </a:endParaRPr>
          </a:p>
          <a:p>
            <a:pPr marL="183515">
              <a:lnSpc>
                <a:spcPct val="100000"/>
              </a:lnSpc>
            </a:pP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x=(a+b)*c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4065" y="427481"/>
            <a:ext cx="8041005" cy="5540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中间代码生成阶段</a:t>
            </a:r>
            <a:endParaRPr sz="4000">
              <a:latin typeface="宋体"/>
              <a:cs typeface="宋体"/>
            </a:endParaRPr>
          </a:p>
          <a:p>
            <a:pPr marL="1536700">
              <a:lnSpc>
                <a:spcPct val="100000"/>
              </a:lnSpc>
            </a:pP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所谓中间代码是一种结构简</a:t>
            </a:r>
            <a:endParaRPr sz="4000">
              <a:latin typeface="宋体"/>
              <a:cs typeface="宋体"/>
            </a:endParaRPr>
          </a:p>
          <a:p>
            <a:pPr marL="469900" marR="431800">
              <a:lnSpc>
                <a:spcPts val="4580"/>
              </a:lnSpc>
              <a:spcBef>
                <a:spcPts val="555"/>
              </a:spcBef>
            </a:pP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单含义明确的记号系统，它有二 个特点：</a:t>
            </a:r>
            <a:endParaRPr sz="4000">
              <a:latin typeface="宋体"/>
              <a:cs typeface="宋体"/>
            </a:endParaRPr>
          </a:p>
          <a:p>
            <a:pPr marL="1410335">
              <a:lnSpc>
                <a:spcPts val="4690"/>
              </a:lnSpc>
            </a:pP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易于产生</a:t>
            </a:r>
            <a:endParaRPr sz="4000">
              <a:latin typeface="宋体"/>
              <a:cs typeface="宋体"/>
            </a:endParaRPr>
          </a:p>
          <a:p>
            <a:pPr marL="1410335">
              <a:lnSpc>
                <a:spcPct val="100000"/>
              </a:lnSpc>
            </a:pPr>
            <a:r>
              <a:rPr sz="4000" b="1" spc="-15" dirty="0">
                <a:solidFill>
                  <a:srgbClr val="FFFFFF"/>
                </a:solidFill>
                <a:latin typeface="宋体"/>
                <a:cs typeface="宋体"/>
              </a:rPr>
              <a:t>易于翻译为目标程序</a:t>
            </a:r>
            <a:endParaRPr sz="4000">
              <a:latin typeface="宋体"/>
              <a:cs typeface="宋体"/>
            </a:endParaRPr>
          </a:p>
          <a:p>
            <a:pPr marL="1410335">
              <a:lnSpc>
                <a:spcPct val="100000"/>
              </a:lnSpc>
            </a:pP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常见的中间代码有四元式，三</a:t>
            </a:r>
            <a:endParaRPr sz="4000">
              <a:latin typeface="宋体"/>
              <a:cs typeface="宋体"/>
            </a:endParaRPr>
          </a:p>
          <a:p>
            <a:pPr marL="469900" marR="431800">
              <a:lnSpc>
                <a:spcPct val="100000"/>
              </a:lnSpc>
              <a:spcBef>
                <a:spcPts val="215"/>
              </a:spcBef>
            </a:pPr>
            <a:r>
              <a:rPr sz="4000" b="1" spc="-10" dirty="0">
                <a:solidFill>
                  <a:srgbClr val="FFFFFF"/>
                </a:solidFill>
                <a:latin typeface="宋体"/>
                <a:cs typeface="宋体"/>
              </a:rPr>
              <a:t>元式，间接三元式，逆波兰表示 等记号系统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16597" y="2129154"/>
            <a:ext cx="1453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符 号</a:t>
            </a:r>
            <a:r>
              <a:rPr sz="2800" b="1" spc="-5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18250" y="2584450"/>
          <a:ext cx="2609850" cy="237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position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302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initial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302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302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60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956808" y="2504719"/>
            <a:ext cx="203200" cy="1626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2361" y="3582161"/>
            <a:ext cx="3048000" cy="685800"/>
          </a:xfrm>
          <a:prstGeom prst="rect">
            <a:avLst/>
          </a:prstGeom>
          <a:solidFill>
            <a:srgbClr val="006600">
              <a:alpha val="30195"/>
            </a:srgbClr>
          </a:solidFill>
          <a:ln w="25400">
            <a:solidFill>
              <a:srgbClr val="FFFFFF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520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中间代码生成器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09061" y="3124961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0" y="330200"/>
                </a:moveTo>
                <a:lnTo>
                  <a:pt x="63500" y="457200"/>
                </a:lnTo>
                <a:lnTo>
                  <a:pt x="101600" y="381000"/>
                </a:lnTo>
                <a:lnTo>
                  <a:pt x="50800" y="381000"/>
                </a:lnTo>
                <a:lnTo>
                  <a:pt x="50800" y="370839"/>
                </a:lnTo>
                <a:lnTo>
                  <a:pt x="0" y="330200"/>
                </a:lnTo>
                <a:close/>
              </a:path>
              <a:path w="127000" h="457200">
                <a:moveTo>
                  <a:pt x="50800" y="370839"/>
                </a:moveTo>
                <a:lnTo>
                  <a:pt x="50800" y="381000"/>
                </a:lnTo>
                <a:lnTo>
                  <a:pt x="63500" y="381000"/>
                </a:lnTo>
                <a:lnTo>
                  <a:pt x="50800" y="370839"/>
                </a:lnTo>
                <a:close/>
              </a:path>
              <a:path w="127000" h="457200">
                <a:moveTo>
                  <a:pt x="76200" y="0"/>
                </a:moveTo>
                <a:lnTo>
                  <a:pt x="50800" y="0"/>
                </a:lnTo>
                <a:lnTo>
                  <a:pt x="50800" y="370839"/>
                </a:lnTo>
                <a:lnTo>
                  <a:pt x="63500" y="381000"/>
                </a:lnTo>
                <a:lnTo>
                  <a:pt x="76200" y="370839"/>
                </a:lnTo>
                <a:lnTo>
                  <a:pt x="76200" y="0"/>
                </a:lnTo>
                <a:close/>
              </a:path>
              <a:path w="127000" h="457200">
                <a:moveTo>
                  <a:pt x="76200" y="370839"/>
                </a:moveTo>
                <a:lnTo>
                  <a:pt x="63500" y="381000"/>
                </a:lnTo>
                <a:lnTo>
                  <a:pt x="76200" y="381000"/>
                </a:lnTo>
                <a:lnTo>
                  <a:pt x="76200" y="370839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6200" y="370839"/>
                </a:lnTo>
                <a:lnTo>
                  <a:pt x="76200" y="381000"/>
                </a:lnTo>
                <a:lnTo>
                  <a:pt x="101600" y="3810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9061" y="4267961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0" y="330200"/>
                </a:moveTo>
                <a:lnTo>
                  <a:pt x="63500" y="457200"/>
                </a:lnTo>
                <a:lnTo>
                  <a:pt x="101600" y="381000"/>
                </a:lnTo>
                <a:lnTo>
                  <a:pt x="50800" y="381000"/>
                </a:lnTo>
                <a:lnTo>
                  <a:pt x="50800" y="370839"/>
                </a:lnTo>
                <a:lnTo>
                  <a:pt x="0" y="330200"/>
                </a:lnTo>
                <a:close/>
              </a:path>
              <a:path w="127000" h="457200">
                <a:moveTo>
                  <a:pt x="50800" y="370839"/>
                </a:moveTo>
                <a:lnTo>
                  <a:pt x="50800" y="381000"/>
                </a:lnTo>
                <a:lnTo>
                  <a:pt x="63500" y="381000"/>
                </a:lnTo>
                <a:lnTo>
                  <a:pt x="50800" y="370839"/>
                </a:lnTo>
                <a:close/>
              </a:path>
              <a:path w="127000" h="457200">
                <a:moveTo>
                  <a:pt x="76200" y="0"/>
                </a:moveTo>
                <a:lnTo>
                  <a:pt x="50800" y="0"/>
                </a:lnTo>
                <a:lnTo>
                  <a:pt x="50800" y="370839"/>
                </a:lnTo>
                <a:lnTo>
                  <a:pt x="63500" y="381000"/>
                </a:lnTo>
                <a:lnTo>
                  <a:pt x="76200" y="370839"/>
                </a:lnTo>
                <a:lnTo>
                  <a:pt x="76200" y="0"/>
                </a:lnTo>
                <a:close/>
              </a:path>
              <a:path w="127000" h="457200">
                <a:moveTo>
                  <a:pt x="76200" y="370839"/>
                </a:moveTo>
                <a:lnTo>
                  <a:pt x="63500" y="381000"/>
                </a:lnTo>
                <a:lnTo>
                  <a:pt x="76200" y="381000"/>
                </a:lnTo>
                <a:lnTo>
                  <a:pt x="76200" y="370839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6200" y="370839"/>
                </a:lnTo>
                <a:lnTo>
                  <a:pt x="76200" y="381000"/>
                </a:lnTo>
                <a:lnTo>
                  <a:pt x="101600" y="3810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3000" y="4724400"/>
            <a:ext cx="3962400" cy="1905000"/>
          </a:xfrm>
          <a:prstGeom prst="rect">
            <a:avLst/>
          </a:prstGeom>
          <a:solidFill>
            <a:srgbClr val="99CC00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 algn="just">
              <a:lnSpc>
                <a:spcPts val="304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temp1 :=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inttoreal(60)</a:t>
            </a:r>
            <a:endParaRPr sz="2800">
              <a:latin typeface="Times New Roman"/>
              <a:cs typeface="Times New Roman"/>
            </a:endParaRPr>
          </a:p>
          <a:p>
            <a:pPr marL="91440" marR="610870" algn="just">
              <a:lnSpc>
                <a:spcPct val="120000"/>
              </a:lnSpc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temp2 := id3 * temp1  temp3 := id2 + temp2  id1 :=</a:t>
            </a:r>
            <a:r>
              <a:rPr sz="2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temp3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76400" y="12192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32229" y="1142746"/>
            <a:ext cx="452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ourier New"/>
                <a:cs typeface="Courier New"/>
              </a:rPr>
              <a:t>:=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90800" y="16002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90800" y="1523441"/>
            <a:ext cx="762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52800" y="19812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52800" y="1958467"/>
            <a:ext cx="762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*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2000" y="15240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36600" y="1476197"/>
            <a:ext cx="812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775" baseline="-255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28800" y="19812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03400" y="1934082"/>
            <a:ext cx="812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775" baseline="-2552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14600" y="24384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649982" y="2391282"/>
            <a:ext cx="4927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775" b="1" baseline="-2552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775" baseline="-2552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48561" y="1524761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381000" y="0"/>
                </a:moveTo>
                <a:lnTo>
                  <a:pt x="0" y="1524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62961" y="1524761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0" y="0"/>
                </a:moveTo>
                <a:lnTo>
                  <a:pt x="381000" y="1524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24961" y="1905761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0" y="0"/>
                </a:moveTo>
                <a:lnTo>
                  <a:pt x="381000" y="1524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63161" y="2286761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0" y="0"/>
                </a:moveTo>
                <a:lnTo>
                  <a:pt x="381000" y="1524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24961" y="2362961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381000" y="0"/>
                </a:moveTo>
                <a:lnTo>
                  <a:pt x="0" y="1524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62961" y="1905761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381000" y="0"/>
                </a:moveTo>
                <a:lnTo>
                  <a:pt x="0" y="1524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505200" y="2438400"/>
          <a:ext cx="1600200" cy="990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50495">
                        <a:lnSpc>
                          <a:spcPts val="2900"/>
                        </a:lnSpc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inttoreal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006600">
                        <a:alpha val="3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solidFill>
                      <a:srgbClr val="006600">
                        <a:alpha val="3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>
                        <a:alpha val="3019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193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>
                        <a:alpha val="3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1842" y="938530"/>
            <a:ext cx="46285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5.</a:t>
            </a:r>
            <a:r>
              <a:rPr spc="-70" dirty="0"/>
              <a:t> </a:t>
            </a:r>
            <a:r>
              <a:rPr dirty="0">
                <a:latin typeface="宋体"/>
                <a:cs typeface="宋体"/>
              </a:rPr>
              <a:t>代码优</a:t>
            </a:r>
            <a:r>
              <a:rPr spc="780" dirty="0">
                <a:latin typeface="宋体"/>
                <a:cs typeface="宋体"/>
              </a:rPr>
              <a:t>化</a:t>
            </a:r>
            <a:r>
              <a:rPr dirty="0"/>
              <a:t>(optimization)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1842" y="1447316"/>
            <a:ext cx="7171690" cy="450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7550" algn="just">
              <a:lnSpc>
                <a:spcPct val="15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代码优化是为了改进目标代码的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在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编译过程中进行的工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化可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间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代码或目标代码级上进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sz="2800" b="1" spc="1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其实质是在不改变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源程序语义的基础上对其进行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工变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,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以期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获得更高效的目标代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。而高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一般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产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生的目标程序在运行时间的缩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短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和存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贮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空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节省而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21073" y="2134361"/>
            <a:ext cx="3238500" cy="0"/>
          </a:xfrm>
          <a:custGeom>
            <a:avLst/>
            <a:gdLst/>
            <a:ahLst/>
            <a:cxnLst/>
            <a:rect l="l" t="t" r="r" b="b"/>
            <a:pathLst>
              <a:path w="3238500">
                <a:moveTo>
                  <a:pt x="0" y="0"/>
                </a:moveTo>
                <a:lnTo>
                  <a:pt x="3238500" y="0"/>
                </a:lnTo>
              </a:path>
            </a:pathLst>
          </a:custGeom>
          <a:ln w="381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6661" y="4668773"/>
            <a:ext cx="3238500" cy="0"/>
          </a:xfrm>
          <a:custGeom>
            <a:avLst/>
            <a:gdLst/>
            <a:ahLst/>
            <a:cxnLst/>
            <a:rect l="l" t="t" r="r" b="b"/>
            <a:pathLst>
              <a:path w="3238500">
                <a:moveTo>
                  <a:pt x="0" y="0"/>
                </a:moveTo>
                <a:lnTo>
                  <a:pt x="3238500" y="0"/>
                </a:lnTo>
              </a:path>
            </a:pathLst>
          </a:custGeom>
          <a:ln w="381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39061" y="5372861"/>
            <a:ext cx="6268720" cy="0"/>
          </a:xfrm>
          <a:custGeom>
            <a:avLst/>
            <a:gdLst/>
            <a:ahLst/>
            <a:cxnLst/>
            <a:rect l="l" t="t" r="r" b="b"/>
            <a:pathLst>
              <a:path w="6268720">
                <a:moveTo>
                  <a:pt x="0" y="0"/>
                </a:moveTo>
                <a:lnTo>
                  <a:pt x="6268212" y="0"/>
                </a:lnTo>
              </a:path>
            </a:pathLst>
          </a:custGeom>
          <a:ln w="381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4473" y="6002273"/>
            <a:ext cx="894715" cy="0"/>
          </a:xfrm>
          <a:custGeom>
            <a:avLst/>
            <a:gdLst/>
            <a:ahLst/>
            <a:cxnLst/>
            <a:rect l="l" t="t" r="r" b="b"/>
            <a:pathLst>
              <a:path w="894714">
                <a:moveTo>
                  <a:pt x="0" y="0"/>
                </a:moveTo>
                <a:lnTo>
                  <a:pt x="894588" y="0"/>
                </a:lnTo>
              </a:path>
            </a:pathLst>
          </a:custGeom>
          <a:ln w="38100">
            <a:solidFill>
              <a:srgbClr val="66FF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96845" y="4652009"/>
            <a:ext cx="1324610" cy="721360"/>
          </a:xfrm>
          <a:custGeom>
            <a:avLst/>
            <a:gdLst/>
            <a:ahLst/>
            <a:cxnLst/>
            <a:rect l="l" t="t" r="r" b="b"/>
            <a:pathLst>
              <a:path w="1324610" h="721360">
                <a:moveTo>
                  <a:pt x="1214467" y="683666"/>
                </a:moveTo>
                <a:lnTo>
                  <a:pt x="1196467" y="717295"/>
                </a:lnTo>
                <a:lnTo>
                  <a:pt x="1324229" y="720851"/>
                </a:lnTo>
                <a:lnTo>
                  <a:pt x="1304301" y="692657"/>
                </a:lnTo>
                <a:lnTo>
                  <a:pt x="1231265" y="692657"/>
                </a:lnTo>
                <a:lnTo>
                  <a:pt x="1214467" y="683666"/>
                </a:lnTo>
                <a:close/>
              </a:path>
              <a:path w="1324610" h="721360">
                <a:moveTo>
                  <a:pt x="1232433" y="650101"/>
                </a:moveTo>
                <a:lnTo>
                  <a:pt x="1214467" y="683666"/>
                </a:lnTo>
                <a:lnTo>
                  <a:pt x="1231265" y="692657"/>
                </a:lnTo>
                <a:lnTo>
                  <a:pt x="1249299" y="659129"/>
                </a:lnTo>
                <a:lnTo>
                  <a:pt x="1232433" y="650101"/>
                </a:lnTo>
                <a:close/>
              </a:path>
              <a:path w="1324610" h="721360">
                <a:moveTo>
                  <a:pt x="1250442" y="616457"/>
                </a:moveTo>
                <a:lnTo>
                  <a:pt x="1232433" y="650101"/>
                </a:lnTo>
                <a:lnTo>
                  <a:pt x="1249299" y="659129"/>
                </a:lnTo>
                <a:lnTo>
                  <a:pt x="1231265" y="692657"/>
                </a:lnTo>
                <a:lnTo>
                  <a:pt x="1304301" y="692657"/>
                </a:lnTo>
                <a:lnTo>
                  <a:pt x="1250442" y="616457"/>
                </a:lnTo>
                <a:close/>
              </a:path>
              <a:path w="1324610" h="721360">
                <a:moveTo>
                  <a:pt x="18034" y="0"/>
                </a:moveTo>
                <a:lnTo>
                  <a:pt x="0" y="33527"/>
                </a:lnTo>
                <a:lnTo>
                  <a:pt x="1214467" y="683666"/>
                </a:lnTo>
                <a:lnTo>
                  <a:pt x="1232433" y="650101"/>
                </a:lnTo>
                <a:lnTo>
                  <a:pt x="1803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4261" y="1315974"/>
            <a:ext cx="4648200" cy="2380615"/>
          </a:xfrm>
          <a:custGeom>
            <a:avLst/>
            <a:gdLst/>
            <a:ahLst/>
            <a:cxnLst/>
            <a:rect l="l" t="t" r="r" b="b"/>
            <a:pathLst>
              <a:path w="4648200" h="2380615">
                <a:moveTo>
                  <a:pt x="0" y="2380488"/>
                </a:moveTo>
                <a:lnTo>
                  <a:pt x="4648200" y="2380488"/>
                </a:lnTo>
                <a:lnTo>
                  <a:pt x="4648200" y="0"/>
                </a:lnTo>
                <a:lnTo>
                  <a:pt x="0" y="0"/>
                </a:lnTo>
                <a:lnTo>
                  <a:pt x="0" y="2380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748030"/>
            <a:ext cx="10801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宋体"/>
                <a:cs typeface="宋体"/>
              </a:rPr>
              <a:t>例</a:t>
            </a:r>
            <a:r>
              <a:rPr spc="5" dirty="0"/>
              <a:t>1</a:t>
            </a:r>
            <a:r>
              <a:rPr dirty="0"/>
              <a:t>.</a:t>
            </a:r>
            <a:r>
              <a:rPr spc="5" dirty="0"/>
              <a:t>4</a:t>
            </a:r>
            <a:r>
              <a:rPr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78126" y="799846"/>
            <a:ext cx="1452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设有语句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515" y="1315974"/>
            <a:ext cx="7833359" cy="5542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60017" y="4100829"/>
            <a:ext cx="20612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x=x1/cos(x2)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0017" y="4644257"/>
            <a:ext cx="3465829" cy="20478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3000" b="1" dirty="0">
                <a:solidFill>
                  <a:srgbClr val="006600"/>
                </a:solidFill>
                <a:latin typeface="Times New Roman"/>
                <a:cs typeface="Times New Roman"/>
              </a:rPr>
              <a:t>for </a:t>
            </a:r>
            <a:r>
              <a:rPr sz="3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(i=1; i&lt;=200;</a:t>
            </a:r>
            <a:r>
              <a:rPr sz="3000" b="1" spc="-7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i++)</a:t>
            </a:r>
            <a:endParaRPr sz="3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400"/>
              </a:spcBef>
            </a:pPr>
            <a:r>
              <a:rPr sz="3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{</a:t>
            </a:r>
            <a:endParaRPr sz="300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  <a:spcBef>
                <a:spcPts val="359"/>
              </a:spcBef>
            </a:pPr>
            <a:r>
              <a:rPr sz="3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y=y*i+y;</a:t>
            </a:r>
            <a:endParaRPr sz="3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359"/>
              </a:spcBef>
            </a:pPr>
            <a:r>
              <a:rPr sz="3000" b="1" dirty="0">
                <a:solidFill>
                  <a:srgbClr val="006600"/>
                </a:solidFill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68211" y="2247900"/>
            <a:ext cx="800100" cy="3267710"/>
          </a:xfrm>
          <a:custGeom>
            <a:avLst/>
            <a:gdLst/>
            <a:ahLst/>
            <a:cxnLst/>
            <a:rect l="l" t="t" r="r" b="b"/>
            <a:pathLst>
              <a:path w="800100" h="3267710">
                <a:moveTo>
                  <a:pt x="800099" y="1833880"/>
                </a:moveTo>
                <a:lnTo>
                  <a:pt x="799177" y="1777336"/>
                </a:lnTo>
                <a:lnTo>
                  <a:pt x="796436" y="1721487"/>
                </a:lnTo>
                <a:lnTo>
                  <a:pt x="791920" y="1666393"/>
                </a:lnTo>
                <a:lnTo>
                  <a:pt x="785671" y="1612115"/>
                </a:lnTo>
                <a:lnTo>
                  <a:pt x="777729" y="1558715"/>
                </a:lnTo>
                <a:lnTo>
                  <a:pt x="768138" y="1506253"/>
                </a:lnTo>
                <a:lnTo>
                  <a:pt x="756939" y="1454791"/>
                </a:lnTo>
                <a:lnTo>
                  <a:pt x="744173" y="1404390"/>
                </a:lnTo>
                <a:lnTo>
                  <a:pt x="729884" y="1355111"/>
                </a:lnTo>
                <a:lnTo>
                  <a:pt x="714113" y="1307016"/>
                </a:lnTo>
                <a:lnTo>
                  <a:pt x="696901" y="1260165"/>
                </a:lnTo>
                <a:lnTo>
                  <a:pt x="678291" y="1214619"/>
                </a:lnTo>
                <a:lnTo>
                  <a:pt x="658325" y="1170441"/>
                </a:lnTo>
                <a:lnTo>
                  <a:pt x="637045" y="1127690"/>
                </a:lnTo>
                <a:lnTo>
                  <a:pt x="614492" y="1086428"/>
                </a:lnTo>
                <a:lnTo>
                  <a:pt x="590709" y="1046717"/>
                </a:lnTo>
                <a:lnTo>
                  <a:pt x="565737" y="1008618"/>
                </a:lnTo>
                <a:lnTo>
                  <a:pt x="539618" y="972191"/>
                </a:lnTo>
                <a:lnTo>
                  <a:pt x="512395" y="937497"/>
                </a:lnTo>
                <a:lnTo>
                  <a:pt x="484109" y="904599"/>
                </a:lnTo>
                <a:lnTo>
                  <a:pt x="454802" y="873557"/>
                </a:lnTo>
                <a:lnTo>
                  <a:pt x="424517" y="844432"/>
                </a:lnTo>
                <a:lnTo>
                  <a:pt x="393294" y="817286"/>
                </a:lnTo>
                <a:lnTo>
                  <a:pt x="361176" y="792179"/>
                </a:lnTo>
                <a:lnTo>
                  <a:pt x="328206" y="769173"/>
                </a:lnTo>
                <a:lnTo>
                  <a:pt x="294424" y="748329"/>
                </a:lnTo>
                <a:lnTo>
                  <a:pt x="259873" y="729709"/>
                </a:lnTo>
                <a:lnTo>
                  <a:pt x="224594" y="713372"/>
                </a:lnTo>
                <a:lnTo>
                  <a:pt x="188631" y="699381"/>
                </a:lnTo>
                <a:lnTo>
                  <a:pt x="152023" y="687797"/>
                </a:lnTo>
                <a:lnTo>
                  <a:pt x="114815" y="678680"/>
                </a:lnTo>
                <a:lnTo>
                  <a:pt x="77047" y="672093"/>
                </a:lnTo>
                <a:lnTo>
                  <a:pt x="38761" y="668096"/>
                </a:lnTo>
                <a:lnTo>
                  <a:pt x="0" y="666750"/>
                </a:lnTo>
                <a:lnTo>
                  <a:pt x="0" y="0"/>
                </a:lnTo>
                <a:lnTo>
                  <a:pt x="38761" y="1346"/>
                </a:lnTo>
                <a:lnTo>
                  <a:pt x="77047" y="5343"/>
                </a:lnTo>
                <a:lnTo>
                  <a:pt x="114815" y="11931"/>
                </a:lnTo>
                <a:lnTo>
                  <a:pt x="152023" y="21047"/>
                </a:lnTo>
                <a:lnTo>
                  <a:pt x="188631" y="32632"/>
                </a:lnTo>
                <a:lnTo>
                  <a:pt x="224594" y="46623"/>
                </a:lnTo>
                <a:lnTo>
                  <a:pt x="259873" y="62960"/>
                </a:lnTo>
                <a:lnTo>
                  <a:pt x="294424" y="81581"/>
                </a:lnTo>
                <a:lnTo>
                  <a:pt x="328206" y="102426"/>
                </a:lnTo>
                <a:lnTo>
                  <a:pt x="361176" y="125432"/>
                </a:lnTo>
                <a:lnTo>
                  <a:pt x="393294" y="150540"/>
                </a:lnTo>
                <a:lnTo>
                  <a:pt x="424517" y="177688"/>
                </a:lnTo>
                <a:lnTo>
                  <a:pt x="454802" y="206814"/>
                </a:lnTo>
                <a:lnTo>
                  <a:pt x="484109" y="237858"/>
                </a:lnTo>
                <a:lnTo>
                  <a:pt x="512395" y="270758"/>
                </a:lnTo>
                <a:lnTo>
                  <a:pt x="539618" y="305454"/>
                </a:lnTo>
                <a:lnTo>
                  <a:pt x="565737" y="341884"/>
                </a:lnTo>
                <a:lnTo>
                  <a:pt x="590709" y="379986"/>
                </a:lnTo>
                <a:lnTo>
                  <a:pt x="614492" y="419701"/>
                </a:lnTo>
                <a:lnTo>
                  <a:pt x="637045" y="460966"/>
                </a:lnTo>
                <a:lnTo>
                  <a:pt x="658325" y="503721"/>
                </a:lnTo>
                <a:lnTo>
                  <a:pt x="678291" y="547904"/>
                </a:lnTo>
                <a:lnTo>
                  <a:pt x="696901" y="593454"/>
                </a:lnTo>
                <a:lnTo>
                  <a:pt x="714113" y="640310"/>
                </a:lnTo>
                <a:lnTo>
                  <a:pt x="729884" y="688412"/>
                </a:lnTo>
                <a:lnTo>
                  <a:pt x="744173" y="737697"/>
                </a:lnTo>
                <a:lnTo>
                  <a:pt x="756939" y="788105"/>
                </a:lnTo>
                <a:lnTo>
                  <a:pt x="768138" y="839574"/>
                </a:lnTo>
                <a:lnTo>
                  <a:pt x="777729" y="892043"/>
                </a:lnTo>
                <a:lnTo>
                  <a:pt x="785671" y="945452"/>
                </a:lnTo>
                <a:lnTo>
                  <a:pt x="791920" y="999739"/>
                </a:lnTo>
                <a:lnTo>
                  <a:pt x="796436" y="1054843"/>
                </a:lnTo>
                <a:lnTo>
                  <a:pt x="799177" y="1110702"/>
                </a:lnTo>
                <a:lnTo>
                  <a:pt x="800099" y="1167257"/>
                </a:lnTo>
                <a:lnTo>
                  <a:pt x="800099" y="1833880"/>
                </a:lnTo>
                <a:lnTo>
                  <a:pt x="799157" y="1890705"/>
                </a:lnTo>
                <a:lnTo>
                  <a:pt x="796354" y="1946978"/>
                </a:lnTo>
                <a:lnTo>
                  <a:pt x="791728" y="2002622"/>
                </a:lnTo>
                <a:lnTo>
                  <a:pt x="785315" y="2057562"/>
                </a:lnTo>
                <a:lnTo>
                  <a:pt x="777152" y="2111721"/>
                </a:lnTo>
                <a:lnTo>
                  <a:pt x="767277" y="2165024"/>
                </a:lnTo>
                <a:lnTo>
                  <a:pt x="755725" y="2217395"/>
                </a:lnTo>
                <a:lnTo>
                  <a:pt x="742533" y="2268757"/>
                </a:lnTo>
                <a:lnTo>
                  <a:pt x="727739" y="2319036"/>
                </a:lnTo>
                <a:lnTo>
                  <a:pt x="711379" y="2368154"/>
                </a:lnTo>
                <a:lnTo>
                  <a:pt x="693490" y="2416036"/>
                </a:lnTo>
                <a:lnTo>
                  <a:pt x="674108" y="2462606"/>
                </a:lnTo>
                <a:lnTo>
                  <a:pt x="653272" y="2507789"/>
                </a:lnTo>
                <a:lnTo>
                  <a:pt x="631016" y="2551508"/>
                </a:lnTo>
                <a:lnTo>
                  <a:pt x="607379" y="2593687"/>
                </a:lnTo>
                <a:lnTo>
                  <a:pt x="582397" y="2634251"/>
                </a:lnTo>
                <a:lnTo>
                  <a:pt x="556107" y="2673124"/>
                </a:lnTo>
                <a:lnTo>
                  <a:pt x="528545" y="2710229"/>
                </a:lnTo>
                <a:lnTo>
                  <a:pt x="499749" y="2745490"/>
                </a:lnTo>
                <a:lnTo>
                  <a:pt x="469755" y="2778833"/>
                </a:lnTo>
                <a:lnTo>
                  <a:pt x="438600" y="2810180"/>
                </a:lnTo>
                <a:lnTo>
                  <a:pt x="406321" y="2839457"/>
                </a:lnTo>
                <a:lnTo>
                  <a:pt x="372955" y="2866586"/>
                </a:lnTo>
                <a:lnTo>
                  <a:pt x="338538" y="2891493"/>
                </a:lnTo>
                <a:lnTo>
                  <a:pt x="303107" y="2914101"/>
                </a:lnTo>
                <a:lnTo>
                  <a:pt x="266699" y="2934335"/>
                </a:lnTo>
                <a:lnTo>
                  <a:pt x="266699" y="3267710"/>
                </a:lnTo>
                <a:lnTo>
                  <a:pt x="0" y="2667762"/>
                </a:lnTo>
                <a:lnTo>
                  <a:pt x="266699" y="1934210"/>
                </a:lnTo>
                <a:lnTo>
                  <a:pt x="266699" y="2267585"/>
                </a:lnTo>
                <a:lnTo>
                  <a:pt x="304311" y="2246630"/>
                </a:lnTo>
                <a:lnTo>
                  <a:pt x="340952" y="2223080"/>
                </a:lnTo>
                <a:lnTo>
                  <a:pt x="376572" y="2197012"/>
                </a:lnTo>
                <a:lnTo>
                  <a:pt x="411122" y="2168504"/>
                </a:lnTo>
                <a:lnTo>
                  <a:pt x="444552" y="2137632"/>
                </a:lnTo>
                <a:lnTo>
                  <a:pt x="476810" y="2104474"/>
                </a:lnTo>
                <a:lnTo>
                  <a:pt x="507847" y="2069107"/>
                </a:lnTo>
                <a:lnTo>
                  <a:pt x="537614" y="2031608"/>
                </a:lnTo>
                <a:lnTo>
                  <a:pt x="566059" y="1992055"/>
                </a:lnTo>
                <a:lnTo>
                  <a:pt x="593133" y="1950524"/>
                </a:lnTo>
                <a:lnTo>
                  <a:pt x="618785" y="1907093"/>
                </a:lnTo>
                <a:lnTo>
                  <a:pt x="642967" y="1861839"/>
                </a:lnTo>
                <a:lnTo>
                  <a:pt x="665626" y="1814839"/>
                </a:lnTo>
                <a:lnTo>
                  <a:pt x="686714" y="1766171"/>
                </a:lnTo>
                <a:lnTo>
                  <a:pt x="706180" y="1715912"/>
                </a:lnTo>
                <a:lnTo>
                  <a:pt x="723975" y="1664138"/>
                </a:lnTo>
                <a:lnTo>
                  <a:pt x="740047" y="1610927"/>
                </a:lnTo>
                <a:lnTo>
                  <a:pt x="754347" y="1556357"/>
                </a:lnTo>
                <a:lnTo>
                  <a:pt x="766826" y="1500505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64538" y="1326506"/>
            <a:ext cx="5944870" cy="275526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000" b="1" dirty="0">
                <a:solidFill>
                  <a:srgbClr val="008000"/>
                </a:solidFill>
                <a:latin typeface="Times New Roman"/>
                <a:cs typeface="Times New Roman"/>
              </a:rPr>
              <a:t>for </a:t>
            </a:r>
            <a:r>
              <a:rPr sz="30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(i=1; </a:t>
            </a:r>
            <a:r>
              <a:rPr sz="3000" b="1" spc="-10" dirty="0">
                <a:solidFill>
                  <a:srgbClr val="008000"/>
                </a:solidFill>
                <a:latin typeface="Times New Roman"/>
                <a:cs typeface="Times New Roman"/>
              </a:rPr>
              <a:t>i&lt;=200;</a:t>
            </a:r>
            <a:r>
              <a:rPr sz="30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 i++)</a:t>
            </a:r>
            <a:endParaRPr sz="3000">
              <a:latin typeface="Times New Roman"/>
              <a:cs typeface="Times New Roman"/>
            </a:endParaRPr>
          </a:p>
          <a:p>
            <a:pPr marL="650875" marR="3250565" indent="-381000">
              <a:lnSpc>
                <a:spcPct val="105000"/>
              </a:lnSpc>
              <a:tabLst>
                <a:tab pos="705485" algn="l"/>
              </a:tabLst>
            </a:pPr>
            <a:r>
              <a:rPr sz="30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{		y=y*i+y;  </a:t>
            </a:r>
            <a:r>
              <a:rPr sz="3000" b="1" dirty="0">
                <a:solidFill>
                  <a:srgbClr val="008000"/>
                </a:solidFill>
                <a:latin typeface="Times New Roman"/>
                <a:cs typeface="Times New Roman"/>
              </a:rPr>
              <a:t>x=</a:t>
            </a:r>
            <a:r>
              <a:rPr sz="30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x</a:t>
            </a:r>
            <a:r>
              <a:rPr sz="3000" b="1" dirty="0">
                <a:solidFill>
                  <a:srgbClr val="008000"/>
                </a:solidFill>
                <a:latin typeface="Times New Roman"/>
                <a:cs typeface="Times New Roman"/>
              </a:rPr>
              <a:t>1/co</a:t>
            </a:r>
            <a:r>
              <a:rPr sz="3000" b="1" spc="-10" dirty="0">
                <a:solidFill>
                  <a:srgbClr val="008000"/>
                </a:solidFill>
                <a:latin typeface="Times New Roman"/>
                <a:cs typeface="Times New Roman"/>
              </a:rPr>
              <a:t>s</a:t>
            </a:r>
            <a:r>
              <a:rPr sz="3000" b="1" dirty="0">
                <a:solidFill>
                  <a:srgbClr val="008000"/>
                </a:solidFill>
                <a:latin typeface="Times New Roman"/>
                <a:cs typeface="Times New Roman"/>
              </a:rPr>
              <a:t>(</a:t>
            </a:r>
            <a:r>
              <a:rPr sz="30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x</a:t>
            </a:r>
            <a:r>
              <a:rPr sz="3000" b="1" dirty="0">
                <a:solidFill>
                  <a:srgbClr val="008000"/>
                </a:solidFill>
                <a:latin typeface="Times New Roman"/>
                <a:cs typeface="Times New Roman"/>
              </a:rPr>
              <a:t>2)</a:t>
            </a:r>
            <a:endParaRPr sz="3000">
              <a:latin typeface="Times New Roman"/>
              <a:cs typeface="Times New Roman"/>
            </a:endParaRPr>
          </a:p>
          <a:p>
            <a:pPr marL="269875">
              <a:lnSpc>
                <a:spcPts val="3290"/>
              </a:lnSpc>
              <a:spcBef>
                <a:spcPts val="1045"/>
              </a:spcBef>
            </a:pPr>
            <a:r>
              <a:rPr sz="3000" b="1" dirty="0">
                <a:solidFill>
                  <a:srgbClr val="008000"/>
                </a:solidFill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  <a:p>
            <a:pPr marL="5576570" marR="5080" algn="r">
              <a:lnSpc>
                <a:spcPts val="2760"/>
              </a:lnSpc>
              <a:spcBef>
                <a:spcPts val="285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优 化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8916" y="3980688"/>
            <a:ext cx="381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82674" y="2324861"/>
            <a:ext cx="3543300" cy="668020"/>
          </a:xfrm>
          <a:custGeom>
            <a:avLst/>
            <a:gdLst/>
            <a:ahLst/>
            <a:cxnLst/>
            <a:rect l="l" t="t" r="r" b="b"/>
            <a:pathLst>
              <a:path w="3543300" h="668019">
                <a:moveTo>
                  <a:pt x="0" y="333755"/>
                </a:moveTo>
                <a:lnTo>
                  <a:pt x="13804" y="291900"/>
                </a:lnTo>
                <a:lnTo>
                  <a:pt x="54110" y="251593"/>
                </a:lnTo>
                <a:lnTo>
                  <a:pt x="94884" y="225737"/>
                </a:lnTo>
                <a:lnTo>
                  <a:pt x="146207" y="200801"/>
                </a:lnTo>
                <a:lnTo>
                  <a:pt x="207585" y="176878"/>
                </a:lnTo>
                <a:lnTo>
                  <a:pt x="278529" y="154061"/>
                </a:lnTo>
                <a:lnTo>
                  <a:pt x="317433" y="143096"/>
                </a:lnTo>
                <a:lnTo>
                  <a:pt x="358544" y="132442"/>
                </a:lnTo>
                <a:lnTo>
                  <a:pt x="401800" y="122112"/>
                </a:lnTo>
                <a:lnTo>
                  <a:pt x="447140" y="112115"/>
                </a:lnTo>
                <a:lnTo>
                  <a:pt x="494502" y="102465"/>
                </a:lnTo>
                <a:lnTo>
                  <a:pt x="543824" y="93173"/>
                </a:lnTo>
                <a:lnTo>
                  <a:pt x="595045" y="84250"/>
                </a:lnTo>
                <a:lnTo>
                  <a:pt x="648104" y="75707"/>
                </a:lnTo>
                <a:lnTo>
                  <a:pt x="702939" y="67557"/>
                </a:lnTo>
                <a:lnTo>
                  <a:pt x="759488" y="59811"/>
                </a:lnTo>
                <a:lnTo>
                  <a:pt x="817691" y="52481"/>
                </a:lnTo>
                <a:lnTo>
                  <a:pt x="877485" y="45578"/>
                </a:lnTo>
                <a:lnTo>
                  <a:pt x="938809" y="39114"/>
                </a:lnTo>
                <a:lnTo>
                  <a:pt x="1001601" y="33101"/>
                </a:lnTo>
                <a:lnTo>
                  <a:pt x="1065801" y="27549"/>
                </a:lnTo>
                <a:lnTo>
                  <a:pt x="1131346" y="22471"/>
                </a:lnTo>
                <a:lnTo>
                  <a:pt x="1198175" y="17879"/>
                </a:lnTo>
                <a:lnTo>
                  <a:pt x="1266226" y="13783"/>
                </a:lnTo>
                <a:lnTo>
                  <a:pt x="1335439" y="10196"/>
                </a:lnTo>
                <a:lnTo>
                  <a:pt x="1405751" y="7129"/>
                </a:lnTo>
                <a:lnTo>
                  <a:pt x="1477100" y="4593"/>
                </a:lnTo>
                <a:lnTo>
                  <a:pt x="1549427" y="2601"/>
                </a:lnTo>
                <a:lnTo>
                  <a:pt x="1622668" y="1163"/>
                </a:lnTo>
                <a:lnTo>
                  <a:pt x="1696763" y="292"/>
                </a:lnTo>
                <a:lnTo>
                  <a:pt x="1771650" y="0"/>
                </a:lnTo>
                <a:lnTo>
                  <a:pt x="1846536" y="292"/>
                </a:lnTo>
                <a:lnTo>
                  <a:pt x="1920631" y="1163"/>
                </a:lnTo>
                <a:lnTo>
                  <a:pt x="1993872" y="2601"/>
                </a:lnTo>
                <a:lnTo>
                  <a:pt x="2066199" y="4593"/>
                </a:lnTo>
                <a:lnTo>
                  <a:pt x="2137548" y="7129"/>
                </a:lnTo>
                <a:lnTo>
                  <a:pt x="2207860" y="10196"/>
                </a:lnTo>
                <a:lnTo>
                  <a:pt x="2277073" y="13783"/>
                </a:lnTo>
                <a:lnTo>
                  <a:pt x="2345124" y="17879"/>
                </a:lnTo>
                <a:lnTo>
                  <a:pt x="2411953" y="22471"/>
                </a:lnTo>
                <a:lnTo>
                  <a:pt x="2477498" y="27549"/>
                </a:lnTo>
                <a:lnTo>
                  <a:pt x="2541698" y="33101"/>
                </a:lnTo>
                <a:lnTo>
                  <a:pt x="2604490" y="39114"/>
                </a:lnTo>
                <a:lnTo>
                  <a:pt x="2665814" y="45578"/>
                </a:lnTo>
                <a:lnTo>
                  <a:pt x="2725608" y="52481"/>
                </a:lnTo>
                <a:lnTo>
                  <a:pt x="2783811" y="59811"/>
                </a:lnTo>
                <a:lnTo>
                  <a:pt x="2840360" y="67557"/>
                </a:lnTo>
                <a:lnTo>
                  <a:pt x="2895195" y="75707"/>
                </a:lnTo>
                <a:lnTo>
                  <a:pt x="2948254" y="84250"/>
                </a:lnTo>
                <a:lnTo>
                  <a:pt x="2999475" y="93173"/>
                </a:lnTo>
                <a:lnTo>
                  <a:pt x="3048797" y="102465"/>
                </a:lnTo>
                <a:lnTo>
                  <a:pt x="3096159" y="112115"/>
                </a:lnTo>
                <a:lnTo>
                  <a:pt x="3141499" y="122112"/>
                </a:lnTo>
                <a:lnTo>
                  <a:pt x="3184755" y="132442"/>
                </a:lnTo>
                <a:lnTo>
                  <a:pt x="3225866" y="143096"/>
                </a:lnTo>
                <a:lnTo>
                  <a:pt x="3264770" y="154061"/>
                </a:lnTo>
                <a:lnTo>
                  <a:pt x="3301407" y="165325"/>
                </a:lnTo>
                <a:lnTo>
                  <a:pt x="3367629" y="188707"/>
                </a:lnTo>
                <a:lnTo>
                  <a:pt x="3424041" y="213148"/>
                </a:lnTo>
                <a:lnTo>
                  <a:pt x="3470151" y="238556"/>
                </a:lnTo>
                <a:lnTo>
                  <a:pt x="3505466" y="264837"/>
                </a:lnTo>
                <a:lnTo>
                  <a:pt x="3537123" y="305695"/>
                </a:lnTo>
                <a:lnTo>
                  <a:pt x="3543300" y="333755"/>
                </a:lnTo>
                <a:lnTo>
                  <a:pt x="3541745" y="347860"/>
                </a:lnTo>
                <a:lnTo>
                  <a:pt x="3518922" y="389234"/>
                </a:lnTo>
                <a:lnTo>
                  <a:pt x="3489189" y="415918"/>
                </a:lnTo>
                <a:lnTo>
                  <a:pt x="3448415" y="441774"/>
                </a:lnTo>
                <a:lnTo>
                  <a:pt x="3397092" y="466710"/>
                </a:lnTo>
                <a:lnTo>
                  <a:pt x="3335714" y="490633"/>
                </a:lnTo>
                <a:lnTo>
                  <a:pt x="3264770" y="513450"/>
                </a:lnTo>
                <a:lnTo>
                  <a:pt x="3225866" y="524415"/>
                </a:lnTo>
                <a:lnTo>
                  <a:pt x="3184755" y="535069"/>
                </a:lnTo>
                <a:lnTo>
                  <a:pt x="3141499" y="545399"/>
                </a:lnTo>
                <a:lnTo>
                  <a:pt x="3096159" y="555396"/>
                </a:lnTo>
                <a:lnTo>
                  <a:pt x="3048797" y="565046"/>
                </a:lnTo>
                <a:lnTo>
                  <a:pt x="2999475" y="574338"/>
                </a:lnTo>
                <a:lnTo>
                  <a:pt x="2948254" y="583261"/>
                </a:lnTo>
                <a:lnTo>
                  <a:pt x="2895195" y="591804"/>
                </a:lnTo>
                <a:lnTo>
                  <a:pt x="2840360" y="599954"/>
                </a:lnTo>
                <a:lnTo>
                  <a:pt x="2783811" y="607700"/>
                </a:lnTo>
                <a:lnTo>
                  <a:pt x="2725608" y="615030"/>
                </a:lnTo>
                <a:lnTo>
                  <a:pt x="2665814" y="621933"/>
                </a:lnTo>
                <a:lnTo>
                  <a:pt x="2604490" y="628397"/>
                </a:lnTo>
                <a:lnTo>
                  <a:pt x="2541698" y="634410"/>
                </a:lnTo>
                <a:lnTo>
                  <a:pt x="2477498" y="639962"/>
                </a:lnTo>
                <a:lnTo>
                  <a:pt x="2411953" y="645040"/>
                </a:lnTo>
                <a:lnTo>
                  <a:pt x="2345124" y="649632"/>
                </a:lnTo>
                <a:lnTo>
                  <a:pt x="2277073" y="653728"/>
                </a:lnTo>
                <a:lnTo>
                  <a:pt x="2207860" y="657315"/>
                </a:lnTo>
                <a:lnTo>
                  <a:pt x="2137548" y="660382"/>
                </a:lnTo>
                <a:lnTo>
                  <a:pt x="2066199" y="662918"/>
                </a:lnTo>
                <a:lnTo>
                  <a:pt x="1993872" y="664910"/>
                </a:lnTo>
                <a:lnTo>
                  <a:pt x="1920631" y="666348"/>
                </a:lnTo>
                <a:lnTo>
                  <a:pt x="1846536" y="667219"/>
                </a:lnTo>
                <a:lnTo>
                  <a:pt x="1771650" y="667512"/>
                </a:lnTo>
                <a:lnTo>
                  <a:pt x="1696763" y="667219"/>
                </a:lnTo>
                <a:lnTo>
                  <a:pt x="1622668" y="666348"/>
                </a:lnTo>
                <a:lnTo>
                  <a:pt x="1549427" y="664910"/>
                </a:lnTo>
                <a:lnTo>
                  <a:pt x="1477100" y="662918"/>
                </a:lnTo>
                <a:lnTo>
                  <a:pt x="1405751" y="660382"/>
                </a:lnTo>
                <a:lnTo>
                  <a:pt x="1335439" y="657315"/>
                </a:lnTo>
                <a:lnTo>
                  <a:pt x="1266226" y="653728"/>
                </a:lnTo>
                <a:lnTo>
                  <a:pt x="1198175" y="649632"/>
                </a:lnTo>
                <a:lnTo>
                  <a:pt x="1131346" y="645040"/>
                </a:lnTo>
                <a:lnTo>
                  <a:pt x="1065801" y="639962"/>
                </a:lnTo>
                <a:lnTo>
                  <a:pt x="1001601" y="634410"/>
                </a:lnTo>
                <a:lnTo>
                  <a:pt x="938809" y="628397"/>
                </a:lnTo>
                <a:lnTo>
                  <a:pt x="877485" y="621933"/>
                </a:lnTo>
                <a:lnTo>
                  <a:pt x="817691" y="615030"/>
                </a:lnTo>
                <a:lnTo>
                  <a:pt x="759488" y="607700"/>
                </a:lnTo>
                <a:lnTo>
                  <a:pt x="702939" y="599954"/>
                </a:lnTo>
                <a:lnTo>
                  <a:pt x="648104" y="591804"/>
                </a:lnTo>
                <a:lnTo>
                  <a:pt x="595045" y="583261"/>
                </a:lnTo>
                <a:lnTo>
                  <a:pt x="543824" y="574338"/>
                </a:lnTo>
                <a:lnTo>
                  <a:pt x="494502" y="565046"/>
                </a:lnTo>
                <a:lnTo>
                  <a:pt x="447140" y="555396"/>
                </a:lnTo>
                <a:lnTo>
                  <a:pt x="401800" y="545399"/>
                </a:lnTo>
                <a:lnTo>
                  <a:pt x="358544" y="535069"/>
                </a:lnTo>
                <a:lnTo>
                  <a:pt x="317433" y="524415"/>
                </a:lnTo>
                <a:lnTo>
                  <a:pt x="278529" y="513450"/>
                </a:lnTo>
                <a:lnTo>
                  <a:pt x="241892" y="502186"/>
                </a:lnTo>
                <a:lnTo>
                  <a:pt x="175670" y="478804"/>
                </a:lnTo>
                <a:lnTo>
                  <a:pt x="119258" y="454363"/>
                </a:lnTo>
                <a:lnTo>
                  <a:pt x="73148" y="428955"/>
                </a:lnTo>
                <a:lnTo>
                  <a:pt x="37833" y="402674"/>
                </a:lnTo>
                <a:lnTo>
                  <a:pt x="6176" y="361816"/>
                </a:lnTo>
                <a:lnTo>
                  <a:pt x="0" y="33375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91361" y="4069841"/>
            <a:ext cx="3543300" cy="666115"/>
          </a:xfrm>
          <a:custGeom>
            <a:avLst/>
            <a:gdLst/>
            <a:ahLst/>
            <a:cxnLst/>
            <a:rect l="l" t="t" r="r" b="b"/>
            <a:pathLst>
              <a:path w="3543300" h="666114">
                <a:moveTo>
                  <a:pt x="0" y="332993"/>
                </a:moveTo>
                <a:lnTo>
                  <a:pt x="13804" y="291226"/>
                </a:lnTo>
                <a:lnTo>
                  <a:pt x="54110" y="251005"/>
                </a:lnTo>
                <a:lnTo>
                  <a:pt x="94884" y="225206"/>
                </a:lnTo>
                <a:lnTo>
                  <a:pt x="146207" y="200325"/>
                </a:lnTo>
                <a:lnTo>
                  <a:pt x="207585" y="176456"/>
                </a:lnTo>
                <a:lnTo>
                  <a:pt x="278529" y="153691"/>
                </a:lnTo>
                <a:lnTo>
                  <a:pt x="317433" y="142752"/>
                </a:lnTo>
                <a:lnTo>
                  <a:pt x="358544" y="132123"/>
                </a:lnTo>
                <a:lnTo>
                  <a:pt x="401800" y="121816"/>
                </a:lnTo>
                <a:lnTo>
                  <a:pt x="447140" y="111844"/>
                </a:lnTo>
                <a:lnTo>
                  <a:pt x="494502" y="102216"/>
                </a:lnTo>
                <a:lnTo>
                  <a:pt x="543824" y="92946"/>
                </a:lnTo>
                <a:lnTo>
                  <a:pt x="595045" y="84044"/>
                </a:lnTo>
                <a:lnTo>
                  <a:pt x="648104" y="75522"/>
                </a:lnTo>
                <a:lnTo>
                  <a:pt x="702939" y="67391"/>
                </a:lnTo>
                <a:lnTo>
                  <a:pt x="759488" y="59664"/>
                </a:lnTo>
                <a:lnTo>
                  <a:pt x="817691" y="52352"/>
                </a:lnTo>
                <a:lnTo>
                  <a:pt x="877485" y="45466"/>
                </a:lnTo>
                <a:lnTo>
                  <a:pt x="938809" y="39017"/>
                </a:lnTo>
                <a:lnTo>
                  <a:pt x="1001601" y="33018"/>
                </a:lnTo>
                <a:lnTo>
                  <a:pt x="1065801" y="27481"/>
                </a:lnTo>
                <a:lnTo>
                  <a:pt x="1131346" y="22415"/>
                </a:lnTo>
                <a:lnTo>
                  <a:pt x="1198175" y="17834"/>
                </a:lnTo>
                <a:lnTo>
                  <a:pt x="1266226" y="13748"/>
                </a:lnTo>
                <a:lnTo>
                  <a:pt x="1335439" y="10170"/>
                </a:lnTo>
                <a:lnTo>
                  <a:pt x="1405751" y="7111"/>
                </a:lnTo>
                <a:lnTo>
                  <a:pt x="1477100" y="4581"/>
                </a:lnTo>
                <a:lnTo>
                  <a:pt x="1549427" y="2594"/>
                </a:lnTo>
                <a:lnTo>
                  <a:pt x="1622668" y="1160"/>
                </a:lnTo>
                <a:lnTo>
                  <a:pt x="1696763" y="292"/>
                </a:lnTo>
                <a:lnTo>
                  <a:pt x="1771650" y="0"/>
                </a:lnTo>
                <a:lnTo>
                  <a:pt x="1846536" y="292"/>
                </a:lnTo>
                <a:lnTo>
                  <a:pt x="1920631" y="1160"/>
                </a:lnTo>
                <a:lnTo>
                  <a:pt x="1993872" y="2594"/>
                </a:lnTo>
                <a:lnTo>
                  <a:pt x="2066199" y="4581"/>
                </a:lnTo>
                <a:lnTo>
                  <a:pt x="2137548" y="7111"/>
                </a:lnTo>
                <a:lnTo>
                  <a:pt x="2207860" y="10170"/>
                </a:lnTo>
                <a:lnTo>
                  <a:pt x="2277073" y="13748"/>
                </a:lnTo>
                <a:lnTo>
                  <a:pt x="2345124" y="17834"/>
                </a:lnTo>
                <a:lnTo>
                  <a:pt x="2411953" y="22415"/>
                </a:lnTo>
                <a:lnTo>
                  <a:pt x="2477498" y="27481"/>
                </a:lnTo>
                <a:lnTo>
                  <a:pt x="2541698" y="33018"/>
                </a:lnTo>
                <a:lnTo>
                  <a:pt x="2604490" y="39017"/>
                </a:lnTo>
                <a:lnTo>
                  <a:pt x="2665814" y="45465"/>
                </a:lnTo>
                <a:lnTo>
                  <a:pt x="2725608" y="52352"/>
                </a:lnTo>
                <a:lnTo>
                  <a:pt x="2783811" y="59664"/>
                </a:lnTo>
                <a:lnTo>
                  <a:pt x="2840360" y="67391"/>
                </a:lnTo>
                <a:lnTo>
                  <a:pt x="2895195" y="75522"/>
                </a:lnTo>
                <a:lnTo>
                  <a:pt x="2948254" y="84044"/>
                </a:lnTo>
                <a:lnTo>
                  <a:pt x="2999475" y="92946"/>
                </a:lnTo>
                <a:lnTo>
                  <a:pt x="3048797" y="102216"/>
                </a:lnTo>
                <a:lnTo>
                  <a:pt x="3096159" y="111844"/>
                </a:lnTo>
                <a:lnTo>
                  <a:pt x="3141499" y="121816"/>
                </a:lnTo>
                <a:lnTo>
                  <a:pt x="3184755" y="132123"/>
                </a:lnTo>
                <a:lnTo>
                  <a:pt x="3225866" y="142752"/>
                </a:lnTo>
                <a:lnTo>
                  <a:pt x="3264770" y="153691"/>
                </a:lnTo>
                <a:lnTo>
                  <a:pt x="3301407" y="164930"/>
                </a:lnTo>
                <a:lnTo>
                  <a:pt x="3367629" y="188259"/>
                </a:lnTo>
                <a:lnTo>
                  <a:pt x="3424041" y="212645"/>
                </a:lnTo>
                <a:lnTo>
                  <a:pt x="3470151" y="237997"/>
                </a:lnTo>
                <a:lnTo>
                  <a:pt x="3505466" y="264221"/>
                </a:lnTo>
                <a:lnTo>
                  <a:pt x="3537123" y="304992"/>
                </a:lnTo>
                <a:lnTo>
                  <a:pt x="3543300" y="332993"/>
                </a:lnTo>
                <a:lnTo>
                  <a:pt x="3541745" y="347069"/>
                </a:lnTo>
                <a:lnTo>
                  <a:pt x="3518922" y="388355"/>
                </a:lnTo>
                <a:lnTo>
                  <a:pt x="3489189" y="414982"/>
                </a:lnTo>
                <a:lnTo>
                  <a:pt x="3448415" y="440781"/>
                </a:lnTo>
                <a:lnTo>
                  <a:pt x="3397092" y="465662"/>
                </a:lnTo>
                <a:lnTo>
                  <a:pt x="3335714" y="489531"/>
                </a:lnTo>
                <a:lnTo>
                  <a:pt x="3264770" y="512296"/>
                </a:lnTo>
                <a:lnTo>
                  <a:pt x="3225866" y="523235"/>
                </a:lnTo>
                <a:lnTo>
                  <a:pt x="3184755" y="533864"/>
                </a:lnTo>
                <a:lnTo>
                  <a:pt x="3141499" y="544171"/>
                </a:lnTo>
                <a:lnTo>
                  <a:pt x="3096159" y="554143"/>
                </a:lnTo>
                <a:lnTo>
                  <a:pt x="3048797" y="563771"/>
                </a:lnTo>
                <a:lnTo>
                  <a:pt x="2999475" y="573041"/>
                </a:lnTo>
                <a:lnTo>
                  <a:pt x="2948254" y="581943"/>
                </a:lnTo>
                <a:lnTo>
                  <a:pt x="2895195" y="590465"/>
                </a:lnTo>
                <a:lnTo>
                  <a:pt x="2840360" y="598596"/>
                </a:lnTo>
                <a:lnTo>
                  <a:pt x="2783811" y="606323"/>
                </a:lnTo>
                <a:lnTo>
                  <a:pt x="2725608" y="613635"/>
                </a:lnTo>
                <a:lnTo>
                  <a:pt x="2665814" y="620521"/>
                </a:lnTo>
                <a:lnTo>
                  <a:pt x="2604490" y="626970"/>
                </a:lnTo>
                <a:lnTo>
                  <a:pt x="2541698" y="632969"/>
                </a:lnTo>
                <a:lnTo>
                  <a:pt x="2477498" y="638506"/>
                </a:lnTo>
                <a:lnTo>
                  <a:pt x="2411953" y="643572"/>
                </a:lnTo>
                <a:lnTo>
                  <a:pt x="2345124" y="648153"/>
                </a:lnTo>
                <a:lnTo>
                  <a:pt x="2277073" y="652239"/>
                </a:lnTo>
                <a:lnTo>
                  <a:pt x="2207860" y="655817"/>
                </a:lnTo>
                <a:lnTo>
                  <a:pt x="2137548" y="658876"/>
                </a:lnTo>
                <a:lnTo>
                  <a:pt x="2066199" y="661406"/>
                </a:lnTo>
                <a:lnTo>
                  <a:pt x="1993872" y="663393"/>
                </a:lnTo>
                <a:lnTo>
                  <a:pt x="1920631" y="664827"/>
                </a:lnTo>
                <a:lnTo>
                  <a:pt x="1846536" y="665695"/>
                </a:lnTo>
                <a:lnTo>
                  <a:pt x="1771650" y="665987"/>
                </a:lnTo>
                <a:lnTo>
                  <a:pt x="1696763" y="665695"/>
                </a:lnTo>
                <a:lnTo>
                  <a:pt x="1622668" y="664827"/>
                </a:lnTo>
                <a:lnTo>
                  <a:pt x="1549427" y="663393"/>
                </a:lnTo>
                <a:lnTo>
                  <a:pt x="1477100" y="661406"/>
                </a:lnTo>
                <a:lnTo>
                  <a:pt x="1405751" y="658876"/>
                </a:lnTo>
                <a:lnTo>
                  <a:pt x="1335439" y="655817"/>
                </a:lnTo>
                <a:lnTo>
                  <a:pt x="1266226" y="652239"/>
                </a:lnTo>
                <a:lnTo>
                  <a:pt x="1198175" y="648153"/>
                </a:lnTo>
                <a:lnTo>
                  <a:pt x="1131346" y="643572"/>
                </a:lnTo>
                <a:lnTo>
                  <a:pt x="1065801" y="638506"/>
                </a:lnTo>
                <a:lnTo>
                  <a:pt x="1001601" y="632969"/>
                </a:lnTo>
                <a:lnTo>
                  <a:pt x="938809" y="626970"/>
                </a:lnTo>
                <a:lnTo>
                  <a:pt x="877485" y="620522"/>
                </a:lnTo>
                <a:lnTo>
                  <a:pt x="817691" y="613635"/>
                </a:lnTo>
                <a:lnTo>
                  <a:pt x="759488" y="606323"/>
                </a:lnTo>
                <a:lnTo>
                  <a:pt x="702939" y="598596"/>
                </a:lnTo>
                <a:lnTo>
                  <a:pt x="648104" y="590465"/>
                </a:lnTo>
                <a:lnTo>
                  <a:pt x="595045" y="581943"/>
                </a:lnTo>
                <a:lnTo>
                  <a:pt x="543824" y="573041"/>
                </a:lnTo>
                <a:lnTo>
                  <a:pt x="494502" y="563771"/>
                </a:lnTo>
                <a:lnTo>
                  <a:pt x="447140" y="554143"/>
                </a:lnTo>
                <a:lnTo>
                  <a:pt x="401800" y="544171"/>
                </a:lnTo>
                <a:lnTo>
                  <a:pt x="358544" y="533864"/>
                </a:lnTo>
                <a:lnTo>
                  <a:pt x="317433" y="523235"/>
                </a:lnTo>
                <a:lnTo>
                  <a:pt x="278529" y="512296"/>
                </a:lnTo>
                <a:lnTo>
                  <a:pt x="241892" y="501057"/>
                </a:lnTo>
                <a:lnTo>
                  <a:pt x="175670" y="477728"/>
                </a:lnTo>
                <a:lnTo>
                  <a:pt x="119258" y="453342"/>
                </a:lnTo>
                <a:lnTo>
                  <a:pt x="73148" y="427990"/>
                </a:lnTo>
                <a:lnTo>
                  <a:pt x="37833" y="401766"/>
                </a:lnTo>
                <a:lnTo>
                  <a:pt x="6176" y="360995"/>
                </a:lnTo>
                <a:lnTo>
                  <a:pt x="0" y="33299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07033" y="11378"/>
            <a:ext cx="2539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编译引论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37126" y="11378"/>
            <a:ext cx="37572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5.</a:t>
            </a:r>
            <a:r>
              <a:rPr spc="-25" dirty="0"/>
              <a:t> </a:t>
            </a:r>
            <a:r>
              <a:rPr spc="-5" dirty="0">
                <a:latin typeface="宋体"/>
                <a:cs typeface="宋体"/>
              </a:rPr>
              <a:t>目标代码生</a:t>
            </a:r>
            <a:r>
              <a:rPr spc="780" dirty="0">
                <a:latin typeface="宋体"/>
                <a:cs typeface="宋体"/>
              </a:rPr>
              <a:t>成</a:t>
            </a:r>
            <a:r>
              <a:rPr dirty="0"/>
              <a:t>(code</a:t>
            </a:r>
            <a:r>
              <a:rPr spc="-25" dirty="0"/>
              <a:t> </a:t>
            </a:r>
            <a:r>
              <a:rPr dirty="0"/>
              <a:t>generator)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342" y="1677014"/>
            <a:ext cx="7677784" cy="3455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17550">
              <a:lnSpc>
                <a:spcPct val="150000"/>
              </a:lnSpc>
              <a:spcBef>
                <a:spcPts val="95"/>
              </a:spcBef>
            </a:pP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根据中间代码及编译过程中产生的各种表 格的有关信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,最终生成所期望的目标代码程 序。一般为特定机器的机器语言代码或汇编语 言代码</a:t>
            </a:r>
            <a:r>
              <a:rPr sz="3000" b="1" spc="-15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3000" b="1" spc="-7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需要充分考虑计算机硬件和软件所提 供的资源</a:t>
            </a:r>
            <a:r>
              <a:rPr sz="3000" b="1" spc="-15" dirty="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000" b="1" spc="-5" dirty="0">
                <a:solidFill>
                  <a:srgbClr val="FFFFFF"/>
                </a:solidFill>
                <a:latin typeface="宋体"/>
                <a:cs typeface="宋体"/>
              </a:rPr>
              <a:t>以生成较高质量的目标程</a:t>
            </a:r>
            <a:r>
              <a:rPr sz="3000" b="1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3000" b="1" spc="-1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07033" y="11378"/>
            <a:ext cx="2539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编译引论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37126" y="11378"/>
            <a:ext cx="37572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0577"/>
            <a:ext cx="7874634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9620">
              <a:lnSpc>
                <a:spcPct val="1546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2800" u="heavy" spc="-5" dirty="0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宋体"/>
                <a:cs typeface="宋体"/>
                <a:hlinkClick r:id="rId2" action="ppaction://hlinksldjump"/>
              </a:rPr>
              <a:t>例</a:t>
            </a:r>
            <a:r>
              <a:rPr sz="2800" u="heavy" dirty="0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hlinkClick r:id="rId2" action="ppaction://hlinksldjump"/>
              </a:rPr>
              <a:t>1.2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的语句生成代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要考虑</a:t>
            </a:r>
            <a:r>
              <a:rPr sz="2800" spc="5" dirty="0">
                <a:solidFill>
                  <a:srgbClr val="FFFFFF"/>
                </a:solidFill>
                <a:latin typeface="宋体"/>
                <a:cs typeface="宋体"/>
              </a:rPr>
              <a:t>怎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样存</a:t>
            </a:r>
            <a:r>
              <a:rPr sz="2800" spc="5" dirty="0">
                <a:solidFill>
                  <a:srgbClr val="FFFFFF"/>
                </a:solidFill>
                <a:latin typeface="宋体"/>
                <a:cs typeface="宋体"/>
              </a:rPr>
              <a:t>储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整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型数来为数组元素的引用生成</a:t>
            </a:r>
            <a:r>
              <a:rPr sz="2800" spc="5" dirty="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标代</a:t>
            </a:r>
            <a:r>
              <a:rPr sz="2800" spc="-20" dirty="0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假设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汇编语言描述如下：</a:t>
            </a:r>
          </a:p>
          <a:p>
            <a:pPr>
              <a:lnSpc>
                <a:spcPct val="100000"/>
              </a:lnSpc>
            </a:pPr>
            <a:endParaRPr sz="2550"/>
          </a:p>
          <a:p>
            <a:pPr marL="412750">
              <a:lnSpc>
                <a:spcPct val="100000"/>
              </a:lnSpc>
              <a:tabLst>
                <a:tab pos="1532890" algn="l"/>
                <a:tab pos="2159635" algn="l"/>
              </a:tabLst>
            </a:pP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MOV	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sz="2400" spc="-7" baseline="-19097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index</a:t>
            </a:r>
            <a:endParaRPr sz="2400">
              <a:latin typeface="Times New Roman"/>
              <a:cs typeface="Times New Roman"/>
            </a:endParaRPr>
          </a:p>
          <a:p>
            <a:pPr marL="412750">
              <a:lnSpc>
                <a:spcPct val="100000"/>
              </a:lnSpc>
              <a:spcBef>
                <a:spcPts val="1445"/>
              </a:spcBef>
              <a:tabLst>
                <a:tab pos="1489075" algn="l"/>
                <a:tab pos="2115185" algn="l"/>
              </a:tabLst>
            </a:pP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MUL	R</a:t>
            </a:r>
            <a:r>
              <a:rPr sz="2400" spc="-7" baseline="-19097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Times New Roman"/>
              <a:cs typeface="Times New Roman"/>
            </a:endParaRPr>
          </a:p>
          <a:p>
            <a:pPr marL="412750" marR="814705" algn="just">
              <a:lnSpc>
                <a:spcPct val="149400"/>
              </a:lnSpc>
            </a:pP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MOV R</a:t>
            </a:r>
            <a:r>
              <a:rPr sz="2400" spc="-7" baseline="-19097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&amp;a  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ADD R</a:t>
            </a:r>
            <a:r>
              <a:rPr sz="2400" spc="-7" baseline="-19097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, R</a:t>
            </a:r>
            <a:r>
              <a:rPr sz="2400" spc="-7" baseline="-19097" dirty="0">
                <a:solidFill>
                  <a:srgbClr val="FFFF00"/>
                </a:solidFill>
                <a:latin typeface="Times New Roman"/>
                <a:cs typeface="Times New Roman"/>
              </a:rPr>
              <a:t>0 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MOV 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*R</a:t>
            </a:r>
            <a:r>
              <a:rPr sz="2400" spc="-7" baseline="-19097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spc="50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3655" y="2822021"/>
            <a:ext cx="3757929" cy="331470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545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;;</a:t>
            </a:r>
            <a:r>
              <a:rPr sz="24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00"/>
                </a:solidFill>
                <a:latin typeface="宋体"/>
                <a:cs typeface="宋体"/>
              </a:rPr>
              <a:t>索引值赋给寄存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器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sz="2400" b="1" spc="-7" baseline="-19097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 baseline="-19097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;;</a:t>
            </a:r>
            <a:r>
              <a:rPr sz="2400" b="1" spc="-6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存储按字节编址，整型数</a:t>
            </a:r>
            <a:endParaRPr sz="2400">
              <a:latin typeface="宋体"/>
              <a:cs typeface="宋体"/>
            </a:endParaRPr>
          </a:p>
          <a:p>
            <a:pPr marL="107314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;;</a:t>
            </a:r>
            <a:r>
              <a:rPr sz="2400" b="1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占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个字节</a:t>
            </a:r>
            <a:endParaRPr sz="24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;;</a:t>
            </a:r>
            <a:r>
              <a:rPr sz="2400" b="1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&amp;a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表示数</a:t>
            </a:r>
            <a:r>
              <a:rPr sz="2400" b="1" spc="-5" dirty="0">
                <a:solidFill>
                  <a:srgbClr val="FFFF00"/>
                </a:solidFill>
                <a:latin typeface="宋体"/>
                <a:cs typeface="宋体"/>
              </a:rPr>
              <a:t>组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的基地址</a:t>
            </a:r>
            <a:endParaRPr sz="2400">
              <a:latin typeface="宋体"/>
              <a:cs typeface="宋体"/>
            </a:endParaRPr>
          </a:p>
          <a:p>
            <a:pPr marL="4191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;;</a:t>
            </a:r>
            <a:r>
              <a:rPr sz="24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计算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a[index]</a:t>
            </a: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的地址</a:t>
            </a:r>
            <a:endParaRPr sz="24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1405"/>
              </a:spcBef>
            </a:pP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;; a[index] =</a:t>
            </a:r>
            <a:r>
              <a:rPr sz="2400" b="1" spc="-3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07033" y="11378"/>
            <a:ext cx="6787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  <a:tab pos="3042285" algn="l"/>
                <a:tab pos="372237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862330"/>
            <a:ext cx="54984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4200" algn="l"/>
              </a:tabLst>
            </a:pPr>
            <a:r>
              <a:rPr b="0" dirty="0">
                <a:solidFill>
                  <a:srgbClr val="66FFFF"/>
                </a:solidFill>
                <a:latin typeface="Wingdings"/>
                <a:cs typeface="Wingdings"/>
              </a:rPr>
              <a:t></a:t>
            </a:r>
            <a:r>
              <a:rPr b="0" dirty="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>
                <a:solidFill>
                  <a:srgbClr val="FFFFFF"/>
                </a:solidFill>
                <a:latin typeface="宋体"/>
                <a:cs typeface="宋体"/>
              </a:rPr>
              <a:t>编译阶段与自然语言的对比</a:t>
            </a:r>
          </a:p>
        </p:txBody>
      </p:sp>
      <p:sp>
        <p:nvSpPr>
          <p:cNvPr id="3" name="object 3"/>
          <p:cNvSpPr/>
          <p:nvPr/>
        </p:nvSpPr>
        <p:spPr>
          <a:xfrm>
            <a:off x="724662" y="2154173"/>
            <a:ext cx="7830820" cy="0"/>
          </a:xfrm>
          <a:custGeom>
            <a:avLst/>
            <a:gdLst/>
            <a:ahLst/>
            <a:cxnLst/>
            <a:rect l="l" t="t" r="r" b="b"/>
            <a:pathLst>
              <a:path w="7830820">
                <a:moveTo>
                  <a:pt x="0" y="0"/>
                </a:moveTo>
                <a:lnTo>
                  <a:pt x="7830311" y="0"/>
                </a:lnTo>
              </a:path>
            </a:pathLst>
          </a:custGeom>
          <a:ln w="38100">
            <a:solidFill>
              <a:srgbClr val="EDFD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87673" y="2725673"/>
            <a:ext cx="1580515" cy="228600"/>
          </a:xfrm>
          <a:custGeom>
            <a:avLst/>
            <a:gdLst/>
            <a:ahLst/>
            <a:cxnLst/>
            <a:rect l="l" t="t" r="r" b="b"/>
            <a:pathLst>
              <a:path w="1580514" h="228600">
                <a:moveTo>
                  <a:pt x="0" y="114300"/>
                </a:moveTo>
                <a:lnTo>
                  <a:pt x="316229" y="0"/>
                </a:lnTo>
                <a:lnTo>
                  <a:pt x="316229" y="57150"/>
                </a:lnTo>
                <a:lnTo>
                  <a:pt x="1264158" y="57150"/>
                </a:lnTo>
                <a:lnTo>
                  <a:pt x="1264158" y="0"/>
                </a:lnTo>
                <a:lnTo>
                  <a:pt x="1580388" y="114300"/>
                </a:lnTo>
                <a:lnTo>
                  <a:pt x="1264158" y="228600"/>
                </a:lnTo>
                <a:lnTo>
                  <a:pt x="1264158" y="171450"/>
                </a:lnTo>
                <a:lnTo>
                  <a:pt x="316229" y="171450"/>
                </a:lnTo>
                <a:lnTo>
                  <a:pt x="316229" y="228600"/>
                </a:lnTo>
                <a:lnTo>
                  <a:pt x="0" y="114300"/>
                </a:lnTo>
                <a:close/>
              </a:path>
            </a:pathLst>
          </a:custGeom>
          <a:ln w="38100">
            <a:solidFill>
              <a:srgbClr val="66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7116" y="1683257"/>
            <a:ext cx="6731634" cy="20694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9720" algn="l"/>
              </a:tabLst>
            </a:pP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编</a:t>
            </a:r>
            <a:r>
              <a:rPr sz="2800" b="1" spc="-695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译</a:t>
            </a:r>
            <a:r>
              <a:rPr sz="2800" b="1" spc="-700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程</a:t>
            </a:r>
            <a:r>
              <a:rPr sz="2800" b="1" spc="-695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序	自</a:t>
            </a:r>
            <a:r>
              <a:rPr sz="2800" b="1" spc="-725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然</a:t>
            </a:r>
            <a:r>
              <a:rPr sz="2800" b="1" spc="-715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语</a:t>
            </a:r>
            <a:r>
              <a:rPr sz="2800" b="1" spc="-710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言</a:t>
            </a:r>
            <a:r>
              <a:rPr sz="2800" b="1" spc="-725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翻</a:t>
            </a:r>
            <a:r>
              <a:rPr sz="2800" b="1" spc="-710" dirty="0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sz="2800" b="1" spc="-15" dirty="0">
                <a:solidFill>
                  <a:srgbClr val="FF99FF"/>
                </a:solidFill>
                <a:latin typeface="宋体"/>
                <a:cs typeface="宋体"/>
              </a:rPr>
              <a:t>译</a:t>
            </a:r>
            <a:endParaRPr sz="2800">
              <a:latin typeface="宋体"/>
              <a:cs typeface="宋体"/>
            </a:endParaRPr>
          </a:p>
          <a:p>
            <a:pPr marL="461645" marR="5080" indent="18415">
              <a:lnSpc>
                <a:spcPct val="203200"/>
              </a:lnSpc>
              <a:spcBef>
                <a:spcPts val="1035"/>
              </a:spcBef>
              <a:tabLst>
                <a:tab pos="4267835" algn="l"/>
                <a:tab pos="4555490" algn="l"/>
              </a:tabLst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词法分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	查字典、识别单词 </a:t>
            </a:r>
            <a:r>
              <a:rPr sz="2400" b="1" spc="-5" dirty="0">
                <a:solidFill>
                  <a:srgbClr val="EDFD5A"/>
                </a:solidFill>
                <a:latin typeface="宋体"/>
                <a:cs typeface="宋体"/>
              </a:rPr>
              <a:t>语法分</a:t>
            </a:r>
            <a:r>
              <a:rPr sz="2400" b="1" spc="-10" dirty="0">
                <a:solidFill>
                  <a:srgbClr val="EDFD5A"/>
                </a:solidFill>
                <a:latin typeface="宋体"/>
                <a:cs typeface="宋体"/>
              </a:rPr>
              <a:t>析		</a:t>
            </a:r>
            <a:r>
              <a:rPr sz="2400" b="1" spc="-5" dirty="0">
                <a:solidFill>
                  <a:srgbClr val="EDFD5A"/>
                </a:solidFill>
                <a:latin typeface="宋体"/>
                <a:cs typeface="宋体"/>
              </a:rPr>
              <a:t>分析识别句子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67861" y="3467861"/>
            <a:ext cx="1582420" cy="228600"/>
          </a:xfrm>
          <a:custGeom>
            <a:avLst/>
            <a:gdLst/>
            <a:ahLst/>
            <a:cxnLst/>
            <a:rect l="l" t="t" r="r" b="b"/>
            <a:pathLst>
              <a:path w="1582420" h="228600">
                <a:moveTo>
                  <a:pt x="0" y="114300"/>
                </a:moveTo>
                <a:lnTo>
                  <a:pt x="316229" y="0"/>
                </a:lnTo>
                <a:lnTo>
                  <a:pt x="316229" y="57150"/>
                </a:lnTo>
                <a:lnTo>
                  <a:pt x="1265682" y="57150"/>
                </a:lnTo>
                <a:lnTo>
                  <a:pt x="1265682" y="0"/>
                </a:lnTo>
                <a:lnTo>
                  <a:pt x="1581912" y="114300"/>
                </a:lnTo>
                <a:lnTo>
                  <a:pt x="1265682" y="228600"/>
                </a:lnTo>
                <a:lnTo>
                  <a:pt x="1265682" y="171450"/>
                </a:lnTo>
                <a:lnTo>
                  <a:pt x="316229" y="171450"/>
                </a:lnTo>
                <a:lnTo>
                  <a:pt x="316229" y="228600"/>
                </a:lnTo>
                <a:lnTo>
                  <a:pt x="0" y="114300"/>
                </a:lnTo>
                <a:close/>
              </a:path>
            </a:pathLst>
          </a:custGeom>
          <a:ln w="38100">
            <a:solidFill>
              <a:srgbClr val="66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64361" y="4294708"/>
            <a:ext cx="18637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产生中间代码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75984" y="4294708"/>
            <a:ext cx="1250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翻译初稿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44061" y="4402073"/>
            <a:ext cx="1582420" cy="228600"/>
          </a:xfrm>
          <a:custGeom>
            <a:avLst/>
            <a:gdLst/>
            <a:ahLst/>
            <a:cxnLst/>
            <a:rect l="l" t="t" r="r" b="b"/>
            <a:pathLst>
              <a:path w="1582420" h="228600">
                <a:moveTo>
                  <a:pt x="0" y="114300"/>
                </a:moveTo>
                <a:lnTo>
                  <a:pt x="316229" y="0"/>
                </a:lnTo>
                <a:lnTo>
                  <a:pt x="316229" y="57150"/>
                </a:lnTo>
                <a:lnTo>
                  <a:pt x="1265682" y="57150"/>
                </a:lnTo>
                <a:lnTo>
                  <a:pt x="1265682" y="0"/>
                </a:lnTo>
                <a:lnTo>
                  <a:pt x="1581912" y="114300"/>
                </a:lnTo>
                <a:lnTo>
                  <a:pt x="1265682" y="228600"/>
                </a:lnTo>
                <a:lnTo>
                  <a:pt x="1265682" y="171450"/>
                </a:lnTo>
                <a:lnTo>
                  <a:pt x="316229" y="171450"/>
                </a:lnTo>
                <a:lnTo>
                  <a:pt x="316229" y="228600"/>
                </a:lnTo>
                <a:lnTo>
                  <a:pt x="0" y="114300"/>
                </a:lnTo>
                <a:close/>
              </a:path>
            </a:pathLst>
          </a:custGeom>
          <a:ln w="38100">
            <a:solidFill>
              <a:srgbClr val="66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08785" y="5209794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DFD5A"/>
                </a:solidFill>
                <a:latin typeface="宋体"/>
                <a:cs typeface="宋体"/>
              </a:rPr>
              <a:t>代码优化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7760" y="5209794"/>
            <a:ext cx="2169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DFD5A"/>
                </a:solidFill>
                <a:latin typeface="宋体"/>
                <a:cs typeface="宋体"/>
              </a:rPr>
              <a:t>对初稿润色修饰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25773" y="5316473"/>
            <a:ext cx="1580515" cy="266700"/>
          </a:xfrm>
          <a:custGeom>
            <a:avLst/>
            <a:gdLst/>
            <a:ahLst/>
            <a:cxnLst/>
            <a:rect l="l" t="t" r="r" b="b"/>
            <a:pathLst>
              <a:path w="1580514" h="266700">
                <a:moveTo>
                  <a:pt x="0" y="133350"/>
                </a:moveTo>
                <a:lnTo>
                  <a:pt x="316229" y="0"/>
                </a:lnTo>
                <a:lnTo>
                  <a:pt x="316229" y="66675"/>
                </a:lnTo>
                <a:lnTo>
                  <a:pt x="1264158" y="66675"/>
                </a:lnTo>
                <a:lnTo>
                  <a:pt x="1264158" y="0"/>
                </a:lnTo>
                <a:lnTo>
                  <a:pt x="1580388" y="133350"/>
                </a:lnTo>
                <a:lnTo>
                  <a:pt x="1264158" y="266700"/>
                </a:lnTo>
                <a:lnTo>
                  <a:pt x="1264158" y="200025"/>
                </a:lnTo>
                <a:lnTo>
                  <a:pt x="316229" y="200025"/>
                </a:lnTo>
                <a:lnTo>
                  <a:pt x="316229" y="266700"/>
                </a:lnTo>
                <a:lnTo>
                  <a:pt x="0" y="133350"/>
                </a:lnTo>
                <a:close/>
              </a:path>
            </a:pathLst>
          </a:custGeom>
          <a:ln w="38100">
            <a:solidFill>
              <a:srgbClr val="66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97583" y="6028740"/>
            <a:ext cx="1865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目标代码生成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28384" y="6028740"/>
            <a:ext cx="1250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译文定稿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82161" y="6134861"/>
            <a:ext cx="1582420" cy="266700"/>
          </a:xfrm>
          <a:custGeom>
            <a:avLst/>
            <a:gdLst/>
            <a:ahLst/>
            <a:cxnLst/>
            <a:rect l="l" t="t" r="r" b="b"/>
            <a:pathLst>
              <a:path w="1582420" h="266700">
                <a:moveTo>
                  <a:pt x="0" y="133350"/>
                </a:moveTo>
                <a:lnTo>
                  <a:pt x="316229" y="0"/>
                </a:lnTo>
                <a:lnTo>
                  <a:pt x="316229" y="66675"/>
                </a:lnTo>
                <a:lnTo>
                  <a:pt x="1265682" y="66675"/>
                </a:lnTo>
                <a:lnTo>
                  <a:pt x="1265682" y="0"/>
                </a:lnTo>
                <a:lnTo>
                  <a:pt x="1581912" y="133350"/>
                </a:lnTo>
                <a:lnTo>
                  <a:pt x="1265682" y="266700"/>
                </a:lnTo>
                <a:lnTo>
                  <a:pt x="1265682" y="200025"/>
                </a:lnTo>
                <a:lnTo>
                  <a:pt x="316229" y="200025"/>
                </a:lnTo>
                <a:lnTo>
                  <a:pt x="316229" y="266700"/>
                </a:lnTo>
                <a:lnTo>
                  <a:pt x="0" y="133350"/>
                </a:lnTo>
                <a:close/>
              </a:path>
            </a:pathLst>
          </a:custGeom>
          <a:ln w="38100">
            <a:solidFill>
              <a:srgbClr val="66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07033" y="11378"/>
            <a:ext cx="6787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  <a:tab pos="3042285" algn="l"/>
                <a:tab pos="372237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8942" y="11378"/>
            <a:ext cx="8230870" cy="6220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0435">
              <a:lnSpc>
                <a:spcPct val="100000"/>
              </a:lnSpc>
              <a:spcBef>
                <a:spcPts val="100"/>
              </a:spcBef>
              <a:tabLst>
                <a:tab pos="2228850" algn="l"/>
                <a:tab pos="3970654" algn="l"/>
                <a:tab pos="465074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>
              <a:latin typeface="华文新魏"/>
              <a:cs typeface="华文新魏"/>
            </a:endParaRPr>
          </a:p>
          <a:p>
            <a:pPr marL="447040" indent="-434340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SzPct val="125000"/>
              <a:buFont typeface="Wingdings"/>
              <a:buChar char=""/>
              <a:tabLst>
                <a:tab pos="446405" algn="l"/>
                <a:tab pos="447040" algn="l"/>
              </a:tabLst>
            </a:pPr>
            <a:r>
              <a:rPr sz="3200" b="1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表格管理</a:t>
            </a:r>
            <a:endParaRPr sz="3200">
              <a:latin typeface="宋体"/>
              <a:cs typeface="宋体"/>
            </a:endParaRPr>
          </a:p>
          <a:p>
            <a:pPr marL="12700" marR="5080" indent="621665" algn="just">
              <a:lnSpc>
                <a:spcPct val="150000"/>
              </a:lnSpc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编译程序的公共辅助程序。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源程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种量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进行管理，登记相应的表格。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译程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时通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sz="2800" b="1" spc="-15" dirty="0">
                <a:solidFill>
                  <a:srgbClr val="FFFFFF"/>
                </a:solidFill>
                <a:latin typeface="宋体"/>
                <a:cs typeface="宋体"/>
              </a:rPr>
              <a:t>查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表得到所需的信息。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950">
              <a:latin typeface="宋体"/>
              <a:cs typeface="宋体"/>
            </a:endParaRPr>
          </a:p>
          <a:p>
            <a:pPr marL="346075" indent="-334010">
              <a:lnSpc>
                <a:spcPct val="100000"/>
              </a:lnSpc>
              <a:buClr>
                <a:srgbClr val="FFFF00"/>
              </a:buClr>
              <a:buSzPct val="125000"/>
              <a:buFont typeface="Wingdings"/>
              <a:buChar char=""/>
              <a:tabLst>
                <a:tab pos="346710" algn="l"/>
              </a:tabLst>
            </a:pPr>
            <a:r>
              <a:rPr sz="3200" b="1" u="heavy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出错处理</a:t>
            </a:r>
            <a:endParaRPr sz="3200">
              <a:latin typeface="宋体"/>
              <a:cs typeface="宋体"/>
            </a:endParaRPr>
          </a:p>
          <a:p>
            <a:pPr marL="12700" marR="5080" indent="621665" algn="just">
              <a:lnSpc>
                <a:spcPct val="15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编译程序的公共辅助程序。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源程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中的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各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种错 误检查、定位、定性、报告，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并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尽可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能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将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错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误限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制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在 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尽可能小的范围内，保障编译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继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续。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644128" y="5951220"/>
            <a:ext cx="500380" cy="317500"/>
          </a:xfrm>
          <a:custGeom>
            <a:avLst/>
            <a:gdLst/>
            <a:ahLst/>
            <a:cxnLst/>
            <a:rect l="l" t="t" r="r" b="b"/>
            <a:pathLst>
              <a:path w="500379" h="317500">
                <a:moveTo>
                  <a:pt x="499872" y="0"/>
                </a:moveTo>
                <a:lnTo>
                  <a:pt x="0" y="0"/>
                </a:lnTo>
                <a:lnTo>
                  <a:pt x="0" y="316991"/>
                </a:lnTo>
                <a:lnTo>
                  <a:pt x="499872" y="316991"/>
                </a:lnTo>
                <a:lnTo>
                  <a:pt x="499872" y="277367"/>
                </a:lnTo>
                <a:lnTo>
                  <a:pt x="131064" y="277367"/>
                </a:lnTo>
                <a:lnTo>
                  <a:pt x="131064" y="39623"/>
                </a:lnTo>
                <a:lnTo>
                  <a:pt x="499872" y="39623"/>
                </a:lnTo>
                <a:lnTo>
                  <a:pt x="499872" y="0"/>
                </a:lnTo>
                <a:close/>
              </a:path>
              <a:path w="500379" h="317500">
                <a:moveTo>
                  <a:pt x="368807" y="39623"/>
                </a:moveTo>
                <a:lnTo>
                  <a:pt x="160781" y="39623"/>
                </a:lnTo>
                <a:lnTo>
                  <a:pt x="160781" y="277367"/>
                </a:lnTo>
                <a:lnTo>
                  <a:pt x="368807" y="277367"/>
                </a:lnTo>
                <a:lnTo>
                  <a:pt x="190500" y="158495"/>
                </a:lnTo>
                <a:lnTo>
                  <a:pt x="368807" y="39623"/>
                </a:lnTo>
                <a:close/>
              </a:path>
              <a:path w="500379" h="317500">
                <a:moveTo>
                  <a:pt x="499872" y="39623"/>
                </a:moveTo>
                <a:lnTo>
                  <a:pt x="368807" y="39623"/>
                </a:lnTo>
                <a:lnTo>
                  <a:pt x="368807" y="277367"/>
                </a:lnTo>
                <a:lnTo>
                  <a:pt x="499872" y="277367"/>
                </a:lnTo>
                <a:lnTo>
                  <a:pt x="499872" y="39623"/>
                </a:lnTo>
                <a:close/>
              </a:path>
            </a:pathLst>
          </a:custGeom>
          <a:solidFill>
            <a:srgbClr val="99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75192" y="5990844"/>
            <a:ext cx="237743" cy="237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0"/>
            <a:ext cx="7934959" cy="672719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883285">
              <a:lnSpc>
                <a:spcPct val="100000"/>
              </a:lnSpc>
              <a:spcBef>
                <a:spcPts val="840"/>
              </a:spcBef>
              <a:tabLst>
                <a:tab pos="2171700" algn="l"/>
                <a:tab pos="3913504" algn="l"/>
                <a:tab pos="459359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编译引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论	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1.3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程序的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结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构与组织</a:t>
            </a:r>
            <a:endParaRPr sz="2400">
              <a:latin typeface="华文新魏"/>
              <a:cs typeface="华文新魏"/>
            </a:endParaRPr>
          </a:p>
          <a:p>
            <a:pPr marL="403225" indent="-334010">
              <a:lnSpc>
                <a:spcPct val="100000"/>
              </a:lnSpc>
              <a:spcBef>
                <a:spcPts val="2020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403860" algn="l"/>
                <a:tab pos="2167255" algn="l"/>
              </a:tabLst>
            </a:pPr>
            <a:r>
              <a:rPr sz="3200" b="1" dirty="0">
                <a:solidFill>
                  <a:srgbClr val="FFFF66"/>
                </a:solidFill>
                <a:latin typeface="宋体"/>
                <a:cs typeface="宋体"/>
              </a:rPr>
              <a:t>定义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1.2</a:t>
            </a:r>
            <a:r>
              <a:rPr sz="3200" b="1" spc="-15" dirty="0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FF66"/>
                </a:solidFill>
                <a:latin typeface="Times New Roman"/>
                <a:cs typeface="Times New Roman"/>
              </a:rPr>
              <a:t>:	</a:t>
            </a:r>
            <a:r>
              <a:rPr sz="3200" b="1" dirty="0">
                <a:solidFill>
                  <a:srgbClr val="FFB8D0"/>
                </a:solidFill>
                <a:latin typeface="Times New Roman"/>
                <a:cs typeface="Times New Roman"/>
              </a:rPr>
              <a:t>(Pass</a:t>
            </a:r>
            <a:r>
              <a:rPr sz="3200" b="1" spc="-20" dirty="0">
                <a:solidFill>
                  <a:srgbClr val="FFB8D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B8D0"/>
                </a:solidFill>
                <a:latin typeface="Times New Roman"/>
                <a:cs typeface="Times New Roman"/>
              </a:rPr>
              <a:t>)</a:t>
            </a:r>
            <a:r>
              <a:rPr sz="3200" b="1" spc="5" dirty="0">
                <a:solidFill>
                  <a:srgbClr val="FFB8D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B8D0"/>
                </a:solidFill>
                <a:latin typeface="宋体"/>
                <a:cs typeface="宋体"/>
              </a:rPr>
              <a:t>遍或者趟</a:t>
            </a:r>
            <a:endParaRPr sz="3200">
              <a:latin typeface="宋体"/>
              <a:cs typeface="宋体"/>
            </a:endParaRPr>
          </a:p>
          <a:p>
            <a:pPr marL="69850" marR="5080" indent="717550" algn="just">
              <a:lnSpc>
                <a:spcPct val="147700"/>
              </a:lnSpc>
              <a:spcBef>
                <a:spcPts val="235"/>
              </a:spcBef>
            </a:pP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对源程序或源程序的中间形式从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头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尾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扫描一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遍，并做有关的分析加工，生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新的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源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sz="2800" b="1" spc="5" dirty="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的中间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形式或生成目标程序。</a:t>
            </a:r>
            <a:endParaRPr sz="2800">
              <a:latin typeface="宋体"/>
              <a:cs typeface="宋体"/>
            </a:endParaRPr>
          </a:p>
          <a:p>
            <a:pPr marL="340360" indent="-327660">
              <a:lnSpc>
                <a:spcPct val="100000"/>
              </a:lnSpc>
              <a:spcBef>
                <a:spcPts val="2470"/>
              </a:spcBef>
              <a:buClr>
                <a:srgbClr val="FFFF99"/>
              </a:buClr>
              <a:buSzPct val="93750"/>
              <a:buFont typeface="Wingdings"/>
              <a:buChar char=""/>
              <a:tabLst>
                <a:tab pos="339725" algn="l"/>
                <a:tab pos="340360" algn="l"/>
              </a:tabLst>
            </a:pPr>
            <a:r>
              <a:rPr sz="3200" b="1" dirty="0">
                <a:solidFill>
                  <a:srgbClr val="66FFFF"/>
                </a:solidFill>
                <a:latin typeface="宋体"/>
                <a:cs typeface="宋体"/>
              </a:rPr>
              <a:t>遍设置的考虑因素</a:t>
            </a:r>
            <a:endParaRPr sz="3200">
              <a:latin typeface="宋体"/>
              <a:cs typeface="宋体"/>
            </a:endParaRPr>
          </a:p>
          <a:p>
            <a:pPr marL="992505" lvl="1" indent="-625475">
              <a:lnSpc>
                <a:spcPct val="100000"/>
              </a:lnSpc>
              <a:spcBef>
                <a:spcPts val="1015"/>
              </a:spcBef>
              <a:buFont typeface="Times New Roman"/>
              <a:buAutoNum type="arabicPlain"/>
              <a:tabLst>
                <a:tab pos="993140" algn="l"/>
              </a:tabLst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宿主机存储容量；</a:t>
            </a:r>
            <a:endParaRPr sz="2800">
              <a:latin typeface="宋体"/>
              <a:cs typeface="宋体"/>
            </a:endParaRPr>
          </a:p>
          <a:p>
            <a:pPr marL="992505" lvl="1" indent="-625475">
              <a:lnSpc>
                <a:spcPct val="100000"/>
              </a:lnSpc>
              <a:spcBef>
                <a:spcPts val="1010"/>
              </a:spcBef>
              <a:buFont typeface="Times New Roman"/>
              <a:buAutoNum type="arabicPlain"/>
              <a:tabLst>
                <a:tab pos="993140" algn="l"/>
              </a:tabLst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编译程序功能的强弱；</a:t>
            </a:r>
            <a:endParaRPr sz="2800">
              <a:latin typeface="宋体"/>
              <a:cs typeface="宋体"/>
            </a:endParaRPr>
          </a:p>
          <a:p>
            <a:pPr marL="992505" lvl="1" indent="-625475">
              <a:lnSpc>
                <a:spcPct val="100000"/>
              </a:lnSpc>
              <a:spcBef>
                <a:spcPts val="1010"/>
              </a:spcBef>
              <a:buFont typeface="Times New Roman"/>
              <a:buAutoNum type="arabicPlain"/>
              <a:tabLst>
                <a:tab pos="993140" algn="l"/>
              </a:tabLst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源语言的繁简及约束；</a:t>
            </a:r>
            <a:endParaRPr sz="2800">
              <a:latin typeface="宋体"/>
              <a:cs typeface="宋体"/>
            </a:endParaRPr>
          </a:p>
          <a:p>
            <a:pPr marL="992505" lvl="1" indent="-625475">
              <a:lnSpc>
                <a:spcPct val="100000"/>
              </a:lnSpc>
              <a:spcBef>
                <a:spcPts val="1005"/>
              </a:spcBef>
              <a:buFont typeface="Times New Roman"/>
              <a:buAutoNum type="arabicPlain"/>
              <a:tabLst>
                <a:tab pos="993140" algn="l"/>
              </a:tabLst>
            </a:pP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优化因素；</a:t>
            </a:r>
            <a:endParaRPr sz="2800">
              <a:latin typeface="宋体"/>
              <a:cs typeface="宋体"/>
            </a:endParaRPr>
          </a:p>
          <a:p>
            <a:pPr marL="992505" lvl="1" indent="-625475">
              <a:lnSpc>
                <a:spcPct val="100000"/>
              </a:lnSpc>
              <a:spcBef>
                <a:spcPts val="1010"/>
              </a:spcBef>
              <a:buFont typeface="Times New Roman"/>
              <a:buAutoNum type="arabicPlain"/>
              <a:tabLst>
                <a:tab pos="993140" algn="l"/>
              </a:tabLst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设计、实现的环境、工具及人员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因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素等。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6542" y="0"/>
            <a:ext cx="7983220" cy="151003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978535">
              <a:lnSpc>
                <a:spcPct val="100000"/>
              </a:lnSpc>
              <a:spcBef>
                <a:spcPts val="1714"/>
              </a:spcBef>
              <a:tabLst>
                <a:tab pos="2193290" algn="l"/>
                <a:tab pos="4010660" algn="l"/>
                <a:tab pos="461264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引论	</a:t>
            </a:r>
            <a:r>
              <a:rPr sz="2400" b="1" spc="-5" dirty="0">
                <a:solidFill>
                  <a:srgbClr val="A15100"/>
                </a:solidFill>
                <a:latin typeface="Times New Roman"/>
                <a:cs typeface="Times New Roman"/>
              </a:rPr>
              <a:t>1.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4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编译程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序结构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的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实例模型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华文新魏"/>
              <a:cs typeface="华文新魏"/>
            </a:endParaRPr>
          </a:p>
          <a:p>
            <a:pPr marL="388620" indent="-376555">
              <a:lnSpc>
                <a:spcPct val="100000"/>
              </a:lnSpc>
              <a:buClr>
                <a:srgbClr val="99FF99"/>
              </a:buClr>
              <a:buSzPct val="120312"/>
              <a:buFont typeface="Wingdings"/>
              <a:buChar char=""/>
              <a:tabLst>
                <a:tab pos="389255" algn="l"/>
              </a:tabLst>
            </a:pPr>
            <a:r>
              <a:rPr sz="3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一遍扫描的编译程序结构模型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15667" y="2057400"/>
            <a:ext cx="5212080" cy="3999229"/>
          </a:xfrm>
          <a:custGeom>
            <a:avLst/>
            <a:gdLst/>
            <a:ahLst/>
            <a:cxnLst/>
            <a:rect l="l" t="t" r="r" b="b"/>
            <a:pathLst>
              <a:path w="5212080" h="3999229">
                <a:moveTo>
                  <a:pt x="0" y="3998976"/>
                </a:moveTo>
                <a:lnTo>
                  <a:pt x="5212080" y="3998976"/>
                </a:lnTo>
                <a:lnTo>
                  <a:pt x="5212080" y="0"/>
                </a:lnTo>
                <a:lnTo>
                  <a:pt x="0" y="0"/>
                </a:lnTo>
                <a:lnTo>
                  <a:pt x="0" y="3998976"/>
                </a:lnTo>
                <a:close/>
              </a:path>
            </a:pathLst>
          </a:custGeom>
          <a:solidFill>
            <a:srgbClr val="D9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15667" y="2057400"/>
            <a:ext cx="5212080" cy="3999229"/>
          </a:xfrm>
          <a:custGeom>
            <a:avLst/>
            <a:gdLst/>
            <a:ahLst/>
            <a:cxnLst/>
            <a:rect l="l" t="t" r="r" b="b"/>
            <a:pathLst>
              <a:path w="5212080" h="3999229">
                <a:moveTo>
                  <a:pt x="0" y="3998976"/>
                </a:moveTo>
                <a:lnTo>
                  <a:pt x="5212080" y="3998976"/>
                </a:lnTo>
                <a:lnTo>
                  <a:pt x="5212080" y="0"/>
                </a:lnTo>
                <a:lnTo>
                  <a:pt x="0" y="0"/>
                </a:lnTo>
                <a:lnTo>
                  <a:pt x="0" y="3998976"/>
                </a:lnTo>
                <a:close/>
              </a:path>
            </a:pathLst>
          </a:custGeom>
          <a:ln w="57150">
            <a:solidFill>
              <a:srgbClr val="1B1B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02764" y="4201667"/>
            <a:ext cx="1603375" cy="993775"/>
          </a:xfrm>
          <a:custGeom>
            <a:avLst/>
            <a:gdLst/>
            <a:ahLst/>
            <a:cxnLst/>
            <a:rect l="l" t="t" r="r" b="b"/>
            <a:pathLst>
              <a:path w="1603375" h="993775">
                <a:moveTo>
                  <a:pt x="0" y="993647"/>
                </a:moveTo>
                <a:lnTo>
                  <a:pt x="1603248" y="993647"/>
                </a:lnTo>
                <a:lnTo>
                  <a:pt x="1603248" y="0"/>
                </a:lnTo>
                <a:lnTo>
                  <a:pt x="0" y="0"/>
                </a:lnTo>
                <a:lnTo>
                  <a:pt x="0" y="993647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02764" y="4201667"/>
            <a:ext cx="1603375" cy="993775"/>
          </a:xfrm>
          <a:custGeom>
            <a:avLst/>
            <a:gdLst/>
            <a:ahLst/>
            <a:cxnLst/>
            <a:rect l="l" t="t" r="r" b="b"/>
            <a:pathLst>
              <a:path w="1603375" h="993775">
                <a:moveTo>
                  <a:pt x="0" y="993647"/>
                </a:moveTo>
                <a:lnTo>
                  <a:pt x="1603248" y="993647"/>
                </a:lnTo>
                <a:lnTo>
                  <a:pt x="1603248" y="0"/>
                </a:lnTo>
                <a:lnTo>
                  <a:pt x="0" y="0"/>
                </a:lnTo>
                <a:lnTo>
                  <a:pt x="0" y="993647"/>
                </a:lnTo>
                <a:close/>
              </a:path>
            </a:pathLst>
          </a:custGeom>
          <a:ln w="27051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15840" y="3907535"/>
            <a:ext cx="1949450" cy="1287780"/>
          </a:xfrm>
          <a:custGeom>
            <a:avLst/>
            <a:gdLst/>
            <a:ahLst/>
            <a:cxnLst/>
            <a:rect l="l" t="t" r="r" b="b"/>
            <a:pathLst>
              <a:path w="1949450" h="1287779">
                <a:moveTo>
                  <a:pt x="0" y="1287780"/>
                </a:moveTo>
                <a:lnTo>
                  <a:pt x="1949195" y="1287780"/>
                </a:lnTo>
                <a:lnTo>
                  <a:pt x="1949195" y="0"/>
                </a:lnTo>
                <a:lnTo>
                  <a:pt x="0" y="0"/>
                </a:lnTo>
                <a:lnTo>
                  <a:pt x="0" y="1287780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15840" y="3907535"/>
            <a:ext cx="1949450" cy="1287780"/>
          </a:xfrm>
          <a:custGeom>
            <a:avLst/>
            <a:gdLst/>
            <a:ahLst/>
            <a:cxnLst/>
            <a:rect l="l" t="t" r="r" b="b"/>
            <a:pathLst>
              <a:path w="1949450" h="1287779">
                <a:moveTo>
                  <a:pt x="0" y="1287780"/>
                </a:moveTo>
                <a:lnTo>
                  <a:pt x="1949195" y="1287780"/>
                </a:lnTo>
                <a:lnTo>
                  <a:pt x="1949195" y="0"/>
                </a:lnTo>
                <a:lnTo>
                  <a:pt x="0" y="0"/>
                </a:lnTo>
                <a:lnTo>
                  <a:pt x="0" y="1287780"/>
                </a:lnTo>
                <a:close/>
              </a:path>
            </a:pathLst>
          </a:custGeom>
          <a:ln w="27051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91611" y="2420111"/>
            <a:ext cx="2516505" cy="596265"/>
          </a:xfrm>
          <a:prstGeom prst="rect">
            <a:avLst/>
          </a:prstGeom>
          <a:solidFill>
            <a:srgbClr val="FFBEBE"/>
          </a:solidFill>
          <a:ln w="27050">
            <a:solidFill>
              <a:srgbClr val="800000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515"/>
              </a:spcBef>
            </a:pPr>
            <a:r>
              <a:rPr sz="2600" b="1" dirty="0">
                <a:solidFill>
                  <a:srgbClr val="1B1BFF"/>
                </a:solidFill>
                <a:latin typeface="宋体"/>
                <a:cs typeface="宋体"/>
              </a:rPr>
              <a:t>语法分析程序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366" y="3917696"/>
            <a:ext cx="10223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源程序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4069" y="3917696"/>
            <a:ext cx="13544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目标程序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16289" y="4655820"/>
            <a:ext cx="1576705" cy="526415"/>
          </a:xfrm>
          <a:prstGeom prst="rect">
            <a:avLst/>
          </a:prstGeom>
          <a:solidFill>
            <a:srgbClr val="FFBEBE"/>
          </a:solidFill>
        </p:spPr>
        <p:txBody>
          <a:bodyPr vert="horz" wrap="square" lIns="0" tIns="0" rIns="0" bIns="0" rtlCol="0">
            <a:spAutoFit/>
          </a:bodyPr>
          <a:lstStyle/>
          <a:p>
            <a:pPr marL="190500">
              <a:lnSpc>
                <a:spcPts val="2085"/>
              </a:lnSpc>
            </a:pPr>
            <a:r>
              <a:rPr sz="2600" b="1" dirty="0">
                <a:solidFill>
                  <a:srgbClr val="1B1BFF"/>
                </a:solidFill>
                <a:latin typeface="宋体"/>
                <a:cs typeface="宋体"/>
              </a:rPr>
              <a:t>词法分析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0065" y="3873220"/>
            <a:ext cx="1354455" cy="106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600"/>
              </a:lnSpc>
              <a:spcBef>
                <a:spcPts val="100"/>
              </a:spcBef>
            </a:pPr>
            <a:r>
              <a:rPr sz="2600" b="1" dirty="0">
                <a:solidFill>
                  <a:srgbClr val="1B1BFF"/>
                </a:solidFill>
                <a:latin typeface="宋体"/>
                <a:cs typeface="宋体"/>
              </a:rPr>
              <a:t>语义处理 代码生成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2019300"/>
            <a:ext cx="0" cy="3756660"/>
          </a:xfrm>
          <a:custGeom>
            <a:avLst/>
            <a:gdLst/>
            <a:ahLst/>
            <a:cxnLst/>
            <a:rect l="l" t="t" r="r" b="b"/>
            <a:pathLst>
              <a:path h="3756660">
                <a:moveTo>
                  <a:pt x="0" y="0"/>
                </a:moveTo>
                <a:lnTo>
                  <a:pt x="0" y="3756660"/>
                </a:lnTo>
              </a:path>
            </a:pathLst>
          </a:custGeom>
          <a:ln w="9143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50302" y="2019300"/>
            <a:ext cx="0" cy="3759835"/>
          </a:xfrm>
          <a:custGeom>
            <a:avLst/>
            <a:gdLst/>
            <a:ahLst/>
            <a:cxnLst/>
            <a:rect l="l" t="t" r="r" b="b"/>
            <a:pathLst>
              <a:path h="3759835">
                <a:moveTo>
                  <a:pt x="0" y="0"/>
                </a:moveTo>
                <a:lnTo>
                  <a:pt x="0" y="3759708"/>
                </a:lnTo>
              </a:path>
            </a:pathLst>
          </a:custGeom>
          <a:ln w="1066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65035" y="4432680"/>
            <a:ext cx="1998345" cy="171450"/>
          </a:xfrm>
          <a:custGeom>
            <a:avLst/>
            <a:gdLst/>
            <a:ahLst/>
            <a:cxnLst/>
            <a:rect l="l" t="t" r="r" b="b"/>
            <a:pathLst>
              <a:path w="1998345" h="171450">
                <a:moveTo>
                  <a:pt x="1712129" y="114279"/>
                </a:moveTo>
                <a:lnTo>
                  <a:pt x="1712087" y="171450"/>
                </a:lnTo>
                <a:lnTo>
                  <a:pt x="1903238" y="114300"/>
                </a:lnTo>
                <a:lnTo>
                  <a:pt x="1740789" y="114300"/>
                </a:lnTo>
                <a:lnTo>
                  <a:pt x="1712129" y="114279"/>
                </a:lnTo>
                <a:close/>
              </a:path>
              <a:path w="1998345" h="171450">
                <a:moveTo>
                  <a:pt x="1712171" y="57129"/>
                </a:moveTo>
                <a:lnTo>
                  <a:pt x="1712129" y="114279"/>
                </a:lnTo>
                <a:lnTo>
                  <a:pt x="1740789" y="114300"/>
                </a:lnTo>
                <a:lnTo>
                  <a:pt x="1740789" y="57150"/>
                </a:lnTo>
                <a:lnTo>
                  <a:pt x="1712171" y="57129"/>
                </a:lnTo>
                <a:close/>
              </a:path>
              <a:path w="1998345" h="171450">
                <a:moveTo>
                  <a:pt x="1712214" y="0"/>
                </a:moveTo>
                <a:lnTo>
                  <a:pt x="1712171" y="57129"/>
                </a:lnTo>
                <a:lnTo>
                  <a:pt x="1740789" y="57150"/>
                </a:lnTo>
                <a:lnTo>
                  <a:pt x="1740789" y="114300"/>
                </a:lnTo>
                <a:lnTo>
                  <a:pt x="1903238" y="114300"/>
                </a:lnTo>
                <a:lnTo>
                  <a:pt x="1997964" y="85979"/>
                </a:lnTo>
                <a:lnTo>
                  <a:pt x="1712214" y="0"/>
                </a:lnTo>
                <a:close/>
              </a:path>
              <a:path w="1998345" h="171450">
                <a:moveTo>
                  <a:pt x="0" y="55880"/>
                </a:moveTo>
                <a:lnTo>
                  <a:pt x="0" y="113030"/>
                </a:lnTo>
                <a:lnTo>
                  <a:pt x="1712129" y="114279"/>
                </a:lnTo>
                <a:lnTo>
                  <a:pt x="1712171" y="57129"/>
                </a:lnTo>
                <a:lnTo>
                  <a:pt x="0" y="5588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5254" y="4411853"/>
            <a:ext cx="1580515" cy="171450"/>
          </a:xfrm>
          <a:custGeom>
            <a:avLst/>
            <a:gdLst/>
            <a:ahLst/>
            <a:cxnLst/>
            <a:rect l="l" t="t" r="r" b="b"/>
            <a:pathLst>
              <a:path w="1580514" h="171450">
                <a:moveTo>
                  <a:pt x="1485687" y="57150"/>
                </a:moveTo>
                <a:lnTo>
                  <a:pt x="1323238" y="57150"/>
                </a:lnTo>
                <a:lnTo>
                  <a:pt x="1323238" y="114300"/>
                </a:lnTo>
                <a:lnTo>
                  <a:pt x="1294705" y="114327"/>
                </a:lnTo>
                <a:lnTo>
                  <a:pt x="1294790" y="171450"/>
                </a:lnTo>
                <a:lnTo>
                  <a:pt x="1580413" y="85471"/>
                </a:lnTo>
                <a:lnTo>
                  <a:pt x="1485687" y="57150"/>
                </a:lnTo>
                <a:close/>
              </a:path>
              <a:path w="1580514" h="171450">
                <a:moveTo>
                  <a:pt x="1294621" y="57177"/>
                </a:moveTo>
                <a:lnTo>
                  <a:pt x="0" y="58420"/>
                </a:lnTo>
                <a:lnTo>
                  <a:pt x="50" y="115570"/>
                </a:lnTo>
                <a:lnTo>
                  <a:pt x="1294705" y="114327"/>
                </a:lnTo>
                <a:lnTo>
                  <a:pt x="1294621" y="57177"/>
                </a:lnTo>
                <a:close/>
              </a:path>
              <a:path w="1580514" h="171450">
                <a:moveTo>
                  <a:pt x="1323238" y="57150"/>
                </a:moveTo>
                <a:lnTo>
                  <a:pt x="1294621" y="57177"/>
                </a:lnTo>
                <a:lnTo>
                  <a:pt x="1294705" y="114327"/>
                </a:lnTo>
                <a:lnTo>
                  <a:pt x="1323238" y="114300"/>
                </a:lnTo>
                <a:lnTo>
                  <a:pt x="1323238" y="57150"/>
                </a:lnTo>
                <a:close/>
              </a:path>
              <a:path w="1580514" h="171450">
                <a:moveTo>
                  <a:pt x="1294536" y="0"/>
                </a:moveTo>
                <a:lnTo>
                  <a:pt x="1294621" y="57177"/>
                </a:lnTo>
                <a:lnTo>
                  <a:pt x="1485687" y="57150"/>
                </a:lnTo>
                <a:lnTo>
                  <a:pt x="12945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91611" y="3012948"/>
            <a:ext cx="809625" cy="1199515"/>
          </a:xfrm>
          <a:custGeom>
            <a:avLst/>
            <a:gdLst/>
            <a:ahLst/>
            <a:cxnLst/>
            <a:rect l="l" t="t" r="r" b="b"/>
            <a:pathLst>
              <a:path w="809625" h="1199514">
                <a:moveTo>
                  <a:pt x="88773" y="914526"/>
                </a:moveTo>
                <a:lnTo>
                  <a:pt x="0" y="1199388"/>
                </a:lnTo>
                <a:lnTo>
                  <a:pt x="230886" y="1010412"/>
                </a:lnTo>
                <a:lnTo>
                  <a:pt x="218651" y="1002157"/>
                </a:lnTo>
                <a:lnTo>
                  <a:pt x="167512" y="1002157"/>
                </a:lnTo>
                <a:lnTo>
                  <a:pt x="120142" y="970279"/>
                </a:lnTo>
                <a:lnTo>
                  <a:pt x="136178" y="946512"/>
                </a:lnTo>
                <a:lnTo>
                  <a:pt x="88773" y="914526"/>
                </a:lnTo>
                <a:close/>
              </a:path>
              <a:path w="809625" h="1199514">
                <a:moveTo>
                  <a:pt x="136178" y="946512"/>
                </a:moveTo>
                <a:lnTo>
                  <a:pt x="120142" y="970279"/>
                </a:lnTo>
                <a:lnTo>
                  <a:pt x="167512" y="1002157"/>
                </a:lnTo>
                <a:lnTo>
                  <a:pt x="183510" y="978447"/>
                </a:lnTo>
                <a:lnTo>
                  <a:pt x="136178" y="946512"/>
                </a:lnTo>
                <a:close/>
              </a:path>
              <a:path w="809625" h="1199514">
                <a:moveTo>
                  <a:pt x="183510" y="978447"/>
                </a:moveTo>
                <a:lnTo>
                  <a:pt x="167512" y="1002157"/>
                </a:lnTo>
                <a:lnTo>
                  <a:pt x="218651" y="1002157"/>
                </a:lnTo>
                <a:lnTo>
                  <a:pt x="183510" y="978447"/>
                </a:lnTo>
                <a:close/>
              </a:path>
              <a:path w="809625" h="1199514">
                <a:moveTo>
                  <a:pt x="625733" y="220940"/>
                </a:moveTo>
                <a:lnTo>
                  <a:pt x="136178" y="946512"/>
                </a:lnTo>
                <a:lnTo>
                  <a:pt x="183510" y="978447"/>
                </a:lnTo>
                <a:lnTo>
                  <a:pt x="673065" y="252875"/>
                </a:lnTo>
                <a:lnTo>
                  <a:pt x="625733" y="220940"/>
                </a:lnTo>
                <a:close/>
              </a:path>
              <a:path w="809625" h="1199514">
                <a:moveTo>
                  <a:pt x="747779" y="197230"/>
                </a:moveTo>
                <a:lnTo>
                  <a:pt x="641730" y="197230"/>
                </a:lnTo>
                <a:lnTo>
                  <a:pt x="689101" y="229107"/>
                </a:lnTo>
                <a:lnTo>
                  <a:pt x="673065" y="252875"/>
                </a:lnTo>
                <a:lnTo>
                  <a:pt x="720471" y="284861"/>
                </a:lnTo>
                <a:lnTo>
                  <a:pt x="747779" y="197230"/>
                </a:lnTo>
                <a:close/>
              </a:path>
              <a:path w="809625" h="1199514">
                <a:moveTo>
                  <a:pt x="641730" y="197230"/>
                </a:moveTo>
                <a:lnTo>
                  <a:pt x="625733" y="220940"/>
                </a:lnTo>
                <a:lnTo>
                  <a:pt x="673065" y="252875"/>
                </a:lnTo>
                <a:lnTo>
                  <a:pt x="689101" y="229107"/>
                </a:lnTo>
                <a:lnTo>
                  <a:pt x="641730" y="197230"/>
                </a:lnTo>
                <a:close/>
              </a:path>
              <a:path w="809625" h="1199514">
                <a:moveTo>
                  <a:pt x="809243" y="0"/>
                </a:moveTo>
                <a:lnTo>
                  <a:pt x="578358" y="188975"/>
                </a:lnTo>
                <a:lnTo>
                  <a:pt x="625733" y="220940"/>
                </a:lnTo>
                <a:lnTo>
                  <a:pt x="641730" y="197230"/>
                </a:lnTo>
                <a:lnTo>
                  <a:pt x="747779" y="197230"/>
                </a:lnTo>
                <a:lnTo>
                  <a:pt x="809243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15840" y="2994660"/>
            <a:ext cx="901065" cy="932815"/>
          </a:xfrm>
          <a:custGeom>
            <a:avLst/>
            <a:gdLst/>
            <a:ahLst/>
            <a:cxnLst/>
            <a:rect l="l" t="t" r="r" b="b"/>
            <a:pathLst>
              <a:path w="901064" h="932814">
                <a:moveTo>
                  <a:pt x="681561" y="747017"/>
                </a:moveTo>
                <a:lnTo>
                  <a:pt x="640461" y="786638"/>
                </a:lnTo>
                <a:lnTo>
                  <a:pt x="900684" y="932688"/>
                </a:lnTo>
                <a:lnTo>
                  <a:pt x="815483" y="767588"/>
                </a:lnTo>
                <a:lnTo>
                  <a:pt x="701421" y="767588"/>
                </a:lnTo>
                <a:lnTo>
                  <a:pt x="681561" y="747017"/>
                </a:lnTo>
                <a:close/>
              </a:path>
              <a:path w="901064" h="932814">
                <a:moveTo>
                  <a:pt x="722751" y="707310"/>
                </a:moveTo>
                <a:lnTo>
                  <a:pt x="681561" y="747017"/>
                </a:lnTo>
                <a:lnTo>
                  <a:pt x="701421" y="767588"/>
                </a:lnTo>
                <a:lnTo>
                  <a:pt x="742569" y="727837"/>
                </a:lnTo>
                <a:lnTo>
                  <a:pt x="722751" y="707310"/>
                </a:lnTo>
                <a:close/>
              </a:path>
              <a:path w="901064" h="932814">
                <a:moveTo>
                  <a:pt x="763905" y="667638"/>
                </a:moveTo>
                <a:lnTo>
                  <a:pt x="722751" y="707310"/>
                </a:lnTo>
                <a:lnTo>
                  <a:pt x="742569" y="727837"/>
                </a:lnTo>
                <a:lnTo>
                  <a:pt x="701421" y="767588"/>
                </a:lnTo>
                <a:lnTo>
                  <a:pt x="815483" y="767588"/>
                </a:lnTo>
                <a:lnTo>
                  <a:pt x="763905" y="667638"/>
                </a:lnTo>
                <a:close/>
              </a:path>
              <a:path w="901064" h="932814">
                <a:moveTo>
                  <a:pt x="219122" y="185670"/>
                </a:moveTo>
                <a:lnTo>
                  <a:pt x="177932" y="225377"/>
                </a:lnTo>
                <a:lnTo>
                  <a:pt x="681561" y="747017"/>
                </a:lnTo>
                <a:lnTo>
                  <a:pt x="722751" y="707310"/>
                </a:lnTo>
                <a:lnTo>
                  <a:pt x="219122" y="185670"/>
                </a:lnTo>
                <a:close/>
              </a:path>
              <a:path w="901064" h="932814">
                <a:moveTo>
                  <a:pt x="0" y="0"/>
                </a:moveTo>
                <a:lnTo>
                  <a:pt x="136779" y="265049"/>
                </a:lnTo>
                <a:lnTo>
                  <a:pt x="177932" y="225377"/>
                </a:lnTo>
                <a:lnTo>
                  <a:pt x="158114" y="204850"/>
                </a:lnTo>
                <a:lnTo>
                  <a:pt x="199262" y="165100"/>
                </a:lnTo>
                <a:lnTo>
                  <a:pt x="240461" y="165100"/>
                </a:lnTo>
                <a:lnTo>
                  <a:pt x="260223" y="146050"/>
                </a:lnTo>
                <a:lnTo>
                  <a:pt x="0" y="0"/>
                </a:lnTo>
                <a:close/>
              </a:path>
              <a:path w="901064" h="932814">
                <a:moveTo>
                  <a:pt x="199262" y="165100"/>
                </a:moveTo>
                <a:lnTo>
                  <a:pt x="158114" y="204850"/>
                </a:lnTo>
                <a:lnTo>
                  <a:pt x="177932" y="225377"/>
                </a:lnTo>
                <a:lnTo>
                  <a:pt x="219122" y="185670"/>
                </a:lnTo>
                <a:lnTo>
                  <a:pt x="199262" y="165100"/>
                </a:lnTo>
                <a:close/>
              </a:path>
              <a:path w="901064" h="932814">
                <a:moveTo>
                  <a:pt x="240461" y="165100"/>
                </a:moveTo>
                <a:lnTo>
                  <a:pt x="199262" y="165100"/>
                </a:lnTo>
                <a:lnTo>
                  <a:pt x="219122" y="185670"/>
                </a:lnTo>
                <a:lnTo>
                  <a:pt x="240461" y="16510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8200" y="4617720"/>
            <a:ext cx="8305800" cy="2240280"/>
          </a:xfrm>
          <a:custGeom>
            <a:avLst/>
            <a:gdLst/>
            <a:ahLst/>
            <a:cxnLst/>
            <a:rect l="l" t="t" r="r" b="b"/>
            <a:pathLst>
              <a:path w="8305800" h="2240279">
                <a:moveTo>
                  <a:pt x="0" y="2240279"/>
                </a:moveTo>
                <a:lnTo>
                  <a:pt x="8305800" y="2240279"/>
                </a:lnTo>
                <a:lnTo>
                  <a:pt x="8305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756" y="4629150"/>
            <a:ext cx="8810625" cy="2228850"/>
          </a:xfrm>
          <a:custGeom>
            <a:avLst/>
            <a:gdLst/>
            <a:ahLst/>
            <a:cxnLst/>
            <a:rect l="l" t="t" r="r" b="b"/>
            <a:pathLst>
              <a:path w="8810625" h="2228850">
                <a:moveTo>
                  <a:pt x="0" y="2228850"/>
                </a:moveTo>
                <a:lnTo>
                  <a:pt x="8810244" y="2228850"/>
                </a:lnTo>
                <a:lnTo>
                  <a:pt x="8810244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39711" y="1828800"/>
            <a:ext cx="2304415" cy="2800350"/>
          </a:xfrm>
          <a:custGeom>
            <a:avLst/>
            <a:gdLst/>
            <a:ahLst/>
            <a:cxnLst/>
            <a:rect l="l" t="t" r="r" b="b"/>
            <a:pathLst>
              <a:path w="2304415" h="2800350">
                <a:moveTo>
                  <a:pt x="0" y="2800350"/>
                </a:moveTo>
                <a:lnTo>
                  <a:pt x="2304288" y="2800350"/>
                </a:lnTo>
                <a:lnTo>
                  <a:pt x="2304288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7605" y="1828800"/>
            <a:ext cx="156210" cy="2800350"/>
          </a:xfrm>
          <a:custGeom>
            <a:avLst/>
            <a:gdLst/>
            <a:ahLst/>
            <a:cxnLst/>
            <a:rect l="l" t="t" r="r" b="b"/>
            <a:pathLst>
              <a:path w="156209" h="2800350">
                <a:moveTo>
                  <a:pt x="0" y="2800350"/>
                </a:moveTo>
                <a:lnTo>
                  <a:pt x="155854" y="2800350"/>
                </a:lnTo>
                <a:lnTo>
                  <a:pt x="155854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11111" y="4983479"/>
            <a:ext cx="2287905" cy="693420"/>
          </a:xfrm>
          <a:prstGeom prst="rect">
            <a:avLst/>
          </a:prstGeom>
          <a:solidFill>
            <a:srgbClr val="CCEBFF"/>
          </a:solidFill>
          <a:ln w="27051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300"/>
              </a:spcBef>
            </a:pPr>
            <a:r>
              <a:rPr sz="2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AHPL</a:t>
            </a:r>
            <a:r>
              <a:rPr sz="2800" b="1" spc="-5" dirty="0">
                <a:solidFill>
                  <a:srgbClr val="006600"/>
                </a:solidFill>
                <a:latin typeface="宋体"/>
                <a:cs typeface="宋体"/>
              </a:rPr>
              <a:t>模拟器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32560" y="2606039"/>
            <a:ext cx="2289175" cy="1390015"/>
          </a:xfrm>
          <a:custGeom>
            <a:avLst/>
            <a:gdLst/>
            <a:ahLst/>
            <a:cxnLst/>
            <a:rect l="l" t="t" r="r" b="b"/>
            <a:pathLst>
              <a:path w="2289175" h="1390014">
                <a:moveTo>
                  <a:pt x="0" y="1389888"/>
                </a:moveTo>
                <a:lnTo>
                  <a:pt x="2289048" y="1389888"/>
                </a:lnTo>
                <a:lnTo>
                  <a:pt x="2289048" y="0"/>
                </a:lnTo>
                <a:lnTo>
                  <a:pt x="0" y="0"/>
                </a:lnTo>
                <a:lnTo>
                  <a:pt x="0" y="1389888"/>
                </a:lnTo>
                <a:close/>
              </a:path>
            </a:pathLst>
          </a:custGeom>
          <a:ln w="26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13460" y="1615439"/>
            <a:ext cx="5826760" cy="3173095"/>
          </a:xfrm>
          <a:custGeom>
            <a:avLst/>
            <a:gdLst/>
            <a:ahLst/>
            <a:cxnLst/>
            <a:rect l="l" t="t" r="r" b="b"/>
            <a:pathLst>
              <a:path w="5826759" h="3173095">
                <a:moveTo>
                  <a:pt x="0" y="3172968"/>
                </a:moveTo>
                <a:lnTo>
                  <a:pt x="5826251" y="3172968"/>
                </a:lnTo>
                <a:lnTo>
                  <a:pt x="5826251" y="0"/>
                </a:lnTo>
                <a:lnTo>
                  <a:pt x="0" y="0"/>
                </a:lnTo>
                <a:lnTo>
                  <a:pt x="0" y="3172968"/>
                </a:lnTo>
                <a:close/>
              </a:path>
            </a:pathLst>
          </a:custGeom>
          <a:solidFill>
            <a:srgbClr val="FF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3460" y="1615439"/>
            <a:ext cx="5826760" cy="3173095"/>
          </a:xfrm>
          <a:custGeom>
            <a:avLst/>
            <a:gdLst/>
            <a:ahLst/>
            <a:cxnLst/>
            <a:rect l="l" t="t" r="r" b="b"/>
            <a:pathLst>
              <a:path w="5826759" h="3173095">
                <a:moveTo>
                  <a:pt x="0" y="3172968"/>
                </a:moveTo>
                <a:lnTo>
                  <a:pt x="5826251" y="3172968"/>
                </a:lnTo>
                <a:lnTo>
                  <a:pt x="5826251" y="0"/>
                </a:lnTo>
                <a:lnTo>
                  <a:pt x="0" y="0"/>
                </a:lnTo>
                <a:lnTo>
                  <a:pt x="0" y="31729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654" y="2798445"/>
            <a:ext cx="9455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AH</a:t>
            </a:r>
            <a:r>
              <a:rPr sz="2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1221" y="2815285"/>
            <a:ext cx="10223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操作表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02" y="3390087"/>
            <a:ext cx="10223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836" y="2653283"/>
            <a:ext cx="2403475" cy="1388745"/>
          </a:xfrm>
          <a:prstGeom prst="rect">
            <a:avLst/>
          </a:prstGeom>
          <a:solidFill>
            <a:srgbClr val="CCEBFF"/>
          </a:solidFill>
          <a:ln w="26987">
            <a:solidFill>
              <a:srgbClr val="00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108585" marR="146685" indent="-5080">
              <a:lnSpc>
                <a:spcPct val="121300"/>
              </a:lnSpc>
              <a:spcBef>
                <a:spcPts val="655"/>
              </a:spcBef>
            </a:pPr>
            <a:r>
              <a:rPr sz="2800" b="1" spc="-10" dirty="0">
                <a:latin typeface="宋体"/>
                <a:cs typeface="宋体"/>
              </a:rPr>
              <a:t>词法分析语法 </a:t>
            </a:r>
            <a:r>
              <a:rPr sz="2800" b="1" spc="-5" dirty="0">
                <a:latin typeface="宋体"/>
                <a:cs typeface="宋体"/>
              </a:rPr>
              <a:t>分析语义处理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3744" y="3431794"/>
            <a:ext cx="1863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（目标程序）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78167" y="6254902"/>
            <a:ext cx="1252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模拟结果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0811" y="2785872"/>
            <a:ext cx="2060575" cy="993775"/>
          </a:xfrm>
          <a:prstGeom prst="rect">
            <a:avLst/>
          </a:prstGeom>
          <a:solidFill>
            <a:srgbClr val="CCEBFF"/>
          </a:solidFill>
          <a:ln w="26987">
            <a:solidFill>
              <a:srgbClr val="000000"/>
            </a:solidFill>
          </a:ln>
        </p:spPr>
        <p:txBody>
          <a:bodyPr vert="horz" wrap="square" lIns="0" tIns="287655" rIns="0" bIns="0" rtlCol="0">
            <a:spAutoFit/>
          </a:bodyPr>
          <a:lstStyle/>
          <a:p>
            <a:pPr marL="358775">
              <a:lnSpc>
                <a:spcPct val="100000"/>
              </a:lnSpc>
              <a:spcBef>
                <a:spcPts val="2265"/>
              </a:spcBef>
            </a:pPr>
            <a:r>
              <a:rPr sz="2800" b="1" spc="-5" dirty="0">
                <a:solidFill>
                  <a:srgbClr val="006600"/>
                </a:solidFill>
                <a:latin typeface="宋体"/>
                <a:cs typeface="宋体"/>
              </a:rPr>
              <a:t>代码生成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823" y="3326891"/>
            <a:ext cx="1068705" cy="0"/>
          </a:xfrm>
          <a:custGeom>
            <a:avLst/>
            <a:gdLst/>
            <a:ahLst/>
            <a:cxnLst/>
            <a:rect l="l" t="t" r="r" b="b"/>
            <a:pathLst>
              <a:path w="1068705">
                <a:moveTo>
                  <a:pt x="0" y="0"/>
                </a:moveTo>
                <a:lnTo>
                  <a:pt x="1068324" y="0"/>
                </a:lnTo>
              </a:path>
            </a:pathLst>
          </a:custGeom>
          <a:ln w="33527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5823" y="3310128"/>
            <a:ext cx="1068705" cy="33655"/>
          </a:xfrm>
          <a:custGeom>
            <a:avLst/>
            <a:gdLst/>
            <a:ahLst/>
            <a:cxnLst/>
            <a:rect l="l" t="t" r="r" b="b"/>
            <a:pathLst>
              <a:path w="1068705" h="33654">
                <a:moveTo>
                  <a:pt x="0" y="33527"/>
                </a:moveTo>
                <a:lnTo>
                  <a:pt x="1068324" y="33527"/>
                </a:lnTo>
                <a:lnTo>
                  <a:pt x="1068324" y="0"/>
                </a:lnTo>
                <a:lnTo>
                  <a:pt x="0" y="0"/>
                </a:lnTo>
                <a:lnTo>
                  <a:pt x="0" y="33527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71765" y="3227641"/>
            <a:ext cx="187833" cy="196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36967" y="3995928"/>
            <a:ext cx="171450" cy="988060"/>
          </a:xfrm>
          <a:custGeom>
            <a:avLst/>
            <a:gdLst/>
            <a:ahLst/>
            <a:cxnLst/>
            <a:rect l="l" t="t" r="r" b="b"/>
            <a:pathLst>
              <a:path w="171450" h="988060">
                <a:moveTo>
                  <a:pt x="57150" y="701802"/>
                </a:moveTo>
                <a:lnTo>
                  <a:pt x="0" y="701802"/>
                </a:lnTo>
                <a:lnTo>
                  <a:pt x="85725" y="987552"/>
                </a:lnTo>
                <a:lnTo>
                  <a:pt x="162877" y="730377"/>
                </a:lnTo>
                <a:lnTo>
                  <a:pt x="57150" y="730377"/>
                </a:lnTo>
                <a:lnTo>
                  <a:pt x="57150" y="701802"/>
                </a:lnTo>
                <a:close/>
              </a:path>
              <a:path w="171450" h="988060">
                <a:moveTo>
                  <a:pt x="114300" y="0"/>
                </a:moveTo>
                <a:lnTo>
                  <a:pt x="57150" y="0"/>
                </a:lnTo>
                <a:lnTo>
                  <a:pt x="57150" y="730377"/>
                </a:lnTo>
                <a:lnTo>
                  <a:pt x="114300" y="730377"/>
                </a:lnTo>
                <a:lnTo>
                  <a:pt x="114300" y="0"/>
                </a:lnTo>
                <a:close/>
              </a:path>
              <a:path w="171450" h="988060">
                <a:moveTo>
                  <a:pt x="171450" y="701802"/>
                </a:moveTo>
                <a:lnTo>
                  <a:pt x="114300" y="701802"/>
                </a:lnTo>
                <a:lnTo>
                  <a:pt x="114300" y="730377"/>
                </a:lnTo>
                <a:lnTo>
                  <a:pt x="162877" y="730377"/>
                </a:lnTo>
                <a:lnTo>
                  <a:pt x="171450" y="70180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12582" y="5676900"/>
            <a:ext cx="171450" cy="596265"/>
          </a:xfrm>
          <a:custGeom>
            <a:avLst/>
            <a:gdLst/>
            <a:ahLst/>
            <a:cxnLst/>
            <a:rect l="l" t="t" r="r" b="b"/>
            <a:pathLst>
              <a:path w="171450" h="596264">
                <a:moveTo>
                  <a:pt x="57150" y="310134"/>
                </a:moveTo>
                <a:lnTo>
                  <a:pt x="0" y="310134"/>
                </a:lnTo>
                <a:lnTo>
                  <a:pt x="85725" y="595884"/>
                </a:lnTo>
                <a:lnTo>
                  <a:pt x="162877" y="338709"/>
                </a:lnTo>
                <a:lnTo>
                  <a:pt x="57150" y="338709"/>
                </a:lnTo>
                <a:lnTo>
                  <a:pt x="57150" y="310134"/>
                </a:lnTo>
                <a:close/>
              </a:path>
              <a:path w="171450" h="596264">
                <a:moveTo>
                  <a:pt x="114300" y="0"/>
                </a:moveTo>
                <a:lnTo>
                  <a:pt x="57150" y="0"/>
                </a:lnTo>
                <a:lnTo>
                  <a:pt x="57150" y="338709"/>
                </a:lnTo>
                <a:lnTo>
                  <a:pt x="114300" y="338709"/>
                </a:lnTo>
                <a:lnTo>
                  <a:pt x="114300" y="0"/>
                </a:lnTo>
                <a:close/>
              </a:path>
              <a:path w="171450" h="596264">
                <a:moveTo>
                  <a:pt x="171450" y="310134"/>
                </a:moveTo>
                <a:lnTo>
                  <a:pt x="114300" y="310134"/>
                </a:lnTo>
                <a:lnTo>
                  <a:pt x="114300" y="338709"/>
                </a:lnTo>
                <a:lnTo>
                  <a:pt x="162877" y="338709"/>
                </a:lnTo>
                <a:lnTo>
                  <a:pt x="171450" y="31013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71259" y="3146679"/>
            <a:ext cx="989330" cy="171450"/>
          </a:xfrm>
          <a:custGeom>
            <a:avLst/>
            <a:gdLst/>
            <a:ahLst/>
            <a:cxnLst/>
            <a:rect l="l" t="t" r="r" b="b"/>
            <a:pathLst>
              <a:path w="989329" h="171450">
                <a:moveTo>
                  <a:pt x="703325" y="0"/>
                </a:moveTo>
                <a:lnTo>
                  <a:pt x="703325" y="171450"/>
                </a:lnTo>
                <a:lnTo>
                  <a:pt x="893825" y="114300"/>
                </a:lnTo>
                <a:lnTo>
                  <a:pt x="731900" y="114300"/>
                </a:lnTo>
                <a:lnTo>
                  <a:pt x="731900" y="57150"/>
                </a:lnTo>
                <a:lnTo>
                  <a:pt x="893825" y="57150"/>
                </a:lnTo>
                <a:lnTo>
                  <a:pt x="703325" y="0"/>
                </a:lnTo>
                <a:close/>
              </a:path>
              <a:path w="989329" h="171450">
                <a:moveTo>
                  <a:pt x="703325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703325" y="114300"/>
                </a:lnTo>
                <a:lnTo>
                  <a:pt x="703325" y="57150"/>
                </a:lnTo>
                <a:close/>
              </a:path>
              <a:path w="989329" h="171450">
                <a:moveTo>
                  <a:pt x="893825" y="57150"/>
                </a:moveTo>
                <a:lnTo>
                  <a:pt x="731900" y="57150"/>
                </a:lnTo>
                <a:lnTo>
                  <a:pt x="731900" y="114300"/>
                </a:lnTo>
                <a:lnTo>
                  <a:pt x="893825" y="114300"/>
                </a:lnTo>
                <a:lnTo>
                  <a:pt x="989075" y="85725"/>
                </a:lnTo>
                <a:lnTo>
                  <a:pt x="893825" y="5715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58946" y="3176016"/>
            <a:ext cx="452755" cy="114300"/>
          </a:xfrm>
          <a:custGeom>
            <a:avLst/>
            <a:gdLst/>
            <a:ahLst/>
            <a:cxnLst/>
            <a:rect l="l" t="t" r="r" b="b"/>
            <a:pathLst>
              <a:path w="452754" h="114300">
                <a:moveTo>
                  <a:pt x="262127" y="0"/>
                </a:moveTo>
                <a:lnTo>
                  <a:pt x="262127" y="114300"/>
                </a:lnTo>
                <a:lnTo>
                  <a:pt x="389127" y="76200"/>
                </a:lnTo>
                <a:lnTo>
                  <a:pt x="281177" y="76200"/>
                </a:lnTo>
                <a:lnTo>
                  <a:pt x="281177" y="38100"/>
                </a:lnTo>
                <a:lnTo>
                  <a:pt x="389127" y="38100"/>
                </a:lnTo>
                <a:lnTo>
                  <a:pt x="262127" y="0"/>
                </a:lnTo>
                <a:close/>
              </a:path>
              <a:path w="452754" h="114300">
                <a:moveTo>
                  <a:pt x="26212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62127" y="76200"/>
                </a:lnTo>
                <a:lnTo>
                  <a:pt x="262127" y="38100"/>
                </a:lnTo>
                <a:close/>
              </a:path>
              <a:path w="452754" h="114300">
                <a:moveTo>
                  <a:pt x="389127" y="38100"/>
                </a:moveTo>
                <a:lnTo>
                  <a:pt x="281177" y="38100"/>
                </a:lnTo>
                <a:lnTo>
                  <a:pt x="281177" y="76200"/>
                </a:lnTo>
                <a:lnTo>
                  <a:pt x="389127" y="76200"/>
                </a:lnTo>
                <a:lnTo>
                  <a:pt x="452627" y="57150"/>
                </a:lnTo>
                <a:lnTo>
                  <a:pt x="389127" y="38100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4939" y="0"/>
            <a:ext cx="8856980" cy="2470785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434975" algn="ctr">
              <a:lnSpc>
                <a:spcPct val="100000"/>
              </a:lnSpc>
              <a:spcBef>
                <a:spcPts val="1714"/>
              </a:spcBef>
              <a:tabLst>
                <a:tab pos="1650364" algn="l"/>
                <a:tab pos="3467100" algn="l"/>
                <a:tab pos="4069079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引论	</a:t>
            </a:r>
            <a:r>
              <a:rPr sz="2400" b="1" spc="-5" dirty="0">
                <a:solidFill>
                  <a:srgbClr val="A15100"/>
                </a:solidFill>
                <a:latin typeface="Times New Roman"/>
                <a:cs typeface="Times New Roman"/>
              </a:rPr>
              <a:t>1.4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编译程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序结构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的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实例模型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华文新魏"/>
              <a:cs typeface="华文新魏"/>
            </a:endParaRPr>
          </a:p>
          <a:p>
            <a:pPr marL="365760" indent="-353695">
              <a:lnSpc>
                <a:spcPct val="100000"/>
              </a:lnSpc>
              <a:buClr>
                <a:srgbClr val="99FF99"/>
              </a:buClr>
              <a:buSzPct val="107812"/>
              <a:buFont typeface="Wingdings"/>
              <a:buChar char=""/>
              <a:tabLst>
                <a:tab pos="366395" algn="l"/>
              </a:tabLst>
            </a:pPr>
            <a:r>
              <a:rPr sz="3200" b="1" u="heavy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Times New Roman"/>
                <a:cs typeface="Times New Roman"/>
              </a:rPr>
              <a:t>AHPL</a:t>
            </a:r>
            <a:r>
              <a:rPr sz="3200" b="1" u="heavy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模拟器（两遍扫</a:t>
            </a:r>
            <a:r>
              <a:rPr sz="3200" b="1" u="heavy" spc="-15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描</a:t>
            </a:r>
            <a:r>
              <a:rPr sz="3200" b="1" u="heavy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的编</a:t>
            </a:r>
            <a:r>
              <a:rPr sz="3200" b="1" u="heavy" spc="-15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译</a:t>
            </a:r>
            <a:r>
              <a:rPr sz="3200" b="1" u="heavy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程序结</a:t>
            </a:r>
            <a:r>
              <a:rPr sz="3200" b="1" u="heavy" spc="-15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构</a:t>
            </a:r>
            <a:r>
              <a:rPr sz="3200" b="1" u="heavy" dirty="0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模型）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800">
              <a:latin typeface="宋体"/>
              <a:cs typeface="宋体"/>
            </a:endParaRPr>
          </a:p>
          <a:p>
            <a:pPr marL="1835785">
              <a:lnSpc>
                <a:spcPct val="100000"/>
              </a:lnSpc>
              <a:tabLst>
                <a:tab pos="4598035" algn="l"/>
              </a:tabLst>
            </a:pPr>
            <a:r>
              <a:rPr sz="2800" b="1" spc="-5" dirty="0">
                <a:latin typeface="宋体"/>
                <a:cs typeface="宋体"/>
              </a:rPr>
              <a:t>第一</a:t>
            </a:r>
            <a:r>
              <a:rPr sz="2800" b="1" spc="-15" dirty="0">
                <a:latin typeface="宋体"/>
                <a:cs typeface="宋体"/>
              </a:rPr>
              <a:t>遍	</a:t>
            </a:r>
            <a:r>
              <a:rPr sz="2800" b="1" spc="-5" dirty="0">
                <a:latin typeface="宋体"/>
                <a:cs typeface="宋体"/>
              </a:rPr>
              <a:t>第二遍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96439" y="1940051"/>
            <a:ext cx="4239260" cy="1089660"/>
          </a:xfrm>
          <a:prstGeom prst="rect">
            <a:avLst/>
          </a:prstGeom>
          <a:solidFill>
            <a:srgbClr val="CCEBFF"/>
          </a:solidFill>
          <a:ln w="26987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43815" marR="113030" algn="ctr">
              <a:lnSpc>
                <a:spcPct val="100000"/>
              </a:lnSpc>
              <a:spcBef>
                <a:spcPts val="785"/>
              </a:spcBef>
            </a:pPr>
            <a:r>
              <a:rPr sz="2600" b="1" dirty="0">
                <a:latin typeface="宋体"/>
                <a:cs typeface="宋体"/>
              </a:rPr>
              <a:t>词法分析语法分析</a:t>
            </a:r>
            <a:endParaRPr sz="2600">
              <a:latin typeface="宋体"/>
              <a:cs typeface="宋体"/>
            </a:endParaRPr>
          </a:p>
          <a:p>
            <a:pPr marL="257810" algn="ctr">
              <a:lnSpc>
                <a:spcPct val="100000"/>
              </a:lnSpc>
              <a:spcBef>
                <a:spcPts val="204"/>
              </a:spcBef>
            </a:pPr>
            <a:r>
              <a:rPr sz="2600" b="1" dirty="0">
                <a:latin typeface="宋体"/>
                <a:cs typeface="宋体"/>
              </a:rPr>
              <a:t>语义处</a:t>
            </a:r>
            <a:r>
              <a:rPr sz="2600" b="1" spc="-175" dirty="0">
                <a:latin typeface="宋体"/>
                <a:cs typeface="宋体"/>
              </a:rPr>
              <a:t>理</a:t>
            </a:r>
            <a:r>
              <a:rPr sz="2600" b="1" dirty="0">
                <a:latin typeface="宋体"/>
                <a:cs typeface="宋体"/>
              </a:rPr>
              <a:t>（中间代码生成）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0238" y="3342894"/>
            <a:ext cx="13544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中间代码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2427" y="3823715"/>
            <a:ext cx="2743200" cy="698500"/>
          </a:xfrm>
          <a:prstGeom prst="rect">
            <a:avLst/>
          </a:prstGeom>
          <a:solidFill>
            <a:srgbClr val="CCEBFF"/>
          </a:solidFill>
          <a:ln w="26987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990"/>
              </a:spcBef>
            </a:pPr>
            <a:r>
              <a:rPr sz="2600" b="1" spc="-5" dirty="0">
                <a:latin typeface="宋体"/>
                <a:cs typeface="宋体"/>
              </a:rPr>
              <a:t>代 码 生</a:t>
            </a:r>
            <a:r>
              <a:rPr sz="2600" b="1" spc="-260" dirty="0">
                <a:latin typeface="宋体"/>
                <a:cs typeface="宋体"/>
              </a:rPr>
              <a:t> </a:t>
            </a:r>
            <a:r>
              <a:rPr sz="2600" b="1" spc="-5" dirty="0">
                <a:latin typeface="宋体"/>
                <a:cs typeface="宋体"/>
              </a:rPr>
              <a:t>成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0716" y="5145023"/>
            <a:ext cx="2741930" cy="696595"/>
          </a:xfrm>
          <a:prstGeom prst="rect">
            <a:avLst/>
          </a:prstGeom>
          <a:solidFill>
            <a:srgbClr val="CCEBFF"/>
          </a:solidFill>
          <a:ln w="26987">
            <a:solidFill>
              <a:srgbClr val="000000"/>
            </a:solidFill>
          </a:ln>
        </p:spPr>
        <p:txBody>
          <a:bodyPr vert="horz" wrap="square" lIns="0" tIns="189230" rIns="0" bIns="0" rtlCol="0">
            <a:spAutoFit/>
          </a:bodyPr>
          <a:lstStyle/>
          <a:p>
            <a:pPr marL="542290">
              <a:lnSpc>
                <a:spcPct val="100000"/>
              </a:lnSpc>
              <a:spcBef>
                <a:spcPts val="1490"/>
              </a:spcBef>
            </a:pPr>
            <a:r>
              <a:rPr sz="2600" b="1" spc="-10" dirty="0">
                <a:latin typeface="宋体"/>
                <a:cs typeface="宋体"/>
              </a:rPr>
              <a:t>代 码 优</a:t>
            </a:r>
            <a:r>
              <a:rPr sz="2600" b="1" spc="-240" dirty="0">
                <a:latin typeface="宋体"/>
                <a:cs typeface="宋体"/>
              </a:rPr>
              <a:t> </a:t>
            </a:r>
            <a:r>
              <a:rPr sz="2600" b="1" spc="-10" dirty="0">
                <a:latin typeface="宋体"/>
                <a:cs typeface="宋体"/>
              </a:rPr>
              <a:t>化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7732" y="6310680"/>
            <a:ext cx="28187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目标代</a:t>
            </a:r>
            <a:r>
              <a:rPr sz="2600" b="1" spc="-10" dirty="0">
                <a:solidFill>
                  <a:srgbClr val="FFFF00"/>
                </a:solidFill>
                <a:latin typeface="宋体"/>
                <a:cs typeface="宋体"/>
              </a:rPr>
              <a:t>码</a:t>
            </a:r>
            <a:r>
              <a:rPr sz="2600" b="1" spc="-305" dirty="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（汇编）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5240" y="1342644"/>
            <a:ext cx="0" cy="454659"/>
          </a:xfrm>
          <a:custGeom>
            <a:avLst/>
            <a:gdLst/>
            <a:ahLst/>
            <a:cxnLst/>
            <a:rect l="l" t="t" r="r" b="b"/>
            <a:pathLst>
              <a:path h="454660">
                <a:moveTo>
                  <a:pt x="0" y="0"/>
                </a:moveTo>
                <a:lnTo>
                  <a:pt x="0" y="454151"/>
                </a:lnTo>
              </a:path>
            </a:pathLst>
          </a:custGeom>
          <a:ln w="2743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1523" y="1342644"/>
            <a:ext cx="27940" cy="454659"/>
          </a:xfrm>
          <a:custGeom>
            <a:avLst/>
            <a:gdLst/>
            <a:ahLst/>
            <a:cxnLst/>
            <a:rect l="l" t="t" r="r" b="b"/>
            <a:pathLst>
              <a:path w="27939" h="454660">
                <a:moveTo>
                  <a:pt x="0" y="454151"/>
                </a:moveTo>
                <a:lnTo>
                  <a:pt x="27432" y="454151"/>
                </a:lnTo>
                <a:lnTo>
                  <a:pt x="27432" y="0"/>
                </a:lnTo>
                <a:lnTo>
                  <a:pt x="0" y="0"/>
                </a:lnTo>
                <a:lnTo>
                  <a:pt x="0" y="454151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41229" y="1785937"/>
            <a:ext cx="158877" cy="155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75709" y="3025901"/>
            <a:ext cx="27940" cy="652780"/>
          </a:xfrm>
          <a:custGeom>
            <a:avLst/>
            <a:gdLst/>
            <a:ahLst/>
            <a:cxnLst/>
            <a:rect l="l" t="t" r="r" b="b"/>
            <a:pathLst>
              <a:path w="27939" h="652779">
                <a:moveTo>
                  <a:pt x="0" y="652272"/>
                </a:moveTo>
                <a:lnTo>
                  <a:pt x="27432" y="652272"/>
                </a:lnTo>
                <a:lnTo>
                  <a:pt x="2743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66184" y="3016376"/>
            <a:ext cx="46990" cy="671830"/>
          </a:xfrm>
          <a:custGeom>
            <a:avLst/>
            <a:gdLst/>
            <a:ahLst/>
            <a:cxnLst/>
            <a:rect l="l" t="t" r="r" b="b"/>
            <a:pathLst>
              <a:path w="46989" h="671829">
                <a:moveTo>
                  <a:pt x="0" y="671322"/>
                </a:moveTo>
                <a:lnTo>
                  <a:pt x="46482" y="671322"/>
                </a:lnTo>
                <a:lnTo>
                  <a:pt x="46482" y="0"/>
                </a:lnTo>
                <a:lnTo>
                  <a:pt x="0" y="0"/>
                </a:lnTo>
                <a:lnTo>
                  <a:pt x="0" y="67132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00653" y="3661028"/>
            <a:ext cx="168401" cy="1653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69614" y="4515611"/>
            <a:ext cx="0" cy="452755"/>
          </a:xfrm>
          <a:custGeom>
            <a:avLst/>
            <a:gdLst/>
            <a:ahLst/>
            <a:cxnLst/>
            <a:rect l="l" t="t" r="r" b="b"/>
            <a:pathLst>
              <a:path h="452754">
                <a:moveTo>
                  <a:pt x="0" y="0"/>
                </a:moveTo>
                <a:lnTo>
                  <a:pt x="0" y="452627"/>
                </a:lnTo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56659" y="4515611"/>
            <a:ext cx="26034" cy="452755"/>
          </a:xfrm>
          <a:custGeom>
            <a:avLst/>
            <a:gdLst/>
            <a:ahLst/>
            <a:cxnLst/>
            <a:rect l="l" t="t" r="r" b="b"/>
            <a:pathLst>
              <a:path w="26035" h="452754">
                <a:moveTo>
                  <a:pt x="0" y="452627"/>
                </a:moveTo>
                <a:lnTo>
                  <a:pt x="25908" y="452627"/>
                </a:lnTo>
                <a:lnTo>
                  <a:pt x="25908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86365" y="4957381"/>
            <a:ext cx="158876" cy="1558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87140" y="5821679"/>
            <a:ext cx="0" cy="352425"/>
          </a:xfrm>
          <a:custGeom>
            <a:avLst/>
            <a:gdLst/>
            <a:ahLst/>
            <a:cxnLst/>
            <a:rect l="l" t="t" r="r" b="b"/>
            <a:pathLst>
              <a:path h="352425">
                <a:moveTo>
                  <a:pt x="0" y="0"/>
                </a:moveTo>
                <a:lnTo>
                  <a:pt x="0" y="352044"/>
                </a:lnTo>
              </a:path>
            </a:pathLst>
          </a:custGeom>
          <a:ln w="2743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73423" y="5821679"/>
            <a:ext cx="27940" cy="352425"/>
          </a:xfrm>
          <a:custGeom>
            <a:avLst/>
            <a:gdLst/>
            <a:ahLst/>
            <a:cxnLst/>
            <a:rect l="l" t="t" r="r" b="b"/>
            <a:pathLst>
              <a:path w="27939" h="352425">
                <a:moveTo>
                  <a:pt x="0" y="352044"/>
                </a:moveTo>
                <a:lnTo>
                  <a:pt x="27432" y="352044"/>
                </a:lnTo>
                <a:lnTo>
                  <a:pt x="27432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9524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04653" y="6162865"/>
            <a:ext cx="158876" cy="155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228338" y="4692522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宋体"/>
                <a:cs typeface="宋体"/>
              </a:rPr>
              <a:t>汇编代码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6542" y="0"/>
            <a:ext cx="7983220" cy="18542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978535">
              <a:lnSpc>
                <a:spcPct val="100000"/>
              </a:lnSpc>
              <a:spcBef>
                <a:spcPts val="785"/>
              </a:spcBef>
              <a:tabLst>
                <a:tab pos="2193290" algn="l"/>
                <a:tab pos="4010660" algn="l"/>
                <a:tab pos="461264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引论	</a:t>
            </a:r>
            <a:r>
              <a:rPr sz="2400" b="1" spc="-5" dirty="0">
                <a:solidFill>
                  <a:srgbClr val="A15100"/>
                </a:solidFill>
                <a:latin typeface="Times New Roman"/>
                <a:cs typeface="Times New Roman"/>
              </a:rPr>
              <a:t>1.</a:t>
            </a: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4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编译程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序结构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的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实例模型</a:t>
            </a:r>
            <a:endParaRPr sz="2400">
              <a:latin typeface="华文新魏"/>
              <a:cs typeface="华文新魏"/>
            </a:endParaRPr>
          </a:p>
          <a:p>
            <a:pPr marL="365760" indent="-353695">
              <a:lnSpc>
                <a:spcPct val="100000"/>
              </a:lnSpc>
              <a:spcBef>
                <a:spcPts val="1270"/>
              </a:spcBef>
              <a:buClr>
                <a:srgbClr val="99FF99"/>
              </a:buClr>
              <a:buSzPct val="107812"/>
              <a:buFont typeface="Wingdings"/>
              <a:buChar char=""/>
              <a:tabLst>
                <a:tab pos="366395" algn="l"/>
              </a:tabLst>
            </a:pPr>
            <a:r>
              <a:rPr sz="3200" b="1" u="heavy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PDP</a:t>
            </a:r>
            <a:r>
              <a:rPr sz="3200" b="1" u="heavy" spc="-200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Arial"/>
                <a:cs typeface="Arial"/>
              </a:rPr>
              <a:t>–</a:t>
            </a:r>
            <a:r>
              <a:rPr sz="3200" b="1" u="heavy" spc="-105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Arial"/>
                <a:cs typeface="Arial"/>
              </a:rPr>
              <a:t> </a:t>
            </a:r>
            <a:r>
              <a:rPr sz="3200" b="1" u="heavy" spc="-90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11</a:t>
            </a:r>
            <a:r>
              <a:rPr sz="3200" b="1" u="heavy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5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3200" b="1" u="heavy" spc="-5" dirty="0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编译器结构模型</a:t>
            </a:r>
            <a:endParaRPr sz="3200">
              <a:latin typeface="宋体"/>
              <a:cs typeface="宋体"/>
            </a:endParaRPr>
          </a:p>
          <a:p>
            <a:pPr marL="1104265" algn="ctr">
              <a:lnSpc>
                <a:spcPct val="100000"/>
              </a:lnSpc>
              <a:spcBef>
                <a:spcPts val="2600"/>
              </a:spcBef>
            </a:pPr>
            <a:r>
              <a:rPr sz="3900" b="1" baseline="3205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3900" b="1" spc="150" baseline="320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00"/>
                </a:solidFill>
                <a:latin typeface="宋体"/>
                <a:cs typeface="宋体"/>
              </a:rPr>
              <a:t>源程序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36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8640" y="4554575"/>
            <a:ext cx="307340" cy="21031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Register</a:t>
            </a:r>
            <a:r>
              <a:rPr sz="2000" b="1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Assigment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4171" y="4608445"/>
            <a:ext cx="307340" cy="22123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Assembly</a:t>
            </a: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3381" y="4629322"/>
            <a:ext cx="307340" cy="21094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9476" y="4596979"/>
            <a:ext cx="612140" cy="20929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Relocatable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Object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790" y="678245"/>
            <a:ext cx="307340" cy="1803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6300" y="1181100"/>
            <a:ext cx="591820" cy="838200"/>
          </a:xfrm>
          <a:custGeom>
            <a:avLst/>
            <a:gdLst/>
            <a:ahLst/>
            <a:cxnLst/>
            <a:rect l="l" t="t" r="r" b="b"/>
            <a:pathLst>
              <a:path w="591819" h="838200">
                <a:moveTo>
                  <a:pt x="0" y="838200"/>
                </a:moveTo>
                <a:lnTo>
                  <a:pt x="591312" y="838200"/>
                </a:lnTo>
                <a:lnTo>
                  <a:pt x="591312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" y="1181100"/>
            <a:ext cx="591820" cy="838200"/>
          </a:xfrm>
          <a:custGeom>
            <a:avLst/>
            <a:gdLst/>
            <a:ahLst/>
            <a:cxnLst/>
            <a:rect l="l" t="t" r="r" b="b"/>
            <a:pathLst>
              <a:path w="591819" h="838200">
                <a:moveTo>
                  <a:pt x="0" y="838200"/>
                </a:moveTo>
                <a:lnTo>
                  <a:pt x="591312" y="838200"/>
                </a:lnTo>
                <a:lnTo>
                  <a:pt x="591312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4430" y="1426209"/>
            <a:ext cx="434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L</a:t>
            </a:r>
            <a:r>
              <a:rPr sz="20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e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90344" y="1239011"/>
            <a:ext cx="1134110" cy="685800"/>
          </a:xfrm>
          <a:custGeom>
            <a:avLst/>
            <a:gdLst/>
            <a:ahLst/>
            <a:cxnLst/>
            <a:rect l="l" t="t" r="r" b="b"/>
            <a:pathLst>
              <a:path w="1134110" h="685800">
                <a:moveTo>
                  <a:pt x="0" y="685800"/>
                </a:moveTo>
                <a:lnTo>
                  <a:pt x="1133856" y="685800"/>
                </a:lnTo>
                <a:lnTo>
                  <a:pt x="1133856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90344" y="1239011"/>
            <a:ext cx="1134110" cy="685800"/>
          </a:xfrm>
          <a:custGeom>
            <a:avLst/>
            <a:gdLst/>
            <a:ahLst/>
            <a:cxnLst/>
            <a:rect l="l" t="t" r="r" b="b"/>
            <a:pathLst>
              <a:path w="1134110" h="685800">
                <a:moveTo>
                  <a:pt x="0" y="685800"/>
                </a:moveTo>
                <a:lnTo>
                  <a:pt x="1133856" y="685800"/>
                </a:lnTo>
                <a:lnTo>
                  <a:pt x="1133856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41295" y="1407413"/>
            <a:ext cx="633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Parse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25042" y="1178656"/>
            <a:ext cx="307340" cy="7950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spc="-18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28644" y="1219200"/>
            <a:ext cx="1134110" cy="759460"/>
          </a:xfrm>
          <a:custGeom>
            <a:avLst/>
            <a:gdLst/>
            <a:ahLst/>
            <a:cxnLst/>
            <a:rect l="l" t="t" r="r" b="b"/>
            <a:pathLst>
              <a:path w="1134110" h="759460">
                <a:moveTo>
                  <a:pt x="0" y="758951"/>
                </a:moveTo>
                <a:lnTo>
                  <a:pt x="1133855" y="758951"/>
                </a:lnTo>
                <a:lnTo>
                  <a:pt x="1133855" y="0"/>
                </a:lnTo>
                <a:lnTo>
                  <a:pt x="0" y="0"/>
                </a:lnTo>
                <a:lnTo>
                  <a:pt x="0" y="758951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28644" y="1219200"/>
            <a:ext cx="1134110" cy="759460"/>
          </a:xfrm>
          <a:custGeom>
            <a:avLst/>
            <a:gdLst/>
            <a:ahLst/>
            <a:cxnLst/>
            <a:rect l="l" t="t" r="r" b="b"/>
            <a:pathLst>
              <a:path w="1134110" h="759460">
                <a:moveTo>
                  <a:pt x="0" y="758951"/>
                </a:moveTo>
                <a:lnTo>
                  <a:pt x="1133855" y="758951"/>
                </a:lnTo>
                <a:lnTo>
                  <a:pt x="1133855" y="0"/>
                </a:lnTo>
                <a:lnTo>
                  <a:pt x="0" y="0"/>
                </a:lnTo>
                <a:lnTo>
                  <a:pt x="0" y="75895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72915" y="1248232"/>
            <a:ext cx="848360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380">
              <a:lnSpc>
                <a:spcPts val="216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Parse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</a:pP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io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n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05044" y="1222247"/>
            <a:ext cx="1134110" cy="759460"/>
          </a:xfrm>
          <a:custGeom>
            <a:avLst/>
            <a:gdLst/>
            <a:ahLst/>
            <a:cxnLst/>
            <a:rect l="l" t="t" r="r" b="b"/>
            <a:pathLst>
              <a:path w="1134110" h="759460">
                <a:moveTo>
                  <a:pt x="0" y="758951"/>
                </a:moveTo>
                <a:lnTo>
                  <a:pt x="1133855" y="758951"/>
                </a:lnTo>
                <a:lnTo>
                  <a:pt x="1133855" y="0"/>
                </a:lnTo>
                <a:lnTo>
                  <a:pt x="0" y="0"/>
                </a:lnTo>
                <a:lnTo>
                  <a:pt x="0" y="758951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05044" y="1222247"/>
            <a:ext cx="1134110" cy="759460"/>
          </a:xfrm>
          <a:custGeom>
            <a:avLst/>
            <a:gdLst/>
            <a:ahLst/>
            <a:cxnLst/>
            <a:rect l="l" t="t" r="r" b="b"/>
            <a:pathLst>
              <a:path w="1134110" h="759460">
                <a:moveTo>
                  <a:pt x="0" y="758951"/>
                </a:moveTo>
                <a:lnTo>
                  <a:pt x="1133855" y="758951"/>
                </a:lnTo>
                <a:lnTo>
                  <a:pt x="1133855" y="0"/>
                </a:lnTo>
                <a:lnTo>
                  <a:pt x="0" y="0"/>
                </a:lnTo>
                <a:lnTo>
                  <a:pt x="0" y="75895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58129" y="1251965"/>
            <a:ext cx="1029969" cy="5746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53340" marR="5080" indent="-41275">
              <a:lnSpc>
                <a:spcPts val="1920"/>
              </a:lnSpc>
              <a:spcBef>
                <a:spcPts val="56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Semantic  Analysis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63156" y="1280160"/>
            <a:ext cx="1134110" cy="685800"/>
          </a:xfrm>
          <a:custGeom>
            <a:avLst/>
            <a:gdLst/>
            <a:ahLst/>
            <a:cxnLst/>
            <a:rect l="l" t="t" r="r" b="b"/>
            <a:pathLst>
              <a:path w="1134109" h="685800">
                <a:moveTo>
                  <a:pt x="0" y="685800"/>
                </a:moveTo>
                <a:lnTo>
                  <a:pt x="1133855" y="685800"/>
                </a:lnTo>
                <a:lnTo>
                  <a:pt x="1133855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63156" y="1280160"/>
            <a:ext cx="1134110" cy="685800"/>
          </a:xfrm>
          <a:custGeom>
            <a:avLst/>
            <a:gdLst/>
            <a:ahLst/>
            <a:cxnLst/>
            <a:rect l="l" t="t" r="r" b="b"/>
            <a:pathLst>
              <a:path w="1134109" h="685800">
                <a:moveTo>
                  <a:pt x="0" y="685800"/>
                </a:moveTo>
                <a:lnTo>
                  <a:pt x="1133855" y="685800"/>
                </a:lnTo>
                <a:lnTo>
                  <a:pt x="1133855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003795" y="1448562"/>
            <a:ext cx="1053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0" dirty="0">
                <a:solidFill>
                  <a:srgbClr val="006600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ranslate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6423" y="997065"/>
            <a:ext cx="307340" cy="12420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Reductions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14977" y="768651"/>
            <a:ext cx="307340" cy="17830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Abstract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Syntax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1758" y="1091122"/>
            <a:ext cx="307340" cy="1053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ranslate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49235" y="1183102"/>
            <a:ext cx="307340" cy="9512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Trees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71943" y="3355847"/>
            <a:ext cx="1134110" cy="685800"/>
          </a:xfrm>
          <a:prstGeom prst="rect">
            <a:avLst/>
          </a:prstGeom>
          <a:solidFill>
            <a:srgbClr val="CCEBFF"/>
          </a:solidFill>
          <a:ln w="9525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400"/>
              </a:lnSpc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r>
              <a:rPr sz="2000" b="1" spc="10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n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o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nic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lizenslate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98008" y="3337559"/>
            <a:ext cx="1240790" cy="685800"/>
          </a:xfrm>
          <a:prstGeom prst="rect">
            <a:avLst/>
          </a:prstGeom>
          <a:solidFill>
            <a:srgbClr val="CCEBFF"/>
          </a:solidFill>
          <a:ln w="9525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33350" marR="3810" indent="-120650">
              <a:lnSpc>
                <a:spcPts val="2160"/>
              </a:lnSpc>
              <a:spcBef>
                <a:spcPts val="290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Ins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ructi</a:t>
            </a:r>
            <a:r>
              <a:rPr sz="20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o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n  Selection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48408" y="3224664"/>
            <a:ext cx="307975" cy="9518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Trees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94014" y="1658873"/>
            <a:ext cx="327660" cy="0"/>
          </a:xfrm>
          <a:custGeom>
            <a:avLst/>
            <a:gdLst/>
            <a:ahLst/>
            <a:cxnLst/>
            <a:rect l="l" t="t" r="r" b="b"/>
            <a:pathLst>
              <a:path w="327659">
                <a:moveTo>
                  <a:pt x="0" y="0"/>
                </a:moveTo>
                <a:lnTo>
                  <a:pt x="32765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21673" y="1658873"/>
            <a:ext cx="0" cy="2019300"/>
          </a:xfrm>
          <a:custGeom>
            <a:avLst/>
            <a:gdLst/>
            <a:ahLst/>
            <a:cxnLst/>
            <a:rect l="l" t="t" r="r" b="b"/>
            <a:pathLst>
              <a:path h="2019300">
                <a:moveTo>
                  <a:pt x="0" y="0"/>
                </a:moveTo>
                <a:lnTo>
                  <a:pt x="0" y="20193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06561" y="3620261"/>
            <a:ext cx="515620" cy="76200"/>
          </a:xfrm>
          <a:custGeom>
            <a:avLst/>
            <a:gdLst/>
            <a:ahLst/>
            <a:cxnLst/>
            <a:rect l="l" t="t" r="r" b="b"/>
            <a:pathLst>
              <a:path w="515620" h="76200">
                <a:moveTo>
                  <a:pt x="114300" y="0"/>
                </a:moveTo>
                <a:lnTo>
                  <a:pt x="0" y="38100"/>
                </a:lnTo>
                <a:lnTo>
                  <a:pt x="114300" y="76200"/>
                </a:lnTo>
                <a:lnTo>
                  <a:pt x="114300" y="57150"/>
                </a:lnTo>
                <a:lnTo>
                  <a:pt x="95250" y="57150"/>
                </a:lnTo>
                <a:lnTo>
                  <a:pt x="95250" y="19050"/>
                </a:lnTo>
                <a:lnTo>
                  <a:pt x="114300" y="19050"/>
                </a:lnTo>
                <a:lnTo>
                  <a:pt x="114300" y="0"/>
                </a:lnTo>
                <a:close/>
              </a:path>
              <a:path w="515620" h="76200">
                <a:moveTo>
                  <a:pt x="114300" y="19050"/>
                </a:moveTo>
                <a:lnTo>
                  <a:pt x="95250" y="19050"/>
                </a:lnTo>
                <a:lnTo>
                  <a:pt x="95250" y="57150"/>
                </a:lnTo>
                <a:lnTo>
                  <a:pt x="114300" y="57150"/>
                </a:lnTo>
                <a:lnTo>
                  <a:pt x="114300" y="19050"/>
                </a:lnTo>
                <a:close/>
              </a:path>
              <a:path w="515620" h="76200">
                <a:moveTo>
                  <a:pt x="515112" y="19050"/>
                </a:moveTo>
                <a:lnTo>
                  <a:pt x="114300" y="19050"/>
                </a:lnTo>
                <a:lnTo>
                  <a:pt x="114300" y="57150"/>
                </a:lnTo>
                <a:lnTo>
                  <a:pt x="515112" y="57150"/>
                </a:lnTo>
                <a:lnTo>
                  <a:pt x="515112" y="190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686555" y="3259835"/>
            <a:ext cx="1203960" cy="866140"/>
          </a:xfrm>
          <a:prstGeom prst="rect">
            <a:avLst/>
          </a:prstGeom>
          <a:solidFill>
            <a:srgbClr val="CCEBFF"/>
          </a:solidFill>
          <a:ln w="9525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42240" marR="133350" indent="-1905" algn="ctr">
              <a:lnSpc>
                <a:spcPts val="1920"/>
              </a:lnSpc>
              <a:spcBef>
                <a:spcPts val="260"/>
              </a:spcBef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Control  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Flow  Analysis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90344" y="3259835"/>
            <a:ext cx="1205865" cy="866140"/>
          </a:xfrm>
          <a:prstGeom prst="rect">
            <a:avLst/>
          </a:prstGeom>
          <a:solidFill>
            <a:srgbClr val="CCEBFF"/>
          </a:solidFill>
          <a:ln w="9525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42875" marR="132715" indent="-3175" algn="ctr">
              <a:lnSpc>
                <a:spcPts val="1920"/>
              </a:lnSpc>
              <a:spcBef>
                <a:spcPts val="260"/>
              </a:spcBef>
            </a:pP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Data  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Flow  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n</a:t>
            </a:r>
            <a:r>
              <a:rPr sz="2000" b="1" spc="10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ly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s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32231" y="3337559"/>
            <a:ext cx="1240790" cy="685800"/>
          </a:xfrm>
          <a:custGeom>
            <a:avLst/>
            <a:gdLst/>
            <a:ahLst/>
            <a:cxnLst/>
            <a:rect l="l" t="t" r="r" b="b"/>
            <a:pathLst>
              <a:path w="1240790" h="685800">
                <a:moveTo>
                  <a:pt x="0" y="685800"/>
                </a:moveTo>
                <a:lnTo>
                  <a:pt x="1240536" y="685800"/>
                </a:lnTo>
                <a:lnTo>
                  <a:pt x="1240536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2231" y="3337559"/>
            <a:ext cx="1240790" cy="685800"/>
          </a:xfrm>
          <a:custGeom>
            <a:avLst/>
            <a:gdLst/>
            <a:ahLst/>
            <a:cxnLst/>
            <a:rect l="l" t="t" r="r" b="b"/>
            <a:pathLst>
              <a:path w="1240790" h="685800">
                <a:moveTo>
                  <a:pt x="0" y="685800"/>
                </a:moveTo>
                <a:lnTo>
                  <a:pt x="1240536" y="685800"/>
                </a:lnTo>
                <a:lnTo>
                  <a:pt x="1240536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32231" y="3326638"/>
            <a:ext cx="124079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62230" marR="53340" indent="104775">
              <a:lnSpc>
                <a:spcPts val="2160"/>
              </a:lnSpc>
              <a:spcBef>
                <a:spcPts val="37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Register  Alloca</a:t>
            </a:r>
            <a:r>
              <a:rPr sz="20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i</a:t>
            </a:r>
            <a:r>
              <a:rPr sz="2000" b="1" spc="-15" dirty="0">
                <a:solidFill>
                  <a:srgbClr val="006600"/>
                </a:solidFill>
                <a:latin typeface="Times New Roman"/>
                <a:cs typeface="Times New Roman"/>
              </a:rPr>
              <a:t>o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3655" y="2628368"/>
            <a:ext cx="307340" cy="21450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Graph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56074" y="3334156"/>
            <a:ext cx="307340" cy="7321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Assem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17850" y="3120611"/>
            <a:ext cx="307340" cy="13493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Graph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01574" y="4042409"/>
            <a:ext cx="0" cy="1826260"/>
          </a:xfrm>
          <a:custGeom>
            <a:avLst/>
            <a:gdLst/>
            <a:ahLst/>
            <a:cxnLst/>
            <a:rect l="l" t="t" r="r" b="b"/>
            <a:pathLst>
              <a:path h="1826260">
                <a:moveTo>
                  <a:pt x="0" y="0"/>
                </a:moveTo>
                <a:lnTo>
                  <a:pt x="0" y="182575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01574" y="5811011"/>
            <a:ext cx="396240" cy="114300"/>
          </a:xfrm>
          <a:custGeom>
            <a:avLst/>
            <a:gdLst/>
            <a:ahLst/>
            <a:cxnLst/>
            <a:rect l="l" t="t" r="r" b="b"/>
            <a:pathLst>
              <a:path w="396240" h="114300">
                <a:moveTo>
                  <a:pt x="281940" y="0"/>
                </a:moveTo>
                <a:lnTo>
                  <a:pt x="281940" y="114300"/>
                </a:lnTo>
                <a:lnTo>
                  <a:pt x="358140" y="76200"/>
                </a:lnTo>
                <a:lnTo>
                  <a:pt x="300990" y="76200"/>
                </a:lnTo>
                <a:lnTo>
                  <a:pt x="300990" y="38100"/>
                </a:lnTo>
                <a:lnTo>
                  <a:pt x="358140" y="38100"/>
                </a:lnTo>
                <a:lnTo>
                  <a:pt x="281940" y="0"/>
                </a:lnTo>
                <a:close/>
              </a:path>
              <a:path w="396240" h="114300">
                <a:moveTo>
                  <a:pt x="2819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81940" y="76200"/>
                </a:lnTo>
                <a:lnTo>
                  <a:pt x="281940" y="38100"/>
                </a:lnTo>
                <a:close/>
              </a:path>
              <a:path w="396240" h="114300">
                <a:moveTo>
                  <a:pt x="358140" y="38100"/>
                </a:moveTo>
                <a:lnTo>
                  <a:pt x="300990" y="38100"/>
                </a:lnTo>
                <a:lnTo>
                  <a:pt x="300990" y="76200"/>
                </a:lnTo>
                <a:lnTo>
                  <a:pt x="358140" y="76200"/>
                </a:lnTo>
                <a:lnTo>
                  <a:pt x="396240" y="57150"/>
                </a:lnTo>
                <a:lnTo>
                  <a:pt x="3581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328927" y="5524500"/>
            <a:ext cx="1240790" cy="685800"/>
          </a:xfrm>
          <a:prstGeom prst="rect">
            <a:avLst/>
          </a:prstGeom>
          <a:solidFill>
            <a:srgbClr val="CCEBFF"/>
          </a:solidFill>
          <a:ln w="9525">
            <a:solidFill>
              <a:srgbClr val="FFFFFF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1270" algn="ctr">
              <a:lnSpc>
                <a:spcPts val="2280"/>
              </a:lnSpc>
              <a:spcBef>
                <a:spcPts val="25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280"/>
              </a:lnSpc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Emission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95827" y="5524500"/>
            <a:ext cx="1170940" cy="685800"/>
          </a:xfrm>
          <a:prstGeom prst="rect">
            <a:avLst/>
          </a:prstGeom>
          <a:solidFill>
            <a:srgbClr val="CCEBFF"/>
          </a:solidFill>
          <a:ln w="9525">
            <a:solidFill>
              <a:srgbClr val="FFFFF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Assemb</a:t>
            </a:r>
            <a:r>
              <a:rPr sz="20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l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44084" y="5468111"/>
            <a:ext cx="1169035" cy="685800"/>
          </a:xfrm>
          <a:prstGeom prst="rect">
            <a:avLst/>
          </a:prstGeom>
          <a:solidFill>
            <a:srgbClr val="CCEBFF"/>
          </a:solidFill>
          <a:ln w="9525">
            <a:solidFill>
              <a:srgbClr val="FFFFFF"/>
            </a:solidFill>
          </a:ln>
        </p:spPr>
        <p:txBody>
          <a:bodyPr vert="horz" wrap="square" lIns="0" tIns="18224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1435"/>
              </a:spcBef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linker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375147" y="76200"/>
            <a:ext cx="989330" cy="434340"/>
          </a:xfrm>
          <a:custGeom>
            <a:avLst/>
            <a:gdLst/>
            <a:ahLst/>
            <a:cxnLst/>
            <a:rect l="l" t="t" r="r" b="b"/>
            <a:pathLst>
              <a:path w="989329" h="434340">
                <a:moveTo>
                  <a:pt x="0" y="434339"/>
                </a:moveTo>
                <a:lnTo>
                  <a:pt x="989076" y="434339"/>
                </a:lnTo>
                <a:lnTo>
                  <a:pt x="989076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solidFill>
            <a:srgbClr val="FF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75147" y="76200"/>
            <a:ext cx="989330" cy="434340"/>
          </a:xfrm>
          <a:custGeom>
            <a:avLst/>
            <a:gdLst/>
            <a:ahLst/>
            <a:cxnLst/>
            <a:rect l="l" t="t" r="r" b="b"/>
            <a:pathLst>
              <a:path w="989329" h="434340">
                <a:moveTo>
                  <a:pt x="0" y="434339"/>
                </a:moveTo>
                <a:lnTo>
                  <a:pt x="989076" y="434339"/>
                </a:lnTo>
                <a:lnTo>
                  <a:pt x="989076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01970" y="122682"/>
            <a:ext cx="537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006600"/>
                </a:solidFill>
                <a:latin typeface="宋体"/>
                <a:cs typeface="宋体"/>
              </a:rPr>
              <a:t>环境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527294" y="736549"/>
            <a:ext cx="7239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0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ables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72959" y="2107183"/>
            <a:ext cx="7467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00"/>
                </a:solidFill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96456" y="2479548"/>
            <a:ext cx="1760220" cy="436245"/>
          </a:xfrm>
          <a:prstGeom prst="rect">
            <a:avLst/>
          </a:prstGeom>
          <a:solidFill>
            <a:srgbClr val="FFCDCD"/>
          </a:solidFill>
          <a:ln w="9525">
            <a:solidFill>
              <a:srgbClr val="FFFFF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450"/>
              </a:spcBef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Frame</a:t>
            </a:r>
            <a:r>
              <a:rPr sz="2000" b="1" spc="-4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Layout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327152" y="63499"/>
            <a:ext cx="3746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15" dirty="0">
                <a:uFill>
                  <a:solidFill>
                    <a:srgbClr val="FFFF00"/>
                  </a:solidFill>
                </a:uFill>
              </a:rPr>
              <a:t>Tiger </a:t>
            </a:r>
            <a:r>
              <a:rPr sz="2800" u="heavy" spc="-5" dirty="0">
                <a:uFill>
                  <a:solidFill>
                    <a:srgbClr val="FFFF00"/>
                  </a:solidFill>
                </a:uFill>
              </a:rPr>
              <a:t>compiler</a:t>
            </a:r>
            <a:r>
              <a:rPr sz="2800" u="heavy" spc="-140" dirty="0">
                <a:uFill>
                  <a:solidFill>
                    <a:srgbClr val="FFFF00"/>
                  </a:solidFill>
                </a:uFill>
              </a:rPr>
              <a:t> </a:t>
            </a:r>
            <a:r>
              <a:rPr sz="2800" u="heavy" spc="-10" dirty="0">
                <a:uFill>
                  <a:solidFill>
                    <a:srgbClr val="FFFF00"/>
                  </a:solidFill>
                </a:uFill>
              </a:rPr>
              <a:t>structure</a:t>
            </a:r>
            <a:endParaRPr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" y="6258864"/>
            <a:ext cx="3523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99FF66"/>
                </a:solidFill>
                <a:latin typeface="Times New Roman"/>
                <a:cs typeface="Times New Roman"/>
              </a:rPr>
              <a:t>Gcc </a:t>
            </a:r>
            <a:r>
              <a:rPr sz="2800" b="1" spc="-5" dirty="0">
                <a:solidFill>
                  <a:srgbClr val="99FF66"/>
                </a:solidFill>
                <a:latin typeface="Times New Roman"/>
                <a:cs typeface="Times New Roman"/>
              </a:rPr>
              <a:t>compiler</a:t>
            </a:r>
            <a:r>
              <a:rPr sz="2800" b="1" spc="-75" dirty="0">
                <a:solidFill>
                  <a:srgbClr val="99FF66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99FF66"/>
                </a:solidFill>
                <a:latin typeface="Times New Roman"/>
                <a:cs typeface="Times New Roman"/>
              </a:rPr>
              <a:t>structure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132" y="6664452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579" y="0"/>
                </a:lnTo>
              </a:path>
            </a:pathLst>
          </a:custGeom>
          <a:ln w="16764">
            <a:solidFill>
              <a:srgbClr val="99F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3261" y="343661"/>
            <a:ext cx="15240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3261" y="343661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700"/>
                </a:moveTo>
                <a:lnTo>
                  <a:pt x="12275" y="218753"/>
                </a:lnTo>
                <a:lnTo>
                  <a:pt x="47668" y="173629"/>
                </a:lnTo>
                <a:lnTo>
                  <a:pt x="104027" y="132080"/>
                </a:lnTo>
                <a:lnTo>
                  <a:pt x="139396" y="112881"/>
                </a:lnTo>
                <a:lnTo>
                  <a:pt x="179200" y="94858"/>
                </a:lnTo>
                <a:lnTo>
                  <a:pt x="223170" y="78105"/>
                </a:lnTo>
                <a:lnTo>
                  <a:pt x="271037" y="62716"/>
                </a:lnTo>
                <a:lnTo>
                  <a:pt x="322533" y="48785"/>
                </a:lnTo>
                <a:lnTo>
                  <a:pt x="377387" y="36406"/>
                </a:lnTo>
                <a:lnTo>
                  <a:pt x="435332" y="25674"/>
                </a:lnTo>
                <a:lnTo>
                  <a:pt x="496098" y="16682"/>
                </a:lnTo>
                <a:lnTo>
                  <a:pt x="559417" y="9525"/>
                </a:lnTo>
                <a:lnTo>
                  <a:pt x="625019" y="4296"/>
                </a:lnTo>
                <a:lnTo>
                  <a:pt x="692636" y="1089"/>
                </a:lnTo>
                <a:lnTo>
                  <a:pt x="762000" y="0"/>
                </a:lnTo>
                <a:lnTo>
                  <a:pt x="831363" y="1089"/>
                </a:lnTo>
                <a:lnTo>
                  <a:pt x="898980" y="4296"/>
                </a:lnTo>
                <a:lnTo>
                  <a:pt x="964582" y="9525"/>
                </a:lnTo>
                <a:lnTo>
                  <a:pt x="1027901" y="16682"/>
                </a:lnTo>
                <a:lnTo>
                  <a:pt x="1088667" y="25674"/>
                </a:lnTo>
                <a:lnTo>
                  <a:pt x="1146612" y="36406"/>
                </a:lnTo>
                <a:lnTo>
                  <a:pt x="1201466" y="48785"/>
                </a:lnTo>
                <a:lnTo>
                  <a:pt x="1252962" y="62716"/>
                </a:lnTo>
                <a:lnTo>
                  <a:pt x="1300829" y="78105"/>
                </a:lnTo>
                <a:lnTo>
                  <a:pt x="1344799" y="94858"/>
                </a:lnTo>
                <a:lnTo>
                  <a:pt x="1384603" y="112881"/>
                </a:lnTo>
                <a:lnTo>
                  <a:pt x="1419972" y="132080"/>
                </a:lnTo>
                <a:lnTo>
                  <a:pt x="1476331" y="173629"/>
                </a:lnTo>
                <a:lnTo>
                  <a:pt x="1511724" y="218753"/>
                </a:lnTo>
                <a:lnTo>
                  <a:pt x="1524000" y="266700"/>
                </a:lnTo>
                <a:lnTo>
                  <a:pt x="1520886" y="290978"/>
                </a:lnTo>
                <a:lnTo>
                  <a:pt x="1496783" y="337608"/>
                </a:lnTo>
                <a:lnTo>
                  <a:pt x="1450638" y="381039"/>
                </a:lnTo>
                <a:lnTo>
                  <a:pt x="1384603" y="420518"/>
                </a:lnTo>
                <a:lnTo>
                  <a:pt x="1344799" y="438541"/>
                </a:lnTo>
                <a:lnTo>
                  <a:pt x="1300829" y="455295"/>
                </a:lnTo>
                <a:lnTo>
                  <a:pt x="1252962" y="470683"/>
                </a:lnTo>
                <a:lnTo>
                  <a:pt x="1201466" y="484614"/>
                </a:lnTo>
                <a:lnTo>
                  <a:pt x="1146612" y="496993"/>
                </a:lnTo>
                <a:lnTo>
                  <a:pt x="1088667" y="507725"/>
                </a:lnTo>
                <a:lnTo>
                  <a:pt x="1027901" y="516717"/>
                </a:lnTo>
                <a:lnTo>
                  <a:pt x="964582" y="523875"/>
                </a:lnTo>
                <a:lnTo>
                  <a:pt x="898980" y="529103"/>
                </a:lnTo>
                <a:lnTo>
                  <a:pt x="831363" y="532310"/>
                </a:lnTo>
                <a:lnTo>
                  <a:pt x="762000" y="533400"/>
                </a:lnTo>
                <a:lnTo>
                  <a:pt x="692636" y="532310"/>
                </a:lnTo>
                <a:lnTo>
                  <a:pt x="625019" y="529103"/>
                </a:lnTo>
                <a:lnTo>
                  <a:pt x="559417" y="523875"/>
                </a:lnTo>
                <a:lnTo>
                  <a:pt x="496098" y="516717"/>
                </a:lnTo>
                <a:lnTo>
                  <a:pt x="435332" y="507725"/>
                </a:lnTo>
                <a:lnTo>
                  <a:pt x="377387" y="496993"/>
                </a:lnTo>
                <a:lnTo>
                  <a:pt x="322533" y="484614"/>
                </a:lnTo>
                <a:lnTo>
                  <a:pt x="271037" y="470683"/>
                </a:lnTo>
                <a:lnTo>
                  <a:pt x="223170" y="455294"/>
                </a:lnTo>
                <a:lnTo>
                  <a:pt x="179200" y="438541"/>
                </a:lnTo>
                <a:lnTo>
                  <a:pt x="139396" y="420518"/>
                </a:lnTo>
                <a:lnTo>
                  <a:pt x="104027" y="401319"/>
                </a:lnTo>
                <a:lnTo>
                  <a:pt x="47668" y="359770"/>
                </a:lnTo>
                <a:lnTo>
                  <a:pt x="12275" y="314646"/>
                </a:lnTo>
                <a:lnTo>
                  <a:pt x="0" y="2667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1311" y="452373"/>
            <a:ext cx="1444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C++source</a:t>
            </a:r>
            <a:r>
              <a:rPr sz="1800" b="1" spc="-4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6461" y="305561"/>
            <a:ext cx="15240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96461" y="305561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700"/>
                </a:moveTo>
                <a:lnTo>
                  <a:pt x="12275" y="218753"/>
                </a:lnTo>
                <a:lnTo>
                  <a:pt x="47668" y="173629"/>
                </a:lnTo>
                <a:lnTo>
                  <a:pt x="104027" y="132080"/>
                </a:lnTo>
                <a:lnTo>
                  <a:pt x="139396" y="112881"/>
                </a:lnTo>
                <a:lnTo>
                  <a:pt x="179200" y="94858"/>
                </a:lnTo>
                <a:lnTo>
                  <a:pt x="223170" y="78105"/>
                </a:lnTo>
                <a:lnTo>
                  <a:pt x="271037" y="62716"/>
                </a:lnTo>
                <a:lnTo>
                  <a:pt x="322533" y="48785"/>
                </a:lnTo>
                <a:lnTo>
                  <a:pt x="377387" y="36406"/>
                </a:lnTo>
                <a:lnTo>
                  <a:pt x="435332" y="25674"/>
                </a:lnTo>
                <a:lnTo>
                  <a:pt x="496098" y="16682"/>
                </a:lnTo>
                <a:lnTo>
                  <a:pt x="559417" y="9525"/>
                </a:lnTo>
                <a:lnTo>
                  <a:pt x="625019" y="4296"/>
                </a:lnTo>
                <a:lnTo>
                  <a:pt x="692636" y="1089"/>
                </a:lnTo>
                <a:lnTo>
                  <a:pt x="762000" y="0"/>
                </a:lnTo>
                <a:lnTo>
                  <a:pt x="831363" y="1089"/>
                </a:lnTo>
                <a:lnTo>
                  <a:pt x="898980" y="4296"/>
                </a:lnTo>
                <a:lnTo>
                  <a:pt x="964582" y="9525"/>
                </a:lnTo>
                <a:lnTo>
                  <a:pt x="1027901" y="16682"/>
                </a:lnTo>
                <a:lnTo>
                  <a:pt x="1088667" y="25674"/>
                </a:lnTo>
                <a:lnTo>
                  <a:pt x="1146612" y="36406"/>
                </a:lnTo>
                <a:lnTo>
                  <a:pt x="1201466" y="48785"/>
                </a:lnTo>
                <a:lnTo>
                  <a:pt x="1252962" y="62716"/>
                </a:lnTo>
                <a:lnTo>
                  <a:pt x="1300829" y="78104"/>
                </a:lnTo>
                <a:lnTo>
                  <a:pt x="1344799" y="94858"/>
                </a:lnTo>
                <a:lnTo>
                  <a:pt x="1384603" y="112881"/>
                </a:lnTo>
                <a:lnTo>
                  <a:pt x="1419972" y="132079"/>
                </a:lnTo>
                <a:lnTo>
                  <a:pt x="1476331" y="173629"/>
                </a:lnTo>
                <a:lnTo>
                  <a:pt x="1511724" y="218753"/>
                </a:lnTo>
                <a:lnTo>
                  <a:pt x="1524000" y="266700"/>
                </a:lnTo>
                <a:lnTo>
                  <a:pt x="1520886" y="290978"/>
                </a:lnTo>
                <a:lnTo>
                  <a:pt x="1496783" y="337608"/>
                </a:lnTo>
                <a:lnTo>
                  <a:pt x="1450638" y="381039"/>
                </a:lnTo>
                <a:lnTo>
                  <a:pt x="1384603" y="420518"/>
                </a:lnTo>
                <a:lnTo>
                  <a:pt x="1344799" y="438541"/>
                </a:lnTo>
                <a:lnTo>
                  <a:pt x="1300829" y="455295"/>
                </a:lnTo>
                <a:lnTo>
                  <a:pt x="1252962" y="470683"/>
                </a:lnTo>
                <a:lnTo>
                  <a:pt x="1201466" y="484614"/>
                </a:lnTo>
                <a:lnTo>
                  <a:pt x="1146612" y="496993"/>
                </a:lnTo>
                <a:lnTo>
                  <a:pt x="1088667" y="507725"/>
                </a:lnTo>
                <a:lnTo>
                  <a:pt x="1027901" y="516717"/>
                </a:lnTo>
                <a:lnTo>
                  <a:pt x="964582" y="523875"/>
                </a:lnTo>
                <a:lnTo>
                  <a:pt x="898980" y="529103"/>
                </a:lnTo>
                <a:lnTo>
                  <a:pt x="831363" y="532310"/>
                </a:lnTo>
                <a:lnTo>
                  <a:pt x="762000" y="533400"/>
                </a:lnTo>
                <a:lnTo>
                  <a:pt x="692636" y="532310"/>
                </a:lnTo>
                <a:lnTo>
                  <a:pt x="625019" y="529103"/>
                </a:lnTo>
                <a:lnTo>
                  <a:pt x="559417" y="523875"/>
                </a:lnTo>
                <a:lnTo>
                  <a:pt x="496098" y="516717"/>
                </a:lnTo>
                <a:lnTo>
                  <a:pt x="435332" y="507725"/>
                </a:lnTo>
                <a:lnTo>
                  <a:pt x="377387" y="496993"/>
                </a:lnTo>
                <a:lnTo>
                  <a:pt x="322533" y="484614"/>
                </a:lnTo>
                <a:lnTo>
                  <a:pt x="271037" y="470683"/>
                </a:lnTo>
                <a:lnTo>
                  <a:pt x="223170" y="455294"/>
                </a:lnTo>
                <a:lnTo>
                  <a:pt x="179200" y="438541"/>
                </a:lnTo>
                <a:lnTo>
                  <a:pt x="139396" y="420518"/>
                </a:lnTo>
                <a:lnTo>
                  <a:pt x="104027" y="401319"/>
                </a:lnTo>
                <a:lnTo>
                  <a:pt x="47668" y="359770"/>
                </a:lnTo>
                <a:lnTo>
                  <a:pt x="12275" y="314646"/>
                </a:lnTo>
                <a:lnTo>
                  <a:pt x="0" y="2667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30161" y="305561"/>
            <a:ext cx="15240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30161" y="305561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700"/>
                </a:moveTo>
                <a:lnTo>
                  <a:pt x="12275" y="218753"/>
                </a:lnTo>
                <a:lnTo>
                  <a:pt x="47668" y="173629"/>
                </a:lnTo>
                <a:lnTo>
                  <a:pt x="104027" y="132080"/>
                </a:lnTo>
                <a:lnTo>
                  <a:pt x="139396" y="112881"/>
                </a:lnTo>
                <a:lnTo>
                  <a:pt x="179200" y="94858"/>
                </a:lnTo>
                <a:lnTo>
                  <a:pt x="223170" y="78105"/>
                </a:lnTo>
                <a:lnTo>
                  <a:pt x="271037" y="62716"/>
                </a:lnTo>
                <a:lnTo>
                  <a:pt x="322533" y="48785"/>
                </a:lnTo>
                <a:lnTo>
                  <a:pt x="377387" y="36406"/>
                </a:lnTo>
                <a:lnTo>
                  <a:pt x="435332" y="25674"/>
                </a:lnTo>
                <a:lnTo>
                  <a:pt x="496098" y="16682"/>
                </a:lnTo>
                <a:lnTo>
                  <a:pt x="559417" y="9525"/>
                </a:lnTo>
                <a:lnTo>
                  <a:pt x="625019" y="4296"/>
                </a:lnTo>
                <a:lnTo>
                  <a:pt x="692636" y="1089"/>
                </a:lnTo>
                <a:lnTo>
                  <a:pt x="762000" y="0"/>
                </a:lnTo>
                <a:lnTo>
                  <a:pt x="831363" y="1089"/>
                </a:lnTo>
                <a:lnTo>
                  <a:pt x="898980" y="4296"/>
                </a:lnTo>
                <a:lnTo>
                  <a:pt x="964582" y="9525"/>
                </a:lnTo>
                <a:lnTo>
                  <a:pt x="1027901" y="16682"/>
                </a:lnTo>
                <a:lnTo>
                  <a:pt x="1088667" y="25674"/>
                </a:lnTo>
                <a:lnTo>
                  <a:pt x="1146612" y="36406"/>
                </a:lnTo>
                <a:lnTo>
                  <a:pt x="1201466" y="48785"/>
                </a:lnTo>
                <a:lnTo>
                  <a:pt x="1252962" y="62716"/>
                </a:lnTo>
                <a:lnTo>
                  <a:pt x="1300829" y="78104"/>
                </a:lnTo>
                <a:lnTo>
                  <a:pt x="1344799" y="94858"/>
                </a:lnTo>
                <a:lnTo>
                  <a:pt x="1384603" y="112881"/>
                </a:lnTo>
                <a:lnTo>
                  <a:pt x="1419972" y="132079"/>
                </a:lnTo>
                <a:lnTo>
                  <a:pt x="1476331" y="173629"/>
                </a:lnTo>
                <a:lnTo>
                  <a:pt x="1511724" y="218753"/>
                </a:lnTo>
                <a:lnTo>
                  <a:pt x="1524000" y="266700"/>
                </a:lnTo>
                <a:lnTo>
                  <a:pt x="1520886" y="290978"/>
                </a:lnTo>
                <a:lnTo>
                  <a:pt x="1496783" y="337608"/>
                </a:lnTo>
                <a:lnTo>
                  <a:pt x="1450638" y="381039"/>
                </a:lnTo>
                <a:lnTo>
                  <a:pt x="1384603" y="420518"/>
                </a:lnTo>
                <a:lnTo>
                  <a:pt x="1344799" y="438541"/>
                </a:lnTo>
                <a:lnTo>
                  <a:pt x="1300829" y="455295"/>
                </a:lnTo>
                <a:lnTo>
                  <a:pt x="1252962" y="470683"/>
                </a:lnTo>
                <a:lnTo>
                  <a:pt x="1201466" y="484614"/>
                </a:lnTo>
                <a:lnTo>
                  <a:pt x="1146612" y="496993"/>
                </a:lnTo>
                <a:lnTo>
                  <a:pt x="1088667" y="507725"/>
                </a:lnTo>
                <a:lnTo>
                  <a:pt x="1027901" y="516717"/>
                </a:lnTo>
                <a:lnTo>
                  <a:pt x="964582" y="523875"/>
                </a:lnTo>
                <a:lnTo>
                  <a:pt x="898980" y="529103"/>
                </a:lnTo>
                <a:lnTo>
                  <a:pt x="831363" y="532310"/>
                </a:lnTo>
                <a:lnTo>
                  <a:pt x="762000" y="533400"/>
                </a:lnTo>
                <a:lnTo>
                  <a:pt x="692636" y="532310"/>
                </a:lnTo>
                <a:lnTo>
                  <a:pt x="625019" y="529103"/>
                </a:lnTo>
                <a:lnTo>
                  <a:pt x="559417" y="523875"/>
                </a:lnTo>
                <a:lnTo>
                  <a:pt x="496098" y="516717"/>
                </a:lnTo>
                <a:lnTo>
                  <a:pt x="435332" y="507725"/>
                </a:lnTo>
                <a:lnTo>
                  <a:pt x="377387" y="496993"/>
                </a:lnTo>
                <a:lnTo>
                  <a:pt x="322533" y="484614"/>
                </a:lnTo>
                <a:lnTo>
                  <a:pt x="271037" y="470683"/>
                </a:lnTo>
                <a:lnTo>
                  <a:pt x="223170" y="455294"/>
                </a:lnTo>
                <a:lnTo>
                  <a:pt x="179200" y="438541"/>
                </a:lnTo>
                <a:lnTo>
                  <a:pt x="139396" y="420518"/>
                </a:lnTo>
                <a:lnTo>
                  <a:pt x="104027" y="401319"/>
                </a:lnTo>
                <a:lnTo>
                  <a:pt x="47668" y="359770"/>
                </a:lnTo>
                <a:lnTo>
                  <a:pt x="12275" y="314646"/>
                </a:lnTo>
                <a:lnTo>
                  <a:pt x="0" y="2667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88022" y="414273"/>
            <a:ext cx="1209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 </a:t>
            </a: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12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3261" y="1258061"/>
            <a:ext cx="1600200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3261" y="1258061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1000"/>
                </a:moveTo>
                <a:lnTo>
                  <a:pt x="1600200" y="381000"/>
                </a:lnTo>
                <a:lnTo>
                  <a:pt x="16002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53261" y="1241805"/>
            <a:ext cx="160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C++</a:t>
            </a:r>
            <a:r>
              <a:rPr sz="2400" b="1" spc="-4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Parser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08070" y="1258061"/>
            <a:ext cx="1600200" cy="381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08070" y="1258061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0" y="381000"/>
                </a:moveTo>
                <a:lnTo>
                  <a:pt x="1600200" y="381000"/>
                </a:lnTo>
                <a:lnTo>
                  <a:pt x="16002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36975" y="414273"/>
            <a:ext cx="1340485" cy="121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 </a:t>
            </a: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7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1645" algn="l"/>
              </a:tabLst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	Pars</a:t>
            </a:r>
            <a:r>
              <a:rPr sz="2400" b="1" spc="5" dirty="0">
                <a:solidFill>
                  <a:srgbClr val="333399"/>
                </a:solidFill>
                <a:latin typeface="Times New Roman"/>
                <a:cs typeface="Times New Roman"/>
              </a:rPr>
              <a:t>e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3061" y="2172461"/>
            <a:ext cx="2438400" cy="533400"/>
          </a:xfrm>
          <a:custGeom>
            <a:avLst/>
            <a:gdLst/>
            <a:ahLst/>
            <a:cxnLst/>
            <a:rect l="l" t="t" r="r" b="b"/>
            <a:pathLst>
              <a:path w="2438400" h="533400">
                <a:moveTo>
                  <a:pt x="0" y="266700"/>
                </a:moveTo>
                <a:lnTo>
                  <a:pt x="19642" y="218753"/>
                </a:lnTo>
                <a:lnTo>
                  <a:pt x="53500" y="188310"/>
                </a:lnTo>
                <a:lnTo>
                  <a:pt x="102777" y="159345"/>
                </a:lnTo>
                <a:lnTo>
                  <a:pt x="166454" y="132079"/>
                </a:lnTo>
                <a:lnTo>
                  <a:pt x="203374" y="119154"/>
                </a:lnTo>
                <a:lnTo>
                  <a:pt x="243511" y="106738"/>
                </a:lnTo>
                <a:lnTo>
                  <a:pt x="286737" y="94858"/>
                </a:lnTo>
                <a:lnTo>
                  <a:pt x="332926" y="83542"/>
                </a:lnTo>
                <a:lnTo>
                  <a:pt x="381950" y="72819"/>
                </a:lnTo>
                <a:lnTo>
                  <a:pt x="433681" y="62716"/>
                </a:lnTo>
                <a:lnTo>
                  <a:pt x="487992" y="53261"/>
                </a:lnTo>
                <a:lnTo>
                  <a:pt x="544755" y="44481"/>
                </a:lnTo>
                <a:lnTo>
                  <a:pt x="603842" y="36406"/>
                </a:lnTo>
                <a:lnTo>
                  <a:pt x="665127" y="29063"/>
                </a:lnTo>
                <a:lnTo>
                  <a:pt x="728481" y="22479"/>
                </a:lnTo>
                <a:lnTo>
                  <a:pt x="793778" y="16682"/>
                </a:lnTo>
                <a:lnTo>
                  <a:pt x="860889" y="11701"/>
                </a:lnTo>
                <a:lnTo>
                  <a:pt x="929687" y="7563"/>
                </a:lnTo>
                <a:lnTo>
                  <a:pt x="1000045" y="4296"/>
                </a:lnTo>
                <a:lnTo>
                  <a:pt x="1071834" y="1927"/>
                </a:lnTo>
                <a:lnTo>
                  <a:pt x="1144928" y="486"/>
                </a:lnTo>
                <a:lnTo>
                  <a:pt x="1219200" y="0"/>
                </a:lnTo>
                <a:lnTo>
                  <a:pt x="1293471" y="486"/>
                </a:lnTo>
                <a:lnTo>
                  <a:pt x="1366565" y="1927"/>
                </a:lnTo>
                <a:lnTo>
                  <a:pt x="1438354" y="4296"/>
                </a:lnTo>
                <a:lnTo>
                  <a:pt x="1508712" y="7563"/>
                </a:lnTo>
                <a:lnTo>
                  <a:pt x="1577510" y="11701"/>
                </a:lnTo>
                <a:lnTo>
                  <a:pt x="1644621" y="16682"/>
                </a:lnTo>
                <a:lnTo>
                  <a:pt x="1709918" y="22479"/>
                </a:lnTo>
                <a:lnTo>
                  <a:pt x="1773272" y="29063"/>
                </a:lnTo>
                <a:lnTo>
                  <a:pt x="1834557" y="36406"/>
                </a:lnTo>
                <a:lnTo>
                  <a:pt x="1893644" y="44481"/>
                </a:lnTo>
                <a:lnTo>
                  <a:pt x="1950407" y="53261"/>
                </a:lnTo>
                <a:lnTo>
                  <a:pt x="2004718" y="62716"/>
                </a:lnTo>
                <a:lnTo>
                  <a:pt x="2056449" y="72819"/>
                </a:lnTo>
                <a:lnTo>
                  <a:pt x="2105473" y="83542"/>
                </a:lnTo>
                <a:lnTo>
                  <a:pt x="2151662" y="94858"/>
                </a:lnTo>
                <a:lnTo>
                  <a:pt x="2194888" y="106738"/>
                </a:lnTo>
                <a:lnTo>
                  <a:pt x="2235025" y="119154"/>
                </a:lnTo>
                <a:lnTo>
                  <a:pt x="2271945" y="132080"/>
                </a:lnTo>
                <a:lnTo>
                  <a:pt x="2335622" y="159345"/>
                </a:lnTo>
                <a:lnTo>
                  <a:pt x="2384899" y="188310"/>
                </a:lnTo>
                <a:lnTo>
                  <a:pt x="2418757" y="218753"/>
                </a:lnTo>
                <a:lnTo>
                  <a:pt x="2438400" y="266700"/>
                </a:lnTo>
                <a:lnTo>
                  <a:pt x="2436174" y="282949"/>
                </a:lnTo>
                <a:lnTo>
                  <a:pt x="2403819" y="330038"/>
                </a:lnTo>
                <a:lnTo>
                  <a:pt x="2362124" y="359770"/>
                </a:lnTo>
                <a:lnTo>
                  <a:pt x="2305520" y="387913"/>
                </a:lnTo>
                <a:lnTo>
                  <a:pt x="2235025" y="414245"/>
                </a:lnTo>
                <a:lnTo>
                  <a:pt x="2194888" y="426661"/>
                </a:lnTo>
                <a:lnTo>
                  <a:pt x="2151662" y="438541"/>
                </a:lnTo>
                <a:lnTo>
                  <a:pt x="2105473" y="449857"/>
                </a:lnTo>
                <a:lnTo>
                  <a:pt x="2056449" y="460580"/>
                </a:lnTo>
                <a:lnTo>
                  <a:pt x="2004718" y="470683"/>
                </a:lnTo>
                <a:lnTo>
                  <a:pt x="1950407" y="480138"/>
                </a:lnTo>
                <a:lnTo>
                  <a:pt x="1893644" y="488918"/>
                </a:lnTo>
                <a:lnTo>
                  <a:pt x="1834557" y="496993"/>
                </a:lnTo>
                <a:lnTo>
                  <a:pt x="1773272" y="504336"/>
                </a:lnTo>
                <a:lnTo>
                  <a:pt x="1709918" y="510920"/>
                </a:lnTo>
                <a:lnTo>
                  <a:pt x="1644621" y="516717"/>
                </a:lnTo>
                <a:lnTo>
                  <a:pt x="1577510" y="521698"/>
                </a:lnTo>
                <a:lnTo>
                  <a:pt x="1508712" y="525836"/>
                </a:lnTo>
                <a:lnTo>
                  <a:pt x="1438354" y="529103"/>
                </a:lnTo>
                <a:lnTo>
                  <a:pt x="1366565" y="531472"/>
                </a:lnTo>
                <a:lnTo>
                  <a:pt x="1293471" y="532913"/>
                </a:lnTo>
                <a:lnTo>
                  <a:pt x="1219200" y="533400"/>
                </a:lnTo>
                <a:lnTo>
                  <a:pt x="1144928" y="532913"/>
                </a:lnTo>
                <a:lnTo>
                  <a:pt x="1071834" y="531472"/>
                </a:lnTo>
                <a:lnTo>
                  <a:pt x="1000045" y="529103"/>
                </a:lnTo>
                <a:lnTo>
                  <a:pt x="929687" y="525836"/>
                </a:lnTo>
                <a:lnTo>
                  <a:pt x="860889" y="521698"/>
                </a:lnTo>
                <a:lnTo>
                  <a:pt x="793778" y="516717"/>
                </a:lnTo>
                <a:lnTo>
                  <a:pt x="728481" y="510920"/>
                </a:lnTo>
                <a:lnTo>
                  <a:pt x="665127" y="504336"/>
                </a:lnTo>
                <a:lnTo>
                  <a:pt x="603842" y="496993"/>
                </a:lnTo>
                <a:lnTo>
                  <a:pt x="544755" y="488918"/>
                </a:lnTo>
                <a:lnTo>
                  <a:pt x="487992" y="480138"/>
                </a:lnTo>
                <a:lnTo>
                  <a:pt x="433681" y="470683"/>
                </a:lnTo>
                <a:lnTo>
                  <a:pt x="381950" y="460580"/>
                </a:lnTo>
                <a:lnTo>
                  <a:pt x="332926" y="449857"/>
                </a:lnTo>
                <a:lnTo>
                  <a:pt x="286737" y="438541"/>
                </a:lnTo>
                <a:lnTo>
                  <a:pt x="243511" y="426661"/>
                </a:lnTo>
                <a:lnTo>
                  <a:pt x="203374" y="414245"/>
                </a:lnTo>
                <a:lnTo>
                  <a:pt x="166454" y="401319"/>
                </a:lnTo>
                <a:lnTo>
                  <a:pt x="102777" y="374054"/>
                </a:lnTo>
                <a:lnTo>
                  <a:pt x="53500" y="345089"/>
                </a:lnTo>
                <a:lnTo>
                  <a:pt x="19642" y="314646"/>
                </a:lnTo>
                <a:lnTo>
                  <a:pt x="0" y="2667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29914" y="2232786"/>
            <a:ext cx="150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Syntax</a:t>
            </a:r>
            <a:r>
              <a:rPr sz="2400" b="1" spc="-4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6600"/>
                </a:solidFill>
                <a:latin typeface="Times New Roman"/>
                <a:cs typeface="Times New Roman"/>
              </a:rPr>
              <a:t>tree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63061" y="3086861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0" y="457200"/>
                </a:moveTo>
                <a:lnTo>
                  <a:pt x="2667000" y="457200"/>
                </a:lnTo>
                <a:lnTo>
                  <a:pt x="2667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518153" y="3109340"/>
            <a:ext cx="1953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006600"/>
                </a:solidFill>
                <a:latin typeface="Times New Roman"/>
                <a:cs typeface="Times New Roman"/>
              </a:rPr>
              <a:t>RTL</a:t>
            </a:r>
            <a:r>
              <a:rPr sz="2400" b="1" spc="-20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/>
                <a:cs typeface="Times New Roman"/>
              </a:rPr>
              <a:t>generater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63061" y="4001261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0" y="457200"/>
                </a:moveTo>
                <a:lnTo>
                  <a:pt x="2667000" y="457200"/>
                </a:lnTo>
                <a:lnTo>
                  <a:pt x="2667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148774" y="4023436"/>
            <a:ext cx="26955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006600"/>
                </a:solidFill>
                <a:latin typeface="Times New Roman"/>
                <a:cs typeface="Times New Roman"/>
              </a:rPr>
              <a:t>RTL</a:t>
            </a:r>
            <a:r>
              <a:rPr sz="2400" b="1" spc="-15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representation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63061" y="4839461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0" y="457200"/>
                </a:moveTo>
                <a:lnTo>
                  <a:pt x="2667000" y="457200"/>
                </a:lnTo>
                <a:lnTo>
                  <a:pt x="2667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48774" y="4830317"/>
            <a:ext cx="2695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3061" y="5677661"/>
            <a:ext cx="2743200" cy="457200"/>
          </a:xfrm>
          <a:prstGeom prst="rect">
            <a:avLst/>
          </a:prstGeom>
          <a:solidFill>
            <a:srgbClr val="FFBEBE"/>
          </a:solidFill>
          <a:ln w="28575">
            <a:solidFill>
              <a:srgbClr val="FFFFFF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25"/>
              </a:spcBef>
            </a:pPr>
            <a:r>
              <a:rPr sz="2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Assemble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01714" y="5591962"/>
            <a:ext cx="22675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Assembly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58111" y="8770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01311" y="838961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0" y="342900"/>
                </a:moveTo>
                <a:lnTo>
                  <a:pt x="57150" y="457200"/>
                </a:lnTo>
                <a:lnTo>
                  <a:pt x="95250" y="381000"/>
                </a:lnTo>
                <a:lnTo>
                  <a:pt x="38100" y="381000"/>
                </a:lnTo>
                <a:lnTo>
                  <a:pt x="38100" y="368300"/>
                </a:lnTo>
                <a:lnTo>
                  <a:pt x="0" y="342900"/>
                </a:lnTo>
                <a:close/>
              </a:path>
              <a:path w="114300" h="457200">
                <a:moveTo>
                  <a:pt x="38100" y="368300"/>
                </a:moveTo>
                <a:lnTo>
                  <a:pt x="38100" y="381000"/>
                </a:lnTo>
                <a:lnTo>
                  <a:pt x="57150" y="381000"/>
                </a:lnTo>
                <a:lnTo>
                  <a:pt x="38100" y="3683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8300"/>
                </a:lnTo>
                <a:lnTo>
                  <a:pt x="57150" y="381000"/>
                </a:lnTo>
                <a:lnTo>
                  <a:pt x="76200" y="368300"/>
                </a:lnTo>
                <a:lnTo>
                  <a:pt x="76200" y="0"/>
                </a:lnTo>
                <a:close/>
              </a:path>
              <a:path w="114300" h="457200">
                <a:moveTo>
                  <a:pt x="76200" y="368300"/>
                </a:moveTo>
                <a:lnTo>
                  <a:pt x="57150" y="381000"/>
                </a:lnTo>
                <a:lnTo>
                  <a:pt x="76200" y="381000"/>
                </a:lnTo>
                <a:lnTo>
                  <a:pt x="76200" y="36830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68300"/>
                </a:lnTo>
                <a:lnTo>
                  <a:pt x="76200" y="381000"/>
                </a:lnTo>
                <a:lnTo>
                  <a:pt x="95250" y="38100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35011" y="838961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0" y="342900"/>
                </a:moveTo>
                <a:lnTo>
                  <a:pt x="57150" y="457200"/>
                </a:lnTo>
                <a:lnTo>
                  <a:pt x="95250" y="381000"/>
                </a:lnTo>
                <a:lnTo>
                  <a:pt x="38100" y="381000"/>
                </a:lnTo>
                <a:lnTo>
                  <a:pt x="38100" y="368300"/>
                </a:lnTo>
                <a:lnTo>
                  <a:pt x="0" y="342900"/>
                </a:lnTo>
                <a:close/>
              </a:path>
              <a:path w="114300" h="457200">
                <a:moveTo>
                  <a:pt x="38100" y="368300"/>
                </a:moveTo>
                <a:lnTo>
                  <a:pt x="38100" y="381000"/>
                </a:lnTo>
                <a:lnTo>
                  <a:pt x="57150" y="381000"/>
                </a:lnTo>
                <a:lnTo>
                  <a:pt x="38100" y="3683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8300"/>
                </a:lnTo>
                <a:lnTo>
                  <a:pt x="57150" y="381000"/>
                </a:lnTo>
                <a:lnTo>
                  <a:pt x="76200" y="368300"/>
                </a:lnTo>
                <a:lnTo>
                  <a:pt x="76200" y="0"/>
                </a:lnTo>
                <a:close/>
              </a:path>
              <a:path w="114300" h="457200">
                <a:moveTo>
                  <a:pt x="76200" y="368300"/>
                </a:moveTo>
                <a:lnTo>
                  <a:pt x="57150" y="381000"/>
                </a:lnTo>
                <a:lnTo>
                  <a:pt x="76200" y="381000"/>
                </a:lnTo>
                <a:lnTo>
                  <a:pt x="76200" y="36830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68300"/>
                </a:lnTo>
                <a:lnTo>
                  <a:pt x="76200" y="381000"/>
                </a:lnTo>
                <a:lnTo>
                  <a:pt x="95250" y="38100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01311" y="1639061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0" y="419100"/>
                </a:moveTo>
                <a:lnTo>
                  <a:pt x="57150" y="533400"/>
                </a:lnTo>
                <a:lnTo>
                  <a:pt x="95250" y="457200"/>
                </a:lnTo>
                <a:lnTo>
                  <a:pt x="38100" y="457200"/>
                </a:lnTo>
                <a:lnTo>
                  <a:pt x="38100" y="444500"/>
                </a:lnTo>
                <a:lnTo>
                  <a:pt x="0" y="419100"/>
                </a:lnTo>
                <a:close/>
              </a:path>
              <a:path w="114300" h="533400">
                <a:moveTo>
                  <a:pt x="38100" y="444500"/>
                </a:moveTo>
                <a:lnTo>
                  <a:pt x="38100" y="457200"/>
                </a:lnTo>
                <a:lnTo>
                  <a:pt x="57150" y="457200"/>
                </a:lnTo>
                <a:lnTo>
                  <a:pt x="38100" y="4445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44500"/>
                </a:lnTo>
                <a:lnTo>
                  <a:pt x="57150" y="457200"/>
                </a:lnTo>
                <a:lnTo>
                  <a:pt x="76200" y="444500"/>
                </a:lnTo>
                <a:lnTo>
                  <a:pt x="76200" y="0"/>
                </a:lnTo>
                <a:close/>
              </a:path>
              <a:path w="114300" h="533400">
                <a:moveTo>
                  <a:pt x="76200" y="444500"/>
                </a:moveTo>
                <a:lnTo>
                  <a:pt x="57150" y="457200"/>
                </a:lnTo>
                <a:lnTo>
                  <a:pt x="76200" y="457200"/>
                </a:lnTo>
                <a:lnTo>
                  <a:pt x="76200" y="44450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44500"/>
                </a:lnTo>
                <a:lnTo>
                  <a:pt x="76200" y="457200"/>
                </a:lnTo>
                <a:lnTo>
                  <a:pt x="95250" y="45720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86635" y="1620647"/>
            <a:ext cx="2062480" cy="578485"/>
          </a:xfrm>
          <a:custGeom>
            <a:avLst/>
            <a:gdLst/>
            <a:ahLst/>
            <a:cxnLst/>
            <a:rect l="l" t="t" r="r" b="b"/>
            <a:pathLst>
              <a:path w="2062479" h="578485">
                <a:moveTo>
                  <a:pt x="1971331" y="547962"/>
                </a:moveTo>
                <a:lnTo>
                  <a:pt x="1937258" y="578485"/>
                </a:lnTo>
                <a:lnTo>
                  <a:pt x="2062226" y="551814"/>
                </a:lnTo>
                <a:lnTo>
                  <a:pt x="2061497" y="551179"/>
                </a:lnTo>
                <a:lnTo>
                  <a:pt x="1983739" y="551179"/>
                </a:lnTo>
                <a:lnTo>
                  <a:pt x="1971331" y="547962"/>
                </a:lnTo>
                <a:close/>
              </a:path>
              <a:path w="2062479" h="578485">
                <a:moveTo>
                  <a:pt x="1980938" y="511027"/>
                </a:moveTo>
                <a:lnTo>
                  <a:pt x="1988439" y="532638"/>
                </a:lnTo>
                <a:lnTo>
                  <a:pt x="1971331" y="547962"/>
                </a:lnTo>
                <a:lnTo>
                  <a:pt x="1983739" y="551179"/>
                </a:lnTo>
                <a:lnTo>
                  <a:pt x="1993264" y="514223"/>
                </a:lnTo>
                <a:lnTo>
                  <a:pt x="1980938" y="511027"/>
                </a:lnTo>
                <a:close/>
              </a:path>
              <a:path w="2062479" h="578485">
                <a:moveTo>
                  <a:pt x="1965960" y="467867"/>
                </a:moveTo>
                <a:lnTo>
                  <a:pt x="1980938" y="511027"/>
                </a:lnTo>
                <a:lnTo>
                  <a:pt x="1993264" y="514223"/>
                </a:lnTo>
                <a:lnTo>
                  <a:pt x="1983739" y="551179"/>
                </a:lnTo>
                <a:lnTo>
                  <a:pt x="2061497" y="551179"/>
                </a:lnTo>
                <a:lnTo>
                  <a:pt x="1965960" y="467867"/>
                </a:lnTo>
                <a:close/>
              </a:path>
              <a:path w="2062479" h="578485">
                <a:moveTo>
                  <a:pt x="9651" y="0"/>
                </a:moveTo>
                <a:lnTo>
                  <a:pt x="0" y="36829"/>
                </a:lnTo>
                <a:lnTo>
                  <a:pt x="1971331" y="547962"/>
                </a:lnTo>
                <a:lnTo>
                  <a:pt x="1988439" y="532638"/>
                </a:lnTo>
                <a:lnTo>
                  <a:pt x="1980938" y="511027"/>
                </a:lnTo>
                <a:lnTo>
                  <a:pt x="96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20461" y="1620900"/>
            <a:ext cx="1911350" cy="647700"/>
          </a:xfrm>
          <a:custGeom>
            <a:avLst/>
            <a:gdLst/>
            <a:ahLst/>
            <a:cxnLst/>
            <a:rect l="l" t="t" r="r" b="b"/>
            <a:pathLst>
              <a:path w="1911350" h="647700">
                <a:moveTo>
                  <a:pt x="91439" y="538479"/>
                </a:moveTo>
                <a:lnTo>
                  <a:pt x="0" y="627761"/>
                </a:lnTo>
                <a:lnTo>
                  <a:pt x="126237" y="647319"/>
                </a:lnTo>
                <a:lnTo>
                  <a:pt x="95312" y="622681"/>
                </a:lnTo>
                <a:lnTo>
                  <a:pt x="78359" y="622681"/>
                </a:lnTo>
                <a:lnTo>
                  <a:pt x="66801" y="586359"/>
                </a:lnTo>
                <a:lnTo>
                  <a:pt x="78823" y="582512"/>
                </a:lnTo>
                <a:lnTo>
                  <a:pt x="91439" y="538479"/>
                </a:lnTo>
                <a:close/>
              </a:path>
              <a:path w="1911350" h="647700">
                <a:moveTo>
                  <a:pt x="72602" y="604587"/>
                </a:moveTo>
                <a:lnTo>
                  <a:pt x="78359" y="622681"/>
                </a:lnTo>
                <a:lnTo>
                  <a:pt x="90454" y="618810"/>
                </a:lnTo>
                <a:lnTo>
                  <a:pt x="72602" y="604587"/>
                </a:lnTo>
                <a:close/>
              </a:path>
              <a:path w="1911350" h="647700">
                <a:moveTo>
                  <a:pt x="90454" y="618810"/>
                </a:moveTo>
                <a:lnTo>
                  <a:pt x="78359" y="622681"/>
                </a:lnTo>
                <a:lnTo>
                  <a:pt x="95312" y="622681"/>
                </a:lnTo>
                <a:lnTo>
                  <a:pt x="90454" y="618810"/>
                </a:lnTo>
                <a:close/>
              </a:path>
              <a:path w="1911350" h="647700">
                <a:moveTo>
                  <a:pt x="1899158" y="0"/>
                </a:moveTo>
                <a:lnTo>
                  <a:pt x="78823" y="582512"/>
                </a:lnTo>
                <a:lnTo>
                  <a:pt x="72547" y="604414"/>
                </a:lnTo>
                <a:lnTo>
                  <a:pt x="72602" y="604587"/>
                </a:lnTo>
                <a:lnTo>
                  <a:pt x="90454" y="618810"/>
                </a:lnTo>
                <a:lnTo>
                  <a:pt x="1910841" y="36322"/>
                </a:lnTo>
                <a:lnTo>
                  <a:pt x="1899158" y="0"/>
                </a:lnTo>
                <a:close/>
              </a:path>
              <a:path w="1911350" h="647700">
                <a:moveTo>
                  <a:pt x="78823" y="582512"/>
                </a:moveTo>
                <a:lnTo>
                  <a:pt x="66801" y="586359"/>
                </a:lnTo>
                <a:lnTo>
                  <a:pt x="72547" y="604414"/>
                </a:lnTo>
                <a:lnTo>
                  <a:pt x="78823" y="5825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01311" y="27058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01311" y="3544061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0" y="342900"/>
                </a:moveTo>
                <a:lnTo>
                  <a:pt x="57150" y="457200"/>
                </a:lnTo>
                <a:lnTo>
                  <a:pt x="95250" y="381000"/>
                </a:lnTo>
                <a:lnTo>
                  <a:pt x="38100" y="381000"/>
                </a:lnTo>
                <a:lnTo>
                  <a:pt x="38100" y="368300"/>
                </a:lnTo>
                <a:lnTo>
                  <a:pt x="0" y="342900"/>
                </a:lnTo>
                <a:close/>
              </a:path>
              <a:path w="114300" h="457200">
                <a:moveTo>
                  <a:pt x="38100" y="368300"/>
                </a:moveTo>
                <a:lnTo>
                  <a:pt x="38100" y="381000"/>
                </a:lnTo>
                <a:lnTo>
                  <a:pt x="57150" y="381000"/>
                </a:lnTo>
                <a:lnTo>
                  <a:pt x="38100" y="3683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8300"/>
                </a:lnTo>
                <a:lnTo>
                  <a:pt x="57150" y="381000"/>
                </a:lnTo>
                <a:lnTo>
                  <a:pt x="76200" y="368300"/>
                </a:lnTo>
                <a:lnTo>
                  <a:pt x="76200" y="0"/>
                </a:lnTo>
                <a:close/>
              </a:path>
              <a:path w="114300" h="457200">
                <a:moveTo>
                  <a:pt x="76200" y="368300"/>
                </a:moveTo>
                <a:lnTo>
                  <a:pt x="57150" y="381000"/>
                </a:lnTo>
                <a:lnTo>
                  <a:pt x="76200" y="381000"/>
                </a:lnTo>
                <a:lnTo>
                  <a:pt x="76200" y="36830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68300"/>
                </a:lnTo>
                <a:lnTo>
                  <a:pt x="76200" y="381000"/>
                </a:lnTo>
                <a:lnTo>
                  <a:pt x="95250" y="38100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01311" y="44584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01311" y="52966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906261" y="5858636"/>
            <a:ext cx="609600" cy="95250"/>
          </a:xfrm>
          <a:custGeom>
            <a:avLst/>
            <a:gdLst/>
            <a:ahLst/>
            <a:cxnLst/>
            <a:rect l="l" t="t" r="r" b="b"/>
            <a:pathLst>
              <a:path w="609600" h="95250">
                <a:moveTo>
                  <a:pt x="546100" y="47625"/>
                </a:moveTo>
                <a:lnTo>
                  <a:pt x="514350" y="95250"/>
                </a:lnTo>
                <a:lnTo>
                  <a:pt x="577849" y="63500"/>
                </a:lnTo>
                <a:lnTo>
                  <a:pt x="546100" y="63500"/>
                </a:lnTo>
                <a:lnTo>
                  <a:pt x="546100" y="47625"/>
                </a:lnTo>
                <a:close/>
              </a:path>
              <a:path w="609600" h="95250">
                <a:moveTo>
                  <a:pt x="535516" y="31750"/>
                </a:moveTo>
                <a:lnTo>
                  <a:pt x="0" y="31750"/>
                </a:lnTo>
                <a:lnTo>
                  <a:pt x="0" y="63500"/>
                </a:lnTo>
                <a:lnTo>
                  <a:pt x="535516" y="63500"/>
                </a:lnTo>
                <a:lnTo>
                  <a:pt x="546100" y="47625"/>
                </a:lnTo>
                <a:lnTo>
                  <a:pt x="535516" y="31750"/>
                </a:lnTo>
                <a:close/>
              </a:path>
              <a:path w="609600" h="95250">
                <a:moveTo>
                  <a:pt x="577849" y="31750"/>
                </a:moveTo>
                <a:lnTo>
                  <a:pt x="546100" y="31750"/>
                </a:lnTo>
                <a:lnTo>
                  <a:pt x="546100" y="63500"/>
                </a:lnTo>
                <a:lnTo>
                  <a:pt x="577849" y="63500"/>
                </a:lnTo>
                <a:lnTo>
                  <a:pt x="609599" y="47625"/>
                </a:lnTo>
                <a:lnTo>
                  <a:pt x="577849" y="31750"/>
                </a:lnTo>
                <a:close/>
              </a:path>
              <a:path w="609600" h="95250">
                <a:moveTo>
                  <a:pt x="514350" y="0"/>
                </a:moveTo>
                <a:lnTo>
                  <a:pt x="546100" y="47625"/>
                </a:lnTo>
                <a:lnTo>
                  <a:pt x="546100" y="31750"/>
                </a:lnTo>
                <a:lnTo>
                  <a:pt x="577849" y="31750"/>
                </a:lnTo>
                <a:lnTo>
                  <a:pt x="514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63461" y="1258061"/>
            <a:ext cx="2191512" cy="5577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63461" y="1258061"/>
            <a:ext cx="2192020" cy="558165"/>
          </a:xfrm>
          <a:custGeom>
            <a:avLst/>
            <a:gdLst/>
            <a:ahLst/>
            <a:cxnLst/>
            <a:rect l="l" t="t" r="r" b="b"/>
            <a:pathLst>
              <a:path w="2192020" h="558164">
                <a:moveTo>
                  <a:pt x="0" y="557784"/>
                </a:moveTo>
                <a:lnTo>
                  <a:pt x="2191512" y="557784"/>
                </a:lnTo>
                <a:lnTo>
                  <a:pt x="2191512" y="0"/>
                </a:lnTo>
                <a:lnTo>
                  <a:pt x="0" y="0"/>
                </a:lnTo>
                <a:lnTo>
                  <a:pt x="0" y="55778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459982" y="1329639"/>
            <a:ext cx="19977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Fortran</a:t>
            </a:r>
            <a:r>
              <a:rPr sz="2400" b="1" spc="-9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Parser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81000" y="2247900"/>
            <a:ext cx="1866900" cy="838200"/>
          </a:xfrm>
          <a:custGeom>
            <a:avLst/>
            <a:gdLst/>
            <a:ahLst/>
            <a:cxnLst/>
            <a:rect l="l" t="t" r="r" b="b"/>
            <a:pathLst>
              <a:path w="1866900" h="838200">
                <a:moveTo>
                  <a:pt x="0" y="419100"/>
                </a:moveTo>
                <a:lnTo>
                  <a:pt x="8521" y="362218"/>
                </a:lnTo>
                <a:lnTo>
                  <a:pt x="33343" y="307666"/>
                </a:lnTo>
                <a:lnTo>
                  <a:pt x="73355" y="255942"/>
                </a:lnTo>
                <a:lnTo>
                  <a:pt x="127443" y="207546"/>
                </a:lnTo>
                <a:lnTo>
                  <a:pt x="159418" y="184751"/>
                </a:lnTo>
                <a:lnTo>
                  <a:pt x="194495" y="162975"/>
                </a:lnTo>
                <a:lnTo>
                  <a:pt x="232536" y="142280"/>
                </a:lnTo>
                <a:lnTo>
                  <a:pt x="273400" y="122729"/>
                </a:lnTo>
                <a:lnTo>
                  <a:pt x="316950" y="104384"/>
                </a:lnTo>
                <a:lnTo>
                  <a:pt x="363046" y="87306"/>
                </a:lnTo>
                <a:lnTo>
                  <a:pt x="411548" y="71560"/>
                </a:lnTo>
                <a:lnTo>
                  <a:pt x="462319" y="57206"/>
                </a:lnTo>
                <a:lnTo>
                  <a:pt x="515219" y="44307"/>
                </a:lnTo>
                <a:lnTo>
                  <a:pt x="570108" y="32926"/>
                </a:lnTo>
                <a:lnTo>
                  <a:pt x="626849" y="23125"/>
                </a:lnTo>
                <a:lnTo>
                  <a:pt x="685301" y="14966"/>
                </a:lnTo>
                <a:lnTo>
                  <a:pt x="745327" y="8512"/>
                </a:lnTo>
                <a:lnTo>
                  <a:pt x="806786" y="3824"/>
                </a:lnTo>
                <a:lnTo>
                  <a:pt x="869540" y="966"/>
                </a:lnTo>
                <a:lnTo>
                  <a:pt x="933450" y="0"/>
                </a:lnTo>
                <a:lnTo>
                  <a:pt x="997355" y="966"/>
                </a:lnTo>
                <a:lnTo>
                  <a:pt x="1060105" y="3824"/>
                </a:lnTo>
                <a:lnTo>
                  <a:pt x="1121562" y="8512"/>
                </a:lnTo>
                <a:lnTo>
                  <a:pt x="1181585" y="14966"/>
                </a:lnTo>
                <a:lnTo>
                  <a:pt x="1240035" y="23125"/>
                </a:lnTo>
                <a:lnTo>
                  <a:pt x="1296775" y="32926"/>
                </a:lnTo>
                <a:lnTo>
                  <a:pt x="1351664" y="44307"/>
                </a:lnTo>
                <a:lnTo>
                  <a:pt x="1404563" y="57206"/>
                </a:lnTo>
                <a:lnTo>
                  <a:pt x="1455334" y="71560"/>
                </a:lnTo>
                <a:lnTo>
                  <a:pt x="1503837" y="87306"/>
                </a:lnTo>
                <a:lnTo>
                  <a:pt x="1549934" y="104384"/>
                </a:lnTo>
                <a:lnTo>
                  <a:pt x="1593484" y="122729"/>
                </a:lnTo>
                <a:lnTo>
                  <a:pt x="1634350" y="142280"/>
                </a:lnTo>
                <a:lnTo>
                  <a:pt x="1672392" y="162975"/>
                </a:lnTo>
                <a:lnTo>
                  <a:pt x="1707471" y="184751"/>
                </a:lnTo>
                <a:lnTo>
                  <a:pt x="1739448" y="207546"/>
                </a:lnTo>
                <a:lnTo>
                  <a:pt x="1793539" y="255942"/>
                </a:lnTo>
                <a:lnTo>
                  <a:pt x="1833553" y="307666"/>
                </a:lnTo>
                <a:lnTo>
                  <a:pt x="1858377" y="362218"/>
                </a:lnTo>
                <a:lnTo>
                  <a:pt x="1866900" y="419100"/>
                </a:lnTo>
                <a:lnTo>
                  <a:pt x="1864746" y="447800"/>
                </a:lnTo>
                <a:lnTo>
                  <a:pt x="1847934" y="503580"/>
                </a:lnTo>
                <a:lnTo>
                  <a:pt x="1815375" y="556780"/>
                </a:lnTo>
                <a:lnTo>
                  <a:pt x="1768184" y="606902"/>
                </a:lnTo>
                <a:lnTo>
                  <a:pt x="1707471" y="653448"/>
                </a:lnTo>
                <a:lnTo>
                  <a:pt x="1672392" y="675224"/>
                </a:lnTo>
                <a:lnTo>
                  <a:pt x="1634350" y="695919"/>
                </a:lnTo>
                <a:lnTo>
                  <a:pt x="1593484" y="715470"/>
                </a:lnTo>
                <a:lnTo>
                  <a:pt x="1549934" y="733815"/>
                </a:lnTo>
                <a:lnTo>
                  <a:pt x="1503837" y="750893"/>
                </a:lnTo>
                <a:lnTo>
                  <a:pt x="1455334" y="766639"/>
                </a:lnTo>
                <a:lnTo>
                  <a:pt x="1404563" y="780993"/>
                </a:lnTo>
                <a:lnTo>
                  <a:pt x="1351664" y="793892"/>
                </a:lnTo>
                <a:lnTo>
                  <a:pt x="1296775" y="805273"/>
                </a:lnTo>
                <a:lnTo>
                  <a:pt x="1240035" y="815074"/>
                </a:lnTo>
                <a:lnTo>
                  <a:pt x="1181585" y="823233"/>
                </a:lnTo>
                <a:lnTo>
                  <a:pt x="1121562" y="829687"/>
                </a:lnTo>
                <a:lnTo>
                  <a:pt x="1060105" y="834375"/>
                </a:lnTo>
                <a:lnTo>
                  <a:pt x="997355" y="837233"/>
                </a:lnTo>
                <a:lnTo>
                  <a:pt x="933450" y="838200"/>
                </a:lnTo>
                <a:lnTo>
                  <a:pt x="869540" y="837233"/>
                </a:lnTo>
                <a:lnTo>
                  <a:pt x="806786" y="834375"/>
                </a:lnTo>
                <a:lnTo>
                  <a:pt x="745327" y="829687"/>
                </a:lnTo>
                <a:lnTo>
                  <a:pt x="685301" y="823233"/>
                </a:lnTo>
                <a:lnTo>
                  <a:pt x="626849" y="815074"/>
                </a:lnTo>
                <a:lnTo>
                  <a:pt x="570108" y="805273"/>
                </a:lnTo>
                <a:lnTo>
                  <a:pt x="515219" y="793892"/>
                </a:lnTo>
                <a:lnTo>
                  <a:pt x="462319" y="780993"/>
                </a:lnTo>
                <a:lnTo>
                  <a:pt x="411548" y="766639"/>
                </a:lnTo>
                <a:lnTo>
                  <a:pt x="363046" y="750893"/>
                </a:lnTo>
                <a:lnTo>
                  <a:pt x="316950" y="733815"/>
                </a:lnTo>
                <a:lnTo>
                  <a:pt x="273400" y="715470"/>
                </a:lnTo>
                <a:lnTo>
                  <a:pt x="232536" y="695919"/>
                </a:lnTo>
                <a:lnTo>
                  <a:pt x="194495" y="675224"/>
                </a:lnTo>
                <a:lnTo>
                  <a:pt x="159418" y="653448"/>
                </a:lnTo>
                <a:lnTo>
                  <a:pt x="127443" y="630653"/>
                </a:lnTo>
                <a:lnTo>
                  <a:pt x="73355" y="582257"/>
                </a:lnTo>
                <a:lnTo>
                  <a:pt x="33343" y="530533"/>
                </a:lnTo>
                <a:lnTo>
                  <a:pt x="8521" y="475981"/>
                </a:lnTo>
                <a:lnTo>
                  <a:pt x="0" y="4191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36219" y="2313558"/>
            <a:ext cx="1358900" cy="6203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25400">
              <a:lnSpc>
                <a:spcPts val="2280"/>
              </a:lnSpc>
              <a:spcBef>
                <a:spcPts val="280"/>
              </a:spcBef>
            </a:pPr>
            <a:r>
              <a:rPr sz="2000" b="1" spc="5" dirty="0">
                <a:solidFill>
                  <a:srgbClr val="006600"/>
                </a:solidFill>
                <a:latin typeface="宋体"/>
                <a:cs typeface="宋体"/>
              </a:rPr>
              <a:t>目标机描述 宏文</a:t>
            </a:r>
            <a:r>
              <a:rPr sz="2000" b="1" spc="-5" dirty="0">
                <a:solidFill>
                  <a:srgbClr val="006600"/>
                </a:solidFill>
                <a:latin typeface="宋体"/>
                <a:cs typeface="宋体"/>
              </a:rPr>
              <a:t>件</a:t>
            </a:r>
            <a:r>
              <a:rPr sz="2000" b="1" spc="-590" dirty="0">
                <a:solidFill>
                  <a:srgbClr val="006600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tm.h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81000" y="3543300"/>
            <a:ext cx="1866900" cy="838200"/>
          </a:xfrm>
          <a:custGeom>
            <a:avLst/>
            <a:gdLst/>
            <a:ahLst/>
            <a:cxnLst/>
            <a:rect l="l" t="t" r="r" b="b"/>
            <a:pathLst>
              <a:path w="1866900" h="838200">
                <a:moveTo>
                  <a:pt x="0" y="419100"/>
                </a:moveTo>
                <a:lnTo>
                  <a:pt x="8521" y="362218"/>
                </a:lnTo>
                <a:lnTo>
                  <a:pt x="33343" y="307666"/>
                </a:lnTo>
                <a:lnTo>
                  <a:pt x="73355" y="255942"/>
                </a:lnTo>
                <a:lnTo>
                  <a:pt x="127443" y="207546"/>
                </a:lnTo>
                <a:lnTo>
                  <a:pt x="159418" y="184751"/>
                </a:lnTo>
                <a:lnTo>
                  <a:pt x="194495" y="162975"/>
                </a:lnTo>
                <a:lnTo>
                  <a:pt x="232536" y="142280"/>
                </a:lnTo>
                <a:lnTo>
                  <a:pt x="273400" y="122729"/>
                </a:lnTo>
                <a:lnTo>
                  <a:pt x="316950" y="104384"/>
                </a:lnTo>
                <a:lnTo>
                  <a:pt x="363046" y="87306"/>
                </a:lnTo>
                <a:lnTo>
                  <a:pt x="411548" y="71560"/>
                </a:lnTo>
                <a:lnTo>
                  <a:pt x="462319" y="57206"/>
                </a:lnTo>
                <a:lnTo>
                  <a:pt x="515219" y="44307"/>
                </a:lnTo>
                <a:lnTo>
                  <a:pt x="570108" y="32926"/>
                </a:lnTo>
                <a:lnTo>
                  <a:pt x="626849" y="23125"/>
                </a:lnTo>
                <a:lnTo>
                  <a:pt x="685301" y="14966"/>
                </a:lnTo>
                <a:lnTo>
                  <a:pt x="745327" y="8512"/>
                </a:lnTo>
                <a:lnTo>
                  <a:pt x="806786" y="3824"/>
                </a:lnTo>
                <a:lnTo>
                  <a:pt x="869540" y="966"/>
                </a:lnTo>
                <a:lnTo>
                  <a:pt x="933450" y="0"/>
                </a:lnTo>
                <a:lnTo>
                  <a:pt x="997355" y="966"/>
                </a:lnTo>
                <a:lnTo>
                  <a:pt x="1060105" y="3824"/>
                </a:lnTo>
                <a:lnTo>
                  <a:pt x="1121562" y="8512"/>
                </a:lnTo>
                <a:lnTo>
                  <a:pt x="1181585" y="14966"/>
                </a:lnTo>
                <a:lnTo>
                  <a:pt x="1240035" y="23125"/>
                </a:lnTo>
                <a:lnTo>
                  <a:pt x="1296775" y="32926"/>
                </a:lnTo>
                <a:lnTo>
                  <a:pt x="1351664" y="44307"/>
                </a:lnTo>
                <a:lnTo>
                  <a:pt x="1404563" y="57206"/>
                </a:lnTo>
                <a:lnTo>
                  <a:pt x="1455334" y="71560"/>
                </a:lnTo>
                <a:lnTo>
                  <a:pt x="1503837" y="87306"/>
                </a:lnTo>
                <a:lnTo>
                  <a:pt x="1549934" y="104384"/>
                </a:lnTo>
                <a:lnTo>
                  <a:pt x="1593484" y="122729"/>
                </a:lnTo>
                <a:lnTo>
                  <a:pt x="1634350" y="142280"/>
                </a:lnTo>
                <a:lnTo>
                  <a:pt x="1672392" y="162975"/>
                </a:lnTo>
                <a:lnTo>
                  <a:pt x="1707471" y="184751"/>
                </a:lnTo>
                <a:lnTo>
                  <a:pt x="1739448" y="207546"/>
                </a:lnTo>
                <a:lnTo>
                  <a:pt x="1793539" y="255942"/>
                </a:lnTo>
                <a:lnTo>
                  <a:pt x="1833553" y="307666"/>
                </a:lnTo>
                <a:lnTo>
                  <a:pt x="1858377" y="362218"/>
                </a:lnTo>
                <a:lnTo>
                  <a:pt x="1866900" y="419100"/>
                </a:lnTo>
                <a:lnTo>
                  <a:pt x="1864746" y="447800"/>
                </a:lnTo>
                <a:lnTo>
                  <a:pt x="1847934" y="503580"/>
                </a:lnTo>
                <a:lnTo>
                  <a:pt x="1815375" y="556780"/>
                </a:lnTo>
                <a:lnTo>
                  <a:pt x="1768184" y="606902"/>
                </a:lnTo>
                <a:lnTo>
                  <a:pt x="1707471" y="653448"/>
                </a:lnTo>
                <a:lnTo>
                  <a:pt x="1672392" y="675224"/>
                </a:lnTo>
                <a:lnTo>
                  <a:pt x="1634350" y="695919"/>
                </a:lnTo>
                <a:lnTo>
                  <a:pt x="1593484" y="715470"/>
                </a:lnTo>
                <a:lnTo>
                  <a:pt x="1549934" y="733815"/>
                </a:lnTo>
                <a:lnTo>
                  <a:pt x="1503837" y="750893"/>
                </a:lnTo>
                <a:lnTo>
                  <a:pt x="1455334" y="766639"/>
                </a:lnTo>
                <a:lnTo>
                  <a:pt x="1404563" y="780993"/>
                </a:lnTo>
                <a:lnTo>
                  <a:pt x="1351664" y="793892"/>
                </a:lnTo>
                <a:lnTo>
                  <a:pt x="1296775" y="805273"/>
                </a:lnTo>
                <a:lnTo>
                  <a:pt x="1240035" y="815074"/>
                </a:lnTo>
                <a:lnTo>
                  <a:pt x="1181585" y="823233"/>
                </a:lnTo>
                <a:lnTo>
                  <a:pt x="1121562" y="829687"/>
                </a:lnTo>
                <a:lnTo>
                  <a:pt x="1060105" y="834375"/>
                </a:lnTo>
                <a:lnTo>
                  <a:pt x="997355" y="837233"/>
                </a:lnTo>
                <a:lnTo>
                  <a:pt x="933450" y="838200"/>
                </a:lnTo>
                <a:lnTo>
                  <a:pt x="869540" y="837233"/>
                </a:lnTo>
                <a:lnTo>
                  <a:pt x="806786" y="834375"/>
                </a:lnTo>
                <a:lnTo>
                  <a:pt x="745327" y="829687"/>
                </a:lnTo>
                <a:lnTo>
                  <a:pt x="685301" y="823233"/>
                </a:lnTo>
                <a:lnTo>
                  <a:pt x="626849" y="815074"/>
                </a:lnTo>
                <a:lnTo>
                  <a:pt x="570108" y="805273"/>
                </a:lnTo>
                <a:lnTo>
                  <a:pt x="515219" y="793892"/>
                </a:lnTo>
                <a:lnTo>
                  <a:pt x="462319" y="780993"/>
                </a:lnTo>
                <a:lnTo>
                  <a:pt x="411548" y="766639"/>
                </a:lnTo>
                <a:lnTo>
                  <a:pt x="363046" y="750893"/>
                </a:lnTo>
                <a:lnTo>
                  <a:pt x="316950" y="733815"/>
                </a:lnTo>
                <a:lnTo>
                  <a:pt x="273400" y="715470"/>
                </a:lnTo>
                <a:lnTo>
                  <a:pt x="232536" y="695919"/>
                </a:lnTo>
                <a:lnTo>
                  <a:pt x="194495" y="675224"/>
                </a:lnTo>
                <a:lnTo>
                  <a:pt x="159418" y="653448"/>
                </a:lnTo>
                <a:lnTo>
                  <a:pt x="127443" y="630653"/>
                </a:lnTo>
                <a:lnTo>
                  <a:pt x="73355" y="582257"/>
                </a:lnTo>
                <a:lnTo>
                  <a:pt x="33343" y="530533"/>
                </a:lnTo>
                <a:lnTo>
                  <a:pt x="8521" y="475981"/>
                </a:lnTo>
                <a:lnTo>
                  <a:pt x="0" y="4191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34111" y="3644010"/>
            <a:ext cx="1562100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40"/>
              </a:lnSpc>
              <a:spcBef>
                <a:spcPts val="100"/>
              </a:spcBef>
            </a:pPr>
            <a:r>
              <a:rPr sz="2000" b="1" spc="5" dirty="0">
                <a:solidFill>
                  <a:srgbClr val="006600"/>
                </a:solidFill>
                <a:latin typeface="宋体"/>
                <a:cs typeface="宋体"/>
              </a:rPr>
              <a:t>机器描述文件</a:t>
            </a:r>
            <a:endParaRPr sz="2000">
              <a:latin typeface="宋体"/>
              <a:cs typeface="宋体"/>
            </a:endParaRPr>
          </a:p>
          <a:p>
            <a:pPr marL="113030">
              <a:lnSpc>
                <a:spcPts val="2340"/>
              </a:lnSpc>
            </a:pPr>
            <a:r>
              <a:rPr sz="2000" b="1" dirty="0">
                <a:solidFill>
                  <a:srgbClr val="006600"/>
                </a:solidFill>
                <a:latin typeface="Times New Roman"/>
                <a:cs typeface="Times New Roman"/>
              </a:rPr>
              <a:t>machine.md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241295" y="2802635"/>
            <a:ext cx="922019" cy="413384"/>
          </a:xfrm>
          <a:custGeom>
            <a:avLst/>
            <a:gdLst/>
            <a:ahLst/>
            <a:cxnLst/>
            <a:rect l="l" t="t" r="r" b="b"/>
            <a:pathLst>
              <a:path w="922019" h="413385">
                <a:moveTo>
                  <a:pt x="794923" y="366249"/>
                </a:moveTo>
                <a:lnTo>
                  <a:pt x="709295" y="413130"/>
                </a:lnTo>
                <a:lnTo>
                  <a:pt x="921766" y="398525"/>
                </a:lnTo>
                <a:lnTo>
                  <a:pt x="898951" y="372110"/>
                </a:lnTo>
                <a:lnTo>
                  <a:pt x="808990" y="372110"/>
                </a:lnTo>
                <a:lnTo>
                  <a:pt x="794923" y="366249"/>
                </a:lnTo>
                <a:close/>
              </a:path>
              <a:path w="922019" h="413385">
                <a:moveTo>
                  <a:pt x="809471" y="331047"/>
                </a:moveTo>
                <a:lnTo>
                  <a:pt x="816229" y="354584"/>
                </a:lnTo>
                <a:lnTo>
                  <a:pt x="794923" y="366249"/>
                </a:lnTo>
                <a:lnTo>
                  <a:pt x="808990" y="372110"/>
                </a:lnTo>
                <a:lnTo>
                  <a:pt x="823595" y="336930"/>
                </a:lnTo>
                <a:lnTo>
                  <a:pt x="809471" y="331047"/>
                </a:lnTo>
                <a:close/>
              </a:path>
              <a:path w="922019" h="413385">
                <a:moveTo>
                  <a:pt x="782574" y="237362"/>
                </a:moveTo>
                <a:lnTo>
                  <a:pt x="809471" y="331047"/>
                </a:lnTo>
                <a:lnTo>
                  <a:pt x="823595" y="336930"/>
                </a:lnTo>
                <a:lnTo>
                  <a:pt x="808990" y="372110"/>
                </a:lnTo>
                <a:lnTo>
                  <a:pt x="898951" y="372110"/>
                </a:lnTo>
                <a:lnTo>
                  <a:pt x="782574" y="237362"/>
                </a:lnTo>
                <a:close/>
              </a:path>
              <a:path w="922019" h="413385">
                <a:moveTo>
                  <a:pt x="14731" y="0"/>
                </a:moveTo>
                <a:lnTo>
                  <a:pt x="0" y="35051"/>
                </a:lnTo>
                <a:lnTo>
                  <a:pt x="794923" y="366249"/>
                </a:lnTo>
                <a:lnTo>
                  <a:pt x="816229" y="354584"/>
                </a:lnTo>
                <a:lnTo>
                  <a:pt x="809471" y="331047"/>
                </a:lnTo>
                <a:lnTo>
                  <a:pt x="14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40152" y="3411473"/>
            <a:ext cx="923290" cy="474345"/>
          </a:xfrm>
          <a:custGeom>
            <a:avLst/>
            <a:gdLst/>
            <a:ahLst/>
            <a:cxnLst/>
            <a:rect l="l" t="t" r="r" b="b"/>
            <a:pathLst>
              <a:path w="923289" h="474345">
                <a:moveTo>
                  <a:pt x="798539" y="40849"/>
                </a:moveTo>
                <a:lnTo>
                  <a:pt x="0" y="440181"/>
                </a:lnTo>
                <a:lnTo>
                  <a:pt x="17018" y="474218"/>
                </a:lnTo>
                <a:lnTo>
                  <a:pt x="815550" y="75014"/>
                </a:lnTo>
                <a:lnTo>
                  <a:pt x="820664" y="51098"/>
                </a:lnTo>
                <a:lnTo>
                  <a:pt x="798539" y="40849"/>
                </a:lnTo>
                <a:close/>
              </a:path>
              <a:path w="923289" h="474345">
                <a:moveTo>
                  <a:pt x="897394" y="34036"/>
                </a:moveTo>
                <a:lnTo>
                  <a:pt x="812165" y="34036"/>
                </a:lnTo>
                <a:lnTo>
                  <a:pt x="829183" y="68199"/>
                </a:lnTo>
                <a:lnTo>
                  <a:pt x="815550" y="75014"/>
                </a:lnTo>
                <a:lnTo>
                  <a:pt x="795147" y="170434"/>
                </a:lnTo>
                <a:lnTo>
                  <a:pt x="897394" y="34036"/>
                </a:lnTo>
                <a:close/>
              </a:path>
              <a:path w="923289" h="474345">
                <a:moveTo>
                  <a:pt x="820664" y="51098"/>
                </a:moveTo>
                <a:lnTo>
                  <a:pt x="815550" y="75014"/>
                </a:lnTo>
                <a:lnTo>
                  <a:pt x="829183" y="68199"/>
                </a:lnTo>
                <a:lnTo>
                  <a:pt x="820664" y="51098"/>
                </a:lnTo>
                <a:close/>
              </a:path>
              <a:path w="923289" h="474345">
                <a:moveTo>
                  <a:pt x="812165" y="34036"/>
                </a:moveTo>
                <a:lnTo>
                  <a:pt x="798539" y="40849"/>
                </a:lnTo>
                <a:lnTo>
                  <a:pt x="820632" y="51035"/>
                </a:lnTo>
                <a:lnTo>
                  <a:pt x="812165" y="34036"/>
                </a:lnTo>
                <a:close/>
              </a:path>
              <a:path w="923289" h="474345">
                <a:moveTo>
                  <a:pt x="922909" y="0"/>
                </a:moveTo>
                <a:lnTo>
                  <a:pt x="709930" y="0"/>
                </a:lnTo>
                <a:lnTo>
                  <a:pt x="798539" y="40849"/>
                </a:lnTo>
                <a:lnTo>
                  <a:pt x="812165" y="34036"/>
                </a:lnTo>
                <a:lnTo>
                  <a:pt x="897394" y="34036"/>
                </a:lnTo>
                <a:lnTo>
                  <a:pt x="9229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39127" y="2642235"/>
            <a:ext cx="3489960" cy="940435"/>
          </a:xfrm>
          <a:custGeom>
            <a:avLst/>
            <a:gdLst/>
            <a:ahLst/>
            <a:cxnLst/>
            <a:rect l="l" t="t" r="r" b="b"/>
            <a:pathLst>
              <a:path w="3489959" h="940435">
                <a:moveTo>
                  <a:pt x="3489459" y="0"/>
                </a:moveTo>
                <a:lnTo>
                  <a:pt x="1014229" y="622300"/>
                </a:lnTo>
                <a:lnTo>
                  <a:pt x="1025621" y="654070"/>
                </a:lnTo>
                <a:lnTo>
                  <a:pt x="1028968" y="685590"/>
                </a:lnTo>
                <a:lnTo>
                  <a:pt x="1012945" y="746716"/>
                </a:lnTo>
                <a:lnTo>
                  <a:pt x="969000" y="803347"/>
                </a:lnTo>
                <a:lnTo>
                  <a:pt x="937443" y="829250"/>
                </a:lnTo>
                <a:lnTo>
                  <a:pt x="899970" y="853157"/>
                </a:lnTo>
                <a:lnTo>
                  <a:pt x="856935" y="874777"/>
                </a:lnTo>
                <a:lnTo>
                  <a:pt x="808693" y="893818"/>
                </a:lnTo>
                <a:lnTo>
                  <a:pt x="755600" y="909989"/>
                </a:lnTo>
                <a:lnTo>
                  <a:pt x="698009" y="923001"/>
                </a:lnTo>
                <a:lnTo>
                  <a:pt x="636277" y="932561"/>
                </a:lnTo>
                <a:lnTo>
                  <a:pt x="577183" y="937988"/>
                </a:lnTo>
                <a:lnTo>
                  <a:pt x="518485" y="939942"/>
                </a:lnTo>
                <a:lnTo>
                  <a:pt x="460650" y="938563"/>
                </a:lnTo>
                <a:lnTo>
                  <a:pt x="404144" y="933993"/>
                </a:lnTo>
                <a:lnTo>
                  <a:pt x="349432" y="926375"/>
                </a:lnTo>
                <a:lnTo>
                  <a:pt x="296982" y="915849"/>
                </a:lnTo>
                <a:lnTo>
                  <a:pt x="247260" y="902557"/>
                </a:lnTo>
                <a:lnTo>
                  <a:pt x="200731" y="886641"/>
                </a:lnTo>
                <a:lnTo>
                  <a:pt x="157862" y="868242"/>
                </a:lnTo>
                <a:lnTo>
                  <a:pt x="119120" y="847502"/>
                </a:lnTo>
                <a:lnTo>
                  <a:pt x="84970" y="824563"/>
                </a:lnTo>
                <a:lnTo>
                  <a:pt x="55879" y="799566"/>
                </a:lnTo>
                <a:lnTo>
                  <a:pt x="14739" y="743965"/>
                </a:lnTo>
                <a:lnTo>
                  <a:pt x="0" y="680675"/>
                </a:lnTo>
                <a:lnTo>
                  <a:pt x="4343" y="649696"/>
                </a:lnTo>
                <a:lnTo>
                  <a:pt x="34682" y="590526"/>
                </a:lnTo>
                <a:lnTo>
                  <a:pt x="91524" y="537015"/>
                </a:lnTo>
                <a:lnTo>
                  <a:pt x="128998" y="513108"/>
                </a:lnTo>
                <a:lnTo>
                  <a:pt x="172033" y="491488"/>
                </a:lnTo>
                <a:lnTo>
                  <a:pt x="220274" y="472447"/>
                </a:lnTo>
                <a:lnTo>
                  <a:pt x="273367" y="456276"/>
                </a:lnTo>
                <a:lnTo>
                  <a:pt x="330958" y="443264"/>
                </a:lnTo>
                <a:lnTo>
                  <a:pt x="392691" y="433704"/>
                </a:lnTo>
                <a:lnTo>
                  <a:pt x="448411" y="428498"/>
                </a:lnTo>
                <a:lnTo>
                  <a:pt x="504157" y="426399"/>
                </a:lnTo>
                <a:lnTo>
                  <a:pt x="559474" y="427322"/>
                </a:lnTo>
                <a:lnTo>
                  <a:pt x="613910" y="431182"/>
                </a:lnTo>
                <a:lnTo>
                  <a:pt x="667011" y="437894"/>
                </a:lnTo>
                <a:lnTo>
                  <a:pt x="718323" y="447372"/>
                </a:lnTo>
                <a:lnTo>
                  <a:pt x="767393" y="459532"/>
                </a:lnTo>
                <a:lnTo>
                  <a:pt x="813768" y="474286"/>
                </a:lnTo>
                <a:lnTo>
                  <a:pt x="856994" y="491552"/>
                </a:lnTo>
                <a:lnTo>
                  <a:pt x="896618" y="511242"/>
                </a:lnTo>
                <a:lnTo>
                  <a:pt x="932187" y="533273"/>
                </a:lnTo>
                <a:lnTo>
                  <a:pt x="3489459" y="0"/>
                </a:lnTo>
                <a:close/>
              </a:path>
            </a:pathLst>
          </a:custGeom>
          <a:ln w="38100">
            <a:solidFill>
              <a:srgbClr val="FF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861809" y="2313559"/>
            <a:ext cx="2169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B6DDEB"/>
                </a:solidFill>
                <a:uFill>
                  <a:solidFill>
                    <a:srgbClr val="B6DDEB"/>
                  </a:solidFill>
                </a:uFill>
                <a:latin typeface="宋体"/>
                <a:cs typeface="宋体"/>
              </a:rPr>
              <a:t>寄存器转换语言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53100" y="4953000"/>
            <a:ext cx="47625" cy="228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48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2866" y="305561"/>
            <a:ext cx="12191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2866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2866" y="250316"/>
            <a:ext cx="121920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2705" algn="ctr">
              <a:lnSpc>
                <a:spcPts val="1955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marR="69850" algn="ctr">
              <a:lnSpc>
                <a:spcPts val="1955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4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85466" y="305561"/>
            <a:ext cx="12192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5466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85466" y="281685"/>
            <a:ext cx="121920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2069" algn="ctr">
              <a:lnSpc>
                <a:spcPts val="178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780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90465" y="305561"/>
            <a:ext cx="12192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90465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90465" y="281685"/>
            <a:ext cx="121920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1435" algn="ctr">
              <a:lnSpc>
                <a:spcPts val="178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780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43065" y="305561"/>
            <a:ext cx="1219199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43065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43065" y="281685"/>
            <a:ext cx="121920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0" algn="ctr">
              <a:lnSpc>
                <a:spcPts val="178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780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1258" y="1219961"/>
            <a:ext cx="1066799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1258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977899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799" y="88900"/>
                </a:lnTo>
                <a:lnTo>
                  <a:pt x="1066799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899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7919" y="1279905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</a:t>
            </a:r>
            <a:r>
              <a:rPr sz="2400" b="1" spc="-15" dirty="0">
                <a:solidFill>
                  <a:srgbClr val="333399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61666" y="1219961"/>
            <a:ext cx="1066799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61666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977899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799" y="88900"/>
                </a:lnTo>
                <a:lnTo>
                  <a:pt x="1066799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899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78073" y="1279905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</a:t>
            </a:r>
            <a:r>
              <a:rPr sz="2400" b="1" spc="-15" dirty="0">
                <a:solidFill>
                  <a:srgbClr val="333399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66665" y="1219961"/>
            <a:ext cx="106680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66665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977900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800" y="88900"/>
                </a:lnTo>
                <a:lnTo>
                  <a:pt x="1066800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9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83328" y="1279905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</a:t>
            </a:r>
            <a:r>
              <a:rPr sz="2400" b="1" spc="-15" dirty="0">
                <a:solidFill>
                  <a:srgbClr val="333399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31458" y="1219961"/>
            <a:ext cx="1066799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31458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977899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799" y="88900"/>
                </a:lnTo>
                <a:lnTo>
                  <a:pt x="1066799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899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548755" y="127990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CFE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2866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2866" y="2194686"/>
            <a:ext cx="121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85466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571178" y="2194686"/>
            <a:ext cx="1247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490465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476178" y="2194686"/>
            <a:ext cx="1247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43065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228778" y="2194686"/>
            <a:ext cx="1247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32866" y="3048761"/>
            <a:ext cx="1155700" cy="533400"/>
          </a:xfrm>
          <a:custGeom>
            <a:avLst/>
            <a:gdLst/>
            <a:ahLst/>
            <a:cxnLst/>
            <a:rect l="l" t="t" r="r" b="b"/>
            <a:pathLst>
              <a:path w="1155700" h="53340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066292" y="0"/>
                </a:lnTo>
                <a:lnTo>
                  <a:pt x="1100917" y="6979"/>
                </a:lnTo>
                <a:lnTo>
                  <a:pt x="1129172" y="26019"/>
                </a:lnTo>
                <a:lnTo>
                  <a:pt x="1148212" y="54274"/>
                </a:lnTo>
                <a:lnTo>
                  <a:pt x="1155192" y="88900"/>
                </a:lnTo>
                <a:lnTo>
                  <a:pt x="1155192" y="444500"/>
                </a:lnTo>
                <a:lnTo>
                  <a:pt x="1148212" y="479125"/>
                </a:lnTo>
                <a:lnTo>
                  <a:pt x="1129172" y="507380"/>
                </a:lnTo>
                <a:lnTo>
                  <a:pt x="1100917" y="526420"/>
                </a:lnTo>
                <a:lnTo>
                  <a:pt x="1066292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40130" y="3141345"/>
            <a:ext cx="1140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Optimizer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635757" y="3048761"/>
            <a:ext cx="1156970" cy="533400"/>
          </a:xfrm>
          <a:custGeom>
            <a:avLst/>
            <a:gdLst/>
            <a:ahLst/>
            <a:cxnLst/>
            <a:rect l="l" t="t" r="r" b="b"/>
            <a:pathLst>
              <a:path w="115697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67816" y="0"/>
                </a:lnTo>
                <a:lnTo>
                  <a:pt x="1102441" y="6979"/>
                </a:lnTo>
                <a:lnTo>
                  <a:pt x="1130696" y="26019"/>
                </a:lnTo>
                <a:lnTo>
                  <a:pt x="1149736" y="54274"/>
                </a:lnTo>
                <a:lnTo>
                  <a:pt x="1156716" y="88900"/>
                </a:lnTo>
                <a:lnTo>
                  <a:pt x="1156716" y="444500"/>
                </a:lnTo>
                <a:lnTo>
                  <a:pt x="1149736" y="479125"/>
                </a:lnTo>
                <a:lnTo>
                  <a:pt x="1130696" y="507380"/>
                </a:lnTo>
                <a:lnTo>
                  <a:pt x="1102441" y="526420"/>
                </a:lnTo>
                <a:lnTo>
                  <a:pt x="1067816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643632" y="3141345"/>
            <a:ext cx="1140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Optimizer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540758" y="3048761"/>
            <a:ext cx="1156970" cy="533400"/>
          </a:xfrm>
          <a:custGeom>
            <a:avLst/>
            <a:gdLst/>
            <a:ahLst/>
            <a:cxnLst/>
            <a:rect l="l" t="t" r="r" b="b"/>
            <a:pathLst>
              <a:path w="115697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67815" y="0"/>
                </a:lnTo>
                <a:lnTo>
                  <a:pt x="1102441" y="6979"/>
                </a:lnTo>
                <a:lnTo>
                  <a:pt x="1130696" y="26019"/>
                </a:lnTo>
                <a:lnTo>
                  <a:pt x="1149736" y="54274"/>
                </a:lnTo>
                <a:lnTo>
                  <a:pt x="1156715" y="88900"/>
                </a:lnTo>
                <a:lnTo>
                  <a:pt x="1156715" y="444500"/>
                </a:lnTo>
                <a:lnTo>
                  <a:pt x="1149736" y="479125"/>
                </a:lnTo>
                <a:lnTo>
                  <a:pt x="1130696" y="507380"/>
                </a:lnTo>
                <a:lnTo>
                  <a:pt x="1102441" y="526420"/>
                </a:lnTo>
                <a:lnTo>
                  <a:pt x="1067815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548885" y="3141345"/>
            <a:ext cx="1140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Optimizer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307073" y="3048761"/>
            <a:ext cx="1155700" cy="533400"/>
          </a:xfrm>
          <a:custGeom>
            <a:avLst/>
            <a:gdLst/>
            <a:ahLst/>
            <a:cxnLst/>
            <a:rect l="l" t="t" r="r" b="b"/>
            <a:pathLst>
              <a:path w="11557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66292" y="0"/>
                </a:lnTo>
                <a:lnTo>
                  <a:pt x="1100917" y="6979"/>
                </a:lnTo>
                <a:lnTo>
                  <a:pt x="1129172" y="26019"/>
                </a:lnTo>
                <a:lnTo>
                  <a:pt x="1148212" y="54274"/>
                </a:lnTo>
                <a:lnTo>
                  <a:pt x="1155192" y="88900"/>
                </a:lnTo>
                <a:lnTo>
                  <a:pt x="1155192" y="444500"/>
                </a:lnTo>
                <a:lnTo>
                  <a:pt x="1148212" y="479125"/>
                </a:lnTo>
                <a:lnTo>
                  <a:pt x="1129172" y="507380"/>
                </a:lnTo>
                <a:lnTo>
                  <a:pt x="1100917" y="526420"/>
                </a:lnTo>
                <a:lnTo>
                  <a:pt x="1066292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314694" y="3141345"/>
            <a:ext cx="1140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Optimizer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32866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32866" y="3935348"/>
            <a:ext cx="121920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4810" marR="90170" indent="-291465">
              <a:lnSpc>
                <a:spcPts val="1839"/>
              </a:lnSpc>
              <a:spcBef>
                <a:spcPts val="42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</a:t>
            </a: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ed  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585466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571178" y="3985641"/>
            <a:ext cx="124777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Optimized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490465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476178" y="3985641"/>
            <a:ext cx="124777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Optimized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243065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228778" y="3985641"/>
            <a:ext cx="124777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Optimized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82573" y="4877561"/>
            <a:ext cx="1308100" cy="533400"/>
          </a:xfrm>
          <a:custGeom>
            <a:avLst/>
            <a:gdLst/>
            <a:ahLst/>
            <a:cxnLst/>
            <a:rect l="l" t="t" r="r" b="b"/>
            <a:pathLst>
              <a:path w="1308100" h="53340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218692" y="0"/>
                </a:lnTo>
                <a:lnTo>
                  <a:pt x="1253317" y="6979"/>
                </a:lnTo>
                <a:lnTo>
                  <a:pt x="1281572" y="26019"/>
                </a:lnTo>
                <a:lnTo>
                  <a:pt x="1300612" y="54274"/>
                </a:lnTo>
                <a:lnTo>
                  <a:pt x="1307592" y="88900"/>
                </a:lnTo>
                <a:lnTo>
                  <a:pt x="1307592" y="444500"/>
                </a:lnTo>
                <a:lnTo>
                  <a:pt x="1300612" y="479125"/>
                </a:lnTo>
                <a:lnTo>
                  <a:pt x="1281572" y="507380"/>
                </a:lnTo>
                <a:lnTo>
                  <a:pt x="1253317" y="526420"/>
                </a:lnTo>
                <a:lnTo>
                  <a:pt x="1218692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96848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763773" y="5779770"/>
            <a:ext cx="2895600" cy="609600"/>
          </a:xfrm>
          <a:custGeom>
            <a:avLst/>
            <a:gdLst/>
            <a:ahLst/>
            <a:cxnLst/>
            <a:rect l="l" t="t" r="r" b="b"/>
            <a:pathLst>
              <a:path w="2895600" h="609600">
                <a:moveTo>
                  <a:pt x="0" y="101599"/>
                </a:moveTo>
                <a:lnTo>
                  <a:pt x="7981" y="62054"/>
                </a:lnTo>
                <a:lnTo>
                  <a:pt x="29749" y="29759"/>
                </a:lnTo>
                <a:lnTo>
                  <a:pt x="62043" y="7984"/>
                </a:lnTo>
                <a:lnTo>
                  <a:pt x="101600" y="0"/>
                </a:lnTo>
                <a:lnTo>
                  <a:pt x="2794000" y="0"/>
                </a:lnTo>
                <a:lnTo>
                  <a:pt x="2833556" y="7984"/>
                </a:lnTo>
                <a:lnTo>
                  <a:pt x="2865850" y="29759"/>
                </a:lnTo>
                <a:lnTo>
                  <a:pt x="2887618" y="62054"/>
                </a:lnTo>
                <a:lnTo>
                  <a:pt x="2895600" y="101599"/>
                </a:lnTo>
                <a:lnTo>
                  <a:pt x="2895600" y="507999"/>
                </a:lnTo>
                <a:lnTo>
                  <a:pt x="2887618" y="547545"/>
                </a:lnTo>
                <a:lnTo>
                  <a:pt x="2865850" y="579840"/>
                </a:lnTo>
                <a:lnTo>
                  <a:pt x="2833556" y="601615"/>
                </a:lnTo>
                <a:lnTo>
                  <a:pt x="2794000" y="609599"/>
                </a:lnTo>
                <a:lnTo>
                  <a:pt x="101600" y="609599"/>
                </a:lnTo>
                <a:lnTo>
                  <a:pt x="62043" y="601615"/>
                </a:lnTo>
                <a:lnTo>
                  <a:pt x="29749" y="579840"/>
                </a:lnTo>
                <a:lnTo>
                  <a:pt x="7981" y="547545"/>
                </a:lnTo>
                <a:lnTo>
                  <a:pt x="0" y="507999"/>
                </a:lnTo>
                <a:lnTo>
                  <a:pt x="0" y="101599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497960" y="5846470"/>
            <a:ext cx="1424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66"/>
                </a:solidFill>
                <a:latin typeface="Times New Roman"/>
                <a:cs typeface="Times New Roman"/>
              </a:rPr>
              <a:t>LINK</a:t>
            </a:r>
            <a:r>
              <a:rPr sz="2800" b="1" spc="-20" dirty="0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sz="2800" b="1" spc="-5" dirty="0">
                <a:solidFill>
                  <a:srgbClr val="FFFF66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559557" y="4877561"/>
            <a:ext cx="1309370" cy="533400"/>
          </a:xfrm>
          <a:custGeom>
            <a:avLst/>
            <a:gdLst/>
            <a:ahLst/>
            <a:cxnLst/>
            <a:rect l="l" t="t" r="r" b="b"/>
            <a:pathLst>
              <a:path w="130937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20216" y="0"/>
                </a:lnTo>
                <a:lnTo>
                  <a:pt x="1254841" y="6979"/>
                </a:lnTo>
                <a:lnTo>
                  <a:pt x="1283096" y="26019"/>
                </a:lnTo>
                <a:lnTo>
                  <a:pt x="1302136" y="54274"/>
                </a:lnTo>
                <a:lnTo>
                  <a:pt x="1309116" y="88900"/>
                </a:lnTo>
                <a:lnTo>
                  <a:pt x="1309116" y="444500"/>
                </a:lnTo>
                <a:lnTo>
                  <a:pt x="1302136" y="479125"/>
                </a:lnTo>
                <a:lnTo>
                  <a:pt x="1283096" y="507380"/>
                </a:lnTo>
                <a:lnTo>
                  <a:pt x="1254841" y="526420"/>
                </a:lnTo>
                <a:lnTo>
                  <a:pt x="1220216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575051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452365" y="4877561"/>
            <a:ext cx="1308100" cy="533400"/>
          </a:xfrm>
          <a:custGeom>
            <a:avLst/>
            <a:gdLst/>
            <a:ahLst/>
            <a:cxnLst/>
            <a:rect l="l" t="t" r="r" b="b"/>
            <a:pathLst>
              <a:path w="13081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18692" y="0"/>
                </a:lnTo>
                <a:lnTo>
                  <a:pt x="1253317" y="6979"/>
                </a:lnTo>
                <a:lnTo>
                  <a:pt x="1281572" y="26019"/>
                </a:lnTo>
                <a:lnTo>
                  <a:pt x="1300612" y="54274"/>
                </a:lnTo>
                <a:lnTo>
                  <a:pt x="1307592" y="88900"/>
                </a:lnTo>
                <a:lnTo>
                  <a:pt x="1307592" y="444500"/>
                </a:lnTo>
                <a:lnTo>
                  <a:pt x="1300612" y="479125"/>
                </a:lnTo>
                <a:lnTo>
                  <a:pt x="1281572" y="507380"/>
                </a:lnTo>
                <a:lnTo>
                  <a:pt x="1253317" y="526420"/>
                </a:lnTo>
                <a:lnTo>
                  <a:pt x="1218692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467859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204965" y="4877561"/>
            <a:ext cx="1308100" cy="533400"/>
          </a:xfrm>
          <a:custGeom>
            <a:avLst/>
            <a:gdLst/>
            <a:ahLst/>
            <a:cxnLst/>
            <a:rect l="l" t="t" r="r" b="b"/>
            <a:pathLst>
              <a:path w="13081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18691" y="0"/>
                </a:lnTo>
                <a:lnTo>
                  <a:pt x="1253317" y="6979"/>
                </a:lnTo>
                <a:lnTo>
                  <a:pt x="1281572" y="26019"/>
                </a:lnTo>
                <a:lnTo>
                  <a:pt x="1300612" y="54274"/>
                </a:lnTo>
                <a:lnTo>
                  <a:pt x="1307591" y="88900"/>
                </a:lnTo>
                <a:lnTo>
                  <a:pt x="1307591" y="444500"/>
                </a:lnTo>
                <a:lnTo>
                  <a:pt x="1300612" y="479125"/>
                </a:lnTo>
                <a:lnTo>
                  <a:pt x="1281572" y="507380"/>
                </a:lnTo>
                <a:lnTo>
                  <a:pt x="1253317" y="526420"/>
                </a:lnTo>
                <a:lnTo>
                  <a:pt x="121869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6220714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404366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156966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8" y="322834"/>
                </a:lnTo>
                <a:lnTo>
                  <a:pt x="49148" y="0"/>
                </a:lnTo>
                <a:close/>
              </a:path>
              <a:path w="76200" h="381000">
                <a:moveTo>
                  <a:pt x="49148" y="322834"/>
                </a:moveTo>
                <a:lnTo>
                  <a:pt x="38100" y="330200"/>
                </a:lnTo>
                <a:lnTo>
                  <a:pt x="49148" y="330200"/>
                </a:lnTo>
                <a:lnTo>
                  <a:pt x="49148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8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61965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814566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04366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156966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8" y="322834"/>
                </a:lnTo>
                <a:lnTo>
                  <a:pt x="49148" y="0"/>
                </a:lnTo>
                <a:close/>
              </a:path>
              <a:path w="76200" h="381000">
                <a:moveTo>
                  <a:pt x="49148" y="322834"/>
                </a:moveTo>
                <a:lnTo>
                  <a:pt x="38100" y="330200"/>
                </a:lnTo>
                <a:lnTo>
                  <a:pt x="49148" y="330200"/>
                </a:lnTo>
                <a:lnTo>
                  <a:pt x="49148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8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061965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814566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392174" y="26677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8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144773" y="26677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049773" y="26677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802373" y="26677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392174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8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144773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049773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3"/>
                </a:lnTo>
                <a:lnTo>
                  <a:pt x="38100" y="330200"/>
                </a:lnTo>
                <a:lnTo>
                  <a:pt x="49149" y="322833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3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3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802373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3"/>
                </a:lnTo>
                <a:lnTo>
                  <a:pt x="38100" y="330200"/>
                </a:lnTo>
                <a:lnTo>
                  <a:pt x="49149" y="322833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3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3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92174" y="35821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8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144773" y="35821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049773" y="35821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3"/>
                </a:lnTo>
                <a:lnTo>
                  <a:pt x="38100" y="330200"/>
                </a:lnTo>
                <a:lnTo>
                  <a:pt x="49149" y="322833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3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3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802373" y="35821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3"/>
                </a:lnTo>
                <a:lnTo>
                  <a:pt x="38100" y="330200"/>
                </a:lnTo>
                <a:lnTo>
                  <a:pt x="49149" y="322833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3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3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156966" y="5410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8" y="322834"/>
                </a:lnTo>
                <a:lnTo>
                  <a:pt x="49148" y="0"/>
                </a:lnTo>
                <a:close/>
              </a:path>
              <a:path w="76200" h="381000">
                <a:moveTo>
                  <a:pt x="49148" y="322834"/>
                </a:moveTo>
                <a:lnTo>
                  <a:pt x="38100" y="330200"/>
                </a:lnTo>
                <a:lnTo>
                  <a:pt x="49148" y="330200"/>
                </a:lnTo>
                <a:lnTo>
                  <a:pt x="49148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8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061965" y="5410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439925" y="5401817"/>
            <a:ext cx="1374140" cy="407034"/>
          </a:xfrm>
          <a:custGeom>
            <a:avLst/>
            <a:gdLst/>
            <a:ahLst/>
            <a:cxnLst/>
            <a:rect l="l" t="t" r="r" b="b"/>
            <a:pathLst>
              <a:path w="1374139" h="407035">
                <a:moveTo>
                  <a:pt x="1316577" y="384022"/>
                </a:moveTo>
                <a:lnTo>
                  <a:pt x="1290574" y="406463"/>
                </a:lnTo>
                <a:lnTo>
                  <a:pt x="1374140" y="390143"/>
                </a:lnTo>
                <a:lnTo>
                  <a:pt x="1369245" y="385724"/>
                </a:lnTo>
                <a:lnTo>
                  <a:pt x="1322705" y="385724"/>
                </a:lnTo>
                <a:lnTo>
                  <a:pt x="1316577" y="384022"/>
                </a:lnTo>
                <a:close/>
              </a:path>
              <a:path w="1374139" h="407035">
                <a:moveTo>
                  <a:pt x="1321659" y="365671"/>
                </a:moveTo>
                <a:lnTo>
                  <a:pt x="1325245" y="376542"/>
                </a:lnTo>
                <a:lnTo>
                  <a:pt x="1316577" y="384022"/>
                </a:lnTo>
                <a:lnTo>
                  <a:pt x="1322705" y="385724"/>
                </a:lnTo>
                <a:lnTo>
                  <a:pt x="1327785" y="367372"/>
                </a:lnTo>
                <a:lnTo>
                  <a:pt x="1321659" y="365671"/>
                </a:lnTo>
                <a:close/>
              </a:path>
              <a:path w="1374139" h="407035">
                <a:moveTo>
                  <a:pt x="1310894" y="333032"/>
                </a:moveTo>
                <a:lnTo>
                  <a:pt x="1321659" y="365671"/>
                </a:lnTo>
                <a:lnTo>
                  <a:pt x="1327785" y="367372"/>
                </a:lnTo>
                <a:lnTo>
                  <a:pt x="1322705" y="385724"/>
                </a:lnTo>
                <a:lnTo>
                  <a:pt x="1369245" y="385724"/>
                </a:lnTo>
                <a:lnTo>
                  <a:pt x="1310894" y="333032"/>
                </a:lnTo>
                <a:close/>
              </a:path>
              <a:path w="1374139" h="407035">
                <a:moveTo>
                  <a:pt x="5080" y="0"/>
                </a:moveTo>
                <a:lnTo>
                  <a:pt x="0" y="18287"/>
                </a:lnTo>
                <a:lnTo>
                  <a:pt x="1316577" y="384022"/>
                </a:lnTo>
                <a:lnTo>
                  <a:pt x="1325245" y="376542"/>
                </a:lnTo>
                <a:lnTo>
                  <a:pt x="1321659" y="365671"/>
                </a:lnTo>
                <a:lnTo>
                  <a:pt x="50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633465" y="5402071"/>
            <a:ext cx="1223010" cy="475615"/>
          </a:xfrm>
          <a:custGeom>
            <a:avLst/>
            <a:gdLst/>
            <a:ahLst/>
            <a:cxnLst/>
            <a:rect l="l" t="t" r="r" b="b"/>
            <a:pathLst>
              <a:path w="1223009" h="475614">
                <a:moveTo>
                  <a:pt x="57912" y="403656"/>
                </a:moveTo>
                <a:lnTo>
                  <a:pt x="0" y="466089"/>
                </a:lnTo>
                <a:lnTo>
                  <a:pt x="84709" y="475005"/>
                </a:lnTo>
                <a:lnTo>
                  <a:pt x="59998" y="457174"/>
                </a:lnTo>
                <a:lnTo>
                  <a:pt x="50926" y="457174"/>
                </a:lnTo>
                <a:lnTo>
                  <a:pt x="44196" y="439331"/>
                </a:lnTo>
                <a:lnTo>
                  <a:pt x="50201" y="437079"/>
                </a:lnTo>
                <a:lnTo>
                  <a:pt x="57912" y="403656"/>
                </a:lnTo>
                <a:close/>
              </a:path>
              <a:path w="1223009" h="475614">
                <a:moveTo>
                  <a:pt x="50201" y="437079"/>
                </a:moveTo>
                <a:lnTo>
                  <a:pt x="44196" y="439331"/>
                </a:lnTo>
                <a:lnTo>
                  <a:pt x="50926" y="457174"/>
                </a:lnTo>
                <a:lnTo>
                  <a:pt x="56895" y="454936"/>
                </a:lnTo>
                <a:lnTo>
                  <a:pt x="47625" y="448246"/>
                </a:lnTo>
                <a:lnTo>
                  <a:pt x="50201" y="437079"/>
                </a:lnTo>
                <a:close/>
              </a:path>
              <a:path w="1223009" h="475614">
                <a:moveTo>
                  <a:pt x="56895" y="454936"/>
                </a:moveTo>
                <a:lnTo>
                  <a:pt x="50926" y="457174"/>
                </a:lnTo>
                <a:lnTo>
                  <a:pt x="59998" y="457174"/>
                </a:lnTo>
                <a:lnTo>
                  <a:pt x="56895" y="454936"/>
                </a:lnTo>
                <a:close/>
              </a:path>
              <a:path w="1223009" h="475614">
                <a:moveTo>
                  <a:pt x="1215898" y="0"/>
                </a:moveTo>
                <a:lnTo>
                  <a:pt x="50201" y="437079"/>
                </a:lnTo>
                <a:lnTo>
                  <a:pt x="47625" y="448246"/>
                </a:lnTo>
                <a:lnTo>
                  <a:pt x="56895" y="454936"/>
                </a:lnTo>
                <a:lnTo>
                  <a:pt x="1222502" y="17779"/>
                </a:lnTo>
                <a:lnTo>
                  <a:pt x="12158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849616" y="56631"/>
            <a:ext cx="369570" cy="1701800"/>
          </a:xfrm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75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849616" y="2098675"/>
            <a:ext cx="3695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849616" y="4003624"/>
            <a:ext cx="369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849616" y="4779009"/>
            <a:ext cx="369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19583" y="6431076"/>
            <a:ext cx="4599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StarCore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Non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Optimization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32168" y="6779766"/>
            <a:ext cx="4575175" cy="0"/>
          </a:xfrm>
          <a:custGeom>
            <a:avLst/>
            <a:gdLst/>
            <a:ahLst/>
            <a:cxnLst/>
            <a:rect l="l" t="t" r="r" b="b"/>
            <a:pathLst>
              <a:path w="4575175">
                <a:moveTo>
                  <a:pt x="0" y="0"/>
                </a:moveTo>
                <a:lnTo>
                  <a:pt x="4575048" y="0"/>
                </a:lnTo>
              </a:path>
            </a:pathLst>
          </a:custGeom>
          <a:ln w="1371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49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2866" y="305561"/>
            <a:ext cx="12191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2866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2866" y="250316"/>
            <a:ext cx="121920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2705" algn="ctr">
              <a:lnSpc>
                <a:spcPts val="1955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marR="69850" algn="ctr">
              <a:lnSpc>
                <a:spcPts val="1955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4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85466" y="305561"/>
            <a:ext cx="12192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5466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85466" y="281685"/>
            <a:ext cx="121920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2069" algn="ctr">
              <a:lnSpc>
                <a:spcPts val="178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780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90465" y="305561"/>
            <a:ext cx="12192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90465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90465" y="281685"/>
            <a:ext cx="121920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1435" algn="ctr">
              <a:lnSpc>
                <a:spcPts val="178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780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43065" y="305561"/>
            <a:ext cx="12191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43065" y="3055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43065" y="281685"/>
            <a:ext cx="121920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0" algn="ctr">
              <a:lnSpc>
                <a:spcPts val="178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780"/>
              </a:lnSpc>
            </a:pPr>
            <a:r>
              <a:rPr sz="18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800" b="1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1258" y="1219961"/>
            <a:ext cx="1066799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1258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977899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799" y="88900"/>
                </a:lnTo>
                <a:lnTo>
                  <a:pt x="1066799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899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7919" y="1279905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</a:t>
            </a:r>
            <a:r>
              <a:rPr sz="2400" b="1" spc="-15" dirty="0">
                <a:solidFill>
                  <a:srgbClr val="333399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61666" y="1219961"/>
            <a:ext cx="1066799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61666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977899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799" y="88900"/>
                </a:lnTo>
                <a:lnTo>
                  <a:pt x="1066799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899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78073" y="1279905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</a:t>
            </a:r>
            <a:r>
              <a:rPr sz="2400" b="1" spc="-15" dirty="0">
                <a:solidFill>
                  <a:srgbClr val="333399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66665" y="1219961"/>
            <a:ext cx="10668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66665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977900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800" y="88900"/>
                </a:lnTo>
                <a:lnTo>
                  <a:pt x="1066800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9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83328" y="1279905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</a:t>
            </a:r>
            <a:r>
              <a:rPr sz="2400" b="1" spc="-15" dirty="0">
                <a:solidFill>
                  <a:srgbClr val="333399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33339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31458" y="1219961"/>
            <a:ext cx="1066799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31458" y="1219961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977899" y="0"/>
                </a:lnTo>
                <a:lnTo>
                  <a:pt x="1012525" y="6979"/>
                </a:lnTo>
                <a:lnTo>
                  <a:pt x="1040780" y="26019"/>
                </a:lnTo>
                <a:lnTo>
                  <a:pt x="1059820" y="54274"/>
                </a:lnTo>
                <a:lnTo>
                  <a:pt x="1066799" y="88900"/>
                </a:lnTo>
                <a:lnTo>
                  <a:pt x="1066799" y="444500"/>
                </a:lnTo>
                <a:lnTo>
                  <a:pt x="1059820" y="479125"/>
                </a:lnTo>
                <a:lnTo>
                  <a:pt x="1040780" y="507380"/>
                </a:lnTo>
                <a:lnTo>
                  <a:pt x="1012525" y="526420"/>
                </a:lnTo>
                <a:lnTo>
                  <a:pt x="977899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548755" y="127990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CFE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2866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2866" y="2194686"/>
            <a:ext cx="121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85466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585466" y="2194686"/>
            <a:ext cx="121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490465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490465" y="2194686"/>
            <a:ext cx="121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43065" y="21343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243065" y="2194686"/>
            <a:ext cx="121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32866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32866" y="3935348"/>
            <a:ext cx="121920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4810" marR="90170" indent="-291465">
              <a:lnSpc>
                <a:spcPts val="1839"/>
              </a:lnSpc>
              <a:spcBef>
                <a:spcPts val="42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</a:t>
            </a: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ed  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85466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571178" y="3985641"/>
            <a:ext cx="124777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Optimized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90465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533400"/>
                </a:lnTo>
                <a:lnTo>
                  <a:pt x="1219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476178" y="3985641"/>
            <a:ext cx="124777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Optimized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43065" y="3963161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199" y="533400"/>
                </a:lnTo>
                <a:lnTo>
                  <a:pt x="12191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228778" y="3985641"/>
            <a:ext cx="124777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Optimized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82573" y="4877561"/>
            <a:ext cx="1308100" cy="533400"/>
          </a:xfrm>
          <a:custGeom>
            <a:avLst/>
            <a:gdLst/>
            <a:ahLst/>
            <a:cxnLst/>
            <a:rect l="l" t="t" r="r" b="b"/>
            <a:pathLst>
              <a:path w="1308100" h="53340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218692" y="0"/>
                </a:lnTo>
                <a:lnTo>
                  <a:pt x="1253317" y="6979"/>
                </a:lnTo>
                <a:lnTo>
                  <a:pt x="1281572" y="26019"/>
                </a:lnTo>
                <a:lnTo>
                  <a:pt x="1300612" y="54274"/>
                </a:lnTo>
                <a:lnTo>
                  <a:pt x="1307592" y="88900"/>
                </a:lnTo>
                <a:lnTo>
                  <a:pt x="1307592" y="444500"/>
                </a:lnTo>
                <a:lnTo>
                  <a:pt x="1300612" y="479125"/>
                </a:lnTo>
                <a:lnTo>
                  <a:pt x="1281572" y="507380"/>
                </a:lnTo>
                <a:lnTo>
                  <a:pt x="1253317" y="526420"/>
                </a:lnTo>
                <a:lnTo>
                  <a:pt x="1218692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96848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763773" y="5779770"/>
            <a:ext cx="2895600" cy="609600"/>
          </a:xfrm>
          <a:custGeom>
            <a:avLst/>
            <a:gdLst/>
            <a:ahLst/>
            <a:cxnLst/>
            <a:rect l="l" t="t" r="r" b="b"/>
            <a:pathLst>
              <a:path w="2895600" h="609600">
                <a:moveTo>
                  <a:pt x="0" y="101599"/>
                </a:moveTo>
                <a:lnTo>
                  <a:pt x="7981" y="62054"/>
                </a:lnTo>
                <a:lnTo>
                  <a:pt x="29749" y="29759"/>
                </a:lnTo>
                <a:lnTo>
                  <a:pt x="62043" y="7984"/>
                </a:lnTo>
                <a:lnTo>
                  <a:pt x="101600" y="0"/>
                </a:lnTo>
                <a:lnTo>
                  <a:pt x="2794000" y="0"/>
                </a:lnTo>
                <a:lnTo>
                  <a:pt x="2833556" y="7984"/>
                </a:lnTo>
                <a:lnTo>
                  <a:pt x="2865850" y="29759"/>
                </a:lnTo>
                <a:lnTo>
                  <a:pt x="2887618" y="62054"/>
                </a:lnTo>
                <a:lnTo>
                  <a:pt x="2895600" y="101599"/>
                </a:lnTo>
                <a:lnTo>
                  <a:pt x="2895600" y="507999"/>
                </a:lnTo>
                <a:lnTo>
                  <a:pt x="2887618" y="547545"/>
                </a:lnTo>
                <a:lnTo>
                  <a:pt x="2865850" y="579840"/>
                </a:lnTo>
                <a:lnTo>
                  <a:pt x="2833556" y="601615"/>
                </a:lnTo>
                <a:lnTo>
                  <a:pt x="2794000" y="609599"/>
                </a:lnTo>
                <a:lnTo>
                  <a:pt x="101600" y="609599"/>
                </a:lnTo>
                <a:lnTo>
                  <a:pt x="62043" y="601615"/>
                </a:lnTo>
                <a:lnTo>
                  <a:pt x="29749" y="579840"/>
                </a:lnTo>
                <a:lnTo>
                  <a:pt x="7981" y="547545"/>
                </a:lnTo>
                <a:lnTo>
                  <a:pt x="0" y="507999"/>
                </a:lnTo>
                <a:lnTo>
                  <a:pt x="0" y="101599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497960" y="5846470"/>
            <a:ext cx="1424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66"/>
                </a:solidFill>
                <a:latin typeface="Times New Roman"/>
                <a:cs typeface="Times New Roman"/>
              </a:rPr>
              <a:t>LINK</a:t>
            </a:r>
            <a:r>
              <a:rPr sz="2800" b="1" spc="-20" dirty="0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sz="2800" b="1" spc="-5" dirty="0">
                <a:solidFill>
                  <a:srgbClr val="FFFF66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559557" y="4877561"/>
            <a:ext cx="1309370" cy="533400"/>
          </a:xfrm>
          <a:custGeom>
            <a:avLst/>
            <a:gdLst/>
            <a:ahLst/>
            <a:cxnLst/>
            <a:rect l="l" t="t" r="r" b="b"/>
            <a:pathLst>
              <a:path w="130937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20216" y="0"/>
                </a:lnTo>
                <a:lnTo>
                  <a:pt x="1254841" y="6979"/>
                </a:lnTo>
                <a:lnTo>
                  <a:pt x="1283096" y="26019"/>
                </a:lnTo>
                <a:lnTo>
                  <a:pt x="1302136" y="54274"/>
                </a:lnTo>
                <a:lnTo>
                  <a:pt x="1309116" y="88900"/>
                </a:lnTo>
                <a:lnTo>
                  <a:pt x="1309116" y="444500"/>
                </a:lnTo>
                <a:lnTo>
                  <a:pt x="1302136" y="479125"/>
                </a:lnTo>
                <a:lnTo>
                  <a:pt x="1283096" y="507380"/>
                </a:lnTo>
                <a:lnTo>
                  <a:pt x="1254841" y="526420"/>
                </a:lnTo>
                <a:lnTo>
                  <a:pt x="1220216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575051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452365" y="4877561"/>
            <a:ext cx="1308100" cy="533400"/>
          </a:xfrm>
          <a:custGeom>
            <a:avLst/>
            <a:gdLst/>
            <a:ahLst/>
            <a:cxnLst/>
            <a:rect l="l" t="t" r="r" b="b"/>
            <a:pathLst>
              <a:path w="13081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18692" y="0"/>
                </a:lnTo>
                <a:lnTo>
                  <a:pt x="1253317" y="6979"/>
                </a:lnTo>
                <a:lnTo>
                  <a:pt x="1281572" y="26019"/>
                </a:lnTo>
                <a:lnTo>
                  <a:pt x="1300612" y="54274"/>
                </a:lnTo>
                <a:lnTo>
                  <a:pt x="1307592" y="88900"/>
                </a:lnTo>
                <a:lnTo>
                  <a:pt x="1307592" y="444500"/>
                </a:lnTo>
                <a:lnTo>
                  <a:pt x="1300612" y="479125"/>
                </a:lnTo>
                <a:lnTo>
                  <a:pt x="1281572" y="507380"/>
                </a:lnTo>
                <a:lnTo>
                  <a:pt x="1253317" y="526420"/>
                </a:lnTo>
                <a:lnTo>
                  <a:pt x="1218692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467859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204965" y="4877561"/>
            <a:ext cx="1308100" cy="533400"/>
          </a:xfrm>
          <a:custGeom>
            <a:avLst/>
            <a:gdLst/>
            <a:ahLst/>
            <a:cxnLst/>
            <a:rect l="l" t="t" r="r" b="b"/>
            <a:pathLst>
              <a:path w="13081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18691" y="0"/>
                </a:lnTo>
                <a:lnTo>
                  <a:pt x="1253317" y="6979"/>
                </a:lnTo>
                <a:lnTo>
                  <a:pt x="1281572" y="26019"/>
                </a:lnTo>
                <a:lnTo>
                  <a:pt x="1300612" y="54274"/>
                </a:lnTo>
                <a:lnTo>
                  <a:pt x="1307591" y="88900"/>
                </a:lnTo>
                <a:lnTo>
                  <a:pt x="1307591" y="444500"/>
                </a:lnTo>
                <a:lnTo>
                  <a:pt x="1300612" y="479125"/>
                </a:lnTo>
                <a:lnTo>
                  <a:pt x="1281572" y="507380"/>
                </a:lnTo>
                <a:lnTo>
                  <a:pt x="1253317" y="526420"/>
                </a:lnTo>
                <a:lnTo>
                  <a:pt x="121869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220714" y="5004053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ASSE</a:t>
            </a:r>
            <a:r>
              <a:rPr sz="1600" b="1" dirty="0">
                <a:solidFill>
                  <a:srgbClr val="333399"/>
                </a:solidFill>
                <a:latin typeface="Times New Roman"/>
                <a:cs typeface="Times New Roman"/>
              </a:rPr>
              <a:t>M</a:t>
            </a:r>
            <a:r>
              <a:rPr sz="1600" b="1" spc="-5" dirty="0">
                <a:solidFill>
                  <a:srgbClr val="333399"/>
                </a:solidFill>
                <a:latin typeface="Times New Roman"/>
                <a:cs typeface="Times New Roman"/>
              </a:rPr>
              <a:t>BLER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404366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56966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8" y="322834"/>
                </a:lnTo>
                <a:lnTo>
                  <a:pt x="49148" y="0"/>
                </a:lnTo>
                <a:close/>
              </a:path>
              <a:path w="76200" h="381000">
                <a:moveTo>
                  <a:pt x="49148" y="322834"/>
                </a:moveTo>
                <a:lnTo>
                  <a:pt x="38100" y="330200"/>
                </a:lnTo>
                <a:lnTo>
                  <a:pt x="49148" y="330200"/>
                </a:lnTo>
                <a:lnTo>
                  <a:pt x="49148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8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061965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14566" y="838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404366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56966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8" y="322834"/>
                </a:lnTo>
                <a:lnTo>
                  <a:pt x="49148" y="0"/>
                </a:lnTo>
                <a:close/>
              </a:path>
              <a:path w="76200" h="381000">
                <a:moveTo>
                  <a:pt x="49148" y="322834"/>
                </a:moveTo>
                <a:lnTo>
                  <a:pt x="38100" y="330200"/>
                </a:lnTo>
                <a:lnTo>
                  <a:pt x="49148" y="330200"/>
                </a:lnTo>
                <a:lnTo>
                  <a:pt x="49148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8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061965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14566" y="17533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392174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8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144773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6926" y="322751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48" y="322832"/>
                </a:lnTo>
                <a:lnTo>
                  <a:pt x="38100" y="330200"/>
                </a:lnTo>
                <a:lnTo>
                  <a:pt x="49151" y="322832"/>
                </a:lnTo>
                <a:lnTo>
                  <a:pt x="49149" y="0"/>
                </a:lnTo>
                <a:close/>
              </a:path>
              <a:path w="76200" h="381000">
                <a:moveTo>
                  <a:pt x="49273" y="322751"/>
                </a:moveTo>
                <a:lnTo>
                  <a:pt x="38100" y="330200"/>
                </a:lnTo>
                <a:lnTo>
                  <a:pt x="49275" y="330200"/>
                </a:lnTo>
                <a:lnTo>
                  <a:pt x="49273" y="322751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3" y="322751"/>
                </a:lnTo>
                <a:lnTo>
                  <a:pt x="49275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49773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3"/>
                </a:lnTo>
                <a:lnTo>
                  <a:pt x="38100" y="330200"/>
                </a:lnTo>
                <a:lnTo>
                  <a:pt x="49149" y="322833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3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3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802373" y="44965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6924" y="330200"/>
                </a:lnTo>
                <a:lnTo>
                  <a:pt x="26924" y="322749"/>
                </a:lnTo>
                <a:lnTo>
                  <a:pt x="0" y="304800"/>
                </a:lnTo>
                <a:close/>
              </a:path>
              <a:path w="76200" h="381000">
                <a:moveTo>
                  <a:pt x="26924" y="322749"/>
                </a:moveTo>
                <a:lnTo>
                  <a:pt x="26924" y="330200"/>
                </a:lnTo>
                <a:lnTo>
                  <a:pt x="38100" y="330200"/>
                </a:lnTo>
                <a:lnTo>
                  <a:pt x="26924" y="322749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3"/>
                </a:lnTo>
                <a:lnTo>
                  <a:pt x="38100" y="330200"/>
                </a:lnTo>
                <a:lnTo>
                  <a:pt x="49149" y="322833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3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3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275" y="322749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156966" y="5410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8" y="0"/>
                </a:moveTo>
                <a:lnTo>
                  <a:pt x="26923" y="0"/>
                </a:lnTo>
                <a:lnTo>
                  <a:pt x="27051" y="322834"/>
                </a:lnTo>
                <a:lnTo>
                  <a:pt x="38100" y="330200"/>
                </a:lnTo>
                <a:lnTo>
                  <a:pt x="49148" y="322834"/>
                </a:lnTo>
                <a:lnTo>
                  <a:pt x="49148" y="0"/>
                </a:lnTo>
                <a:close/>
              </a:path>
              <a:path w="76200" h="381000">
                <a:moveTo>
                  <a:pt x="49148" y="322834"/>
                </a:moveTo>
                <a:lnTo>
                  <a:pt x="38100" y="330200"/>
                </a:lnTo>
                <a:lnTo>
                  <a:pt x="49148" y="330200"/>
                </a:lnTo>
                <a:lnTo>
                  <a:pt x="49148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8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061965" y="5410961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27050" y="330200"/>
                </a:lnTo>
                <a:lnTo>
                  <a:pt x="27048" y="322832"/>
                </a:lnTo>
                <a:lnTo>
                  <a:pt x="0" y="304800"/>
                </a:lnTo>
                <a:close/>
              </a:path>
              <a:path w="76200" h="381000">
                <a:moveTo>
                  <a:pt x="27048" y="322832"/>
                </a:moveTo>
                <a:lnTo>
                  <a:pt x="27050" y="330200"/>
                </a:lnTo>
                <a:lnTo>
                  <a:pt x="38100" y="330200"/>
                </a:lnTo>
                <a:lnTo>
                  <a:pt x="27048" y="322832"/>
                </a:lnTo>
                <a:close/>
              </a:path>
              <a:path w="76200" h="381000">
                <a:moveTo>
                  <a:pt x="49149" y="0"/>
                </a:moveTo>
                <a:lnTo>
                  <a:pt x="26924" y="0"/>
                </a:lnTo>
                <a:lnTo>
                  <a:pt x="27050" y="322834"/>
                </a:lnTo>
                <a:lnTo>
                  <a:pt x="38100" y="330200"/>
                </a:lnTo>
                <a:lnTo>
                  <a:pt x="49149" y="322834"/>
                </a:lnTo>
                <a:lnTo>
                  <a:pt x="49149" y="0"/>
                </a:lnTo>
                <a:close/>
              </a:path>
              <a:path w="76200" h="381000">
                <a:moveTo>
                  <a:pt x="49149" y="322834"/>
                </a:moveTo>
                <a:lnTo>
                  <a:pt x="38100" y="330200"/>
                </a:lnTo>
                <a:lnTo>
                  <a:pt x="49149" y="330200"/>
                </a:lnTo>
                <a:lnTo>
                  <a:pt x="49149" y="322834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9151" y="322832"/>
                </a:lnTo>
                <a:lnTo>
                  <a:pt x="49149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439925" y="5401817"/>
            <a:ext cx="1374140" cy="407034"/>
          </a:xfrm>
          <a:custGeom>
            <a:avLst/>
            <a:gdLst/>
            <a:ahLst/>
            <a:cxnLst/>
            <a:rect l="l" t="t" r="r" b="b"/>
            <a:pathLst>
              <a:path w="1374139" h="407035">
                <a:moveTo>
                  <a:pt x="1316577" y="384022"/>
                </a:moveTo>
                <a:lnTo>
                  <a:pt x="1290574" y="406463"/>
                </a:lnTo>
                <a:lnTo>
                  <a:pt x="1374140" y="390143"/>
                </a:lnTo>
                <a:lnTo>
                  <a:pt x="1369245" y="385724"/>
                </a:lnTo>
                <a:lnTo>
                  <a:pt x="1322705" y="385724"/>
                </a:lnTo>
                <a:lnTo>
                  <a:pt x="1316577" y="384022"/>
                </a:lnTo>
                <a:close/>
              </a:path>
              <a:path w="1374139" h="407035">
                <a:moveTo>
                  <a:pt x="1321659" y="365671"/>
                </a:moveTo>
                <a:lnTo>
                  <a:pt x="1325245" y="376542"/>
                </a:lnTo>
                <a:lnTo>
                  <a:pt x="1316577" y="384022"/>
                </a:lnTo>
                <a:lnTo>
                  <a:pt x="1322705" y="385724"/>
                </a:lnTo>
                <a:lnTo>
                  <a:pt x="1327785" y="367372"/>
                </a:lnTo>
                <a:lnTo>
                  <a:pt x="1321659" y="365671"/>
                </a:lnTo>
                <a:close/>
              </a:path>
              <a:path w="1374139" h="407035">
                <a:moveTo>
                  <a:pt x="1310894" y="333032"/>
                </a:moveTo>
                <a:lnTo>
                  <a:pt x="1321659" y="365671"/>
                </a:lnTo>
                <a:lnTo>
                  <a:pt x="1327785" y="367372"/>
                </a:lnTo>
                <a:lnTo>
                  <a:pt x="1322705" y="385724"/>
                </a:lnTo>
                <a:lnTo>
                  <a:pt x="1369245" y="385724"/>
                </a:lnTo>
                <a:lnTo>
                  <a:pt x="1310894" y="333032"/>
                </a:lnTo>
                <a:close/>
              </a:path>
              <a:path w="1374139" h="407035">
                <a:moveTo>
                  <a:pt x="5080" y="0"/>
                </a:moveTo>
                <a:lnTo>
                  <a:pt x="0" y="18287"/>
                </a:lnTo>
                <a:lnTo>
                  <a:pt x="1316577" y="384022"/>
                </a:lnTo>
                <a:lnTo>
                  <a:pt x="1325245" y="376542"/>
                </a:lnTo>
                <a:lnTo>
                  <a:pt x="1321659" y="365671"/>
                </a:lnTo>
                <a:lnTo>
                  <a:pt x="50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633465" y="5402071"/>
            <a:ext cx="1223010" cy="475615"/>
          </a:xfrm>
          <a:custGeom>
            <a:avLst/>
            <a:gdLst/>
            <a:ahLst/>
            <a:cxnLst/>
            <a:rect l="l" t="t" r="r" b="b"/>
            <a:pathLst>
              <a:path w="1223009" h="475614">
                <a:moveTo>
                  <a:pt x="57912" y="403656"/>
                </a:moveTo>
                <a:lnTo>
                  <a:pt x="0" y="466089"/>
                </a:lnTo>
                <a:lnTo>
                  <a:pt x="84709" y="475005"/>
                </a:lnTo>
                <a:lnTo>
                  <a:pt x="59998" y="457174"/>
                </a:lnTo>
                <a:lnTo>
                  <a:pt x="50926" y="457174"/>
                </a:lnTo>
                <a:lnTo>
                  <a:pt x="44196" y="439331"/>
                </a:lnTo>
                <a:lnTo>
                  <a:pt x="50201" y="437079"/>
                </a:lnTo>
                <a:lnTo>
                  <a:pt x="57912" y="403656"/>
                </a:lnTo>
                <a:close/>
              </a:path>
              <a:path w="1223009" h="475614">
                <a:moveTo>
                  <a:pt x="50201" y="437079"/>
                </a:moveTo>
                <a:lnTo>
                  <a:pt x="44196" y="439331"/>
                </a:lnTo>
                <a:lnTo>
                  <a:pt x="50926" y="457174"/>
                </a:lnTo>
                <a:lnTo>
                  <a:pt x="56895" y="454936"/>
                </a:lnTo>
                <a:lnTo>
                  <a:pt x="47625" y="448246"/>
                </a:lnTo>
                <a:lnTo>
                  <a:pt x="50201" y="437079"/>
                </a:lnTo>
                <a:close/>
              </a:path>
              <a:path w="1223009" h="475614">
                <a:moveTo>
                  <a:pt x="56895" y="454936"/>
                </a:moveTo>
                <a:lnTo>
                  <a:pt x="50926" y="457174"/>
                </a:lnTo>
                <a:lnTo>
                  <a:pt x="59998" y="457174"/>
                </a:lnTo>
                <a:lnTo>
                  <a:pt x="56895" y="454936"/>
                </a:lnTo>
                <a:close/>
              </a:path>
              <a:path w="1223009" h="475614">
                <a:moveTo>
                  <a:pt x="1215898" y="0"/>
                </a:moveTo>
                <a:lnTo>
                  <a:pt x="50201" y="437079"/>
                </a:lnTo>
                <a:lnTo>
                  <a:pt x="47625" y="448246"/>
                </a:lnTo>
                <a:lnTo>
                  <a:pt x="56895" y="454936"/>
                </a:lnTo>
                <a:lnTo>
                  <a:pt x="1222502" y="17779"/>
                </a:lnTo>
                <a:lnTo>
                  <a:pt x="12158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849616" y="56631"/>
            <a:ext cx="369570" cy="1701800"/>
          </a:xfrm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75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849616" y="2098675"/>
            <a:ext cx="3695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49616" y="4003624"/>
            <a:ext cx="369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49616" y="4779009"/>
            <a:ext cx="369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807970" y="3048761"/>
            <a:ext cx="3148965" cy="533400"/>
          </a:xfrm>
          <a:custGeom>
            <a:avLst/>
            <a:gdLst/>
            <a:ahLst/>
            <a:cxnLst/>
            <a:rect l="l" t="t" r="r" b="b"/>
            <a:pathLst>
              <a:path w="3148965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3059684" y="0"/>
                </a:lnTo>
                <a:lnTo>
                  <a:pt x="3094309" y="6979"/>
                </a:lnTo>
                <a:lnTo>
                  <a:pt x="3122564" y="26019"/>
                </a:lnTo>
                <a:lnTo>
                  <a:pt x="3141604" y="54274"/>
                </a:lnTo>
                <a:lnTo>
                  <a:pt x="3148584" y="88900"/>
                </a:lnTo>
                <a:lnTo>
                  <a:pt x="3148584" y="444500"/>
                </a:lnTo>
                <a:lnTo>
                  <a:pt x="3141604" y="479125"/>
                </a:lnTo>
                <a:lnTo>
                  <a:pt x="3122564" y="507380"/>
                </a:lnTo>
                <a:lnTo>
                  <a:pt x="3094309" y="526420"/>
                </a:lnTo>
                <a:lnTo>
                  <a:pt x="3059684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3699128" y="3109340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Optimizer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290315" y="26677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95315" y="26677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290315" y="35821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195315" y="3582161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0" y="266700"/>
                </a:moveTo>
                <a:lnTo>
                  <a:pt x="57150" y="381000"/>
                </a:lnTo>
                <a:lnTo>
                  <a:pt x="95250" y="304800"/>
                </a:lnTo>
                <a:lnTo>
                  <a:pt x="38100" y="304800"/>
                </a:lnTo>
                <a:lnTo>
                  <a:pt x="38100" y="292100"/>
                </a:lnTo>
                <a:lnTo>
                  <a:pt x="0" y="266700"/>
                </a:lnTo>
                <a:close/>
              </a:path>
              <a:path w="114300" h="381000">
                <a:moveTo>
                  <a:pt x="38100" y="292100"/>
                </a:moveTo>
                <a:lnTo>
                  <a:pt x="38100" y="304800"/>
                </a:lnTo>
                <a:lnTo>
                  <a:pt x="57150" y="304800"/>
                </a:lnTo>
                <a:lnTo>
                  <a:pt x="38100" y="2921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92100"/>
                </a:lnTo>
                <a:lnTo>
                  <a:pt x="57150" y="304800"/>
                </a:lnTo>
                <a:lnTo>
                  <a:pt x="76200" y="292100"/>
                </a:lnTo>
                <a:lnTo>
                  <a:pt x="76200" y="0"/>
                </a:lnTo>
                <a:close/>
              </a:path>
              <a:path w="114300" h="381000">
                <a:moveTo>
                  <a:pt x="76200" y="292100"/>
                </a:moveTo>
                <a:lnTo>
                  <a:pt x="57150" y="304800"/>
                </a:lnTo>
                <a:lnTo>
                  <a:pt x="76200" y="304800"/>
                </a:lnTo>
                <a:lnTo>
                  <a:pt x="76200" y="29210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92100"/>
                </a:lnTo>
                <a:lnTo>
                  <a:pt x="76200" y="304800"/>
                </a:lnTo>
                <a:lnTo>
                  <a:pt x="95250" y="30480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518666" y="3144011"/>
            <a:ext cx="1219200" cy="114300"/>
          </a:xfrm>
          <a:custGeom>
            <a:avLst/>
            <a:gdLst/>
            <a:ahLst/>
            <a:cxnLst/>
            <a:rect l="l" t="t" r="r" b="b"/>
            <a:pathLst>
              <a:path w="1219200" h="114300">
                <a:moveTo>
                  <a:pt x="1143000" y="57150"/>
                </a:moveTo>
                <a:lnTo>
                  <a:pt x="1104900" y="114300"/>
                </a:lnTo>
                <a:lnTo>
                  <a:pt x="1181100" y="76200"/>
                </a:lnTo>
                <a:lnTo>
                  <a:pt x="1143000" y="76200"/>
                </a:lnTo>
                <a:lnTo>
                  <a:pt x="1143000" y="57150"/>
                </a:lnTo>
                <a:close/>
              </a:path>
              <a:path w="1219200" h="114300">
                <a:moveTo>
                  <a:pt x="11303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30300" y="76200"/>
                </a:lnTo>
                <a:lnTo>
                  <a:pt x="1143000" y="57150"/>
                </a:lnTo>
                <a:lnTo>
                  <a:pt x="1130300" y="38100"/>
                </a:lnTo>
                <a:close/>
              </a:path>
              <a:path w="1219200" h="114300">
                <a:moveTo>
                  <a:pt x="1181100" y="38100"/>
                </a:moveTo>
                <a:lnTo>
                  <a:pt x="1143000" y="38100"/>
                </a:lnTo>
                <a:lnTo>
                  <a:pt x="1143000" y="76200"/>
                </a:lnTo>
                <a:lnTo>
                  <a:pt x="1181100" y="76200"/>
                </a:lnTo>
                <a:lnTo>
                  <a:pt x="1219200" y="57150"/>
                </a:lnTo>
                <a:lnTo>
                  <a:pt x="1181100" y="38100"/>
                </a:lnTo>
                <a:close/>
              </a:path>
              <a:path w="1219200" h="114300">
                <a:moveTo>
                  <a:pt x="1104900" y="0"/>
                </a:moveTo>
                <a:lnTo>
                  <a:pt x="1143000" y="57150"/>
                </a:lnTo>
                <a:lnTo>
                  <a:pt x="1143000" y="38100"/>
                </a:lnTo>
                <a:lnTo>
                  <a:pt x="1181100" y="38100"/>
                </a:lnTo>
                <a:lnTo>
                  <a:pt x="1104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518666" y="2667761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938265" y="3144011"/>
            <a:ext cx="990600" cy="114300"/>
          </a:xfrm>
          <a:custGeom>
            <a:avLst/>
            <a:gdLst/>
            <a:ahLst/>
            <a:cxnLst/>
            <a:rect l="l" t="t" r="r" b="b"/>
            <a:pathLst>
              <a:path w="990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88900" y="76200"/>
                </a:lnTo>
                <a:lnTo>
                  <a:pt x="76200" y="76200"/>
                </a:lnTo>
                <a:lnTo>
                  <a:pt x="76200" y="38100"/>
                </a:lnTo>
                <a:lnTo>
                  <a:pt x="88900" y="38100"/>
                </a:lnTo>
                <a:lnTo>
                  <a:pt x="114300" y="0"/>
                </a:lnTo>
                <a:close/>
              </a:path>
              <a:path w="990600" h="114300">
                <a:moveTo>
                  <a:pt x="76200" y="57150"/>
                </a:moveTo>
                <a:lnTo>
                  <a:pt x="76200" y="76200"/>
                </a:lnTo>
                <a:lnTo>
                  <a:pt x="88900" y="76200"/>
                </a:lnTo>
                <a:lnTo>
                  <a:pt x="76200" y="57150"/>
                </a:lnTo>
                <a:close/>
              </a:path>
              <a:path w="990600" h="114300">
                <a:moveTo>
                  <a:pt x="990600" y="38100"/>
                </a:moveTo>
                <a:lnTo>
                  <a:pt x="88900" y="38100"/>
                </a:lnTo>
                <a:lnTo>
                  <a:pt x="76200" y="57150"/>
                </a:lnTo>
                <a:lnTo>
                  <a:pt x="88900" y="76200"/>
                </a:lnTo>
                <a:lnTo>
                  <a:pt x="990600" y="76200"/>
                </a:lnTo>
                <a:lnTo>
                  <a:pt x="990600" y="38100"/>
                </a:lnTo>
                <a:close/>
              </a:path>
              <a:path w="990600" h="114300">
                <a:moveTo>
                  <a:pt x="88900" y="38100"/>
                </a:moveTo>
                <a:lnTo>
                  <a:pt x="76200" y="38100"/>
                </a:lnTo>
                <a:lnTo>
                  <a:pt x="76200" y="57150"/>
                </a:lnTo>
                <a:lnTo>
                  <a:pt x="889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928866" y="2667761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461516" y="3429761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0" y="419100"/>
                </a:moveTo>
                <a:lnTo>
                  <a:pt x="57150" y="533400"/>
                </a:lnTo>
                <a:lnTo>
                  <a:pt x="95250" y="457200"/>
                </a:lnTo>
                <a:lnTo>
                  <a:pt x="38100" y="457200"/>
                </a:lnTo>
                <a:lnTo>
                  <a:pt x="38100" y="444500"/>
                </a:lnTo>
                <a:lnTo>
                  <a:pt x="0" y="419100"/>
                </a:lnTo>
                <a:close/>
              </a:path>
              <a:path w="114300" h="533400">
                <a:moveTo>
                  <a:pt x="38100" y="444500"/>
                </a:moveTo>
                <a:lnTo>
                  <a:pt x="38100" y="457200"/>
                </a:lnTo>
                <a:lnTo>
                  <a:pt x="57150" y="457200"/>
                </a:lnTo>
                <a:lnTo>
                  <a:pt x="38100" y="4445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44500"/>
                </a:lnTo>
                <a:lnTo>
                  <a:pt x="57150" y="457200"/>
                </a:lnTo>
                <a:lnTo>
                  <a:pt x="76200" y="444500"/>
                </a:lnTo>
                <a:lnTo>
                  <a:pt x="76200" y="0"/>
                </a:lnTo>
                <a:close/>
              </a:path>
              <a:path w="114300" h="533400">
                <a:moveTo>
                  <a:pt x="76200" y="444500"/>
                </a:moveTo>
                <a:lnTo>
                  <a:pt x="57150" y="457200"/>
                </a:lnTo>
                <a:lnTo>
                  <a:pt x="76200" y="457200"/>
                </a:lnTo>
                <a:lnTo>
                  <a:pt x="76200" y="44450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44500"/>
                </a:lnTo>
                <a:lnTo>
                  <a:pt x="76200" y="457200"/>
                </a:lnTo>
                <a:lnTo>
                  <a:pt x="95250" y="45720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518666" y="3429761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871716" y="3429761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0" y="419100"/>
                </a:moveTo>
                <a:lnTo>
                  <a:pt x="57150" y="533400"/>
                </a:lnTo>
                <a:lnTo>
                  <a:pt x="95250" y="457200"/>
                </a:lnTo>
                <a:lnTo>
                  <a:pt x="38100" y="457200"/>
                </a:lnTo>
                <a:lnTo>
                  <a:pt x="38100" y="444500"/>
                </a:lnTo>
                <a:lnTo>
                  <a:pt x="0" y="419100"/>
                </a:lnTo>
                <a:close/>
              </a:path>
              <a:path w="114300" h="533400">
                <a:moveTo>
                  <a:pt x="38100" y="444500"/>
                </a:moveTo>
                <a:lnTo>
                  <a:pt x="38100" y="457200"/>
                </a:lnTo>
                <a:lnTo>
                  <a:pt x="57150" y="457200"/>
                </a:lnTo>
                <a:lnTo>
                  <a:pt x="38100" y="4445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44500"/>
                </a:lnTo>
                <a:lnTo>
                  <a:pt x="57150" y="457200"/>
                </a:lnTo>
                <a:lnTo>
                  <a:pt x="76200" y="444500"/>
                </a:lnTo>
                <a:lnTo>
                  <a:pt x="76200" y="0"/>
                </a:lnTo>
                <a:close/>
              </a:path>
              <a:path w="114300" h="533400">
                <a:moveTo>
                  <a:pt x="76200" y="444500"/>
                </a:moveTo>
                <a:lnTo>
                  <a:pt x="57150" y="457200"/>
                </a:lnTo>
                <a:lnTo>
                  <a:pt x="76200" y="457200"/>
                </a:lnTo>
                <a:lnTo>
                  <a:pt x="76200" y="44450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44500"/>
                </a:lnTo>
                <a:lnTo>
                  <a:pt x="76200" y="457200"/>
                </a:lnTo>
                <a:lnTo>
                  <a:pt x="95250" y="45720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938265" y="3441953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05257" y="6469176"/>
            <a:ext cx="3980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StarCore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17951" y="6817866"/>
            <a:ext cx="3956685" cy="0"/>
          </a:xfrm>
          <a:custGeom>
            <a:avLst/>
            <a:gdLst/>
            <a:ahLst/>
            <a:cxnLst/>
            <a:rect l="l" t="t" r="r" b="b"/>
            <a:pathLst>
              <a:path w="3956685">
                <a:moveTo>
                  <a:pt x="0" y="0"/>
                </a:moveTo>
                <a:lnTo>
                  <a:pt x="3956304" y="0"/>
                </a:lnTo>
              </a:path>
            </a:pathLst>
          </a:custGeom>
          <a:ln w="1371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8200" y="4617720"/>
            <a:ext cx="8305800" cy="2240280"/>
          </a:xfrm>
          <a:custGeom>
            <a:avLst/>
            <a:gdLst/>
            <a:ahLst/>
            <a:cxnLst/>
            <a:rect l="l" t="t" r="r" b="b"/>
            <a:pathLst>
              <a:path w="8305800" h="2240279">
                <a:moveTo>
                  <a:pt x="0" y="2240279"/>
                </a:moveTo>
                <a:lnTo>
                  <a:pt x="8305800" y="2240279"/>
                </a:lnTo>
                <a:lnTo>
                  <a:pt x="8305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756" y="4629150"/>
            <a:ext cx="8810625" cy="2228850"/>
          </a:xfrm>
          <a:custGeom>
            <a:avLst/>
            <a:gdLst/>
            <a:ahLst/>
            <a:cxnLst/>
            <a:rect l="l" t="t" r="r" b="b"/>
            <a:pathLst>
              <a:path w="8810625" h="2228850">
                <a:moveTo>
                  <a:pt x="0" y="2228850"/>
                </a:moveTo>
                <a:lnTo>
                  <a:pt x="8810244" y="2228850"/>
                </a:lnTo>
                <a:lnTo>
                  <a:pt x="8810244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80069" y="1828800"/>
            <a:ext cx="963930" cy="2800350"/>
          </a:xfrm>
          <a:custGeom>
            <a:avLst/>
            <a:gdLst/>
            <a:ahLst/>
            <a:cxnLst/>
            <a:rect l="l" t="t" r="r" b="b"/>
            <a:pathLst>
              <a:path w="963929" h="2800350">
                <a:moveTo>
                  <a:pt x="0" y="2800350"/>
                </a:moveTo>
                <a:lnTo>
                  <a:pt x="963929" y="2800350"/>
                </a:lnTo>
                <a:lnTo>
                  <a:pt x="963929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7605" y="1828800"/>
            <a:ext cx="1074420" cy="2800350"/>
          </a:xfrm>
          <a:custGeom>
            <a:avLst/>
            <a:gdLst/>
            <a:ahLst/>
            <a:cxnLst/>
            <a:rect l="l" t="t" r="r" b="b"/>
            <a:pathLst>
              <a:path w="1074420" h="2800350">
                <a:moveTo>
                  <a:pt x="0" y="2800350"/>
                </a:moveTo>
                <a:lnTo>
                  <a:pt x="1074064" y="2800350"/>
                </a:lnTo>
                <a:lnTo>
                  <a:pt x="1074064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793" y="91820"/>
            <a:ext cx="2640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SCC_structure</a:t>
            </a:r>
          </a:p>
        </p:txBody>
      </p:sp>
      <p:sp>
        <p:nvSpPr>
          <p:cNvPr id="10" name="object 10"/>
          <p:cNvSpPr/>
          <p:nvPr/>
        </p:nvSpPr>
        <p:spPr>
          <a:xfrm>
            <a:off x="1931670" y="930402"/>
            <a:ext cx="6248400" cy="5194300"/>
          </a:xfrm>
          <a:custGeom>
            <a:avLst/>
            <a:gdLst/>
            <a:ahLst/>
            <a:cxnLst/>
            <a:rect l="l" t="t" r="r" b="b"/>
            <a:pathLst>
              <a:path w="6248400" h="5194300">
                <a:moveTo>
                  <a:pt x="0" y="5193792"/>
                </a:moveTo>
                <a:lnTo>
                  <a:pt x="6248400" y="5193792"/>
                </a:lnTo>
                <a:lnTo>
                  <a:pt x="6248400" y="0"/>
                </a:lnTo>
                <a:lnTo>
                  <a:pt x="0" y="0"/>
                </a:lnTo>
                <a:lnTo>
                  <a:pt x="0" y="5193792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31670" y="930402"/>
            <a:ext cx="6248400" cy="5194300"/>
          </a:xfrm>
          <a:custGeom>
            <a:avLst/>
            <a:gdLst/>
            <a:ahLst/>
            <a:cxnLst/>
            <a:rect l="l" t="t" r="r" b="b"/>
            <a:pathLst>
              <a:path w="6248400" h="5194300">
                <a:moveTo>
                  <a:pt x="0" y="5193792"/>
                </a:moveTo>
                <a:lnTo>
                  <a:pt x="6248400" y="5193792"/>
                </a:lnTo>
                <a:lnTo>
                  <a:pt x="6248400" y="0"/>
                </a:lnTo>
                <a:lnTo>
                  <a:pt x="0" y="0"/>
                </a:lnTo>
                <a:lnTo>
                  <a:pt x="0" y="5193792"/>
                </a:lnTo>
                <a:close/>
              </a:path>
            </a:pathLst>
          </a:custGeom>
          <a:ln w="19050">
            <a:solidFill>
              <a:srgbClr val="FFFFFF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31208" y="179831"/>
            <a:ext cx="1143000" cy="110489"/>
          </a:xfrm>
          <a:custGeom>
            <a:avLst/>
            <a:gdLst/>
            <a:ahLst/>
            <a:cxnLst/>
            <a:rect l="l" t="t" r="r" b="b"/>
            <a:pathLst>
              <a:path w="1143000" h="110489">
                <a:moveTo>
                  <a:pt x="0" y="110490"/>
                </a:moveTo>
                <a:lnTo>
                  <a:pt x="1143000" y="110490"/>
                </a:lnTo>
                <a:lnTo>
                  <a:pt x="1143000" y="0"/>
                </a:lnTo>
                <a:lnTo>
                  <a:pt x="0" y="0"/>
                </a:lnTo>
                <a:lnTo>
                  <a:pt x="0" y="11049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31208" y="179831"/>
            <a:ext cx="1143000" cy="512445"/>
          </a:xfrm>
          <a:custGeom>
            <a:avLst/>
            <a:gdLst/>
            <a:ahLst/>
            <a:cxnLst/>
            <a:rect l="l" t="t" r="r" b="b"/>
            <a:pathLst>
              <a:path w="1143000" h="512445">
                <a:moveTo>
                  <a:pt x="0" y="512064"/>
                </a:moveTo>
                <a:lnTo>
                  <a:pt x="1143000" y="512064"/>
                </a:lnTo>
                <a:lnTo>
                  <a:pt x="1143000" y="0"/>
                </a:lnTo>
                <a:lnTo>
                  <a:pt x="0" y="0"/>
                </a:lnTo>
                <a:lnTo>
                  <a:pt x="0" y="512064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4152" y="234695"/>
            <a:ext cx="1143000" cy="55880"/>
          </a:xfrm>
          <a:custGeom>
            <a:avLst/>
            <a:gdLst/>
            <a:ahLst/>
            <a:cxnLst/>
            <a:rect l="l" t="t" r="r" b="b"/>
            <a:pathLst>
              <a:path w="1143000" h="55879">
                <a:moveTo>
                  <a:pt x="0" y="55625"/>
                </a:moveTo>
                <a:lnTo>
                  <a:pt x="1143000" y="55625"/>
                </a:lnTo>
                <a:lnTo>
                  <a:pt x="1143000" y="0"/>
                </a:lnTo>
                <a:lnTo>
                  <a:pt x="0" y="0"/>
                </a:lnTo>
                <a:lnTo>
                  <a:pt x="0" y="55625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64152" y="234695"/>
            <a:ext cx="1143000" cy="512445"/>
          </a:xfrm>
          <a:custGeom>
            <a:avLst/>
            <a:gdLst/>
            <a:ahLst/>
            <a:cxnLst/>
            <a:rect l="l" t="t" r="r" b="b"/>
            <a:pathLst>
              <a:path w="1143000" h="512445">
                <a:moveTo>
                  <a:pt x="0" y="512063"/>
                </a:moveTo>
                <a:lnTo>
                  <a:pt x="1143000" y="512063"/>
                </a:lnTo>
                <a:lnTo>
                  <a:pt x="1143000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97858" y="290322"/>
            <a:ext cx="1277620" cy="512445"/>
          </a:xfrm>
          <a:custGeom>
            <a:avLst/>
            <a:gdLst/>
            <a:ahLst/>
            <a:cxnLst/>
            <a:rect l="l" t="t" r="r" b="b"/>
            <a:pathLst>
              <a:path w="1277620" h="512445">
                <a:moveTo>
                  <a:pt x="0" y="512063"/>
                </a:moveTo>
                <a:lnTo>
                  <a:pt x="1277112" y="512063"/>
                </a:lnTo>
                <a:lnTo>
                  <a:pt x="1277112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97858" y="290322"/>
            <a:ext cx="1277620" cy="512445"/>
          </a:xfrm>
          <a:custGeom>
            <a:avLst/>
            <a:gdLst/>
            <a:ahLst/>
            <a:cxnLst/>
            <a:rect l="l" t="t" r="r" b="b"/>
            <a:pathLst>
              <a:path w="1277620" h="512445">
                <a:moveTo>
                  <a:pt x="0" y="512063"/>
                </a:moveTo>
                <a:lnTo>
                  <a:pt x="1277112" y="512063"/>
                </a:lnTo>
                <a:lnTo>
                  <a:pt x="1277112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97858" y="404875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C </a:t>
            </a:r>
            <a:r>
              <a:rPr sz="16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600" b="1" spc="-3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files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94687" y="998219"/>
            <a:ext cx="1141730" cy="512445"/>
          </a:xfrm>
          <a:custGeom>
            <a:avLst/>
            <a:gdLst/>
            <a:ahLst/>
            <a:cxnLst/>
            <a:rect l="l" t="t" r="r" b="b"/>
            <a:pathLst>
              <a:path w="1141729" h="512444">
                <a:moveTo>
                  <a:pt x="1139520" y="76200"/>
                </a:moveTo>
                <a:lnTo>
                  <a:pt x="979622" y="76200"/>
                </a:lnTo>
                <a:lnTo>
                  <a:pt x="1012927" y="82930"/>
                </a:lnTo>
                <a:lnTo>
                  <a:pt x="1040137" y="101282"/>
                </a:lnTo>
                <a:lnTo>
                  <a:pt x="1058489" y="128492"/>
                </a:lnTo>
                <a:lnTo>
                  <a:pt x="1065220" y="161797"/>
                </a:lnTo>
                <a:lnTo>
                  <a:pt x="1065220" y="504189"/>
                </a:lnTo>
                <a:lnTo>
                  <a:pt x="1063640" y="512008"/>
                </a:lnTo>
                <a:lnTo>
                  <a:pt x="1089127" y="506856"/>
                </a:lnTo>
                <a:lnTo>
                  <a:pt x="1116337" y="488505"/>
                </a:lnTo>
                <a:lnTo>
                  <a:pt x="1134689" y="461295"/>
                </a:lnTo>
                <a:lnTo>
                  <a:pt x="1141420" y="427989"/>
                </a:lnTo>
                <a:lnTo>
                  <a:pt x="1141420" y="85597"/>
                </a:lnTo>
                <a:lnTo>
                  <a:pt x="1139520" y="76200"/>
                </a:lnTo>
                <a:close/>
              </a:path>
              <a:path w="1141729" h="512444">
                <a:moveTo>
                  <a:pt x="1055822" y="0"/>
                </a:moveTo>
                <a:lnTo>
                  <a:pt x="84018" y="0"/>
                </a:lnTo>
                <a:lnTo>
                  <a:pt x="50712" y="6730"/>
                </a:lnTo>
                <a:lnTo>
                  <a:pt x="23502" y="25082"/>
                </a:lnTo>
                <a:lnTo>
                  <a:pt x="5151" y="52292"/>
                </a:lnTo>
                <a:lnTo>
                  <a:pt x="0" y="77779"/>
                </a:lnTo>
                <a:lnTo>
                  <a:pt x="7818" y="76200"/>
                </a:lnTo>
                <a:lnTo>
                  <a:pt x="1139520" y="76200"/>
                </a:lnTo>
                <a:lnTo>
                  <a:pt x="1134689" y="52292"/>
                </a:lnTo>
                <a:lnTo>
                  <a:pt x="1116337" y="25082"/>
                </a:lnTo>
                <a:lnTo>
                  <a:pt x="1089127" y="6730"/>
                </a:lnTo>
                <a:lnTo>
                  <a:pt x="1055822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88646" y="993521"/>
            <a:ext cx="1152525" cy="523240"/>
          </a:xfrm>
          <a:custGeom>
            <a:avLst/>
            <a:gdLst/>
            <a:ahLst/>
            <a:cxnLst/>
            <a:rect l="l" t="t" r="r" b="b"/>
            <a:pathLst>
              <a:path w="1152525" h="523240">
                <a:moveTo>
                  <a:pt x="1102075" y="9525"/>
                </a:moveTo>
                <a:lnTo>
                  <a:pt x="1061736" y="9525"/>
                </a:lnTo>
                <a:lnTo>
                  <a:pt x="1070245" y="9905"/>
                </a:lnTo>
                <a:lnTo>
                  <a:pt x="1078246" y="11049"/>
                </a:lnTo>
                <a:lnTo>
                  <a:pt x="1113298" y="27939"/>
                </a:lnTo>
                <a:lnTo>
                  <a:pt x="1136332" y="58927"/>
                </a:lnTo>
                <a:lnTo>
                  <a:pt x="1142618" y="432942"/>
                </a:lnTo>
                <a:lnTo>
                  <a:pt x="1142254" y="441070"/>
                </a:lnTo>
                <a:lnTo>
                  <a:pt x="1128919" y="477900"/>
                </a:lnTo>
                <a:lnTo>
                  <a:pt x="1100471" y="503808"/>
                </a:lnTo>
                <a:lnTo>
                  <a:pt x="1070419" y="513055"/>
                </a:lnTo>
                <a:lnTo>
                  <a:pt x="1068466" y="522717"/>
                </a:lnTo>
                <a:lnTo>
                  <a:pt x="1112409" y="507618"/>
                </a:lnTo>
                <a:lnTo>
                  <a:pt x="1141365" y="475741"/>
                </a:lnTo>
                <a:lnTo>
                  <a:pt x="1152160" y="432942"/>
                </a:lnTo>
                <a:lnTo>
                  <a:pt x="1152053" y="87629"/>
                </a:lnTo>
                <a:lnTo>
                  <a:pt x="1141365" y="47243"/>
                </a:lnTo>
                <a:lnTo>
                  <a:pt x="1112409" y="15366"/>
                </a:lnTo>
                <a:lnTo>
                  <a:pt x="1104916" y="10921"/>
                </a:lnTo>
                <a:lnTo>
                  <a:pt x="1102075" y="9525"/>
                </a:lnTo>
                <a:close/>
              </a:path>
              <a:path w="1152525" h="523240">
                <a:moveTo>
                  <a:pt x="1062117" y="0"/>
                </a:moveTo>
                <a:lnTo>
                  <a:pt x="89932" y="0"/>
                </a:lnTo>
                <a:lnTo>
                  <a:pt x="80915" y="380"/>
                </a:lnTo>
                <a:lnTo>
                  <a:pt x="39640" y="15366"/>
                </a:lnTo>
                <a:lnTo>
                  <a:pt x="10684" y="47243"/>
                </a:lnTo>
                <a:lnTo>
                  <a:pt x="0" y="83699"/>
                </a:lnTo>
                <a:lnTo>
                  <a:pt x="9712" y="81737"/>
                </a:lnTo>
                <a:lnTo>
                  <a:pt x="10811" y="74040"/>
                </a:lnTo>
                <a:lnTo>
                  <a:pt x="12843" y="66293"/>
                </a:lnTo>
                <a:lnTo>
                  <a:pt x="32909" y="33146"/>
                </a:lnTo>
                <a:lnTo>
                  <a:pt x="66056" y="13080"/>
                </a:lnTo>
                <a:lnTo>
                  <a:pt x="90186" y="9525"/>
                </a:lnTo>
                <a:lnTo>
                  <a:pt x="1102075" y="9525"/>
                </a:lnTo>
                <a:lnTo>
                  <a:pt x="1097169" y="7112"/>
                </a:lnTo>
                <a:lnTo>
                  <a:pt x="1088787" y="3937"/>
                </a:lnTo>
                <a:lnTo>
                  <a:pt x="1080151" y="1777"/>
                </a:lnTo>
                <a:lnTo>
                  <a:pt x="1071134" y="380"/>
                </a:lnTo>
                <a:lnTo>
                  <a:pt x="1062117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16908" y="1074419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5">
                <a:moveTo>
                  <a:pt x="1057402" y="0"/>
                </a:moveTo>
                <a:lnTo>
                  <a:pt x="85597" y="0"/>
                </a:lnTo>
                <a:lnTo>
                  <a:pt x="52292" y="6730"/>
                </a:lnTo>
                <a:lnTo>
                  <a:pt x="25082" y="25082"/>
                </a:lnTo>
                <a:lnTo>
                  <a:pt x="6730" y="52292"/>
                </a:lnTo>
                <a:lnTo>
                  <a:pt x="0" y="85597"/>
                </a:lnTo>
                <a:lnTo>
                  <a:pt x="0" y="427989"/>
                </a:lnTo>
                <a:lnTo>
                  <a:pt x="6730" y="461295"/>
                </a:lnTo>
                <a:lnTo>
                  <a:pt x="25082" y="488505"/>
                </a:lnTo>
                <a:lnTo>
                  <a:pt x="52292" y="506856"/>
                </a:lnTo>
                <a:lnTo>
                  <a:pt x="85597" y="513588"/>
                </a:lnTo>
                <a:lnTo>
                  <a:pt x="1057402" y="513588"/>
                </a:lnTo>
                <a:lnTo>
                  <a:pt x="1090707" y="506856"/>
                </a:lnTo>
                <a:lnTo>
                  <a:pt x="1117917" y="488505"/>
                </a:lnTo>
                <a:lnTo>
                  <a:pt x="1136268" y="461295"/>
                </a:lnTo>
                <a:lnTo>
                  <a:pt x="1143000" y="427989"/>
                </a:lnTo>
                <a:lnTo>
                  <a:pt x="1143000" y="85597"/>
                </a:lnTo>
                <a:lnTo>
                  <a:pt x="1136268" y="52292"/>
                </a:lnTo>
                <a:lnTo>
                  <a:pt x="1117917" y="25082"/>
                </a:lnTo>
                <a:lnTo>
                  <a:pt x="1090707" y="6730"/>
                </a:lnTo>
                <a:lnTo>
                  <a:pt x="105740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16908" y="1074419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5">
                <a:moveTo>
                  <a:pt x="0" y="85597"/>
                </a:moveTo>
                <a:lnTo>
                  <a:pt x="6730" y="52292"/>
                </a:lnTo>
                <a:lnTo>
                  <a:pt x="25082" y="25082"/>
                </a:lnTo>
                <a:lnTo>
                  <a:pt x="52292" y="6730"/>
                </a:lnTo>
                <a:lnTo>
                  <a:pt x="85597" y="0"/>
                </a:lnTo>
                <a:lnTo>
                  <a:pt x="1057402" y="0"/>
                </a:lnTo>
                <a:lnTo>
                  <a:pt x="1090707" y="6730"/>
                </a:lnTo>
                <a:lnTo>
                  <a:pt x="1117917" y="25082"/>
                </a:lnTo>
                <a:lnTo>
                  <a:pt x="1136268" y="52292"/>
                </a:lnTo>
                <a:lnTo>
                  <a:pt x="1143000" y="85597"/>
                </a:lnTo>
                <a:lnTo>
                  <a:pt x="1143000" y="427989"/>
                </a:lnTo>
                <a:lnTo>
                  <a:pt x="1136268" y="461295"/>
                </a:lnTo>
                <a:lnTo>
                  <a:pt x="1117917" y="488505"/>
                </a:lnTo>
                <a:lnTo>
                  <a:pt x="1090707" y="506856"/>
                </a:lnTo>
                <a:lnTo>
                  <a:pt x="1057402" y="513588"/>
                </a:lnTo>
                <a:lnTo>
                  <a:pt x="85597" y="513588"/>
                </a:lnTo>
                <a:lnTo>
                  <a:pt x="52292" y="506856"/>
                </a:lnTo>
                <a:lnTo>
                  <a:pt x="25082" y="488505"/>
                </a:lnTo>
                <a:lnTo>
                  <a:pt x="6730" y="461295"/>
                </a:lnTo>
                <a:lnTo>
                  <a:pt x="0" y="427989"/>
                </a:lnTo>
                <a:lnTo>
                  <a:pt x="0" y="85597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334636" y="1205864"/>
            <a:ext cx="9074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 Front</a:t>
            </a:r>
            <a:r>
              <a:rPr sz="1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42201" y="2737104"/>
            <a:ext cx="1446530" cy="509270"/>
          </a:xfrm>
          <a:custGeom>
            <a:avLst/>
            <a:gdLst/>
            <a:ahLst/>
            <a:cxnLst/>
            <a:rect l="l" t="t" r="r" b="b"/>
            <a:pathLst>
              <a:path w="1446529" h="509269">
                <a:moveTo>
                  <a:pt x="1444511" y="76200"/>
                </a:moveTo>
                <a:lnTo>
                  <a:pt x="1285016" y="76200"/>
                </a:lnTo>
                <a:lnTo>
                  <a:pt x="1318135" y="82887"/>
                </a:lnTo>
                <a:lnTo>
                  <a:pt x="1345182" y="101123"/>
                </a:lnTo>
                <a:lnTo>
                  <a:pt x="1363419" y="128170"/>
                </a:lnTo>
                <a:lnTo>
                  <a:pt x="1370106" y="161290"/>
                </a:lnTo>
                <a:lnTo>
                  <a:pt x="1370106" y="501650"/>
                </a:lnTo>
                <a:lnTo>
                  <a:pt x="1368613" y="509046"/>
                </a:lnTo>
                <a:lnTo>
                  <a:pt x="1394335" y="503852"/>
                </a:lnTo>
                <a:lnTo>
                  <a:pt x="1421382" y="485616"/>
                </a:lnTo>
                <a:lnTo>
                  <a:pt x="1439619" y="458569"/>
                </a:lnTo>
                <a:lnTo>
                  <a:pt x="1446306" y="425450"/>
                </a:lnTo>
                <a:lnTo>
                  <a:pt x="1446306" y="85090"/>
                </a:lnTo>
                <a:lnTo>
                  <a:pt x="1444511" y="76200"/>
                </a:lnTo>
                <a:close/>
              </a:path>
              <a:path w="1446529" h="509269">
                <a:moveTo>
                  <a:pt x="1361216" y="0"/>
                </a:moveTo>
                <a:lnTo>
                  <a:pt x="83596" y="0"/>
                </a:lnTo>
                <a:lnTo>
                  <a:pt x="50477" y="6687"/>
                </a:lnTo>
                <a:lnTo>
                  <a:pt x="23430" y="24923"/>
                </a:lnTo>
                <a:lnTo>
                  <a:pt x="5193" y="51970"/>
                </a:lnTo>
                <a:lnTo>
                  <a:pt x="0" y="77693"/>
                </a:lnTo>
                <a:lnTo>
                  <a:pt x="7396" y="76200"/>
                </a:lnTo>
                <a:lnTo>
                  <a:pt x="1444511" y="76200"/>
                </a:lnTo>
                <a:lnTo>
                  <a:pt x="1439619" y="51970"/>
                </a:lnTo>
                <a:lnTo>
                  <a:pt x="1421382" y="24923"/>
                </a:lnTo>
                <a:lnTo>
                  <a:pt x="1394335" y="6687"/>
                </a:lnTo>
                <a:lnTo>
                  <a:pt x="13612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36228" y="2732277"/>
            <a:ext cx="1457325" cy="520065"/>
          </a:xfrm>
          <a:custGeom>
            <a:avLst/>
            <a:gdLst/>
            <a:ahLst/>
            <a:cxnLst/>
            <a:rect l="l" t="t" r="r" b="b"/>
            <a:pathLst>
              <a:path w="1457325" h="520064">
                <a:moveTo>
                  <a:pt x="1407228" y="9525"/>
                </a:moveTo>
                <a:lnTo>
                  <a:pt x="1367062" y="9525"/>
                </a:lnTo>
                <a:lnTo>
                  <a:pt x="1375444" y="10033"/>
                </a:lnTo>
                <a:lnTo>
                  <a:pt x="1383445" y="11175"/>
                </a:lnTo>
                <a:lnTo>
                  <a:pt x="1418243" y="27939"/>
                </a:lnTo>
                <a:lnTo>
                  <a:pt x="1441230" y="58674"/>
                </a:lnTo>
                <a:lnTo>
                  <a:pt x="1447441" y="430402"/>
                </a:lnTo>
                <a:lnTo>
                  <a:pt x="1447072" y="438531"/>
                </a:lnTo>
                <a:lnTo>
                  <a:pt x="1433864" y="475234"/>
                </a:lnTo>
                <a:lnTo>
                  <a:pt x="1405543" y="500888"/>
                </a:lnTo>
                <a:lnTo>
                  <a:pt x="1375334" y="510163"/>
                </a:lnTo>
                <a:lnTo>
                  <a:pt x="1373387" y="519808"/>
                </a:lnTo>
                <a:lnTo>
                  <a:pt x="1410115" y="509270"/>
                </a:lnTo>
                <a:lnTo>
                  <a:pt x="1441738" y="480568"/>
                </a:lnTo>
                <a:lnTo>
                  <a:pt x="1456597" y="439420"/>
                </a:lnTo>
                <a:lnTo>
                  <a:pt x="1456978" y="430402"/>
                </a:lnTo>
                <a:lnTo>
                  <a:pt x="1456889" y="87713"/>
                </a:lnTo>
                <a:lnTo>
                  <a:pt x="1446183" y="47117"/>
                </a:lnTo>
                <a:lnTo>
                  <a:pt x="1417481" y="15494"/>
                </a:lnTo>
                <a:lnTo>
                  <a:pt x="1410115" y="10922"/>
                </a:lnTo>
                <a:lnTo>
                  <a:pt x="1407228" y="9525"/>
                </a:lnTo>
                <a:close/>
              </a:path>
              <a:path w="1457325" h="520064">
                <a:moveTo>
                  <a:pt x="1367316" y="0"/>
                </a:moveTo>
                <a:lnTo>
                  <a:pt x="89442" y="0"/>
                </a:lnTo>
                <a:lnTo>
                  <a:pt x="80552" y="508"/>
                </a:lnTo>
                <a:lnTo>
                  <a:pt x="39404" y="15494"/>
                </a:lnTo>
                <a:lnTo>
                  <a:pt x="10575" y="47117"/>
                </a:lnTo>
                <a:lnTo>
                  <a:pt x="0" y="83725"/>
                </a:lnTo>
                <a:lnTo>
                  <a:pt x="9689" y="81769"/>
                </a:lnTo>
                <a:lnTo>
                  <a:pt x="10829" y="73787"/>
                </a:lnTo>
                <a:lnTo>
                  <a:pt x="12861" y="66039"/>
                </a:lnTo>
                <a:lnTo>
                  <a:pt x="32800" y="33147"/>
                </a:lnTo>
                <a:lnTo>
                  <a:pt x="65693" y="13208"/>
                </a:lnTo>
                <a:lnTo>
                  <a:pt x="89823" y="9525"/>
                </a:lnTo>
                <a:lnTo>
                  <a:pt x="1407228" y="9525"/>
                </a:lnTo>
                <a:lnTo>
                  <a:pt x="1402241" y="7112"/>
                </a:lnTo>
                <a:lnTo>
                  <a:pt x="1393986" y="4063"/>
                </a:lnTo>
                <a:lnTo>
                  <a:pt x="1385350" y="1905"/>
                </a:lnTo>
                <a:lnTo>
                  <a:pt x="1376333" y="508"/>
                </a:lnTo>
                <a:lnTo>
                  <a:pt x="13673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64965" y="2799969"/>
            <a:ext cx="223520" cy="13335"/>
          </a:xfrm>
          <a:custGeom>
            <a:avLst/>
            <a:gdLst/>
            <a:ahLst/>
            <a:cxnLst/>
            <a:rect l="l" t="t" r="r" b="b"/>
            <a:pathLst>
              <a:path w="223520" h="13335">
                <a:moveTo>
                  <a:pt x="38608" y="4317"/>
                </a:moveTo>
                <a:lnTo>
                  <a:pt x="5207" y="4317"/>
                </a:lnTo>
                <a:lnTo>
                  <a:pt x="6985" y="4698"/>
                </a:lnTo>
                <a:lnTo>
                  <a:pt x="8382" y="5587"/>
                </a:lnTo>
                <a:lnTo>
                  <a:pt x="9779" y="6350"/>
                </a:lnTo>
                <a:lnTo>
                  <a:pt x="10668" y="7238"/>
                </a:lnTo>
                <a:lnTo>
                  <a:pt x="11302" y="8635"/>
                </a:lnTo>
                <a:lnTo>
                  <a:pt x="11684" y="9397"/>
                </a:lnTo>
                <a:lnTo>
                  <a:pt x="11811" y="13334"/>
                </a:lnTo>
                <a:lnTo>
                  <a:pt x="32004" y="13334"/>
                </a:lnTo>
                <a:lnTo>
                  <a:pt x="32016" y="12064"/>
                </a:lnTo>
                <a:lnTo>
                  <a:pt x="32258" y="9525"/>
                </a:lnTo>
                <a:lnTo>
                  <a:pt x="33274" y="7238"/>
                </a:lnTo>
                <a:lnTo>
                  <a:pt x="34162" y="6222"/>
                </a:lnTo>
                <a:lnTo>
                  <a:pt x="35179" y="5587"/>
                </a:lnTo>
                <a:lnTo>
                  <a:pt x="36702" y="4698"/>
                </a:lnTo>
                <a:lnTo>
                  <a:pt x="38608" y="4317"/>
                </a:lnTo>
                <a:close/>
              </a:path>
              <a:path w="223520" h="13335">
                <a:moveTo>
                  <a:pt x="43814" y="2031"/>
                </a:moveTo>
                <a:lnTo>
                  <a:pt x="0" y="2031"/>
                </a:lnTo>
                <a:lnTo>
                  <a:pt x="0" y="4317"/>
                </a:lnTo>
                <a:lnTo>
                  <a:pt x="43814" y="4317"/>
                </a:lnTo>
                <a:lnTo>
                  <a:pt x="43814" y="2031"/>
                </a:lnTo>
                <a:close/>
              </a:path>
              <a:path w="223520" h="13335">
                <a:moveTo>
                  <a:pt x="88264" y="4317"/>
                </a:moveTo>
                <a:lnTo>
                  <a:pt x="54863" y="4317"/>
                </a:lnTo>
                <a:lnTo>
                  <a:pt x="56769" y="4698"/>
                </a:lnTo>
                <a:lnTo>
                  <a:pt x="58165" y="5587"/>
                </a:lnTo>
                <a:lnTo>
                  <a:pt x="59562" y="6350"/>
                </a:lnTo>
                <a:lnTo>
                  <a:pt x="60451" y="7238"/>
                </a:lnTo>
                <a:lnTo>
                  <a:pt x="60833" y="8381"/>
                </a:lnTo>
                <a:lnTo>
                  <a:pt x="61340" y="9397"/>
                </a:lnTo>
                <a:lnTo>
                  <a:pt x="61595" y="12064"/>
                </a:lnTo>
                <a:lnTo>
                  <a:pt x="61595" y="13334"/>
                </a:lnTo>
                <a:lnTo>
                  <a:pt x="81661" y="13334"/>
                </a:lnTo>
                <a:lnTo>
                  <a:pt x="81673" y="12064"/>
                </a:lnTo>
                <a:lnTo>
                  <a:pt x="81914" y="9525"/>
                </a:lnTo>
                <a:lnTo>
                  <a:pt x="82423" y="8635"/>
                </a:lnTo>
                <a:lnTo>
                  <a:pt x="83058" y="7238"/>
                </a:lnTo>
                <a:lnTo>
                  <a:pt x="83820" y="6222"/>
                </a:lnTo>
                <a:lnTo>
                  <a:pt x="84962" y="5587"/>
                </a:lnTo>
                <a:lnTo>
                  <a:pt x="86360" y="4698"/>
                </a:lnTo>
                <a:lnTo>
                  <a:pt x="88264" y="4317"/>
                </a:lnTo>
                <a:close/>
              </a:path>
              <a:path w="223520" h="13335">
                <a:moveTo>
                  <a:pt x="93472" y="2031"/>
                </a:moveTo>
                <a:lnTo>
                  <a:pt x="49784" y="2031"/>
                </a:lnTo>
                <a:lnTo>
                  <a:pt x="49784" y="4317"/>
                </a:lnTo>
                <a:lnTo>
                  <a:pt x="93472" y="4317"/>
                </a:lnTo>
                <a:lnTo>
                  <a:pt x="93472" y="2031"/>
                </a:lnTo>
                <a:close/>
              </a:path>
              <a:path w="223520" h="13335">
                <a:moveTo>
                  <a:pt x="117348" y="0"/>
                </a:moveTo>
                <a:lnTo>
                  <a:pt x="112013" y="0"/>
                </a:lnTo>
                <a:lnTo>
                  <a:pt x="109727" y="1015"/>
                </a:lnTo>
                <a:lnTo>
                  <a:pt x="106045" y="4698"/>
                </a:lnTo>
                <a:lnTo>
                  <a:pt x="105156" y="6984"/>
                </a:lnTo>
                <a:lnTo>
                  <a:pt x="105156" y="12318"/>
                </a:lnTo>
                <a:lnTo>
                  <a:pt x="105574" y="13334"/>
                </a:lnTo>
                <a:lnTo>
                  <a:pt x="123727" y="13334"/>
                </a:lnTo>
                <a:lnTo>
                  <a:pt x="124206" y="12318"/>
                </a:lnTo>
                <a:lnTo>
                  <a:pt x="124206" y="6984"/>
                </a:lnTo>
                <a:lnTo>
                  <a:pt x="123317" y="4698"/>
                </a:lnTo>
                <a:lnTo>
                  <a:pt x="121412" y="2920"/>
                </a:lnTo>
                <a:lnTo>
                  <a:pt x="119507" y="1015"/>
                </a:lnTo>
                <a:lnTo>
                  <a:pt x="117348" y="0"/>
                </a:lnTo>
                <a:close/>
              </a:path>
              <a:path w="223520" h="13335">
                <a:moveTo>
                  <a:pt x="223393" y="2031"/>
                </a:moveTo>
                <a:lnTo>
                  <a:pt x="199898" y="2031"/>
                </a:lnTo>
                <a:lnTo>
                  <a:pt x="199898" y="4317"/>
                </a:lnTo>
                <a:lnTo>
                  <a:pt x="202437" y="4698"/>
                </a:lnTo>
                <a:lnTo>
                  <a:pt x="204088" y="5333"/>
                </a:lnTo>
                <a:lnTo>
                  <a:pt x="204850" y="6476"/>
                </a:lnTo>
                <a:lnTo>
                  <a:pt x="205612" y="7492"/>
                </a:lnTo>
                <a:lnTo>
                  <a:pt x="206121" y="10159"/>
                </a:lnTo>
                <a:lnTo>
                  <a:pt x="206121" y="13334"/>
                </a:lnTo>
                <a:lnTo>
                  <a:pt x="223393" y="13334"/>
                </a:lnTo>
                <a:lnTo>
                  <a:pt x="223393" y="2031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75607" y="2799969"/>
            <a:ext cx="1086485" cy="87630"/>
          </a:xfrm>
          <a:custGeom>
            <a:avLst/>
            <a:gdLst/>
            <a:ahLst/>
            <a:cxnLst/>
            <a:rect l="l" t="t" r="r" b="b"/>
            <a:pathLst>
              <a:path w="1086485" h="87630">
                <a:moveTo>
                  <a:pt x="38607" y="4317"/>
                </a:moveTo>
                <a:lnTo>
                  <a:pt x="5079" y="4317"/>
                </a:lnTo>
                <a:lnTo>
                  <a:pt x="6984" y="4698"/>
                </a:lnTo>
                <a:lnTo>
                  <a:pt x="8381" y="5587"/>
                </a:lnTo>
                <a:lnTo>
                  <a:pt x="11810" y="12064"/>
                </a:lnTo>
                <a:lnTo>
                  <a:pt x="11810" y="13334"/>
                </a:lnTo>
                <a:lnTo>
                  <a:pt x="31876" y="13334"/>
                </a:lnTo>
                <a:lnTo>
                  <a:pt x="31889" y="12064"/>
                </a:lnTo>
                <a:lnTo>
                  <a:pt x="32130" y="9525"/>
                </a:lnTo>
                <a:lnTo>
                  <a:pt x="32638" y="8635"/>
                </a:lnTo>
                <a:lnTo>
                  <a:pt x="33273" y="7238"/>
                </a:lnTo>
                <a:lnTo>
                  <a:pt x="34035" y="6222"/>
                </a:lnTo>
                <a:lnTo>
                  <a:pt x="35178" y="5587"/>
                </a:lnTo>
                <a:lnTo>
                  <a:pt x="36575" y="4698"/>
                </a:lnTo>
                <a:lnTo>
                  <a:pt x="38607" y="4317"/>
                </a:lnTo>
                <a:close/>
              </a:path>
              <a:path w="1086485" h="87630">
                <a:moveTo>
                  <a:pt x="44703" y="2031"/>
                </a:moveTo>
                <a:lnTo>
                  <a:pt x="0" y="2031"/>
                </a:lnTo>
                <a:lnTo>
                  <a:pt x="0" y="4317"/>
                </a:lnTo>
                <a:lnTo>
                  <a:pt x="44703" y="4317"/>
                </a:lnTo>
                <a:lnTo>
                  <a:pt x="44703" y="2031"/>
                </a:lnTo>
                <a:close/>
              </a:path>
              <a:path w="1086485" h="87630">
                <a:moveTo>
                  <a:pt x="285114" y="2031"/>
                </a:moveTo>
                <a:lnTo>
                  <a:pt x="260857" y="2031"/>
                </a:lnTo>
                <a:lnTo>
                  <a:pt x="260857" y="4317"/>
                </a:lnTo>
                <a:lnTo>
                  <a:pt x="263651" y="4444"/>
                </a:lnTo>
                <a:lnTo>
                  <a:pt x="265429" y="5079"/>
                </a:lnTo>
                <a:lnTo>
                  <a:pt x="266445" y="6222"/>
                </a:lnTo>
                <a:lnTo>
                  <a:pt x="267334" y="7365"/>
                </a:lnTo>
                <a:lnTo>
                  <a:pt x="267842" y="10032"/>
                </a:lnTo>
                <a:lnTo>
                  <a:pt x="267842" y="13334"/>
                </a:lnTo>
                <a:lnTo>
                  <a:pt x="285114" y="13334"/>
                </a:lnTo>
                <a:lnTo>
                  <a:pt x="285114" y="2031"/>
                </a:lnTo>
                <a:close/>
              </a:path>
              <a:path w="1086485" h="87630">
                <a:moveTo>
                  <a:pt x="374141" y="888"/>
                </a:moveTo>
                <a:lnTo>
                  <a:pt x="342262" y="13334"/>
                </a:lnTo>
                <a:lnTo>
                  <a:pt x="359043" y="13334"/>
                </a:lnTo>
                <a:lnTo>
                  <a:pt x="361441" y="8762"/>
                </a:lnTo>
                <a:lnTo>
                  <a:pt x="367283" y="4825"/>
                </a:lnTo>
                <a:lnTo>
                  <a:pt x="395126" y="4825"/>
                </a:lnTo>
                <a:lnTo>
                  <a:pt x="392302" y="3444"/>
                </a:lnTo>
                <a:lnTo>
                  <a:pt x="383686" y="1339"/>
                </a:lnTo>
                <a:lnTo>
                  <a:pt x="374141" y="888"/>
                </a:lnTo>
                <a:close/>
              </a:path>
              <a:path w="1086485" h="87630">
                <a:moveTo>
                  <a:pt x="395126" y="4825"/>
                </a:moveTo>
                <a:lnTo>
                  <a:pt x="379094" y="4825"/>
                </a:lnTo>
                <a:lnTo>
                  <a:pt x="382777" y="5968"/>
                </a:lnTo>
                <a:lnTo>
                  <a:pt x="389127" y="10540"/>
                </a:lnTo>
                <a:lnTo>
                  <a:pt x="391083" y="13334"/>
                </a:lnTo>
                <a:lnTo>
                  <a:pt x="407291" y="13334"/>
                </a:lnTo>
                <a:lnTo>
                  <a:pt x="406653" y="12572"/>
                </a:lnTo>
                <a:lnTo>
                  <a:pt x="399966" y="7193"/>
                </a:lnTo>
                <a:lnTo>
                  <a:pt x="395126" y="4825"/>
                </a:lnTo>
                <a:close/>
              </a:path>
              <a:path w="1086485" h="87630">
                <a:moveTo>
                  <a:pt x="521588" y="6857"/>
                </a:moveTo>
                <a:lnTo>
                  <a:pt x="519556" y="6857"/>
                </a:lnTo>
                <a:lnTo>
                  <a:pt x="516889" y="11937"/>
                </a:lnTo>
                <a:lnTo>
                  <a:pt x="515892" y="13334"/>
                </a:lnTo>
                <a:lnTo>
                  <a:pt x="521588" y="13334"/>
                </a:lnTo>
                <a:lnTo>
                  <a:pt x="521588" y="6857"/>
                </a:lnTo>
                <a:close/>
              </a:path>
              <a:path w="1086485" h="87630">
                <a:moveTo>
                  <a:pt x="558038" y="0"/>
                </a:moveTo>
                <a:lnTo>
                  <a:pt x="552703" y="0"/>
                </a:lnTo>
                <a:lnTo>
                  <a:pt x="550417" y="1015"/>
                </a:lnTo>
                <a:lnTo>
                  <a:pt x="546734" y="4698"/>
                </a:lnTo>
                <a:lnTo>
                  <a:pt x="545845" y="6984"/>
                </a:lnTo>
                <a:lnTo>
                  <a:pt x="545845" y="12318"/>
                </a:lnTo>
                <a:lnTo>
                  <a:pt x="546264" y="13334"/>
                </a:lnTo>
                <a:lnTo>
                  <a:pt x="564417" y="13334"/>
                </a:lnTo>
                <a:lnTo>
                  <a:pt x="564895" y="12318"/>
                </a:lnTo>
                <a:lnTo>
                  <a:pt x="564895" y="6984"/>
                </a:lnTo>
                <a:lnTo>
                  <a:pt x="564006" y="4698"/>
                </a:lnTo>
                <a:lnTo>
                  <a:pt x="562101" y="2920"/>
                </a:lnTo>
                <a:lnTo>
                  <a:pt x="560196" y="1015"/>
                </a:lnTo>
                <a:lnTo>
                  <a:pt x="558038" y="0"/>
                </a:lnTo>
                <a:close/>
              </a:path>
              <a:path w="1086485" h="87630">
                <a:moveTo>
                  <a:pt x="695197" y="0"/>
                </a:moveTo>
                <a:lnTo>
                  <a:pt x="689863" y="0"/>
                </a:lnTo>
                <a:lnTo>
                  <a:pt x="687577" y="1015"/>
                </a:lnTo>
                <a:lnTo>
                  <a:pt x="683894" y="4698"/>
                </a:lnTo>
                <a:lnTo>
                  <a:pt x="683005" y="6984"/>
                </a:lnTo>
                <a:lnTo>
                  <a:pt x="683005" y="12318"/>
                </a:lnTo>
                <a:lnTo>
                  <a:pt x="683424" y="13334"/>
                </a:lnTo>
                <a:lnTo>
                  <a:pt x="701577" y="13334"/>
                </a:lnTo>
                <a:lnTo>
                  <a:pt x="702055" y="12318"/>
                </a:lnTo>
                <a:lnTo>
                  <a:pt x="702055" y="6984"/>
                </a:lnTo>
                <a:lnTo>
                  <a:pt x="701166" y="4698"/>
                </a:lnTo>
                <a:lnTo>
                  <a:pt x="699262" y="2920"/>
                </a:lnTo>
                <a:lnTo>
                  <a:pt x="697356" y="1015"/>
                </a:lnTo>
                <a:lnTo>
                  <a:pt x="695197" y="0"/>
                </a:lnTo>
                <a:close/>
              </a:path>
              <a:path w="1086485" h="87630">
                <a:moveTo>
                  <a:pt x="856868" y="6857"/>
                </a:moveTo>
                <a:lnTo>
                  <a:pt x="854837" y="6857"/>
                </a:lnTo>
                <a:lnTo>
                  <a:pt x="852169" y="11937"/>
                </a:lnTo>
                <a:lnTo>
                  <a:pt x="851172" y="13334"/>
                </a:lnTo>
                <a:lnTo>
                  <a:pt x="856868" y="13334"/>
                </a:lnTo>
                <a:lnTo>
                  <a:pt x="856868" y="6857"/>
                </a:lnTo>
                <a:close/>
              </a:path>
              <a:path w="1086485" h="87630">
                <a:moveTo>
                  <a:pt x="893317" y="0"/>
                </a:moveTo>
                <a:lnTo>
                  <a:pt x="887983" y="0"/>
                </a:lnTo>
                <a:lnTo>
                  <a:pt x="885697" y="1015"/>
                </a:lnTo>
                <a:lnTo>
                  <a:pt x="882014" y="4698"/>
                </a:lnTo>
                <a:lnTo>
                  <a:pt x="881126" y="6984"/>
                </a:lnTo>
                <a:lnTo>
                  <a:pt x="881126" y="12318"/>
                </a:lnTo>
                <a:lnTo>
                  <a:pt x="881544" y="13334"/>
                </a:lnTo>
                <a:lnTo>
                  <a:pt x="899697" y="13334"/>
                </a:lnTo>
                <a:lnTo>
                  <a:pt x="900176" y="12318"/>
                </a:lnTo>
                <a:lnTo>
                  <a:pt x="900176" y="6984"/>
                </a:lnTo>
                <a:lnTo>
                  <a:pt x="899287" y="4698"/>
                </a:lnTo>
                <a:lnTo>
                  <a:pt x="897381" y="2920"/>
                </a:lnTo>
                <a:lnTo>
                  <a:pt x="895476" y="1015"/>
                </a:lnTo>
                <a:lnTo>
                  <a:pt x="893317" y="0"/>
                </a:lnTo>
                <a:close/>
              </a:path>
              <a:path w="1086485" h="87630">
                <a:moveTo>
                  <a:pt x="999363" y="28066"/>
                </a:moveTo>
                <a:lnTo>
                  <a:pt x="996661" y="28066"/>
                </a:lnTo>
                <a:lnTo>
                  <a:pt x="999363" y="29888"/>
                </a:lnTo>
                <a:lnTo>
                  <a:pt x="999363" y="28066"/>
                </a:lnTo>
                <a:close/>
              </a:path>
              <a:path w="1086485" h="87630">
                <a:moveTo>
                  <a:pt x="1020444" y="26288"/>
                </a:moveTo>
                <a:lnTo>
                  <a:pt x="1013459" y="26288"/>
                </a:lnTo>
                <a:lnTo>
                  <a:pt x="1010538" y="27050"/>
                </a:lnTo>
                <a:lnTo>
                  <a:pt x="1007871" y="28447"/>
                </a:lnTo>
                <a:lnTo>
                  <a:pt x="1005204" y="29971"/>
                </a:lnTo>
                <a:lnTo>
                  <a:pt x="1002558" y="32043"/>
                </a:lnTo>
                <a:lnTo>
                  <a:pt x="1006456" y="34670"/>
                </a:lnTo>
                <a:lnTo>
                  <a:pt x="1010284" y="34670"/>
                </a:lnTo>
                <a:lnTo>
                  <a:pt x="1011301" y="35051"/>
                </a:lnTo>
                <a:lnTo>
                  <a:pt x="1014569" y="42400"/>
                </a:lnTo>
                <a:lnTo>
                  <a:pt x="1030013" y="65305"/>
                </a:lnTo>
                <a:lnTo>
                  <a:pt x="1031875" y="74524"/>
                </a:lnTo>
                <a:lnTo>
                  <a:pt x="1031782" y="42400"/>
                </a:lnTo>
                <a:lnTo>
                  <a:pt x="1031620" y="39496"/>
                </a:lnTo>
                <a:lnTo>
                  <a:pt x="1030858" y="37210"/>
                </a:lnTo>
                <a:lnTo>
                  <a:pt x="1030096" y="34035"/>
                </a:lnTo>
                <a:lnTo>
                  <a:pt x="1028445" y="31495"/>
                </a:lnTo>
                <a:lnTo>
                  <a:pt x="1025905" y="29463"/>
                </a:lnTo>
                <a:lnTo>
                  <a:pt x="1023492" y="27304"/>
                </a:lnTo>
                <a:lnTo>
                  <a:pt x="1020444" y="26288"/>
                </a:lnTo>
                <a:close/>
              </a:path>
              <a:path w="1086485" h="87630">
                <a:moveTo>
                  <a:pt x="1033343" y="81799"/>
                </a:moveTo>
                <a:lnTo>
                  <a:pt x="1034162" y="85851"/>
                </a:lnTo>
                <a:lnTo>
                  <a:pt x="1038097" y="85851"/>
                </a:lnTo>
                <a:lnTo>
                  <a:pt x="1038097" y="83565"/>
                </a:lnTo>
                <a:lnTo>
                  <a:pt x="1035557" y="83311"/>
                </a:lnTo>
                <a:lnTo>
                  <a:pt x="1033906" y="82550"/>
                </a:lnTo>
                <a:lnTo>
                  <a:pt x="1033343" y="81799"/>
                </a:lnTo>
                <a:close/>
              </a:path>
              <a:path w="1086485" h="87630">
                <a:moveTo>
                  <a:pt x="1078659" y="84200"/>
                </a:moveTo>
                <a:lnTo>
                  <a:pt x="1054227" y="84200"/>
                </a:lnTo>
                <a:lnTo>
                  <a:pt x="1055115" y="84454"/>
                </a:lnTo>
                <a:lnTo>
                  <a:pt x="1056385" y="84962"/>
                </a:lnTo>
                <a:lnTo>
                  <a:pt x="1060957" y="86613"/>
                </a:lnTo>
                <a:lnTo>
                  <a:pt x="1064640" y="87502"/>
                </a:lnTo>
                <a:lnTo>
                  <a:pt x="1070990" y="87502"/>
                </a:lnTo>
                <a:lnTo>
                  <a:pt x="1074165" y="86740"/>
                </a:lnTo>
                <a:lnTo>
                  <a:pt x="1078659" y="84200"/>
                </a:lnTo>
                <a:close/>
              </a:path>
              <a:path w="1086485" h="87630">
                <a:moveTo>
                  <a:pt x="1049527" y="66547"/>
                </a:moveTo>
                <a:lnTo>
                  <a:pt x="1047368" y="66547"/>
                </a:lnTo>
                <a:lnTo>
                  <a:pt x="1048384" y="87375"/>
                </a:lnTo>
                <a:lnTo>
                  <a:pt x="1050416" y="87375"/>
                </a:lnTo>
                <a:lnTo>
                  <a:pt x="1051305" y="85216"/>
                </a:lnTo>
                <a:lnTo>
                  <a:pt x="1052448" y="84200"/>
                </a:lnTo>
                <a:lnTo>
                  <a:pt x="1078659" y="84200"/>
                </a:lnTo>
                <a:lnTo>
                  <a:pt x="1080007" y="83438"/>
                </a:lnTo>
                <a:lnTo>
                  <a:pt x="1080489" y="82930"/>
                </a:lnTo>
                <a:lnTo>
                  <a:pt x="1063370" y="82930"/>
                </a:lnTo>
                <a:lnTo>
                  <a:pt x="1060322" y="81533"/>
                </a:lnTo>
                <a:lnTo>
                  <a:pt x="1053845" y="76072"/>
                </a:lnTo>
                <a:lnTo>
                  <a:pt x="1051305" y="72008"/>
                </a:lnTo>
                <a:lnTo>
                  <a:pt x="1049527" y="66547"/>
                </a:lnTo>
                <a:close/>
              </a:path>
              <a:path w="1086485" h="87630">
                <a:moveTo>
                  <a:pt x="1067689" y="26288"/>
                </a:moveTo>
                <a:lnTo>
                  <a:pt x="1058671" y="26288"/>
                </a:lnTo>
                <a:lnTo>
                  <a:pt x="1054227" y="28066"/>
                </a:lnTo>
                <a:lnTo>
                  <a:pt x="1051178" y="31750"/>
                </a:lnTo>
                <a:lnTo>
                  <a:pt x="1048130" y="35305"/>
                </a:lnTo>
                <a:lnTo>
                  <a:pt x="1046606" y="39369"/>
                </a:lnTo>
                <a:lnTo>
                  <a:pt x="1046606" y="47878"/>
                </a:lnTo>
                <a:lnTo>
                  <a:pt x="1067180" y="67944"/>
                </a:lnTo>
                <a:lnTo>
                  <a:pt x="1069975" y="70103"/>
                </a:lnTo>
                <a:lnTo>
                  <a:pt x="1072388" y="73025"/>
                </a:lnTo>
                <a:lnTo>
                  <a:pt x="1073022" y="74675"/>
                </a:lnTo>
                <a:lnTo>
                  <a:pt x="1073022" y="78358"/>
                </a:lnTo>
                <a:lnTo>
                  <a:pt x="1072388" y="79882"/>
                </a:lnTo>
                <a:lnTo>
                  <a:pt x="1071117" y="81025"/>
                </a:lnTo>
                <a:lnTo>
                  <a:pt x="1069847" y="82295"/>
                </a:lnTo>
                <a:lnTo>
                  <a:pt x="1068323" y="82930"/>
                </a:lnTo>
                <a:lnTo>
                  <a:pt x="1080489" y="82930"/>
                </a:lnTo>
                <a:lnTo>
                  <a:pt x="1086357" y="64896"/>
                </a:lnTo>
                <a:lnTo>
                  <a:pt x="1085341" y="61721"/>
                </a:lnTo>
                <a:lnTo>
                  <a:pt x="1083437" y="58927"/>
                </a:lnTo>
                <a:lnTo>
                  <a:pt x="1081531" y="56006"/>
                </a:lnTo>
                <a:lnTo>
                  <a:pt x="1077594" y="52577"/>
                </a:lnTo>
                <a:lnTo>
                  <a:pt x="1071498" y="48513"/>
                </a:lnTo>
                <a:lnTo>
                  <a:pt x="1065402" y="44322"/>
                </a:lnTo>
                <a:lnTo>
                  <a:pt x="1061719" y="41401"/>
                </a:lnTo>
                <a:lnTo>
                  <a:pt x="1060450" y="39750"/>
                </a:lnTo>
                <a:lnTo>
                  <a:pt x="1059560" y="38734"/>
                </a:lnTo>
                <a:lnTo>
                  <a:pt x="1059179" y="37718"/>
                </a:lnTo>
                <a:lnTo>
                  <a:pt x="1059179" y="35051"/>
                </a:lnTo>
                <a:lnTo>
                  <a:pt x="1059814" y="33781"/>
                </a:lnTo>
                <a:lnTo>
                  <a:pt x="1060957" y="32638"/>
                </a:lnTo>
                <a:lnTo>
                  <a:pt x="1062227" y="31495"/>
                </a:lnTo>
                <a:lnTo>
                  <a:pt x="1063625" y="30987"/>
                </a:lnTo>
                <a:lnTo>
                  <a:pt x="1082529" y="30987"/>
                </a:lnTo>
                <a:lnTo>
                  <a:pt x="1082451" y="29463"/>
                </a:lnTo>
                <a:lnTo>
                  <a:pt x="1075563" y="29463"/>
                </a:lnTo>
                <a:lnTo>
                  <a:pt x="1074673" y="29209"/>
                </a:lnTo>
                <a:lnTo>
                  <a:pt x="1073530" y="28575"/>
                </a:lnTo>
                <a:lnTo>
                  <a:pt x="1070609" y="27050"/>
                </a:lnTo>
                <a:lnTo>
                  <a:pt x="1067689" y="26288"/>
                </a:lnTo>
                <a:close/>
              </a:path>
              <a:path w="1086485" h="87630">
                <a:moveTo>
                  <a:pt x="1082529" y="30987"/>
                </a:moveTo>
                <a:lnTo>
                  <a:pt x="1067942" y="30987"/>
                </a:lnTo>
                <a:lnTo>
                  <a:pt x="1070609" y="32003"/>
                </a:lnTo>
                <a:lnTo>
                  <a:pt x="1073403" y="34162"/>
                </a:lnTo>
                <a:lnTo>
                  <a:pt x="1076070" y="36321"/>
                </a:lnTo>
                <a:lnTo>
                  <a:pt x="1078610" y="40258"/>
                </a:lnTo>
                <a:lnTo>
                  <a:pt x="1081151" y="46100"/>
                </a:lnTo>
                <a:lnTo>
                  <a:pt x="1083309" y="46100"/>
                </a:lnTo>
                <a:lnTo>
                  <a:pt x="1082529" y="30987"/>
                </a:lnTo>
                <a:close/>
              </a:path>
              <a:path w="1086485" h="87630">
                <a:moveTo>
                  <a:pt x="1082293" y="26415"/>
                </a:moveTo>
                <a:lnTo>
                  <a:pt x="1080262" y="26415"/>
                </a:lnTo>
                <a:lnTo>
                  <a:pt x="1079245" y="27812"/>
                </a:lnTo>
                <a:lnTo>
                  <a:pt x="1078483" y="28701"/>
                </a:lnTo>
                <a:lnTo>
                  <a:pt x="1078102" y="29082"/>
                </a:lnTo>
                <a:lnTo>
                  <a:pt x="1077594" y="29336"/>
                </a:lnTo>
                <a:lnTo>
                  <a:pt x="1077087" y="29463"/>
                </a:lnTo>
                <a:lnTo>
                  <a:pt x="1082451" y="29463"/>
                </a:lnTo>
                <a:lnTo>
                  <a:pt x="1082293" y="26415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12308" y="3131057"/>
            <a:ext cx="36195" cy="61594"/>
          </a:xfrm>
          <a:custGeom>
            <a:avLst/>
            <a:gdLst/>
            <a:ahLst/>
            <a:cxnLst/>
            <a:rect l="l" t="t" r="r" b="b"/>
            <a:pathLst>
              <a:path w="36195" h="61594">
                <a:moveTo>
                  <a:pt x="28242" y="57912"/>
                </a:moveTo>
                <a:lnTo>
                  <a:pt x="3809" y="57912"/>
                </a:lnTo>
                <a:lnTo>
                  <a:pt x="4699" y="58165"/>
                </a:lnTo>
                <a:lnTo>
                  <a:pt x="5968" y="58674"/>
                </a:lnTo>
                <a:lnTo>
                  <a:pt x="10540" y="60325"/>
                </a:lnTo>
                <a:lnTo>
                  <a:pt x="14224" y="61213"/>
                </a:lnTo>
                <a:lnTo>
                  <a:pt x="20574" y="61213"/>
                </a:lnTo>
                <a:lnTo>
                  <a:pt x="23749" y="60451"/>
                </a:lnTo>
                <a:lnTo>
                  <a:pt x="28242" y="57912"/>
                </a:lnTo>
                <a:close/>
              </a:path>
              <a:path w="36195" h="61594">
                <a:moveTo>
                  <a:pt x="0" y="42989"/>
                </a:moveTo>
                <a:lnTo>
                  <a:pt x="0" y="61087"/>
                </a:lnTo>
                <a:lnTo>
                  <a:pt x="888" y="58927"/>
                </a:lnTo>
                <a:lnTo>
                  <a:pt x="2031" y="57912"/>
                </a:lnTo>
                <a:lnTo>
                  <a:pt x="28242" y="57912"/>
                </a:lnTo>
                <a:lnTo>
                  <a:pt x="29590" y="57150"/>
                </a:lnTo>
                <a:lnTo>
                  <a:pt x="30072" y="56641"/>
                </a:lnTo>
                <a:lnTo>
                  <a:pt x="12953" y="56641"/>
                </a:lnTo>
                <a:lnTo>
                  <a:pt x="9905" y="55244"/>
                </a:lnTo>
                <a:lnTo>
                  <a:pt x="3428" y="49783"/>
                </a:lnTo>
                <a:lnTo>
                  <a:pt x="888" y="45719"/>
                </a:lnTo>
                <a:lnTo>
                  <a:pt x="0" y="42989"/>
                </a:lnTo>
                <a:close/>
              </a:path>
              <a:path w="36195" h="61594">
                <a:moveTo>
                  <a:pt x="17271" y="0"/>
                </a:moveTo>
                <a:lnTo>
                  <a:pt x="8254" y="0"/>
                </a:lnTo>
                <a:lnTo>
                  <a:pt x="3809" y="1777"/>
                </a:lnTo>
                <a:lnTo>
                  <a:pt x="762" y="5461"/>
                </a:lnTo>
                <a:lnTo>
                  <a:pt x="0" y="6350"/>
                </a:lnTo>
                <a:lnTo>
                  <a:pt x="0" y="28375"/>
                </a:lnTo>
                <a:lnTo>
                  <a:pt x="2158" y="30987"/>
                </a:lnTo>
                <a:lnTo>
                  <a:pt x="6222" y="34289"/>
                </a:lnTo>
                <a:lnTo>
                  <a:pt x="12445" y="38734"/>
                </a:lnTo>
                <a:lnTo>
                  <a:pt x="16763" y="41655"/>
                </a:lnTo>
                <a:lnTo>
                  <a:pt x="19557" y="43814"/>
                </a:lnTo>
                <a:lnTo>
                  <a:pt x="21970" y="46736"/>
                </a:lnTo>
                <a:lnTo>
                  <a:pt x="22605" y="48387"/>
                </a:lnTo>
                <a:lnTo>
                  <a:pt x="22605" y="52069"/>
                </a:lnTo>
                <a:lnTo>
                  <a:pt x="21970" y="53593"/>
                </a:lnTo>
                <a:lnTo>
                  <a:pt x="20700" y="54737"/>
                </a:lnTo>
                <a:lnTo>
                  <a:pt x="19430" y="56006"/>
                </a:lnTo>
                <a:lnTo>
                  <a:pt x="17906" y="56641"/>
                </a:lnTo>
                <a:lnTo>
                  <a:pt x="30072" y="56641"/>
                </a:lnTo>
                <a:lnTo>
                  <a:pt x="35940" y="38607"/>
                </a:lnTo>
                <a:lnTo>
                  <a:pt x="34925" y="35432"/>
                </a:lnTo>
                <a:lnTo>
                  <a:pt x="33019" y="32638"/>
                </a:lnTo>
                <a:lnTo>
                  <a:pt x="31114" y="29717"/>
                </a:lnTo>
                <a:lnTo>
                  <a:pt x="27177" y="26288"/>
                </a:lnTo>
                <a:lnTo>
                  <a:pt x="21081" y="22225"/>
                </a:lnTo>
                <a:lnTo>
                  <a:pt x="14986" y="18033"/>
                </a:lnTo>
                <a:lnTo>
                  <a:pt x="11302" y="15112"/>
                </a:lnTo>
                <a:lnTo>
                  <a:pt x="10032" y="13462"/>
                </a:lnTo>
                <a:lnTo>
                  <a:pt x="9143" y="12445"/>
                </a:lnTo>
                <a:lnTo>
                  <a:pt x="8762" y="11429"/>
                </a:lnTo>
                <a:lnTo>
                  <a:pt x="8762" y="8762"/>
                </a:lnTo>
                <a:lnTo>
                  <a:pt x="9397" y="7492"/>
                </a:lnTo>
                <a:lnTo>
                  <a:pt x="10540" y="6350"/>
                </a:lnTo>
                <a:lnTo>
                  <a:pt x="11811" y="5206"/>
                </a:lnTo>
                <a:lnTo>
                  <a:pt x="13207" y="4699"/>
                </a:lnTo>
                <a:lnTo>
                  <a:pt x="32112" y="4699"/>
                </a:lnTo>
                <a:lnTo>
                  <a:pt x="32034" y="3175"/>
                </a:lnTo>
                <a:lnTo>
                  <a:pt x="25145" y="3175"/>
                </a:lnTo>
                <a:lnTo>
                  <a:pt x="24256" y="2920"/>
                </a:lnTo>
                <a:lnTo>
                  <a:pt x="23113" y="2286"/>
                </a:lnTo>
                <a:lnTo>
                  <a:pt x="20192" y="762"/>
                </a:lnTo>
                <a:lnTo>
                  <a:pt x="17271" y="0"/>
                </a:lnTo>
                <a:close/>
              </a:path>
              <a:path w="36195" h="61594">
                <a:moveTo>
                  <a:pt x="32112" y="4699"/>
                </a:moveTo>
                <a:lnTo>
                  <a:pt x="17525" y="4699"/>
                </a:lnTo>
                <a:lnTo>
                  <a:pt x="20192" y="5714"/>
                </a:lnTo>
                <a:lnTo>
                  <a:pt x="22987" y="7874"/>
                </a:lnTo>
                <a:lnTo>
                  <a:pt x="25653" y="10032"/>
                </a:lnTo>
                <a:lnTo>
                  <a:pt x="28193" y="13969"/>
                </a:lnTo>
                <a:lnTo>
                  <a:pt x="30733" y="19812"/>
                </a:lnTo>
                <a:lnTo>
                  <a:pt x="32892" y="19812"/>
                </a:lnTo>
                <a:lnTo>
                  <a:pt x="32112" y="4699"/>
                </a:lnTo>
                <a:close/>
              </a:path>
              <a:path w="36195" h="61594">
                <a:moveTo>
                  <a:pt x="31876" y="126"/>
                </a:moveTo>
                <a:lnTo>
                  <a:pt x="29844" y="126"/>
                </a:lnTo>
                <a:lnTo>
                  <a:pt x="28828" y="1524"/>
                </a:lnTo>
                <a:lnTo>
                  <a:pt x="28066" y="2412"/>
                </a:lnTo>
                <a:lnTo>
                  <a:pt x="27686" y="2793"/>
                </a:lnTo>
                <a:lnTo>
                  <a:pt x="27177" y="3047"/>
                </a:lnTo>
                <a:lnTo>
                  <a:pt x="26669" y="3175"/>
                </a:lnTo>
                <a:lnTo>
                  <a:pt x="32034" y="3175"/>
                </a:lnTo>
                <a:lnTo>
                  <a:pt x="31876" y="12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64508" y="2813304"/>
            <a:ext cx="1447800" cy="510540"/>
          </a:xfrm>
          <a:custGeom>
            <a:avLst/>
            <a:gdLst/>
            <a:ahLst/>
            <a:cxnLst/>
            <a:rect l="l" t="t" r="r" b="b"/>
            <a:pathLst>
              <a:path w="1447800" h="510539">
                <a:moveTo>
                  <a:pt x="1362709" y="0"/>
                </a:moveTo>
                <a:lnTo>
                  <a:pt x="85089" y="0"/>
                </a:lnTo>
                <a:lnTo>
                  <a:pt x="51970" y="6687"/>
                </a:lnTo>
                <a:lnTo>
                  <a:pt x="24923" y="24923"/>
                </a:lnTo>
                <a:lnTo>
                  <a:pt x="6687" y="51970"/>
                </a:lnTo>
                <a:lnTo>
                  <a:pt x="0" y="85090"/>
                </a:lnTo>
                <a:lnTo>
                  <a:pt x="0" y="425450"/>
                </a:lnTo>
                <a:lnTo>
                  <a:pt x="6687" y="458569"/>
                </a:lnTo>
                <a:lnTo>
                  <a:pt x="24923" y="485616"/>
                </a:lnTo>
                <a:lnTo>
                  <a:pt x="51970" y="503852"/>
                </a:lnTo>
                <a:lnTo>
                  <a:pt x="85089" y="510540"/>
                </a:lnTo>
                <a:lnTo>
                  <a:pt x="1362709" y="510540"/>
                </a:lnTo>
                <a:lnTo>
                  <a:pt x="1395829" y="503852"/>
                </a:lnTo>
                <a:lnTo>
                  <a:pt x="1422876" y="485616"/>
                </a:lnTo>
                <a:lnTo>
                  <a:pt x="1441112" y="458569"/>
                </a:lnTo>
                <a:lnTo>
                  <a:pt x="1447800" y="425450"/>
                </a:lnTo>
                <a:lnTo>
                  <a:pt x="1447800" y="85090"/>
                </a:lnTo>
                <a:lnTo>
                  <a:pt x="1441112" y="51970"/>
                </a:lnTo>
                <a:lnTo>
                  <a:pt x="1422876" y="24923"/>
                </a:lnTo>
                <a:lnTo>
                  <a:pt x="1395829" y="6687"/>
                </a:lnTo>
                <a:lnTo>
                  <a:pt x="136270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64508" y="2813304"/>
            <a:ext cx="1447800" cy="510540"/>
          </a:xfrm>
          <a:custGeom>
            <a:avLst/>
            <a:gdLst/>
            <a:ahLst/>
            <a:cxnLst/>
            <a:rect l="l" t="t" r="r" b="b"/>
            <a:pathLst>
              <a:path w="1447800" h="510539">
                <a:moveTo>
                  <a:pt x="0" y="85090"/>
                </a:moveTo>
                <a:lnTo>
                  <a:pt x="6687" y="51970"/>
                </a:lnTo>
                <a:lnTo>
                  <a:pt x="24923" y="24923"/>
                </a:lnTo>
                <a:lnTo>
                  <a:pt x="51970" y="6687"/>
                </a:lnTo>
                <a:lnTo>
                  <a:pt x="85089" y="0"/>
                </a:lnTo>
                <a:lnTo>
                  <a:pt x="1362709" y="0"/>
                </a:lnTo>
                <a:lnTo>
                  <a:pt x="1395829" y="6687"/>
                </a:lnTo>
                <a:lnTo>
                  <a:pt x="1422876" y="24923"/>
                </a:lnTo>
                <a:lnTo>
                  <a:pt x="1441112" y="51970"/>
                </a:lnTo>
                <a:lnTo>
                  <a:pt x="1447800" y="85090"/>
                </a:lnTo>
                <a:lnTo>
                  <a:pt x="1447800" y="425450"/>
                </a:lnTo>
                <a:lnTo>
                  <a:pt x="1441112" y="458569"/>
                </a:lnTo>
                <a:lnTo>
                  <a:pt x="1422876" y="485616"/>
                </a:lnTo>
                <a:lnTo>
                  <a:pt x="1395829" y="503852"/>
                </a:lnTo>
                <a:lnTo>
                  <a:pt x="1362709" y="510540"/>
                </a:lnTo>
                <a:lnTo>
                  <a:pt x="85089" y="510540"/>
                </a:lnTo>
                <a:lnTo>
                  <a:pt x="51970" y="503852"/>
                </a:lnTo>
                <a:lnTo>
                  <a:pt x="24923" y="485616"/>
                </a:lnTo>
                <a:lnTo>
                  <a:pt x="6687" y="458569"/>
                </a:lnTo>
                <a:lnTo>
                  <a:pt x="0" y="425450"/>
                </a:lnTo>
                <a:lnTo>
                  <a:pt x="0" y="8509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074033" y="2823463"/>
            <a:ext cx="142938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High-Level</a:t>
            </a:r>
            <a:r>
              <a:rPr sz="1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Optimizations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</a:pPr>
            <a:r>
              <a:rPr sz="1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Low-Level</a:t>
            </a:r>
            <a:r>
              <a:rPr sz="10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Optimizations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332787" y="4436364"/>
            <a:ext cx="1141730" cy="512445"/>
          </a:xfrm>
          <a:custGeom>
            <a:avLst/>
            <a:gdLst/>
            <a:ahLst/>
            <a:cxnLst/>
            <a:rect l="l" t="t" r="r" b="b"/>
            <a:pathLst>
              <a:path w="1141729" h="512445">
                <a:moveTo>
                  <a:pt x="1139520" y="76200"/>
                </a:moveTo>
                <a:lnTo>
                  <a:pt x="979622" y="76200"/>
                </a:lnTo>
                <a:lnTo>
                  <a:pt x="1012927" y="82931"/>
                </a:lnTo>
                <a:lnTo>
                  <a:pt x="1040137" y="101282"/>
                </a:lnTo>
                <a:lnTo>
                  <a:pt x="1058489" y="128492"/>
                </a:lnTo>
                <a:lnTo>
                  <a:pt x="1065220" y="161798"/>
                </a:lnTo>
                <a:lnTo>
                  <a:pt x="1065220" y="504190"/>
                </a:lnTo>
                <a:lnTo>
                  <a:pt x="1063640" y="512008"/>
                </a:lnTo>
                <a:lnTo>
                  <a:pt x="1089127" y="506856"/>
                </a:lnTo>
                <a:lnTo>
                  <a:pt x="1116337" y="488505"/>
                </a:lnTo>
                <a:lnTo>
                  <a:pt x="1134689" y="461295"/>
                </a:lnTo>
                <a:lnTo>
                  <a:pt x="1141420" y="427990"/>
                </a:lnTo>
                <a:lnTo>
                  <a:pt x="1141420" y="85598"/>
                </a:lnTo>
                <a:lnTo>
                  <a:pt x="1139520" y="76200"/>
                </a:lnTo>
                <a:close/>
              </a:path>
              <a:path w="1141729" h="512445">
                <a:moveTo>
                  <a:pt x="1055822" y="0"/>
                </a:moveTo>
                <a:lnTo>
                  <a:pt x="84018" y="0"/>
                </a:lnTo>
                <a:lnTo>
                  <a:pt x="50712" y="6731"/>
                </a:lnTo>
                <a:lnTo>
                  <a:pt x="23502" y="25082"/>
                </a:lnTo>
                <a:lnTo>
                  <a:pt x="5151" y="52292"/>
                </a:lnTo>
                <a:lnTo>
                  <a:pt x="0" y="77779"/>
                </a:lnTo>
                <a:lnTo>
                  <a:pt x="7818" y="76200"/>
                </a:lnTo>
                <a:lnTo>
                  <a:pt x="1139520" y="76200"/>
                </a:lnTo>
                <a:lnTo>
                  <a:pt x="1134689" y="52292"/>
                </a:lnTo>
                <a:lnTo>
                  <a:pt x="1116337" y="25082"/>
                </a:lnTo>
                <a:lnTo>
                  <a:pt x="1089127" y="6731"/>
                </a:lnTo>
                <a:lnTo>
                  <a:pt x="1055822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26746" y="4431538"/>
            <a:ext cx="1152525" cy="523240"/>
          </a:xfrm>
          <a:custGeom>
            <a:avLst/>
            <a:gdLst/>
            <a:ahLst/>
            <a:cxnLst/>
            <a:rect l="l" t="t" r="r" b="b"/>
            <a:pathLst>
              <a:path w="1152525" h="523239">
                <a:moveTo>
                  <a:pt x="1101817" y="9525"/>
                </a:moveTo>
                <a:lnTo>
                  <a:pt x="1061736" y="9525"/>
                </a:lnTo>
                <a:lnTo>
                  <a:pt x="1070245" y="10032"/>
                </a:lnTo>
                <a:lnTo>
                  <a:pt x="1078246" y="11175"/>
                </a:lnTo>
                <a:lnTo>
                  <a:pt x="1113298" y="28067"/>
                </a:lnTo>
                <a:lnTo>
                  <a:pt x="1136332" y="59055"/>
                </a:lnTo>
                <a:lnTo>
                  <a:pt x="1142618" y="433069"/>
                </a:lnTo>
                <a:lnTo>
                  <a:pt x="1142254" y="441198"/>
                </a:lnTo>
                <a:lnTo>
                  <a:pt x="1128919" y="478028"/>
                </a:lnTo>
                <a:lnTo>
                  <a:pt x="1100471" y="503936"/>
                </a:lnTo>
                <a:lnTo>
                  <a:pt x="1070419" y="513182"/>
                </a:lnTo>
                <a:lnTo>
                  <a:pt x="1068466" y="522844"/>
                </a:lnTo>
                <a:lnTo>
                  <a:pt x="1112409" y="507745"/>
                </a:lnTo>
                <a:lnTo>
                  <a:pt x="1141365" y="475869"/>
                </a:lnTo>
                <a:lnTo>
                  <a:pt x="1152160" y="433069"/>
                </a:lnTo>
                <a:lnTo>
                  <a:pt x="1152053" y="87756"/>
                </a:lnTo>
                <a:lnTo>
                  <a:pt x="1141365" y="47370"/>
                </a:lnTo>
                <a:lnTo>
                  <a:pt x="1112409" y="15493"/>
                </a:lnTo>
                <a:lnTo>
                  <a:pt x="1104916" y="11049"/>
                </a:lnTo>
                <a:lnTo>
                  <a:pt x="1101817" y="9525"/>
                </a:lnTo>
                <a:close/>
              </a:path>
              <a:path w="1152525" h="523239">
                <a:moveTo>
                  <a:pt x="1062117" y="0"/>
                </a:moveTo>
                <a:lnTo>
                  <a:pt x="89932" y="0"/>
                </a:lnTo>
                <a:lnTo>
                  <a:pt x="80915" y="507"/>
                </a:lnTo>
                <a:lnTo>
                  <a:pt x="39640" y="15493"/>
                </a:lnTo>
                <a:lnTo>
                  <a:pt x="10684" y="47370"/>
                </a:lnTo>
                <a:lnTo>
                  <a:pt x="0" y="83826"/>
                </a:lnTo>
                <a:lnTo>
                  <a:pt x="9712" y="81864"/>
                </a:lnTo>
                <a:lnTo>
                  <a:pt x="10811" y="74168"/>
                </a:lnTo>
                <a:lnTo>
                  <a:pt x="12843" y="66420"/>
                </a:lnTo>
                <a:lnTo>
                  <a:pt x="32909" y="33274"/>
                </a:lnTo>
                <a:lnTo>
                  <a:pt x="66056" y="13207"/>
                </a:lnTo>
                <a:lnTo>
                  <a:pt x="90186" y="9525"/>
                </a:lnTo>
                <a:lnTo>
                  <a:pt x="1101817" y="9525"/>
                </a:lnTo>
                <a:lnTo>
                  <a:pt x="1097169" y="7238"/>
                </a:lnTo>
                <a:lnTo>
                  <a:pt x="1088787" y="4063"/>
                </a:lnTo>
                <a:lnTo>
                  <a:pt x="1080151" y="1905"/>
                </a:lnTo>
                <a:lnTo>
                  <a:pt x="1071134" y="507"/>
                </a:lnTo>
                <a:lnTo>
                  <a:pt x="1062117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98008" y="4641515"/>
            <a:ext cx="56515" cy="117475"/>
          </a:xfrm>
          <a:custGeom>
            <a:avLst/>
            <a:gdLst/>
            <a:ahLst/>
            <a:cxnLst/>
            <a:rect l="l" t="t" r="r" b="b"/>
            <a:pathLst>
              <a:path w="56514" h="117475">
                <a:moveTo>
                  <a:pt x="0" y="0"/>
                </a:moveTo>
                <a:lnTo>
                  <a:pt x="0" y="9478"/>
                </a:lnTo>
                <a:lnTo>
                  <a:pt x="2666" y="12145"/>
                </a:lnTo>
                <a:lnTo>
                  <a:pt x="6857" y="16463"/>
                </a:lnTo>
                <a:lnTo>
                  <a:pt x="9016" y="23194"/>
                </a:lnTo>
                <a:lnTo>
                  <a:pt x="9016" y="38307"/>
                </a:lnTo>
                <a:lnTo>
                  <a:pt x="7874" y="43387"/>
                </a:lnTo>
                <a:lnTo>
                  <a:pt x="5461" y="47197"/>
                </a:lnTo>
                <a:lnTo>
                  <a:pt x="3175" y="51134"/>
                </a:lnTo>
                <a:lnTo>
                  <a:pt x="126" y="53801"/>
                </a:lnTo>
                <a:lnTo>
                  <a:pt x="0" y="90925"/>
                </a:lnTo>
                <a:lnTo>
                  <a:pt x="18795" y="117428"/>
                </a:lnTo>
                <a:lnTo>
                  <a:pt x="56006" y="117428"/>
                </a:lnTo>
                <a:lnTo>
                  <a:pt x="56006" y="114253"/>
                </a:lnTo>
                <a:lnTo>
                  <a:pt x="52831" y="114126"/>
                </a:lnTo>
                <a:lnTo>
                  <a:pt x="50037" y="113110"/>
                </a:lnTo>
                <a:lnTo>
                  <a:pt x="46100" y="110062"/>
                </a:lnTo>
                <a:lnTo>
                  <a:pt x="43561" y="106760"/>
                </a:lnTo>
                <a:lnTo>
                  <a:pt x="39750" y="101553"/>
                </a:lnTo>
                <a:lnTo>
                  <a:pt x="11429" y="61675"/>
                </a:lnTo>
                <a:lnTo>
                  <a:pt x="18541" y="59897"/>
                </a:lnTo>
                <a:lnTo>
                  <a:pt x="24256" y="57103"/>
                </a:lnTo>
                <a:lnTo>
                  <a:pt x="28193" y="53547"/>
                </a:lnTo>
                <a:lnTo>
                  <a:pt x="34416" y="47832"/>
                </a:lnTo>
                <a:lnTo>
                  <a:pt x="37591" y="40720"/>
                </a:lnTo>
                <a:lnTo>
                  <a:pt x="37591" y="24845"/>
                </a:lnTo>
                <a:lnTo>
                  <a:pt x="2333" y="143"/>
                </a:lnTo>
                <a:lnTo>
                  <a:pt x="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55008" y="4512564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4">
                <a:moveTo>
                  <a:pt x="1057402" y="0"/>
                </a:moveTo>
                <a:lnTo>
                  <a:pt x="85597" y="0"/>
                </a:lnTo>
                <a:lnTo>
                  <a:pt x="52292" y="6731"/>
                </a:lnTo>
                <a:lnTo>
                  <a:pt x="25082" y="25082"/>
                </a:lnTo>
                <a:lnTo>
                  <a:pt x="6730" y="52292"/>
                </a:lnTo>
                <a:lnTo>
                  <a:pt x="0" y="85598"/>
                </a:lnTo>
                <a:lnTo>
                  <a:pt x="0" y="427990"/>
                </a:lnTo>
                <a:lnTo>
                  <a:pt x="6730" y="461295"/>
                </a:lnTo>
                <a:lnTo>
                  <a:pt x="25082" y="488505"/>
                </a:lnTo>
                <a:lnTo>
                  <a:pt x="52292" y="506856"/>
                </a:lnTo>
                <a:lnTo>
                  <a:pt x="85597" y="513588"/>
                </a:lnTo>
                <a:lnTo>
                  <a:pt x="1057402" y="513588"/>
                </a:lnTo>
                <a:lnTo>
                  <a:pt x="1090707" y="506856"/>
                </a:lnTo>
                <a:lnTo>
                  <a:pt x="1117917" y="488505"/>
                </a:lnTo>
                <a:lnTo>
                  <a:pt x="1136268" y="461295"/>
                </a:lnTo>
                <a:lnTo>
                  <a:pt x="1143000" y="427990"/>
                </a:lnTo>
                <a:lnTo>
                  <a:pt x="1143000" y="85598"/>
                </a:lnTo>
                <a:lnTo>
                  <a:pt x="1136268" y="52292"/>
                </a:lnTo>
                <a:lnTo>
                  <a:pt x="1117917" y="25082"/>
                </a:lnTo>
                <a:lnTo>
                  <a:pt x="1090707" y="6731"/>
                </a:lnTo>
                <a:lnTo>
                  <a:pt x="105740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55008" y="4512564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4">
                <a:moveTo>
                  <a:pt x="0" y="85598"/>
                </a:moveTo>
                <a:lnTo>
                  <a:pt x="6730" y="52292"/>
                </a:lnTo>
                <a:lnTo>
                  <a:pt x="25082" y="25082"/>
                </a:lnTo>
                <a:lnTo>
                  <a:pt x="52292" y="6731"/>
                </a:lnTo>
                <a:lnTo>
                  <a:pt x="85597" y="0"/>
                </a:lnTo>
                <a:lnTo>
                  <a:pt x="1057402" y="0"/>
                </a:lnTo>
                <a:lnTo>
                  <a:pt x="1090707" y="6731"/>
                </a:lnTo>
                <a:lnTo>
                  <a:pt x="1117917" y="25082"/>
                </a:lnTo>
                <a:lnTo>
                  <a:pt x="1136268" y="52292"/>
                </a:lnTo>
                <a:lnTo>
                  <a:pt x="1143000" y="85598"/>
                </a:lnTo>
                <a:lnTo>
                  <a:pt x="1143000" y="427990"/>
                </a:lnTo>
                <a:lnTo>
                  <a:pt x="1136268" y="461295"/>
                </a:lnTo>
                <a:lnTo>
                  <a:pt x="1117917" y="488505"/>
                </a:lnTo>
                <a:lnTo>
                  <a:pt x="1090707" y="506856"/>
                </a:lnTo>
                <a:lnTo>
                  <a:pt x="1057402" y="513588"/>
                </a:lnTo>
                <a:lnTo>
                  <a:pt x="85597" y="513588"/>
                </a:lnTo>
                <a:lnTo>
                  <a:pt x="52292" y="506856"/>
                </a:lnTo>
                <a:lnTo>
                  <a:pt x="25082" y="488505"/>
                </a:lnTo>
                <a:lnTo>
                  <a:pt x="6730" y="461295"/>
                </a:lnTo>
                <a:lnTo>
                  <a:pt x="0" y="427990"/>
                </a:lnTo>
                <a:lnTo>
                  <a:pt x="0" y="8559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266057" y="4645278"/>
            <a:ext cx="11239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SSE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BLER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32701" y="5297423"/>
            <a:ext cx="1141730" cy="509270"/>
          </a:xfrm>
          <a:custGeom>
            <a:avLst/>
            <a:gdLst/>
            <a:ahLst/>
            <a:cxnLst/>
            <a:rect l="l" t="t" r="r" b="b"/>
            <a:pathLst>
              <a:path w="1141729" h="509270">
                <a:moveTo>
                  <a:pt x="1139711" y="76200"/>
                </a:moveTo>
                <a:lnTo>
                  <a:pt x="980216" y="76200"/>
                </a:lnTo>
                <a:lnTo>
                  <a:pt x="1013335" y="82887"/>
                </a:lnTo>
                <a:lnTo>
                  <a:pt x="1040382" y="101123"/>
                </a:lnTo>
                <a:lnTo>
                  <a:pt x="1058619" y="128170"/>
                </a:lnTo>
                <a:lnTo>
                  <a:pt x="1065306" y="161289"/>
                </a:lnTo>
                <a:lnTo>
                  <a:pt x="1065306" y="501650"/>
                </a:lnTo>
                <a:lnTo>
                  <a:pt x="1063813" y="509046"/>
                </a:lnTo>
                <a:lnTo>
                  <a:pt x="1089535" y="503852"/>
                </a:lnTo>
                <a:lnTo>
                  <a:pt x="1116582" y="485616"/>
                </a:lnTo>
                <a:lnTo>
                  <a:pt x="1134819" y="458569"/>
                </a:lnTo>
                <a:lnTo>
                  <a:pt x="1141506" y="425450"/>
                </a:lnTo>
                <a:lnTo>
                  <a:pt x="1141506" y="85089"/>
                </a:lnTo>
                <a:lnTo>
                  <a:pt x="1139711" y="76200"/>
                </a:lnTo>
                <a:close/>
              </a:path>
              <a:path w="1141729" h="509270">
                <a:moveTo>
                  <a:pt x="1056416" y="0"/>
                </a:moveTo>
                <a:lnTo>
                  <a:pt x="83596" y="0"/>
                </a:lnTo>
                <a:lnTo>
                  <a:pt x="50477" y="6687"/>
                </a:lnTo>
                <a:lnTo>
                  <a:pt x="23430" y="24923"/>
                </a:lnTo>
                <a:lnTo>
                  <a:pt x="5193" y="51970"/>
                </a:lnTo>
                <a:lnTo>
                  <a:pt x="0" y="77693"/>
                </a:lnTo>
                <a:lnTo>
                  <a:pt x="7396" y="76200"/>
                </a:lnTo>
                <a:lnTo>
                  <a:pt x="1139711" y="76200"/>
                </a:lnTo>
                <a:lnTo>
                  <a:pt x="1134819" y="51970"/>
                </a:lnTo>
                <a:lnTo>
                  <a:pt x="1116582" y="24923"/>
                </a:lnTo>
                <a:lnTo>
                  <a:pt x="1089535" y="6687"/>
                </a:lnTo>
                <a:lnTo>
                  <a:pt x="10564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26728" y="5292597"/>
            <a:ext cx="1152525" cy="520065"/>
          </a:xfrm>
          <a:custGeom>
            <a:avLst/>
            <a:gdLst/>
            <a:ahLst/>
            <a:cxnLst/>
            <a:rect l="l" t="t" r="r" b="b"/>
            <a:pathLst>
              <a:path w="1152525" h="520064">
                <a:moveTo>
                  <a:pt x="1102428" y="9524"/>
                </a:moveTo>
                <a:lnTo>
                  <a:pt x="1062262" y="9524"/>
                </a:lnTo>
                <a:lnTo>
                  <a:pt x="1070644" y="10032"/>
                </a:lnTo>
                <a:lnTo>
                  <a:pt x="1078645" y="11175"/>
                </a:lnTo>
                <a:lnTo>
                  <a:pt x="1113443" y="27939"/>
                </a:lnTo>
                <a:lnTo>
                  <a:pt x="1136430" y="58673"/>
                </a:lnTo>
                <a:lnTo>
                  <a:pt x="1142641" y="430441"/>
                </a:lnTo>
                <a:lnTo>
                  <a:pt x="1142272" y="438505"/>
                </a:lnTo>
                <a:lnTo>
                  <a:pt x="1129064" y="475259"/>
                </a:lnTo>
                <a:lnTo>
                  <a:pt x="1100743" y="500888"/>
                </a:lnTo>
                <a:lnTo>
                  <a:pt x="1070537" y="510152"/>
                </a:lnTo>
                <a:lnTo>
                  <a:pt x="1068590" y="519794"/>
                </a:lnTo>
                <a:lnTo>
                  <a:pt x="1105315" y="509269"/>
                </a:lnTo>
                <a:lnTo>
                  <a:pt x="1136938" y="480606"/>
                </a:lnTo>
                <a:lnTo>
                  <a:pt x="1151797" y="439445"/>
                </a:lnTo>
                <a:lnTo>
                  <a:pt x="1152178" y="430441"/>
                </a:lnTo>
                <a:lnTo>
                  <a:pt x="1152089" y="87713"/>
                </a:lnTo>
                <a:lnTo>
                  <a:pt x="1141383" y="47116"/>
                </a:lnTo>
                <a:lnTo>
                  <a:pt x="1112681" y="15493"/>
                </a:lnTo>
                <a:lnTo>
                  <a:pt x="1105315" y="10921"/>
                </a:lnTo>
                <a:lnTo>
                  <a:pt x="1102428" y="9524"/>
                </a:lnTo>
                <a:close/>
              </a:path>
              <a:path w="1152525" h="520064">
                <a:moveTo>
                  <a:pt x="1062516" y="0"/>
                </a:moveTo>
                <a:lnTo>
                  <a:pt x="89442" y="0"/>
                </a:lnTo>
                <a:lnTo>
                  <a:pt x="80552" y="507"/>
                </a:lnTo>
                <a:lnTo>
                  <a:pt x="39404" y="15493"/>
                </a:lnTo>
                <a:lnTo>
                  <a:pt x="10575" y="47116"/>
                </a:lnTo>
                <a:lnTo>
                  <a:pt x="0" y="83725"/>
                </a:lnTo>
                <a:lnTo>
                  <a:pt x="9689" y="81769"/>
                </a:lnTo>
                <a:lnTo>
                  <a:pt x="10829" y="73786"/>
                </a:lnTo>
                <a:lnTo>
                  <a:pt x="12861" y="66039"/>
                </a:lnTo>
                <a:lnTo>
                  <a:pt x="32800" y="33146"/>
                </a:lnTo>
                <a:lnTo>
                  <a:pt x="65693" y="13207"/>
                </a:lnTo>
                <a:lnTo>
                  <a:pt x="89823" y="9524"/>
                </a:lnTo>
                <a:lnTo>
                  <a:pt x="1102428" y="9524"/>
                </a:lnTo>
                <a:lnTo>
                  <a:pt x="1097441" y="7111"/>
                </a:lnTo>
                <a:lnTo>
                  <a:pt x="1089186" y="4063"/>
                </a:lnTo>
                <a:lnTo>
                  <a:pt x="1080550" y="1904"/>
                </a:lnTo>
                <a:lnTo>
                  <a:pt x="1071533" y="507"/>
                </a:lnTo>
                <a:lnTo>
                  <a:pt x="10625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55008" y="5373623"/>
            <a:ext cx="1143000" cy="510540"/>
          </a:xfrm>
          <a:custGeom>
            <a:avLst/>
            <a:gdLst/>
            <a:ahLst/>
            <a:cxnLst/>
            <a:rect l="l" t="t" r="r" b="b"/>
            <a:pathLst>
              <a:path w="1143000" h="510539">
                <a:moveTo>
                  <a:pt x="1057909" y="0"/>
                </a:moveTo>
                <a:lnTo>
                  <a:pt x="85089" y="0"/>
                </a:lnTo>
                <a:lnTo>
                  <a:pt x="51970" y="6687"/>
                </a:lnTo>
                <a:lnTo>
                  <a:pt x="24923" y="24923"/>
                </a:lnTo>
                <a:lnTo>
                  <a:pt x="6687" y="51970"/>
                </a:lnTo>
                <a:lnTo>
                  <a:pt x="0" y="85089"/>
                </a:lnTo>
                <a:lnTo>
                  <a:pt x="0" y="425450"/>
                </a:lnTo>
                <a:lnTo>
                  <a:pt x="6687" y="458569"/>
                </a:lnTo>
                <a:lnTo>
                  <a:pt x="24923" y="485616"/>
                </a:lnTo>
                <a:lnTo>
                  <a:pt x="51970" y="503852"/>
                </a:lnTo>
                <a:lnTo>
                  <a:pt x="85089" y="510539"/>
                </a:lnTo>
                <a:lnTo>
                  <a:pt x="1057909" y="510539"/>
                </a:lnTo>
                <a:lnTo>
                  <a:pt x="1091029" y="503852"/>
                </a:lnTo>
                <a:lnTo>
                  <a:pt x="1118076" y="485616"/>
                </a:lnTo>
                <a:lnTo>
                  <a:pt x="1136312" y="458569"/>
                </a:lnTo>
                <a:lnTo>
                  <a:pt x="1143000" y="425450"/>
                </a:lnTo>
                <a:lnTo>
                  <a:pt x="1143000" y="85089"/>
                </a:lnTo>
                <a:lnTo>
                  <a:pt x="1136312" y="51970"/>
                </a:lnTo>
                <a:lnTo>
                  <a:pt x="1118076" y="24923"/>
                </a:lnTo>
                <a:lnTo>
                  <a:pt x="1091029" y="6687"/>
                </a:lnTo>
                <a:lnTo>
                  <a:pt x="1057909" y="0"/>
                </a:lnTo>
                <a:close/>
              </a:path>
            </a:pathLst>
          </a:custGeom>
          <a:solidFill>
            <a:srgbClr val="FFD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55008" y="5373623"/>
            <a:ext cx="1143000" cy="510540"/>
          </a:xfrm>
          <a:custGeom>
            <a:avLst/>
            <a:gdLst/>
            <a:ahLst/>
            <a:cxnLst/>
            <a:rect l="l" t="t" r="r" b="b"/>
            <a:pathLst>
              <a:path w="1143000" h="510539">
                <a:moveTo>
                  <a:pt x="0" y="85089"/>
                </a:moveTo>
                <a:lnTo>
                  <a:pt x="6687" y="51970"/>
                </a:lnTo>
                <a:lnTo>
                  <a:pt x="24923" y="24923"/>
                </a:lnTo>
                <a:lnTo>
                  <a:pt x="51970" y="6687"/>
                </a:lnTo>
                <a:lnTo>
                  <a:pt x="85089" y="0"/>
                </a:lnTo>
                <a:lnTo>
                  <a:pt x="1057909" y="0"/>
                </a:lnTo>
                <a:lnTo>
                  <a:pt x="1091029" y="6687"/>
                </a:lnTo>
                <a:lnTo>
                  <a:pt x="1118076" y="24923"/>
                </a:lnTo>
                <a:lnTo>
                  <a:pt x="1136312" y="51970"/>
                </a:lnTo>
                <a:lnTo>
                  <a:pt x="1143000" y="85089"/>
                </a:lnTo>
                <a:lnTo>
                  <a:pt x="1143000" y="425450"/>
                </a:lnTo>
                <a:lnTo>
                  <a:pt x="1136312" y="458569"/>
                </a:lnTo>
                <a:lnTo>
                  <a:pt x="1118076" y="485616"/>
                </a:lnTo>
                <a:lnTo>
                  <a:pt x="1091029" y="503852"/>
                </a:lnTo>
                <a:lnTo>
                  <a:pt x="1057909" y="510539"/>
                </a:lnTo>
                <a:lnTo>
                  <a:pt x="85089" y="510539"/>
                </a:lnTo>
                <a:lnTo>
                  <a:pt x="51970" y="503852"/>
                </a:lnTo>
                <a:lnTo>
                  <a:pt x="24923" y="485616"/>
                </a:lnTo>
                <a:lnTo>
                  <a:pt x="6687" y="458569"/>
                </a:lnTo>
                <a:lnTo>
                  <a:pt x="0" y="425450"/>
                </a:lnTo>
                <a:lnTo>
                  <a:pt x="0" y="85089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14265" y="5489854"/>
            <a:ext cx="824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993300"/>
                </a:solidFill>
                <a:latin typeface="Times New Roman"/>
                <a:cs typeface="Times New Roman"/>
              </a:rPr>
              <a:t>LIN</a:t>
            </a:r>
            <a:r>
              <a:rPr sz="1600" b="1" spc="-15" dirty="0">
                <a:solidFill>
                  <a:srgbClr val="993300"/>
                </a:solidFill>
                <a:latin typeface="Times New Roman"/>
                <a:cs typeface="Times New Roman"/>
              </a:rPr>
              <a:t>K</a:t>
            </a:r>
            <a:r>
              <a:rPr sz="1600" b="1" spc="-5" dirty="0">
                <a:solidFill>
                  <a:srgbClr val="993300"/>
                </a:solidFill>
                <a:latin typeface="Times New Roman"/>
                <a:cs typeface="Times New Roman"/>
              </a:rPr>
              <a:t>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332787" y="6219444"/>
            <a:ext cx="1141730" cy="512445"/>
          </a:xfrm>
          <a:custGeom>
            <a:avLst/>
            <a:gdLst/>
            <a:ahLst/>
            <a:cxnLst/>
            <a:rect l="l" t="t" r="r" b="b"/>
            <a:pathLst>
              <a:path w="1141729" h="512445">
                <a:moveTo>
                  <a:pt x="1139521" y="76199"/>
                </a:moveTo>
                <a:lnTo>
                  <a:pt x="979622" y="76199"/>
                </a:lnTo>
                <a:lnTo>
                  <a:pt x="1012928" y="82927"/>
                </a:lnTo>
                <a:lnTo>
                  <a:pt x="1040137" y="101272"/>
                </a:lnTo>
                <a:lnTo>
                  <a:pt x="1058489" y="128481"/>
                </a:lnTo>
                <a:lnTo>
                  <a:pt x="1065220" y="161797"/>
                </a:lnTo>
                <a:lnTo>
                  <a:pt x="1065220" y="504189"/>
                </a:lnTo>
                <a:lnTo>
                  <a:pt x="1063640" y="512008"/>
                </a:lnTo>
                <a:lnTo>
                  <a:pt x="1089128" y="506860"/>
                </a:lnTo>
                <a:lnTo>
                  <a:pt x="1116337" y="488515"/>
                </a:lnTo>
                <a:lnTo>
                  <a:pt x="1134689" y="461306"/>
                </a:lnTo>
                <a:lnTo>
                  <a:pt x="1141420" y="427989"/>
                </a:lnTo>
                <a:lnTo>
                  <a:pt x="1141420" y="85597"/>
                </a:lnTo>
                <a:lnTo>
                  <a:pt x="1139521" y="76199"/>
                </a:lnTo>
                <a:close/>
              </a:path>
              <a:path w="1141729" h="512445">
                <a:moveTo>
                  <a:pt x="1055822" y="0"/>
                </a:moveTo>
                <a:lnTo>
                  <a:pt x="84018" y="0"/>
                </a:lnTo>
                <a:lnTo>
                  <a:pt x="50712" y="6727"/>
                </a:lnTo>
                <a:lnTo>
                  <a:pt x="23502" y="25072"/>
                </a:lnTo>
                <a:lnTo>
                  <a:pt x="5151" y="52281"/>
                </a:lnTo>
                <a:lnTo>
                  <a:pt x="0" y="77779"/>
                </a:lnTo>
                <a:lnTo>
                  <a:pt x="7818" y="76199"/>
                </a:lnTo>
                <a:lnTo>
                  <a:pt x="1139521" y="76199"/>
                </a:lnTo>
                <a:lnTo>
                  <a:pt x="1134689" y="52281"/>
                </a:lnTo>
                <a:lnTo>
                  <a:pt x="1116337" y="25072"/>
                </a:lnTo>
                <a:lnTo>
                  <a:pt x="1089128" y="6727"/>
                </a:lnTo>
                <a:lnTo>
                  <a:pt x="1055822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326744" y="6214681"/>
            <a:ext cx="1152525" cy="523240"/>
          </a:xfrm>
          <a:custGeom>
            <a:avLst/>
            <a:gdLst/>
            <a:ahLst/>
            <a:cxnLst/>
            <a:rect l="l" t="t" r="r" b="b"/>
            <a:pathLst>
              <a:path w="1152525" h="523240">
                <a:moveTo>
                  <a:pt x="1102010" y="9524"/>
                </a:moveTo>
                <a:lnTo>
                  <a:pt x="1061738" y="9524"/>
                </a:lnTo>
                <a:lnTo>
                  <a:pt x="1070247" y="9982"/>
                </a:lnTo>
                <a:lnTo>
                  <a:pt x="1078248" y="11150"/>
                </a:lnTo>
                <a:lnTo>
                  <a:pt x="1113314" y="27990"/>
                </a:lnTo>
                <a:lnTo>
                  <a:pt x="1136297" y="58940"/>
                </a:lnTo>
                <a:lnTo>
                  <a:pt x="1142626" y="432942"/>
                </a:lnTo>
                <a:lnTo>
                  <a:pt x="1142256" y="441109"/>
                </a:lnTo>
                <a:lnTo>
                  <a:pt x="1128921" y="477951"/>
                </a:lnTo>
                <a:lnTo>
                  <a:pt x="1100473" y="503859"/>
                </a:lnTo>
                <a:lnTo>
                  <a:pt x="1070424" y="513104"/>
                </a:lnTo>
                <a:lnTo>
                  <a:pt x="1068473" y="522763"/>
                </a:lnTo>
                <a:lnTo>
                  <a:pt x="1112411" y="507720"/>
                </a:lnTo>
                <a:lnTo>
                  <a:pt x="1141367" y="475843"/>
                </a:lnTo>
                <a:lnTo>
                  <a:pt x="1152162" y="432942"/>
                </a:lnTo>
                <a:lnTo>
                  <a:pt x="1152055" y="87689"/>
                </a:lnTo>
                <a:lnTo>
                  <a:pt x="1141359" y="47345"/>
                </a:lnTo>
                <a:lnTo>
                  <a:pt x="1112411" y="15468"/>
                </a:lnTo>
                <a:lnTo>
                  <a:pt x="1104918" y="10960"/>
                </a:lnTo>
                <a:lnTo>
                  <a:pt x="1102010" y="9524"/>
                </a:lnTo>
                <a:close/>
              </a:path>
              <a:path w="1152525" h="523240">
                <a:moveTo>
                  <a:pt x="1062119" y="0"/>
                </a:moveTo>
                <a:lnTo>
                  <a:pt x="89934" y="0"/>
                </a:lnTo>
                <a:lnTo>
                  <a:pt x="80917" y="495"/>
                </a:lnTo>
                <a:lnTo>
                  <a:pt x="39642" y="15468"/>
                </a:lnTo>
                <a:lnTo>
                  <a:pt x="10680" y="47358"/>
                </a:lnTo>
                <a:lnTo>
                  <a:pt x="0" y="83762"/>
                </a:lnTo>
                <a:lnTo>
                  <a:pt x="9714" y="81800"/>
                </a:lnTo>
                <a:lnTo>
                  <a:pt x="10813" y="74091"/>
                </a:lnTo>
                <a:lnTo>
                  <a:pt x="12845" y="66382"/>
                </a:lnTo>
                <a:lnTo>
                  <a:pt x="32911" y="33185"/>
                </a:lnTo>
                <a:lnTo>
                  <a:pt x="66058" y="13119"/>
                </a:lnTo>
                <a:lnTo>
                  <a:pt x="90188" y="9524"/>
                </a:lnTo>
                <a:lnTo>
                  <a:pt x="1102010" y="9524"/>
                </a:lnTo>
                <a:lnTo>
                  <a:pt x="1097171" y="7137"/>
                </a:lnTo>
                <a:lnTo>
                  <a:pt x="1088789" y="4025"/>
                </a:lnTo>
                <a:lnTo>
                  <a:pt x="1080153" y="1803"/>
                </a:lnTo>
                <a:lnTo>
                  <a:pt x="1071136" y="495"/>
                </a:lnTo>
                <a:lnTo>
                  <a:pt x="1062119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27092" y="6295199"/>
            <a:ext cx="112395" cy="0"/>
          </a:xfrm>
          <a:custGeom>
            <a:avLst/>
            <a:gdLst/>
            <a:ahLst/>
            <a:cxnLst/>
            <a:rect l="l" t="t" r="r" b="b"/>
            <a:pathLst>
              <a:path w="112395">
                <a:moveTo>
                  <a:pt x="0" y="0"/>
                </a:moveTo>
                <a:lnTo>
                  <a:pt x="112268" y="0"/>
                </a:lnTo>
              </a:path>
            </a:pathLst>
          </a:custGeom>
          <a:ln w="3175">
            <a:solidFill>
              <a:srgbClr val="00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126735" y="6294754"/>
            <a:ext cx="38735" cy="1270"/>
          </a:xfrm>
          <a:custGeom>
            <a:avLst/>
            <a:gdLst/>
            <a:ahLst/>
            <a:cxnLst/>
            <a:rect l="l" t="t" r="r" b="b"/>
            <a:pathLst>
              <a:path w="38735" h="1270">
                <a:moveTo>
                  <a:pt x="38480" y="0"/>
                </a:moveTo>
                <a:lnTo>
                  <a:pt x="0" y="0"/>
                </a:lnTo>
                <a:lnTo>
                  <a:pt x="0" y="889"/>
                </a:lnTo>
                <a:lnTo>
                  <a:pt x="38480" y="889"/>
                </a:lnTo>
                <a:lnTo>
                  <a:pt x="3848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39511" y="6294754"/>
            <a:ext cx="39370" cy="1270"/>
          </a:xfrm>
          <a:custGeom>
            <a:avLst/>
            <a:gdLst/>
            <a:ahLst/>
            <a:cxnLst/>
            <a:rect l="l" t="t" r="r" b="b"/>
            <a:pathLst>
              <a:path w="39370" h="1270">
                <a:moveTo>
                  <a:pt x="38862" y="0"/>
                </a:moveTo>
                <a:lnTo>
                  <a:pt x="0" y="0"/>
                </a:lnTo>
                <a:lnTo>
                  <a:pt x="0" y="889"/>
                </a:lnTo>
                <a:lnTo>
                  <a:pt x="38862" y="889"/>
                </a:lnTo>
                <a:lnTo>
                  <a:pt x="38862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55008" y="6295644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5">
                <a:moveTo>
                  <a:pt x="1057402" y="0"/>
                </a:moveTo>
                <a:lnTo>
                  <a:pt x="85597" y="0"/>
                </a:lnTo>
                <a:lnTo>
                  <a:pt x="52292" y="6727"/>
                </a:lnTo>
                <a:lnTo>
                  <a:pt x="25082" y="25072"/>
                </a:lnTo>
                <a:lnTo>
                  <a:pt x="6730" y="52281"/>
                </a:lnTo>
                <a:lnTo>
                  <a:pt x="0" y="85597"/>
                </a:lnTo>
                <a:lnTo>
                  <a:pt x="0" y="427989"/>
                </a:lnTo>
                <a:lnTo>
                  <a:pt x="6730" y="461308"/>
                </a:lnTo>
                <a:lnTo>
                  <a:pt x="25082" y="488516"/>
                </a:lnTo>
                <a:lnTo>
                  <a:pt x="52292" y="506861"/>
                </a:lnTo>
                <a:lnTo>
                  <a:pt x="85597" y="513587"/>
                </a:lnTo>
                <a:lnTo>
                  <a:pt x="1057402" y="513587"/>
                </a:lnTo>
                <a:lnTo>
                  <a:pt x="1090707" y="506861"/>
                </a:lnTo>
                <a:lnTo>
                  <a:pt x="1117917" y="488516"/>
                </a:lnTo>
                <a:lnTo>
                  <a:pt x="1136268" y="461308"/>
                </a:lnTo>
                <a:lnTo>
                  <a:pt x="1143000" y="427989"/>
                </a:lnTo>
                <a:lnTo>
                  <a:pt x="1143000" y="85597"/>
                </a:lnTo>
                <a:lnTo>
                  <a:pt x="1136268" y="52281"/>
                </a:lnTo>
                <a:lnTo>
                  <a:pt x="1117917" y="25072"/>
                </a:lnTo>
                <a:lnTo>
                  <a:pt x="1090707" y="6727"/>
                </a:lnTo>
                <a:lnTo>
                  <a:pt x="105740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55008" y="6295644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5">
                <a:moveTo>
                  <a:pt x="0" y="85597"/>
                </a:moveTo>
                <a:lnTo>
                  <a:pt x="6730" y="52281"/>
                </a:lnTo>
                <a:lnTo>
                  <a:pt x="25082" y="25072"/>
                </a:lnTo>
                <a:lnTo>
                  <a:pt x="52292" y="6727"/>
                </a:lnTo>
                <a:lnTo>
                  <a:pt x="85597" y="0"/>
                </a:lnTo>
                <a:lnTo>
                  <a:pt x="1057402" y="0"/>
                </a:lnTo>
                <a:lnTo>
                  <a:pt x="1090707" y="6727"/>
                </a:lnTo>
                <a:lnTo>
                  <a:pt x="1117917" y="25072"/>
                </a:lnTo>
                <a:lnTo>
                  <a:pt x="1136268" y="52281"/>
                </a:lnTo>
                <a:lnTo>
                  <a:pt x="1143000" y="85597"/>
                </a:lnTo>
                <a:lnTo>
                  <a:pt x="1143000" y="427989"/>
                </a:lnTo>
                <a:lnTo>
                  <a:pt x="1136268" y="461308"/>
                </a:lnTo>
                <a:lnTo>
                  <a:pt x="1117917" y="488516"/>
                </a:lnTo>
                <a:lnTo>
                  <a:pt x="1090707" y="506861"/>
                </a:lnTo>
                <a:lnTo>
                  <a:pt x="1057402" y="513587"/>
                </a:lnTo>
                <a:lnTo>
                  <a:pt x="85597" y="513587"/>
                </a:lnTo>
                <a:lnTo>
                  <a:pt x="52292" y="506861"/>
                </a:lnTo>
                <a:lnTo>
                  <a:pt x="25082" y="488516"/>
                </a:lnTo>
                <a:lnTo>
                  <a:pt x="6730" y="461308"/>
                </a:lnTo>
                <a:lnTo>
                  <a:pt x="0" y="427989"/>
                </a:lnTo>
                <a:lnTo>
                  <a:pt x="0" y="85597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334636" y="6291173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Executable</a:t>
            </a:r>
            <a:endParaRPr sz="160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</a:pPr>
            <a:r>
              <a:rPr sz="16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Program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464808" y="1805939"/>
            <a:ext cx="1237615" cy="457200"/>
          </a:xfrm>
          <a:custGeom>
            <a:avLst/>
            <a:gdLst/>
            <a:ahLst/>
            <a:cxnLst/>
            <a:rect l="l" t="t" r="r" b="b"/>
            <a:pathLst>
              <a:path w="1237615" h="457200">
                <a:moveTo>
                  <a:pt x="0" y="457200"/>
                </a:moveTo>
                <a:lnTo>
                  <a:pt x="1237488" y="457200"/>
                </a:lnTo>
                <a:lnTo>
                  <a:pt x="1237488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464808" y="1805939"/>
            <a:ext cx="1237615" cy="457200"/>
          </a:xfrm>
          <a:custGeom>
            <a:avLst/>
            <a:gdLst/>
            <a:ahLst/>
            <a:cxnLst/>
            <a:rect l="l" t="t" r="r" b="b"/>
            <a:pathLst>
              <a:path w="1237615" h="457200">
                <a:moveTo>
                  <a:pt x="0" y="457200"/>
                </a:moveTo>
                <a:lnTo>
                  <a:pt x="1237488" y="457200"/>
                </a:lnTo>
                <a:lnTo>
                  <a:pt x="1237488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397752" y="1862327"/>
            <a:ext cx="1237615" cy="457200"/>
          </a:xfrm>
          <a:custGeom>
            <a:avLst/>
            <a:gdLst/>
            <a:ahLst/>
            <a:cxnLst/>
            <a:rect l="l" t="t" r="r" b="b"/>
            <a:pathLst>
              <a:path w="1237615" h="457200">
                <a:moveTo>
                  <a:pt x="0" y="457200"/>
                </a:moveTo>
                <a:lnTo>
                  <a:pt x="1237488" y="457200"/>
                </a:lnTo>
                <a:lnTo>
                  <a:pt x="1237488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397752" y="1862327"/>
            <a:ext cx="1237615" cy="457200"/>
          </a:xfrm>
          <a:custGeom>
            <a:avLst/>
            <a:gdLst/>
            <a:ahLst/>
            <a:cxnLst/>
            <a:rect l="l" t="t" r="r" b="b"/>
            <a:pathLst>
              <a:path w="1237615" h="457200">
                <a:moveTo>
                  <a:pt x="0" y="457200"/>
                </a:moveTo>
                <a:lnTo>
                  <a:pt x="1237488" y="457200"/>
                </a:lnTo>
                <a:lnTo>
                  <a:pt x="1237488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236970" y="1916429"/>
            <a:ext cx="1371600" cy="504825"/>
          </a:xfrm>
          <a:custGeom>
            <a:avLst/>
            <a:gdLst/>
            <a:ahLst/>
            <a:cxnLst/>
            <a:rect l="l" t="t" r="r" b="b"/>
            <a:pathLst>
              <a:path w="1371600" h="504825">
                <a:moveTo>
                  <a:pt x="0" y="504444"/>
                </a:moveTo>
                <a:lnTo>
                  <a:pt x="1371600" y="504444"/>
                </a:lnTo>
                <a:lnTo>
                  <a:pt x="1371600" y="0"/>
                </a:lnTo>
                <a:lnTo>
                  <a:pt x="0" y="0"/>
                </a:lnTo>
                <a:lnTo>
                  <a:pt x="0" y="504444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236970" y="1916429"/>
            <a:ext cx="1371600" cy="504825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34010" marR="1270" indent="-326390">
              <a:lnSpc>
                <a:spcPct val="100000"/>
              </a:lnSpc>
              <a:spcBef>
                <a:spcPts val="505"/>
              </a:spcBef>
            </a:pPr>
            <a:r>
              <a:rPr sz="12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Ap</a:t>
            </a:r>
            <a:r>
              <a:rPr sz="1200" b="1" dirty="0">
                <a:solidFill>
                  <a:srgbClr val="3333CC"/>
                </a:solidFill>
                <a:latin typeface="Times New Roman"/>
                <a:cs typeface="Times New Roman"/>
              </a:rPr>
              <a:t>pli</a:t>
            </a:r>
            <a:r>
              <a:rPr sz="12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c</a:t>
            </a:r>
            <a:r>
              <a:rPr sz="1200" b="1" dirty="0">
                <a:solidFill>
                  <a:srgbClr val="3333CC"/>
                </a:solidFill>
                <a:latin typeface="Times New Roman"/>
                <a:cs typeface="Times New Roman"/>
              </a:rPr>
              <a:t>ation/</a:t>
            </a:r>
            <a:r>
              <a:rPr sz="12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m</a:t>
            </a:r>
            <a:r>
              <a:rPr sz="1200" b="1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12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chi</a:t>
            </a:r>
            <a:r>
              <a:rPr sz="1200" b="1" dirty="0">
                <a:solidFill>
                  <a:srgbClr val="3333CC"/>
                </a:solidFill>
                <a:latin typeface="Times New Roman"/>
                <a:cs typeface="Times New Roman"/>
              </a:rPr>
              <a:t>ne  config.files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378452" y="1789176"/>
            <a:ext cx="1143000" cy="510540"/>
          </a:xfrm>
          <a:custGeom>
            <a:avLst/>
            <a:gdLst/>
            <a:ahLst/>
            <a:cxnLst/>
            <a:rect l="l" t="t" r="r" b="b"/>
            <a:pathLst>
              <a:path w="1143000" h="510539">
                <a:moveTo>
                  <a:pt x="0" y="510539"/>
                </a:moveTo>
                <a:lnTo>
                  <a:pt x="1143000" y="510539"/>
                </a:lnTo>
                <a:lnTo>
                  <a:pt x="1143000" y="0"/>
                </a:lnTo>
                <a:lnTo>
                  <a:pt x="0" y="0"/>
                </a:lnTo>
                <a:lnTo>
                  <a:pt x="0" y="510539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378452" y="1789176"/>
            <a:ext cx="1143000" cy="510540"/>
          </a:xfrm>
          <a:custGeom>
            <a:avLst/>
            <a:gdLst/>
            <a:ahLst/>
            <a:cxnLst/>
            <a:rect l="l" t="t" r="r" b="b"/>
            <a:pathLst>
              <a:path w="1143000" h="510539">
                <a:moveTo>
                  <a:pt x="0" y="510539"/>
                </a:moveTo>
                <a:lnTo>
                  <a:pt x="1143000" y="510539"/>
                </a:lnTo>
                <a:lnTo>
                  <a:pt x="1143000" y="0"/>
                </a:lnTo>
                <a:lnTo>
                  <a:pt x="0" y="0"/>
                </a:lnTo>
                <a:lnTo>
                  <a:pt x="0" y="510539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11396" y="1842516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4">
                <a:moveTo>
                  <a:pt x="0" y="513588"/>
                </a:moveTo>
                <a:lnTo>
                  <a:pt x="1143000" y="513588"/>
                </a:lnTo>
                <a:lnTo>
                  <a:pt x="1143000" y="0"/>
                </a:lnTo>
                <a:lnTo>
                  <a:pt x="0" y="0"/>
                </a:lnTo>
                <a:lnTo>
                  <a:pt x="0" y="5135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11396" y="1842516"/>
            <a:ext cx="1143000" cy="513715"/>
          </a:xfrm>
          <a:custGeom>
            <a:avLst/>
            <a:gdLst/>
            <a:ahLst/>
            <a:cxnLst/>
            <a:rect l="l" t="t" r="r" b="b"/>
            <a:pathLst>
              <a:path w="1143000" h="513714">
                <a:moveTo>
                  <a:pt x="0" y="513588"/>
                </a:moveTo>
                <a:lnTo>
                  <a:pt x="1143000" y="513588"/>
                </a:lnTo>
                <a:lnTo>
                  <a:pt x="1143000" y="0"/>
                </a:lnTo>
                <a:lnTo>
                  <a:pt x="0" y="0"/>
                </a:lnTo>
                <a:lnTo>
                  <a:pt x="0" y="51358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245102" y="1899666"/>
            <a:ext cx="1155700" cy="510540"/>
          </a:xfrm>
          <a:prstGeom prst="rect">
            <a:avLst/>
          </a:prstGeom>
          <a:solidFill>
            <a:srgbClr val="FFD27A"/>
          </a:solidFill>
          <a:ln w="19050">
            <a:solidFill>
              <a:srgbClr val="FFFFFF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76835" marR="3175">
              <a:lnSpc>
                <a:spcPct val="100000"/>
              </a:lnSpc>
              <a:spcBef>
                <a:spcPts val="284"/>
              </a:spcBef>
            </a:pPr>
            <a:r>
              <a:rPr sz="1400" b="1" dirty="0">
                <a:solidFill>
                  <a:srgbClr val="993300"/>
                </a:solidFill>
                <a:latin typeface="Times New Roman"/>
                <a:cs typeface="Times New Roman"/>
              </a:rPr>
              <a:t>Intermediate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400" b="1" spc="-10" dirty="0">
                <a:solidFill>
                  <a:srgbClr val="993300"/>
                </a:solidFill>
                <a:latin typeface="Times New Roman"/>
                <a:cs typeface="Times New Roman"/>
              </a:rPr>
              <a:t>R</a:t>
            </a:r>
            <a:r>
              <a:rPr sz="1400" b="1" dirty="0">
                <a:solidFill>
                  <a:srgbClr val="993300"/>
                </a:solidFill>
                <a:latin typeface="Times New Roman"/>
                <a:cs typeface="Times New Roman"/>
              </a:rPr>
              <a:t>ep</a:t>
            </a:r>
            <a:r>
              <a:rPr sz="1400" b="1" spc="-30" dirty="0">
                <a:solidFill>
                  <a:srgbClr val="993300"/>
                </a:solidFill>
                <a:latin typeface="Times New Roman"/>
                <a:cs typeface="Times New Roman"/>
              </a:rPr>
              <a:t>r</a:t>
            </a:r>
            <a:r>
              <a:rPr sz="1400" b="1" dirty="0">
                <a:solidFill>
                  <a:srgbClr val="993300"/>
                </a:solidFill>
                <a:latin typeface="Times New Roman"/>
                <a:cs typeface="Times New Roman"/>
              </a:rPr>
              <a:t>esentat</a:t>
            </a:r>
            <a:r>
              <a:rPr sz="1400" b="1" spc="5" dirty="0">
                <a:solidFill>
                  <a:srgbClr val="993300"/>
                </a:solidFill>
                <a:latin typeface="Times New Roman"/>
                <a:cs typeface="Times New Roman"/>
              </a:rPr>
              <a:t>i</a:t>
            </a:r>
            <a:r>
              <a:rPr sz="1400" b="1" dirty="0">
                <a:solidFill>
                  <a:srgbClr val="993300"/>
                </a:solidFill>
                <a:latin typeface="Times New Roman"/>
                <a:cs typeface="Times New Roman"/>
              </a:rPr>
              <a:t>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74058" y="3672078"/>
            <a:ext cx="1248410" cy="542925"/>
          </a:xfrm>
          <a:prstGeom prst="rect">
            <a:avLst/>
          </a:prstGeom>
          <a:solidFill>
            <a:srgbClr val="FFD27A"/>
          </a:solidFill>
          <a:ln w="19050">
            <a:solidFill>
              <a:srgbClr val="FFFFFF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38735" marR="30480" indent="162560">
              <a:lnSpc>
                <a:spcPct val="100000"/>
              </a:lnSpc>
              <a:spcBef>
                <a:spcPts val="409"/>
              </a:spcBef>
            </a:pPr>
            <a:r>
              <a:rPr sz="1400" b="1" spc="-5" dirty="0">
                <a:solidFill>
                  <a:srgbClr val="993300"/>
                </a:solidFill>
                <a:latin typeface="Times New Roman"/>
                <a:cs typeface="Times New Roman"/>
              </a:rPr>
              <a:t>Optimized  Assembly</a:t>
            </a:r>
            <a:r>
              <a:rPr sz="1400" b="1" spc="-65" dirty="0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993300"/>
                </a:solidFill>
                <a:latin typeface="Times New Roman"/>
                <a:cs typeface="Times New Roman"/>
              </a:rPr>
              <a:t>Code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692907" y="1853183"/>
            <a:ext cx="1018540" cy="457200"/>
          </a:xfrm>
          <a:custGeom>
            <a:avLst/>
            <a:gdLst/>
            <a:ahLst/>
            <a:cxnLst/>
            <a:rect l="l" t="t" r="r" b="b"/>
            <a:pathLst>
              <a:path w="1018539" h="457200">
                <a:moveTo>
                  <a:pt x="0" y="457200"/>
                </a:moveTo>
                <a:lnTo>
                  <a:pt x="1018032" y="457200"/>
                </a:lnTo>
                <a:lnTo>
                  <a:pt x="101803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692907" y="1853183"/>
            <a:ext cx="1018540" cy="457200"/>
          </a:xfrm>
          <a:custGeom>
            <a:avLst/>
            <a:gdLst/>
            <a:ahLst/>
            <a:cxnLst/>
            <a:rect l="l" t="t" r="r" b="b"/>
            <a:pathLst>
              <a:path w="1018539" h="457200">
                <a:moveTo>
                  <a:pt x="0" y="457200"/>
                </a:moveTo>
                <a:lnTo>
                  <a:pt x="1018032" y="457200"/>
                </a:lnTo>
                <a:lnTo>
                  <a:pt x="101803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625851" y="1908048"/>
            <a:ext cx="1019810" cy="457200"/>
          </a:xfrm>
          <a:custGeom>
            <a:avLst/>
            <a:gdLst/>
            <a:ahLst/>
            <a:cxnLst/>
            <a:rect l="l" t="t" r="r" b="b"/>
            <a:pathLst>
              <a:path w="1019810" h="457200">
                <a:moveTo>
                  <a:pt x="0" y="457200"/>
                </a:moveTo>
                <a:lnTo>
                  <a:pt x="1019555" y="457200"/>
                </a:lnTo>
                <a:lnTo>
                  <a:pt x="1019555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625851" y="1908048"/>
            <a:ext cx="1019810" cy="457200"/>
          </a:xfrm>
          <a:custGeom>
            <a:avLst/>
            <a:gdLst/>
            <a:ahLst/>
            <a:cxnLst/>
            <a:rect l="l" t="t" r="r" b="b"/>
            <a:pathLst>
              <a:path w="1019810" h="457200">
                <a:moveTo>
                  <a:pt x="0" y="457200"/>
                </a:moveTo>
                <a:lnTo>
                  <a:pt x="1019555" y="457200"/>
                </a:lnTo>
                <a:lnTo>
                  <a:pt x="1019555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30957" y="1963673"/>
            <a:ext cx="1228725" cy="457200"/>
          </a:xfrm>
          <a:custGeom>
            <a:avLst/>
            <a:gdLst/>
            <a:ahLst/>
            <a:cxnLst/>
            <a:rect l="l" t="t" r="r" b="b"/>
            <a:pathLst>
              <a:path w="1228725" h="457200">
                <a:moveTo>
                  <a:pt x="0" y="457200"/>
                </a:moveTo>
                <a:lnTo>
                  <a:pt x="1228344" y="457200"/>
                </a:lnTo>
                <a:lnTo>
                  <a:pt x="12283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330957" y="1963673"/>
            <a:ext cx="1228725" cy="45720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905"/>
              </a:spcBef>
            </a:pPr>
            <a:r>
              <a:rPr sz="1400" b="1" dirty="0">
                <a:solidFill>
                  <a:srgbClr val="3333CC"/>
                </a:solidFill>
                <a:latin typeface="Times New Roman"/>
                <a:cs typeface="Times New Roman"/>
              </a:rPr>
              <a:t>Library IR</a:t>
            </a:r>
            <a:r>
              <a:rPr sz="1400" b="1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333CC"/>
                </a:solidFill>
                <a:latin typeface="Times New Roman"/>
                <a:cs typeface="Times New Roman"/>
              </a:rPr>
              <a:t>file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751070" y="784098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0" y="198119"/>
                </a:moveTo>
                <a:lnTo>
                  <a:pt x="38100" y="274319"/>
                </a:lnTo>
                <a:lnTo>
                  <a:pt x="63500" y="223519"/>
                </a:lnTo>
                <a:lnTo>
                  <a:pt x="28575" y="223519"/>
                </a:lnTo>
                <a:lnTo>
                  <a:pt x="28575" y="217169"/>
                </a:lnTo>
                <a:lnTo>
                  <a:pt x="0" y="198119"/>
                </a:lnTo>
                <a:close/>
              </a:path>
              <a:path w="76200" h="274319">
                <a:moveTo>
                  <a:pt x="28575" y="217169"/>
                </a:moveTo>
                <a:lnTo>
                  <a:pt x="28575" y="223519"/>
                </a:lnTo>
                <a:lnTo>
                  <a:pt x="38100" y="223519"/>
                </a:lnTo>
                <a:lnTo>
                  <a:pt x="28575" y="217169"/>
                </a:lnTo>
                <a:close/>
              </a:path>
              <a:path w="76200" h="274319">
                <a:moveTo>
                  <a:pt x="47625" y="0"/>
                </a:moveTo>
                <a:lnTo>
                  <a:pt x="28575" y="0"/>
                </a:lnTo>
                <a:lnTo>
                  <a:pt x="28575" y="217169"/>
                </a:lnTo>
                <a:lnTo>
                  <a:pt x="38100" y="223519"/>
                </a:lnTo>
                <a:lnTo>
                  <a:pt x="47625" y="217169"/>
                </a:lnTo>
                <a:lnTo>
                  <a:pt x="47625" y="0"/>
                </a:lnTo>
                <a:close/>
              </a:path>
              <a:path w="76200" h="274319">
                <a:moveTo>
                  <a:pt x="47625" y="217169"/>
                </a:moveTo>
                <a:lnTo>
                  <a:pt x="38100" y="223519"/>
                </a:lnTo>
                <a:lnTo>
                  <a:pt x="47625" y="223519"/>
                </a:lnTo>
                <a:lnTo>
                  <a:pt x="47625" y="217169"/>
                </a:lnTo>
                <a:close/>
              </a:path>
              <a:path w="76200" h="274319">
                <a:moveTo>
                  <a:pt x="76200" y="198119"/>
                </a:moveTo>
                <a:lnTo>
                  <a:pt x="47625" y="217169"/>
                </a:lnTo>
                <a:lnTo>
                  <a:pt x="47625" y="223519"/>
                </a:lnTo>
                <a:lnTo>
                  <a:pt x="63500" y="223519"/>
                </a:lnTo>
                <a:lnTo>
                  <a:pt x="7620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750308" y="1577339"/>
            <a:ext cx="76200" cy="220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750308" y="2392679"/>
            <a:ext cx="76200" cy="437515"/>
          </a:xfrm>
          <a:custGeom>
            <a:avLst/>
            <a:gdLst/>
            <a:ahLst/>
            <a:cxnLst/>
            <a:rect l="l" t="t" r="r" b="b"/>
            <a:pathLst>
              <a:path w="76200" h="437514">
                <a:moveTo>
                  <a:pt x="0" y="361188"/>
                </a:moveTo>
                <a:lnTo>
                  <a:pt x="38100" y="437388"/>
                </a:lnTo>
                <a:lnTo>
                  <a:pt x="63500" y="386588"/>
                </a:lnTo>
                <a:lnTo>
                  <a:pt x="30099" y="386588"/>
                </a:lnTo>
                <a:lnTo>
                  <a:pt x="30099" y="381253"/>
                </a:lnTo>
                <a:lnTo>
                  <a:pt x="0" y="361188"/>
                </a:lnTo>
                <a:close/>
              </a:path>
              <a:path w="76200" h="437514">
                <a:moveTo>
                  <a:pt x="30099" y="381253"/>
                </a:moveTo>
                <a:lnTo>
                  <a:pt x="30099" y="386588"/>
                </a:lnTo>
                <a:lnTo>
                  <a:pt x="38100" y="386588"/>
                </a:lnTo>
                <a:lnTo>
                  <a:pt x="30099" y="381253"/>
                </a:lnTo>
                <a:close/>
              </a:path>
              <a:path w="76200" h="437514">
                <a:moveTo>
                  <a:pt x="45974" y="0"/>
                </a:moveTo>
                <a:lnTo>
                  <a:pt x="30099" y="0"/>
                </a:lnTo>
                <a:lnTo>
                  <a:pt x="30225" y="381338"/>
                </a:lnTo>
                <a:lnTo>
                  <a:pt x="38100" y="386588"/>
                </a:lnTo>
                <a:lnTo>
                  <a:pt x="45974" y="381338"/>
                </a:lnTo>
                <a:lnTo>
                  <a:pt x="45974" y="0"/>
                </a:lnTo>
                <a:close/>
              </a:path>
              <a:path w="76200" h="437514">
                <a:moveTo>
                  <a:pt x="45974" y="381338"/>
                </a:moveTo>
                <a:lnTo>
                  <a:pt x="38100" y="386588"/>
                </a:lnTo>
                <a:lnTo>
                  <a:pt x="45974" y="386588"/>
                </a:lnTo>
                <a:lnTo>
                  <a:pt x="45974" y="381338"/>
                </a:lnTo>
                <a:close/>
              </a:path>
              <a:path w="76200" h="437514">
                <a:moveTo>
                  <a:pt x="76200" y="361188"/>
                </a:moveTo>
                <a:lnTo>
                  <a:pt x="46100" y="381253"/>
                </a:lnTo>
                <a:lnTo>
                  <a:pt x="45974" y="386588"/>
                </a:lnTo>
                <a:lnTo>
                  <a:pt x="63500" y="386588"/>
                </a:lnTo>
                <a:lnTo>
                  <a:pt x="76200" y="361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750308" y="3323844"/>
            <a:ext cx="76200" cy="367665"/>
          </a:xfrm>
          <a:custGeom>
            <a:avLst/>
            <a:gdLst/>
            <a:ahLst/>
            <a:cxnLst/>
            <a:rect l="l" t="t" r="r" b="b"/>
            <a:pathLst>
              <a:path w="76200" h="367664">
                <a:moveTo>
                  <a:pt x="0" y="291083"/>
                </a:moveTo>
                <a:lnTo>
                  <a:pt x="38100" y="367283"/>
                </a:lnTo>
                <a:lnTo>
                  <a:pt x="63500" y="316483"/>
                </a:lnTo>
                <a:lnTo>
                  <a:pt x="30099" y="316483"/>
                </a:lnTo>
                <a:lnTo>
                  <a:pt x="30099" y="311149"/>
                </a:lnTo>
                <a:lnTo>
                  <a:pt x="0" y="291083"/>
                </a:lnTo>
                <a:close/>
              </a:path>
              <a:path w="76200" h="367664">
                <a:moveTo>
                  <a:pt x="30099" y="311149"/>
                </a:moveTo>
                <a:lnTo>
                  <a:pt x="30099" y="316483"/>
                </a:lnTo>
                <a:lnTo>
                  <a:pt x="38100" y="316483"/>
                </a:lnTo>
                <a:lnTo>
                  <a:pt x="30099" y="311149"/>
                </a:lnTo>
                <a:close/>
              </a:path>
              <a:path w="76200" h="367664">
                <a:moveTo>
                  <a:pt x="45974" y="0"/>
                </a:moveTo>
                <a:lnTo>
                  <a:pt x="30099" y="0"/>
                </a:lnTo>
                <a:lnTo>
                  <a:pt x="30225" y="311234"/>
                </a:lnTo>
                <a:lnTo>
                  <a:pt x="38100" y="316483"/>
                </a:lnTo>
                <a:lnTo>
                  <a:pt x="45974" y="311234"/>
                </a:lnTo>
                <a:lnTo>
                  <a:pt x="45974" y="0"/>
                </a:lnTo>
                <a:close/>
              </a:path>
              <a:path w="76200" h="367664">
                <a:moveTo>
                  <a:pt x="45974" y="311234"/>
                </a:moveTo>
                <a:lnTo>
                  <a:pt x="38100" y="316483"/>
                </a:lnTo>
                <a:lnTo>
                  <a:pt x="45974" y="316483"/>
                </a:lnTo>
                <a:lnTo>
                  <a:pt x="45974" y="311234"/>
                </a:lnTo>
                <a:close/>
              </a:path>
              <a:path w="76200" h="367664">
                <a:moveTo>
                  <a:pt x="76200" y="291083"/>
                </a:moveTo>
                <a:lnTo>
                  <a:pt x="46100" y="311149"/>
                </a:lnTo>
                <a:lnTo>
                  <a:pt x="45974" y="316483"/>
                </a:lnTo>
                <a:lnTo>
                  <a:pt x="63500" y="316483"/>
                </a:lnTo>
                <a:lnTo>
                  <a:pt x="76200" y="2910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750308" y="4194047"/>
            <a:ext cx="76200" cy="292735"/>
          </a:xfrm>
          <a:custGeom>
            <a:avLst/>
            <a:gdLst/>
            <a:ahLst/>
            <a:cxnLst/>
            <a:rect l="l" t="t" r="r" b="b"/>
            <a:pathLst>
              <a:path w="76200" h="292735">
                <a:moveTo>
                  <a:pt x="0" y="216407"/>
                </a:moveTo>
                <a:lnTo>
                  <a:pt x="38100" y="292607"/>
                </a:lnTo>
                <a:lnTo>
                  <a:pt x="63500" y="241807"/>
                </a:lnTo>
                <a:lnTo>
                  <a:pt x="30099" y="241807"/>
                </a:lnTo>
                <a:lnTo>
                  <a:pt x="30099" y="236474"/>
                </a:lnTo>
                <a:lnTo>
                  <a:pt x="0" y="216407"/>
                </a:lnTo>
                <a:close/>
              </a:path>
              <a:path w="76200" h="292735">
                <a:moveTo>
                  <a:pt x="30099" y="236474"/>
                </a:moveTo>
                <a:lnTo>
                  <a:pt x="30099" y="241807"/>
                </a:lnTo>
                <a:lnTo>
                  <a:pt x="38100" y="241807"/>
                </a:lnTo>
                <a:lnTo>
                  <a:pt x="30099" y="236474"/>
                </a:lnTo>
                <a:close/>
              </a:path>
              <a:path w="76200" h="292735">
                <a:moveTo>
                  <a:pt x="45974" y="0"/>
                </a:moveTo>
                <a:lnTo>
                  <a:pt x="30099" y="0"/>
                </a:lnTo>
                <a:lnTo>
                  <a:pt x="30225" y="236558"/>
                </a:lnTo>
                <a:lnTo>
                  <a:pt x="38100" y="241807"/>
                </a:lnTo>
                <a:lnTo>
                  <a:pt x="45974" y="236558"/>
                </a:lnTo>
                <a:lnTo>
                  <a:pt x="45974" y="0"/>
                </a:lnTo>
                <a:close/>
              </a:path>
              <a:path w="76200" h="292735">
                <a:moveTo>
                  <a:pt x="45974" y="236558"/>
                </a:moveTo>
                <a:lnTo>
                  <a:pt x="38100" y="241807"/>
                </a:lnTo>
                <a:lnTo>
                  <a:pt x="45974" y="241807"/>
                </a:lnTo>
                <a:lnTo>
                  <a:pt x="45974" y="236558"/>
                </a:lnTo>
                <a:close/>
              </a:path>
              <a:path w="76200" h="292735">
                <a:moveTo>
                  <a:pt x="76200" y="216407"/>
                </a:moveTo>
                <a:lnTo>
                  <a:pt x="46100" y="236474"/>
                </a:lnTo>
                <a:lnTo>
                  <a:pt x="45974" y="241807"/>
                </a:lnTo>
                <a:lnTo>
                  <a:pt x="63500" y="241807"/>
                </a:lnTo>
                <a:lnTo>
                  <a:pt x="76200" y="2164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521195" y="3563111"/>
            <a:ext cx="1019810" cy="457200"/>
          </a:xfrm>
          <a:custGeom>
            <a:avLst/>
            <a:gdLst/>
            <a:ahLst/>
            <a:cxnLst/>
            <a:rect l="l" t="t" r="r" b="b"/>
            <a:pathLst>
              <a:path w="1019809" h="457200">
                <a:moveTo>
                  <a:pt x="0" y="457200"/>
                </a:moveTo>
                <a:lnTo>
                  <a:pt x="1019555" y="457200"/>
                </a:lnTo>
                <a:lnTo>
                  <a:pt x="1019555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521195" y="3563111"/>
            <a:ext cx="1019810" cy="457200"/>
          </a:xfrm>
          <a:custGeom>
            <a:avLst/>
            <a:gdLst/>
            <a:ahLst/>
            <a:cxnLst/>
            <a:rect l="l" t="t" r="r" b="b"/>
            <a:pathLst>
              <a:path w="1019809" h="457200">
                <a:moveTo>
                  <a:pt x="0" y="457200"/>
                </a:moveTo>
                <a:lnTo>
                  <a:pt x="1019555" y="457200"/>
                </a:lnTo>
                <a:lnTo>
                  <a:pt x="1019555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454140" y="3617976"/>
            <a:ext cx="1019810" cy="457200"/>
          </a:xfrm>
          <a:custGeom>
            <a:avLst/>
            <a:gdLst/>
            <a:ahLst/>
            <a:cxnLst/>
            <a:rect l="l" t="t" r="r" b="b"/>
            <a:pathLst>
              <a:path w="1019809" h="457200">
                <a:moveTo>
                  <a:pt x="0" y="457200"/>
                </a:moveTo>
                <a:lnTo>
                  <a:pt x="1019556" y="457200"/>
                </a:lnTo>
                <a:lnTo>
                  <a:pt x="1019556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454140" y="3617976"/>
            <a:ext cx="1019810" cy="457200"/>
          </a:xfrm>
          <a:custGeom>
            <a:avLst/>
            <a:gdLst/>
            <a:ahLst/>
            <a:cxnLst/>
            <a:rect l="l" t="t" r="r" b="b"/>
            <a:pathLst>
              <a:path w="1019809" h="457200">
                <a:moveTo>
                  <a:pt x="0" y="457200"/>
                </a:moveTo>
                <a:lnTo>
                  <a:pt x="1019556" y="457200"/>
                </a:lnTo>
                <a:lnTo>
                  <a:pt x="1019556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482595" y="4440935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482595" y="4440935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415539" y="4495800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415539" y="4495800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350770" y="4549902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350770" y="4549902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2604642" y="4547361"/>
            <a:ext cx="631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333CC"/>
                </a:solidFill>
                <a:latin typeface="Times New Roman"/>
                <a:cs typeface="Times New Roman"/>
              </a:rPr>
              <a:t>Library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302891" y="4760721"/>
            <a:ext cx="12376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333CC"/>
                </a:solidFill>
                <a:latin typeface="Times New Roman"/>
                <a:cs typeface="Times New Roman"/>
              </a:rPr>
              <a:t>Object</a:t>
            </a:r>
            <a:r>
              <a:rPr sz="1400" b="1" spc="-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333CC"/>
                </a:solidFill>
                <a:latin typeface="Times New Roman"/>
                <a:cs typeface="Times New Roman"/>
              </a:rPr>
              <a:t>Modules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845307" y="2409444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659891"/>
                </a:moveTo>
                <a:lnTo>
                  <a:pt x="0" y="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845807" y="2383535"/>
            <a:ext cx="0" cy="658495"/>
          </a:xfrm>
          <a:custGeom>
            <a:avLst/>
            <a:gdLst/>
            <a:ahLst/>
            <a:cxnLst/>
            <a:rect l="l" t="t" r="r" b="b"/>
            <a:pathLst>
              <a:path h="658494">
                <a:moveTo>
                  <a:pt x="0" y="658367"/>
                </a:moveTo>
                <a:lnTo>
                  <a:pt x="0" y="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959607" y="5628132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44600" y="38100"/>
                </a:moveTo>
                <a:lnTo>
                  <a:pt x="1219200" y="76200"/>
                </a:lnTo>
                <a:lnTo>
                  <a:pt x="1279525" y="46037"/>
                </a:lnTo>
                <a:lnTo>
                  <a:pt x="1244600" y="46037"/>
                </a:lnTo>
                <a:lnTo>
                  <a:pt x="1244600" y="38100"/>
                </a:lnTo>
                <a:close/>
              </a:path>
              <a:path w="1295400" h="76200">
                <a:moveTo>
                  <a:pt x="1239308" y="30162"/>
                </a:moveTo>
                <a:lnTo>
                  <a:pt x="0" y="30162"/>
                </a:lnTo>
                <a:lnTo>
                  <a:pt x="0" y="46037"/>
                </a:lnTo>
                <a:lnTo>
                  <a:pt x="1239308" y="46037"/>
                </a:lnTo>
                <a:lnTo>
                  <a:pt x="1244600" y="38100"/>
                </a:lnTo>
                <a:lnTo>
                  <a:pt x="1239308" y="30162"/>
                </a:lnTo>
                <a:close/>
              </a:path>
              <a:path w="1295400" h="76200">
                <a:moveTo>
                  <a:pt x="1279525" y="30162"/>
                </a:moveTo>
                <a:lnTo>
                  <a:pt x="1244600" y="30162"/>
                </a:lnTo>
                <a:lnTo>
                  <a:pt x="1244600" y="46037"/>
                </a:lnTo>
                <a:lnTo>
                  <a:pt x="1279525" y="46037"/>
                </a:lnTo>
                <a:lnTo>
                  <a:pt x="1295400" y="38100"/>
                </a:lnTo>
                <a:lnTo>
                  <a:pt x="1279525" y="30162"/>
                </a:lnTo>
                <a:close/>
              </a:path>
              <a:path w="1295400" h="76200">
                <a:moveTo>
                  <a:pt x="1219200" y="0"/>
                </a:moveTo>
                <a:lnTo>
                  <a:pt x="1244600" y="38100"/>
                </a:lnTo>
                <a:lnTo>
                  <a:pt x="1244600" y="30162"/>
                </a:lnTo>
                <a:lnTo>
                  <a:pt x="1279525" y="30162"/>
                </a:lnTo>
                <a:lnTo>
                  <a:pt x="1219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959607" y="500634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659892"/>
                </a:moveTo>
                <a:lnTo>
                  <a:pt x="0" y="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398008" y="473202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56049" y="45973"/>
                </a:lnTo>
                <a:lnTo>
                  <a:pt x="50800" y="45973"/>
                </a:lnTo>
                <a:lnTo>
                  <a:pt x="50800" y="30098"/>
                </a:lnTo>
                <a:lnTo>
                  <a:pt x="56134" y="30098"/>
                </a:lnTo>
                <a:lnTo>
                  <a:pt x="76200" y="0"/>
                </a:lnTo>
                <a:close/>
              </a:path>
              <a:path w="1524000" h="76200">
                <a:moveTo>
                  <a:pt x="50800" y="38099"/>
                </a:moveTo>
                <a:lnTo>
                  <a:pt x="50800" y="45973"/>
                </a:lnTo>
                <a:lnTo>
                  <a:pt x="56049" y="45973"/>
                </a:lnTo>
                <a:lnTo>
                  <a:pt x="50800" y="38099"/>
                </a:lnTo>
                <a:close/>
              </a:path>
              <a:path w="1524000" h="76200">
                <a:moveTo>
                  <a:pt x="1523999" y="30098"/>
                </a:moveTo>
                <a:lnTo>
                  <a:pt x="56134" y="30098"/>
                </a:lnTo>
                <a:lnTo>
                  <a:pt x="50800" y="38099"/>
                </a:lnTo>
                <a:lnTo>
                  <a:pt x="56049" y="45973"/>
                </a:lnTo>
                <a:lnTo>
                  <a:pt x="1523999" y="45973"/>
                </a:lnTo>
                <a:lnTo>
                  <a:pt x="1523999" y="30098"/>
                </a:lnTo>
                <a:close/>
              </a:path>
              <a:path w="1524000" h="76200">
                <a:moveTo>
                  <a:pt x="56134" y="30098"/>
                </a:moveTo>
                <a:lnTo>
                  <a:pt x="50800" y="30098"/>
                </a:lnTo>
                <a:lnTo>
                  <a:pt x="50800" y="38099"/>
                </a:lnTo>
                <a:lnTo>
                  <a:pt x="56134" y="30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922007" y="4214621"/>
            <a:ext cx="0" cy="574040"/>
          </a:xfrm>
          <a:custGeom>
            <a:avLst/>
            <a:gdLst/>
            <a:ahLst/>
            <a:cxnLst/>
            <a:rect l="l" t="t" r="r" b="b"/>
            <a:pathLst>
              <a:path h="574039">
                <a:moveTo>
                  <a:pt x="0" y="0"/>
                </a:moveTo>
                <a:lnTo>
                  <a:pt x="0" y="573785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777740" y="5017008"/>
            <a:ext cx="76200" cy="364490"/>
          </a:xfrm>
          <a:custGeom>
            <a:avLst/>
            <a:gdLst/>
            <a:ahLst/>
            <a:cxnLst/>
            <a:rect l="l" t="t" r="r" b="b"/>
            <a:pathLst>
              <a:path w="76200" h="364489">
                <a:moveTo>
                  <a:pt x="0" y="288036"/>
                </a:moveTo>
                <a:lnTo>
                  <a:pt x="38100" y="364236"/>
                </a:lnTo>
                <a:lnTo>
                  <a:pt x="63500" y="313436"/>
                </a:lnTo>
                <a:lnTo>
                  <a:pt x="30099" y="313436"/>
                </a:lnTo>
                <a:lnTo>
                  <a:pt x="30099" y="308102"/>
                </a:lnTo>
                <a:lnTo>
                  <a:pt x="0" y="288036"/>
                </a:lnTo>
                <a:close/>
              </a:path>
              <a:path w="76200" h="364489">
                <a:moveTo>
                  <a:pt x="30099" y="308102"/>
                </a:moveTo>
                <a:lnTo>
                  <a:pt x="30099" y="313436"/>
                </a:lnTo>
                <a:lnTo>
                  <a:pt x="38100" y="313436"/>
                </a:lnTo>
                <a:lnTo>
                  <a:pt x="30099" y="308102"/>
                </a:lnTo>
                <a:close/>
              </a:path>
              <a:path w="76200" h="364489">
                <a:moveTo>
                  <a:pt x="45974" y="0"/>
                </a:moveTo>
                <a:lnTo>
                  <a:pt x="30099" y="0"/>
                </a:lnTo>
                <a:lnTo>
                  <a:pt x="30225" y="308186"/>
                </a:lnTo>
                <a:lnTo>
                  <a:pt x="38100" y="313436"/>
                </a:lnTo>
                <a:lnTo>
                  <a:pt x="45974" y="308186"/>
                </a:lnTo>
                <a:lnTo>
                  <a:pt x="45974" y="0"/>
                </a:lnTo>
                <a:close/>
              </a:path>
              <a:path w="76200" h="364489">
                <a:moveTo>
                  <a:pt x="45974" y="308186"/>
                </a:moveTo>
                <a:lnTo>
                  <a:pt x="38100" y="313436"/>
                </a:lnTo>
                <a:lnTo>
                  <a:pt x="45974" y="313436"/>
                </a:lnTo>
                <a:lnTo>
                  <a:pt x="45974" y="308186"/>
                </a:lnTo>
                <a:close/>
              </a:path>
              <a:path w="76200" h="364489">
                <a:moveTo>
                  <a:pt x="76200" y="288036"/>
                </a:moveTo>
                <a:lnTo>
                  <a:pt x="46100" y="308102"/>
                </a:lnTo>
                <a:lnTo>
                  <a:pt x="45974" y="313436"/>
                </a:lnTo>
                <a:lnTo>
                  <a:pt x="63500" y="313436"/>
                </a:lnTo>
                <a:lnTo>
                  <a:pt x="7620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788408" y="5884164"/>
            <a:ext cx="76200" cy="440690"/>
          </a:xfrm>
          <a:custGeom>
            <a:avLst/>
            <a:gdLst/>
            <a:ahLst/>
            <a:cxnLst/>
            <a:rect l="l" t="t" r="r" b="b"/>
            <a:pathLst>
              <a:path w="76200" h="440689">
                <a:moveTo>
                  <a:pt x="0" y="364236"/>
                </a:moveTo>
                <a:lnTo>
                  <a:pt x="38100" y="440436"/>
                </a:lnTo>
                <a:lnTo>
                  <a:pt x="63500" y="389636"/>
                </a:lnTo>
                <a:lnTo>
                  <a:pt x="30099" y="389636"/>
                </a:lnTo>
                <a:lnTo>
                  <a:pt x="30099" y="384302"/>
                </a:lnTo>
                <a:lnTo>
                  <a:pt x="0" y="364236"/>
                </a:lnTo>
                <a:close/>
              </a:path>
              <a:path w="76200" h="440689">
                <a:moveTo>
                  <a:pt x="30099" y="384302"/>
                </a:moveTo>
                <a:lnTo>
                  <a:pt x="30099" y="389636"/>
                </a:lnTo>
                <a:lnTo>
                  <a:pt x="38100" y="389636"/>
                </a:lnTo>
                <a:lnTo>
                  <a:pt x="30099" y="384302"/>
                </a:lnTo>
                <a:close/>
              </a:path>
              <a:path w="76200" h="440689">
                <a:moveTo>
                  <a:pt x="45974" y="0"/>
                </a:moveTo>
                <a:lnTo>
                  <a:pt x="30099" y="0"/>
                </a:lnTo>
                <a:lnTo>
                  <a:pt x="30225" y="384386"/>
                </a:lnTo>
                <a:lnTo>
                  <a:pt x="38100" y="389636"/>
                </a:lnTo>
                <a:lnTo>
                  <a:pt x="45974" y="384386"/>
                </a:lnTo>
                <a:lnTo>
                  <a:pt x="45974" y="0"/>
                </a:lnTo>
                <a:close/>
              </a:path>
              <a:path w="76200" h="440689">
                <a:moveTo>
                  <a:pt x="45974" y="384386"/>
                </a:moveTo>
                <a:lnTo>
                  <a:pt x="38100" y="389636"/>
                </a:lnTo>
                <a:lnTo>
                  <a:pt x="45974" y="389636"/>
                </a:lnTo>
                <a:lnTo>
                  <a:pt x="45974" y="384386"/>
                </a:lnTo>
                <a:close/>
              </a:path>
              <a:path w="76200" h="440689">
                <a:moveTo>
                  <a:pt x="76200" y="364236"/>
                </a:moveTo>
                <a:lnTo>
                  <a:pt x="46100" y="384302"/>
                </a:lnTo>
                <a:lnTo>
                  <a:pt x="45974" y="389636"/>
                </a:lnTo>
                <a:lnTo>
                  <a:pt x="63500" y="389636"/>
                </a:lnTo>
                <a:lnTo>
                  <a:pt x="76200" y="3642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854451" y="3020567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63150" y="30225"/>
                </a:lnTo>
                <a:lnTo>
                  <a:pt x="1168400" y="30226"/>
                </a:lnTo>
                <a:lnTo>
                  <a:pt x="1168400" y="46101"/>
                </a:lnTo>
                <a:lnTo>
                  <a:pt x="1163065" y="46101"/>
                </a:lnTo>
                <a:lnTo>
                  <a:pt x="1143000" y="76200"/>
                </a:lnTo>
                <a:lnTo>
                  <a:pt x="1203197" y="46101"/>
                </a:lnTo>
                <a:lnTo>
                  <a:pt x="1168400" y="46101"/>
                </a:lnTo>
                <a:lnTo>
                  <a:pt x="1203199" y="46100"/>
                </a:lnTo>
                <a:lnTo>
                  <a:pt x="1219200" y="38100"/>
                </a:lnTo>
                <a:lnTo>
                  <a:pt x="1143000" y="0"/>
                </a:lnTo>
                <a:close/>
              </a:path>
              <a:path w="1219200" h="76200">
                <a:moveTo>
                  <a:pt x="1168400" y="38100"/>
                </a:moveTo>
                <a:lnTo>
                  <a:pt x="1163066" y="46100"/>
                </a:lnTo>
                <a:lnTo>
                  <a:pt x="1168400" y="46101"/>
                </a:lnTo>
                <a:lnTo>
                  <a:pt x="1168400" y="38100"/>
                </a:lnTo>
                <a:close/>
              </a:path>
              <a:path w="1219200" h="76200">
                <a:moveTo>
                  <a:pt x="0" y="30099"/>
                </a:moveTo>
                <a:lnTo>
                  <a:pt x="0" y="45974"/>
                </a:lnTo>
                <a:lnTo>
                  <a:pt x="1163066" y="46100"/>
                </a:lnTo>
                <a:lnTo>
                  <a:pt x="1168400" y="38100"/>
                </a:lnTo>
                <a:lnTo>
                  <a:pt x="1163150" y="30225"/>
                </a:lnTo>
                <a:lnTo>
                  <a:pt x="0" y="30099"/>
                </a:lnTo>
                <a:close/>
              </a:path>
              <a:path w="1219200" h="76200">
                <a:moveTo>
                  <a:pt x="1163150" y="30225"/>
                </a:moveTo>
                <a:lnTo>
                  <a:pt x="1168400" y="38100"/>
                </a:lnTo>
                <a:lnTo>
                  <a:pt x="1168400" y="30226"/>
                </a:lnTo>
                <a:lnTo>
                  <a:pt x="1163150" y="302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550408" y="2994660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56134" y="46100"/>
                </a:lnTo>
                <a:lnTo>
                  <a:pt x="50800" y="46100"/>
                </a:lnTo>
                <a:lnTo>
                  <a:pt x="50800" y="30099"/>
                </a:lnTo>
                <a:lnTo>
                  <a:pt x="56134" y="30099"/>
                </a:lnTo>
                <a:lnTo>
                  <a:pt x="76200" y="0"/>
                </a:lnTo>
                <a:close/>
              </a:path>
              <a:path w="1295400" h="76200">
                <a:moveTo>
                  <a:pt x="50800" y="38100"/>
                </a:moveTo>
                <a:lnTo>
                  <a:pt x="50800" y="46100"/>
                </a:lnTo>
                <a:lnTo>
                  <a:pt x="56133" y="46100"/>
                </a:lnTo>
                <a:lnTo>
                  <a:pt x="50800" y="38100"/>
                </a:lnTo>
                <a:close/>
              </a:path>
              <a:path w="1295400" h="76200">
                <a:moveTo>
                  <a:pt x="56133" y="46100"/>
                </a:moveTo>
                <a:lnTo>
                  <a:pt x="50800" y="46100"/>
                </a:lnTo>
                <a:lnTo>
                  <a:pt x="56134" y="46100"/>
                </a:lnTo>
                <a:close/>
              </a:path>
              <a:path w="1295400" h="76200">
                <a:moveTo>
                  <a:pt x="1295399" y="30099"/>
                </a:moveTo>
                <a:lnTo>
                  <a:pt x="56134" y="30099"/>
                </a:lnTo>
                <a:lnTo>
                  <a:pt x="50800" y="38100"/>
                </a:lnTo>
                <a:lnTo>
                  <a:pt x="56133" y="46100"/>
                </a:lnTo>
                <a:lnTo>
                  <a:pt x="1295399" y="45974"/>
                </a:lnTo>
                <a:lnTo>
                  <a:pt x="1295399" y="30099"/>
                </a:lnTo>
                <a:close/>
              </a:path>
              <a:path w="1295400" h="76200">
                <a:moveTo>
                  <a:pt x="56134" y="30099"/>
                </a:moveTo>
                <a:lnTo>
                  <a:pt x="50800" y="30099"/>
                </a:lnTo>
                <a:lnTo>
                  <a:pt x="50800" y="38100"/>
                </a:lnTo>
                <a:lnTo>
                  <a:pt x="56134" y="30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103370" y="3106673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19050">
            <a:solidFill>
              <a:srgbClr val="FFFFFF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2200148" y="1009903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SHELL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275070" y="3691890"/>
            <a:ext cx="1152525" cy="523240"/>
          </a:xfrm>
          <a:custGeom>
            <a:avLst/>
            <a:gdLst/>
            <a:ahLst/>
            <a:cxnLst/>
            <a:rect l="l" t="t" r="r" b="b"/>
            <a:pathLst>
              <a:path w="1152525" h="523239">
                <a:moveTo>
                  <a:pt x="0" y="522731"/>
                </a:moveTo>
                <a:lnTo>
                  <a:pt x="1152144" y="522731"/>
                </a:lnTo>
                <a:lnTo>
                  <a:pt x="1152144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solidFill>
            <a:srgbClr val="AE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6275070" y="3691890"/>
            <a:ext cx="1152525" cy="52324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3655" marR="27305" indent="208279">
              <a:lnSpc>
                <a:spcPct val="100000"/>
              </a:lnSpc>
              <a:spcBef>
                <a:spcPts val="330"/>
              </a:spcBef>
            </a:pPr>
            <a:r>
              <a:rPr sz="1400" b="1" dirty="0">
                <a:solidFill>
                  <a:srgbClr val="3333CC"/>
                </a:solidFill>
                <a:latin typeface="Times New Roman"/>
                <a:cs typeface="Times New Roman"/>
              </a:rPr>
              <a:t>External  </a:t>
            </a:r>
            <a:r>
              <a:rPr sz="1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Assembly</a:t>
            </a:r>
            <a:r>
              <a:rPr sz="1400" b="1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333CC"/>
                </a:solidFill>
                <a:latin typeface="Times New Roman"/>
                <a:cs typeface="Times New Roman"/>
              </a:rPr>
              <a:t>files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8200" y="4617720"/>
            <a:ext cx="8305800" cy="2240280"/>
          </a:xfrm>
          <a:custGeom>
            <a:avLst/>
            <a:gdLst/>
            <a:ahLst/>
            <a:cxnLst/>
            <a:rect l="l" t="t" r="r" b="b"/>
            <a:pathLst>
              <a:path w="8305800" h="2240279">
                <a:moveTo>
                  <a:pt x="0" y="2240279"/>
                </a:moveTo>
                <a:lnTo>
                  <a:pt x="8305800" y="2240279"/>
                </a:lnTo>
                <a:lnTo>
                  <a:pt x="8305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756" y="4629150"/>
            <a:ext cx="8810625" cy="2228850"/>
          </a:xfrm>
          <a:custGeom>
            <a:avLst/>
            <a:gdLst/>
            <a:ahLst/>
            <a:cxnLst/>
            <a:rect l="l" t="t" r="r" b="b"/>
            <a:pathLst>
              <a:path w="8810625" h="2228850">
                <a:moveTo>
                  <a:pt x="0" y="2228850"/>
                </a:moveTo>
                <a:lnTo>
                  <a:pt x="8810244" y="2228850"/>
                </a:lnTo>
                <a:lnTo>
                  <a:pt x="8810244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0" y="1828800"/>
            <a:ext cx="1524000" cy="2800350"/>
          </a:xfrm>
          <a:custGeom>
            <a:avLst/>
            <a:gdLst/>
            <a:ahLst/>
            <a:cxnLst/>
            <a:rect l="l" t="t" r="r" b="b"/>
            <a:pathLst>
              <a:path w="1524000" h="2800350">
                <a:moveTo>
                  <a:pt x="0" y="2800350"/>
                </a:moveTo>
                <a:lnTo>
                  <a:pt x="1524000" y="2800350"/>
                </a:lnTo>
                <a:lnTo>
                  <a:pt x="1524000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7605" y="1828800"/>
            <a:ext cx="742950" cy="2800350"/>
          </a:xfrm>
          <a:custGeom>
            <a:avLst/>
            <a:gdLst/>
            <a:ahLst/>
            <a:cxnLst/>
            <a:rect l="l" t="t" r="r" b="b"/>
            <a:pathLst>
              <a:path w="742950" h="2800350">
                <a:moveTo>
                  <a:pt x="0" y="2800350"/>
                </a:moveTo>
                <a:lnTo>
                  <a:pt x="742594" y="2800350"/>
                </a:lnTo>
                <a:lnTo>
                  <a:pt x="742594" y="0"/>
                </a:lnTo>
                <a:lnTo>
                  <a:pt x="0" y="0"/>
                </a:lnTo>
                <a:lnTo>
                  <a:pt x="0" y="2800350"/>
                </a:lnTo>
                <a:close/>
              </a:path>
            </a:pathLst>
          </a:custGeom>
          <a:solidFill>
            <a:srgbClr val="0066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2852" y="76581"/>
            <a:ext cx="2640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SCC_structure</a:t>
            </a:r>
          </a:p>
        </p:txBody>
      </p:sp>
      <p:sp>
        <p:nvSpPr>
          <p:cNvPr id="9" name="object 9"/>
          <p:cNvSpPr/>
          <p:nvPr/>
        </p:nvSpPr>
        <p:spPr>
          <a:xfrm>
            <a:off x="1600200" y="1109472"/>
            <a:ext cx="6019800" cy="4648200"/>
          </a:xfrm>
          <a:custGeom>
            <a:avLst/>
            <a:gdLst/>
            <a:ahLst/>
            <a:cxnLst/>
            <a:rect l="l" t="t" r="r" b="b"/>
            <a:pathLst>
              <a:path w="6019800" h="4648200">
                <a:moveTo>
                  <a:pt x="0" y="4648200"/>
                </a:moveTo>
                <a:lnTo>
                  <a:pt x="6019800" y="4648200"/>
                </a:lnTo>
                <a:lnTo>
                  <a:pt x="6019800" y="0"/>
                </a:lnTo>
                <a:lnTo>
                  <a:pt x="0" y="0"/>
                </a:lnTo>
                <a:lnTo>
                  <a:pt x="0" y="4648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0200" y="1109472"/>
            <a:ext cx="6019800" cy="4648200"/>
          </a:xfrm>
          <a:custGeom>
            <a:avLst/>
            <a:gdLst/>
            <a:ahLst/>
            <a:cxnLst/>
            <a:rect l="l" t="t" r="r" b="b"/>
            <a:pathLst>
              <a:path w="6019800" h="4648200">
                <a:moveTo>
                  <a:pt x="0" y="4648200"/>
                </a:moveTo>
                <a:lnTo>
                  <a:pt x="6019800" y="4648200"/>
                </a:lnTo>
                <a:lnTo>
                  <a:pt x="6019800" y="0"/>
                </a:lnTo>
                <a:lnTo>
                  <a:pt x="0" y="0"/>
                </a:lnTo>
                <a:lnTo>
                  <a:pt x="0" y="4648200"/>
                </a:lnTo>
                <a:close/>
              </a:path>
            </a:pathLst>
          </a:custGeom>
          <a:ln w="12700">
            <a:solidFill>
              <a:srgbClr val="FFFFFF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38600" y="368808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533400"/>
                </a:moveTo>
                <a:lnTo>
                  <a:pt x="1143000" y="533400"/>
                </a:lnTo>
                <a:lnTo>
                  <a:pt x="1143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38600" y="368808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533400"/>
                </a:moveTo>
                <a:lnTo>
                  <a:pt x="1143000" y="533400"/>
                </a:lnTo>
                <a:lnTo>
                  <a:pt x="1143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71544" y="425195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533400"/>
                </a:moveTo>
                <a:lnTo>
                  <a:pt x="1143000" y="533400"/>
                </a:lnTo>
                <a:lnTo>
                  <a:pt x="1143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71544" y="425195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533400"/>
                </a:moveTo>
                <a:lnTo>
                  <a:pt x="1143000" y="533400"/>
                </a:lnTo>
                <a:lnTo>
                  <a:pt x="1143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06773" y="483869"/>
            <a:ext cx="114300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06773" y="483869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533400"/>
                </a:moveTo>
                <a:lnTo>
                  <a:pt x="1143000" y="533400"/>
                </a:lnTo>
                <a:lnTo>
                  <a:pt x="1143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67607" y="624077"/>
            <a:ext cx="10826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C </a:t>
            </a:r>
            <a:r>
              <a:rPr sz="1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source</a:t>
            </a:r>
            <a:r>
              <a:rPr sz="1400" b="1" spc="-6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files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02630" y="1225296"/>
            <a:ext cx="1293495" cy="531495"/>
          </a:xfrm>
          <a:custGeom>
            <a:avLst/>
            <a:gdLst/>
            <a:ahLst/>
            <a:cxnLst/>
            <a:rect l="l" t="t" r="r" b="b"/>
            <a:pathLst>
              <a:path w="1293495" h="531494">
                <a:moveTo>
                  <a:pt x="1290709" y="76200"/>
                </a:moveTo>
                <a:lnTo>
                  <a:pt x="1128169" y="76200"/>
                </a:lnTo>
                <a:lnTo>
                  <a:pt x="1162794" y="83179"/>
                </a:lnTo>
                <a:lnTo>
                  <a:pt x="1191050" y="102219"/>
                </a:lnTo>
                <a:lnTo>
                  <a:pt x="1210090" y="130474"/>
                </a:lnTo>
                <a:lnTo>
                  <a:pt x="1217069" y="165100"/>
                </a:lnTo>
                <a:lnTo>
                  <a:pt x="1217069" y="520700"/>
                </a:lnTo>
                <a:lnTo>
                  <a:pt x="1214939" y="531269"/>
                </a:lnTo>
                <a:lnTo>
                  <a:pt x="1238994" y="526420"/>
                </a:lnTo>
                <a:lnTo>
                  <a:pt x="1267250" y="507380"/>
                </a:lnTo>
                <a:lnTo>
                  <a:pt x="1286290" y="479125"/>
                </a:lnTo>
                <a:lnTo>
                  <a:pt x="1293269" y="444500"/>
                </a:lnTo>
                <a:lnTo>
                  <a:pt x="1293269" y="88900"/>
                </a:lnTo>
                <a:lnTo>
                  <a:pt x="1290709" y="76200"/>
                </a:lnTo>
                <a:close/>
              </a:path>
              <a:path w="1293495" h="531494">
                <a:moveTo>
                  <a:pt x="1204369" y="0"/>
                </a:moveTo>
                <a:lnTo>
                  <a:pt x="86769" y="0"/>
                </a:lnTo>
                <a:lnTo>
                  <a:pt x="52144" y="6979"/>
                </a:lnTo>
                <a:lnTo>
                  <a:pt x="23888" y="26019"/>
                </a:lnTo>
                <a:lnTo>
                  <a:pt x="4848" y="54274"/>
                </a:lnTo>
                <a:lnTo>
                  <a:pt x="0" y="78330"/>
                </a:lnTo>
                <a:lnTo>
                  <a:pt x="10569" y="76200"/>
                </a:lnTo>
                <a:lnTo>
                  <a:pt x="1290709" y="76200"/>
                </a:lnTo>
                <a:lnTo>
                  <a:pt x="1286290" y="54274"/>
                </a:lnTo>
                <a:lnTo>
                  <a:pt x="1267250" y="26019"/>
                </a:lnTo>
                <a:lnTo>
                  <a:pt x="1238994" y="6979"/>
                </a:lnTo>
                <a:lnTo>
                  <a:pt x="1204369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96168" y="1220597"/>
            <a:ext cx="1304925" cy="542925"/>
          </a:xfrm>
          <a:custGeom>
            <a:avLst/>
            <a:gdLst/>
            <a:ahLst/>
            <a:cxnLst/>
            <a:rect l="l" t="t" r="r" b="b"/>
            <a:pathLst>
              <a:path w="1304925" h="542925">
                <a:moveTo>
                  <a:pt x="1251924" y="9525"/>
                </a:moveTo>
                <a:lnTo>
                  <a:pt x="1210704" y="9525"/>
                </a:lnTo>
                <a:lnTo>
                  <a:pt x="1219467" y="9905"/>
                </a:lnTo>
                <a:lnTo>
                  <a:pt x="1227849" y="11175"/>
                </a:lnTo>
                <a:lnTo>
                  <a:pt x="1264425" y="28701"/>
                </a:lnTo>
                <a:lnTo>
                  <a:pt x="1288428" y="60832"/>
                </a:lnTo>
                <a:lnTo>
                  <a:pt x="1294900" y="93599"/>
                </a:lnTo>
                <a:lnTo>
                  <a:pt x="1294894" y="449325"/>
                </a:lnTo>
                <a:lnTo>
                  <a:pt x="1284872" y="489330"/>
                </a:lnTo>
                <a:lnTo>
                  <a:pt x="1257948" y="519049"/>
                </a:lnTo>
                <a:lnTo>
                  <a:pt x="1222101" y="532492"/>
                </a:lnTo>
                <a:lnTo>
                  <a:pt x="1220098" y="542432"/>
                </a:lnTo>
                <a:lnTo>
                  <a:pt x="1263282" y="526923"/>
                </a:lnTo>
                <a:lnTo>
                  <a:pt x="1293254" y="493902"/>
                </a:lnTo>
                <a:lnTo>
                  <a:pt x="1304430" y="449325"/>
                </a:lnTo>
                <a:lnTo>
                  <a:pt x="1304430" y="93599"/>
                </a:lnTo>
                <a:lnTo>
                  <a:pt x="1293254" y="49022"/>
                </a:lnTo>
                <a:lnTo>
                  <a:pt x="1263282" y="15875"/>
                </a:lnTo>
                <a:lnTo>
                  <a:pt x="1255535" y="11302"/>
                </a:lnTo>
                <a:lnTo>
                  <a:pt x="1251924" y="9525"/>
                </a:lnTo>
                <a:close/>
              </a:path>
              <a:path w="1304925" h="542925">
                <a:moveTo>
                  <a:pt x="1210958" y="0"/>
                </a:moveTo>
                <a:lnTo>
                  <a:pt x="93231" y="0"/>
                </a:lnTo>
                <a:lnTo>
                  <a:pt x="83706" y="380"/>
                </a:lnTo>
                <a:lnTo>
                  <a:pt x="40907" y="15875"/>
                </a:lnTo>
                <a:lnTo>
                  <a:pt x="10935" y="49022"/>
                </a:lnTo>
                <a:lnTo>
                  <a:pt x="0" y="84331"/>
                </a:lnTo>
                <a:lnTo>
                  <a:pt x="9944" y="82327"/>
                </a:lnTo>
                <a:lnTo>
                  <a:pt x="10808" y="76707"/>
                </a:lnTo>
                <a:lnTo>
                  <a:pt x="12840" y="68579"/>
                </a:lnTo>
                <a:lnTo>
                  <a:pt x="33795" y="34162"/>
                </a:lnTo>
                <a:lnTo>
                  <a:pt x="68212" y="13207"/>
                </a:lnTo>
                <a:lnTo>
                  <a:pt x="93358" y="9525"/>
                </a:lnTo>
                <a:lnTo>
                  <a:pt x="1251924" y="9525"/>
                </a:lnTo>
                <a:lnTo>
                  <a:pt x="1247280" y="7238"/>
                </a:lnTo>
                <a:lnTo>
                  <a:pt x="1238771" y="4190"/>
                </a:lnTo>
                <a:lnTo>
                  <a:pt x="1229754" y="1777"/>
                </a:lnTo>
                <a:lnTo>
                  <a:pt x="1220483" y="380"/>
                </a:lnTo>
                <a:lnTo>
                  <a:pt x="121095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24300" y="1301496"/>
            <a:ext cx="1295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24300" y="1301496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06500" y="0"/>
                </a:lnTo>
                <a:lnTo>
                  <a:pt x="1241125" y="6979"/>
                </a:lnTo>
                <a:lnTo>
                  <a:pt x="1269380" y="26019"/>
                </a:lnTo>
                <a:lnTo>
                  <a:pt x="1288420" y="54274"/>
                </a:lnTo>
                <a:lnTo>
                  <a:pt x="1295400" y="88900"/>
                </a:lnTo>
                <a:lnTo>
                  <a:pt x="1295400" y="444500"/>
                </a:lnTo>
                <a:lnTo>
                  <a:pt x="1288420" y="479125"/>
                </a:lnTo>
                <a:lnTo>
                  <a:pt x="1269380" y="507380"/>
                </a:lnTo>
                <a:lnTo>
                  <a:pt x="1241125" y="526420"/>
                </a:lnTo>
                <a:lnTo>
                  <a:pt x="12065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993896" y="1428115"/>
            <a:ext cx="11576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Preprocessor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40730" y="3965447"/>
            <a:ext cx="1141095" cy="531495"/>
          </a:xfrm>
          <a:custGeom>
            <a:avLst/>
            <a:gdLst/>
            <a:ahLst/>
            <a:cxnLst/>
            <a:rect l="l" t="t" r="r" b="b"/>
            <a:pathLst>
              <a:path w="1141095" h="531495">
                <a:moveTo>
                  <a:pt x="1138309" y="76200"/>
                </a:moveTo>
                <a:lnTo>
                  <a:pt x="975769" y="76200"/>
                </a:lnTo>
                <a:lnTo>
                  <a:pt x="1010394" y="83179"/>
                </a:lnTo>
                <a:lnTo>
                  <a:pt x="1038650" y="102219"/>
                </a:lnTo>
                <a:lnTo>
                  <a:pt x="1057690" y="130474"/>
                </a:lnTo>
                <a:lnTo>
                  <a:pt x="1064669" y="165100"/>
                </a:lnTo>
                <a:lnTo>
                  <a:pt x="1064669" y="520700"/>
                </a:lnTo>
                <a:lnTo>
                  <a:pt x="1062539" y="531269"/>
                </a:lnTo>
                <a:lnTo>
                  <a:pt x="1086594" y="526420"/>
                </a:lnTo>
                <a:lnTo>
                  <a:pt x="1114850" y="507380"/>
                </a:lnTo>
                <a:lnTo>
                  <a:pt x="1133890" y="479125"/>
                </a:lnTo>
                <a:lnTo>
                  <a:pt x="1140869" y="444500"/>
                </a:lnTo>
                <a:lnTo>
                  <a:pt x="1140869" y="88900"/>
                </a:lnTo>
                <a:lnTo>
                  <a:pt x="1138309" y="76200"/>
                </a:lnTo>
                <a:close/>
              </a:path>
              <a:path w="1141095" h="531495">
                <a:moveTo>
                  <a:pt x="1051969" y="0"/>
                </a:moveTo>
                <a:lnTo>
                  <a:pt x="86769" y="0"/>
                </a:lnTo>
                <a:lnTo>
                  <a:pt x="52144" y="6979"/>
                </a:lnTo>
                <a:lnTo>
                  <a:pt x="23888" y="26019"/>
                </a:lnTo>
                <a:lnTo>
                  <a:pt x="4848" y="54274"/>
                </a:lnTo>
                <a:lnTo>
                  <a:pt x="0" y="78330"/>
                </a:lnTo>
                <a:lnTo>
                  <a:pt x="10569" y="76200"/>
                </a:lnTo>
                <a:lnTo>
                  <a:pt x="1138309" y="76200"/>
                </a:lnTo>
                <a:lnTo>
                  <a:pt x="1133890" y="54274"/>
                </a:lnTo>
                <a:lnTo>
                  <a:pt x="1114850" y="26019"/>
                </a:lnTo>
                <a:lnTo>
                  <a:pt x="1086594" y="6979"/>
                </a:lnTo>
                <a:lnTo>
                  <a:pt x="1051969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34268" y="3960621"/>
            <a:ext cx="1152525" cy="542925"/>
          </a:xfrm>
          <a:custGeom>
            <a:avLst/>
            <a:gdLst/>
            <a:ahLst/>
            <a:cxnLst/>
            <a:rect l="l" t="t" r="r" b="b"/>
            <a:pathLst>
              <a:path w="1152525" h="542925">
                <a:moveTo>
                  <a:pt x="1099266" y="9525"/>
                </a:moveTo>
                <a:lnTo>
                  <a:pt x="1058304" y="9525"/>
                </a:lnTo>
                <a:lnTo>
                  <a:pt x="1067067" y="10032"/>
                </a:lnTo>
                <a:lnTo>
                  <a:pt x="1075449" y="11302"/>
                </a:lnTo>
                <a:lnTo>
                  <a:pt x="1112025" y="28828"/>
                </a:lnTo>
                <a:lnTo>
                  <a:pt x="1136028" y="60959"/>
                </a:lnTo>
                <a:lnTo>
                  <a:pt x="1142500" y="93725"/>
                </a:lnTo>
                <a:lnTo>
                  <a:pt x="1142494" y="449452"/>
                </a:lnTo>
                <a:lnTo>
                  <a:pt x="1132472" y="489457"/>
                </a:lnTo>
                <a:lnTo>
                  <a:pt x="1105548" y="519175"/>
                </a:lnTo>
                <a:lnTo>
                  <a:pt x="1069701" y="532619"/>
                </a:lnTo>
                <a:lnTo>
                  <a:pt x="1067698" y="542559"/>
                </a:lnTo>
                <a:lnTo>
                  <a:pt x="1110882" y="527050"/>
                </a:lnTo>
                <a:lnTo>
                  <a:pt x="1140854" y="494029"/>
                </a:lnTo>
                <a:lnTo>
                  <a:pt x="1152030" y="449452"/>
                </a:lnTo>
                <a:lnTo>
                  <a:pt x="1152030" y="93725"/>
                </a:lnTo>
                <a:lnTo>
                  <a:pt x="1140854" y="49148"/>
                </a:lnTo>
                <a:lnTo>
                  <a:pt x="1110882" y="16001"/>
                </a:lnTo>
                <a:lnTo>
                  <a:pt x="1103135" y="11429"/>
                </a:lnTo>
                <a:lnTo>
                  <a:pt x="1099266" y="9525"/>
                </a:lnTo>
                <a:close/>
              </a:path>
              <a:path w="1152525" h="542925">
                <a:moveTo>
                  <a:pt x="1058558" y="0"/>
                </a:moveTo>
                <a:lnTo>
                  <a:pt x="93231" y="0"/>
                </a:lnTo>
                <a:lnTo>
                  <a:pt x="83706" y="507"/>
                </a:lnTo>
                <a:lnTo>
                  <a:pt x="40907" y="16001"/>
                </a:lnTo>
                <a:lnTo>
                  <a:pt x="10935" y="49148"/>
                </a:lnTo>
                <a:lnTo>
                  <a:pt x="0" y="84458"/>
                </a:lnTo>
                <a:lnTo>
                  <a:pt x="9944" y="82454"/>
                </a:lnTo>
                <a:lnTo>
                  <a:pt x="10808" y="76834"/>
                </a:lnTo>
                <a:lnTo>
                  <a:pt x="12840" y="68706"/>
                </a:lnTo>
                <a:lnTo>
                  <a:pt x="33795" y="34289"/>
                </a:lnTo>
                <a:lnTo>
                  <a:pt x="68212" y="13334"/>
                </a:lnTo>
                <a:lnTo>
                  <a:pt x="93358" y="9525"/>
                </a:lnTo>
                <a:lnTo>
                  <a:pt x="1099266" y="9525"/>
                </a:lnTo>
                <a:lnTo>
                  <a:pt x="1094880" y="7365"/>
                </a:lnTo>
                <a:lnTo>
                  <a:pt x="1086371" y="4317"/>
                </a:lnTo>
                <a:lnTo>
                  <a:pt x="1077354" y="1904"/>
                </a:lnTo>
                <a:lnTo>
                  <a:pt x="1068083" y="507"/>
                </a:lnTo>
                <a:lnTo>
                  <a:pt x="105855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05400" y="4180264"/>
            <a:ext cx="56515" cy="118110"/>
          </a:xfrm>
          <a:custGeom>
            <a:avLst/>
            <a:gdLst/>
            <a:ahLst/>
            <a:cxnLst/>
            <a:rect l="l" t="t" r="r" b="b"/>
            <a:pathLst>
              <a:path w="56514" h="118110">
                <a:moveTo>
                  <a:pt x="0" y="0"/>
                </a:moveTo>
                <a:lnTo>
                  <a:pt x="0" y="8988"/>
                </a:lnTo>
                <a:lnTo>
                  <a:pt x="7365" y="16577"/>
                </a:lnTo>
                <a:lnTo>
                  <a:pt x="9525" y="23181"/>
                </a:lnTo>
                <a:lnTo>
                  <a:pt x="9525" y="38421"/>
                </a:lnTo>
                <a:lnTo>
                  <a:pt x="8382" y="43501"/>
                </a:lnTo>
                <a:lnTo>
                  <a:pt x="3810" y="51121"/>
                </a:lnTo>
                <a:lnTo>
                  <a:pt x="635" y="53915"/>
                </a:lnTo>
                <a:lnTo>
                  <a:pt x="0" y="54141"/>
                </a:lnTo>
                <a:lnTo>
                  <a:pt x="0" y="90080"/>
                </a:lnTo>
                <a:lnTo>
                  <a:pt x="19430" y="117542"/>
                </a:lnTo>
                <a:lnTo>
                  <a:pt x="56514" y="117542"/>
                </a:lnTo>
                <a:lnTo>
                  <a:pt x="56514" y="114367"/>
                </a:lnTo>
                <a:lnTo>
                  <a:pt x="53466" y="114113"/>
                </a:lnTo>
                <a:lnTo>
                  <a:pt x="50673" y="113097"/>
                </a:lnTo>
                <a:lnTo>
                  <a:pt x="48260" y="111319"/>
                </a:lnTo>
                <a:lnTo>
                  <a:pt x="46736" y="110049"/>
                </a:lnTo>
                <a:lnTo>
                  <a:pt x="44069" y="106874"/>
                </a:lnTo>
                <a:lnTo>
                  <a:pt x="40386" y="101667"/>
                </a:lnTo>
                <a:lnTo>
                  <a:pt x="11937" y="61789"/>
                </a:lnTo>
                <a:lnTo>
                  <a:pt x="38226" y="40707"/>
                </a:lnTo>
                <a:lnTo>
                  <a:pt x="38226" y="24959"/>
                </a:lnTo>
                <a:lnTo>
                  <a:pt x="2921" y="194"/>
                </a:lnTo>
                <a:lnTo>
                  <a:pt x="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62400" y="4041647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1054100" y="0"/>
                </a:moveTo>
                <a:lnTo>
                  <a:pt x="88900" y="0"/>
                </a:lnTo>
                <a:lnTo>
                  <a:pt x="54274" y="6979"/>
                </a:lnTo>
                <a:lnTo>
                  <a:pt x="26019" y="26019"/>
                </a:lnTo>
                <a:lnTo>
                  <a:pt x="6979" y="54274"/>
                </a:lnTo>
                <a:lnTo>
                  <a:pt x="0" y="88900"/>
                </a:lnTo>
                <a:lnTo>
                  <a:pt x="0" y="444500"/>
                </a:lnTo>
                <a:lnTo>
                  <a:pt x="6979" y="479125"/>
                </a:lnTo>
                <a:lnTo>
                  <a:pt x="26019" y="507380"/>
                </a:lnTo>
                <a:lnTo>
                  <a:pt x="54274" y="526420"/>
                </a:lnTo>
                <a:lnTo>
                  <a:pt x="88900" y="533400"/>
                </a:lnTo>
                <a:lnTo>
                  <a:pt x="1054100" y="533400"/>
                </a:lnTo>
                <a:lnTo>
                  <a:pt x="1088725" y="526420"/>
                </a:lnTo>
                <a:lnTo>
                  <a:pt x="1116980" y="507380"/>
                </a:lnTo>
                <a:lnTo>
                  <a:pt x="1136020" y="479125"/>
                </a:lnTo>
                <a:lnTo>
                  <a:pt x="1143000" y="444500"/>
                </a:lnTo>
                <a:lnTo>
                  <a:pt x="1143000" y="88900"/>
                </a:lnTo>
                <a:lnTo>
                  <a:pt x="1136020" y="54274"/>
                </a:lnTo>
                <a:lnTo>
                  <a:pt x="1116980" y="26019"/>
                </a:lnTo>
                <a:lnTo>
                  <a:pt x="1088725" y="6979"/>
                </a:lnTo>
                <a:lnTo>
                  <a:pt x="105410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62400" y="4041647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25"/>
                </a:lnTo>
                <a:lnTo>
                  <a:pt x="1116980" y="507380"/>
                </a:lnTo>
                <a:lnTo>
                  <a:pt x="1088725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974084" y="4184141"/>
            <a:ext cx="11239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SSE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BLER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52922" y="4924044"/>
            <a:ext cx="1141095" cy="531495"/>
          </a:xfrm>
          <a:custGeom>
            <a:avLst/>
            <a:gdLst/>
            <a:ahLst/>
            <a:cxnLst/>
            <a:rect l="l" t="t" r="r" b="b"/>
            <a:pathLst>
              <a:path w="1141095" h="531495">
                <a:moveTo>
                  <a:pt x="1138309" y="76199"/>
                </a:moveTo>
                <a:lnTo>
                  <a:pt x="975769" y="76199"/>
                </a:lnTo>
                <a:lnTo>
                  <a:pt x="1010394" y="83179"/>
                </a:lnTo>
                <a:lnTo>
                  <a:pt x="1038650" y="102219"/>
                </a:lnTo>
                <a:lnTo>
                  <a:pt x="1057690" y="130474"/>
                </a:lnTo>
                <a:lnTo>
                  <a:pt x="1064669" y="165099"/>
                </a:lnTo>
                <a:lnTo>
                  <a:pt x="1064669" y="520699"/>
                </a:lnTo>
                <a:lnTo>
                  <a:pt x="1062539" y="531269"/>
                </a:lnTo>
                <a:lnTo>
                  <a:pt x="1086594" y="526420"/>
                </a:lnTo>
                <a:lnTo>
                  <a:pt x="1114850" y="507380"/>
                </a:lnTo>
                <a:lnTo>
                  <a:pt x="1133890" y="479125"/>
                </a:lnTo>
                <a:lnTo>
                  <a:pt x="1140869" y="444499"/>
                </a:lnTo>
                <a:lnTo>
                  <a:pt x="1140869" y="88899"/>
                </a:lnTo>
                <a:lnTo>
                  <a:pt x="1138309" y="76199"/>
                </a:lnTo>
                <a:close/>
              </a:path>
              <a:path w="1141095" h="531495">
                <a:moveTo>
                  <a:pt x="1051969" y="0"/>
                </a:moveTo>
                <a:lnTo>
                  <a:pt x="86769" y="0"/>
                </a:lnTo>
                <a:lnTo>
                  <a:pt x="52144" y="6979"/>
                </a:lnTo>
                <a:lnTo>
                  <a:pt x="23888" y="26019"/>
                </a:lnTo>
                <a:lnTo>
                  <a:pt x="4848" y="54274"/>
                </a:lnTo>
                <a:lnTo>
                  <a:pt x="0" y="78330"/>
                </a:lnTo>
                <a:lnTo>
                  <a:pt x="10569" y="76199"/>
                </a:lnTo>
                <a:lnTo>
                  <a:pt x="1138309" y="76199"/>
                </a:lnTo>
                <a:lnTo>
                  <a:pt x="1133890" y="54274"/>
                </a:lnTo>
                <a:lnTo>
                  <a:pt x="1114850" y="26019"/>
                </a:lnTo>
                <a:lnTo>
                  <a:pt x="1086594" y="6979"/>
                </a:lnTo>
                <a:lnTo>
                  <a:pt x="1051969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46460" y="4919217"/>
            <a:ext cx="1152525" cy="542925"/>
          </a:xfrm>
          <a:custGeom>
            <a:avLst/>
            <a:gdLst/>
            <a:ahLst/>
            <a:cxnLst/>
            <a:rect l="l" t="t" r="r" b="b"/>
            <a:pathLst>
              <a:path w="1152525" h="542925">
                <a:moveTo>
                  <a:pt x="1099266" y="9524"/>
                </a:moveTo>
                <a:lnTo>
                  <a:pt x="1058304" y="9524"/>
                </a:lnTo>
                <a:lnTo>
                  <a:pt x="1067067" y="10032"/>
                </a:lnTo>
                <a:lnTo>
                  <a:pt x="1075449" y="11302"/>
                </a:lnTo>
                <a:lnTo>
                  <a:pt x="1112025" y="28828"/>
                </a:lnTo>
                <a:lnTo>
                  <a:pt x="1136028" y="60959"/>
                </a:lnTo>
                <a:lnTo>
                  <a:pt x="1142500" y="93725"/>
                </a:lnTo>
                <a:lnTo>
                  <a:pt x="1142494" y="449452"/>
                </a:lnTo>
                <a:lnTo>
                  <a:pt x="1132472" y="489457"/>
                </a:lnTo>
                <a:lnTo>
                  <a:pt x="1105548" y="519175"/>
                </a:lnTo>
                <a:lnTo>
                  <a:pt x="1069701" y="532619"/>
                </a:lnTo>
                <a:lnTo>
                  <a:pt x="1067698" y="542559"/>
                </a:lnTo>
                <a:lnTo>
                  <a:pt x="1110882" y="527049"/>
                </a:lnTo>
                <a:lnTo>
                  <a:pt x="1140854" y="494029"/>
                </a:lnTo>
                <a:lnTo>
                  <a:pt x="1152030" y="449452"/>
                </a:lnTo>
                <a:lnTo>
                  <a:pt x="1152030" y="93725"/>
                </a:lnTo>
                <a:lnTo>
                  <a:pt x="1140854" y="49148"/>
                </a:lnTo>
                <a:lnTo>
                  <a:pt x="1110882" y="16001"/>
                </a:lnTo>
                <a:lnTo>
                  <a:pt x="1103135" y="11429"/>
                </a:lnTo>
                <a:lnTo>
                  <a:pt x="1099266" y="9524"/>
                </a:lnTo>
                <a:close/>
              </a:path>
              <a:path w="1152525" h="542925">
                <a:moveTo>
                  <a:pt x="1058558" y="0"/>
                </a:moveTo>
                <a:lnTo>
                  <a:pt x="93231" y="0"/>
                </a:lnTo>
                <a:lnTo>
                  <a:pt x="83706" y="507"/>
                </a:lnTo>
                <a:lnTo>
                  <a:pt x="40907" y="16001"/>
                </a:lnTo>
                <a:lnTo>
                  <a:pt x="10935" y="49148"/>
                </a:lnTo>
                <a:lnTo>
                  <a:pt x="0" y="84458"/>
                </a:lnTo>
                <a:lnTo>
                  <a:pt x="9944" y="82454"/>
                </a:lnTo>
                <a:lnTo>
                  <a:pt x="10808" y="76834"/>
                </a:lnTo>
                <a:lnTo>
                  <a:pt x="12840" y="68706"/>
                </a:lnTo>
                <a:lnTo>
                  <a:pt x="33795" y="34289"/>
                </a:lnTo>
                <a:lnTo>
                  <a:pt x="68212" y="13334"/>
                </a:lnTo>
                <a:lnTo>
                  <a:pt x="93358" y="9524"/>
                </a:lnTo>
                <a:lnTo>
                  <a:pt x="1099266" y="9524"/>
                </a:lnTo>
                <a:lnTo>
                  <a:pt x="1094880" y="7365"/>
                </a:lnTo>
                <a:lnTo>
                  <a:pt x="1086371" y="4317"/>
                </a:lnTo>
                <a:lnTo>
                  <a:pt x="1077354" y="1904"/>
                </a:lnTo>
                <a:lnTo>
                  <a:pt x="1068083" y="507"/>
                </a:lnTo>
                <a:lnTo>
                  <a:pt x="105855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74591" y="5000244"/>
            <a:ext cx="1143000" cy="53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74591" y="5000244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899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899"/>
                </a:lnTo>
                <a:lnTo>
                  <a:pt x="1143000" y="444499"/>
                </a:lnTo>
                <a:lnTo>
                  <a:pt x="1136020" y="479125"/>
                </a:lnTo>
                <a:lnTo>
                  <a:pt x="1116980" y="507380"/>
                </a:lnTo>
                <a:lnTo>
                  <a:pt x="1088725" y="526420"/>
                </a:lnTo>
                <a:lnTo>
                  <a:pt x="1054100" y="533399"/>
                </a:lnTo>
                <a:lnTo>
                  <a:pt x="88900" y="533399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499"/>
                </a:lnTo>
                <a:lnTo>
                  <a:pt x="0" y="88899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052923" y="5887211"/>
            <a:ext cx="1141095" cy="531495"/>
          </a:xfrm>
          <a:custGeom>
            <a:avLst/>
            <a:gdLst/>
            <a:ahLst/>
            <a:cxnLst/>
            <a:rect l="l" t="t" r="r" b="b"/>
            <a:pathLst>
              <a:path w="1141095" h="531495">
                <a:moveTo>
                  <a:pt x="1138307" y="76200"/>
                </a:moveTo>
                <a:lnTo>
                  <a:pt x="975768" y="76200"/>
                </a:lnTo>
                <a:lnTo>
                  <a:pt x="1010394" y="83186"/>
                </a:lnTo>
                <a:lnTo>
                  <a:pt x="1038649" y="102238"/>
                </a:lnTo>
                <a:lnTo>
                  <a:pt x="1057689" y="130496"/>
                </a:lnTo>
                <a:lnTo>
                  <a:pt x="1064668" y="165100"/>
                </a:lnTo>
                <a:lnTo>
                  <a:pt x="1064668" y="520700"/>
                </a:lnTo>
                <a:lnTo>
                  <a:pt x="1062537" y="531267"/>
                </a:lnTo>
                <a:lnTo>
                  <a:pt x="1086594" y="526413"/>
                </a:lnTo>
                <a:lnTo>
                  <a:pt x="1114849" y="507361"/>
                </a:lnTo>
                <a:lnTo>
                  <a:pt x="1133889" y="479103"/>
                </a:lnTo>
                <a:lnTo>
                  <a:pt x="1140868" y="444500"/>
                </a:lnTo>
                <a:lnTo>
                  <a:pt x="1140868" y="88900"/>
                </a:lnTo>
                <a:lnTo>
                  <a:pt x="1138307" y="76200"/>
                </a:lnTo>
                <a:close/>
              </a:path>
              <a:path w="1141095" h="531495">
                <a:moveTo>
                  <a:pt x="1051968" y="0"/>
                </a:moveTo>
                <a:lnTo>
                  <a:pt x="86768" y="0"/>
                </a:lnTo>
                <a:lnTo>
                  <a:pt x="52143" y="6986"/>
                </a:lnTo>
                <a:lnTo>
                  <a:pt x="23887" y="26038"/>
                </a:lnTo>
                <a:lnTo>
                  <a:pt x="4847" y="54296"/>
                </a:lnTo>
                <a:lnTo>
                  <a:pt x="0" y="78332"/>
                </a:lnTo>
                <a:lnTo>
                  <a:pt x="10568" y="76200"/>
                </a:lnTo>
                <a:lnTo>
                  <a:pt x="1138307" y="76200"/>
                </a:lnTo>
                <a:lnTo>
                  <a:pt x="1133889" y="54296"/>
                </a:lnTo>
                <a:lnTo>
                  <a:pt x="1114849" y="26038"/>
                </a:lnTo>
                <a:lnTo>
                  <a:pt x="1086594" y="6986"/>
                </a:lnTo>
                <a:lnTo>
                  <a:pt x="105196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046458" y="5882449"/>
            <a:ext cx="1152525" cy="542925"/>
          </a:xfrm>
          <a:custGeom>
            <a:avLst/>
            <a:gdLst/>
            <a:ahLst/>
            <a:cxnLst/>
            <a:rect l="l" t="t" r="r" b="b"/>
            <a:pathLst>
              <a:path w="1152525" h="542925">
                <a:moveTo>
                  <a:pt x="1099416" y="9525"/>
                </a:moveTo>
                <a:lnTo>
                  <a:pt x="1058307" y="9525"/>
                </a:lnTo>
                <a:lnTo>
                  <a:pt x="1067070" y="9982"/>
                </a:lnTo>
                <a:lnTo>
                  <a:pt x="1075452" y="11239"/>
                </a:lnTo>
                <a:lnTo>
                  <a:pt x="1112028" y="28714"/>
                </a:lnTo>
                <a:lnTo>
                  <a:pt x="1136040" y="60921"/>
                </a:lnTo>
                <a:lnTo>
                  <a:pt x="1142497" y="449414"/>
                </a:lnTo>
                <a:lnTo>
                  <a:pt x="1142127" y="457949"/>
                </a:lnTo>
                <a:lnTo>
                  <a:pt x="1128284" y="496341"/>
                </a:lnTo>
                <a:lnTo>
                  <a:pt x="1098566" y="523303"/>
                </a:lnTo>
                <a:lnTo>
                  <a:pt x="1069705" y="532547"/>
                </a:lnTo>
                <a:lnTo>
                  <a:pt x="1067708" y="542449"/>
                </a:lnTo>
                <a:lnTo>
                  <a:pt x="1110885" y="526961"/>
                </a:lnTo>
                <a:lnTo>
                  <a:pt x="1140857" y="493953"/>
                </a:lnTo>
                <a:lnTo>
                  <a:pt x="1152033" y="449414"/>
                </a:lnTo>
                <a:lnTo>
                  <a:pt x="1152033" y="93599"/>
                </a:lnTo>
                <a:lnTo>
                  <a:pt x="1140857" y="49060"/>
                </a:lnTo>
                <a:lnTo>
                  <a:pt x="1110885" y="15951"/>
                </a:lnTo>
                <a:lnTo>
                  <a:pt x="1103138" y="11328"/>
                </a:lnTo>
                <a:lnTo>
                  <a:pt x="1099416" y="9525"/>
                </a:lnTo>
                <a:close/>
              </a:path>
              <a:path w="1152525" h="542925">
                <a:moveTo>
                  <a:pt x="1058561" y="0"/>
                </a:moveTo>
                <a:lnTo>
                  <a:pt x="93234" y="0"/>
                </a:lnTo>
                <a:lnTo>
                  <a:pt x="83709" y="495"/>
                </a:lnTo>
                <a:lnTo>
                  <a:pt x="40910" y="15951"/>
                </a:lnTo>
                <a:lnTo>
                  <a:pt x="10938" y="49060"/>
                </a:lnTo>
                <a:lnTo>
                  <a:pt x="0" y="84399"/>
                </a:lnTo>
                <a:lnTo>
                  <a:pt x="9950" y="82391"/>
                </a:lnTo>
                <a:lnTo>
                  <a:pt x="10811" y="76771"/>
                </a:lnTo>
                <a:lnTo>
                  <a:pt x="12843" y="68643"/>
                </a:lnTo>
                <a:lnTo>
                  <a:pt x="33798" y="34226"/>
                </a:lnTo>
                <a:lnTo>
                  <a:pt x="68215" y="13322"/>
                </a:lnTo>
                <a:lnTo>
                  <a:pt x="93361" y="9525"/>
                </a:lnTo>
                <a:lnTo>
                  <a:pt x="1099416" y="9525"/>
                </a:lnTo>
                <a:lnTo>
                  <a:pt x="1094883" y="7327"/>
                </a:lnTo>
                <a:lnTo>
                  <a:pt x="1086374" y="4203"/>
                </a:lnTo>
                <a:lnTo>
                  <a:pt x="1077357" y="1904"/>
                </a:lnTo>
                <a:lnTo>
                  <a:pt x="1068086" y="495"/>
                </a:lnTo>
                <a:lnTo>
                  <a:pt x="1058561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74591" y="5963411"/>
            <a:ext cx="1143000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74591" y="5963411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86"/>
                </a:lnTo>
                <a:lnTo>
                  <a:pt x="1116980" y="26038"/>
                </a:lnTo>
                <a:lnTo>
                  <a:pt x="1136020" y="54296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03"/>
                </a:lnTo>
                <a:lnTo>
                  <a:pt x="1116980" y="507361"/>
                </a:lnTo>
                <a:lnTo>
                  <a:pt x="1088725" y="526413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77711" y="2063495"/>
            <a:ext cx="1237615" cy="477520"/>
          </a:xfrm>
          <a:custGeom>
            <a:avLst/>
            <a:gdLst/>
            <a:ahLst/>
            <a:cxnLst/>
            <a:rect l="l" t="t" r="r" b="b"/>
            <a:pathLst>
              <a:path w="1237615" h="477519">
                <a:moveTo>
                  <a:pt x="0" y="477012"/>
                </a:moveTo>
                <a:lnTo>
                  <a:pt x="1237488" y="477012"/>
                </a:lnTo>
                <a:lnTo>
                  <a:pt x="12374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77711" y="2063495"/>
            <a:ext cx="1237615" cy="477520"/>
          </a:xfrm>
          <a:custGeom>
            <a:avLst/>
            <a:gdLst/>
            <a:ahLst/>
            <a:cxnLst/>
            <a:rect l="l" t="t" r="r" b="b"/>
            <a:pathLst>
              <a:path w="1237615" h="477519">
                <a:moveTo>
                  <a:pt x="0" y="477012"/>
                </a:moveTo>
                <a:lnTo>
                  <a:pt x="1237488" y="477012"/>
                </a:lnTo>
                <a:lnTo>
                  <a:pt x="12374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10655" y="2121407"/>
            <a:ext cx="1237615" cy="57150"/>
          </a:xfrm>
          <a:custGeom>
            <a:avLst/>
            <a:gdLst/>
            <a:ahLst/>
            <a:cxnLst/>
            <a:rect l="l" t="t" r="r" b="b"/>
            <a:pathLst>
              <a:path w="1237615" h="57150">
                <a:moveTo>
                  <a:pt x="0" y="57150"/>
                </a:moveTo>
                <a:lnTo>
                  <a:pt x="1237488" y="57150"/>
                </a:lnTo>
                <a:lnTo>
                  <a:pt x="1237488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10655" y="2121407"/>
            <a:ext cx="1237615" cy="475615"/>
          </a:xfrm>
          <a:custGeom>
            <a:avLst/>
            <a:gdLst/>
            <a:ahLst/>
            <a:cxnLst/>
            <a:rect l="l" t="t" r="r" b="b"/>
            <a:pathLst>
              <a:path w="1237615" h="475614">
                <a:moveTo>
                  <a:pt x="0" y="475488"/>
                </a:moveTo>
                <a:lnTo>
                  <a:pt x="1237488" y="475488"/>
                </a:lnTo>
                <a:lnTo>
                  <a:pt x="12374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01461" y="2178557"/>
            <a:ext cx="1647825" cy="553720"/>
          </a:xfrm>
          <a:custGeom>
            <a:avLst/>
            <a:gdLst/>
            <a:ahLst/>
            <a:cxnLst/>
            <a:rect l="l" t="t" r="r" b="b"/>
            <a:pathLst>
              <a:path w="1647825" h="553719">
                <a:moveTo>
                  <a:pt x="0" y="553212"/>
                </a:moveTo>
                <a:lnTo>
                  <a:pt x="1647443" y="553212"/>
                </a:lnTo>
                <a:lnTo>
                  <a:pt x="1647443" y="0"/>
                </a:lnTo>
                <a:lnTo>
                  <a:pt x="0" y="0"/>
                </a:lnTo>
                <a:lnTo>
                  <a:pt x="0" y="553212"/>
                </a:lnTo>
                <a:close/>
              </a:path>
            </a:pathLst>
          </a:custGeom>
          <a:solidFill>
            <a:srgbClr val="CAD5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601461" y="2178557"/>
            <a:ext cx="1647825" cy="55372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14020" marR="27940" indent="-382905">
              <a:lnSpc>
                <a:spcPct val="100000"/>
              </a:lnSpc>
              <a:spcBef>
                <a:spcPts val="450"/>
              </a:spcBef>
            </a:pPr>
            <a:r>
              <a:rPr sz="14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pplic</a:t>
            </a:r>
            <a:r>
              <a:rPr sz="14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t</a:t>
            </a:r>
            <a:r>
              <a:rPr sz="14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i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o</a:t>
            </a:r>
            <a:r>
              <a:rPr sz="1400" b="1" spc="-15" dirty="0">
                <a:solidFill>
                  <a:srgbClr val="006600"/>
                </a:solidFill>
                <a:latin typeface="Times New Roman"/>
                <a:cs typeface="Times New Roman"/>
              </a:rPr>
              <a:t>n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/</a:t>
            </a:r>
            <a:r>
              <a:rPr sz="1400" b="1" spc="-20" dirty="0">
                <a:solidFill>
                  <a:srgbClr val="006600"/>
                </a:solidFill>
                <a:latin typeface="Times New Roman"/>
                <a:cs typeface="Times New Roman"/>
              </a:rPr>
              <a:t>m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ac</a:t>
            </a:r>
            <a:r>
              <a:rPr sz="1400" b="1" spc="-15" dirty="0">
                <a:solidFill>
                  <a:srgbClr val="006600"/>
                </a:solidFill>
                <a:latin typeface="Times New Roman"/>
                <a:cs typeface="Times New Roman"/>
              </a:rPr>
              <a:t>h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i</a:t>
            </a:r>
            <a:r>
              <a:rPr sz="1400" b="1" spc="-15" dirty="0">
                <a:solidFill>
                  <a:srgbClr val="006600"/>
                </a:solidFill>
                <a:latin typeface="Times New Roman"/>
                <a:cs typeface="Times New Roman"/>
              </a:rPr>
              <a:t>n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e  config.files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171700" y="2110739"/>
            <a:ext cx="1019810" cy="477520"/>
          </a:xfrm>
          <a:custGeom>
            <a:avLst/>
            <a:gdLst/>
            <a:ahLst/>
            <a:cxnLst/>
            <a:rect l="l" t="t" r="r" b="b"/>
            <a:pathLst>
              <a:path w="1019810" h="477519">
                <a:moveTo>
                  <a:pt x="0" y="477012"/>
                </a:moveTo>
                <a:lnTo>
                  <a:pt x="1019556" y="477012"/>
                </a:lnTo>
                <a:lnTo>
                  <a:pt x="1019556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71700" y="2110739"/>
            <a:ext cx="1019810" cy="477520"/>
          </a:xfrm>
          <a:custGeom>
            <a:avLst/>
            <a:gdLst/>
            <a:ahLst/>
            <a:cxnLst/>
            <a:rect l="l" t="t" r="r" b="b"/>
            <a:pathLst>
              <a:path w="1019810" h="477519">
                <a:moveTo>
                  <a:pt x="0" y="477012"/>
                </a:moveTo>
                <a:lnTo>
                  <a:pt x="1019556" y="477012"/>
                </a:lnTo>
                <a:lnTo>
                  <a:pt x="1019556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04644" y="2168651"/>
            <a:ext cx="1019810" cy="475615"/>
          </a:xfrm>
          <a:custGeom>
            <a:avLst/>
            <a:gdLst/>
            <a:ahLst/>
            <a:cxnLst/>
            <a:rect l="l" t="t" r="r" b="b"/>
            <a:pathLst>
              <a:path w="1019810" h="475614">
                <a:moveTo>
                  <a:pt x="0" y="475488"/>
                </a:moveTo>
                <a:lnTo>
                  <a:pt x="1019556" y="475488"/>
                </a:lnTo>
                <a:lnTo>
                  <a:pt x="1019556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104644" y="2168651"/>
            <a:ext cx="1019810" cy="475615"/>
          </a:xfrm>
          <a:custGeom>
            <a:avLst/>
            <a:gdLst/>
            <a:ahLst/>
            <a:cxnLst/>
            <a:rect l="l" t="t" r="r" b="b"/>
            <a:pathLst>
              <a:path w="1019810" h="475614">
                <a:moveTo>
                  <a:pt x="0" y="475488"/>
                </a:moveTo>
                <a:lnTo>
                  <a:pt x="1019556" y="475488"/>
                </a:lnTo>
                <a:lnTo>
                  <a:pt x="1019556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53361" y="2225801"/>
            <a:ext cx="1304925" cy="533400"/>
          </a:xfrm>
          <a:custGeom>
            <a:avLst/>
            <a:gdLst/>
            <a:ahLst/>
            <a:cxnLst/>
            <a:rect l="l" t="t" r="r" b="b"/>
            <a:pathLst>
              <a:path w="1304925" h="533400">
                <a:moveTo>
                  <a:pt x="0" y="533400"/>
                </a:moveTo>
                <a:lnTo>
                  <a:pt x="1304544" y="533400"/>
                </a:lnTo>
                <a:lnTo>
                  <a:pt x="1304544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CAD5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753361" y="2225801"/>
            <a:ext cx="1304925" cy="53340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220"/>
              </a:spcBef>
            </a:pP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Library IR</a:t>
            </a:r>
            <a:r>
              <a:rPr sz="1400" b="1" spc="-6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file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458461" y="997458"/>
            <a:ext cx="76200" cy="287020"/>
          </a:xfrm>
          <a:custGeom>
            <a:avLst/>
            <a:gdLst/>
            <a:ahLst/>
            <a:cxnLst/>
            <a:rect l="l" t="t" r="r" b="b"/>
            <a:pathLst>
              <a:path w="76200" h="287019">
                <a:moveTo>
                  <a:pt x="0" y="210312"/>
                </a:moveTo>
                <a:lnTo>
                  <a:pt x="38100" y="286512"/>
                </a:lnTo>
                <a:lnTo>
                  <a:pt x="63500" y="235712"/>
                </a:lnTo>
                <a:lnTo>
                  <a:pt x="28575" y="235712"/>
                </a:lnTo>
                <a:lnTo>
                  <a:pt x="28575" y="229362"/>
                </a:lnTo>
                <a:lnTo>
                  <a:pt x="0" y="210312"/>
                </a:lnTo>
                <a:close/>
              </a:path>
              <a:path w="76200" h="287019">
                <a:moveTo>
                  <a:pt x="28575" y="229362"/>
                </a:moveTo>
                <a:lnTo>
                  <a:pt x="28575" y="235712"/>
                </a:lnTo>
                <a:lnTo>
                  <a:pt x="38100" y="235712"/>
                </a:lnTo>
                <a:lnTo>
                  <a:pt x="28575" y="229362"/>
                </a:lnTo>
                <a:close/>
              </a:path>
              <a:path w="76200" h="287019">
                <a:moveTo>
                  <a:pt x="47625" y="0"/>
                </a:moveTo>
                <a:lnTo>
                  <a:pt x="28575" y="0"/>
                </a:lnTo>
                <a:lnTo>
                  <a:pt x="28575" y="229362"/>
                </a:lnTo>
                <a:lnTo>
                  <a:pt x="38100" y="235712"/>
                </a:lnTo>
                <a:lnTo>
                  <a:pt x="47625" y="229362"/>
                </a:lnTo>
                <a:lnTo>
                  <a:pt x="47625" y="0"/>
                </a:lnTo>
                <a:close/>
              </a:path>
              <a:path w="76200" h="287019">
                <a:moveTo>
                  <a:pt x="47625" y="229362"/>
                </a:moveTo>
                <a:lnTo>
                  <a:pt x="38100" y="235712"/>
                </a:lnTo>
                <a:lnTo>
                  <a:pt x="47625" y="235712"/>
                </a:lnTo>
                <a:lnTo>
                  <a:pt x="47625" y="229362"/>
                </a:lnTo>
                <a:close/>
              </a:path>
              <a:path w="76200" h="287019">
                <a:moveTo>
                  <a:pt x="76200" y="210312"/>
                </a:moveTo>
                <a:lnTo>
                  <a:pt x="47625" y="229362"/>
                </a:lnTo>
                <a:lnTo>
                  <a:pt x="47625" y="235712"/>
                </a:lnTo>
                <a:lnTo>
                  <a:pt x="63500" y="235712"/>
                </a:lnTo>
                <a:lnTo>
                  <a:pt x="7620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57700" y="3707891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228599"/>
                </a:moveTo>
                <a:lnTo>
                  <a:pt x="38100" y="304799"/>
                </a:lnTo>
                <a:lnTo>
                  <a:pt x="63500" y="253999"/>
                </a:lnTo>
                <a:lnTo>
                  <a:pt x="30099" y="253999"/>
                </a:lnTo>
                <a:lnTo>
                  <a:pt x="30099" y="248665"/>
                </a:lnTo>
                <a:lnTo>
                  <a:pt x="0" y="228599"/>
                </a:lnTo>
                <a:close/>
              </a:path>
              <a:path w="76200" h="304800">
                <a:moveTo>
                  <a:pt x="30099" y="248665"/>
                </a:moveTo>
                <a:lnTo>
                  <a:pt x="30099" y="253999"/>
                </a:lnTo>
                <a:lnTo>
                  <a:pt x="38100" y="253999"/>
                </a:lnTo>
                <a:lnTo>
                  <a:pt x="30099" y="248665"/>
                </a:lnTo>
                <a:close/>
              </a:path>
              <a:path w="76200" h="304800">
                <a:moveTo>
                  <a:pt x="45974" y="0"/>
                </a:moveTo>
                <a:lnTo>
                  <a:pt x="30099" y="0"/>
                </a:lnTo>
                <a:lnTo>
                  <a:pt x="30225" y="248750"/>
                </a:lnTo>
                <a:lnTo>
                  <a:pt x="38100" y="253999"/>
                </a:lnTo>
                <a:lnTo>
                  <a:pt x="45974" y="248750"/>
                </a:lnTo>
                <a:lnTo>
                  <a:pt x="45974" y="0"/>
                </a:lnTo>
                <a:close/>
              </a:path>
              <a:path w="76200" h="304800">
                <a:moveTo>
                  <a:pt x="45974" y="248750"/>
                </a:moveTo>
                <a:lnTo>
                  <a:pt x="38100" y="253999"/>
                </a:lnTo>
                <a:lnTo>
                  <a:pt x="45974" y="253999"/>
                </a:lnTo>
                <a:lnTo>
                  <a:pt x="45974" y="248750"/>
                </a:lnTo>
                <a:close/>
              </a:path>
              <a:path w="76200" h="304800">
                <a:moveTo>
                  <a:pt x="76200" y="228599"/>
                </a:moveTo>
                <a:lnTo>
                  <a:pt x="46100" y="248665"/>
                </a:lnTo>
                <a:lnTo>
                  <a:pt x="45974" y="253999"/>
                </a:lnTo>
                <a:lnTo>
                  <a:pt x="63500" y="253999"/>
                </a:lnTo>
                <a:lnTo>
                  <a:pt x="76200" y="228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230111" y="3892296"/>
            <a:ext cx="1018540" cy="477520"/>
          </a:xfrm>
          <a:custGeom>
            <a:avLst/>
            <a:gdLst/>
            <a:ahLst/>
            <a:cxnLst/>
            <a:rect l="l" t="t" r="r" b="b"/>
            <a:pathLst>
              <a:path w="1018540" h="477520">
                <a:moveTo>
                  <a:pt x="0" y="477011"/>
                </a:moveTo>
                <a:lnTo>
                  <a:pt x="1018032" y="477011"/>
                </a:lnTo>
                <a:lnTo>
                  <a:pt x="1018032" y="0"/>
                </a:lnTo>
                <a:lnTo>
                  <a:pt x="0" y="0"/>
                </a:lnTo>
                <a:lnTo>
                  <a:pt x="0" y="477011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230111" y="3892296"/>
            <a:ext cx="1018540" cy="477520"/>
          </a:xfrm>
          <a:custGeom>
            <a:avLst/>
            <a:gdLst/>
            <a:ahLst/>
            <a:cxnLst/>
            <a:rect l="l" t="t" r="r" b="b"/>
            <a:pathLst>
              <a:path w="1018540" h="477520">
                <a:moveTo>
                  <a:pt x="0" y="477011"/>
                </a:moveTo>
                <a:lnTo>
                  <a:pt x="1018032" y="477011"/>
                </a:lnTo>
                <a:lnTo>
                  <a:pt x="1018032" y="0"/>
                </a:lnTo>
                <a:lnTo>
                  <a:pt x="0" y="0"/>
                </a:lnTo>
                <a:lnTo>
                  <a:pt x="0" y="47701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163055" y="3950208"/>
            <a:ext cx="1019810" cy="475615"/>
          </a:xfrm>
          <a:custGeom>
            <a:avLst/>
            <a:gdLst/>
            <a:ahLst/>
            <a:cxnLst/>
            <a:rect l="l" t="t" r="r" b="b"/>
            <a:pathLst>
              <a:path w="1019809" h="475614">
                <a:moveTo>
                  <a:pt x="0" y="475488"/>
                </a:moveTo>
                <a:lnTo>
                  <a:pt x="1019555" y="475488"/>
                </a:lnTo>
                <a:lnTo>
                  <a:pt x="1019555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163055" y="3950208"/>
            <a:ext cx="1019810" cy="475615"/>
          </a:xfrm>
          <a:custGeom>
            <a:avLst/>
            <a:gdLst/>
            <a:ahLst/>
            <a:cxnLst/>
            <a:rect l="l" t="t" r="r" b="b"/>
            <a:pathLst>
              <a:path w="1019809" h="475614">
                <a:moveTo>
                  <a:pt x="0" y="475488"/>
                </a:moveTo>
                <a:lnTo>
                  <a:pt x="1019555" y="475488"/>
                </a:lnTo>
                <a:lnTo>
                  <a:pt x="1019555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191511" y="3968496"/>
            <a:ext cx="1143000" cy="477520"/>
          </a:xfrm>
          <a:custGeom>
            <a:avLst/>
            <a:gdLst/>
            <a:ahLst/>
            <a:cxnLst/>
            <a:rect l="l" t="t" r="r" b="b"/>
            <a:pathLst>
              <a:path w="1143000" h="477520">
                <a:moveTo>
                  <a:pt x="0" y="477011"/>
                </a:moveTo>
                <a:lnTo>
                  <a:pt x="1143000" y="477011"/>
                </a:lnTo>
                <a:lnTo>
                  <a:pt x="1143000" y="0"/>
                </a:lnTo>
                <a:lnTo>
                  <a:pt x="0" y="0"/>
                </a:lnTo>
                <a:lnTo>
                  <a:pt x="0" y="477011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191511" y="3968496"/>
            <a:ext cx="1143000" cy="477520"/>
          </a:xfrm>
          <a:custGeom>
            <a:avLst/>
            <a:gdLst/>
            <a:ahLst/>
            <a:cxnLst/>
            <a:rect l="l" t="t" r="r" b="b"/>
            <a:pathLst>
              <a:path w="1143000" h="477520">
                <a:moveTo>
                  <a:pt x="0" y="477011"/>
                </a:moveTo>
                <a:lnTo>
                  <a:pt x="1143000" y="477011"/>
                </a:lnTo>
                <a:lnTo>
                  <a:pt x="1143000" y="0"/>
                </a:lnTo>
                <a:lnTo>
                  <a:pt x="0" y="0"/>
                </a:lnTo>
                <a:lnTo>
                  <a:pt x="0" y="47701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124455" y="4026408"/>
            <a:ext cx="1143000" cy="475615"/>
          </a:xfrm>
          <a:custGeom>
            <a:avLst/>
            <a:gdLst/>
            <a:ahLst/>
            <a:cxnLst/>
            <a:rect l="l" t="t" r="r" b="b"/>
            <a:pathLst>
              <a:path w="1143000" h="475614">
                <a:moveTo>
                  <a:pt x="0" y="475488"/>
                </a:moveTo>
                <a:lnTo>
                  <a:pt x="1142999" y="475488"/>
                </a:lnTo>
                <a:lnTo>
                  <a:pt x="1142999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24455" y="4026408"/>
            <a:ext cx="1143000" cy="475615"/>
          </a:xfrm>
          <a:custGeom>
            <a:avLst/>
            <a:gdLst/>
            <a:ahLst/>
            <a:cxnLst/>
            <a:rect l="l" t="t" r="r" b="b"/>
            <a:pathLst>
              <a:path w="1143000" h="475614">
                <a:moveTo>
                  <a:pt x="0" y="475488"/>
                </a:moveTo>
                <a:lnTo>
                  <a:pt x="1142999" y="475488"/>
                </a:lnTo>
                <a:lnTo>
                  <a:pt x="1142999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058161" y="4083558"/>
            <a:ext cx="1143000" cy="477520"/>
          </a:xfrm>
          <a:custGeom>
            <a:avLst/>
            <a:gdLst/>
            <a:ahLst/>
            <a:cxnLst/>
            <a:rect l="l" t="t" r="r" b="b"/>
            <a:pathLst>
              <a:path w="1143000" h="477520">
                <a:moveTo>
                  <a:pt x="0" y="477012"/>
                </a:moveTo>
                <a:lnTo>
                  <a:pt x="1143000" y="477012"/>
                </a:lnTo>
                <a:lnTo>
                  <a:pt x="1143000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solidFill>
            <a:srgbClr val="CAD5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058161" y="4083558"/>
            <a:ext cx="1143000" cy="477520"/>
          </a:xfrm>
          <a:custGeom>
            <a:avLst/>
            <a:gdLst/>
            <a:ahLst/>
            <a:cxnLst/>
            <a:rect l="l" t="t" r="r" b="b"/>
            <a:pathLst>
              <a:path w="1143000" h="477520">
                <a:moveTo>
                  <a:pt x="0" y="477012"/>
                </a:moveTo>
                <a:lnTo>
                  <a:pt x="1143000" y="477012"/>
                </a:lnTo>
                <a:lnTo>
                  <a:pt x="1143000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2312289" y="4089908"/>
            <a:ext cx="631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Library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10536" y="4302963"/>
            <a:ext cx="12376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Object</a:t>
            </a:r>
            <a:r>
              <a:rPr sz="1400" b="1" spc="-8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Modules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667000" y="5207508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44600" y="38100"/>
                </a:moveTo>
                <a:lnTo>
                  <a:pt x="1219200" y="76200"/>
                </a:lnTo>
                <a:lnTo>
                  <a:pt x="1279652" y="45974"/>
                </a:lnTo>
                <a:lnTo>
                  <a:pt x="1244600" y="45974"/>
                </a:lnTo>
                <a:lnTo>
                  <a:pt x="1244600" y="38100"/>
                </a:lnTo>
                <a:close/>
              </a:path>
              <a:path w="1295400" h="76200">
                <a:moveTo>
                  <a:pt x="1239265" y="30099"/>
                </a:moveTo>
                <a:lnTo>
                  <a:pt x="0" y="30099"/>
                </a:lnTo>
                <a:lnTo>
                  <a:pt x="0" y="45974"/>
                </a:lnTo>
                <a:lnTo>
                  <a:pt x="1239350" y="45974"/>
                </a:lnTo>
                <a:lnTo>
                  <a:pt x="1244600" y="38100"/>
                </a:lnTo>
                <a:lnTo>
                  <a:pt x="1239265" y="30099"/>
                </a:lnTo>
                <a:close/>
              </a:path>
              <a:path w="1295400" h="76200">
                <a:moveTo>
                  <a:pt x="1279398" y="30099"/>
                </a:moveTo>
                <a:lnTo>
                  <a:pt x="1244600" y="30099"/>
                </a:lnTo>
                <a:lnTo>
                  <a:pt x="1244600" y="45974"/>
                </a:lnTo>
                <a:lnTo>
                  <a:pt x="1279652" y="45974"/>
                </a:lnTo>
                <a:lnTo>
                  <a:pt x="1295400" y="38100"/>
                </a:lnTo>
                <a:lnTo>
                  <a:pt x="1279398" y="30099"/>
                </a:lnTo>
                <a:close/>
              </a:path>
              <a:path w="1295400" h="76200">
                <a:moveTo>
                  <a:pt x="1219200" y="0"/>
                </a:moveTo>
                <a:lnTo>
                  <a:pt x="1244600" y="38100"/>
                </a:lnTo>
                <a:lnTo>
                  <a:pt x="1244600" y="30099"/>
                </a:lnTo>
                <a:lnTo>
                  <a:pt x="1279398" y="30099"/>
                </a:lnTo>
                <a:lnTo>
                  <a:pt x="1219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667000" y="4559808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685800"/>
                </a:moveTo>
                <a:lnTo>
                  <a:pt x="0" y="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486655" y="4565903"/>
            <a:ext cx="76200" cy="451484"/>
          </a:xfrm>
          <a:custGeom>
            <a:avLst/>
            <a:gdLst/>
            <a:ahLst/>
            <a:cxnLst/>
            <a:rect l="l" t="t" r="r" b="b"/>
            <a:pathLst>
              <a:path w="76200" h="451485">
                <a:moveTo>
                  <a:pt x="0" y="374904"/>
                </a:moveTo>
                <a:lnTo>
                  <a:pt x="38100" y="451104"/>
                </a:lnTo>
                <a:lnTo>
                  <a:pt x="63500" y="400304"/>
                </a:lnTo>
                <a:lnTo>
                  <a:pt x="31750" y="400304"/>
                </a:lnTo>
                <a:lnTo>
                  <a:pt x="31750" y="396070"/>
                </a:lnTo>
                <a:lnTo>
                  <a:pt x="0" y="374904"/>
                </a:lnTo>
                <a:close/>
              </a:path>
              <a:path w="76200" h="451485">
                <a:moveTo>
                  <a:pt x="31750" y="396070"/>
                </a:moveTo>
                <a:lnTo>
                  <a:pt x="31750" y="400304"/>
                </a:lnTo>
                <a:lnTo>
                  <a:pt x="38100" y="400304"/>
                </a:lnTo>
                <a:lnTo>
                  <a:pt x="31750" y="396070"/>
                </a:lnTo>
                <a:close/>
              </a:path>
              <a:path w="76200" h="451485">
                <a:moveTo>
                  <a:pt x="44450" y="0"/>
                </a:moveTo>
                <a:lnTo>
                  <a:pt x="31750" y="0"/>
                </a:lnTo>
                <a:lnTo>
                  <a:pt x="31750" y="396070"/>
                </a:lnTo>
                <a:lnTo>
                  <a:pt x="38100" y="400304"/>
                </a:lnTo>
                <a:lnTo>
                  <a:pt x="44450" y="396070"/>
                </a:lnTo>
                <a:lnTo>
                  <a:pt x="44450" y="0"/>
                </a:lnTo>
                <a:close/>
              </a:path>
              <a:path w="76200" h="451485">
                <a:moveTo>
                  <a:pt x="44450" y="396070"/>
                </a:moveTo>
                <a:lnTo>
                  <a:pt x="38100" y="400304"/>
                </a:lnTo>
                <a:lnTo>
                  <a:pt x="44450" y="400304"/>
                </a:lnTo>
                <a:lnTo>
                  <a:pt x="44450" y="396070"/>
                </a:lnTo>
                <a:close/>
              </a:path>
              <a:path w="76200" h="451485">
                <a:moveTo>
                  <a:pt x="76200" y="374904"/>
                </a:moveTo>
                <a:lnTo>
                  <a:pt x="44450" y="396070"/>
                </a:lnTo>
                <a:lnTo>
                  <a:pt x="44450" y="400304"/>
                </a:lnTo>
                <a:lnTo>
                  <a:pt x="63500" y="400304"/>
                </a:lnTo>
                <a:lnTo>
                  <a:pt x="76200" y="374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507991" y="5533644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0999"/>
                </a:moveTo>
                <a:lnTo>
                  <a:pt x="38100" y="457199"/>
                </a:lnTo>
                <a:lnTo>
                  <a:pt x="63500" y="406399"/>
                </a:lnTo>
                <a:lnTo>
                  <a:pt x="31750" y="406399"/>
                </a:lnTo>
                <a:lnTo>
                  <a:pt x="31750" y="402166"/>
                </a:lnTo>
                <a:lnTo>
                  <a:pt x="0" y="380999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399"/>
                </a:lnTo>
                <a:lnTo>
                  <a:pt x="38100" y="406399"/>
                </a:lnTo>
                <a:lnTo>
                  <a:pt x="31750" y="402166"/>
                </a:lnTo>
                <a:close/>
              </a:path>
              <a:path w="76200" h="457200">
                <a:moveTo>
                  <a:pt x="44450" y="0"/>
                </a:moveTo>
                <a:lnTo>
                  <a:pt x="31750" y="0"/>
                </a:lnTo>
                <a:lnTo>
                  <a:pt x="31750" y="402166"/>
                </a:lnTo>
                <a:lnTo>
                  <a:pt x="38100" y="406399"/>
                </a:lnTo>
                <a:lnTo>
                  <a:pt x="44450" y="402166"/>
                </a:lnTo>
                <a:lnTo>
                  <a:pt x="44450" y="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399"/>
                </a:lnTo>
                <a:lnTo>
                  <a:pt x="44450" y="406399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0999"/>
                </a:moveTo>
                <a:lnTo>
                  <a:pt x="44450" y="402166"/>
                </a:lnTo>
                <a:lnTo>
                  <a:pt x="44450" y="406399"/>
                </a:lnTo>
                <a:lnTo>
                  <a:pt x="63500" y="406399"/>
                </a:lnTo>
                <a:lnTo>
                  <a:pt x="76200" y="38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587751" y="3419855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68400" y="38100"/>
                </a:moveTo>
                <a:lnTo>
                  <a:pt x="1143000" y="76200"/>
                </a:lnTo>
                <a:lnTo>
                  <a:pt x="1203452" y="45974"/>
                </a:lnTo>
                <a:lnTo>
                  <a:pt x="1168400" y="45974"/>
                </a:lnTo>
                <a:lnTo>
                  <a:pt x="1168400" y="38100"/>
                </a:lnTo>
                <a:close/>
              </a:path>
              <a:path w="1219200" h="76200">
                <a:moveTo>
                  <a:pt x="1163065" y="30099"/>
                </a:moveTo>
                <a:lnTo>
                  <a:pt x="0" y="30099"/>
                </a:lnTo>
                <a:lnTo>
                  <a:pt x="0" y="45974"/>
                </a:lnTo>
                <a:lnTo>
                  <a:pt x="1163150" y="45974"/>
                </a:lnTo>
                <a:lnTo>
                  <a:pt x="1168400" y="38100"/>
                </a:lnTo>
                <a:lnTo>
                  <a:pt x="1163065" y="30099"/>
                </a:lnTo>
                <a:close/>
              </a:path>
              <a:path w="1219200" h="76200">
                <a:moveTo>
                  <a:pt x="1203198" y="30099"/>
                </a:moveTo>
                <a:lnTo>
                  <a:pt x="1168400" y="30099"/>
                </a:lnTo>
                <a:lnTo>
                  <a:pt x="1168400" y="45974"/>
                </a:lnTo>
                <a:lnTo>
                  <a:pt x="1203452" y="45974"/>
                </a:lnTo>
                <a:lnTo>
                  <a:pt x="1219200" y="38100"/>
                </a:lnTo>
                <a:lnTo>
                  <a:pt x="1203198" y="30099"/>
                </a:lnTo>
                <a:close/>
              </a:path>
              <a:path w="1219200" h="76200">
                <a:moveTo>
                  <a:pt x="1143000" y="0"/>
                </a:moveTo>
                <a:lnTo>
                  <a:pt x="1168400" y="38100"/>
                </a:lnTo>
                <a:lnTo>
                  <a:pt x="1168400" y="30099"/>
                </a:lnTo>
                <a:lnTo>
                  <a:pt x="1203198" y="30099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219700" y="3416808"/>
            <a:ext cx="1257300" cy="76200"/>
          </a:xfrm>
          <a:custGeom>
            <a:avLst/>
            <a:gdLst/>
            <a:ahLst/>
            <a:cxnLst/>
            <a:rect l="l" t="t" r="r" b="b"/>
            <a:pathLst>
              <a:path w="12573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56049" y="45974"/>
                </a:lnTo>
                <a:lnTo>
                  <a:pt x="50800" y="45974"/>
                </a:lnTo>
                <a:lnTo>
                  <a:pt x="50800" y="30099"/>
                </a:lnTo>
                <a:lnTo>
                  <a:pt x="56134" y="30099"/>
                </a:lnTo>
                <a:lnTo>
                  <a:pt x="76200" y="0"/>
                </a:lnTo>
                <a:close/>
              </a:path>
              <a:path w="1257300" h="76200">
                <a:moveTo>
                  <a:pt x="50800" y="38100"/>
                </a:moveTo>
                <a:lnTo>
                  <a:pt x="50800" y="45974"/>
                </a:lnTo>
                <a:lnTo>
                  <a:pt x="56049" y="45974"/>
                </a:lnTo>
                <a:lnTo>
                  <a:pt x="50800" y="38100"/>
                </a:lnTo>
                <a:close/>
              </a:path>
              <a:path w="1257300" h="76200">
                <a:moveTo>
                  <a:pt x="1257300" y="30099"/>
                </a:moveTo>
                <a:lnTo>
                  <a:pt x="56134" y="30099"/>
                </a:lnTo>
                <a:lnTo>
                  <a:pt x="50800" y="38100"/>
                </a:lnTo>
                <a:lnTo>
                  <a:pt x="56049" y="45974"/>
                </a:lnTo>
                <a:lnTo>
                  <a:pt x="1257300" y="45974"/>
                </a:lnTo>
                <a:lnTo>
                  <a:pt x="1257300" y="30099"/>
                </a:lnTo>
                <a:close/>
              </a:path>
              <a:path w="1257300" h="76200">
                <a:moveTo>
                  <a:pt x="56134" y="30099"/>
                </a:moveTo>
                <a:lnTo>
                  <a:pt x="50800" y="30099"/>
                </a:lnTo>
                <a:lnTo>
                  <a:pt x="50800" y="38100"/>
                </a:lnTo>
                <a:lnTo>
                  <a:pt x="56134" y="30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014822" y="2133600"/>
            <a:ext cx="1141095" cy="531495"/>
          </a:xfrm>
          <a:custGeom>
            <a:avLst/>
            <a:gdLst/>
            <a:ahLst/>
            <a:cxnLst/>
            <a:rect l="l" t="t" r="r" b="b"/>
            <a:pathLst>
              <a:path w="1141095" h="531494">
                <a:moveTo>
                  <a:pt x="1138309" y="76200"/>
                </a:moveTo>
                <a:lnTo>
                  <a:pt x="975769" y="76200"/>
                </a:lnTo>
                <a:lnTo>
                  <a:pt x="1010394" y="83179"/>
                </a:lnTo>
                <a:lnTo>
                  <a:pt x="1038650" y="102219"/>
                </a:lnTo>
                <a:lnTo>
                  <a:pt x="1057690" y="130474"/>
                </a:lnTo>
                <a:lnTo>
                  <a:pt x="1064669" y="165100"/>
                </a:lnTo>
                <a:lnTo>
                  <a:pt x="1064669" y="520700"/>
                </a:lnTo>
                <a:lnTo>
                  <a:pt x="1062539" y="531269"/>
                </a:lnTo>
                <a:lnTo>
                  <a:pt x="1086594" y="526420"/>
                </a:lnTo>
                <a:lnTo>
                  <a:pt x="1114850" y="507380"/>
                </a:lnTo>
                <a:lnTo>
                  <a:pt x="1133890" y="479125"/>
                </a:lnTo>
                <a:lnTo>
                  <a:pt x="1140869" y="444500"/>
                </a:lnTo>
                <a:lnTo>
                  <a:pt x="1140869" y="88900"/>
                </a:lnTo>
                <a:lnTo>
                  <a:pt x="1138309" y="76200"/>
                </a:lnTo>
                <a:close/>
              </a:path>
              <a:path w="1141095" h="531494">
                <a:moveTo>
                  <a:pt x="1051969" y="0"/>
                </a:moveTo>
                <a:lnTo>
                  <a:pt x="86769" y="0"/>
                </a:lnTo>
                <a:lnTo>
                  <a:pt x="52144" y="6979"/>
                </a:lnTo>
                <a:lnTo>
                  <a:pt x="23888" y="26019"/>
                </a:lnTo>
                <a:lnTo>
                  <a:pt x="4848" y="54274"/>
                </a:lnTo>
                <a:lnTo>
                  <a:pt x="0" y="78330"/>
                </a:lnTo>
                <a:lnTo>
                  <a:pt x="10569" y="76200"/>
                </a:lnTo>
                <a:lnTo>
                  <a:pt x="1138309" y="76200"/>
                </a:lnTo>
                <a:lnTo>
                  <a:pt x="1133890" y="54274"/>
                </a:lnTo>
                <a:lnTo>
                  <a:pt x="1114850" y="26019"/>
                </a:lnTo>
                <a:lnTo>
                  <a:pt x="1086594" y="6979"/>
                </a:lnTo>
                <a:lnTo>
                  <a:pt x="1051969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08360" y="2128773"/>
            <a:ext cx="1152525" cy="542925"/>
          </a:xfrm>
          <a:custGeom>
            <a:avLst/>
            <a:gdLst/>
            <a:ahLst/>
            <a:cxnLst/>
            <a:rect l="l" t="t" r="r" b="b"/>
            <a:pathLst>
              <a:path w="1152525" h="542925">
                <a:moveTo>
                  <a:pt x="1099266" y="9525"/>
                </a:moveTo>
                <a:lnTo>
                  <a:pt x="1058304" y="9525"/>
                </a:lnTo>
                <a:lnTo>
                  <a:pt x="1067067" y="10033"/>
                </a:lnTo>
                <a:lnTo>
                  <a:pt x="1075449" y="11302"/>
                </a:lnTo>
                <a:lnTo>
                  <a:pt x="1112025" y="28828"/>
                </a:lnTo>
                <a:lnTo>
                  <a:pt x="1136028" y="60960"/>
                </a:lnTo>
                <a:lnTo>
                  <a:pt x="1142500" y="93725"/>
                </a:lnTo>
                <a:lnTo>
                  <a:pt x="1142494" y="449452"/>
                </a:lnTo>
                <a:lnTo>
                  <a:pt x="1132472" y="489458"/>
                </a:lnTo>
                <a:lnTo>
                  <a:pt x="1105548" y="519175"/>
                </a:lnTo>
                <a:lnTo>
                  <a:pt x="1069701" y="532619"/>
                </a:lnTo>
                <a:lnTo>
                  <a:pt x="1067698" y="542559"/>
                </a:lnTo>
                <a:lnTo>
                  <a:pt x="1110882" y="527050"/>
                </a:lnTo>
                <a:lnTo>
                  <a:pt x="1140854" y="494029"/>
                </a:lnTo>
                <a:lnTo>
                  <a:pt x="1152030" y="449452"/>
                </a:lnTo>
                <a:lnTo>
                  <a:pt x="1152030" y="93725"/>
                </a:lnTo>
                <a:lnTo>
                  <a:pt x="1140854" y="49149"/>
                </a:lnTo>
                <a:lnTo>
                  <a:pt x="1110882" y="16001"/>
                </a:lnTo>
                <a:lnTo>
                  <a:pt x="1103135" y="11429"/>
                </a:lnTo>
                <a:lnTo>
                  <a:pt x="1099266" y="9525"/>
                </a:lnTo>
                <a:close/>
              </a:path>
              <a:path w="1152525" h="542925">
                <a:moveTo>
                  <a:pt x="1058558" y="0"/>
                </a:moveTo>
                <a:lnTo>
                  <a:pt x="93231" y="0"/>
                </a:lnTo>
                <a:lnTo>
                  <a:pt x="83706" y="508"/>
                </a:lnTo>
                <a:lnTo>
                  <a:pt x="40907" y="16001"/>
                </a:lnTo>
                <a:lnTo>
                  <a:pt x="10935" y="49149"/>
                </a:lnTo>
                <a:lnTo>
                  <a:pt x="0" y="84458"/>
                </a:lnTo>
                <a:lnTo>
                  <a:pt x="9944" y="82454"/>
                </a:lnTo>
                <a:lnTo>
                  <a:pt x="10808" y="76835"/>
                </a:lnTo>
                <a:lnTo>
                  <a:pt x="12840" y="68706"/>
                </a:lnTo>
                <a:lnTo>
                  <a:pt x="33795" y="34289"/>
                </a:lnTo>
                <a:lnTo>
                  <a:pt x="68212" y="13335"/>
                </a:lnTo>
                <a:lnTo>
                  <a:pt x="93358" y="9525"/>
                </a:lnTo>
                <a:lnTo>
                  <a:pt x="1099266" y="9525"/>
                </a:lnTo>
                <a:lnTo>
                  <a:pt x="1094880" y="7365"/>
                </a:lnTo>
                <a:lnTo>
                  <a:pt x="1086371" y="4317"/>
                </a:lnTo>
                <a:lnTo>
                  <a:pt x="1077354" y="1904"/>
                </a:lnTo>
                <a:lnTo>
                  <a:pt x="1068083" y="508"/>
                </a:lnTo>
                <a:lnTo>
                  <a:pt x="105855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936491" y="22098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1054100" y="0"/>
                </a:moveTo>
                <a:lnTo>
                  <a:pt x="88900" y="0"/>
                </a:lnTo>
                <a:lnTo>
                  <a:pt x="54274" y="6979"/>
                </a:lnTo>
                <a:lnTo>
                  <a:pt x="26019" y="26019"/>
                </a:lnTo>
                <a:lnTo>
                  <a:pt x="6979" y="54274"/>
                </a:lnTo>
                <a:lnTo>
                  <a:pt x="0" y="88900"/>
                </a:lnTo>
                <a:lnTo>
                  <a:pt x="0" y="444500"/>
                </a:lnTo>
                <a:lnTo>
                  <a:pt x="6979" y="479125"/>
                </a:lnTo>
                <a:lnTo>
                  <a:pt x="26019" y="507380"/>
                </a:lnTo>
                <a:lnTo>
                  <a:pt x="54274" y="526420"/>
                </a:lnTo>
                <a:lnTo>
                  <a:pt x="88900" y="533400"/>
                </a:lnTo>
                <a:lnTo>
                  <a:pt x="1054100" y="533400"/>
                </a:lnTo>
                <a:lnTo>
                  <a:pt x="1088725" y="526420"/>
                </a:lnTo>
                <a:lnTo>
                  <a:pt x="1116980" y="507380"/>
                </a:lnTo>
                <a:lnTo>
                  <a:pt x="1136020" y="479125"/>
                </a:lnTo>
                <a:lnTo>
                  <a:pt x="1143000" y="444500"/>
                </a:lnTo>
                <a:lnTo>
                  <a:pt x="1143000" y="88900"/>
                </a:lnTo>
                <a:lnTo>
                  <a:pt x="1136020" y="54274"/>
                </a:lnTo>
                <a:lnTo>
                  <a:pt x="1116980" y="26019"/>
                </a:lnTo>
                <a:lnTo>
                  <a:pt x="1088725" y="6979"/>
                </a:lnTo>
                <a:lnTo>
                  <a:pt x="105410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936491" y="22098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25"/>
                </a:lnTo>
                <a:lnTo>
                  <a:pt x="1116980" y="507380"/>
                </a:lnTo>
                <a:lnTo>
                  <a:pt x="1088725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888330" y="3098292"/>
            <a:ext cx="1369695" cy="531495"/>
          </a:xfrm>
          <a:custGeom>
            <a:avLst/>
            <a:gdLst/>
            <a:ahLst/>
            <a:cxnLst/>
            <a:rect l="l" t="t" r="r" b="b"/>
            <a:pathLst>
              <a:path w="1369695" h="531495">
                <a:moveTo>
                  <a:pt x="1366909" y="76200"/>
                </a:moveTo>
                <a:lnTo>
                  <a:pt x="1204369" y="76200"/>
                </a:lnTo>
                <a:lnTo>
                  <a:pt x="1238994" y="83179"/>
                </a:lnTo>
                <a:lnTo>
                  <a:pt x="1267250" y="102219"/>
                </a:lnTo>
                <a:lnTo>
                  <a:pt x="1286290" y="130474"/>
                </a:lnTo>
                <a:lnTo>
                  <a:pt x="1293269" y="165100"/>
                </a:lnTo>
                <a:lnTo>
                  <a:pt x="1293269" y="520700"/>
                </a:lnTo>
                <a:lnTo>
                  <a:pt x="1291139" y="531269"/>
                </a:lnTo>
                <a:lnTo>
                  <a:pt x="1315194" y="526420"/>
                </a:lnTo>
                <a:lnTo>
                  <a:pt x="1343450" y="507380"/>
                </a:lnTo>
                <a:lnTo>
                  <a:pt x="1362490" y="479125"/>
                </a:lnTo>
                <a:lnTo>
                  <a:pt x="1369469" y="444500"/>
                </a:lnTo>
                <a:lnTo>
                  <a:pt x="1369469" y="88900"/>
                </a:lnTo>
                <a:lnTo>
                  <a:pt x="1366909" y="76200"/>
                </a:lnTo>
                <a:close/>
              </a:path>
              <a:path w="1369695" h="531495">
                <a:moveTo>
                  <a:pt x="1280569" y="0"/>
                </a:moveTo>
                <a:lnTo>
                  <a:pt x="86769" y="0"/>
                </a:lnTo>
                <a:lnTo>
                  <a:pt x="52144" y="6979"/>
                </a:lnTo>
                <a:lnTo>
                  <a:pt x="23888" y="26019"/>
                </a:lnTo>
                <a:lnTo>
                  <a:pt x="4848" y="54274"/>
                </a:lnTo>
                <a:lnTo>
                  <a:pt x="0" y="78330"/>
                </a:lnTo>
                <a:lnTo>
                  <a:pt x="10569" y="76200"/>
                </a:lnTo>
                <a:lnTo>
                  <a:pt x="1366909" y="76200"/>
                </a:lnTo>
                <a:lnTo>
                  <a:pt x="1362490" y="54274"/>
                </a:lnTo>
                <a:lnTo>
                  <a:pt x="1343450" y="26019"/>
                </a:lnTo>
                <a:lnTo>
                  <a:pt x="1315194" y="6979"/>
                </a:lnTo>
                <a:lnTo>
                  <a:pt x="1280569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881868" y="3093466"/>
            <a:ext cx="1381125" cy="542925"/>
          </a:xfrm>
          <a:custGeom>
            <a:avLst/>
            <a:gdLst/>
            <a:ahLst/>
            <a:cxnLst/>
            <a:rect l="l" t="t" r="r" b="b"/>
            <a:pathLst>
              <a:path w="1381125" h="542925">
                <a:moveTo>
                  <a:pt x="1327866" y="9525"/>
                </a:moveTo>
                <a:lnTo>
                  <a:pt x="1286904" y="9525"/>
                </a:lnTo>
                <a:lnTo>
                  <a:pt x="1295667" y="10033"/>
                </a:lnTo>
                <a:lnTo>
                  <a:pt x="1304049" y="11303"/>
                </a:lnTo>
                <a:lnTo>
                  <a:pt x="1340625" y="28829"/>
                </a:lnTo>
                <a:lnTo>
                  <a:pt x="1364628" y="60960"/>
                </a:lnTo>
                <a:lnTo>
                  <a:pt x="1371100" y="93725"/>
                </a:lnTo>
                <a:lnTo>
                  <a:pt x="1371094" y="449453"/>
                </a:lnTo>
                <a:lnTo>
                  <a:pt x="1361072" y="489458"/>
                </a:lnTo>
                <a:lnTo>
                  <a:pt x="1334148" y="519176"/>
                </a:lnTo>
                <a:lnTo>
                  <a:pt x="1298301" y="532619"/>
                </a:lnTo>
                <a:lnTo>
                  <a:pt x="1296298" y="542559"/>
                </a:lnTo>
                <a:lnTo>
                  <a:pt x="1339482" y="527050"/>
                </a:lnTo>
                <a:lnTo>
                  <a:pt x="1369454" y="494030"/>
                </a:lnTo>
                <a:lnTo>
                  <a:pt x="1380630" y="449453"/>
                </a:lnTo>
                <a:lnTo>
                  <a:pt x="1380630" y="93725"/>
                </a:lnTo>
                <a:lnTo>
                  <a:pt x="1369454" y="49149"/>
                </a:lnTo>
                <a:lnTo>
                  <a:pt x="1339482" y="16001"/>
                </a:lnTo>
                <a:lnTo>
                  <a:pt x="1331735" y="11430"/>
                </a:lnTo>
                <a:lnTo>
                  <a:pt x="1327866" y="9525"/>
                </a:lnTo>
                <a:close/>
              </a:path>
              <a:path w="1381125" h="542925">
                <a:moveTo>
                  <a:pt x="1287158" y="0"/>
                </a:moveTo>
                <a:lnTo>
                  <a:pt x="93231" y="0"/>
                </a:lnTo>
                <a:lnTo>
                  <a:pt x="83706" y="508"/>
                </a:lnTo>
                <a:lnTo>
                  <a:pt x="40907" y="16001"/>
                </a:lnTo>
                <a:lnTo>
                  <a:pt x="10935" y="49149"/>
                </a:lnTo>
                <a:lnTo>
                  <a:pt x="0" y="84458"/>
                </a:lnTo>
                <a:lnTo>
                  <a:pt x="9944" y="82454"/>
                </a:lnTo>
                <a:lnTo>
                  <a:pt x="10808" y="76835"/>
                </a:lnTo>
                <a:lnTo>
                  <a:pt x="12840" y="68707"/>
                </a:lnTo>
                <a:lnTo>
                  <a:pt x="33795" y="34289"/>
                </a:lnTo>
                <a:lnTo>
                  <a:pt x="68212" y="13335"/>
                </a:lnTo>
                <a:lnTo>
                  <a:pt x="93358" y="9525"/>
                </a:lnTo>
                <a:lnTo>
                  <a:pt x="1327866" y="9525"/>
                </a:lnTo>
                <a:lnTo>
                  <a:pt x="1323480" y="7366"/>
                </a:lnTo>
                <a:lnTo>
                  <a:pt x="1314971" y="4318"/>
                </a:lnTo>
                <a:lnTo>
                  <a:pt x="1305954" y="1905"/>
                </a:lnTo>
                <a:lnTo>
                  <a:pt x="1296683" y="508"/>
                </a:lnTo>
                <a:lnTo>
                  <a:pt x="128715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810000" y="3174492"/>
            <a:ext cx="1371600" cy="533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810000" y="3174492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82700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600" y="88900"/>
                </a:lnTo>
                <a:lnTo>
                  <a:pt x="1371600" y="444500"/>
                </a:lnTo>
                <a:lnTo>
                  <a:pt x="1364620" y="479125"/>
                </a:lnTo>
                <a:lnTo>
                  <a:pt x="1345580" y="507380"/>
                </a:lnTo>
                <a:lnTo>
                  <a:pt x="1317325" y="526420"/>
                </a:lnTo>
                <a:lnTo>
                  <a:pt x="1282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05400" y="4216908"/>
            <a:ext cx="990600" cy="76200"/>
          </a:xfrm>
          <a:custGeom>
            <a:avLst/>
            <a:gdLst/>
            <a:ahLst/>
            <a:cxnLst/>
            <a:rect l="l" t="t" r="r" b="b"/>
            <a:pathLst>
              <a:path w="9906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56049" y="45974"/>
                </a:lnTo>
                <a:lnTo>
                  <a:pt x="50800" y="45974"/>
                </a:lnTo>
                <a:lnTo>
                  <a:pt x="50800" y="30099"/>
                </a:lnTo>
                <a:lnTo>
                  <a:pt x="56134" y="30099"/>
                </a:lnTo>
                <a:lnTo>
                  <a:pt x="76200" y="0"/>
                </a:lnTo>
                <a:close/>
              </a:path>
              <a:path w="990600" h="76200">
                <a:moveTo>
                  <a:pt x="50800" y="38100"/>
                </a:moveTo>
                <a:lnTo>
                  <a:pt x="50800" y="45974"/>
                </a:lnTo>
                <a:lnTo>
                  <a:pt x="56049" y="45974"/>
                </a:lnTo>
                <a:lnTo>
                  <a:pt x="50800" y="38100"/>
                </a:lnTo>
                <a:close/>
              </a:path>
              <a:path w="990600" h="76200">
                <a:moveTo>
                  <a:pt x="990600" y="30099"/>
                </a:moveTo>
                <a:lnTo>
                  <a:pt x="56134" y="30099"/>
                </a:lnTo>
                <a:lnTo>
                  <a:pt x="50800" y="38100"/>
                </a:lnTo>
                <a:lnTo>
                  <a:pt x="56049" y="45974"/>
                </a:lnTo>
                <a:lnTo>
                  <a:pt x="990600" y="45974"/>
                </a:lnTo>
                <a:lnTo>
                  <a:pt x="990600" y="30099"/>
                </a:lnTo>
                <a:close/>
              </a:path>
              <a:path w="990600" h="76200">
                <a:moveTo>
                  <a:pt x="56134" y="30099"/>
                </a:moveTo>
                <a:lnTo>
                  <a:pt x="50800" y="30099"/>
                </a:lnTo>
                <a:lnTo>
                  <a:pt x="50800" y="38100"/>
                </a:lnTo>
                <a:lnTo>
                  <a:pt x="56134" y="30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457700" y="1816607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800"/>
                </a:moveTo>
                <a:lnTo>
                  <a:pt x="38100" y="381000"/>
                </a:lnTo>
                <a:lnTo>
                  <a:pt x="63500" y="330200"/>
                </a:lnTo>
                <a:lnTo>
                  <a:pt x="31750" y="330200"/>
                </a:lnTo>
                <a:lnTo>
                  <a:pt x="31750" y="325966"/>
                </a:lnTo>
                <a:lnTo>
                  <a:pt x="0" y="304800"/>
                </a:lnTo>
                <a:close/>
              </a:path>
              <a:path w="76200" h="381000">
                <a:moveTo>
                  <a:pt x="31750" y="325966"/>
                </a:moveTo>
                <a:lnTo>
                  <a:pt x="31750" y="330200"/>
                </a:lnTo>
                <a:lnTo>
                  <a:pt x="38100" y="330200"/>
                </a:lnTo>
                <a:lnTo>
                  <a:pt x="31750" y="325966"/>
                </a:lnTo>
                <a:close/>
              </a:path>
              <a:path w="76200" h="381000">
                <a:moveTo>
                  <a:pt x="44450" y="0"/>
                </a:moveTo>
                <a:lnTo>
                  <a:pt x="31750" y="0"/>
                </a:lnTo>
                <a:lnTo>
                  <a:pt x="31750" y="325966"/>
                </a:lnTo>
                <a:lnTo>
                  <a:pt x="38100" y="330200"/>
                </a:lnTo>
                <a:lnTo>
                  <a:pt x="44450" y="325966"/>
                </a:lnTo>
                <a:lnTo>
                  <a:pt x="44450" y="0"/>
                </a:lnTo>
                <a:close/>
              </a:path>
              <a:path w="76200" h="381000">
                <a:moveTo>
                  <a:pt x="44450" y="325966"/>
                </a:moveTo>
                <a:lnTo>
                  <a:pt x="38100" y="330200"/>
                </a:lnTo>
                <a:lnTo>
                  <a:pt x="44450" y="330200"/>
                </a:lnTo>
                <a:lnTo>
                  <a:pt x="44450" y="325966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4450" y="325966"/>
                </a:lnTo>
                <a:lnTo>
                  <a:pt x="44450" y="330200"/>
                </a:lnTo>
                <a:lnTo>
                  <a:pt x="63500" y="3302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457700" y="2731007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44450" y="0"/>
                </a:moveTo>
                <a:lnTo>
                  <a:pt x="31750" y="0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590800" y="2731007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477000" y="2660904"/>
            <a:ext cx="0" cy="774700"/>
          </a:xfrm>
          <a:custGeom>
            <a:avLst/>
            <a:gdLst/>
            <a:ahLst/>
            <a:cxnLst/>
            <a:rect l="l" t="t" r="r" b="b"/>
            <a:pathLst>
              <a:path h="774700">
                <a:moveTo>
                  <a:pt x="0" y="0"/>
                </a:moveTo>
                <a:lnTo>
                  <a:pt x="0" y="774192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667000" y="2959607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304800"/>
                </a:moveTo>
                <a:lnTo>
                  <a:pt x="609600" y="304800"/>
                </a:lnTo>
                <a:lnTo>
                  <a:pt x="6096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2803398" y="2954782"/>
            <a:ext cx="339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648200" y="1882139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304800"/>
                </a:moveTo>
                <a:lnTo>
                  <a:pt x="609600" y="304800"/>
                </a:lnTo>
                <a:lnTo>
                  <a:pt x="6096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648200" y="2796539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304800"/>
                </a:moveTo>
                <a:lnTo>
                  <a:pt x="609600" y="304800"/>
                </a:lnTo>
                <a:lnTo>
                  <a:pt x="6096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014342" y="1750227"/>
            <a:ext cx="1160780" cy="135699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716915" algn="ctr">
              <a:lnSpc>
                <a:spcPct val="100000"/>
              </a:lnSpc>
              <a:spcBef>
                <a:spcPts val="98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.i</a:t>
            </a:r>
            <a:endParaRPr sz="2000">
              <a:latin typeface="Times New Roman"/>
              <a:cs typeface="Times New Roman"/>
            </a:endParaRPr>
          </a:p>
          <a:p>
            <a:pPr marL="213360" marR="175260" indent="-201295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Front</a:t>
            </a:r>
            <a:r>
              <a:rPr sz="14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End  ( </a:t>
            </a:r>
            <a:r>
              <a:rPr sz="1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CFE</a:t>
            </a:r>
            <a:r>
              <a:rPr sz="1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716915" algn="ctr">
              <a:lnSpc>
                <a:spcPct val="100000"/>
              </a:lnSpc>
              <a:spcBef>
                <a:spcPts val="819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.obj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543044" y="4587240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304800"/>
                </a:moveTo>
                <a:lnTo>
                  <a:pt x="609600" y="304800"/>
                </a:lnTo>
                <a:lnTo>
                  <a:pt x="6096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572000" y="5545835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304800"/>
                </a:moveTo>
                <a:lnTo>
                  <a:pt x="609600" y="304800"/>
                </a:lnTo>
                <a:lnTo>
                  <a:pt x="6096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111878" y="4567173"/>
            <a:ext cx="953769" cy="188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29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.eln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6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LINKER</a:t>
            </a:r>
            <a:endParaRPr sz="1600">
              <a:latin typeface="Times New Roman"/>
              <a:cs typeface="Times New Roman"/>
            </a:endParaRPr>
          </a:p>
          <a:p>
            <a:pPr marL="589280">
              <a:lnSpc>
                <a:spcPct val="100000"/>
              </a:lnSpc>
              <a:spcBef>
                <a:spcPts val="1340"/>
              </a:spcBef>
            </a:pP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  <a:p>
            <a:pPr marL="94615" marR="88900" indent="-82550">
              <a:lnSpc>
                <a:spcPct val="100000"/>
              </a:lnSpc>
              <a:spcBef>
                <a:spcPts val="1445"/>
              </a:spcBef>
            </a:pP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Execut</a:t>
            </a:r>
            <a:r>
              <a:rPr sz="14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ble  </a:t>
            </a:r>
            <a:r>
              <a:rPr sz="1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5257800" y="433120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0" y="228600"/>
                </a:moveTo>
                <a:lnTo>
                  <a:pt x="609600" y="228600"/>
                </a:lnTo>
                <a:lnTo>
                  <a:pt x="609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5325871" y="4288663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asm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4652771" y="3854196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762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3893311" y="3193239"/>
            <a:ext cx="1205865" cy="8191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OPTIMIZER</a:t>
            </a:r>
            <a:endParaRPr sz="1600">
              <a:latin typeface="Times New Roman"/>
              <a:cs typeface="Times New Roman"/>
            </a:endParaRPr>
          </a:p>
          <a:p>
            <a:pPr marR="15875" algn="r">
              <a:lnSpc>
                <a:spcPct val="100000"/>
              </a:lnSpc>
              <a:spcBef>
                <a:spcPts val="107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.sl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831594" y="1264158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SHELL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868161" y="4007358"/>
            <a:ext cx="1248410" cy="553720"/>
          </a:xfrm>
          <a:prstGeom prst="rect">
            <a:avLst/>
          </a:prstGeom>
          <a:solidFill>
            <a:srgbClr val="CAD5EC"/>
          </a:solidFill>
          <a:ln w="19050">
            <a:solidFill>
              <a:srgbClr val="FFFFFF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External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Assembly</a:t>
            </a:r>
            <a:r>
              <a:rPr sz="1400" b="1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00"/>
                </a:solidFill>
                <a:latin typeface="Times New Roman"/>
                <a:cs typeface="Times New Roman"/>
              </a:rPr>
              <a:t>files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8744711" y="5533644"/>
            <a:ext cx="399415" cy="317500"/>
          </a:xfrm>
          <a:custGeom>
            <a:avLst/>
            <a:gdLst/>
            <a:ahLst/>
            <a:cxnLst/>
            <a:rect l="l" t="t" r="r" b="b"/>
            <a:pathLst>
              <a:path w="399415" h="317500">
                <a:moveTo>
                  <a:pt x="399288" y="0"/>
                </a:moveTo>
                <a:lnTo>
                  <a:pt x="0" y="0"/>
                </a:lnTo>
                <a:lnTo>
                  <a:pt x="0" y="316991"/>
                </a:lnTo>
                <a:lnTo>
                  <a:pt x="399288" y="316991"/>
                </a:lnTo>
                <a:lnTo>
                  <a:pt x="399288" y="277367"/>
                </a:lnTo>
                <a:lnTo>
                  <a:pt x="80772" y="277367"/>
                </a:lnTo>
                <a:lnTo>
                  <a:pt x="80772" y="39623"/>
                </a:lnTo>
                <a:lnTo>
                  <a:pt x="399288" y="39623"/>
                </a:lnTo>
                <a:lnTo>
                  <a:pt x="399288" y="0"/>
                </a:lnTo>
                <a:close/>
              </a:path>
              <a:path w="399415" h="317500">
                <a:moveTo>
                  <a:pt x="318516" y="39623"/>
                </a:moveTo>
                <a:lnTo>
                  <a:pt x="110490" y="39623"/>
                </a:lnTo>
                <a:lnTo>
                  <a:pt x="110490" y="277367"/>
                </a:lnTo>
                <a:lnTo>
                  <a:pt x="318516" y="277367"/>
                </a:lnTo>
                <a:lnTo>
                  <a:pt x="140208" y="158495"/>
                </a:lnTo>
                <a:lnTo>
                  <a:pt x="318516" y="39623"/>
                </a:lnTo>
                <a:close/>
              </a:path>
              <a:path w="399415" h="317500">
                <a:moveTo>
                  <a:pt x="399288" y="39623"/>
                </a:moveTo>
                <a:lnTo>
                  <a:pt x="318516" y="39623"/>
                </a:lnTo>
                <a:lnTo>
                  <a:pt x="318516" y="277367"/>
                </a:lnTo>
                <a:lnTo>
                  <a:pt x="399288" y="277367"/>
                </a:lnTo>
                <a:lnTo>
                  <a:pt x="399288" y="39623"/>
                </a:lnTo>
                <a:close/>
              </a:path>
            </a:pathLst>
          </a:custGeom>
          <a:solidFill>
            <a:srgbClr val="99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825483" y="5573267"/>
            <a:ext cx="237744" cy="2377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42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7840" y="1146809"/>
            <a:ext cx="6445250" cy="329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8145" indent="-386080">
              <a:lnSpc>
                <a:spcPct val="100000"/>
              </a:lnSpc>
              <a:spcBef>
                <a:spcPts val="100"/>
              </a:spcBef>
              <a:buClr>
                <a:srgbClr val="FFFF99"/>
              </a:buClr>
              <a:buSzPct val="129166"/>
              <a:buFont typeface="Wingdings"/>
              <a:buChar char=""/>
              <a:tabLst>
                <a:tab pos="398780" algn="l"/>
              </a:tabLst>
            </a:pPr>
            <a:r>
              <a:rPr sz="3600" b="1" spc="-5" dirty="0">
                <a:solidFill>
                  <a:srgbClr val="66FFFF"/>
                </a:solidFill>
                <a:latin typeface="宋体"/>
                <a:cs typeface="宋体"/>
              </a:rPr>
              <a:t>编译程序构造要素</a:t>
            </a:r>
            <a:endParaRPr sz="3600">
              <a:latin typeface="宋体"/>
              <a:cs typeface="宋体"/>
            </a:endParaRPr>
          </a:p>
          <a:p>
            <a:pPr marL="1727200" marR="2874645" indent="12065">
              <a:lnSpc>
                <a:spcPct val="165000"/>
              </a:lnSpc>
            </a:pPr>
            <a:r>
              <a:rPr sz="3600" b="1" spc="-10" dirty="0">
                <a:solidFill>
                  <a:srgbClr val="FFFF00"/>
                </a:solidFill>
                <a:latin typeface="宋体"/>
                <a:cs typeface="宋体"/>
              </a:rPr>
              <a:t>源语言 </a:t>
            </a: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</a:rPr>
              <a:t>目标语言</a:t>
            </a:r>
            <a:endParaRPr sz="360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  <a:spcBef>
                <a:spcPts val="2810"/>
              </a:spcBef>
            </a:pPr>
            <a:r>
              <a:rPr sz="3600" b="1" spc="-5" dirty="0">
                <a:solidFill>
                  <a:srgbClr val="FFFF00"/>
                </a:solidFill>
                <a:latin typeface="宋体"/>
                <a:cs typeface="宋体"/>
              </a:rPr>
              <a:t>编译方法、技术与工具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7161" y="2248661"/>
            <a:ext cx="287020" cy="2077720"/>
          </a:xfrm>
          <a:custGeom>
            <a:avLst/>
            <a:gdLst/>
            <a:ahLst/>
            <a:cxnLst/>
            <a:rect l="l" t="t" r="r" b="b"/>
            <a:pathLst>
              <a:path w="287019" h="2077720">
                <a:moveTo>
                  <a:pt x="286512" y="2077212"/>
                </a:moveTo>
                <a:lnTo>
                  <a:pt x="241230" y="2068362"/>
                </a:lnTo>
                <a:lnTo>
                  <a:pt x="201905" y="2043724"/>
                </a:lnTo>
                <a:lnTo>
                  <a:pt x="170895" y="2006163"/>
                </a:lnTo>
                <a:lnTo>
                  <a:pt x="150559" y="1958543"/>
                </a:lnTo>
                <a:lnTo>
                  <a:pt x="143256" y="1903730"/>
                </a:lnTo>
                <a:lnTo>
                  <a:pt x="143256" y="1212088"/>
                </a:lnTo>
                <a:lnTo>
                  <a:pt x="135952" y="1157274"/>
                </a:lnTo>
                <a:lnTo>
                  <a:pt x="115616" y="1109654"/>
                </a:lnTo>
                <a:lnTo>
                  <a:pt x="84606" y="1072093"/>
                </a:lnTo>
                <a:lnTo>
                  <a:pt x="45281" y="1047455"/>
                </a:lnTo>
                <a:lnTo>
                  <a:pt x="0" y="1038605"/>
                </a:lnTo>
                <a:lnTo>
                  <a:pt x="45281" y="1029756"/>
                </a:lnTo>
                <a:lnTo>
                  <a:pt x="84606" y="1005118"/>
                </a:lnTo>
                <a:lnTo>
                  <a:pt x="115616" y="967557"/>
                </a:lnTo>
                <a:lnTo>
                  <a:pt x="135952" y="919937"/>
                </a:lnTo>
                <a:lnTo>
                  <a:pt x="143256" y="865124"/>
                </a:lnTo>
                <a:lnTo>
                  <a:pt x="143256" y="173482"/>
                </a:lnTo>
                <a:lnTo>
                  <a:pt x="150559" y="118668"/>
                </a:lnTo>
                <a:lnTo>
                  <a:pt x="170895" y="71048"/>
                </a:lnTo>
                <a:lnTo>
                  <a:pt x="201905" y="33487"/>
                </a:lnTo>
                <a:lnTo>
                  <a:pt x="241230" y="8849"/>
                </a:lnTo>
                <a:lnTo>
                  <a:pt x="28651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30833" y="11378"/>
            <a:ext cx="24631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6820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引论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34078" y="11378"/>
            <a:ext cx="36836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855" algn="l"/>
              </a:tabLst>
            </a:pPr>
            <a:r>
              <a:rPr sz="2400" b="1" dirty="0">
                <a:solidFill>
                  <a:srgbClr val="A15100"/>
                </a:solidFill>
                <a:latin typeface="Times New Roman"/>
                <a:cs typeface="Times New Roman"/>
              </a:rPr>
              <a:t>1.5	</a:t>
            </a: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编译程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序的构</a:t>
            </a:r>
            <a:r>
              <a:rPr sz="2400" b="1" spc="-10" dirty="0">
                <a:solidFill>
                  <a:srgbClr val="A15100"/>
                </a:solidFill>
                <a:latin typeface="华文新魏"/>
                <a:cs typeface="华文新魏"/>
              </a:rPr>
              <a:t>造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与实现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5"/>
              </a:spcBef>
              <a:tabLst>
                <a:tab pos="638810" algn="l"/>
              </a:tabLst>
            </a:pPr>
            <a:r>
              <a:rPr sz="2850" b="0" spc="25" dirty="0">
                <a:solidFill>
                  <a:srgbClr val="FFFFFF"/>
                </a:solidFill>
                <a:latin typeface="Wingdings"/>
                <a:cs typeface="Wingdings"/>
              </a:rPr>
              <a:t></a:t>
            </a:r>
            <a:r>
              <a:rPr sz="2850" b="0" spc="25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pc="-5" dirty="0"/>
              <a:t>编译程序</a:t>
            </a:r>
            <a:r>
              <a:rPr spc="-15" dirty="0"/>
              <a:t>？</a:t>
            </a: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90"/>
              </a:spcBef>
              <a:tabLst>
                <a:tab pos="638810" algn="l"/>
              </a:tabLst>
            </a:pPr>
            <a:r>
              <a:rPr sz="2850" b="0" spc="25" dirty="0">
                <a:solidFill>
                  <a:srgbClr val="FFFFFF"/>
                </a:solidFill>
                <a:latin typeface="Wingdings"/>
                <a:cs typeface="Wingdings"/>
              </a:rPr>
              <a:t></a:t>
            </a:r>
            <a:r>
              <a:rPr sz="2850" b="0" spc="25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pc="-5" dirty="0"/>
              <a:t>源程序的运行。编译程序的分</a:t>
            </a:r>
            <a:r>
              <a:rPr spc="5" dirty="0"/>
              <a:t>类</a:t>
            </a:r>
            <a:r>
              <a:rPr spc="-5" dirty="0"/>
              <a:t>与表</a:t>
            </a:r>
            <a:r>
              <a:rPr spc="20" dirty="0"/>
              <a:t>示</a:t>
            </a:r>
            <a:r>
              <a:rPr sz="2400" spc="-10" dirty="0"/>
              <a:t>。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50" b="0" spc="25" dirty="0">
                <a:solidFill>
                  <a:srgbClr val="FFFFFF"/>
                </a:solidFill>
                <a:latin typeface="Wingdings"/>
                <a:cs typeface="Wingdings"/>
              </a:rPr>
              <a:t></a:t>
            </a:r>
            <a:endParaRPr sz="28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8438" y="3074923"/>
            <a:ext cx="7875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术语：源语言、源程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、目标语</a:t>
            </a:r>
            <a:r>
              <a:rPr sz="2800" b="1" spc="10" dirty="0">
                <a:solidFill>
                  <a:srgbClr val="FFFF00"/>
                </a:solidFill>
                <a:latin typeface="宋体"/>
                <a:cs typeface="宋体"/>
              </a:rPr>
              <a:t>言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目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标程</a:t>
            </a:r>
            <a:r>
              <a:rPr sz="2800" b="1" spc="20" dirty="0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宿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842" y="3518508"/>
            <a:ext cx="8627745" cy="1333500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R="15875" algn="ctr">
              <a:lnSpc>
                <a:spcPct val="100000"/>
              </a:lnSpc>
              <a:spcBef>
                <a:spcPts val="1810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主语言、宿主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（目标机）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遍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  <a:tabLst>
                <a:tab pos="577215" algn="l"/>
              </a:tabLst>
            </a:pPr>
            <a:r>
              <a:rPr sz="2850" spc="25" dirty="0">
                <a:solidFill>
                  <a:srgbClr val="FFFFFF"/>
                </a:solidFill>
                <a:latin typeface="Wingdings"/>
                <a:cs typeface="Wingdings"/>
              </a:rPr>
              <a:t></a:t>
            </a:r>
            <a:r>
              <a:rPr sz="2850" spc="25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编译程序的组成结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构,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各部分间逻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辑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关系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sz="2800" b="1" spc="-10" dirty="0">
                <a:solidFill>
                  <a:srgbClr val="FFFF00"/>
                </a:solidFill>
                <a:latin typeface="宋体"/>
                <a:cs typeface="宋体"/>
              </a:rPr>
              <a:t>主要</a:t>
            </a:r>
            <a:r>
              <a:rPr sz="2800" b="1" spc="5" dirty="0">
                <a:solidFill>
                  <a:srgbClr val="FFFF00"/>
                </a:solidFill>
                <a:latin typeface="宋体"/>
                <a:cs typeface="宋体"/>
              </a:rPr>
              <a:t>功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842" y="4826660"/>
            <a:ext cx="4168775" cy="1348740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0"/>
              </a:spcBef>
              <a:tabLst>
                <a:tab pos="589915" algn="l"/>
              </a:tabLst>
            </a:pPr>
            <a:r>
              <a:rPr sz="2850" spc="25" dirty="0">
                <a:solidFill>
                  <a:srgbClr val="FFFFFF"/>
                </a:solidFill>
                <a:latin typeface="Wingdings"/>
                <a:cs typeface="Wingdings"/>
              </a:rPr>
              <a:t></a:t>
            </a:r>
            <a:r>
              <a:rPr sz="2850" spc="25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编译程序的构造要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素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sz="2850" spc="25" dirty="0">
                <a:solidFill>
                  <a:srgbClr val="FFFFFF"/>
                </a:solidFill>
                <a:latin typeface="Wingdings"/>
                <a:cs typeface="Wingdings"/>
              </a:rPr>
              <a:t></a:t>
            </a:r>
            <a:endParaRPr sz="28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7206" y="5721197"/>
            <a:ext cx="3947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宋体"/>
                <a:cs typeface="宋体"/>
              </a:rPr>
              <a:t>编译程序的组织与接</a:t>
            </a:r>
            <a:r>
              <a:rPr sz="2800" b="1" dirty="0">
                <a:solidFill>
                  <a:srgbClr val="FFFF00"/>
                </a:solidFill>
                <a:latin typeface="宋体"/>
                <a:cs typeface="宋体"/>
              </a:rPr>
              <a:t>口</a:t>
            </a:r>
            <a:r>
              <a:rPr sz="2800" b="1" spc="-15" dirty="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98982" y="846582"/>
            <a:ext cx="2973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6115" algn="l"/>
              </a:tabLst>
            </a:pPr>
            <a:r>
              <a:rPr sz="2800" b="0" spc="-5" dirty="0">
                <a:solidFill>
                  <a:srgbClr val="FF99FF"/>
                </a:solidFill>
                <a:latin typeface="Wingdings"/>
                <a:cs typeface="Wingdings"/>
              </a:rPr>
              <a:t></a:t>
            </a:r>
            <a:r>
              <a:rPr sz="2800" b="0" spc="-5" dirty="0">
                <a:solidFill>
                  <a:srgbClr val="FF99FF"/>
                </a:solidFill>
                <a:latin typeface="Times New Roman"/>
                <a:cs typeface="Times New Roman"/>
              </a:rPr>
              <a:t>	</a:t>
            </a:r>
            <a:r>
              <a:rPr sz="3600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第一章提要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85338" y="11378"/>
            <a:ext cx="34296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  <a:tab pos="1905635" algn="l"/>
                <a:tab pos="2508885" algn="l"/>
                <a:tab pos="3110865" algn="l"/>
              </a:tabLst>
            </a:pPr>
            <a:r>
              <a:rPr sz="2400" b="1" spc="5" dirty="0">
                <a:solidFill>
                  <a:srgbClr val="A15100"/>
                </a:solidFill>
                <a:latin typeface="华文新魏"/>
                <a:cs typeface="华文新魏"/>
              </a:rPr>
              <a:t>第一</a:t>
            </a:r>
            <a:r>
              <a:rPr sz="2400" b="1" dirty="0">
                <a:solidFill>
                  <a:srgbClr val="A15100"/>
                </a:solidFill>
                <a:latin typeface="华文新魏"/>
                <a:cs typeface="华文新魏"/>
              </a:rPr>
              <a:t>章	编	译	引	论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06611" y="5638800"/>
            <a:ext cx="437515" cy="325120"/>
          </a:xfrm>
          <a:custGeom>
            <a:avLst/>
            <a:gdLst/>
            <a:ahLst/>
            <a:cxnLst/>
            <a:rect l="l" t="t" r="r" b="b"/>
            <a:pathLst>
              <a:path w="437515" h="325120">
                <a:moveTo>
                  <a:pt x="437388" y="0"/>
                </a:moveTo>
                <a:lnTo>
                  <a:pt x="0" y="0"/>
                </a:lnTo>
                <a:lnTo>
                  <a:pt x="0" y="324612"/>
                </a:lnTo>
                <a:lnTo>
                  <a:pt x="437388" y="324612"/>
                </a:lnTo>
                <a:lnTo>
                  <a:pt x="437388" y="284035"/>
                </a:lnTo>
                <a:lnTo>
                  <a:pt x="96901" y="284035"/>
                </a:lnTo>
                <a:lnTo>
                  <a:pt x="96901" y="40576"/>
                </a:lnTo>
                <a:lnTo>
                  <a:pt x="437388" y="40576"/>
                </a:lnTo>
                <a:lnTo>
                  <a:pt x="437388" y="0"/>
                </a:lnTo>
                <a:close/>
              </a:path>
              <a:path w="437515" h="325120">
                <a:moveTo>
                  <a:pt x="340360" y="40576"/>
                </a:moveTo>
                <a:lnTo>
                  <a:pt x="127381" y="40576"/>
                </a:lnTo>
                <a:lnTo>
                  <a:pt x="127381" y="284035"/>
                </a:lnTo>
                <a:lnTo>
                  <a:pt x="340360" y="284035"/>
                </a:lnTo>
                <a:lnTo>
                  <a:pt x="157861" y="162306"/>
                </a:lnTo>
                <a:lnTo>
                  <a:pt x="340360" y="40576"/>
                </a:lnTo>
                <a:close/>
              </a:path>
              <a:path w="437515" h="325120">
                <a:moveTo>
                  <a:pt x="437388" y="40576"/>
                </a:moveTo>
                <a:lnTo>
                  <a:pt x="340360" y="40576"/>
                </a:lnTo>
                <a:lnTo>
                  <a:pt x="340360" y="284035"/>
                </a:lnTo>
                <a:lnTo>
                  <a:pt x="437388" y="284035"/>
                </a:lnTo>
                <a:lnTo>
                  <a:pt x="437388" y="4057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03513" y="5679376"/>
            <a:ext cx="243458" cy="2434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0514" y="2266264"/>
            <a:ext cx="185483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i="1" dirty="0">
                <a:solidFill>
                  <a:srgbClr val="FFFF00"/>
                </a:solidFill>
                <a:latin typeface="Times New Roman"/>
                <a:cs typeface="Times New Roman"/>
              </a:rPr>
              <a:t>end</a:t>
            </a:r>
            <a:endParaRPr sz="9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3574" y="849629"/>
            <a:ext cx="174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6115" algn="l"/>
              </a:tabLst>
            </a:pPr>
            <a:r>
              <a:rPr sz="2800" spc="-5" dirty="0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sz="2800" spc="-5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2800" b="1" u="heavy" spc="-5" dirty="0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第一章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41726" y="48260"/>
            <a:ext cx="33178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4295" algn="l"/>
                <a:tab pos="1905635" algn="l"/>
                <a:tab pos="2464435" algn="l"/>
                <a:tab pos="3025775" algn="l"/>
              </a:tabLst>
            </a:pPr>
            <a:r>
              <a:rPr sz="2200" b="1" spc="-5" dirty="0">
                <a:solidFill>
                  <a:srgbClr val="A15100"/>
                </a:solidFill>
                <a:latin typeface="宋体"/>
                <a:cs typeface="宋体"/>
              </a:rPr>
              <a:t>第一</a:t>
            </a:r>
            <a:r>
              <a:rPr sz="2200" b="1" spc="-15" dirty="0">
                <a:solidFill>
                  <a:srgbClr val="A15100"/>
                </a:solidFill>
                <a:latin typeface="宋体"/>
                <a:cs typeface="宋体"/>
              </a:rPr>
              <a:t>章</a:t>
            </a:r>
            <a:r>
              <a:rPr sz="22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200" b="1" spc="-15" dirty="0">
                <a:solidFill>
                  <a:srgbClr val="A15100"/>
                </a:solidFill>
                <a:latin typeface="宋体"/>
                <a:cs typeface="宋体"/>
              </a:rPr>
              <a:t>编</a:t>
            </a:r>
            <a:r>
              <a:rPr sz="22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200" b="1" spc="-15" dirty="0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sz="22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200" b="1" spc="-15" dirty="0">
                <a:solidFill>
                  <a:srgbClr val="A15100"/>
                </a:solidFill>
                <a:latin typeface="宋体"/>
                <a:cs typeface="宋体"/>
              </a:rPr>
              <a:t>引</a:t>
            </a:r>
            <a:r>
              <a:rPr sz="2200" b="1" dirty="0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sz="2200" b="1" spc="-15" dirty="0">
                <a:solidFill>
                  <a:srgbClr val="A15100"/>
                </a:solidFill>
                <a:latin typeface="宋体"/>
                <a:cs typeface="宋体"/>
              </a:rPr>
              <a:t>论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5" dirty="0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spc="250" dirty="0"/>
              <a:t> </a:t>
            </a:r>
            <a:r>
              <a:rPr spc="-5" dirty="0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515" y="1828800"/>
            <a:ext cx="7833359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27593" y="6602374"/>
            <a:ext cx="737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55</a:t>
            </a:r>
            <a:r>
              <a:rPr sz="14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362" y="64769"/>
            <a:ext cx="2057400" cy="533400"/>
          </a:xfrm>
          <a:custGeom>
            <a:avLst/>
            <a:gdLst/>
            <a:ahLst/>
            <a:cxnLst/>
            <a:rect l="l" t="t" r="r" b="b"/>
            <a:pathLst>
              <a:path w="2057400" h="533400">
                <a:moveTo>
                  <a:pt x="0" y="266700"/>
                </a:moveTo>
                <a:lnTo>
                  <a:pt x="10215" y="228962"/>
                </a:lnTo>
                <a:lnTo>
                  <a:pt x="39933" y="192853"/>
                </a:lnTo>
                <a:lnTo>
                  <a:pt x="87761" y="158733"/>
                </a:lnTo>
                <a:lnTo>
                  <a:pt x="152307" y="126963"/>
                </a:lnTo>
                <a:lnTo>
                  <a:pt x="190413" y="112072"/>
                </a:lnTo>
                <a:lnTo>
                  <a:pt x="232177" y="97903"/>
                </a:lnTo>
                <a:lnTo>
                  <a:pt x="277424" y="84503"/>
                </a:lnTo>
                <a:lnTo>
                  <a:pt x="325980" y="71915"/>
                </a:lnTo>
                <a:lnTo>
                  <a:pt x="377670" y="60185"/>
                </a:lnTo>
                <a:lnTo>
                  <a:pt x="432322" y="49359"/>
                </a:lnTo>
                <a:lnTo>
                  <a:pt x="489760" y="39480"/>
                </a:lnTo>
                <a:lnTo>
                  <a:pt x="549811" y="30595"/>
                </a:lnTo>
                <a:lnTo>
                  <a:pt x="612300" y="22749"/>
                </a:lnTo>
                <a:lnTo>
                  <a:pt x="677054" y="15985"/>
                </a:lnTo>
                <a:lnTo>
                  <a:pt x="743899" y="10351"/>
                </a:lnTo>
                <a:lnTo>
                  <a:pt x="812660" y="5890"/>
                </a:lnTo>
                <a:lnTo>
                  <a:pt x="883163" y="2647"/>
                </a:lnTo>
                <a:lnTo>
                  <a:pt x="955234" y="669"/>
                </a:lnTo>
                <a:lnTo>
                  <a:pt x="1028700" y="0"/>
                </a:lnTo>
                <a:lnTo>
                  <a:pt x="1102173" y="669"/>
                </a:lnTo>
                <a:lnTo>
                  <a:pt x="1174250" y="2647"/>
                </a:lnTo>
                <a:lnTo>
                  <a:pt x="1244758" y="5890"/>
                </a:lnTo>
                <a:lnTo>
                  <a:pt x="1313523" y="10351"/>
                </a:lnTo>
                <a:lnTo>
                  <a:pt x="1380370" y="15985"/>
                </a:lnTo>
                <a:lnTo>
                  <a:pt x="1445126" y="22749"/>
                </a:lnTo>
                <a:lnTo>
                  <a:pt x="1507616" y="30595"/>
                </a:lnTo>
                <a:lnTo>
                  <a:pt x="1567667" y="39480"/>
                </a:lnTo>
                <a:lnTo>
                  <a:pt x="1625105" y="49359"/>
                </a:lnTo>
                <a:lnTo>
                  <a:pt x="1679755" y="60185"/>
                </a:lnTo>
                <a:lnTo>
                  <a:pt x="1731444" y="71915"/>
                </a:lnTo>
                <a:lnTo>
                  <a:pt x="1779998" y="84503"/>
                </a:lnTo>
                <a:lnTo>
                  <a:pt x="1825242" y="97903"/>
                </a:lnTo>
                <a:lnTo>
                  <a:pt x="1867003" y="112072"/>
                </a:lnTo>
                <a:lnTo>
                  <a:pt x="1905107" y="126963"/>
                </a:lnTo>
                <a:lnTo>
                  <a:pt x="1969647" y="158733"/>
                </a:lnTo>
                <a:lnTo>
                  <a:pt x="2017471" y="192853"/>
                </a:lnTo>
                <a:lnTo>
                  <a:pt x="2047185" y="228962"/>
                </a:lnTo>
                <a:lnTo>
                  <a:pt x="2057400" y="266700"/>
                </a:lnTo>
                <a:lnTo>
                  <a:pt x="2054817" y="285749"/>
                </a:lnTo>
                <a:lnTo>
                  <a:pt x="2034679" y="322717"/>
                </a:lnTo>
                <a:lnTo>
                  <a:pt x="1995736" y="357877"/>
                </a:lnTo>
                <a:lnTo>
                  <a:pt x="1939380" y="390867"/>
                </a:lnTo>
                <a:lnTo>
                  <a:pt x="1867003" y="421327"/>
                </a:lnTo>
                <a:lnTo>
                  <a:pt x="1825242" y="435496"/>
                </a:lnTo>
                <a:lnTo>
                  <a:pt x="1779998" y="448896"/>
                </a:lnTo>
                <a:lnTo>
                  <a:pt x="1731444" y="461484"/>
                </a:lnTo>
                <a:lnTo>
                  <a:pt x="1679755" y="473214"/>
                </a:lnTo>
                <a:lnTo>
                  <a:pt x="1625105" y="484040"/>
                </a:lnTo>
                <a:lnTo>
                  <a:pt x="1567667" y="493919"/>
                </a:lnTo>
                <a:lnTo>
                  <a:pt x="1507616" y="502804"/>
                </a:lnTo>
                <a:lnTo>
                  <a:pt x="1445126" y="510650"/>
                </a:lnTo>
                <a:lnTo>
                  <a:pt x="1380370" y="517414"/>
                </a:lnTo>
                <a:lnTo>
                  <a:pt x="1313523" y="523048"/>
                </a:lnTo>
                <a:lnTo>
                  <a:pt x="1244758" y="527509"/>
                </a:lnTo>
                <a:lnTo>
                  <a:pt x="1174250" y="530752"/>
                </a:lnTo>
                <a:lnTo>
                  <a:pt x="1102173" y="532730"/>
                </a:lnTo>
                <a:lnTo>
                  <a:pt x="1028700" y="533400"/>
                </a:lnTo>
                <a:lnTo>
                  <a:pt x="955234" y="532730"/>
                </a:lnTo>
                <a:lnTo>
                  <a:pt x="883163" y="530752"/>
                </a:lnTo>
                <a:lnTo>
                  <a:pt x="812660" y="527509"/>
                </a:lnTo>
                <a:lnTo>
                  <a:pt x="743899" y="523048"/>
                </a:lnTo>
                <a:lnTo>
                  <a:pt x="677054" y="517414"/>
                </a:lnTo>
                <a:lnTo>
                  <a:pt x="612300" y="510650"/>
                </a:lnTo>
                <a:lnTo>
                  <a:pt x="549811" y="502804"/>
                </a:lnTo>
                <a:lnTo>
                  <a:pt x="489760" y="493919"/>
                </a:lnTo>
                <a:lnTo>
                  <a:pt x="432322" y="484040"/>
                </a:lnTo>
                <a:lnTo>
                  <a:pt x="377670" y="473214"/>
                </a:lnTo>
                <a:lnTo>
                  <a:pt x="325980" y="461484"/>
                </a:lnTo>
                <a:lnTo>
                  <a:pt x="277424" y="448896"/>
                </a:lnTo>
                <a:lnTo>
                  <a:pt x="232177" y="435496"/>
                </a:lnTo>
                <a:lnTo>
                  <a:pt x="190413" y="421327"/>
                </a:lnTo>
                <a:lnTo>
                  <a:pt x="152307" y="406436"/>
                </a:lnTo>
                <a:lnTo>
                  <a:pt x="87761" y="374666"/>
                </a:lnTo>
                <a:lnTo>
                  <a:pt x="39933" y="340546"/>
                </a:lnTo>
                <a:lnTo>
                  <a:pt x="10215" y="304437"/>
                </a:lnTo>
                <a:lnTo>
                  <a:pt x="0" y="26670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611" y="189737"/>
            <a:ext cx="1830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C++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29761" y="64769"/>
            <a:ext cx="2057400" cy="533400"/>
          </a:xfrm>
          <a:custGeom>
            <a:avLst/>
            <a:gdLst/>
            <a:ahLst/>
            <a:cxnLst/>
            <a:rect l="l" t="t" r="r" b="b"/>
            <a:pathLst>
              <a:path w="2057400" h="533400">
                <a:moveTo>
                  <a:pt x="0" y="266700"/>
                </a:moveTo>
                <a:lnTo>
                  <a:pt x="10214" y="228962"/>
                </a:lnTo>
                <a:lnTo>
                  <a:pt x="39928" y="192853"/>
                </a:lnTo>
                <a:lnTo>
                  <a:pt x="87752" y="158733"/>
                </a:lnTo>
                <a:lnTo>
                  <a:pt x="152292" y="126963"/>
                </a:lnTo>
                <a:lnTo>
                  <a:pt x="190396" y="112072"/>
                </a:lnTo>
                <a:lnTo>
                  <a:pt x="232157" y="97903"/>
                </a:lnTo>
                <a:lnTo>
                  <a:pt x="277401" y="84503"/>
                </a:lnTo>
                <a:lnTo>
                  <a:pt x="325955" y="71915"/>
                </a:lnTo>
                <a:lnTo>
                  <a:pt x="377644" y="60185"/>
                </a:lnTo>
                <a:lnTo>
                  <a:pt x="432294" y="49359"/>
                </a:lnTo>
                <a:lnTo>
                  <a:pt x="489732" y="39480"/>
                </a:lnTo>
                <a:lnTo>
                  <a:pt x="549783" y="30595"/>
                </a:lnTo>
                <a:lnTo>
                  <a:pt x="612273" y="22749"/>
                </a:lnTo>
                <a:lnTo>
                  <a:pt x="677029" y="15985"/>
                </a:lnTo>
                <a:lnTo>
                  <a:pt x="743876" y="10351"/>
                </a:lnTo>
                <a:lnTo>
                  <a:pt x="812641" y="5890"/>
                </a:lnTo>
                <a:lnTo>
                  <a:pt x="883149" y="2647"/>
                </a:lnTo>
                <a:lnTo>
                  <a:pt x="955226" y="669"/>
                </a:lnTo>
                <a:lnTo>
                  <a:pt x="1028700" y="0"/>
                </a:lnTo>
                <a:lnTo>
                  <a:pt x="1102173" y="669"/>
                </a:lnTo>
                <a:lnTo>
                  <a:pt x="1174250" y="2647"/>
                </a:lnTo>
                <a:lnTo>
                  <a:pt x="1244758" y="5890"/>
                </a:lnTo>
                <a:lnTo>
                  <a:pt x="1313523" y="10351"/>
                </a:lnTo>
                <a:lnTo>
                  <a:pt x="1380370" y="15985"/>
                </a:lnTo>
                <a:lnTo>
                  <a:pt x="1445126" y="22749"/>
                </a:lnTo>
                <a:lnTo>
                  <a:pt x="1507616" y="30595"/>
                </a:lnTo>
                <a:lnTo>
                  <a:pt x="1567667" y="39480"/>
                </a:lnTo>
                <a:lnTo>
                  <a:pt x="1625105" y="49359"/>
                </a:lnTo>
                <a:lnTo>
                  <a:pt x="1679755" y="60185"/>
                </a:lnTo>
                <a:lnTo>
                  <a:pt x="1731444" y="71915"/>
                </a:lnTo>
                <a:lnTo>
                  <a:pt x="1779998" y="84503"/>
                </a:lnTo>
                <a:lnTo>
                  <a:pt x="1825242" y="97903"/>
                </a:lnTo>
                <a:lnTo>
                  <a:pt x="1867003" y="112072"/>
                </a:lnTo>
                <a:lnTo>
                  <a:pt x="1905107" y="126963"/>
                </a:lnTo>
                <a:lnTo>
                  <a:pt x="1969647" y="158733"/>
                </a:lnTo>
                <a:lnTo>
                  <a:pt x="2017471" y="192853"/>
                </a:lnTo>
                <a:lnTo>
                  <a:pt x="2047185" y="228962"/>
                </a:lnTo>
                <a:lnTo>
                  <a:pt x="2057400" y="266700"/>
                </a:lnTo>
                <a:lnTo>
                  <a:pt x="2054817" y="285749"/>
                </a:lnTo>
                <a:lnTo>
                  <a:pt x="2034679" y="322717"/>
                </a:lnTo>
                <a:lnTo>
                  <a:pt x="1995736" y="357877"/>
                </a:lnTo>
                <a:lnTo>
                  <a:pt x="1939380" y="390867"/>
                </a:lnTo>
                <a:lnTo>
                  <a:pt x="1867003" y="421327"/>
                </a:lnTo>
                <a:lnTo>
                  <a:pt x="1825242" y="435496"/>
                </a:lnTo>
                <a:lnTo>
                  <a:pt x="1779998" y="448896"/>
                </a:lnTo>
                <a:lnTo>
                  <a:pt x="1731444" y="461484"/>
                </a:lnTo>
                <a:lnTo>
                  <a:pt x="1679755" y="473214"/>
                </a:lnTo>
                <a:lnTo>
                  <a:pt x="1625105" y="484040"/>
                </a:lnTo>
                <a:lnTo>
                  <a:pt x="1567667" y="493919"/>
                </a:lnTo>
                <a:lnTo>
                  <a:pt x="1507616" y="502804"/>
                </a:lnTo>
                <a:lnTo>
                  <a:pt x="1445126" y="510650"/>
                </a:lnTo>
                <a:lnTo>
                  <a:pt x="1380370" y="517414"/>
                </a:lnTo>
                <a:lnTo>
                  <a:pt x="1313523" y="523048"/>
                </a:lnTo>
                <a:lnTo>
                  <a:pt x="1244758" y="527509"/>
                </a:lnTo>
                <a:lnTo>
                  <a:pt x="1174250" y="530752"/>
                </a:lnTo>
                <a:lnTo>
                  <a:pt x="1102173" y="532730"/>
                </a:lnTo>
                <a:lnTo>
                  <a:pt x="1028700" y="533400"/>
                </a:lnTo>
                <a:lnTo>
                  <a:pt x="955226" y="532730"/>
                </a:lnTo>
                <a:lnTo>
                  <a:pt x="883149" y="530752"/>
                </a:lnTo>
                <a:lnTo>
                  <a:pt x="812641" y="527509"/>
                </a:lnTo>
                <a:lnTo>
                  <a:pt x="743876" y="523048"/>
                </a:lnTo>
                <a:lnTo>
                  <a:pt x="677029" y="517414"/>
                </a:lnTo>
                <a:lnTo>
                  <a:pt x="612273" y="510650"/>
                </a:lnTo>
                <a:lnTo>
                  <a:pt x="549783" y="502804"/>
                </a:lnTo>
                <a:lnTo>
                  <a:pt x="489732" y="493919"/>
                </a:lnTo>
                <a:lnTo>
                  <a:pt x="432294" y="484040"/>
                </a:lnTo>
                <a:lnTo>
                  <a:pt x="377644" y="473214"/>
                </a:lnTo>
                <a:lnTo>
                  <a:pt x="325955" y="461484"/>
                </a:lnTo>
                <a:lnTo>
                  <a:pt x="277401" y="448896"/>
                </a:lnTo>
                <a:lnTo>
                  <a:pt x="232157" y="435496"/>
                </a:lnTo>
                <a:lnTo>
                  <a:pt x="190396" y="421327"/>
                </a:lnTo>
                <a:lnTo>
                  <a:pt x="152292" y="406436"/>
                </a:lnTo>
                <a:lnTo>
                  <a:pt x="87752" y="374666"/>
                </a:lnTo>
                <a:lnTo>
                  <a:pt x="39928" y="340546"/>
                </a:lnTo>
                <a:lnTo>
                  <a:pt x="10214" y="304437"/>
                </a:lnTo>
                <a:lnTo>
                  <a:pt x="0" y="26670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60394" y="189737"/>
            <a:ext cx="1598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1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72961" y="761"/>
            <a:ext cx="2286000" cy="609600"/>
          </a:xfrm>
          <a:custGeom>
            <a:avLst/>
            <a:gdLst/>
            <a:ahLst/>
            <a:cxnLst/>
            <a:rect l="l" t="t" r="r" b="b"/>
            <a:pathLst>
              <a:path w="2286000" h="609600">
                <a:moveTo>
                  <a:pt x="0" y="304800"/>
                </a:moveTo>
                <a:lnTo>
                  <a:pt x="8904" y="266578"/>
                </a:lnTo>
                <a:lnTo>
                  <a:pt x="34904" y="229770"/>
                </a:lnTo>
                <a:lnTo>
                  <a:pt x="76930" y="194662"/>
                </a:lnTo>
                <a:lnTo>
                  <a:pt x="133909" y="161539"/>
                </a:lnTo>
                <a:lnTo>
                  <a:pt x="204772" y="130688"/>
                </a:lnTo>
                <a:lnTo>
                  <a:pt x="245075" y="116203"/>
                </a:lnTo>
                <a:lnTo>
                  <a:pt x="288448" y="102394"/>
                </a:lnTo>
                <a:lnTo>
                  <a:pt x="334756" y="89296"/>
                </a:lnTo>
                <a:lnTo>
                  <a:pt x="383865" y="76945"/>
                </a:lnTo>
                <a:lnTo>
                  <a:pt x="435643" y="65377"/>
                </a:lnTo>
                <a:lnTo>
                  <a:pt x="489955" y="54626"/>
                </a:lnTo>
                <a:lnTo>
                  <a:pt x="546667" y="44730"/>
                </a:lnTo>
                <a:lnTo>
                  <a:pt x="605645" y="35724"/>
                </a:lnTo>
                <a:lnTo>
                  <a:pt x="666756" y="27643"/>
                </a:lnTo>
                <a:lnTo>
                  <a:pt x="729865" y="20524"/>
                </a:lnTo>
                <a:lnTo>
                  <a:pt x="794839" y="14401"/>
                </a:lnTo>
                <a:lnTo>
                  <a:pt x="861545" y="9312"/>
                </a:lnTo>
                <a:lnTo>
                  <a:pt x="929847" y="5291"/>
                </a:lnTo>
                <a:lnTo>
                  <a:pt x="999613" y="2375"/>
                </a:lnTo>
                <a:lnTo>
                  <a:pt x="1070708" y="599"/>
                </a:lnTo>
                <a:lnTo>
                  <a:pt x="1142999" y="0"/>
                </a:lnTo>
                <a:lnTo>
                  <a:pt x="1215291" y="599"/>
                </a:lnTo>
                <a:lnTo>
                  <a:pt x="1286386" y="2375"/>
                </a:lnTo>
                <a:lnTo>
                  <a:pt x="1356152" y="5291"/>
                </a:lnTo>
                <a:lnTo>
                  <a:pt x="1424454" y="9312"/>
                </a:lnTo>
                <a:lnTo>
                  <a:pt x="1491160" y="14401"/>
                </a:lnTo>
                <a:lnTo>
                  <a:pt x="1556134" y="20524"/>
                </a:lnTo>
                <a:lnTo>
                  <a:pt x="1619243" y="27643"/>
                </a:lnTo>
                <a:lnTo>
                  <a:pt x="1680354" y="35724"/>
                </a:lnTo>
                <a:lnTo>
                  <a:pt x="1739332" y="44730"/>
                </a:lnTo>
                <a:lnTo>
                  <a:pt x="1796044" y="54626"/>
                </a:lnTo>
                <a:lnTo>
                  <a:pt x="1850356" y="65377"/>
                </a:lnTo>
                <a:lnTo>
                  <a:pt x="1902134" y="76945"/>
                </a:lnTo>
                <a:lnTo>
                  <a:pt x="1951243" y="89296"/>
                </a:lnTo>
                <a:lnTo>
                  <a:pt x="1997551" y="102394"/>
                </a:lnTo>
                <a:lnTo>
                  <a:pt x="2040924" y="116203"/>
                </a:lnTo>
                <a:lnTo>
                  <a:pt x="2081227" y="130688"/>
                </a:lnTo>
                <a:lnTo>
                  <a:pt x="2118327" y="145811"/>
                </a:lnTo>
                <a:lnTo>
                  <a:pt x="2182382" y="177834"/>
                </a:lnTo>
                <a:lnTo>
                  <a:pt x="2232018" y="211985"/>
                </a:lnTo>
                <a:lnTo>
                  <a:pt x="2266165" y="247980"/>
                </a:lnTo>
                <a:lnTo>
                  <a:pt x="2283751" y="285530"/>
                </a:lnTo>
                <a:lnTo>
                  <a:pt x="2285999" y="304800"/>
                </a:lnTo>
                <a:lnTo>
                  <a:pt x="2283751" y="324069"/>
                </a:lnTo>
                <a:lnTo>
                  <a:pt x="2266165" y="361619"/>
                </a:lnTo>
                <a:lnTo>
                  <a:pt x="2232018" y="397614"/>
                </a:lnTo>
                <a:lnTo>
                  <a:pt x="2182382" y="431765"/>
                </a:lnTo>
                <a:lnTo>
                  <a:pt x="2118327" y="463788"/>
                </a:lnTo>
                <a:lnTo>
                  <a:pt x="2081227" y="478911"/>
                </a:lnTo>
                <a:lnTo>
                  <a:pt x="2040924" y="493396"/>
                </a:lnTo>
                <a:lnTo>
                  <a:pt x="1997551" y="507205"/>
                </a:lnTo>
                <a:lnTo>
                  <a:pt x="1951243" y="520303"/>
                </a:lnTo>
                <a:lnTo>
                  <a:pt x="1902134" y="532654"/>
                </a:lnTo>
                <a:lnTo>
                  <a:pt x="1850356" y="544222"/>
                </a:lnTo>
                <a:lnTo>
                  <a:pt x="1796044" y="554973"/>
                </a:lnTo>
                <a:lnTo>
                  <a:pt x="1739332" y="564869"/>
                </a:lnTo>
                <a:lnTo>
                  <a:pt x="1680354" y="573875"/>
                </a:lnTo>
                <a:lnTo>
                  <a:pt x="1619243" y="581956"/>
                </a:lnTo>
                <a:lnTo>
                  <a:pt x="1556134" y="589075"/>
                </a:lnTo>
                <a:lnTo>
                  <a:pt x="1491160" y="595198"/>
                </a:lnTo>
                <a:lnTo>
                  <a:pt x="1424454" y="600287"/>
                </a:lnTo>
                <a:lnTo>
                  <a:pt x="1356152" y="604308"/>
                </a:lnTo>
                <a:lnTo>
                  <a:pt x="1286386" y="607224"/>
                </a:lnTo>
                <a:lnTo>
                  <a:pt x="1215291" y="609000"/>
                </a:lnTo>
                <a:lnTo>
                  <a:pt x="1142999" y="609600"/>
                </a:lnTo>
                <a:lnTo>
                  <a:pt x="1070708" y="609000"/>
                </a:lnTo>
                <a:lnTo>
                  <a:pt x="999613" y="607224"/>
                </a:lnTo>
                <a:lnTo>
                  <a:pt x="929847" y="604308"/>
                </a:lnTo>
                <a:lnTo>
                  <a:pt x="861545" y="600287"/>
                </a:lnTo>
                <a:lnTo>
                  <a:pt x="794839" y="595198"/>
                </a:lnTo>
                <a:lnTo>
                  <a:pt x="729865" y="589075"/>
                </a:lnTo>
                <a:lnTo>
                  <a:pt x="666756" y="581956"/>
                </a:lnTo>
                <a:lnTo>
                  <a:pt x="605645" y="573875"/>
                </a:lnTo>
                <a:lnTo>
                  <a:pt x="546667" y="564869"/>
                </a:lnTo>
                <a:lnTo>
                  <a:pt x="489955" y="554973"/>
                </a:lnTo>
                <a:lnTo>
                  <a:pt x="435643" y="544222"/>
                </a:lnTo>
                <a:lnTo>
                  <a:pt x="383865" y="532654"/>
                </a:lnTo>
                <a:lnTo>
                  <a:pt x="334756" y="520303"/>
                </a:lnTo>
                <a:lnTo>
                  <a:pt x="288448" y="507205"/>
                </a:lnTo>
                <a:lnTo>
                  <a:pt x="245075" y="493396"/>
                </a:lnTo>
                <a:lnTo>
                  <a:pt x="204772" y="478911"/>
                </a:lnTo>
                <a:lnTo>
                  <a:pt x="167672" y="463788"/>
                </a:lnTo>
                <a:lnTo>
                  <a:pt x="103617" y="431765"/>
                </a:lnTo>
                <a:lnTo>
                  <a:pt x="53981" y="397614"/>
                </a:lnTo>
                <a:lnTo>
                  <a:pt x="19834" y="361619"/>
                </a:lnTo>
                <a:lnTo>
                  <a:pt x="2248" y="324069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47003" y="164084"/>
            <a:ext cx="21412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Fortran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1361" y="979169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0" y="457200"/>
                </a:moveTo>
                <a:lnTo>
                  <a:pt x="1371600" y="457200"/>
                </a:lnTo>
                <a:lnTo>
                  <a:pt x="13716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6642" y="1048969"/>
            <a:ext cx="1097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C++Parser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0761" y="979169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0" y="457200"/>
                </a:moveTo>
                <a:lnTo>
                  <a:pt x="1371600" y="457200"/>
                </a:lnTo>
                <a:lnTo>
                  <a:pt x="13716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19550" y="1048969"/>
            <a:ext cx="952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800" b="1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Parser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89953" y="979169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0" y="457200"/>
                </a:moveTo>
                <a:lnTo>
                  <a:pt x="1828800" y="457200"/>
                </a:lnTo>
                <a:lnTo>
                  <a:pt x="18288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513703" y="1048969"/>
            <a:ext cx="178371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FORTRAN</a:t>
            </a:r>
            <a:r>
              <a:rPr sz="16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Parser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72561" y="1931670"/>
            <a:ext cx="3200400" cy="533400"/>
          </a:xfrm>
          <a:custGeom>
            <a:avLst/>
            <a:gdLst/>
            <a:ahLst/>
            <a:cxnLst/>
            <a:rect l="l" t="t" r="r" b="b"/>
            <a:pathLst>
              <a:path w="3200400" h="533400">
                <a:moveTo>
                  <a:pt x="0" y="266700"/>
                </a:moveTo>
                <a:lnTo>
                  <a:pt x="15444" y="229491"/>
                </a:lnTo>
                <a:lnTo>
                  <a:pt x="60394" y="193859"/>
                </a:lnTo>
                <a:lnTo>
                  <a:pt x="105729" y="171151"/>
                </a:lnTo>
                <a:lnTo>
                  <a:pt x="162641" y="149400"/>
                </a:lnTo>
                <a:lnTo>
                  <a:pt x="230515" y="128709"/>
                </a:lnTo>
                <a:lnTo>
                  <a:pt x="268371" y="118792"/>
                </a:lnTo>
                <a:lnTo>
                  <a:pt x="308738" y="109179"/>
                </a:lnTo>
                <a:lnTo>
                  <a:pt x="351537" y="99881"/>
                </a:lnTo>
                <a:lnTo>
                  <a:pt x="396693" y="90913"/>
                </a:lnTo>
                <a:lnTo>
                  <a:pt x="444128" y="82286"/>
                </a:lnTo>
                <a:lnTo>
                  <a:pt x="493767" y="74013"/>
                </a:lnTo>
                <a:lnTo>
                  <a:pt x="545531" y="66108"/>
                </a:lnTo>
                <a:lnTo>
                  <a:pt x="599345" y="58582"/>
                </a:lnTo>
                <a:lnTo>
                  <a:pt x="655131" y="51450"/>
                </a:lnTo>
                <a:lnTo>
                  <a:pt x="712812" y="44723"/>
                </a:lnTo>
                <a:lnTo>
                  <a:pt x="772312" y="38414"/>
                </a:lnTo>
                <a:lnTo>
                  <a:pt x="833554" y="32536"/>
                </a:lnTo>
                <a:lnTo>
                  <a:pt x="896460" y="27103"/>
                </a:lnTo>
                <a:lnTo>
                  <a:pt x="960955" y="22126"/>
                </a:lnTo>
                <a:lnTo>
                  <a:pt x="1026961" y="17619"/>
                </a:lnTo>
                <a:lnTo>
                  <a:pt x="1094402" y="13594"/>
                </a:lnTo>
                <a:lnTo>
                  <a:pt x="1163201" y="10064"/>
                </a:lnTo>
                <a:lnTo>
                  <a:pt x="1233280" y="7042"/>
                </a:lnTo>
                <a:lnTo>
                  <a:pt x="1304563" y="4541"/>
                </a:lnTo>
                <a:lnTo>
                  <a:pt x="1376974" y="2573"/>
                </a:lnTo>
                <a:lnTo>
                  <a:pt x="1450434" y="1152"/>
                </a:lnTo>
                <a:lnTo>
                  <a:pt x="1524869" y="290"/>
                </a:lnTo>
                <a:lnTo>
                  <a:pt x="1600200" y="0"/>
                </a:lnTo>
                <a:lnTo>
                  <a:pt x="1675530" y="290"/>
                </a:lnTo>
                <a:lnTo>
                  <a:pt x="1749965" y="1152"/>
                </a:lnTo>
                <a:lnTo>
                  <a:pt x="1823425" y="2573"/>
                </a:lnTo>
                <a:lnTo>
                  <a:pt x="1895836" y="4541"/>
                </a:lnTo>
                <a:lnTo>
                  <a:pt x="1967119" y="7042"/>
                </a:lnTo>
                <a:lnTo>
                  <a:pt x="2037198" y="10064"/>
                </a:lnTo>
                <a:lnTo>
                  <a:pt x="2105997" y="13594"/>
                </a:lnTo>
                <a:lnTo>
                  <a:pt x="2173438" y="17619"/>
                </a:lnTo>
                <a:lnTo>
                  <a:pt x="2239444" y="22126"/>
                </a:lnTo>
                <a:lnTo>
                  <a:pt x="2303939" y="27103"/>
                </a:lnTo>
                <a:lnTo>
                  <a:pt x="2366845" y="32536"/>
                </a:lnTo>
                <a:lnTo>
                  <a:pt x="2428087" y="38414"/>
                </a:lnTo>
                <a:lnTo>
                  <a:pt x="2487587" y="44723"/>
                </a:lnTo>
                <a:lnTo>
                  <a:pt x="2545268" y="51450"/>
                </a:lnTo>
                <a:lnTo>
                  <a:pt x="2601054" y="58582"/>
                </a:lnTo>
                <a:lnTo>
                  <a:pt x="2654868" y="66108"/>
                </a:lnTo>
                <a:lnTo>
                  <a:pt x="2706632" y="74013"/>
                </a:lnTo>
                <a:lnTo>
                  <a:pt x="2756271" y="82286"/>
                </a:lnTo>
                <a:lnTo>
                  <a:pt x="2803706" y="90913"/>
                </a:lnTo>
                <a:lnTo>
                  <a:pt x="2848862" y="99881"/>
                </a:lnTo>
                <a:lnTo>
                  <a:pt x="2891661" y="109179"/>
                </a:lnTo>
                <a:lnTo>
                  <a:pt x="2932028" y="118792"/>
                </a:lnTo>
                <a:lnTo>
                  <a:pt x="2969884" y="128709"/>
                </a:lnTo>
                <a:lnTo>
                  <a:pt x="3037758" y="149400"/>
                </a:lnTo>
                <a:lnTo>
                  <a:pt x="3094670" y="171151"/>
                </a:lnTo>
                <a:lnTo>
                  <a:pt x="3140005" y="193859"/>
                </a:lnTo>
                <a:lnTo>
                  <a:pt x="3173148" y="217421"/>
                </a:lnTo>
                <a:lnTo>
                  <a:pt x="3198658" y="254143"/>
                </a:lnTo>
                <a:lnTo>
                  <a:pt x="3200400" y="266700"/>
                </a:lnTo>
                <a:lnTo>
                  <a:pt x="3198658" y="279256"/>
                </a:lnTo>
                <a:lnTo>
                  <a:pt x="3173148" y="315978"/>
                </a:lnTo>
                <a:lnTo>
                  <a:pt x="3140005" y="339540"/>
                </a:lnTo>
                <a:lnTo>
                  <a:pt x="3094670" y="362248"/>
                </a:lnTo>
                <a:lnTo>
                  <a:pt x="3037758" y="383999"/>
                </a:lnTo>
                <a:lnTo>
                  <a:pt x="2969884" y="404690"/>
                </a:lnTo>
                <a:lnTo>
                  <a:pt x="2932028" y="414607"/>
                </a:lnTo>
                <a:lnTo>
                  <a:pt x="2891661" y="424220"/>
                </a:lnTo>
                <a:lnTo>
                  <a:pt x="2848862" y="433518"/>
                </a:lnTo>
                <a:lnTo>
                  <a:pt x="2803706" y="442486"/>
                </a:lnTo>
                <a:lnTo>
                  <a:pt x="2756271" y="451113"/>
                </a:lnTo>
                <a:lnTo>
                  <a:pt x="2706632" y="459386"/>
                </a:lnTo>
                <a:lnTo>
                  <a:pt x="2654868" y="467291"/>
                </a:lnTo>
                <a:lnTo>
                  <a:pt x="2601054" y="474817"/>
                </a:lnTo>
                <a:lnTo>
                  <a:pt x="2545268" y="481949"/>
                </a:lnTo>
                <a:lnTo>
                  <a:pt x="2487587" y="488676"/>
                </a:lnTo>
                <a:lnTo>
                  <a:pt x="2428087" y="494985"/>
                </a:lnTo>
                <a:lnTo>
                  <a:pt x="2366845" y="500863"/>
                </a:lnTo>
                <a:lnTo>
                  <a:pt x="2303939" y="506296"/>
                </a:lnTo>
                <a:lnTo>
                  <a:pt x="2239444" y="511273"/>
                </a:lnTo>
                <a:lnTo>
                  <a:pt x="2173438" y="515780"/>
                </a:lnTo>
                <a:lnTo>
                  <a:pt x="2105997" y="519805"/>
                </a:lnTo>
                <a:lnTo>
                  <a:pt x="2037198" y="523335"/>
                </a:lnTo>
                <a:lnTo>
                  <a:pt x="1967119" y="526357"/>
                </a:lnTo>
                <a:lnTo>
                  <a:pt x="1895836" y="528858"/>
                </a:lnTo>
                <a:lnTo>
                  <a:pt x="1823425" y="530826"/>
                </a:lnTo>
                <a:lnTo>
                  <a:pt x="1749965" y="532247"/>
                </a:lnTo>
                <a:lnTo>
                  <a:pt x="1675530" y="533109"/>
                </a:lnTo>
                <a:lnTo>
                  <a:pt x="1600200" y="533400"/>
                </a:lnTo>
                <a:lnTo>
                  <a:pt x="1524869" y="533109"/>
                </a:lnTo>
                <a:lnTo>
                  <a:pt x="1450434" y="532247"/>
                </a:lnTo>
                <a:lnTo>
                  <a:pt x="1376974" y="530826"/>
                </a:lnTo>
                <a:lnTo>
                  <a:pt x="1304563" y="528858"/>
                </a:lnTo>
                <a:lnTo>
                  <a:pt x="1233280" y="526357"/>
                </a:lnTo>
                <a:lnTo>
                  <a:pt x="1163201" y="523335"/>
                </a:lnTo>
                <a:lnTo>
                  <a:pt x="1094402" y="519805"/>
                </a:lnTo>
                <a:lnTo>
                  <a:pt x="1026961" y="515780"/>
                </a:lnTo>
                <a:lnTo>
                  <a:pt x="960955" y="511273"/>
                </a:lnTo>
                <a:lnTo>
                  <a:pt x="896460" y="506296"/>
                </a:lnTo>
                <a:lnTo>
                  <a:pt x="833554" y="500863"/>
                </a:lnTo>
                <a:lnTo>
                  <a:pt x="772312" y="494985"/>
                </a:lnTo>
                <a:lnTo>
                  <a:pt x="712812" y="488676"/>
                </a:lnTo>
                <a:lnTo>
                  <a:pt x="655131" y="481949"/>
                </a:lnTo>
                <a:lnTo>
                  <a:pt x="599345" y="474817"/>
                </a:lnTo>
                <a:lnTo>
                  <a:pt x="545531" y="467291"/>
                </a:lnTo>
                <a:lnTo>
                  <a:pt x="493767" y="459386"/>
                </a:lnTo>
                <a:lnTo>
                  <a:pt x="444128" y="451113"/>
                </a:lnTo>
                <a:lnTo>
                  <a:pt x="396693" y="442486"/>
                </a:lnTo>
                <a:lnTo>
                  <a:pt x="351537" y="433518"/>
                </a:lnTo>
                <a:lnTo>
                  <a:pt x="308738" y="424220"/>
                </a:lnTo>
                <a:lnTo>
                  <a:pt x="268371" y="414607"/>
                </a:lnTo>
                <a:lnTo>
                  <a:pt x="230515" y="404690"/>
                </a:lnTo>
                <a:lnTo>
                  <a:pt x="162641" y="383999"/>
                </a:lnTo>
                <a:lnTo>
                  <a:pt x="105729" y="362248"/>
                </a:lnTo>
                <a:lnTo>
                  <a:pt x="60394" y="339540"/>
                </a:lnTo>
                <a:lnTo>
                  <a:pt x="27251" y="315978"/>
                </a:lnTo>
                <a:lnTo>
                  <a:pt x="1741" y="279256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20414" y="1991359"/>
            <a:ext cx="150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Syntax</a:t>
            </a:r>
            <a:r>
              <a:rPr sz="2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tree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00200" y="597408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19600" y="597408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15200" y="597408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96361" y="2756154"/>
            <a:ext cx="3276600" cy="457200"/>
          </a:xfrm>
          <a:prstGeom prst="rect">
            <a:avLst/>
          </a:prstGeom>
          <a:solidFill>
            <a:srgbClr val="006600">
              <a:alpha val="30195"/>
            </a:srgbClr>
          </a:solidFill>
          <a:ln w="19050">
            <a:solidFill>
              <a:srgbClr val="FFFFF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280"/>
              </a:spcBef>
            </a:pPr>
            <a:r>
              <a:rPr sz="24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RTL</a:t>
            </a:r>
            <a:r>
              <a:rPr sz="240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Generater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34461" y="3429761"/>
            <a:ext cx="3124200" cy="457200"/>
          </a:xfrm>
          <a:custGeom>
            <a:avLst/>
            <a:gdLst/>
            <a:ahLst/>
            <a:cxnLst/>
            <a:rect l="l" t="t" r="r" b="b"/>
            <a:pathLst>
              <a:path w="3124200" h="457200">
                <a:moveTo>
                  <a:pt x="0" y="228600"/>
                </a:moveTo>
                <a:lnTo>
                  <a:pt x="29872" y="183887"/>
                </a:lnTo>
                <a:lnTo>
                  <a:pt x="66138" y="162582"/>
                </a:lnTo>
                <a:lnTo>
                  <a:pt x="115670" y="142118"/>
                </a:lnTo>
                <a:lnTo>
                  <a:pt x="177752" y="122599"/>
                </a:lnTo>
                <a:lnTo>
                  <a:pt x="251667" y="104131"/>
                </a:lnTo>
                <a:lnTo>
                  <a:pt x="292838" y="95323"/>
                </a:lnTo>
                <a:lnTo>
                  <a:pt x="336699" y="86818"/>
                </a:lnTo>
                <a:lnTo>
                  <a:pt x="383161" y="78627"/>
                </a:lnTo>
                <a:lnTo>
                  <a:pt x="432133" y="70764"/>
                </a:lnTo>
                <a:lnTo>
                  <a:pt x="483527" y="63243"/>
                </a:lnTo>
                <a:lnTo>
                  <a:pt x="537252" y="56076"/>
                </a:lnTo>
                <a:lnTo>
                  <a:pt x="593220" y="49276"/>
                </a:lnTo>
                <a:lnTo>
                  <a:pt x="651341" y="42857"/>
                </a:lnTo>
                <a:lnTo>
                  <a:pt x="711525" y="36832"/>
                </a:lnTo>
                <a:lnTo>
                  <a:pt x="773683" y="31213"/>
                </a:lnTo>
                <a:lnTo>
                  <a:pt x="837726" y="26014"/>
                </a:lnTo>
                <a:lnTo>
                  <a:pt x="903563" y="21248"/>
                </a:lnTo>
                <a:lnTo>
                  <a:pt x="971106" y="16929"/>
                </a:lnTo>
                <a:lnTo>
                  <a:pt x="1040264" y="13068"/>
                </a:lnTo>
                <a:lnTo>
                  <a:pt x="1110949" y="9679"/>
                </a:lnTo>
                <a:lnTo>
                  <a:pt x="1183071" y="6776"/>
                </a:lnTo>
                <a:lnTo>
                  <a:pt x="1256540" y="4372"/>
                </a:lnTo>
                <a:lnTo>
                  <a:pt x="1331267" y="2478"/>
                </a:lnTo>
                <a:lnTo>
                  <a:pt x="1407162" y="1110"/>
                </a:lnTo>
                <a:lnTo>
                  <a:pt x="1484136" y="279"/>
                </a:lnTo>
                <a:lnTo>
                  <a:pt x="1562100" y="0"/>
                </a:lnTo>
                <a:lnTo>
                  <a:pt x="1640063" y="279"/>
                </a:lnTo>
                <a:lnTo>
                  <a:pt x="1717037" y="1110"/>
                </a:lnTo>
                <a:lnTo>
                  <a:pt x="1792932" y="2478"/>
                </a:lnTo>
                <a:lnTo>
                  <a:pt x="1867659" y="4372"/>
                </a:lnTo>
                <a:lnTo>
                  <a:pt x="1941128" y="6776"/>
                </a:lnTo>
                <a:lnTo>
                  <a:pt x="2013250" y="9679"/>
                </a:lnTo>
                <a:lnTo>
                  <a:pt x="2083935" y="13068"/>
                </a:lnTo>
                <a:lnTo>
                  <a:pt x="2153093" y="16929"/>
                </a:lnTo>
                <a:lnTo>
                  <a:pt x="2220636" y="21248"/>
                </a:lnTo>
                <a:lnTo>
                  <a:pt x="2286473" y="26014"/>
                </a:lnTo>
                <a:lnTo>
                  <a:pt x="2350516" y="31213"/>
                </a:lnTo>
                <a:lnTo>
                  <a:pt x="2412674" y="36832"/>
                </a:lnTo>
                <a:lnTo>
                  <a:pt x="2472858" y="42857"/>
                </a:lnTo>
                <a:lnTo>
                  <a:pt x="2530979" y="49276"/>
                </a:lnTo>
                <a:lnTo>
                  <a:pt x="2586947" y="56076"/>
                </a:lnTo>
                <a:lnTo>
                  <a:pt x="2640672" y="63243"/>
                </a:lnTo>
                <a:lnTo>
                  <a:pt x="2692066" y="70764"/>
                </a:lnTo>
                <a:lnTo>
                  <a:pt x="2741038" y="78627"/>
                </a:lnTo>
                <a:lnTo>
                  <a:pt x="2787500" y="86818"/>
                </a:lnTo>
                <a:lnTo>
                  <a:pt x="2831361" y="95323"/>
                </a:lnTo>
                <a:lnTo>
                  <a:pt x="2872532" y="104131"/>
                </a:lnTo>
                <a:lnTo>
                  <a:pt x="2910924" y="113227"/>
                </a:lnTo>
                <a:lnTo>
                  <a:pt x="2979012" y="132234"/>
                </a:lnTo>
                <a:lnTo>
                  <a:pt x="3034908" y="152238"/>
                </a:lnTo>
                <a:lnTo>
                  <a:pt x="3077897" y="173136"/>
                </a:lnTo>
                <a:lnTo>
                  <a:pt x="3116612" y="205928"/>
                </a:lnTo>
                <a:lnTo>
                  <a:pt x="3124200" y="228600"/>
                </a:lnTo>
                <a:lnTo>
                  <a:pt x="3122288" y="240008"/>
                </a:lnTo>
                <a:lnTo>
                  <a:pt x="3094327" y="273312"/>
                </a:lnTo>
                <a:lnTo>
                  <a:pt x="3058061" y="294617"/>
                </a:lnTo>
                <a:lnTo>
                  <a:pt x="3008529" y="315081"/>
                </a:lnTo>
                <a:lnTo>
                  <a:pt x="2946447" y="334600"/>
                </a:lnTo>
                <a:lnTo>
                  <a:pt x="2872532" y="353068"/>
                </a:lnTo>
                <a:lnTo>
                  <a:pt x="2831361" y="361876"/>
                </a:lnTo>
                <a:lnTo>
                  <a:pt x="2787500" y="370381"/>
                </a:lnTo>
                <a:lnTo>
                  <a:pt x="2741038" y="378572"/>
                </a:lnTo>
                <a:lnTo>
                  <a:pt x="2692066" y="386435"/>
                </a:lnTo>
                <a:lnTo>
                  <a:pt x="2640672" y="393956"/>
                </a:lnTo>
                <a:lnTo>
                  <a:pt x="2586947" y="401123"/>
                </a:lnTo>
                <a:lnTo>
                  <a:pt x="2530979" y="407923"/>
                </a:lnTo>
                <a:lnTo>
                  <a:pt x="2472858" y="414342"/>
                </a:lnTo>
                <a:lnTo>
                  <a:pt x="2412674" y="420367"/>
                </a:lnTo>
                <a:lnTo>
                  <a:pt x="2350516" y="425986"/>
                </a:lnTo>
                <a:lnTo>
                  <a:pt x="2286473" y="431185"/>
                </a:lnTo>
                <a:lnTo>
                  <a:pt x="2220636" y="435951"/>
                </a:lnTo>
                <a:lnTo>
                  <a:pt x="2153093" y="440270"/>
                </a:lnTo>
                <a:lnTo>
                  <a:pt x="2083935" y="444131"/>
                </a:lnTo>
                <a:lnTo>
                  <a:pt x="2013250" y="447520"/>
                </a:lnTo>
                <a:lnTo>
                  <a:pt x="1941128" y="450423"/>
                </a:lnTo>
                <a:lnTo>
                  <a:pt x="1867659" y="452827"/>
                </a:lnTo>
                <a:lnTo>
                  <a:pt x="1792932" y="454721"/>
                </a:lnTo>
                <a:lnTo>
                  <a:pt x="1717037" y="456089"/>
                </a:lnTo>
                <a:lnTo>
                  <a:pt x="1640063" y="456920"/>
                </a:lnTo>
                <a:lnTo>
                  <a:pt x="1562100" y="457200"/>
                </a:lnTo>
                <a:lnTo>
                  <a:pt x="1484136" y="456920"/>
                </a:lnTo>
                <a:lnTo>
                  <a:pt x="1407162" y="456089"/>
                </a:lnTo>
                <a:lnTo>
                  <a:pt x="1331267" y="454721"/>
                </a:lnTo>
                <a:lnTo>
                  <a:pt x="1256540" y="452827"/>
                </a:lnTo>
                <a:lnTo>
                  <a:pt x="1183071" y="450423"/>
                </a:lnTo>
                <a:lnTo>
                  <a:pt x="1110949" y="447520"/>
                </a:lnTo>
                <a:lnTo>
                  <a:pt x="1040264" y="444131"/>
                </a:lnTo>
                <a:lnTo>
                  <a:pt x="971106" y="440270"/>
                </a:lnTo>
                <a:lnTo>
                  <a:pt x="903563" y="435951"/>
                </a:lnTo>
                <a:lnTo>
                  <a:pt x="837726" y="431185"/>
                </a:lnTo>
                <a:lnTo>
                  <a:pt x="773684" y="425986"/>
                </a:lnTo>
                <a:lnTo>
                  <a:pt x="711525" y="420367"/>
                </a:lnTo>
                <a:lnTo>
                  <a:pt x="651341" y="414342"/>
                </a:lnTo>
                <a:lnTo>
                  <a:pt x="593220" y="407923"/>
                </a:lnTo>
                <a:lnTo>
                  <a:pt x="537252" y="401123"/>
                </a:lnTo>
                <a:lnTo>
                  <a:pt x="483527" y="393956"/>
                </a:lnTo>
                <a:lnTo>
                  <a:pt x="432133" y="386435"/>
                </a:lnTo>
                <a:lnTo>
                  <a:pt x="383161" y="378572"/>
                </a:lnTo>
                <a:lnTo>
                  <a:pt x="336699" y="370381"/>
                </a:lnTo>
                <a:lnTo>
                  <a:pt x="292838" y="361876"/>
                </a:lnTo>
                <a:lnTo>
                  <a:pt x="251667" y="353068"/>
                </a:lnTo>
                <a:lnTo>
                  <a:pt x="213275" y="343972"/>
                </a:lnTo>
                <a:lnTo>
                  <a:pt x="145187" y="324965"/>
                </a:lnTo>
                <a:lnTo>
                  <a:pt x="89291" y="304961"/>
                </a:lnTo>
                <a:lnTo>
                  <a:pt x="46302" y="284063"/>
                </a:lnTo>
                <a:lnTo>
                  <a:pt x="7587" y="251271"/>
                </a:lnTo>
                <a:lnTo>
                  <a:pt x="0" y="2286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376421" y="3484245"/>
            <a:ext cx="22396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RTL</a:t>
            </a:r>
            <a:r>
              <a:rPr sz="200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82261" y="1436369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0" y="457200"/>
                </a:moveTo>
                <a:lnTo>
                  <a:pt x="38100" y="533400"/>
                </a:lnTo>
                <a:lnTo>
                  <a:pt x="63500" y="482600"/>
                </a:lnTo>
                <a:lnTo>
                  <a:pt x="28575" y="482600"/>
                </a:lnTo>
                <a:lnTo>
                  <a:pt x="28575" y="476250"/>
                </a:lnTo>
                <a:lnTo>
                  <a:pt x="0" y="457200"/>
                </a:lnTo>
                <a:close/>
              </a:path>
              <a:path w="76200" h="533400">
                <a:moveTo>
                  <a:pt x="28575" y="476250"/>
                </a:moveTo>
                <a:lnTo>
                  <a:pt x="28575" y="482600"/>
                </a:lnTo>
                <a:lnTo>
                  <a:pt x="38100" y="482600"/>
                </a:lnTo>
                <a:lnTo>
                  <a:pt x="28575" y="476250"/>
                </a:lnTo>
                <a:close/>
              </a:path>
              <a:path w="76200" h="533400">
                <a:moveTo>
                  <a:pt x="47625" y="0"/>
                </a:moveTo>
                <a:lnTo>
                  <a:pt x="28575" y="0"/>
                </a:lnTo>
                <a:lnTo>
                  <a:pt x="28575" y="476250"/>
                </a:lnTo>
                <a:lnTo>
                  <a:pt x="38100" y="482600"/>
                </a:lnTo>
                <a:lnTo>
                  <a:pt x="47625" y="476250"/>
                </a:lnTo>
                <a:lnTo>
                  <a:pt x="47625" y="0"/>
                </a:lnTo>
                <a:close/>
              </a:path>
              <a:path w="76200" h="533400">
                <a:moveTo>
                  <a:pt x="47625" y="476250"/>
                </a:moveTo>
                <a:lnTo>
                  <a:pt x="38100" y="482600"/>
                </a:lnTo>
                <a:lnTo>
                  <a:pt x="47625" y="482600"/>
                </a:lnTo>
                <a:lnTo>
                  <a:pt x="47625" y="47625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7625" y="476250"/>
                </a:lnTo>
                <a:lnTo>
                  <a:pt x="47625" y="482600"/>
                </a:lnTo>
                <a:lnTo>
                  <a:pt x="63500" y="4826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63361" y="1427225"/>
            <a:ext cx="1755775" cy="556895"/>
          </a:xfrm>
          <a:custGeom>
            <a:avLst/>
            <a:gdLst/>
            <a:ahLst/>
            <a:cxnLst/>
            <a:rect l="l" t="t" r="r" b="b"/>
            <a:pathLst>
              <a:path w="1755775" h="556894">
                <a:moveTo>
                  <a:pt x="61849" y="483870"/>
                </a:moveTo>
                <a:lnTo>
                  <a:pt x="0" y="542544"/>
                </a:lnTo>
                <a:lnTo>
                  <a:pt x="83947" y="556768"/>
                </a:lnTo>
                <a:lnTo>
                  <a:pt x="59635" y="536828"/>
                </a:lnTo>
                <a:lnTo>
                  <a:pt x="51308" y="536828"/>
                </a:lnTo>
                <a:lnTo>
                  <a:pt x="45847" y="518668"/>
                </a:lnTo>
                <a:lnTo>
                  <a:pt x="51947" y="516811"/>
                </a:lnTo>
                <a:lnTo>
                  <a:pt x="61849" y="483870"/>
                </a:lnTo>
                <a:close/>
              </a:path>
              <a:path w="1755775" h="556894">
                <a:moveTo>
                  <a:pt x="51947" y="516811"/>
                </a:moveTo>
                <a:lnTo>
                  <a:pt x="45847" y="518668"/>
                </a:lnTo>
                <a:lnTo>
                  <a:pt x="51308" y="536828"/>
                </a:lnTo>
                <a:lnTo>
                  <a:pt x="57381" y="534980"/>
                </a:lnTo>
                <a:lnTo>
                  <a:pt x="48640" y="527812"/>
                </a:lnTo>
                <a:lnTo>
                  <a:pt x="51947" y="516811"/>
                </a:lnTo>
                <a:close/>
              </a:path>
              <a:path w="1755775" h="556894">
                <a:moveTo>
                  <a:pt x="57381" y="534980"/>
                </a:moveTo>
                <a:lnTo>
                  <a:pt x="51308" y="536828"/>
                </a:lnTo>
                <a:lnTo>
                  <a:pt x="59635" y="536828"/>
                </a:lnTo>
                <a:lnTo>
                  <a:pt x="57381" y="534980"/>
                </a:lnTo>
                <a:close/>
              </a:path>
              <a:path w="1755775" h="556894">
                <a:moveTo>
                  <a:pt x="1749806" y="0"/>
                </a:moveTo>
                <a:lnTo>
                  <a:pt x="51947" y="516811"/>
                </a:lnTo>
                <a:lnTo>
                  <a:pt x="48640" y="527812"/>
                </a:lnTo>
                <a:lnTo>
                  <a:pt x="57381" y="534980"/>
                </a:lnTo>
                <a:lnTo>
                  <a:pt x="1755393" y="18287"/>
                </a:lnTo>
                <a:lnTo>
                  <a:pt x="17498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97786" y="1427352"/>
            <a:ext cx="1755775" cy="629920"/>
          </a:xfrm>
          <a:custGeom>
            <a:avLst/>
            <a:gdLst/>
            <a:ahLst/>
            <a:cxnLst/>
            <a:rect l="l" t="t" r="r" b="b"/>
            <a:pathLst>
              <a:path w="1755775" h="629919">
                <a:moveTo>
                  <a:pt x="1698755" y="608795"/>
                </a:moveTo>
                <a:lnTo>
                  <a:pt x="1671320" y="629538"/>
                </a:lnTo>
                <a:lnTo>
                  <a:pt x="1755775" y="618617"/>
                </a:lnTo>
                <a:lnTo>
                  <a:pt x="1748221" y="610870"/>
                </a:lnTo>
                <a:lnTo>
                  <a:pt x="1704721" y="610870"/>
                </a:lnTo>
                <a:lnTo>
                  <a:pt x="1698755" y="608795"/>
                </a:lnTo>
                <a:close/>
              </a:path>
              <a:path w="1755775" h="629919">
                <a:moveTo>
                  <a:pt x="1704901" y="590861"/>
                </a:moveTo>
                <a:lnTo>
                  <a:pt x="1707768" y="601980"/>
                </a:lnTo>
                <a:lnTo>
                  <a:pt x="1698755" y="608795"/>
                </a:lnTo>
                <a:lnTo>
                  <a:pt x="1704721" y="610870"/>
                </a:lnTo>
                <a:lnTo>
                  <a:pt x="1710943" y="592963"/>
                </a:lnTo>
                <a:lnTo>
                  <a:pt x="1704901" y="590861"/>
                </a:lnTo>
                <a:close/>
              </a:path>
              <a:path w="1755775" h="629919">
                <a:moveTo>
                  <a:pt x="1696339" y="557657"/>
                </a:moveTo>
                <a:lnTo>
                  <a:pt x="1704901" y="590861"/>
                </a:lnTo>
                <a:lnTo>
                  <a:pt x="1710943" y="592963"/>
                </a:lnTo>
                <a:lnTo>
                  <a:pt x="1704721" y="610870"/>
                </a:lnTo>
                <a:lnTo>
                  <a:pt x="1748221" y="610870"/>
                </a:lnTo>
                <a:lnTo>
                  <a:pt x="1696339" y="557657"/>
                </a:lnTo>
                <a:close/>
              </a:path>
              <a:path w="1755775" h="629919">
                <a:moveTo>
                  <a:pt x="6350" y="0"/>
                </a:moveTo>
                <a:lnTo>
                  <a:pt x="0" y="18034"/>
                </a:lnTo>
                <a:lnTo>
                  <a:pt x="1698755" y="608795"/>
                </a:lnTo>
                <a:lnTo>
                  <a:pt x="1707768" y="601980"/>
                </a:lnTo>
                <a:lnTo>
                  <a:pt x="1704901" y="590861"/>
                </a:lnTo>
                <a:lnTo>
                  <a:pt x="6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58461" y="2451354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228600"/>
                </a:moveTo>
                <a:lnTo>
                  <a:pt x="38100" y="304800"/>
                </a:lnTo>
                <a:lnTo>
                  <a:pt x="63500" y="254000"/>
                </a:lnTo>
                <a:lnTo>
                  <a:pt x="28575" y="254000"/>
                </a:lnTo>
                <a:lnTo>
                  <a:pt x="28575" y="247650"/>
                </a:lnTo>
                <a:lnTo>
                  <a:pt x="0" y="228600"/>
                </a:lnTo>
                <a:close/>
              </a:path>
              <a:path w="76200" h="304800">
                <a:moveTo>
                  <a:pt x="28575" y="247650"/>
                </a:moveTo>
                <a:lnTo>
                  <a:pt x="28575" y="254000"/>
                </a:lnTo>
                <a:lnTo>
                  <a:pt x="38100" y="254000"/>
                </a:lnTo>
                <a:lnTo>
                  <a:pt x="28575" y="247650"/>
                </a:lnTo>
                <a:close/>
              </a:path>
              <a:path w="76200" h="304800">
                <a:moveTo>
                  <a:pt x="47625" y="0"/>
                </a:moveTo>
                <a:lnTo>
                  <a:pt x="28575" y="0"/>
                </a:lnTo>
                <a:lnTo>
                  <a:pt x="28575" y="247650"/>
                </a:lnTo>
                <a:lnTo>
                  <a:pt x="38100" y="254000"/>
                </a:lnTo>
                <a:lnTo>
                  <a:pt x="47625" y="247650"/>
                </a:lnTo>
                <a:lnTo>
                  <a:pt x="47625" y="0"/>
                </a:lnTo>
                <a:close/>
              </a:path>
              <a:path w="76200" h="304800">
                <a:moveTo>
                  <a:pt x="47625" y="247650"/>
                </a:moveTo>
                <a:lnTo>
                  <a:pt x="38100" y="254000"/>
                </a:lnTo>
                <a:lnTo>
                  <a:pt x="47625" y="254000"/>
                </a:lnTo>
                <a:lnTo>
                  <a:pt x="47625" y="247650"/>
                </a:lnTo>
                <a:close/>
              </a:path>
              <a:path w="76200" h="304800">
                <a:moveTo>
                  <a:pt x="76200" y="228600"/>
                </a:moveTo>
                <a:lnTo>
                  <a:pt x="47625" y="247650"/>
                </a:lnTo>
                <a:lnTo>
                  <a:pt x="47625" y="254000"/>
                </a:lnTo>
                <a:lnTo>
                  <a:pt x="63500" y="2540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58461" y="3188970"/>
            <a:ext cx="762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820161" y="4191761"/>
            <a:ext cx="3352800" cy="381000"/>
          </a:xfrm>
          <a:prstGeom prst="rect">
            <a:avLst/>
          </a:prstGeom>
          <a:solidFill>
            <a:srgbClr val="006600">
              <a:alpha val="30195"/>
            </a:srgbClr>
          </a:solidFill>
          <a:ln w="19050">
            <a:solidFill>
              <a:srgbClr val="FFFFFF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612775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Jump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20161" y="4584953"/>
            <a:ext cx="3352800" cy="381000"/>
          </a:xfrm>
          <a:custGeom>
            <a:avLst/>
            <a:gdLst/>
            <a:ahLst/>
            <a:cxnLst/>
            <a:rect l="l" t="t" r="r" b="b"/>
            <a:pathLst>
              <a:path w="3352800" h="381000">
                <a:moveTo>
                  <a:pt x="0" y="381000"/>
                </a:moveTo>
                <a:lnTo>
                  <a:pt x="3352800" y="381000"/>
                </a:lnTo>
                <a:lnTo>
                  <a:pt x="33528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573017" y="4601667"/>
            <a:ext cx="18465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Jump</a:t>
            </a:r>
            <a:r>
              <a:rPr sz="2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Threading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81961" y="5322570"/>
            <a:ext cx="5029200" cy="381000"/>
          </a:xfrm>
          <a:prstGeom prst="rect">
            <a:avLst/>
          </a:prstGeom>
          <a:solidFill>
            <a:srgbClr val="006600">
              <a:alpha val="30195"/>
            </a:srgbClr>
          </a:solidFill>
          <a:ln w="19050">
            <a:solidFill>
              <a:srgbClr val="FFFFFF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25755">
              <a:lnSpc>
                <a:spcPct val="100000"/>
              </a:lnSpc>
              <a:spcBef>
                <a:spcPts val="105"/>
              </a:spcBef>
            </a:pP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Common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Subexpression</a:t>
            </a:r>
            <a:r>
              <a:rPr sz="22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Elimination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20161" y="6008370"/>
            <a:ext cx="3352800" cy="381000"/>
          </a:xfrm>
          <a:prstGeom prst="rect">
            <a:avLst/>
          </a:prstGeom>
          <a:solidFill>
            <a:srgbClr val="006600">
              <a:alpha val="30195"/>
            </a:srgbClr>
          </a:solidFill>
          <a:ln w="19050">
            <a:solidFill>
              <a:srgbClr val="FFFFFF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612775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Jump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820161" y="6630161"/>
            <a:ext cx="3352800" cy="227965"/>
          </a:xfrm>
          <a:custGeom>
            <a:avLst/>
            <a:gdLst/>
            <a:ahLst/>
            <a:cxnLst/>
            <a:rect l="l" t="t" r="r" b="b"/>
            <a:pathLst>
              <a:path w="3352800" h="227965">
                <a:moveTo>
                  <a:pt x="3352800" y="227835"/>
                </a:moveTo>
                <a:lnTo>
                  <a:pt x="3352800" y="0"/>
                </a:lnTo>
                <a:lnTo>
                  <a:pt x="0" y="0"/>
                </a:lnTo>
                <a:lnTo>
                  <a:pt x="0" y="227835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449573" y="6647180"/>
            <a:ext cx="20929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Loop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Optimization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58461" y="387477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228599"/>
                </a:moveTo>
                <a:lnTo>
                  <a:pt x="38100" y="304799"/>
                </a:lnTo>
                <a:lnTo>
                  <a:pt x="63500" y="253999"/>
                </a:lnTo>
                <a:lnTo>
                  <a:pt x="28575" y="253999"/>
                </a:lnTo>
                <a:lnTo>
                  <a:pt x="28575" y="247649"/>
                </a:lnTo>
                <a:lnTo>
                  <a:pt x="0" y="228599"/>
                </a:lnTo>
                <a:close/>
              </a:path>
              <a:path w="76200" h="304800">
                <a:moveTo>
                  <a:pt x="28575" y="247649"/>
                </a:moveTo>
                <a:lnTo>
                  <a:pt x="28575" y="253999"/>
                </a:lnTo>
                <a:lnTo>
                  <a:pt x="38100" y="253999"/>
                </a:lnTo>
                <a:lnTo>
                  <a:pt x="28575" y="247649"/>
                </a:lnTo>
                <a:close/>
              </a:path>
              <a:path w="76200" h="304800">
                <a:moveTo>
                  <a:pt x="47625" y="0"/>
                </a:moveTo>
                <a:lnTo>
                  <a:pt x="28575" y="0"/>
                </a:lnTo>
                <a:lnTo>
                  <a:pt x="28575" y="247649"/>
                </a:lnTo>
                <a:lnTo>
                  <a:pt x="38100" y="253999"/>
                </a:lnTo>
                <a:lnTo>
                  <a:pt x="47625" y="247649"/>
                </a:lnTo>
                <a:lnTo>
                  <a:pt x="47625" y="0"/>
                </a:lnTo>
                <a:close/>
              </a:path>
              <a:path w="76200" h="304800">
                <a:moveTo>
                  <a:pt x="47625" y="247649"/>
                </a:moveTo>
                <a:lnTo>
                  <a:pt x="38100" y="253999"/>
                </a:lnTo>
                <a:lnTo>
                  <a:pt x="47625" y="253999"/>
                </a:lnTo>
                <a:lnTo>
                  <a:pt x="47625" y="247649"/>
                </a:lnTo>
                <a:close/>
              </a:path>
              <a:path w="76200" h="304800">
                <a:moveTo>
                  <a:pt x="76200" y="228599"/>
                </a:moveTo>
                <a:lnTo>
                  <a:pt x="47625" y="247649"/>
                </a:lnTo>
                <a:lnTo>
                  <a:pt x="47625" y="253999"/>
                </a:lnTo>
                <a:lnTo>
                  <a:pt x="63500" y="253999"/>
                </a:lnTo>
                <a:lnTo>
                  <a:pt x="76200" y="228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58461" y="494157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799"/>
                </a:moveTo>
                <a:lnTo>
                  <a:pt x="38100" y="380999"/>
                </a:lnTo>
                <a:lnTo>
                  <a:pt x="63500" y="330199"/>
                </a:lnTo>
                <a:lnTo>
                  <a:pt x="28575" y="330199"/>
                </a:lnTo>
                <a:lnTo>
                  <a:pt x="28575" y="323849"/>
                </a:lnTo>
                <a:lnTo>
                  <a:pt x="0" y="304799"/>
                </a:lnTo>
                <a:close/>
              </a:path>
              <a:path w="76200" h="381000">
                <a:moveTo>
                  <a:pt x="28575" y="323849"/>
                </a:moveTo>
                <a:lnTo>
                  <a:pt x="28575" y="330199"/>
                </a:lnTo>
                <a:lnTo>
                  <a:pt x="38100" y="330199"/>
                </a:lnTo>
                <a:lnTo>
                  <a:pt x="28575" y="323849"/>
                </a:lnTo>
                <a:close/>
              </a:path>
              <a:path w="76200" h="381000">
                <a:moveTo>
                  <a:pt x="47625" y="0"/>
                </a:moveTo>
                <a:lnTo>
                  <a:pt x="28575" y="0"/>
                </a:lnTo>
                <a:lnTo>
                  <a:pt x="28575" y="323849"/>
                </a:lnTo>
                <a:lnTo>
                  <a:pt x="38100" y="330199"/>
                </a:lnTo>
                <a:lnTo>
                  <a:pt x="47625" y="323849"/>
                </a:lnTo>
                <a:lnTo>
                  <a:pt x="47625" y="0"/>
                </a:lnTo>
                <a:close/>
              </a:path>
              <a:path w="76200" h="381000">
                <a:moveTo>
                  <a:pt x="47625" y="323849"/>
                </a:moveTo>
                <a:lnTo>
                  <a:pt x="38100" y="330199"/>
                </a:lnTo>
                <a:lnTo>
                  <a:pt x="47625" y="330199"/>
                </a:lnTo>
                <a:lnTo>
                  <a:pt x="47625" y="323849"/>
                </a:lnTo>
                <a:close/>
              </a:path>
              <a:path w="76200" h="381000">
                <a:moveTo>
                  <a:pt x="76200" y="304799"/>
                </a:moveTo>
                <a:lnTo>
                  <a:pt x="47625" y="323849"/>
                </a:lnTo>
                <a:lnTo>
                  <a:pt x="47625" y="330199"/>
                </a:lnTo>
                <a:lnTo>
                  <a:pt x="63500" y="330199"/>
                </a:lnTo>
                <a:lnTo>
                  <a:pt x="76200" y="304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58461" y="5703570"/>
            <a:ext cx="762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58461" y="6389370"/>
            <a:ext cx="762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61" y="2198370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>
                <a:moveTo>
                  <a:pt x="0" y="266700"/>
                </a:moveTo>
                <a:lnTo>
                  <a:pt x="11469" y="223433"/>
                </a:lnTo>
                <a:lnTo>
                  <a:pt x="44673" y="182392"/>
                </a:lnTo>
                <a:lnTo>
                  <a:pt x="97810" y="144124"/>
                </a:lnTo>
                <a:lnTo>
                  <a:pt x="169073" y="109179"/>
                </a:lnTo>
                <a:lnTo>
                  <a:pt x="210939" y="93124"/>
                </a:lnTo>
                <a:lnTo>
                  <a:pt x="256660" y="78104"/>
                </a:lnTo>
                <a:lnTo>
                  <a:pt x="306011" y="64190"/>
                </a:lnTo>
                <a:lnTo>
                  <a:pt x="358766" y="51450"/>
                </a:lnTo>
                <a:lnTo>
                  <a:pt x="414700" y="39951"/>
                </a:lnTo>
                <a:lnTo>
                  <a:pt x="473587" y="29763"/>
                </a:lnTo>
                <a:lnTo>
                  <a:pt x="535202" y="20955"/>
                </a:lnTo>
                <a:lnTo>
                  <a:pt x="599319" y="13594"/>
                </a:lnTo>
                <a:lnTo>
                  <a:pt x="665713" y="7749"/>
                </a:lnTo>
                <a:lnTo>
                  <a:pt x="734158" y="3489"/>
                </a:lnTo>
                <a:lnTo>
                  <a:pt x="804429" y="883"/>
                </a:lnTo>
                <a:lnTo>
                  <a:pt x="876300" y="0"/>
                </a:lnTo>
                <a:lnTo>
                  <a:pt x="948174" y="883"/>
                </a:lnTo>
                <a:lnTo>
                  <a:pt x="1018447" y="3489"/>
                </a:lnTo>
                <a:lnTo>
                  <a:pt x="1086894" y="7749"/>
                </a:lnTo>
                <a:lnTo>
                  <a:pt x="1153290" y="13594"/>
                </a:lnTo>
                <a:lnTo>
                  <a:pt x="1217408" y="20954"/>
                </a:lnTo>
                <a:lnTo>
                  <a:pt x="1279023" y="29763"/>
                </a:lnTo>
                <a:lnTo>
                  <a:pt x="1337910" y="39951"/>
                </a:lnTo>
                <a:lnTo>
                  <a:pt x="1393844" y="51450"/>
                </a:lnTo>
                <a:lnTo>
                  <a:pt x="1446598" y="64190"/>
                </a:lnTo>
                <a:lnTo>
                  <a:pt x="1495948" y="78104"/>
                </a:lnTo>
                <a:lnTo>
                  <a:pt x="1541668" y="93124"/>
                </a:lnTo>
                <a:lnTo>
                  <a:pt x="1583533" y="109179"/>
                </a:lnTo>
                <a:lnTo>
                  <a:pt x="1621317" y="126202"/>
                </a:lnTo>
                <a:lnTo>
                  <a:pt x="1683740" y="162877"/>
                </a:lnTo>
                <a:lnTo>
                  <a:pt x="1727134" y="202600"/>
                </a:lnTo>
                <a:lnTo>
                  <a:pt x="1749695" y="244822"/>
                </a:lnTo>
                <a:lnTo>
                  <a:pt x="1752600" y="266700"/>
                </a:lnTo>
                <a:lnTo>
                  <a:pt x="1749695" y="288577"/>
                </a:lnTo>
                <a:lnTo>
                  <a:pt x="1727134" y="330799"/>
                </a:lnTo>
                <a:lnTo>
                  <a:pt x="1683740" y="370522"/>
                </a:lnTo>
                <a:lnTo>
                  <a:pt x="1621317" y="407197"/>
                </a:lnTo>
                <a:lnTo>
                  <a:pt x="1583533" y="424220"/>
                </a:lnTo>
                <a:lnTo>
                  <a:pt x="1541668" y="440275"/>
                </a:lnTo>
                <a:lnTo>
                  <a:pt x="1495948" y="455295"/>
                </a:lnTo>
                <a:lnTo>
                  <a:pt x="1446598" y="469209"/>
                </a:lnTo>
                <a:lnTo>
                  <a:pt x="1393844" y="481949"/>
                </a:lnTo>
                <a:lnTo>
                  <a:pt x="1337910" y="493448"/>
                </a:lnTo>
                <a:lnTo>
                  <a:pt x="1279023" y="503636"/>
                </a:lnTo>
                <a:lnTo>
                  <a:pt x="1217408" y="512445"/>
                </a:lnTo>
                <a:lnTo>
                  <a:pt x="1153290" y="519805"/>
                </a:lnTo>
                <a:lnTo>
                  <a:pt x="1086894" y="525650"/>
                </a:lnTo>
                <a:lnTo>
                  <a:pt x="1018447" y="529910"/>
                </a:lnTo>
                <a:lnTo>
                  <a:pt x="948174" y="532516"/>
                </a:lnTo>
                <a:lnTo>
                  <a:pt x="876300" y="533400"/>
                </a:lnTo>
                <a:lnTo>
                  <a:pt x="804429" y="532516"/>
                </a:lnTo>
                <a:lnTo>
                  <a:pt x="734158" y="529910"/>
                </a:lnTo>
                <a:lnTo>
                  <a:pt x="665713" y="525650"/>
                </a:lnTo>
                <a:lnTo>
                  <a:pt x="599319" y="519805"/>
                </a:lnTo>
                <a:lnTo>
                  <a:pt x="535202" y="512445"/>
                </a:lnTo>
                <a:lnTo>
                  <a:pt x="473587" y="503636"/>
                </a:lnTo>
                <a:lnTo>
                  <a:pt x="414700" y="493448"/>
                </a:lnTo>
                <a:lnTo>
                  <a:pt x="358766" y="481949"/>
                </a:lnTo>
                <a:lnTo>
                  <a:pt x="306011" y="469209"/>
                </a:lnTo>
                <a:lnTo>
                  <a:pt x="256660" y="455295"/>
                </a:lnTo>
                <a:lnTo>
                  <a:pt x="210939" y="440275"/>
                </a:lnTo>
                <a:lnTo>
                  <a:pt x="169073" y="424220"/>
                </a:lnTo>
                <a:lnTo>
                  <a:pt x="131288" y="407197"/>
                </a:lnTo>
                <a:lnTo>
                  <a:pt x="68863" y="370522"/>
                </a:lnTo>
                <a:lnTo>
                  <a:pt x="25467" y="330799"/>
                </a:lnTo>
                <a:lnTo>
                  <a:pt x="2904" y="288577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34695" y="2290063"/>
            <a:ext cx="4819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61" y="3112770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>
                <a:moveTo>
                  <a:pt x="0" y="266700"/>
                </a:moveTo>
                <a:lnTo>
                  <a:pt x="11469" y="223433"/>
                </a:lnTo>
                <a:lnTo>
                  <a:pt x="44673" y="182392"/>
                </a:lnTo>
                <a:lnTo>
                  <a:pt x="97810" y="144124"/>
                </a:lnTo>
                <a:lnTo>
                  <a:pt x="169073" y="109179"/>
                </a:lnTo>
                <a:lnTo>
                  <a:pt x="210939" y="93124"/>
                </a:lnTo>
                <a:lnTo>
                  <a:pt x="256660" y="78104"/>
                </a:lnTo>
                <a:lnTo>
                  <a:pt x="306011" y="64190"/>
                </a:lnTo>
                <a:lnTo>
                  <a:pt x="358766" y="51450"/>
                </a:lnTo>
                <a:lnTo>
                  <a:pt x="414700" y="39951"/>
                </a:lnTo>
                <a:lnTo>
                  <a:pt x="473587" y="29763"/>
                </a:lnTo>
                <a:lnTo>
                  <a:pt x="535202" y="20955"/>
                </a:lnTo>
                <a:lnTo>
                  <a:pt x="599319" y="13594"/>
                </a:lnTo>
                <a:lnTo>
                  <a:pt x="665713" y="7749"/>
                </a:lnTo>
                <a:lnTo>
                  <a:pt x="734158" y="3489"/>
                </a:lnTo>
                <a:lnTo>
                  <a:pt x="804429" y="883"/>
                </a:lnTo>
                <a:lnTo>
                  <a:pt x="876300" y="0"/>
                </a:lnTo>
                <a:lnTo>
                  <a:pt x="948174" y="883"/>
                </a:lnTo>
                <a:lnTo>
                  <a:pt x="1018447" y="3489"/>
                </a:lnTo>
                <a:lnTo>
                  <a:pt x="1086894" y="7749"/>
                </a:lnTo>
                <a:lnTo>
                  <a:pt x="1153290" y="13594"/>
                </a:lnTo>
                <a:lnTo>
                  <a:pt x="1217408" y="20954"/>
                </a:lnTo>
                <a:lnTo>
                  <a:pt x="1279023" y="29763"/>
                </a:lnTo>
                <a:lnTo>
                  <a:pt x="1337910" y="39951"/>
                </a:lnTo>
                <a:lnTo>
                  <a:pt x="1393844" y="51450"/>
                </a:lnTo>
                <a:lnTo>
                  <a:pt x="1446598" y="64190"/>
                </a:lnTo>
                <a:lnTo>
                  <a:pt x="1495948" y="78104"/>
                </a:lnTo>
                <a:lnTo>
                  <a:pt x="1541668" y="93124"/>
                </a:lnTo>
                <a:lnTo>
                  <a:pt x="1583533" y="109179"/>
                </a:lnTo>
                <a:lnTo>
                  <a:pt x="1621317" y="126202"/>
                </a:lnTo>
                <a:lnTo>
                  <a:pt x="1683740" y="162877"/>
                </a:lnTo>
                <a:lnTo>
                  <a:pt x="1727134" y="202600"/>
                </a:lnTo>
                <a:lnTo>
                  <a:pt x="1749695" y="244822"/>
                </a:lnTo>
                <a:lnTo>
                  <a:pt x="1752600" y="266700"/>
                </a:lnTo>
                <a:lnTo>
                  <a:pt x="1749695" y="288577"/>
                </a:lnTo>
                <a:lnTo>
                  <a:pt x="1727134" y="330799"/>
                </a:lnTo>
                <a:lnTo>
                  <a:pt x="1683740" y="370522"/>
                </a:lnTo>
                <a:lnTo>
                  <a:pt x="1621317" y="407197"/>
                </a:lnTo>
                <a:lnTo>
                  <a:pt x="1583533" y="424220"/>
                </a:lnTo>
                <a:lnTo>
                  <a:pt x="1541668" y="440275"/>
                </a:lnTo>
                <a:lnTo>
                  <a:pt x="1495948" y="455295"/>
                </a:lnTo>
                <a:lnTo>
                  <a:pt x="1446598" y="469209"/>
                </a:lnTo>
                <a:lnTo>
                  <a:pt x="1393844" y="481949"/>
                </a:lnTo>
                <a:lnTo>
                  <a:pt x="1337910" y="493448"/>
                </a:lnTo>
                <a:lnTo>
                  <a:pt x="1279023" y="503636"/>
                </a:lnTo>
                <a:lnTo>
                  <a:pt x="1217408" y="512444"/>
                </a:lnTo>
                <a:lnTo>
                  <a:pt x="1153290" y="519805"/>
                </a:lnTo>
                <a:lnTo>
                  <a:pt x="1086894" y="525650"/>
                </a:lnTo>
                <a:lnTo>
                  <a:pt x="1018447" y="529910"/>
                </a:lnTo>
                <a:lnTo>
                  <a:pt x="948174" y="532516"/>
                </a:lnTo>
                <a:lnTo>
                  <a:pt x="876300" y="533399"/>
                </a:lnTo>
                <a:lnTo>
                  <a:pt x="804429" y="532516"/>
                </a:lnTo>
                <a:lnTo>
                  <a:pt x="734158" y="529910"/>
                </a:lnTo>
                <a:lnTo>
                  <a:pt x="665713" y="525650"/>
                </a:lnTo>
                <a:lnTo>
                  <a:pt x="599319" y="519805"/>
                </a:lnTo>
                <a:lnTo>
                  <a:pt x="535202" y="512444"/>
                </a:lnTo>
                <a:lnTo>
                  <a:pt x="473587" y="503636"/>
                </a:lnTo>
                <a:lnTo>
                  <a:pt x="414700" y="493448"/>
                </a:lnTo>
                <a:lnTo>
                  <a:pt x="358766" y="481949"/>
                </a:lnTo>
                <a:lnTo>
                  <a:pt x="306011" y="469209"/>
                </a:lnTo>
                <a:lnTo>
                  <a:pt x="256660" y="455295"/>
                </a:lnTo>
                <a:lnTo>
                  <a:pt x="210939" y="440275"/>
                </a:lnTo>
                <a:lnTo>
                  <a:pt x="169073" y="424220"/>
                </a:lnTo>
                <a:lnTo>
                  <a:pt x="131288" y="407197"/>
                </a:lnTo>
                <a:lnTo>
                  <a:pt x="68863" y="370522"/>
                </a:lnTo>
                <a:lnTo>
                  <a:pt x="25467" y="330799"/>
                </a:lnTo>
                <a:lnTo>
                  <a:pt x="2904" y="288577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95478" y="3204718"/>
            <a:ext cx="13620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machine.md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749805" y="2418079"/>
            <a:ext cx="1146810" cy="473709"/>
          </a:xfrm>
          <a:custGeom>
            <a:avLst/>
            <a:gdLst/>
            <a:ahLst/>
            <a:cxnLst/>
            <a:rect l="l" t="t" r="r" b="b"/>
            <a:pathLst>
              <a:path w="1146810" h="473710">
                <a:moveTo>
                  <a:pt x="1089959" y="453688"/>
                </a:moveTo>
                <a:lnTo>
                  <a:pt x="1061593" y="473202"/>
                </a:lnTo>
                <a:lnTo>
                  <a:pt x="1146556" y="466090"/>
                </a:lnTo>
                <a:lnTo>
                  <a:pt x="1137624" y="456057"/>
                </a:lnTo>
                <a:lnTo>
                  <a:pt x="1095883" y="456057"/>
                </a:lnTo>
                <a:lnTo>
                  <a:pt x="1089959" y="453688"/>
                </a:lnTo>
                <a:close/>
              </a:path>
              <a:path w="1146810" h="473710">
                <a:moveTo>
                  <a:pt x="1099386" y="447203"/>
                </a:moveTo>
                <a:lnTo>
                  <a:pt x="1089959" y="453688"/>
                </a:lnTo>
                <a:lnTo>
                  <a:pt x="1095883" y="456057"/>
                </a:lnTo>
                <a:lnTo>
                  <a:pt x="1099386" y="447203"/>
                </a:lnTo>
                <a:close/>
              </a:path>
              <a:path w="1146810" h="473710">
                <a:moveTo>
                  <a:pt x="1089914" y="402463"/>
                </a:moveTo>
                <a:lnTo>
                  <a:pt x="1097078" y="436087"/>
                </a:lnTo>
                <a:lnTo>
                  <a:pt x="1102868" y="438404"/>
                </a:lnTo>
                <a:lnTo>
                  <a:pt x="1095883" y="456057"/>
                </a:lnTo>
                <a:lnTo>
                  <a:pt x="1137624" y="456057"/>
                </a:lnTo>
                <a:lnTo>
                  <a:pt x="1089914" y="402463"/>
                </a:lnTo>
                <a:close/>
              </a:path>
              <a:path w="1146810" h="473710">
                <a:moveTo>
                  <a:pt x="7112" y="0"/>
                </a:moveTo>
                <a:lnTo>
                  <a:pt x="0" y="17780"/>
                </a:lnTo>
                <a:lnTo>
                  <a:pt x="1089959" y="453688"/>
                </a:lnTo>
                <a:lnTo>
                  <a:pt x="1099386" y="447203"/>
                </a:lnTo>
                <a:lnTo>
                  <a:pt x="1097078" y="436087"/>
                </a:lnTo>
                <a:lnTo>
                  <a:pt x="7112" y="0"/>
                </a:lnTo>
                <a:close/>
              </a:path>
              <a:path w="1146810" h="473710">
                <a:moveTo>
                  <a:pt x="1097078" y="436087"/>
                </a:moveTo>
                <a:lnTo>
                  <a:pt x="1099425" y="447103"/>
                </a:lnTo>
                <a:lnTo>
                  <a:pt x="1102868" y="438404"/>
                </a:lnTo>
                <a:lnTo>
                  <a:pt x="1097078" y="4360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50314" y="3024504"/>
            <a:ext cx="1146175" cy="402590"/>
          </a:xfrm>
          <a:custGeom>
            <a:avLst/>
            <a:gdLst/>
            <a:ahLst/>
            <a:cxnLst/>
            <a:rect l="l" t="t" r="r" b="b"/>
            <a:pathLst>
              <a:path w="1146175" h="402589">
                <a:moveTo>
                  <a:pt x="1088866" y="21050"/>
                </a:moveTo>
                <a:lnTo>
                  <a:pt x="0" y="384048"/>
                </a:lnTo>
                <a:lnTo>
                  <a:pt x="6096" y="402082"/>
                </a:lnTo>
                <a:lnTo>
                  <a:pt x="1094876" y="39197"/>
                </a:lnTo>
                <a:lnTo>
                  <a:pt x="1097876" y="28207"/>
                </a:lnTo>
                <a:lnTo>
                  <a:pt x="1097801" y="27979"/>
                </a:lnTo>
                <a:lnTo>
                  <a:pt x="1088866" y="21050"/>
                </a:lnTo>
                <a:close/>
              </a:path>
              <a:path w="1146175" h="402589">
                <a:moveTo>
                  <a:pt x="1139063" y="19050"/>
                </a:moveTo>
                <a:lnTo>
                  <a:pt x="1094867" y="19050"/>
                </a:lnTo>
                <a:lnTo>
                  <a:pt x="1100836" y="37211"/>
                </a:lnTo>
                <a:lnTo>
                  <a:pt x="1094876" y="39197"/>
                </a:lnTo>
                <a:lnTo>
                  <a:pt x="1085850" y="72262"/>
                </a:lnTo>
                <a:lnTo>
                  <a:pt x="1139063" y="19050"/>
                </a:lnTo>
                <a:close/>
              </a:path>
              <a:path w="1146175" h="402589">
                <a:moveTo>
                  <a:pt x="1097876" y="28207"/>
                </a:moveTo>
                <a:lnTo>
                  <a:pt x="1094876" y="39197"/>
                </a:lnTo>
                <a:lnTo>
                  <a:pt x="1100836" y="37211"/>
                </a:lnTo>
                <a:lnTo>
                  <a:pt x="1097876" y="28207"/>
                </a:lnTo>
                <a:close/>
              </a:path>
              <a:path w="1146175" h="402589">
                <a:moveTo>
                  <a:pt x="1094867" y="19050"/>
                </a:moveTo>
                <a:lnTo>
                  <a:pt x="1088866" y="21050"/>
                </a:lnTo>
                <a:lnTo>
                  <a:pt x="1097801" y="27979"/>
                </a:lnTo>
                <a:lnTo>
                  <a:pt x="1094867" y="19050"/>
                </a:lnTo>
                <a:close/>
              </a:path>
              <a:path w="1146175" h="402589">
                <a:moveTo>
                  <a:pt x="1061720" y="0"/>
                </a:moveTo>
                <a:lnTo>
                  <a:pt x="1088866" y="21050"/>
                </a:lnTo>
                <a:lnTo>
                  <a:pt x="1094867" y="19050"/>
                </a:lnTo>
                <a:lnTo>
                  <a:pt x="1139063" y="19050"/>
                </a:lnTo>
                <a:lnTo>
                  <a:pt x="1146048" y="12065"/>
                </a:lnTo>
                <a:lnTo>
                  <a:pt x="10617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852409" y="2234311"/>
            <a:ext cx="1332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solidFill>
                  <a:srgbClr val="FF66CC"/>
                </a:solidFill>
                <a:uFill>
                  <a:solidFill>
                    <a:srgbClr val="FF66CC"/>
                  </a:solidFill>
                </a:uFill>
                <a:latin typeface="Times New Roman"/>
                <a:cs typeface="Times New Roman"/>
              </a:rPr>
              <a:t>GCC</a:t>
            </a:r>
            <a:r>
              <a:rPr sz="2000" b="1" u="sng" spc="-80" dirty="0">
                <a:solidFill>
                  <a:srgbClr val="FF66CC"/>
                </a:solidFill>
                <a:uFill>
                  <a:solidFill>
                    <a:srgbClr val="FF66C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FF66CC"/>
                </a:solidFill>
                <a:uFill>
                  <a:solidFill>
                    <a:srgbClr val="FF66CC"/>
                  </a:solidFill>
                </a:uFill>
                <a:latin typeface="Times New Roman"/>
                <a:cs typeface="Times New Roman"/>
              </a:rPr>
              <a:t>Struct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1840</Words>
  <Application>Microsoft Office PowerPoint</Application>
  <PresentationFormat>全屏显示(4:3)</PresentationFormat>
  <Paragraphs>624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华文新魏</vt:lpstr>
      <vt:lpstr>宋体</vt:lpstr>
      <vt:lpstr>Arial</vt:lpstr>
      <vt:lpstr>Arial Black</vt:lpstr>
      <vt:lpstr>Calibri</vt:lpstr>
      <vt:lpstr>Courier New</vt:lpstr>
      <vt:lpstr>Tahoma</vt:lpstr>
      <vt:lpstr>Times New Roman</vt:lpstr>
      <vt:lpstr>Wingdings</vt:lpstr>
      <vt:lpstr>Office Theme</vt:lpstr>
      <vt:lpstr>编译原理与技术</vt:lpstr>
      <vt:lpstr>About This Course</vt:lpstr>
      <vt:lpstr>Compiler ?</vt:lpstr>
      <vt:lpstr>简而言之, 编译程序就是一种语 言翻译程序。</vt:lpstr>
      <vt:lpstr>PowerPoint 演示文稿</vt:lpstr>
      <vt:lpstr>源语言： (source language)</vt:lpstr>
      <vt:lpstr>PowerPoint 演示文稿</vt:lpstr>
      <vt:lpstr>Compiler</vt:lpstr>
      <vt:lpstr>一. 编译程序的分类与执行</vt:lpstr>
      <vt:lpstr>解释执行：</vt:lpstr>
      <vt:lpstr>PowerPoint 演示文稿</vt:lpstr>
      <vt:lpstr>编译程序的表示</vt:lpstr>
      <vt:lpstr>编译器实现的途径</vt:lpstr>
      <vt:lpstr>c2</vt:lpstr>
      <vt:lpstr>c</vt:lpstr>
      <vt:lpstr>PowerPoint 演示文稿</vt:lpstr>
      <vt:lpstr>PowerPoint 演示文稿</vt:lpstr>
      <vt:lpstr>PowerPoint 演示文稿</vt:lpstr>
      <vt:lpstr>1. 词法分析 (lexical analysis)</vt:lpstr>
      <vt:lpstr>第一章 编译引论 1.3</vt:lpstr>
      <vt:lpstr>2. 语法分析 (Syntax analysis)</vt:lpstr>
      <vt:lpstr>第一章 编译引论 1.3 编译程序的结构与组织</vt:lpstr>
      <vt:lpstr>3. 语义分析(semantic analysis)与中间代码生成</vt:lpstr>
      <vt:lpstr>PowerPoint 演示文稿</vt:lpstr>
      <vt:lpstr>PowerPoint 演示文稿</vt:lpstr>
      <vt:lpstr>PowerPoint 演示文稿</vt:lpstr>
      <vt:lpstr>5. 代码优化(optimization)</vt:lpstr>
      <vt:lpstr>例1.4:</vt:lpstr>
      <vt:lpstr>5. 目标代码生成(code generator)</vt:lpstr>
      <vt:lpstr>对例1.2的语句生成代码。要考虑怎样存储整 型数来为数组元素的引用生成目标代码，以假设的</vt:lpstr>
      <vt:lpstr> 编译阶段与自然语言的对比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Tiger compiler structure</vt:lpstr>
      <vt:lpstr>PowerPoint 演示文稿</vt:lpstr>
      <vt:lpstr>PowerPoint 演示文稿</vt:lpstr>
      <vt:lpstr>PowerPoint 演示文稿</vt:lpstr>
      <vt:lpstr>SCC_structure</vt:lpstr>
      <vt:lpstr>SCC_structure</vt:lpstr>
      <vt:lpstr>PowerPoint 演示文稿</vt:lpstr>
      <vt:lpstr> 第一章提要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形式语言与自动机理论基础</dc:title>
  <dc:creator>Lida Chen</dc:creator>
  <cp:lastModifiedBy>- Vel</cp:lastModifiedBy>
  <cp:revision>1</cp:revision>
  <dcterms:created xsi:type="dcterms:W3CDTF">2025-05-20T06:25:56Z</dcterms:created>
  <dcterms:modified xsi:type="dcterms:W3CDTF">2025-05-20T06:51:00Z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2025-05-20T00:00:00Z</vt:filetime>
  </property>
</Properties>
</file>