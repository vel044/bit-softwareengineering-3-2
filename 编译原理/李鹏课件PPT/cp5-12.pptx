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704338" y="26923"/>
            <a:ext cx="3735323" cy="330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#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FFFF69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#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FFFF69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#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FFFF69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#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#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36774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58491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28471" y="859993"/>
            <a:ext cx="4394200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FFFF69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26440" y="1188108"/>
            <a:ext cx="5718175" cy="2009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bg1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11057" y="6697989"/>
            <a:ext cx="737870" cy="2228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#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png"/><Relationship Id="rId3" Type="http://schemas.openxmlformats.org/officeDocument/2006/relationships/image" Target="../media/image20.png"/><Relationship Id="rId4" Type="http://schemas.openxmlformats.org/officeDocument/2006/relationships/slide" Target="slide7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png"/><Relationship Id="rId3" Type="http://schemas.openxmlformats.org/officeDocument/2006/relationships/image" Target="../media/image21.png"/><Relationship Id="rId4" Type="http://schemas.openxmlformats.org/officeDocument/2006/relationships/slide" Target="slide6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18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23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24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25.png"/><Relationship Id="rId5" Type="http://schemas.openxmlformats.org/officeDocument/2006/relationships/slide" Target="slide20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26.png"/><Relationship Id="rId5" Type="http://schemas.openxmlformats.org/officeDocument/2006/relationships/slide" Target="slide19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png"/><Relationship Id="rId3" Type="http://schemas.openxmlformats.org/officeDocument/2006/relationships/image" Target="../media/image24.pn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pn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png"/><Relationship Id="rId3" Type="http://schemas.openxmlformats.org/officeDocument/2006/relationships/image" Target="../media/image27.pn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pn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pn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png"/><Relationship Id="rId3" Type="http://schemas.openxmlformats.org/officeDocument/2006/relationships/image" Target="../media/image32.pn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png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png"/><Relationship Id="rId3" Type="http://schemas.openxmlformats.org/officeDocument/2006/relationships/image" Target="../media/image33.pn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png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png"/><Relationship Id="rId3" Type="http://schemas.openxmlformats.org/officeDocument/2006/relationships/image" Target="../media/image47.png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png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Relationship Id="rId8" Type="http://schemas.openxmlformats.org/officeDocument/2006/relationships/image" Target="../media/image53.png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slide" Target="slide45.xml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png"/><Relationship Id="rId3" Type="http://schemas.openxmlformats.org/officeDocument/2006/relationships/image" Target="../media/image54.png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png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png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png"/><Relationship Id="rId3" Type="http://schemas.openxmlformats.org/officeDocument/2006/relationships/image" Target="../media/image55.png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png"/></Relationships>
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png"/></Relationships>
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
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png"/></Relationships>
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6.png"/><Relationship Id="rId3" Type="http://schemas.openxmlformats.org/officeDocument/2006/relationships/image" Target="../media/image18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Relationship Id="rId7" Type="http://schemas.openxmlformats.org/officeDocument/2006/relationships/image" Target="../media/image60.png"/><Relationship Id="rId8" Type="http://schemas.openxmlformats.org/officeDocument/2006/relationships/image" Target="../media/image61.png"/><Relationship Id="rId9" Type="http://schemas.openxmlformats.org/officeDocument/2006/relationships/image" Target="../media/image62.png"/><Relationship Id="rId10" Type="http://schemas.openxmlformats.org/officeDocument/2006/relationships/image" Target="../media/image63.png"/></Relationships>
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png"/><Relationship Id="rId3" Type="http://schemas.openxmlformats.org/officeDocument/2006/relationships/image" Target="../media/image64.png"/></Relationships>
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65.png"/></Relationships>
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
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
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
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66.png"/><Relationship Id="rId4" Type="http://schemas.openxmlformats.org/officeDocument/2006/relationships/image" Target="../media/image67.png"/><Relationship Id="rId5" Type="http://schemas.openxmlformats.org/officeDocument/2006/relationships/image" Target="../media/image68.png"/></Relationships>
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png"/></Relationships>
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/Relationships>
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png"/></Relationships>
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png"/></Relationships>
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746504" y="232790"/>
            <a:ext cx="525018" cy="55194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534411" y="19811"/>
            <a:ext cx="495300" cy="5715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928104" y="5847791"/>
            <a:ext cx="577342" cy="57576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91628" y="5277611"/>
            <a:ext cx="495300" cy="495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297926" y="5203825"/>
            <a:ext cx="674624" cy="78814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91388" y="276606"/>
            <a:ext cx="866432" cy="92049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0" y="871727"/>
            <a:ext cx="9144000" cy="5986780"/>
          </a:xfrm>
          <a:custGeom>
            <a:avLst/>
            <a:gdLst/>
            <a:ahLst/>
            <a:cxnLst/>
            <a:rect l="l" t="t" r="r" b="b"/>
            <a:pathLst>
              <a:path w="9144000" h="5986780">
                <a:moveTo>
                  <a:pt x="9144000" y="5986268"/>
                </a:moveTo>
                <a:lnTo>
                  <a:pt x="9144000" y="0"/>
                </a:lnTo>
                <a:lnTo>
                  <a:pt x="0" y="0"/>
                </a:lnTo>
                <a:lnTo>
                  <a:pt x="0" y="5986268"/>
                </a:lnTo>
                <a:lnTo>
                  <a:pt x="9144000" y="5986268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938527" y="0"/>
            <a:ext cx="1750314" cy="136931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087623" y="0"/>
            <a:ext cx="1750314" cy="136931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236720" y="0"/>
            <a:ext cx="1750314" cy="136931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385815" y="0"/>
            <a:ext cx="1750314" cy="136931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2394966" y="0"/>
            <a:ext cx="4235450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spc="-25">
                <a:solidFill>
                  <a:srgbClr val="FF5D5D"/>
                </a:solidFill>
                <a:latin typeface="隶书"/>
                <a:cs typeface="隶书"/>
              </a:rPr>
              <a:t>课 程 内</a:t>
            </a:r>
            <a:r>
              <a:rPr dirty="0" sz="6000" spc="25">
                <a:solidFill>
                  <a:srgbClr val="FF5D5D"/>
                </a:solidFill>
                <a:latin typeface="隶书"/>
                <a:cs typeface="隶书"/>
              </a:rPr>
              <a:t> </a:t>
            </a:r>
            <a:r>
              <a:rPr dirty="0" sz="6000" spc="-25">
                <a:solidFill>
                  <a:srgbClr val="FF5D5D"/>
                </a:solidFill>
                <a:latin typeface="隶书"/>
                <a:cs typeface="隶书"/>
              </a:rPr>
              <a:t>容</a:t>
            </a:r>
            <a:endParaRPr sz="6000">
              <a:latin typeface="隶书"/>
              <a:cs typeface="隶书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0" y="777240"/>
            <a:ext cx="9144000" cy="13411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29564" y="1233954"/>
            <a:ext cx="5485765" cy="497649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第</a:t>
            </a:r>
            <a:r>
              <a:rPr dirty="0" sz="2800" spc="-69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1 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章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编</a:t>
            </a:r>
            <a:r>
              <a:rPr dirty="0" sz="2800" spc="-70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译</a:t>
            </a:r>
            <a:r>
              <a:rPr dirty="0" sz="2800" spc="-70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引</a:t>
            </a:r>
            <a:r>
              <a:rPr dirty="0" sz="2800" spc="-69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论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第</a:t>
            </a:r>
            <a:r>
              <a:rPr dirty="0" sz="2800" spc="-70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2 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章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 形式语言与自动机基础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第</a:t>
            </a:r>
            <a:r>
              <a:rPr dirty="0" sz="2800" spc="-70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3 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章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词法分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析</a:t>
            </a:r>
            <a:r>
              <a:rPr dirty="0" sz="2800" spc="-68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(Lexical</a:t>
            </a:r>
            <a:r>
              <a:rPr dirty="0" sz="2800" spc="-17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Analysis)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  <a:tabLst>
                <a:tab pos="4014470" algn="l"/>
              </a:tabLst>
            </a:pP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第</a:t>
            </a:r>
            <a:r>
              <a:rPr dirty="0" sz="2800" spc="-68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4</a:t>
            </a:r>
            <a:r>
              <a:rPr dirty="0" sz="2800" spc="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章</a:t>
            </a:r>
            <a:r>
              <a:rPr dirty="0" sz="2800" spc="1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语法分析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(Syntax	Analysis)</a:t>
            </a:r>
            <a:endParaRPr sz="2800">
              <a:latin typeface="Times New Roman"/>
              <a:cs typeface="Times New Roman"/>
            </a:endParaRPr>
          </a:p>
          <a:p>
            <a:pPr marL="1701164">
              <a:lnSpc>
                <a:spcPct val="100000"/>
              </a:lnSpc>
              <a:spcBef>
                <a:spcPts val="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——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自上而下分析法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  <a:tabLst>
                <a:tab pos="4014470" algn="l"/>
              </a:tabLst>
            </a:pPr>
            <a:r>
              <a:rPr dirty="0" sz="2800" spc="-15" b="1">
                <a:solidFill>
                  <a:srgbClr val="FFFF99"/>
                </a:solidFill>
                <a:latin typeface="宋体"/>
                <a:cs typeface="宋体"/>
              </a:rPr>
              <a:t>第</a:t>
            </a:r>
            <a:r>
              <a:rPr dirty="0" sz="2800" spc="-685" b="1">
                <a:solidFill>
                  <a:srgbClr val="FFFF99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99"/>
                </a:solidFill>
                <a:latin typeface="Times New Roman"/>
                <a:cs typeface="Times New Roman"/>
              </a:rPr>
              <a:t>5</a:t>
            </a:r>
            <a:r>
              <a:rPr dirty="0" sz="2800" spc="5" b="1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99"/>
                </a:solidFill>
                <a:latin typeface="宋体"/>
                <a:cs typeface="宋体"/>
              </a:rPr>
              <a:t>章</a:t>
            </a:r>
            <a:r>
              <a:rPr dirty="0" sz="2800" spc="15" b="1">
                <a:solidFill>
                  <a:srgbClr val="FFFF99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99"/>
                </a:solidFill>
                <a:latin typeface="宋体"/>
                <a:cs typeface="宋体"/>
              </a:rPr>
              <a:t>语法分析</a:t>
            </a:r>
            <a:r>
              <a:rPr dirty="0" sz="2800" spc="-5" b="1">
                <a:solidFill>
                  <a:srgbClr val="FFFF99"/>
                </a:solidFill>
                <a:latin typeface="Times New Roman"/>
                <a:cs typeface="Times New Roman"/>
              </a:rPr>
              <a:t>(Syntax	Analysis)</a:t>
            </a:r>
            <a:endParaRPr sz="2800">
              <a:latin typeface="Times New Roman"/>
              <a:cs typeface="Times New Roman"/>
            </a:endParaRPr>
          </a:p>
          <a:p>
            <a:pPr marL="1701164">
              <a:lnSpc>
                <a:spcPct val="100000"/>
              </a:lnSpc>
            </a:pPr>
            <a:r>
              <a:rPr dirty="0" sz="2800" spc="-5" b="1">
                <a:solidFill>
                  <a:srgbClr val="FFFF99"/>
                </a:solidFill>
                <a:latin typeface="Times New Roman"/>
                <a:cs typeface="Times New Roman"/>
              </a:rPr>
              <a:t>——</a:t>
            </a:r>
            <a:r>
              <a:rPr dirty="0" sz="2800" spc="-10" b="1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99"/>
                </a:solidFill>
                <a:latin typeface="宋体"/>
                <a:cs typeface="宋体"/>
              </a:rPr>
              <a:t>自下而上分析法</a:t>
            </a:r>
            <a:endParaRPr sz="2800">
              <a:latin typeface="宋体"/>
              <a:cs typeface="宋体"/>
            </a:endParaRPr>
          </a:p>
          <a:p>
            <a:pPr marL="12700" marR="293370">
              <a:lnSpc>
                <a:spcPct val="120000"/>
              </a:lnSpc>
              <a:spcBef>
                <a:spcPts val="5"/>
              </a:spcBef>
            </a:pPr>
            <a:r>
              <a:rPr dirty="0" sz="2800" spc="-15" b="1">
                <a:solidFill>
                  <a:srgbClr val="FFFF99"/>
                </a:solidFill>
                <a:latin typeface="宋体"/>
                <a:cs typeface="宋体"/>
              </a:rPr>
              <a:t>第</a:t>
            </a:r>
            <a:r>
              <a:rPr dirty="0" sz="2800" spc="-715" b="1">
                <a:solidFill>
                  <a:srgbClr val="FFFF99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99"/>
                </a:solidFill>
                <a:latin typeface="Times New Roman"/>
                <a:cs typeface="Times New Roman"/>
              </a:rPr>
              <a:t>6</a:t>
            </a:r>
            <a:r>
              <a:rPr dirty="0" sz="2800" spc="-25" b="1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99"/>
                </a:solidFill>
                <a:latin typeface="宋体"/>
                <a:cs typeface="宋体"/>
              </a:rPr>
              <a:t>章</a:t>
            </a:r>
            <a:r>
              <a:rPr dirty="0" sz="2800" spc="-40" b="1">
                <a:solidFill>
                  <a:srgbClr val="FFFF99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99"/>
                </a:solidFill>
                <a:latin typeface="宋体"/>
                <a:cs typeface="宋体"/>
              </a:rPr>
              <a:t>语义分析与中间代码生成 </a:t>
            </a:r>
            <a:r>
              <a:rPr dirty="0" sz="2800" spc="-15" b="1">
                <a:solidFill>
                  <a:srgbClr val="FFFF99"/>
                </a:solidFill>
                <a:latin typeface="宋体"/>
                <a:cs typeface="宋体"/>
              </a:rPr>
              <a:t>第</a:t>
            </a:r>
            <a:r>
              <a:rPr dirty="0" sz="2800" spc="-695" b="1">
                <a:solidFill>
                  <a:srgbClr val="FFFF99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99"/>
                </a:solidFill>
                <a:latin typeface="Times New Roman"/>
                <a:cs typeface="Times New Roman"/>
              </a:rPr>
              <a:t>7 </a:t>
            </a:r>
            <a:r>
              <a:rPr dirty="0" sz="2800" spc="-15" b="1">
                <a:solidFill>
                  <a:srgbClr val="FFFF99"/>
                </a:solidFill>
                <a:latin typeface="宋体"/>
                <a:cs typeface="宋体"/>
              </a:rPr>
              <a:t>章</a:t>
            </a:r>
            <a:r>
              <a:rPr dirty="0" sz="2800" b="1">
                <a:solidFill>
                  <a:srgbClr val="FFFF99"/>
                </a:solidFill>
                <a:latin typeface="宋体"/>
                <a:cs typeface="宋体"/>
              </a:rPr>
              <a:t> </a:t>
            </a:r>
            <a:r>
              <a:rPr dirty="0" sz="2800" spc="-15" b="1">
                <a:solidFill>
                  <a:srgbClr val="FFFF99"/>
                </a:solidFill>
                <a:latin typeface="宋体"/>
                <a:cs typeface="宋体"/>
              </a:rPr>
              <a:t>运</a:t>
            </a:r>
            <a:r>
              <a:rPr dirty="0" sz="2800" spc="-710" b="1">
                <a:solidFill>
                  <a:srgbClr val="FFFF99"/>
                </a:solidFill>
                <a:latin typeface="宋体"/>
                <a:cs typeface="宋体"/>
              </a:rPr>
              <a:t> </a:t>
            </a:r>
            <a:r>
              <a:rPr dirty="0" sz="2800" spc="-15" b="1">
                <a:solidFill>
                  <a:srgbClr val="FFFF99"/>
                </a:solidFill>
                <a:latin typeface="宋体"/>
                <a:cs typeface="宋体"/>
              </a:rPr>
              <a:t>行</a:t>
            </a:r>
            <a:r>
              <a:rPr dirty="0" sz="2800" spc="-695" b="1">
                <a:solidFill>
                  <a:srgbClr val="FFFF99"/>
                </a:solidFill>
                <a:latin typeface="宋体"/>
                <a:cs typeface="宋体"/>
              </a:rPr>
              <a:t> </a:t>
            </a:r>
            <a:r>
              <a:rPr dirty="0" sz="2800" spc="-15" b="1">
                <a:solidFill>
                  <a:srgbClr val="FFFF99"/>
                </a:solidFill>
                <a:latin typeface="宋体"/>
                <a:cs typeface="宋体"/>
              </a:rPr>
              <a:t>环</a:t>
            </a:r>
            <a:r>
              <a:rPr dirty="0" sz="2800" spc="-695" b="1">
                <a:solidFill>
                  <a:srgbClr val="FFFF99"/>
                </a:solidFill>
                <a:latin typeface="宋体"/>
                <a:cs typeface="宋体"/>
              </a:rPr>
              <a:t> </a:t>
            </a:r>
            <a:r>
              <a:rPr dirty="0" sz="2800" spc="-15" b="1">
                <a:solidFill>
                  <a:srgbClr val="FFFF99"/>
                </a:solidFill>
                <a:latin typeface="宋体"/>
                <a:cs typeface="宋体"/>
              </a:rPr>
              <a:t>境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dirty="0" sz="2800" spc="-15" b="1">
                <a:solidFill>
                  <a:srgbClr val="FFFF99"/>
                </a:solidFill>
                <a:latin typeface="宋体"/>
                <a:cs typeface="宋体"/>
              </a:rPr>
              <a:t>第</a:t>
            </a:r>
            <a:r>
              <a:rPr dirty="0" sz="2800" spc="-705" b="1">
                <a:solidFill>
                  <a:srgbClr val="FFFF99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99"/>
                </a:solidFill>
                <a:latin typeface="Times New Roman"/>
                <a:cs typeface="Times New Roman"/>
              </a:rPr>
              <a:t>8 </a:t>
            </a:r>
            <a:r>
              <a:rPr dirty="0" sz="2800" spc="-15" b="1">
                <a:solidFill>
                  <a:srgbClr val="FFFF99"/>
                </a:solidFill>
                <a:latin typeface="宋体"/>
                <a:cs typeface="宋体"/>
              </a:rPr>
              <a:t>章</a:t>
            </a:r>
            <a:r>
              <a:rPr dirty="0" sz="2800" spc="-10" b="1">
                <a:solidFill>
                  <a:srgbClr val="FFFF99"/>
                </a:solidFill>
                <a:latin typeface="宋体"/>
                <a:cs typeface="宋体"/>
              </a:rPr>
              <a:t> 代码优化</a:t>
            </a:r>
            <a:r>
              <a:rPr dirty="0" sz="2800" spc="-5" b="1">
                <a:solidFill>
                  <a:srgbClr val="FFFF99"/>
                </a:solidFill>
                <a:latin typeface="宋体"/>
                <a:cs typeface="宋体"/>
              </a:rPr>
              <a:t>（</a:t>
            </a:r>
            <a:r>
              <a:rPr dirty="0" sz="2800" spc="-5" b="1">
                <a:solidFill>
                  <a:srgbClr val="FFFF99"/>
                </a:solidFill>
                <a:latin typeface="Times New Roman"/>
                <a:cs typeface="Times New Roman"/>
              </a:rPr>
              <a:t>optimization</a:t>
            </a:r>
            <a:r>
              <a:rPr dirty="0" sz="2800" spc="-5" b="1">
                <a:solidFill>
                  <a:srgbClr val="FFFF99"/>
                </a:solidFill>
                <a:latin typeface="宋体"/>
                <a:cs typeface="宋体"/>
              </a:rPr>
              <a:t>）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126479" y="3785615"/>
            <a:ext cx="2194560" cy="722630"/>
          </a:xfrm>
          <a:custGeom>
            <a:avLst/>
            <a:gdLst/>
            <a:ahLst/>
            <a:cxnLst/>
            <a:rect l="l" t="t" r="r" b="b"/>
            <a:pathLst>
              <a:path w="2194559" h="722629">
                <a:moveTo>
                  <a:pt x="548894" y="0"/>
                </a:moveTo>
                <a:lnTo>
                  <a:pt x="0" y="361187"/>
                </a:lnTo>
                <a:lnTo>
                  <a:pt x="548894" y="722375"/>
                </a:lnTo>
                <a:lnTo>
                  <a:pt x="548894" y="541781"/>
                </a:lnTo>
                <a:lnTo>
                  <a:pt x="2194560" y="541781"/>
                </a:lnTo>
                <a:lnTo>
                  <a:pt x="2194560" y="180593"/>
                </a:lnTo>
                <a:lnTo>
                  <a:pt x="548894" y="180593"/>
                </a:lnTo>
                <a:lnTo>
                  <a:pt x="548894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126479" y="3785615"/>
            <a:ext cx="2194560" cy="722630"/>
          </a:xfrm>
          <a:custGeom>
            <a:avLst/>
            <a:gdLst/>
            <a:ahLst/>
            <a:cxnLst/>
            <a:rect l="l" t="t" r="r" b="b"/>
            <a:pathLst>
              <a:path w="2194559" h="722629">
                <a:moveTo>
                  <a:pt x="0" y="361187"/>
                </a:moveTo>
                <a:lnTo>
                  <a:pt x="548894" y="0"/>
                </a:lnTo>
                <a:lnTo>
                  <a:pt x="548894" y="180593"/>
                </a:lnTo>
                <a:lnTo>
                  <a:pt x="2194560" y="180593"/>
                </a:lnTo>
                <a:lnTo>
                  <a:pt x="2194560" y="541781"/>
                </a:lnTo>
                <a:lnTo>
                  <a:pt x="548894" y="541781"/>
                </a:lnTo>
                <a:lnTo>
                  <a:pt x="548894" y="722375"/>
                </a:lnTo>
                <a:lnTo>
                  <a:pt x="0" y="361187"/>
                </a:lnTo>
                <a:close/>
              </a:path>
            </a:pathLst>
          </a:custGeom>
          <a:ln w="9525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932813" y="12902"/>
            <a:ext cx="194310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04850" algn="l"/>
              </a:tabLst>
            </a:pPr>
            <a:r>
              <a:rPr dirty="0" sz="2400" b="1">
                <a:solidFill>
                  <a:srgbClr val="A15100"/>
                </a:solidFill>
                <a:latin typeface="Times New Roman"/>
                <a:cs typeface="Times New Roman"/>
              </a:rPr>
              <a:t>C</a:t>
            </a:r>
            <a:r>
              <a:rPr dirty="0" sz="2400" spc="-10" b="1">
                <a:solidFill>
                  <a:srgbClr val="A15100"/>
                </a:solidFill>
                <a:latin typeface="Times New Roman"/>
                <a:cs typeface="Times New Roman"/>
              </a:rPr>
              <a:t>h</a:t>
            </a:r>
            <a:r>
              <a:rPr dirty="0" sz="24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4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400" spc="5" b="1">
                <a:solidFill>
                  <a:srgbClr val="A15100"/>
                </a:solidFill>
                <a:latin typeface="华文新魏"/>
                <a:cs typeface="华文新魏"/>
              </a:rPr>
              <a:t>语法分析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43476" y="12902"/>
            <a:ext cx="276860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5950" algn="l"/>
              </a:tabLst>
            </a:pPr>
            <a:r>
              <a:rPr dirty="0" u="sng" sz="24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</a:t>
            </a:r>
            <a:r>
              <a:rPr dirty="0" u="sng" sz="24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sng" sz="24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4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移进</a:t>
            </a:r>
            <a:r>
              <a:rPr dirty="0" u="sng" sz="24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Arial"/>
                <a:cs typeface="Arial"/>
              </a:rPr>
              <a:t>—</a:t>
            </a:r>
            <a:r>
              <a:rPr dirty="0" u="sng" sz="24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归</a:t>
            </a:r>
            <a:r>
              <a:rPr dirty="0" u="sng" sz="24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约分析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05205" y="1477517"/>
            <a:ext cx="8229600" cy="23027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05205" y="1477517"/>
            <a:ext cx="8229600" cy="2303145"/>
          </a:xfrm>
          <a:custGeom>
            <a:avLst/>
            <a:gdLst/>
            <a:ahLst/>
            <a:cxnLst/>
            <a:rect l="l" t="t" r="r" b="b"/>
            <a:pathLst>
              <a:path w="8229600" h="2303145">
                <a:moveTo>
                  <a:pt x="0" y="2302763"/>
                </a:moveTo>
                <a:lnTo>
                  <a:pt x="8229600" y="2302763"/>
                </a:lnTo>
                <a:lnTo>
                  <a:pt x="8229600" y="0"/>
                </a:lnTo>
                <a:lnTo>
                  <a:pt x="0" y="0"/>
                </a:lnTo>
                <a:lnTo>
                  <a:pt x="0" y="2302763"/>
                </a:lnTo>
                <a:close/>
              </a:path>
            </a:pathLst>
          </a:custGeom>
          <a:ln w="41275">
            <a:solidFill>
              <a:srgbClr val="FF6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55142" y="728548"/>
            <a:ext cx="7969884" cy="26739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429895" indent="-417830">
              <a:lnSpc>
                <a:spcPct val="100000"/>
              </a:lnSpc>
              <a:spcBef>
                <a:spcPts val="105"/>
              </a:spcBef>
              <a:buClr>
                <a:srgbClr val="66FFFF"/>
              </a:buClr>
              <a:buSzPct val="114062"/>
              <a:buFont typeface="Wingdings"/>
              <a:buChar char=""/>
              <a:tabLst>
                <a:tab pos="430530" algn="l"/>
              </a:tabLst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自下而上语法分析</a:t>
            </a:r>
            <a:endParaRPr sz="3200">
              <a:latin typeface="宋体"/>
              <a:cs typeface="宋体"/>
            </a:endParaRPr>
          </a:p>
          <a:p>
            <a:pPr algn="just" marL="41275" marR="5080" indent="819785">
              <a:lnSpc>
                <a:spcPct val="130000"/>
              </a:lnSpc>
              <a:spcBef>
                <a:spcPts val="2030"/>
              </a:spcBef>
            </a:pPr>
            <a:r>
              <a:rPr dirty="0" sz="3200" b="1">
                <a:latin typeface="宋体"/>
                <a:cs typeface="宋体"/>
              </a:rPr>
              <a:t>从给定的输入</a:t>
            </a:r>
            <a:r>
              <a:rPr dirty="0" sz="3200" spc="5" b="1">
                <a:latin typeface="宋体"/>
                <a:cs typeface="宋体"/>
              </a:rPr>
              <a:t>串</a:t>
            </a:r>
            <a:r>
              <a:rPr dirty="0" sz="3200" b="1" i="1">
                <a:latin typeface="Times New Roman"/>
                <a:cs typeface="Times New Roman"/>
              </a:rPr>
              <a:t>r</a:t>
            </a:r>
            <a:r>
              <a:rPr dirty="0" sz="3200" spc="-5" b="1">
                <a:latin typeface="宋体"/>
                <a:cs typeface="宋体"/>
              </a:rPr>
              <a:t>开始，</a:t>
            </a:r>
            <a:r>
              <a:rPr dirty="0" sz="3200" spc="-10" b="1">
                <a:latin typeface="宋体"/>
                <a:cs typeface="宋体"/>
              </a:rPr>
              <a:t>不</a:t>
            </a:r>
            <a:r>
              <a:rPr dirty="0" sz="3200" spc="-5" b="1">
                <a:latin typeface="宋体"/>
                <a:cs typeface="宋体"/>
              </a:rPr>
              <a:t>断寻找</a:t>
            </a:r>
            <a:r>
              <a:rPr dirty="0" sz="3200" spc="-10" b="1">
                <a:latin typeface="宋体"/>
                <a:cs typeface="宋体"/>
              </a:rPr>
              <a:t>子</a:t>
            </a:r>
            <a:r>
              <a:rPr dirty="0" sz="3200" spc="-5" b="1">
                <a:latin typeface="宋体"/>
                <a:cs typeface="宋体"/>
              </a:rPr>
              <a:t>串</a:t>
            </a:r>
            <a:r>
              <a:rPr dirty="0" sz="3200" spc="-10" b="1">
                <a:latin typeface="宋体"/>
                <a:cs typeface="宋体"/>
              </a:rPr>
              <a:t>与 </a:t>
            </a:r>
            <a:r>
              <a:rPr dirty="0" sz="3200" b="1">
                <a:latin typeface="宋体"/>
                <a:cs typeface="宋体"/>
              </a:rPr>
              <a:t>文法</a:t>
            </a:r>
            <a:r>
              <a:rPr dirty="0" sz="3200" b="1" i="1">
                <a:latin typeface="Times New Roman"/>
                <a:cs typeface="Times New Roman"/>
              </a:rPr>
              <a:t>G</a:t>
            </a:r>
            <a:r>
              <a:rPr dirty="0" sz="3200" b="1">
                <a:latin typeface="宋体"/>
                <a:cs typeface="宋体"/>
              </a:rPr>
              <a:t>中某个产生式</a:t>
            </a:r>
            <a:r>
              <a:rPr dirty="0" sz="3200" b="1" i="1">
                <a:latin typeface="Times New Roman"/>
                <a:cs typeface="Times New Roman"/>
              </a:rPr>
              <a:t>P</a:t>
            </a:r>
            <a:r>
              <a:rPr dirty="0" sz="3200" spc="-5" b="1">
                <a:latin typeface="宋体"/>
                <a:cs typeface="宋体"/>
              </a:rPr>
              <a:t>的</a:t>
            </a:r>
            <a:r>
              <a:rPr dirty="0" sz="3200" spc="-10" b="1">
                <a:latin typeface="宋体"/>
                <a:cs typeface="宋体"/>
              </a:rPr>
              <a:t>候</a:t>
            </a:r>
            <a:r>
              <a:rPr dirty="0" sz="3200" spc="-5" b="1">
                <a:latin typeface="宋体"/>
                <a:cs typeface="宋体"/>
              </a:rPr>
              <a:t>选式</a:t>
            </a:r>
            <a:r>
              <a:rPr dirty="0" sz="3200" spc="-10" b="1">
                <a:latin typeface="宋体"/>
                <a:cs typeface="宋体"/>
              </a:rPr>
              <a:t>进</a:t>
            </a:r>
            <a:r>
              <a:rPr dirty="0" sz="3200" spc="-5" b="1">
                <a:latin typeface="宋体"/>
                <a:cs typeface="宋体"/>
              </a:rPr>
              <a:t>行匹配</a:t>
            </a:r>
            <a:r>
              <a:rPr dirty="0" sz="3200" spc="-10" b="1">
                <a:latin typeface="宋体"/>
                <a:cs typeface="宋体"/>
              </a:rPr>
              <a:t>，并 </a:t>
            </a:r>
            <a:r>
              <a:rPr dirty="0" sz="3200" spc="-5" b="1">
                <a:latin typeface="宋体"/>
                <a:cs typeface="宋体"/>
              </a:rPr>
              <a:t>用</a:t>
            </a:r>
            <a:r>
              <a:rPr dirty="0" sz="3200" spc="-5" b="1" i="1">
                <a:latin typeface="Times New Roman"/>
                <a:cs typeface="Times New Roman"/>
              </a:rPr>
              <a:t>P</a:t>
            </a:r>
            <a:r>
              <a:rPr dirty="0" sz="3200" spc="-5" b="1">
                <a:latin typeface="宋体"/>
                <a:cs typeface="宋体"/>
              </a:rPr>
              <a:t>的左部代</a:t>
            </a:r>
            <a:r>
              <a:rPr dirty="0" sz="3200" b="1">
                <a:latin typeface="宋体"/>
                <a:cs typeface="宋体"/>
              </a:rPr>
              <a:t>替</a:t>
            </a:r>
            <a:r>
              <a:rPr dirty="0" sz="3200" spc="5" b="1">
                <a:latin typeface="宋体"/>
                <a:cs typeface="宋体"/>
              </a:rPr>
              <a:t>(</a:t>
            </a:r>
            <a:r>
              <a:rPr dirty="0" sz="3200" spc="-5" b="1">
                <a:latin typeface="宋体"/>
                <a:cs typeface="宋体"/>
              </a:rPr>
              <a:t>归</a:t>
            </a:r>
            <a:r>
              <a:rPr dirty="0" sz="3200" b="1">
                <a:latin typeface="宋体"/>
                <a:cs typeface="宋体"/>
              </a:rPr>
              <a:t>约</a:t>
            </a:r>
            <a:r>
              <a:rPr dirty="0" sz="3200" spc="-10" b="1">
                <a:latin typeface="宋体"/>
                <a:cs typeface="宋体"/>
              </a:rPr>
              <a:t>)之，</a:t>
            </a:r>
            <a:r>
              <a:rPr dirty="0" sz="3200" b="1">
                <a:latin typeface="宋体"/>
                <a:cs typeface="宋体"/>
              </a:rPr>
              <a:t>逐</a:t>
            </a:r>
            <a:r>
              <a:rPr dirty="0" sz="3200" spc="-10" b="1">
                <a:latin typeface="宋体"/>
                <a:cs typeface="宋体"/>
              </a:rPr>
              <a:t>步归</a:t>
            </a:r>
            <a:r>
              <a:rPr dirty="0" sz="3200" b="1">
                <a:latin typeface="宋体"/>
                <a:cs typeface="宋体"/>
              </a:rPr>
              <a:t>约</a:t>
            </a:r>
            <a:r>
              <a:rPr dirty="0" sz="3200" spc="5" b="1">
                <a:latin typeface="宋体"/>
                <a:cs typeface="宋体"/>
              </a:rPr>
              <a:t>到</a:t>
            </a:r>
            <a:r>
              <a:rPr dirty="0" sz="3200" spc="-10" b="1" i="1">
                <a:latin typeface="Times New Roman"/>
                <a:cs typeface="Times New Roman"/>
              </a:rPr>
              <a:t>S</a:t>
            </a:r>
            <a:r>
              <a:rPr dirty="0" sz="3200" spc="-10" b="1"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7840" y="4139565"/>
            <a:ext cx="2200910" cy="635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62965" algn="l"/>
              </a:tabLst>
            </a:pPr>
            <a:r>
              <a:rPr dirty="0" sz="4000" spc="-10" b="1">
                <a:solidFill>
                  <a:srgbClr val="FFFF00"/>
                </a:solidFill>
                <a:latin typeface="Webdings"/>
                <a:cs typeface="Webdings"/>
              </a:rPr>
              <a:t></a:t>
            </a:r>
            <a:r>
              <a:rPr dirty="0" sz="4000" spc="-10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关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键</a:t>
            </a:r>
            <a:r>
              <a:rPr dirty="0" sz="3200" spc="-894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5052" y="4760112"/>
            <a:ext cx="3187700" cy="1294130"/>
          </a:xfrm>
          <a:prstGeom prst="rect">
            <a:avLst/>
          </a:prstGeom>
        </p:spPr>
        <p:txBody>
          <a:bodyPr wrap="square" lIns="0" tIns="158750" rIns="0" bIns="0" rtlCol="0" vert="horz">
            <a:spAutoFit/>
          </a:bodyPr>
          <a:lstStyle/>
          <a:p>
            <a:pPr marL="723900" indent="-711835">
              <a:lnSpc>
                <a:spcPct val="100000"/>
              </a:lnSpc>
              <a:spcBef>
                <a:spcPts val="1250"/>
              </a:spcBef>
              <a:buFont typeface="Times New Roman"/>
              <a:buAutoNum type="arabicPlain"/>
              <a:tabLst>
                <a:tab pos="724535" algn="l"/>
              </a:tabLst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确定可归约串</a:t>
            </a:r>
            <a:endParaRPr sz="3200">
              <a:latin typeface="宋体"/>
              <a:cs typeface="宋体"/>
            </a:endParaRPr>
          </a:p>
          <a:p>
            <a:pPr marL="723900" indent="-711835">
              <a:lnSpc>
                <a:spcPct val="100000"/>
              </a:lnSpc>
              <a:spcBef>
                <a:spcPts val="1155"/>
              </a:spcBef>
              <a:buFont typeface="Times New Roman"/>
              <a:buAutoNum type="arabicPlain"/>
              <a:tabLst>
                <a:tab pos="724535" algn="l"/>
              </a:tabLst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如何归约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78348" y="4760112"/>
            <a:ext cx="2680335" cy="12941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612140">
              <a:lnSpc>
                <a:spcPct val="130100"/>
              </a:lnSpc>
              <a:spcBef>
                <a:spcPts val="9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归约条件；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归约原则。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343780" y="5028565"/>
            <a:ext cx="1067435" cy="114300"/>
          </a:xfrm>
          <a:custGeom>
            <a:avLst/>
            <a:gdLst/>
            <a:ahLst/>
            <a:cxnLst/>
            <a:rect l="l" t="t" r="r" b="b"/>
            <a:pathLst>
              <a:path w="1067435" h="114300">
                <a:moveTo>
                  <a:pt x="953897" y="0"/>
                </a:moveTo>
                <a:lnTo>
                  <a:pt x="953219" y="38126"/>
                </a:lnTo>
                <a:lnTo>
                  <a:pt x="972312" y="38481"/>
                </a:lnTo>
                <a:lnTo>
                  <a:pt x="971550" y="76581"/>
                </a:lnTo>
                <a:lnTo>
                  <a:pt x="952535" y="76581"/>
                </a:lnTo>
                <a:lnTo>
                  <a:pt x="951865" y="114300"/>
                </a:lnTo>
                <a:lnTo>
                  <a:pt x="1030961" y="76581"/>
                </a:lnTo>
                <a:lnTo>
                  <a:pt x="971550" y="76581"/>
                </a:lnTo>
                <a:lnTo>
                  <a:pt x="952541" y="76228"/>
                </a:lnTo>
                <a:lnTo>
                  <a:pt x="1031701" y="76228"/>
                </a:lnTo>
                <a:lnTo>
                  <a:pt x="1067181" y="59309"/>
                </a:lnTo>
                <a:lnTo>
                  <a:pt x="953897" y="0"/>
                </a:lnTo>
                <a:close/>
              </a:path>
              <a:path w="1067435" h="114300">
                <a:moveTo>
                  <a:pt x="953219" y="38126"/>
                </a:moveTo>
                <a:lnTo>
                  <a:pt x="952541" y="76228"/>
                </a:lnTo>
                <a:lnTo>
                  <a:pt x="971550" y="76581"/>
                </a:lnTo>
                <a:lnTo>
                  <a:pt x="972312" y="38481"/>
                </a:lnTo>
                <a:lnTo>
                  <a:pt x="953219" y="38126"/>
                </a:lnTo>
                <a:close/>
              </a:path>
              <a:path w="1067435" h="114300">
                <a:moveTo>
                  <a:pt x="762" y="20447"/>
                </a:moveTo>
                <a:lnTo>
                  <a:pt x="0" y="58547"/>
                </a:lnTo>
                <a:lnTo>
                  <a:pt x="952541" y="76228"/>
                </a:lnTo>
                <a:lnTo>
                  <a:pt x="953219" y="38126"/>
                </a:lnTo>
                <a:lnTo>
                  <a:pt x="762" y="2044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543680" y="5696280"/>
            <a:ext cx="1067435" cy="114300"/>
          </a:xfrm>
          <a:custGeom>
            <a:avLst/>
            <a:gdLst/>
            <a:ahLst/>
            <a:cxnLst/>
            <a:rect l="l" t="t" r="r" b="b"/>
            <a:pathLst>
              <a:path w="1067435" h="114300">
                <a:moveTo>
                  <a:pt x="953897" y="0"/>
                </a:moveTo>
                <a:lnTo>
                  <a:pt x="953219" y="38102"/>
                </a:lnTo>
                <a:lnTo>
                  <a:pt x="972312" y="38430"/>
                </a:lnTo>
                <a:lnTo>
                  <a:pt x="971677" y="76517"/>
                </a:lnTo>
                <a:lnTo>
                  <a:pt x="952536" y="76517"/>
                </a:lnTo>
                <a:lnTo>
                  <a:pt x="951865" y="114287"/>
                </a:lnTo>
                <a:lnTo>
                  <a:pt x="1030794" y="76517"/>
                </a:lnTo>
                <a:lnTo>
                  <a:pt x="971677" y="76517"/>
                </a:lnTo>
                <a:lnTo>
                  <a:pt x="952542" y="76189"/>
                </a:lnTo>
                <a:lnTo>
                  <a:pt x="1031479" y="76189"/>
                </a:lnTo>
                <a:lnTo>
                  <a:pt x="1067181" y="59105"/>
                </a:lnTo>
                <a:lnTo>
                  <a:pt x="953897" y="0"/>
                </a:lnTo>
                <a:close/>
              </a:path>
              <a:path w="1067435" h="114300">
                <a:moveTo>
                  <a:pt x="953219" y="38102"/>
                </a:moveTo>
                <a:lnTo>
                  <a:pt x="952542" y="76189"/>
                </a:lnTo>
                <a:lnTo>
                  <a:pt x="971677" y="76517"/>
                </a:lnTo>
                <a:lnTo>
                  <a:pt x="972312" y="38430"/>
                </a:lnTo>
                <a:lnTo>
                  <a:pt x="953219" y="38102"/>
                </a:lnTo>
                <a:close/>
              </a:path>
              <a:path w="1067435" h="114300">
                <a:moveTo>
                  <a:pt x="762" y="21767"/>
                </a:moveTo>
                <a:lnTo>
                  <a:pt x="0" y="59867"/>
                </a:lnTo>
                <a:lnTo>
                  <a:pt x="952542" y="76189"/>
                </a:lnTo>
                <a:lnTo>
                  <a:pt x="953219" y="38102"/>
                </a:lnTo>
                <a:lnTo>
                  <a:pt x="762" y="2176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315961" y="1628394"/>
            <a:ext cx="867155" cy="5090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315961" y="1628394"/>
            <a:ext cx="867410" cy="509270"/>
          </a:xfrm>
          <a:custGeom>
            <a:avLst/>
            <a:gdLst/>
            <a:ahLst/>
            <a:cxnLst/>
            <a:rect l="l" t="t" r="r" b="b"/>
            <a:pathLst>
              <a:path w="867409" h="509269">
                <a:moveTo>
                  <a:pt x="0" y="509015"/>
                </a:moveTo>
                <a:lnTo>
                  <a:pt x="867155" y="509015"/>
                </a:lnTo>
                <a:lnTo>
                  <a:pt x="867155" y="0"/>
                </a:lnTo>
                <a:lnTo>
                  <a:pt x="0" y="0"/>
                </a:lnTo>
                <a:lnTo>
                  <a:pt x="0" y="509015"/>
                </a:lnTo>
                <a:close/>
              </a:path>
            </a:pathLst>
          </a:custGeom>
          <a:ln w="38100">
            <a:solidFill>
              <a:srgbClr val="A737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15975" algn="l"/>
              </a:tabLst>
            </a:pPr>
            <a:r>
              <a:rPr dirty="0" spc="-5">
                <a:solidFill>
                  <a:srgbClr val="FFFF00"/>
                </a:solidFill>
                <a:latin typeface="Times New Roman"/>
                <a:cs typeface="Times New Roman"/>
              </a:rPr>
              <a:t>5.1	</a:t>
            </a:r>
            <a:r>
              <a:rPr dirty="0" spc="-10">
                <a:solidFill>
                  <a:srgbClr val="FFFFFF"/>
                </a:solidFill>
              </a:rPr>
              <a:t>“移近</a:t>
            </a:r>
            <a:r>
              <a:rPr dirty="0" spc="-10">
                <a:solidFill>
                  <a:srgbClr val="FFFFFF"/>
                </a:solidFill>
                <a:latin typeface="Times New Roman"/>
                <a:cs typeface="Times New Roman"/>
              </a:rPr>
              <a:t>—</a:t>
            </a:r>
            <a:r>
              <a:rPr dirty="0" spc="-10">
                <a:solidFill>
                  <a:srgbClr val="FFFFFF"/>
                </a:solidFill>
              </a:rPr>
              <a:t>归约”分析法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26947" y="1286662"/>
            <a:ext cx="5654040" cy="5168900"/>
          </a:xfrm>
          <a:prstGeom prst="rect">
            <a:avLst/>
          </a:prstGeom>
        </p:spPr>
        <p:txBody>
          <a:bodyPr wrap="square" lIns="0" tIns="161925" rIns="0" bIns="0" rtlCol="0" vert="horz">
            <a:spAutoFit/>
          </a:bodyPr>
          <a:lstStyle/>
          <a:p>
            <a:pPr lvl="1" marL="817244" indent="-803910">
              <a:lnSpc>
                <a:spcPct val="100000"/>
              </a:lnSpc>
              <a:spcBef>
                <a:spcPts val="1275"/>
              </a:spcBef>
              <a:buClr>
                <a:srgbClr val="FFFF00"/>
              </a:buClr>
              <a:buFont typeface="Times New Roman"/>
              <a:buAutoNum type="arabicPeriod" startAt="2"/>
              <a:tabLst>
                <a:tab pos="817244" algn="l"/>
                <a:tab pos="817880" algn="l"/>
              </a:tabLst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算符优先分析法</a:t>
            </a:r>
            <a:endParaRPr sz="2800">
              <a:latin typeface="宋体"/>
              <a:cs typeface="宋体"/>
            </a:endParaRPr>
          </a:p>
          <a:p>
            <a:pPr lvl="1" marL="817244" indent="-803910">
              <a:lnSpc>
                <a:spcPct val="100000"/>
              </a:lnSpc>
              <a:spcBef>
                <a:spcPts val="1175"/>
              </a:spcBef>
              <a:buClr>
                <a:srgbClr val="FFFF00"/>
              </a:buClr>
              <a:buAutoNum type="arabicPeriod" startAt="2"/>
              <a:tabLst>
                <a:tab pos="817244" algn="l"/>
                <a:tab pos="817880" algn="l"/>
              </a:tabLst>
            </a:pP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LR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分析概述</a:t>
            </a:r>
            <a:endParaRPr sz="2800">
              <a:latin typeface="宋体"/>
              <a:cs typeface="宋体"/>
            </a:endParaRPr>
          </a:p>
          <a:p>
            <a:pPr lvl="1" marL="817244" indent="-803910">
              <a:lnSpc>
                <a:spcPct val="100000"/>
              </a:lnSpc>
              <a:spcBef>
                <a:spcPts val="1180"/>
              </a:spcBef>
              <a:buClr>
                <a:srgbClr val="FFFF00"/>
              </a:buClr>
              <a:buAutoNum type="arabicPeriod" startAt="2"/>
              <a:tabLst>
                <a:tab pos="817244" algn="l"/>
                <a:tab pos="817880" algn="l"/>
              </a:tabLst>
            </a:pP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LR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 (0)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分析</a:t>
            </a:r>
            <a:endParaRPr sz="2800">
              <a:latin typeface="宋体"/>
              <a:cs typeface="宋体"/>
            </a:endParaRPr>
          </a:p>
          <a:p>
            <a:pPr lvl="1" marL="817244" indent="-803910">
              <a:lnSpc>
                <a:spcPct val="100000"/>
              </a:lnSpc>
              <a:spcBef>
                <a:spcPts val="1175"/>
              </a:spcBef>
              <a:buClr>
                <a:srgbClr val="FFFF00"/>
              </a:buClr>
              <a:buAutoNum type="arabicPeriod" startAt="2"/>
              <a:tabLst>
                <a:tab pos="817244" algn="l"/>
                <a:tab pos="817880" algn="l"/>
              </a:tabLst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SLR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 (1)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分析</a:t>
            </a:r>
            <a:endParaRPr sz="2800">
              <a:latin typeface="宋体"/>
              <a:cs typeface="宋体"/>
            </a:endParaRPr>
          </a:p>
          <a:p>
            <a:pPr lvl="1" marL="634365" indent="-622300">
              <a:lnSpc>
                <a:spcPct val="100000"/>
              </a:lnSpc>
              <a:spcBef>
                <a:spcPts val="1510"/>
              </a:spcBef>
              <a:buClr>
                <a:srgbClr val="FFFF00"/>
              </a:buClr>
              <a:buAutoNum type="arabicPeriod" startAt="2"/>
              <a:tabLst>
                <a:tab pos="634365" algn="l"/>
                <a:tab pos="635000" algn="l"/>
              </a:tabLst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LR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(1)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分析</a:t>
            </a:r>
            <a:endParaRPr sz="2800">
              <a:latin typeface="宋体"/>
              <a:cs typeface="宋体"/>
            </a:endParaRPr>
          </a:p>
          <a:p>
            <a:pPr lvl="1" marL="634365" indent="-622300">
              <a:lnSpc>
                <a:spcPct val="100000"/>
              </a:lnSpc>
              <a:spcBef>
                <a:spcPts val="1015"/>
              </a:spcBef>
              <a:buClr>
                <a:srgbClr val="FFFF00"/>
              </a:buClr>
              <a:buAutoNum type="arabicPeriod" startAt="2"/>
              <a:tabLst>
                <a:tab pos="634365" algn="l"/>
                <a:tab pos="635000" algn="l"/>
              </a:tabLst>
            </a:pP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LALR</a:t>
            </a:r>
            <a:r>
              <a:rPr dirty="0" sz="2800" spc="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(1)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分析</a:t>
            </a:r>
            <a:endParaRPr sz="2800">
              <a:latin typeface="宋体"/>
              <a:cs typeface="宋体"/>
            </a:endParaRPr>
          </a:p>
          <a:p>
            <a:pPr lvl="1" marL="634365" indent="-622300">
              <a:lnSpc>
                <a:spcPct val="100000"/>
              </a:lnSpc>
              <a:spcBef>
                <a:spcPts val="1005"/>
              </a:spcBef>
              <a:buClr>
                <a:srgbClr val="FFFF00"/>
              </a:buClr>
              <a:buAutoNum type="arabicPeriod" startAt="2"/>
              <a:tabLst>
                <a:tab pos="634365" algn="l"/>
                <a:tab pos="635000" algn="l"/>
              </a:tabLst>
            </a:pP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分析对二义文法的应用</a:t>
            </a:r>
            <a:endParaRPr sz="2800">
              <a:latin typeface="宋体"/>
              <a:cs typeface="宋体"/>
            </a:endParaRPr>
          </a:p>
          <a:p>
            <a:pPr lvl="1" marL="634365" indent="-622300">
              <a:lnSpc>
                <a:spcPct val="100000"/>
              </a:lnSpc>
              <a:spcBef>
                <a:spcPts val="1010"/>
              </a:spcBef>
              <a:buClr>
                <a:srgbClr val="FFFF00"/>
              </a:buClr>
              <a:buAutoNum type="arabicPeriod" startAt="2"/>
              <a:tabLst>
                <a:tab pos="634365" algn="l"/>
                <a:tab pos="635000" algn="l"/>
              </a:tabLst>
            </a:pP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LR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分析的错误处理与恢复</a:t>
            </a:r>
            <a:endParaRPr sz="2800">
              <a:latin typeface="宋体"/>
              <a:cs typeface="宋体"/>
            </a:endParaRPr>
          </a:p>
          <a:p>
            <a:pPr lvl="1" marL="722630" indent="-710565">
              <a:lnSpc>
                <a:spcPct val="100000"/>
              </a:lnSpc>
              <a:spcBef>
                <a:spcPts val="1010"/>
              </a:spcBef>
              <a:buClr>
                <a:srgbClr val="FFFF00"/>
              </a:buClr>
              <a:buFont typeface="Times New Roman"/>
              <a:buAutoNum type="arabicPeriod" startAt="2"/>
              <a:tabLst>
                <a:tab pos="723265" algn="l"/>
              </a:tabLst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语法分析器的自动生成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与</a:t>
            </a:r>
            <a:r>
              <a:rPr dirty="0" sz="2800" spc="-250" b="1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ACC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761"/>
            <a:ext cx="8992362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761"/>
            <a:ext cx="8992870" cy="434340"/>
          </a:xfrm>
          <a:custGeom>
            <a:avLst/>
            <a:gdLst/>
            <a:ahLst/>
            <a:cxnLst/>
            <a:rect l="l" t="t" r="r" b="b"/>
            <a:pathLst>
              <a:path w="8992870" h="434340">
                <a:moveTo>
                  <a:pt x="0" y="434340"/>
                </a:moveTo>
                <a:lnTo>
                  <a:pt x="8992362" y="434340"/>
                </a:lnTo>
                <a:lnTo>
                  <a:pt x="8992362" y="0"/>
                </a:lnTo>
                <a:lnTo>
                  <a:pt x="0" y="0"/>
                </a:lnTo>
              </a:path>
            </a:pathLst>
          </a:custGeom>
          <a:ln w="38099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0" y="14732"/>
            <a:ext cx="89738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127635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Ch5</a:t>
            </a:r>
            <a:r>
              <a:rPr dirty="0" sz="2000" spc="47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10" b="1">
                <a:solidFill>
                  <a:srgbClr val="A15100"/>
                </a:solidFill>
                <a:latin typeface="华文新魏"/>
                <a:cs typeface="华文新魏"/>
              </a:rPr>
              <a:t>语</a:t>
            </a:r>
            <a:r>
              <a:rPr dirty="0" sz="2000" b="1">
                <a:solidFill>
                  <a:srgbClr val="A15100"/>
                </a:solidFill>
                <a:latin typeface="华文新魏"/>
                <a:cs typeface="华文新魏"/>
              </a:rPr>
              <a:t>法分析</a:t>
            </a:r>
            <a:endParaRPr sz="2000">
              <a:latin typeface="华文新魏"/>
              <a:cs typeface="华文新魏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564885" y="835913"/>
            <a:ext cx="1562099" cy="5364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564885" y="835913"/>
            <a:ext cx="1562100" cy="536575"/>
          </a:xfrm>
          <a:custGeom>
            <a:avLst/>
            <a:gdLst/>
            <a:ahLst/>
            <a:cxnLst/>
            <a:rect l="l" t="t" r="r" b="b"/>
            <a:pathLst>
              <a:path w="1562100" h="536575">
                <a:moveTo>
                  <a:pt x="0" y="268224"/>
                </a:moveTo>
                <a:lnTo>
                  <a:pt x="390398" y="0"/>
                </a:lnTo>
                <a:lnTo>
                  <a:pt x="390398" y="134112"/>
                </a:lnTo>
                <a:lnTo>
                  <a:pt x="1562099" y="134112"/>
                </a:lnTo>
                <a:lnTo>
                  <a:pt x="1562099" y="402336"/>
                </a:lnTo>
                <a:lnTo>
                  <a:pt x="390398" y="402336"/>
                </a:lnTo>
                <a:lnTo>
                  <a:pt x="390398" y="536448"/>
                </a:lnTo>
                <a:lnTo>
                  <a:pt x="0" y="26822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69694" y="2891789"/>
            <a:ext cx="6555740" cy="12947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lvl="2" marL="1236345" indent="-1224280">
              <a:lnSpc>
                <a:spcPct val="100000"/>
              </a:lnSpc>
              <a:spcBef>
                <a:spcPts val="105"/>
              </a:spcBef>
              <a:buClr>
                <a:srgbClr val="FFFF00"/>
              </a:buClr>
              <a:buFont typeface="Times New Roman"/>
              <a:buAutoNum type="arabicPeriod"/>
              <a:tabLst>
                <a:tab pos="1236345" algn="l"/>
                <a:tab pos="1236980" algn="l"/>
              </a:tabLst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直观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“移近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—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归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约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”分析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endParaRPr sz="3200">
              <a:latin typeface="宋体"/>
              <a:cs typeface="宋体"/>
            </a:endParaRPr>
          </a:p>
          <a:p>
            <a:pPr lvl="2" marL="1231900" indent="-1219200">
              <a:lnSpc>
                <a:spcPct val="100000"/>
              </a:lnSpc>
              <a:spcBef>
                <a:spcPts val="2305"/>
              </a:spcBef>
              <a:buClr>
                <a:srgbClr val="FFFF00"/>
              </a:buClr>
              <a:buFont typeface="Times New Roman"/>
              <a:buAutoNum type="arabicPeriod"/>
              <a:tabLst>
                <a:tab pos="1231265" algn="l"/>
                <a:tab pos="1231900" algn="l"/>
              </a:tabLst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规范归约与句柄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577464" y="26923"/>
            <a:ext cx="443547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22170" algn="l"/>
                <a:tab pos="2629535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算符优先分析法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9361" y="2934461"/>
            <a:ext cx="1231392" cy="5593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29361" y="2934461"/>
            <a:ext cx="1231900" cy="559435"/>
          </a:xfrm>
          <a:custGeom>
            <a:avLst/>
            <a:gdLst/>
            <a:ahLst/>
            <a:cxnLst/>
            <a:rect l="l" t="t" r="r" b="b"/>
            <a:pathLst>
              <a:path w="1231900" h="559435">
                <a:moveTo>
                  <a:pt x="0" y="139826"/>
                </a:moveTo>
                <a:lnTo>
                  <a:pt x="923137" y="139826"/>
                </a:lnTo>
                <a:lnTo>
                  <a:pt x="923137" y="0"/>
                </a:lnTo>
                <a:lnTo>
                  <a:pt x="1231392" y="279653"/>
                </a:lnTo>
                <a:lnTo>
                  <a:pt x="923137" y="559308"/>
                </a:lnTo>
                <a:lnTo>
                  <a:pt x="923137" y="419480"/>
                </a:lnTo>
                <a:lnTo>
                  <a:pt x="0" y="419480"/>
                </a:lnTo>
                <a:lnTo>
                  <a:pt x="0" y="139826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055319" y="786765"/>
            <a:ext cx="6747509" cy="1342390"/>
          </a:xfrm>
          <a:prstGeom prst="rect"/>
        </p:spPr>
        <p:txBody>
          <a:bodyPr wrap="square" lIns="0" tIns="158750" rIns="0" bIns="0" rtlCol="0" vert="horz">
            <a:spAutoFit/>
          </a:bodyPr>
          <a:lstStyle/>
          <a:p>
            <a:pPr marL="3070225" marR="5080" indent="-3058160">
              <a:lnSpc>
                <a:spcPct val="80000"/>
              </a:lnSpc>
              <a:spcBef>
                <a:spcPts val="1250"/>
              </a:spcBef>
              <a:tabLst>
                <a:tab pos="1231900" algn="l"/>
              </a:tabLst>
            </a:pPr>
            <a:r>
              <a:rPr dirty="0" sz="4800">
                <a:solidFill>
                  <a:srgbClr val="FFFF00"/>
                </a:solidFill>
                <a:latin typeface="Times New Roman"/>
                <a:cs typeface="Times New Roman"/>
              </a:rPr>
              <a:t>5.1	</a:t>
            </a:r>
            <a:r>
              <a:rPr dirty="0" sz="4800" spc="-10">
                <a:solidFill>
                  <a:srgbClr val="FFFF00"/>
                </a:solidFill>
              </a:rPr>
              <a:t>“移近</a:t>
            </a:r>
            <a:r>
              <a:rPr dirty="0" sz="4800">
                <a:solidFill>
                  <a:srgbClr val="FFFF00"/>
                </a:solidFill>
                <a:latin typeface="Times New Roman"/>
                <a:cs typeface="Times New Roman"/>
              </a:rPr>
              <a:t>—</a:t>
            </a:r>
            <a:r>
              <a:rPr dirty="0" sz="4800" spc="-20">
                <a:solidFill>
                  <a:srgbClr val="FFFF00"/>
                </a:solidFill>
              </a:rPr>
              <a:t>归</a:t>
            </a:r>
            <a:r>
              <a:rPr dirty="0" sz="4800" spc="10">
                <a:solidFill>
                  <a:srgbClr val="FFFF00"/>
                </a:solidFill>
              </a:rPr>
              <a:t>约”</a:t>
            </a:r>
            <a:r>
              <a:rPr dirty="0" sz="4800" spc="-5">
                <a:solidFill>
                  <a:srgbClr val="FFFF00"/>
                </a:solidFill>
              </a:rPr>
              <a:t>分</a:t>
            </a:r>
            <a:r>
              <a:rPr dirty="0" sz="4800" spc="-15">
                <a:solidFill>
                  <a:srgbClr val="FFFF00"/>
                </a:solidFill>
              </a:rPr>
              <a:t>析 </a:t>
            </a:r>
            <a:r>
              <a:rPr dirty="0" sz="4800" spc="-20">
                <a:solidFill>
                  <a:srgbClr val="FFFF00"/>
                </a:solidFill>
              </a:rPr>
              <a:t>法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932813" y="12902"/>
            <a:ext cx="1943100" cy="3917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04850" algn="l"/>
              </a:tabLst>
            </a:pPr>
            <a:r>
              <a:rPr dirty="0" sz="2400">
                <a:solidFill>
                  <a:srgbClr val="A15100"/>
                </a:solidFill>
                <a:latin typeface="Times New Roman"/>
                <a:cs typeface="Times New Roman"/>
              </a:rPr>
              <a:t>C</a:t>
            </a:r>
            <a:r>
              <a:rPr dirty="0" sz="2400" spc="-10">
                <a:solidFill>
                  <a:srgbClr val="A15100"/>
                </a:solidFill>
                <a:latin typeface="Times New Roman"/>
                <a:cs typeface="Times New Roman"/>
              </a:rPr>
              <a:t>h</a:t>
            </a:r>
            <a:r>
              <a:rPr dirty="0" sz="2400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400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400" spc="5">
                <a:solidFill>
                  <a:srgbClr val="A15100"/>
                </a:solidFill>
                <a:latin typeface="华文新魏"/>
                <a:cs typeface="华文新魏"/>
              </a:rPr>
              <a:t>语法分析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43476" y="12902"/>
            <a:ext cx="276860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5950" algn="l"/>
              </a:tabLst>
            </a:pPr>
            <a:r>
              <a:rPr dirty="0" u="sng" sz="24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</a:t>
            </a:r>
            <a:r>
              <a:rPr dirty="0" u="sng" sz="24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sng" sz="24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4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移进</a:t>
            </a:r>
            <a:r>
              <a:rPr dirty="0" u="sng" sz="24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Arial"/>
                <a:cs typeface="Arial"/>
              </a:rPr>
              <a:t>—</a:t>
            </a:r>
            <a:r>
              <a:rPr dirty="0" u="sng" sz="24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归</a:t>
            </a:r>
            <a:r>
              <a:rPr dirty="0" u="sng" sz="24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约分析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974216"/>
            <a:ext cx="944244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5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.1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33626" y="974216"/>
            <a:ext cx="494792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设有文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3200" spc="10" b="1" i="1">
                <a:solidFill>
                  <a:srgbClr val="66FFFF"/>
                </a:solidFill>
                <a:latin typeface="Times New Roman"/>
                <a:cs typeface="Times New Roman"/>
              </a:rPr>
              <a:t>G</a:t>
            </a:r>
            <a:r>
              <a:rPr dirty="0" baseline="-25132" sz="3150" spc="15" b="1">
                <a:solidFill>
                  <a:srgbClr val="66FFFF"/>
                </a:solidFill>
                <a:latin typeface="Times New Roman"/>
                <a:cs typeface="Times New Roman"/>
              </a:rPr>
              <a:t>1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和输入串</a:t>
            </a:r>
            <a:r>
              <a:rPr dirty="0" sz="3200" spc="-5" b="1" i="1">
                <a:solidFill>
                  <a:srgbClr val="66FFFF"/>
                </a:solidFill>
                <a:latin typeface="Times New Roman"/>
                <a:cs typeface="Times New Roman"/>
              </a:rPr>
              <a:t>abbcde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60194" y="1466697"/>
            <a:ext cx="2367280" cy="2943860"/>
          </a:xfrm>
          <a:prstGeom prst="rect">
            <a:avLst/>
          </a:prstGeom>
        </p:spPr>
        <p:txBody>
          <a:bodyPr wrap="square" lIns="0" tIns="252095" rIns="0" bIns="0" rtlCol="0" vert="horz">
            <a:spAutoFit/>
          </a:bodyPr>
          <a:lstStyle/>
          <a:p>
            <a:pPr marL="794385" indent="-779780">
              <a:lnSpc>
                <a:spcPct val="100000"/>
              </a:lnSpc>
              <a:spcBef>
                <a:spcPts val="1985"/>
              </a:spcBef>
              <a:buFont typeface="Times New Roman"/>
              <a:buAutoNum type="arabicParenBoth"/>
              <a:tabLst>
                <a:tab pos="794385" algn="l"/>
                <a:tab pos="795020" algn="l"/>
              </a:tabLst>
            </a:pPr>
            <a:r>
              <a:rPr dirty="0" sz="3200" spc="-10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aABe</a:t>
            </a:r>
            <a:endParaRPr sz="3200">
              <a:latin typeface="Times New Roman"/>
              <a:cs typeface="Times New Roman"/>
            </a:endParaRPr>
          </a:p>
          <a:p>
            <a:pPr marL="789940" indent="-777875">
              <a:lnSpc>
                <a:spcPct val="100000"/>
              </a:lnSpc>
              <a:spcBef>
                <a:spcPts val="1885"/>
              </a:spcBef>
              <a:buFont typeface="Times New Roman"/>
              <a:buAutoNum type="arabicParenBoth"/>
              <a:tabLst>
                <a:tab pos="789940" algn="l"/>
                <a:tab pos="790575" algn="l"/>
              </a:tabLst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Abc</a:t>
            </a:r>
            <a:endParaRPr sz="3200">
              <a:latin typeface="Times New Roman"/>
              <a:cs typeface="Times New Roman"/>
            </a:endParaRPr>
          </a:p>
          <a:p>
            <a:pPr marL="789940" indent="-777875">
              <a:lnSpc>
                <a:spcPct val="100000"/>
              </a:lnSpc>
              <a:spcBef>
                <a:spcPts val="1920"/>
              </a:spcBef>
              <a:buFont typeface="Times New Roman"/>
              <a:buAutoNum type="arabicParenBoth"/>
              <a:tabLst>
                <a:tab pos="789940" algn="l"/>
                <a:tab pos="790575" algn="l"/>
              </a:tabLst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endParaRPr sz="3200">
              <a:latin typeface="Times New Roman"/>
              <a:cs typeface="Times New Roman"/>
            </a:endParaRPr>
          </a:p>
          <a:p>
            <a:pPr marL="789940" indent="-777875">
              <a:lnSpc>
                <a:spcPct val="100000"/>
              </a:lnSpc>
              <a:spcBef>
                <a:spcPts val="1925"/>
              </a:spcBef>
              <a:buFont typeface="Times New Roman"/>
              <a:buAutoNum type="arabicParenBoth"/>
              <a:tabLst>
                <a:tab pos="789940" algn="l"/>
                <a:tab pos="790575" algn="l"/>
              </a:tabLst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d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3448" y="498093"/>
            <a:ext cx="63817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ep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54835" y="498093"/>
            <a:ext cx="81534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ack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87034" y="939786"/>
            <a:ext cx="1509395" cy="23729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62585" marR="432434" indent="33020">
              <a:lnSpc>
                <a:spcPct val="11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h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ift 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shift</a:t>
            </a:r>
            <a:endParaRPr sz="2800">
              <a:latin typeface="Times New Roman"/>
              <a:cs typeface="Times New Roman"/>
            </a:endParaRPr>
          </a:p>
          <a:p>
            <a:pPr marL="330835" marR="5080" indent="-318770">
              <a:lnSpc>
                <a:spcPct val="110000"/>
              </a:lnSpc>
              <a:spcBef>
                <a:spcPts val="5"/>
              </a:spcBef>
            </a:pPr>
            <a:r>
              <a:rPr dirty="0" sz="2800" spc="-10" b="1" i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→</a:t>
            </a:r>
            <a:r>
              <a:rPr dirty="0" sz="2800" b="1" i="1">
                <a:solidFill>
                  <a:srgbClr val="66FFFF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归约 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shift 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shift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3532" y="939786"/>
            <a:ext cx="1095375" cy="518985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初始化</a:t>
            </a:r>
            <a:endParaRPr sz="2800">
              <a:latin typeface="宋体"/>
              <a:cs typeface="宋体"/>
            </a:endParaRPr>
          </a:p>
          <a:p>
            <a:pPr marL="102235">
              <a:lnSpc>
                <a:spcPct val="100000"/>
              </a:lnSpc>
              <a:spcBef>
                <a:spcPts val="33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(1)</a:t>
            </a:r>
            <a:endParaRPr sz="2800">
              <a:latin typeface="Times New Roman"/>
              <a:cs typeface="Times New Roman"/>
            </a:endParaRPr>
          </a:p>
          <a:p>
            <a:pPr marL="102235">
              <a:lnSpc>
                <a:spcPct val="100000"/>
              </a:lnSpc>
              <a:spcBef>
                <a:spcPts val="340"/>
              </a:spcBef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(2)</a:t>
            </a:r>
            <a:endParaRPr sz="2800">
              <a:latin typeface="Times New Roman"/>
              <a:cs typeface="Times New Roman"/>
            </a:endParaRPr>
          </a:p>
          <a:p>
            <a:pPr marL="102235">
              <a:lnSpc>
                <a:spcPct val="100000"/>
              </a:lnSpc>
              <a:spcBef>
                <a:spcPts val="335"/>
              </a:spcBef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(3)</a:t>
            </a:r>
            <a:endParaRPr sz="2800">
              <a:latin typeface="Times New Roman"/>
              <a:cs typeface="Times New Roman"/>
            </a:endParaRPr>
          </a:p>
          <a:p>
            <a:pPr marL="102235">
              <a:lnSpc>
                <a:spcPct val="100000"/>
              </a:lnSpc>
              <a:spcBef>
                <a:spcPts val="33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(4)</a:t>
            </a:r>
            <a:endParaRPr sz="2800">
              <a:latin typeface="Times New Roman"/>
              <a:cs typeface="Times New Roman"/>
            </a:endParaRPr>
          </a:p>
          <a:p>
            <a:pPr marL="102235">
              <a:lnSpc>
                <a:spcPct val="100000"/>
              </a:lnSpc>
              <a:spcBef>
                <a:spcPts val="340"/>
              </a:spcBef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(5)</a:t>
            </a:r>
            <a:endParaRPr sz="2800">
              <a:latin typeface="Times New Roman"/>
              <a:cs typeface="Times New Roman"/>
            </a:endParaRPr>
          </a:p>
          <a:p>
            <a:pPr marL="102235">
              <a:lnSpc>
                <a:spcPct val="100000"/>
              </a:lnSpc>
              <a:spcBef>
                <a:spcPts val="335"/>
              </a:spcBef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(6)</a:t>
            </a:r>
            <a:endParaRPr sz="2800">
              <a:latin typeface="Times New Roman"/>
              <a:cs typeface="Times New Roman"/>
            </a:endParaRPr>
          </a:p>
          <a:p>
            <a:pPr marL="102235">
              <a:lnSpc>
                <a:spcPct val="100000"/>
              </a:lnSpc>
              <a:spcBef>
                <a:spcPts val="33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(7)</a:t>
            </a:r>
            <a:endParaRPr sz="2800">
              <a:latin typeface="Times New Roman"/>
              <a:cs typeface="Times New Roman"/>
            </a:endParaRPr>
          </a:p>
          <a:p>
            <a:pPr marL="102235">
              <a:lnSpc>
                <a:spcPct val="100000"/>
              </a:lnSpc>
              <a:spcBef>
                <a:spcPts val="340"/>
              </a:spcBef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(8)</a:t>
            </a:r>
            <a:endParaRPr sz="2800">
              <a:latin typeface="Times New Roman"/>
              <a:cs typeface="Times New Roman"/>
            </a:endParaRPr>
          </a:p>
          <a:p>
            <a:pPr marL="102235">
              <a:lnSpc>
                <a:spcPct val="100000"/>
              </a:lnSpc>
              <a:spcBef>
                <a:spcPts val="335"/>
              </a:spcBef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(9)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(10)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14270" y="939786"/>
            <a:ext cx="1203325" cy="518985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55244">
              <a:lnSpc>
                <a:spcPct val="100000"/>
              </a:lnSpc>
              <a:spcBef>
                <a:spcPts val="434"/>
              </a:spcBef>
            </a:pP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＃</a:t>
            </a:r>
            <a:endParaRPr sz="2800">
              <a:latin typeface="宋体"/>
              <a:cs typeface="宋体"/>
            </a:endParaRPr>
          </a:p>
          <a:p>
            <a:pPr marL="26034">
              <a:lnSpc>
                <a:spcPct val="100000"/>
              </a:lnSpc>
              <a:spcBef>
                <a:spcPts val="335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＃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  <a:p>
            <a:pPr marL="26034">
              <a:lnSpc>
                <a:spcPct val="100000"/>
              </a:lnSpc>
              <a:spcBef>
                <a:spcPts val="340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＃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  <a:p>
            <a:pPr marL="21590">
              <a:lnSpc>
                <a:spcPct val="100000"/>
              </a:lnSpc>
              <a:spcBef>
                <a:spcPts val="335"/>
              </a:spcBef>
            </a:pPr>
            <a:r>
              <a:rPr dirty="0" sz="2800" b="1">
                <a:solidFill>
                  <a:srgbClr val="FF99FF"/>
                </a:solidFill>
                <a:latin typeface="宋体"/>
                <a:cs typeface="宋体"/>
              </a:rPr>
              <a:t>＃</a:t>
            </a:r>
            <a:r>
              <a:rPr dirty="0" sz="2800" b="1" i="1">
                <a:solidFill>
                  <a:srgbClr val="FF99FF"/>
                </a:solidFill>
                <a:latin typeface="Times New Roman"/>
                <a:cs typeface="Times New Roman"/>
              </a:rPr>
              <a:t>aA</a:t>
            </a:r>
            <a:endParaRPr sz="2800">
              <a:latin typeface="Times New Roman"/>
              <a:cs typeface="Times New Roman"/>
            </a:endParaRPr>
          </a:p>
          <a:p>
            <a:pPr marL="26034">
              <a:lnSpc>
                <a:spcPct val="100000"/>
              </a:lnSpc>
              <a:spcBef>
                <a:spcPts val="335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＃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aAb</a:t>
            </a:r>
            <a:endParaRPr sz="2800">
              <a:latin typeface="Times New Roman"/>
              <a:cs typeface="Times New Roman"/>
            </a:endParaRPr>
          </a:p>
          <a:p>
            <a:pPr marL="26034">
              <a:lnSpc>
                <a:spcPct val="100000"/>
              </a:lnSpc>
              <a:spcBef>
                <a:spcPts val="340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＃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Abc</a:t>
            </a:r>
            <a:endParaRPr sz="2800">
              <a:latin typeface="Times New Roman"/>
              <a:cs typeface="Times New Roman"/>
            </a:endParaRPr>
          </a:p>
          <a:p>
            <a:pPr marL="26034">
              <a:lnSpc>
                <a:spcPct val="100000"/>
              </a:lnSpc>
              <a:spcBef>
                <a:spcPts val="335"/>
              </a:spcBef>
            </a:pPr>
            <a:r>
              <a:rPr dirty="0" sz="2800" b="1">
                <a:solidFill>
                  <a:srgbClr val="FF99FF"/>
                </a:solidFill>
                <a:latin typeface="宋体"/>
                <a:cs typeface="宋体"/>
              </a:rPr>
              <a:t>＃</a:t>
            </a:r>
            <a:r>
              <a:rPr dirty="0" sz="2800" b="1" i="1">
                <a:solidFill>
                  <a:srgbClr val="FF99FF"/>
                </a:solidFill>
                <a:latin typeface="Times New Roman"/>
                <a:cs typeface="Times New Roman"/>
              </a:rPr>
              <a:t>aA</a:t>
            </a:r>
            <a:endParaRPr sz="2800">
              <a:latin typeface="Times New Roman"/>
              <a:cs typeface="Times New Roman"/>
            </a:endParaRPr>
          </a:p>
          <a:p>
            <a:pPr marL="22860">
              <a:lnSpc>
                <a:spcPct val="100000"/>
              </a:lnSpc>
              <a:spcBef>
                <a:spcPts val="335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＃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aA</a:t>
            </a: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d</a:t>
            </a:r>
            <a:endParaRPr sz="2800">
              <a:latin typeface="Times New Roman"/>
              <a:cs typeface="Times New Roman"/>
            </a:endParaRPr>
          </a:p>
          <a:p>
            <a:pPr marL="26034">
              <a:lnSpc>
                <a:spcPct val="100000"/>
              </a:lnSpc>
              <a:spcBef>
                <a:spcPts val="340"/>
              </a:spcBef>
            </a:pPr>
            <a:r>
              <a:rPr dirty="0" sz="2800" spc="-5" b="1">
                <a:solidFill>
                  <a:srgbClr val="FF99FF"/>
                </a:solidFill>
                <a:latin typeface="宋体"/>
                <a:cs typeface="宋体"/>
              </a:rPr>
              <a:t>＃</a:t>
            </a:r>
            <a:r>
              <a:rPr dirty="0" sz="2800" spc="-5" b="1" i="1">
                <a:solidFill>
                  <a:srgbClr val="FF99FF"/>
                </a:solidFill>
                <a:latin typeface="Times New Roman"/>
                <a:cs typeface="Times New Roman"/>
              </a:rPr>
              <a:t>aAB</a:t>
            </a:r>
            <a:endParaRPr sz="2800">
              <a:latin typeface="Times New Roman"/>
              <a:cs typeface="Times New Roman"/>
            </a:endParaRPr>
          </a:p>
          <a:p>
            <a:pPr marL="24765">
              <a:lnSpc>
                <a:spcPct val="100000"/>
              </a:lnSpc>
              <a:spcBef>
                <a:spcPts val="335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＃</a:t>
            </a: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aABe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dirty="0" sz="2800" spc="-5" b="1">
                <a:solidFill>
                  <a:srgbClr val="FF99FF"/>
                </a:solidFill>
                <a:latin typeface="宋体"/>
                <a:cs typeface="宋体"/>
              </a:rPr>
              <a:t>＃</a:t>
            </a:r>
            <a:r>
              <a:rPr dirty="0" sz="2800" spc="-5" b="1" i="1">
                <a:solidFill>
                  <a:srgbClr val="FF99FF"/>
                </a:solidFill>
                <a:latin typeface="Times New Roman"/>
                <a:cs typeface="Times New Roman"/>
              </a:rPr>
              <a:t>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27145" y="939786"/>
            <a:ext cx="4524375" cy="51898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L="250190" marR="3057525" indent="-238125">
              <a:lnSpc>
                <a:spcPct val="110000"/>
              </a:lnSpc>
              <a:spcBef>
                <a:spcPts val="95"/>
              </a:spcBef>
            </a:pP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cd</a:t>
            </a:r>
            <a:r>
              <a:rPr dirty="0" sz="2800" spc="-10" b="1" i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＃ 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bcd</a:t>
            </a:r>
            <a:r>
              <a:rPr dirty="0" sz="2800" spc="-10" b="1" i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＃ 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cd</a:t>
            </a:r>
            <a:r>
              <a:rPr dirty="0" sz="2800" spc="-10" b="1" i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＃ 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 i="1">
                <a:solidFill>
                  <a:srgbClr val="FF99FF"/>
                </a:solidFill>
                <a:latin typeface="Times New Roman"/>
                <a:cs typeface="Times New Roman"/>
              </a:rPr>
              <a:t>cd</a:t>
            </a:r>
            <a:r>
              <a:rPr dirty="0" sz="2800" spc="-10" b="1" i="1">
                <a:solidFill>
                  <a:srgbClr val="FF99FF"/>
                </a:solidFill>
                <a:latin typeface="Times New Roman"/>
                <a:cs typeface="Times New Roman"/>
              </a:rPr>
              <a:t>e</a:t>
            </a:r>
            <a:r>
              <a:rPr dirty="0" sz="2800" spc="-10" b="1">
                <a:solidFill>
                  <a:srgbClr val="FF99FF"/>
                </a:solidFill>
                <a:latin typeface="宋体"/>
                <a:cs typeface="宋体"/>
              </a:rPr>
              <a:t>＃  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d</a:t>
            </a:r>
            <a:r>
              <a:rPr dirty="0" sz="2800" spc="-15" b="1" i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＃</a:t>
            </a:r>
            <a:endParaRPr sz="2800">
              <a:latin typeface="宋体"/>
              <a:cs typeface="宋体"/>
            </a:endParaRPr>
          </a:p>
          <a:p>
            <a:pPr marL="736600">
              <a:lnSpc>
                <a:spcPct val="100000"/>
              </a:lnSpc>
              <a:spcBef>
                <a:spcPts val="340"/>
              </a:spcBef>
              <a:tabLst>
                <a:tab pos="2231390" algn="l"/>
              </a:tabLst>
            </a:pP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sz="2800" spc="-10" b="1" i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＃	</a:t>
            </a: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Abc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归约</a:t>
            </a:r>
            <a:endParaRPr sz="2800">
              <a:latin typeface="宋体"/>
              <a:cs typeface="宋体"/>
            </a:endParaRPr>
          </a:p>
          <a:p>
            <a:pPr marL="758825">
              <a:lnSpc>
                <a:spcPct val="100000"/>
              </a:lnSpc>
              <a:spcBef>
                <a:spcPts val="335"/>
              </a:spcBef>
              <a:tabLst>
                <a:tab pos="2254250" algn="l"/>
              </a:tabLst>
            </a:pP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sz="2800" spc="-10" b="1" i="1">
                <a:solidFill>
                  <a:srgbClr val="FF99FF"/>
                </a:solidFill>
                <a:latin typeface="Times New Roman"/>
                <a:cs typeface="Times New Roman"/>
              </a:rPr>
              <a:t>e</a:t>
            </a:r>
            <a:r>
              <a:rPr dirty="0" sz="2800" spc="-10" b="1">
                <a:solidFill>
                  <a:srgbClr val="FF99FF"/>
                </a:solidFill>
                <a:latin typeface="宋体"/>
                <a:cs typeface="宋体"/>
              </a:rPr>
              <a:t>＃	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shift</a:t>
            </a:r>
            <a:endParaRPr sz="2800">
              <a:latin typeface="Times New Roman"/>
              <a:cs typeface="Times New Roman"/>
            </a:endParaRPr>
          </a:p>
          <a:p>
            <a:pPr marL="928369">
              <a:lnSpc>
                <a:spcPct val="100000"/>
              </a:lnSpc>
              <a:spcBef>
                <a:spcPts val="335"/>
              </a:spcBef>
              <a:tabLst>
                <a:tab pos="2246630" algn="l"/>
              </a:tabLst>
            </a:pP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＃	</a:t>
            </a:r>
            <a:r>
              <a:rPr dirty="0" sz="2800" spc="-10" b="1" i="1">
                <a:solidFill>
                  <a:srgbClr val="66FFFF"/>
                </a:solidFill>
                <a:latin typeface="Times New Roman"/>
                <a:cs typeface="Times New Roman"/>
              </a:rPr>
              <a:t>B</a:t>
            </a:r>
            <a:r>
              <a:rPr dirty="0" sz="2800" spc="-10" b="1">
                <a:solidFill>
                  <a:srgbClr val="66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10" b="1" i="1">
                <a:solidFill>
                  <a:srgbClr val="66FFFF"/>
                </a:solidFill>
                <a:latin typeface="Times New Roman"/>
                <a:cs typeface="Times New Roman"/>
              </a:rPr>
              <a:t>d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归约</a:t>
            </a:r>
            <a:endParaRPr sz="2800">
              <a:latin typeface="宋体"/>
              <a:cs typeface="宋体"/>
            </a:endParaRPr>
          </a:p>
          <a:p>
            <a:pPr marL="995044">
              <a:lnSpc>
                <a:spcPct val="100000"/>
              </a:lnSpc>
              <a:spcBef>
                <a:spcPts val="340"/>
              </a:spcBef>
              <a:tabLst>
                <a:tab pos="2313940" algn="l"/>
              </a:tabLst>
            </a:pP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800" spc="-15" b="1">
                <a:solidFill>
                  <a:srgbClr val="FF99FF"/>
                </a:solidFill>
                <a:latin typeface="宋体"/>
                <a:cs typeface="宋体"/>
              </a:rPr>
              <a:t>＃	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shift</a:t>
            </a:r>
            <a:endParaRPr sz="2800">
              <a:latin typeface="Times New Roman"/>
              <a:cs typeface="Times New Roman"/>
            </a:endParaRPr>
          </a:p>
          <a:p>
            <a:pPr marL="972185">
              <a:lnSpc>
                <a:spcPct val="100000"/>
              </a:lnSpc>
              <a:spcBef>
                <a:spcPts val="335"/>
              </a:spcBef>
              <a:tabLst>
                <a:tab pos="2222500" algn="l"/>
              </a:tabLst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＃	</a:t>
            </a: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aABe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归约</a:t>
            </a:r>
            <a:endParaRPr sz="2800">
              <a:latin typeface="宋体"/>
              <a:cs typeface="宋体"/>
            </a:endParaRPr>
          </a:p>
          <a:p>
            <a:pPr marL="1152525">
              <a:lnSpc>
                <a:spcPct val="100000"/>
              </a:lnSpc>
              <a:spcBef>
                <a:spcPts val="340"/>
              </a:spcBef>
              <a:tabLst>
                <a:tab pos="2134235" algn="l"/>
              </a:tabLst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＃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	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接受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分析成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功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354960" y="26923"/>
            <a:ext cx="16306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26077" y="0"/>
            <a:ext cx="2785110" cy="1042035"/>
          </a:xfrm>
          <a:prstGeom prst="rect">
            <a:avLst/>
          </a:prstGeom>
        </p:spPr>
        <p:txBody>
          <a:bodyPr wrap="square" lIns="0" tIns="132080" rIns="0" bIns="0" rtlCol="0" vert="horz">
            <a:spAutoFit/>
          </a:bodyPr>
          <a:lstStyle/>
          <a:p>
            <a:pPr marL="51435">
              <a:lnSpc>
                <a:spcPct val="100000"/>
              </a:lnSpc>
              <a:spcBef>
                <a:spcPts val="1040"/>
              </a:spcBef>
              <a:tabLst>
                <a:tab pos="560070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5.1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移进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Arial"/>
                <a:cs typeface="Arial"/>
              </a:rPr>
              <a:t>—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归约分析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300"/>
              </a:spcBef>
              <a:tabLst>
                <a:tab pos="1842770" algn="l"/>
              </a:tabLst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r	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action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79654" y="521969"/>
            <a:ext cx="8783320" cy="0"/>
          </a:xfrm>
          <a:custGeom>
            <a:avLst/>
            <a:gdLst/>
            <a:ahLst/>
            <a:cxnLst/>
            <a:rect l="l" t="t" r="r" b="b"/>
            <a:pathLst>
              <a:path w="8783320" h="0">
                <a:moveTo>
                  <a:pt x="0" y="0"/>
                </a:moveTo>
                <a:lnTo>
                  <a:pt x="8782812" y="0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99465" y="997458"/>
            <a:ext cx="8781415" cy="0"/>
          </a:xfrm>
          <a:custGeom>
            <a:avLst/>
            <a:gdLst/>
            <a:ahLst/>
            <a:cxnLst/>
            <a:rect l="l" t="t" r="r" b="b"/>
            <a:pathLst>
              <a:path w="8781415" h="0">
                <a:moveTo>
                  <a:pt x="0" y="0"/>
                </a:moveTo>
                <a:lnTo>
                  <a:pt x="8781288" y="0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85165" y="6172961"/>
            <a:ext cx="8781415" cy="0"/>
          </a:xfrm>
          <a:custGeom>
            <a:avLst/>
            <a:gdLst/>
            <a:ahLst/>
            <a:cxnLst/>
            <a:rect l="l" t="t" r="r" b="b"/>
            <a:pathLst>
              <a:path w="8781415" h="0">
                <a:moveTo>
                  <a:pt x="0" y="0"/>
                </a:moveTo>
                <a:lnTo>
                  <a:pt x="8781288" y="0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445257" y="1931670"/>
            <a:ext cx="439420" cy="970915"/>
          </a:xfrm>
          <a:custGeom>
            <a:avLst/>
            <a:gdLst/>
            <a:ahLst/>
            <a:cxnLst/>
            <a:rect l="l" t="t" r="r" b="b"/>
            <a:pathLst>
              <a:path w="439419" h="970914">
                <a:moveTo>
                  <a:pt x="0" y="970788"/>
                </a:moveTo>
                <a:lnTo>
                  <a:pt x="438912" y="970788"/>
                </a:lnTo>
                <a:lnTo>
                  <a:pt x="438912" y="0"/>
                </a:lnTo>
                <a:lnTo>
                  <a:pt x="0" y="0"/>
                </a:lnTo>
                <a:lnTo>
                  <a:pt x="0" y="970788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483357" y="3359658"/>
            <a:ext cx="838200" cy="1010919"/>
          </a:xfrm>
          <a:custGeom>
            <a:avLst/>
            <a:gdLst/>
            <a:ahLst/>
            <a:cxnLst/>
            <a:rect l="l" t="t" r="r" b="b"/>
            <a:pathLst>
              <a:path w="838200" h="1010920">
                <a:moveTo>
                  <a:pt x="0" y="1010412"/>
                </a:moveTo>
                <a:lnTo>
                  <a:pt x="838199" y="1010412"/>
                </a:lnTo>
                <a:lnTo>
                  <a:pt x="838199" y="0"/>
                </a:lnTo>
                <a:lnTo>
                  <a:pt x="0" y="0"/>
                </a:lnTo>
                <a:lnTo>
                  <a:pt x="0" y="1010412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731770" y="4370070"/>
            <a:ext cx="399415" cy="856615"/>
          </a:xfrm>
          <a:custGeom>
            <a:avLst/>
            <a:gdLst/>
            <a:ahLst/>
            <a:cxnLst/>
            <a:rect l="l" t="t" r="r" b="b"/>
            <a:pathLst>
              <a:path w="399414" h="856614">
                <a:moveTo>
                  <a:pt x="0" y="856487"/>
                </a:moveTo>
                <a:lnTo>
                  <a:pt x="399288" y="856487"/>
                </a:lnTo>
                <a:lnTo>
                  <a:pt x="399288" y="0"/>
                </a:lnTo>
                <a:lnTo>
                  <a:pt x="0" y="0"/>
                </a:lnTo>
                <a:lnTo>
                  <a:pt x="0" y="856487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242566" y="5284470"/>
            <a:ext cx="1371600" cy="838200"/>
          </a:xfrm>
          <a:custGeom>
            <a:avLst/>
            <a:gdLst/>
            <a:ahLst/>
            <a:cxnLst/>
            <a:rect l="l" t="t" r="r" b="b"/>
            <a:pathLst>
              <a:path w="1371600" h="838200">
                <a:moveTo>
                  <a:pt x="0" y="838199"/>
                </a:moveTo>
                <a:lnTo>
                  <a:pt x="1371600" y="838199"/>
                </a:lnTo>
                <a:lnTo>
                  <a:pt x="1371600" y="0"/>
                </a:lnTo>
                <a:lnTo>
                  <a:pt x="0" y="0"/>
                </a:lnTo>
                <a:lnTo>
                  <a:pt x="0" y="838199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632966" y="5627370"/>
            <a:ext cx="4495800" cy="647700"/>
          </a:xfrm>
          <a:custGeom>
            <a:avLst/>
            <a:gdLst/>
            <a:ahLst/>
            <a:cxnLst/>
            <a:rect l="l" t="t" r="r" b="b"/>
            <a:pathLst>
              <a:path w="4495800" h="647700">
                <a:moveTo>
                  <a:pt x="0" y="323849"/>
                </a:moveTo>
                <a:lnTo>
                  <a:pt x="20521" y="279906"/>
                </a:lnTo>
                <a:lnTo>
                  <a:pt x="61822" y="248106"/>
                </a:lnTo>
                <a:lnTo>
                  <a:pt x="101065" y="227548"/>
                </a:lnTo>
                <a:lnTo>
                  <a:pt x="149286" y="207559"/>
                </a:lnTo>
                <a:lnTo>
                  <a:pt x="206149" y="188189"/>
                </a:lnTo>
                <a:lnTo>
                  <a:pt x="271320" y="169485"/>
                </a:lnTo>
                <a:lnTo>
                  <a:pt x="344463" y="151495"/>
                </a:lnTo>
                <a:lnTo>
                  <a:pt x="383920" y="142783"/>
                </a:lnTo>
                <a:lnTo>
                  <a:pt x="425245" y="134268"/>
                </a:lnTo>
                <a:lnTo>
                  <a:pt x="468395" y="125956"/>
                </a:lnTo>
                <a:lnTo>
                  <a:pt x="513329" y="117852"/>
                </a:lnTo>
                <a:lnTo>
                  <a:pt x="560005" y="109963"/>
                </a:lnTo>
                <a:lnTo>
                  <a:pt x="608381" y="102295"/>
                </a:lnTo>
                <a:lnTo>
                  <a:pt x="658415" y="94854"/>
                </a:lnTo>
                <a:lnTo>
                  <a:pt x="710066" y="87646"/>
                </a:lnTo>
                <a:lnTo>
                  <a:pt x="763291" y="80677"/>
                </a:lnTo>
                <a:lnTo>
                  <a:pt x="818050" y="73952"/>
                </a:lnTo>
                <a:lnTo>
                  <a:pt x="874299" y="67479"/>
                </a:lnTo>
                <a:lnTo>
                  <a:pt x="931997" y="61262"/>
                </a:lnTo>
                <a:lnTo>
                  <a:pt x="991102" y="55309"/>
                </a:lnTo>
                <a:lnTo>
                  <a:pt x="1051572" y="49625"/>
                </a:lnTo>
                <a:lnTo>
                  <a:pt x="1113366" y="44215"/>
                </a:lnTo>
                <a:lnTo>
                  <a:pt x="1176442" y="39087"/>
                </a:lnTo>
                <a:lnTo>
                  <a:pt x="1240757" y="34246"/>
                </a:lnTo>
                <a:lnTo>
                  <a:pt x="1306270" y="29698"/>
                </a:lnTo>
                <a:lnTo>
                  <a:pt x="1372939" y="25450"/>
                </a:lnTo>
                <a:lnTo>
                  <a:pt x="1440722" y="21506"/>
                </a:lnTo>
                <a:lnTo>
                  <a:pt x="1509578" y="17874"/>
                </a:lnTo>
                <a:lnTo>
                  <a:pt x="1579464" y="14559"/>
                </a:lnTo>
                <a:lnTo>
                  <a:pt x="1650338" y="11568"/>
                </a:lnTo>
                <a:lnTo>
                  <a:pt x="1722159" y="8906"/>
                </a:lnTo>
                <a:lnTo>
                  <a:pt x="1794885" y="6579"/>
                </a:lnTo>
                <a:lnTo>
                  <a:pt x="1868474" y="4594"/>
                </a:lnTo>
                <a:lnTo>
                  <a:pt x="1942885" y="2956"/>
                </a:lnTo>
                <a:lnTo>
                  <a:pt x="2018074" y="1672"/>
                </a:lnTo>
                <a:lnTo>
                  <a:pt x="2094001" y="747"/>
                </a:lnTo>
                <a:lnTo>
                  <a:pt x="2170623" y="187"/>
                </a:lnTo>
                <a:lnTo>
                  <a:pt x="2247899" y="0"/>
                </a:lnTo>
                <a:lnTo>
                  <a:pt x="2325176" y="187"/>
                </a:lnTo>
                <a:lnTo>
                  <a:pt x="2401798" y="747"/>
                </a:lnTo>
                <a:lnTo>
                  <a:pt x="2477725" y="1672"/>
                </a:lnTo>
                <a:lnTo>
                  <a:pt x="2552914" y="2956"/>
                </a:lnTo>
                <a:lnTo>
                  <a:pt x="2627325" y="4594"/>
                </a:lnTo>
                <a:lnTo>
                  <a:pt x="2700914" y="6579"/>
                </a:lnTo>
                <a:lnTo>
                  <a:pt x="2773640" y="8906"/>
                </a:lnTo>
                <a:lnTo>
                  <a:pt x="2845461" y="11568"/>
                </a:lnTo>
                <a:lnTo>
                  <a:pt x="2916335" y="14559"/>
                </a:lnTo>
                <a:lnTo>
                  <a:pt x="2986221" y="17874"/>
                </a:lnTo>
                <a:lnTo>
                  <a:pt x="3055077" y="21506"/>
                </a:lnTo>
                <a:lnTo>
                  <a:pt x="3122860" y="25450"/>
                </a:lnTo>
                <a:lnTo>
                  <a:pt x="3189529" y="29698"/>
                </a:lnTo>
                <a:lnTo>
                  <a:pt x="3255042" y="34246"/>
                </a:lnTo>
                <a:lnTo>
                  <a:pt x="3319357" y="39087"/>
                </a:lnTo>
                <a:lnTo>
                  <a:pt x="3382433" y="44215"/>
                </a:lnTo>
                <a:lnTo>
                  <a:pt x="3444227" y="49625"/>
                </a:lnTo>
                <a:lnTo>
                  <a:pt x="3504697" y="55309"/>
                </a:lnTo>
                <a:lnTo>
                  <a:pt x="3563802" y="61262"/>
                </a:lnTo>
                <a:lnTo>
                  <a:pt x="3621500" y="67479"/>
                </a:lnTo>
                <a:lnTo>
                  <a:pt x="3677749" y="73952"/>
                </a:lnTo>
                <a:lnTo>
                  <a:pt x="3732508" y="80677"/>
                </a:lnTo>
                <a:lnTo>
                  <a:pt x="3785733" y="87646"/>
                </a:lnTo>
                <a:lnTo>
                  <a:pt x="3837384" y="94854"/>
                </a:lnTo>
                <a:lnTo>
                  <a:pt x="3887418" y="102295"/>
                </a:lnTo>
                <a:lnTo>
                  <a:pt x="3935794" y="109963"/>
                </a:lnTo>
                <a:lnTo>
                  <a:pt x="3982470" y="117852"/>
                </a:lnTo>
                <a:lnTo>
                  <a:pt x="4027404" y="125956"/>
                </a:lnTo>
                <a:lnTo>
                  <a:pt x="4070554" y="134268"/>
                </a:lnTo>
                <a:lnTo>
                  <a:pt x="4111879" y="142783"/>
                </a:lnTo>
                <a:lnTo>
                  <a:pt x="4151336" y="151495"/>
                </a:lnTo>
                <a:lnTo>
                  <a:pt x="4188883" y="160398"/>
                </a:lnTo>
                <a:lnTo>
                  <a:pt x="4258082" y="178751"/>
                </a:lnTo>
                <a:lnTo>
                  <a:pt x="4319141" y="197794"/>
                </a:lnTo>
                <a:lnTo>
                  <a:pt x="4371724" y="217479"/>
                </a:lnTo>
                <a:lnTo>
                  <a:pt x="4415498" y="237758"/>
                </a:lnTo>
                <a:lnTo>
                  <a:pt x="4450128" y="258583"/>
                </a:lnTo>
                <a:lnTo>
                  <a:pt x="4484193" y="290738"/>
                </a:lnTo>
                <a:lnTo>
                  <a:pt x="4495800" y="323849"/>
                </a:lnTo>
                <a:lnTo>
                  <a:pt x="4494496" y="334983"/>
                </a:lnTo>
                <a:lnTo>
                  <a:pt x="4463909" y="378514"/>
                </a:lnTo>
                <a:lnTo>
                  <a:pt x="4415498" y="409941"/>
                </a:lnTo>
                <a:lnTo>
                  <a:pt x="4371724" y="430220"/>
                </a:lnTo>
                <a:lnTo>
                  <a:pt x="4319141" y="449905"/>
                </a:lnTo>
                <a:lnTo>
                  <a:pt x="4258082" y="468948"/>
                </a:lnTo>
                <a:lnTo>
                  <a:pt x="4188883" y="487301"/>
                </a:lnTo>
                <a:lnTo>
                  <a:pt x="4151336" y="496204"/>
                </a:lnTo>
                <a:lnTo>
                  <a:pt x="4111879" y="504916"/>
                </a:lnTo>
                <a:lnTo>
                  <a:pt x="4070554" y="513431"/>
                </a:lnTo>
                <a:lnTo>
                  <a:pt x="4027404" y="521743"/>
                </a:lnTo>
                <a:lnTo>
                  <a:pt x="3982470" y="529847"/>
                </a:lnTo>
                <a:lnTo>
                  <a:pt x="3935794" y="537736"/>
                </a:lnTo>
                <a:lnTo>
                  <a:pt x="3887418" y="545404"/>
                </a:lnTo>
                <a:lnTo>
                  <a:pt x="3837384" y="552845"/>
                </a:lnTo>
                <a:lnTo>
                  <a:pt x="3785733" y="560053"/>
                </a:lnTo>
                <a:lnTo>
                  <a:pt x="3732508" y="567022"/>
                </a:lnTo>
                <a:lnTo>
                  <a:pt x="3677749" y="573747"/>
                </a:lnTo>
                <a:lnTo>
                  <a:pt x="3621500" y="580220"/>
                </a:lnTo>
                <a:lnTo>
                  <a:pt x="3563802" y="586437"/>
                </a:lnTo>
                <a:lnTo>
                  <a:pt x="3504697" y="592390"/>
                </a:lnTo>
                <a:lnTo>
                  <a:pt x="3444227" y="598074"/>
                </a:lnTo>
                <a:lnTo>
                  <a:pt x="3382433" y="603484"/>
                </a:lnTo>
                <a:lnTo>
                  <a:pt x="3319357" y="608612"/>
                </a:lnTo>
                <a:lnTo>
                  <a:pt x="3255042" y="613453"/>
                </a:lnTo>
                <a:lnTo>
                  <a:pt x="3189529" y="618001"/>
                </a:lnTo>
                <a:lnTo>
                  <a:pt x="3122860" y="622249"/>
                </a:lnTo>
                <a:lnTo>
                  <a:pt x="3055077" y="626193"/>
                </a:lnTo>
                <a:lnTo>
                  <a:pt x="2986221" y="629825"/>
                </a:lnTo>
                <a:lnTo>
                  <a:pt x="2916335" y="633140"/>
                </a:lnTo>
                <a:lnTo>
                  <a:pt x="2845461" y="636131"/>
                </a:lnTo>
                <a:lnTo>
                  <a:pt x="2773640" y="638793"/>
                </a:lnTo>
                <a:lnTo>
                  <a:pt x="2700914" y="641120"/>
                </a:lnTo>
                <a:lnTo>
                  <a:pt x="2627325" y="643105"/>
                </a:lnTo>
                <a:lnTo>
                  <a:pt x="2552914" y="644743"/>
                </a:lnTo>
                <a:lnTo>
                  <a:pt x="2477725" y="646027"/>
                </a:lnTo>
                <a:lnTo>
                  <a:pt x="2401798" y="646952"/>
                </a:lnTo>
                <a:lnTo>
                  <a:pt x="2325176" y="647512"/>
                </a:lnTo>
                <a:lnTo>
                  <a:pt x="2247899" y="647699"/>
                </a:lnTo>
                <a:lnTo>
                  <a:pt x="2170623" y="647512"/>
                </a:lnTo>
                <a:lnTo>
                  <a:pt x="2094001" y="646952"/>
                </a:lnTo>
                <a:lnTo>
                  <a:pt x="2018074" y="646027"/>
                </a:lnTo>
                <a:lnTo>
                  <a:pt x="1942885" y="644743"/>
                </a:lnTo>
                <a:lnTo>
                  <a:pt x="1868474" y="643105"/>
                </a:lnTo>
                <a:lnTo>
                  <a:pt x="1794885" y="641120"/>
                </a:lnTo>
                <a:lnTo>
                  <a:pt x="1722159" y="638793"/>
                </a:lnTo>
                <a:lnTo>
                  <a:pt x="1650338" y="636131"/>
                </a:lnTo>
                <a:lnTo>
                  <a:pt x="1579464" y="633140"/>
                </a:lnTo>
                <a:lnTo>
                  <a:pt x="1509578" y="629825"/>
                </a:lnTo>
                <a:lnTo>
                  <a:pt x="1440722" y="626193"/>
                </a:lnTo>
                <a:lnTo>
                  <a:pt x="1372939" y="622249"/>
                </a:lnTo>
                <a:lnTo>
                  <a:pt x="1306270" y="618001"/>
                </a:lnTo>
                <a:lnTo>
                  <a:pt x="1240757" y="613453"/>
                </a:lnTo>
                <a:lnTo>
                  <a:pt x="1176442" y="608612"/>
                </a:lnTo>
                <a:lnTo>
                  <a:pt x="1113366" y="603484"/>
                </a:lnTo>
                <a:lnTo>
                  <a:pt x="1051572" y="598074"/>
                </a:lnTo>
                <a:lnTo>
                  <a:pt x="991102" y="592390"/>
                </a:lnTo>
                <a:lnTo>
                  <a:pt x="931997" y="586437"/>
                </a:lnTo>
                <a:lnTo>
                  <a:pt x="874299" y="580220"/>
                </a:lnTo>
                <a:lnTo>
                  <a:pt x="818050" y="573747"/>
                </a:lnTo>
                <a:lnTo>
                  <a:pt x="763291" y="567022"/>
                </a:lnTo>
                <a:lnTo>
                  <a:pt x="710066" y="560053"/>
                </a:lnTo>
                <a:lnTo>
                  <a:pt x="658415" y="552845"/>
                </a:lnTo>
                <a:lnTo>
                  <a:pt x="608381" y="545404"/>
                </a:lnTo>
                <a:lnTo>
                  <a:pt x="560005" y="537736"/>
                </a:lnTo>
                <a:lnTo>
                  <a:pt x="513329" y="529847"/>
                </a:lnTo>
                <a:lnTo>
                  <a:pt x="468395" y="521743"/>
                </a:lnTo>
                <a:lnTo>
                  <a:pt x="425245" y="513431"/>
                </a:lnTo>
                <a:lnTo>
                  <a:pt x="383920" y="504916"/>
                </a:lnTo>
                <a:lnTo>
                  <a:pt x="344463" y="496204"/>
                </a:lnTo>
                <a:lnTo>
                  <a:pt x="306916" y="487301"/>
                </a:lnTo>
                <a:lnTo>
                  <a:pt x="237717" y="468948"/>
                </a:lnTo>
                <a:lnTo>
                  <a:pt x="176658" y="449905"/>
                </a:lnTo>
                <a:lnTo>
                  <a:pt x="124075" y="430220"/>
                </a:lnTo>
                <a:lnTo>
                  <a:pt x="80301" y="409941"/>
                </a:lnTo>
                <a:lnTo>
                  <a:pt x="45671" y="389116"/>
                </a:lnTo>
                <a:lnTo>
                  <a:pt x="11606" y="356961"/>
                </a:lnTo>
                <a:lnTo>
                  <a:pt x="0" y="323849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874507" y="2843529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 h="0">
                <a:moveTo>
                  <a:pt x="0" y="0"/>
                </a:moveTo>
                <a:lnTo>
                  <a:pt x="1269492" y="0"/>
                </a:lnTo>
              </a:path>
            </a:pathLst>
          </a:custGeom>
          <a:ln w="12700">
            <a:solidFill>
              <a:srgbClr val="F3B4F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880857" y="1181100"/>
            <a:ext cx="0" cy="1656080"/>
          </a:xfrm>
          <a:custGeom>
            <a:avLst/>
            <a:gdLst/>
            <a:ahLst/>
            <a:cxnLst/>
            <a:rect l="l" t="t" r="r" b="b"/>
            <a:pathLst>
              <a:path w="0" h="1656080">
                <a:moveTo>
                  <a:pt x="0" y="0"/>
                </a:moveTo>
                <a:lnTo>
                  <a:pt x="0" y="1656079"/>
                </a:lnTo>
              </a:path>
            </a:pathLst>
          </a:custGeom>
          <a:ln w="12700">
            <a:solidFill>
              <a:srgbClr val="F3B4F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874507" y="1174750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 h="0">
                <a:moveTo>
                  <a:pt x="0" y="0"/>
                </a:moveTo>
                <a:lnTo>
                  <a:pt x="1269492" y="0"/>
                </a:lnTo>
              </a:path>
            </a:pathLst>
          </a:custGeom>
          <a:ln w="12700">
            <a:solidFill>
              <a:srgbClr val="F3B4F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899907" y="2811779"/>
            <a:ext cx="1244600" cy="0"/>
          </a:xfrm>
          <a:custGeom>
            <a:avLst/>
            <a:gdLst/>
            <a:ahLst/>
            <a:cxnLst/>
            <a:rect l="l" t="t" r="r" b="b"/>
            <a:pathLst>
              <a:path w="1244600" h="0">
                <a:moveTo>
                  <a:pt x="0" y="0"/>
                </a:moveTo>
                <a:lnTo>
                  <a:pt x="1244092" y="0"/>
                </a:lnTo>
              </a:path>
            </a:pathLst>
          </a:custGeom>
          <a:ln w="25400">
            <a:solidFill>
              <a:srgbClr val="F3B4F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912607" y="1219200"/>
            <a:ext cx="0" cy="1579880"/>
          </a:xfrm>
          <a:custGeom>
            <a:avLst/>
            <a:gdLst/>
            <a:ahLst/>
            <a:cxnLst/>
            <a:rect l="l" t="t" r="r" b="b"/>
            <a:pathLst>
              <a:path w="0" h="1579880">
                <a:moveTo>
                  <a:pt x="0" y="0"/>
                </a:moveTo>
                <a:lnTo>
                  <a:pt x="0" y="1579879"/>
                </a:lnTo>
              </a:path>
            </a:pathLst>
          </a:custGeom>
          <a:ln w="25400">
            <a:solidFill>
              <a:srgbClr val="F3B4F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899907" y="1206500"/>
            <a:ext cx="1244600" cy="0"/>
          </a:xfrm>
          <a:custGeom>
            <a:avLst/>
            <a:gdLst/>
            <a:ahLst/>
            <a:cxnLst/>
            <a:rect l="l" t="t" r="r" b="b"/>
            <a:pathLst>
              <a:path w="1244600" h="0">
                <a:moveTo>
                  <a:pt x="0" y="0"/>
                </a:moveTo>
                <a:lnTo>
                  <a:pt x="1244092" y="0"/>
                </a:lnTo>
              </a:path>
            </a:pathLst>
          </a:custGeom>
          <a:ln w="25400">
            <a:solidFill>
              <a:srgbClr val="F3B4F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938007" y="2780029"/>
            <a:ext cx="1206500" cy="0"/>
          </a:xfrm>
          <a:custGeom>
            <a:avLst/>
            <a:gdLst/>
            <a:ahLst/>
            <a:cxnLst/>
            <a:rect l="l" t="t" r="r" b="b"/>
            <a:pathLst>
              <a:path w="1206500" h="0">
                <a:moveTo>
                  <a:pt x="0" y="0"/>
                </a:moveTo>
                <a:lnTo>
                  <a:pt x="1205992" y="0"/>
                </a:lnTo>
              </a:path>
            </a:pathLst>
          </a:custGeom>
          <a:ln w="12700">
            <a:solidFill>
              <a:srgbClr val="F3B4F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944357" y="1244600"/>
            <a:ext cx="0" cy="1529080"/>
          </a:xfrm>
          <a:custGeom>
            <a:avLst/>
            <a:gdLst/>
            <a:ahLst/>
            <a:cxnLst/>
            <a:rect l="l" t="t" r="r" b="b"/>
            <a:pathLst>
              <a:path w="0" h="1529080">
                <a:moveTo>
                  <a:pt x="0" y="0"/>
                </a:moveTo>
                <a:lnTo>
                  <a:pt x="0" y="1529079"/>
                </a:lnTo>
              </a:path>
            </a:pathLst>
          </a:custGeom>
          <a:ln w="12700">
            <a:solidFill>
              <a:srgbClr val="F3B4F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938007" y="1238250"/>
            <a:ext cx="1206500" cy="0"/>
          </a:xfrm>
          <a:custGeom>
            <a:avLst/>
            <a:gdLst/>
            <a:ahLst/>
            <a:cxnLst/>
            <a:rect l="l" t="t" r="r" b="b"/>
            <a:pathLst>
              <a:path w="1206500" h="0">
                <a:moveTo>
                  <a:pt x="0" y="0"/>
                </a:moveTo>
                <a:lnTo>
                  <a:pt x="1205992" y="0"/>
                </a:lnTo>
              </a:path>
            </a:pathLst>
          </a:custGeom>
          <a:ln w="12700">
            <a:solidFill>
              <a:srgbClr val="F3B4F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7992236" y="1116336"/>
            <a:ext cx="1001394" cy="16103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0000"/>
              </a:lnSpc>
              <a:spcBef>
                <a:spcPts val="95"/>
              </a:spcBef>
            </a:pPr>
            <a:r>
              <a:rPr dirty="0" sz="2000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2000" b="1" i="1">
                <a:solidFill>
                  <a:srgbClr val="FFFF00"/>
                </a:solidFill>
                <a:latin typeface="Times New Roman"/>
                <a:cs typeface="Times New Roman"/>
              </a:rPr>
              <a:t>aABe </a:t>
            </a:r>
            <a:r>
              <a:rPr dirty="0" sz="200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0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000" spc="-5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2000" spc="-5" b="1" i="1">
                <a:solidFill>
                  <a:srgbClr val="FFFF00"/>
                </a:solidFill>
                <a:latin typeface="Times New Roman"/>
                <a:cs typeface="Times New Roman"/>
              </a:rPr>
              <a:t>Abc  </a:t>
            </a:r>
            <a:r>
              <a:rPr dirty="0" sz="20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2000" b="1" i="1">
                <a:solidFill>
                  <a:srgbClr val="FFFF00"/>
                </a:solidFill>
                <a:latin typeface="Times New Roman"/>
                <a:cs typeface="Times New Roman"/>
              </a:rPr>
              <a:t>b  </a:t>
            </a:r>
            <a:r>
              <a:rPr dirty="0" sz="200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2000" b="1" i="1">
                <a:solidFill>
                  <a:srgbClr val="FFFF00"/>
                </a:solidFill>
                <a:latin typeface="Times New Roman"/>
                <a:cs typeface="Times New Roman"/>
              </a:rPr>
              <a:t>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273795" y="3358896"/>
            <a:ext cx="870203" cy="2240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8517763" y="3362705"/>
            <a:ext cx="38608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5" b="1">
                <a:latin typeface="宋体"/>
                <a:cs typeface="宋体"/>
                <a:hlinkClick r:id="rId4" action="ppaction://hlinksldjump"/>
              </a:rPr>
              <a:t>返回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66028" y="6143345"/>
            <a:ext cx="38862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66FFFF"/>
                </a:solidFill>
                <a:latin typeface="Wingdings 2"/>
                <a:cs typeface="Wingdings 2"/>
              </a:rPr>
              <a:t></a:t>
            </a:r>
            <a:endParaRPr sz="3200">
              <a:latin typeface="Wingdings 2"/>
              <a:cs typeface="Wingdings 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354960" y="26923"/>
            <a:ext cx="443547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2122170" algn="l"/>
                <a:tab pos="263144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移进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Arial"/>
                <a:cs typeface="Arial"/>
              </a:rPr>
              <a:t>—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归约分析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84398" y="5541975"/>
            <a:ext cx="22923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10046" y="5541975"/>
            <a:ext cx="20637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868673" y="5068061"/>
            <a:ext cx="0" cy="515620"/>
          </a:xfrm>
          <a:custGeom>
            <a:avLst/>
            <a:gdLst/>
            <a:ahLst/>
            <a:cxnLst/>
            <a:rect l="l" t="t" r="r" b="b"/>
            <a:pathLst>
              <a:path w="0" h="515620">
                <a:moveTo>
                  <a:pt x="0" y="0"/>
                </a:moveTo>
                <a:lnTo>
                  <a:pt x="0" y="515112"/>
                </a:lnTo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773673" y="4021073"/>
            <a:ext cx="0" cy="1562100"/>
          </a:xfrm>
          <a:custGeom>
            <a:avLst/>
            <a:gdLst/>
            <a:ahLst/>
            <a:cxnLst/>
            <a:rect l="l" t="t" r="r" b="b"/>
            <a:pathLst>
              <a:path w="0" h="1562100">
                <a:moveTo>
                  <a:pt x="0" y="0"/>
                </a:moveTo>
                <a:lnTo>
                  <a:pt x="0" y="1562100"/>
                </a:lnTo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5545073" y="3320034"/>
            <a:ext cx="475615" cy="2891155"/>
          </a:xfrm>
          <a:prstGeom prst="rect">
            <a:avLst/>
          </a:prstGeom>
          <a:ln w="38100">
            <a:solidFill>
              <a:srgbClr val="66FFFF"/>
            </a:solidFill>
          </a:ln>
        </p:spPr>
        <p:txBody>
          <a:bodyPr wrap="square" lIns="0" tIns="2476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195"/>
              </a:spcBef>
            </a:pPr>
            <a:r>
              <a:rPr dirty="0" u="heavy" sz="3200" b="1" i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B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4750">
              <a:latin typeface="Times New Roman"/>
              <a:cs typeface="Times New Roman"/>
            </a:endParaRPr>
          </a:p>
          <a:p>
            <a:pPr marL="67945">
              <a:lnSpc>
                <a:spcPct val="100000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630673" y="4021073"/>
            <a:ext cx="495300" cy="1562100"/>
          </a:xfrm>
          <a:custGeom>
            <a:avLst/>
            <a:gdLst/>
            <a:ahLst/>
            <a:cxnLst/>
            <a:rect l="l" t="t" r="r" b="b"/>
            <a:pathLst>
              <a:path w="495300" h="1562100">
                <a:moveTo>
                  <a:pt x="0" y="0"/>
                </a:moveTo>
                <a:lnTo>
                  <a:pt x="495300" y="1562100"/>
                </a:lnTo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886961" y="4021073"/>
            <a:ext cx="449580" cy="474345"/>
          </a:xfrm>
          <a:custGeom>
            <a:avLst/>
            <a:gdLst/>
            <a:ahLst/>
            <a:cxnLst/>
            <a:rect l="l" t="t" r="r" b="b"/>
            <a:pathLst>
              <a:path w="449579" h="474345">
                <a:moveTo>
                  <a:pt x="449579" y="0"/>
                </a:moveTo>
                <a:lnTo>
                  <a:pt x="0" y="473963"/>
                </a:lnTo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3582923" y="3354323"/>
          <a:ext cx="1689735" cy="28759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/>
                <a:gridCol w="201295"/>
                <a:gridCol w="897890"/>
              </a:tblGrid>
              <a:tr h="1121664">
                <a:tc gridSpan="3">
                  <a:txBody>
                    <a:bodyPr/>
                    <a:lstStyle/>
                    <a:p>
                      <a:pPr algn="ctr" marL="91440">
                        <a:lnSpc>
                          <a:spcPts val="3615"/>
                        </a:lnSpc>
                      </a:pPr>
                      <a:r>
                        <a:rPr dirty="0" sz="320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48056">
                <a:tc>
                  <a:txBody>
                    <a:bodyPr/>
                    <a:lstStyle/>
                    <a:p>
                      <a:pPr algn="r" marR="163195">
                        <a:lnSpc>
                          <a:spcPts val="3335"/>
                        </a:lnSpc>
                      </a:pPr>
                      <a:r>
                        <a:rPr dirty="0" sz="320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66FFFF"/>
                      </a:solidFill>
                      <a:prstDash val="solid"/>
                    </a:lnL>
                    <a:lnR w="38100">
                      <a:solidFill>
                        <a:srgbClr val="66FFFF"/>
                      </a:solidFill>
                      <a:prstDash val="solid"/>
                    </a:lnR>
                    <a:lnT w="38100">
                      <a:solidFill>
                        <a:srgbClr val="66FFFF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66FFFF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2679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4150">
                        <a:latin typeface="Times New Roman"/>
                        <a:cs typeface="Times New Roman"/>
                      </a:endParaRPr>
                    </a:p>
                    <a:p>
                      <a:pPr algn="r" marR="116839">
                        <a:lnSpc>
                          <a:spcPct val="100000"/>
                        </a:lnSpc>
                      </a:pPr>
                      <a:r>
                        <a:rPr dirty="0" sz="32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>
                    <a:lnL w="38100">
                      <a:solidFill>
                        <a:srgbClr val="66FFFF"/>
                      </a:solidFill>
                      <a:prstDash val="solid"/>
                    </a:lnL>
                    <a:lnR w="38100">
                      <a:solidFill>
                        <a:srgbClr val="66FFFF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66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66FFFF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4150">
                        <a:latin typeface="Times New Roman"/>
                        <a:cs typeface="Times New Roman"/>
                      </a:endParaRPr>
                    </a:p>
                    <a:p>
                      <a:pPr marL="80010">
                        <a:lnSpc>
                          <a:spcPct val="100000"/>
                        </a:lnSpc>
                        <a:tabLst>
                          <a:tab pos="688975" algn="l"/>
                        </a:tabLst>
                      </a:pPr>
                      <a:r>
                        <a:rPr dirty="0" sz="32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	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3698875" y="6167729"/>
            <a:ext cx="130302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r>
              <a:rPr dirty="0" sz="3200" b="1">
                <a:solidFill>
                  <a:srgbClr val="66FFFF"/>
                </a:solidFill>
                <a:latin typeface="Wingdings 2"/>
                <a:cs typeface="Wingdings 2"/>
              </a:rPr>
              <a:t></a:t>
            </a:r>
            <a:r>
              <a:rPr dirty="0" sz="3200">
                <a:solidFill>
                  <a:srgbClr val="66FFFF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00"/>
                </a:solidFill>
                <a:latin typeface="Wingdings 2"/>
                <a:cs typeface="Wingdings 2"/>
              </a:rPr>
              <a:t></a:t>
            </a:r>
            <a:endParaRPr sz="3200">
              <a:latin typeface="Wingdings 2"/>
              <a:cs typeface="Wingdings 2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44244" y="1425321"/>
            <a:ext cx="1982470" cy="13042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65200">
              <a:lnSpc>
                <a:spcPts val="3130"/>
              </a:lnSpc>
              <a:spcBef>
                <a:spcPts val="95"/>
              </a:spcBef>
            </a:pPr>
            <a:r>
              <a:rPr dirty="0" sz="2800" spc="-15" b="1">
                <a:solidFill>
                  <a:srgbClr val="FFFF00"/>
                </a:solidFill>
                <a:latin typeface="方正舒体"/>
                <a:cs typeface="方正舒体"/>
              </a:rPr>
              <a:t>④</a:t>
            </a:r>
            <a:endParaRPr sz="2800">
              <a:latin typeface="方正舒体"/>
              <a:cs typeface="方正舒体"/>
            </a:endParaRPr>
          </a:p>
          <a:p>
            <a:pPr marL="12700">
              <a:lnSpc>
                <a:spcPts val="3835"/>
              </a:lnSpc>
            </a:pPr>
            <a:r>
              <a:rPr dirty="0" sz="3600" spc="-5" b="1">
                <a:solidFill>
                  <a:srgbClr val="FFFF00"/>
                </a:solidFill>
                <a:latin typeface="Times New Roman"/>
                <a:cs typeface="Times New Roman"/>
              </a:rPr>
              <a:t>=&gt;</a:t>
            </a:r>
            <a:r>
              <a:rPr dirty="0" sz="3600" spc="-8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6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u="heavy" sz="3600" b="1" i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b</a:t>
            </a:r>
            <a:r>
              <a:rPr dirty="0" sz="3600" b="1" i="1">
                <a:solidFill>
                  <a:srgbClr val="FFFFFF"/>
                </a:solidFill>
                <a:latin typeface="Times New Roman"/>
                <a:cs typeface="Times New Roman"/>
              </a:rPr>
              <a:t>bcde</a:t>
            </a:r>
            <a:endParaRPr sz="3600">
              <a:latin typeface="Times New Roman"/>
              <a:cs typeface="Times New Roman"/>
            </a:endParaRPr>
          </a:p>
          <a:p>
            <a:pPr marL="850900">
              <a:lnSpc>
                <a:spcPts val="3105"/>
              </a:lnSpc>
            </a:pPr>
            <a:r>
              <a:rPr dirty="0" sz="2800" spc="-15" b="1">
                <a:solidFill>
                  <a:srgbClr val="FFFF00"/>
                </a:solidFill>
                <a:latin typeface="方正舒体"/>
                <a:cs typeface="方正舒体"/>
              </a:rPr>
              <a:t>①</a:t>
            </a:r>
            <a:endParaRPr sz="2800">
              <a:latin typeface="方正舒体"/>
              <a:cs typeface="方正舒体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093078" y="1431798"/>
            <a:ext cx="3810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5" b="1">
                <a:solidFill>
                  <a:srgbClr val="FFFF00"/>
                </a:solidFill>
                <a:latin typeface="方正舒体"/>
                <a:cs typeface="方正舒体"/>
              </a:rPr>
              <a:t>②</a:t>
            </a:r>
            <a:endParaRPr sz="2800">
              <a:latin typeface="方正舒体"/>
              <a:cs typeface="方正舒体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435602" y="1369313"/>
            <a:ext cx="525145" cy="104711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2800" spc="-15" b="1">
                <a:solidFill>
                  <a:srgbClr val="FFFF00"/>
                </a:solidFill>
                <a:latin typeface="方正舒体"/>
                <a:cs typeface="方正舒体"/>
              </a:rPr>
              <a:t>③</a:t>
            </a:r>
            <a:endParaRPr sz="2800">
              <a:latin typeface="方正舒体"/>
              <a:cs typeface="方正舒体"/>
            </a:endParaRPr>
          </a:p>
          <a:p>
            <a:pPr marL="285750">
              <a:lnSpc>
                <a:spcPct val="100000"/>
              </a:lnSpc>
              <a:spcBef>
                <a:spcPts val="455"/>
              </a:spcBef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315461" y="3068573"/>
            <a:ext cx="0" cy="2407920"/>
          </a:xfrm>
          <a:custGeom>
            <a:avLst/>
            <a:gdLst/>
            <a:ahLst/>
            <a:cxnLst/>
            <a:rect l="l" t="t" r="r" b="b"/>
            <a:pathLst>
              <a:path w="0" h="2407920">
                <a:moveTo>
                  <a:pt x="0" y="2407920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383273" y="3173729"/>
            <a:ext cx="0" cy="2409825"/>
          </a:xfrm>
          <a:custGeom>
            <a:avLst/>
            <a:gdLst/>
            <a:ahLst/>
            <a:cxnLst/>
            <a:rect l="l" t="t" r="r" b="b"/>
            <a:pathLst>
              <a:path w="0" h="2409825">
                <a:moveTo>
                  <a:pt x="0" y="2409444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315461" y="2428494"/>
            <a:ext cx="1315720" cy="640080"/>
          </a:xfrm>
          <a:custGeom>
            <a:avLst/>
            <a:gdLst/>
            <a:ahLst/>
            <a:cxnLst/>
            <a:rect l="l" t="t" r="r" b="b"/>
            <a:pathLst>
              <a:path w="1315720" h="640080">
                <a:moveTo>
                  <a:pt x="0" y="640079"/>
                </a:moveTo>
                <a:lnTo>
                  <a:pt x="1315212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125973" y="2428494"/>
            <a:ext cx="1257300" cy="745490"/>
          </a:xfrm>
          <a:custGeom>
            <a:avLst/>
            <a:gdLst/>
            <a:ahLst/>
            <a:cxnLst/>
            <a:rect l="l" t="t" r="r" b="b"/>
            <a:pathLst>
              <a:path w="1257300" h="745489">
                <a:moveTo>
                  <a:pt x="0" y="0"/>
                </a:moveTo>
                <a:lnTo>
                  <a:pt x="1257300" y="745235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478273" y="2484882"/>
            <a:ext cx="346075" cy="835660"/>
          </a:xfrm>
          <a:custGeom>
            <a:avLst/>
            <a:gdLst/>
            <a:ahLst/>
            <a:cxnLst/>
            <a:rect l="l" t="t" r="r" b="b"/>
            <a:pathLst>
              <a:path w="346075" h="835660">
                <a:moveTo>
                  <a:pt x="0" y="835151"/>
                </a:moveTo>
                <a:lnTo>
                  <a:pt x="345948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973573" y="2484882"/>
            <a:ext cx="685800" cy="835660"/>
          </a:xfrm>
          <a:custGeom>
            <a:avLst/>
            <a:gdLst/>
            <a:ahLst/>
            <a:cxnLst/>
            <a:rect l="l" t="t" r="r" b="b"/>
            <a:pathLst>
              <a:path w="685800" h="835660">
                <a:moveTo>
                  <a:pt x="0" y="0"/>
                </a:moveTo>
                <a:lnTo>
                  <a:pt x="685800" y="835151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5947028" y="2425699"/>
            <a:ext cx="3810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5" b="1">
                <a:solidFill>
                  <a:srgbClr val="FFFFFF"/>
                </a:solidFill>
                <a:latin typeface="方正舒体"/>
                <a:cs typeface="方正舒体"/>
              </a:rPr>
              <a:t>④</a:t>
            </a:r>
            <a:endParaRPr sz="2800">
              <a:latin typeface="方正舒体"/>
              <a:cs typeface="方正舒体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117342" y="6125717"/>
            <a:ext cx="320040" cy="0"/>
          </a:xfrm>
          <a:custGeom>
            <a:avLst/>
            <a:gdLst/>
            <a:ahLst/>
            <a:cxnLst/>
            <a:rect l="l" t="t" r="r" b="b"/>
            <a:pathLst>
              <a:path w="320039" h="0">
                <a:moveTo>
                  <a:pt x="0" y="0"/>
                </a:moveTo>
                <a:lnTo>
                  <a:pt x="320040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221729" y="6116573"/>
            <a:ext cx="321945" cy="0"/>
          </a:xfrm>
          <a:custGeom>
            <a:avLst/>
            <a:gdLst/>
            <a:ahLst/>
            <a:cxnLst/>
            <a:rect l="l" t="t" r="r" b="b"/>
            <a:pathLst>
              <a:path w="321945" h="0">
                <a:moveTo>
                  <a:pt x="0" y="0"/>
                </a:moveTo>
                <a:lnTo>
                  <a:pt x="321564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309109" y="3894582"/>
            <a:ext cx="321945" cy="0"/>
          </a:xfrm>
          <a:custGeom>
            <a:avLst/>
            <a:gdLst/>
            <a:ahLst/>
            <a:cxnLst/>
            <a:rect l="l" t="t" r="r" b="b"/>
            <a:pathLst>
              <a:path w="321945" h="0">
                <a:moveTo>
                  <a:pt x="0" y="0"/>
                </a:moveTo>
                <a:lnTo>
                  <a:pt x="321563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505700" y="2475229"/>
            <a:ext cx="1638300" cy="0"/>
          </a:xfrm>
          <a:custGeom>
            <a:avLst/>
            <a:gdLst/>
            <a:ahLst/>
            <a:cxnLst/>
            <a:rect l="l" t="t" r="r" b="b"/>
            <a:pathLst>
              <a:path w="1638300" h="0">
                <a:moveTo>
                  <a:pt x="0" y="0"/>
                </a:moveTo>
                <a:lnTo>
                  <a:pt x="1638299" y="0"/>
                </a:lnTo>
              </a:path>
            </a:pathLst>
          </a:custGeom>
          <a:ln w="12700">
            <a:solidFill>
              <a:srgbClr val="F3B4F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512050" y="532130"/>
            <a:ext cx="0" cy="1936750"/>
          </a:xfrm>
          <a:custGeom>
            <a:avLst/>
            <a:gdLst/>
            <a:ahLst/>
            <a:cxnLst/>
            <a:rect l="l" t="t" r="r" b="b"/>
            <a:pathLst>
              <a:path w="0" h="1936750">
                <a:moveTo>
                  <a:pt x="0" y="0"/>
                </a:moveTo>
                <a:lnTo>
                  <a:pt x="0" y="1936750"/>
                </a:lnTo>
              </a:path>
            </a:pathLst>
          </a:custGeom>
          <a:ln w="12700">
            <a:solidFill>
              <a:srgbClr val="F3B4F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505700" y="525780"/>
            <a:ext cx="1638300" cy="0"/>
          </a:xfrm>
          <a:custGeom>
            <a:avLst/>
            <a:gdLst/>
            <a:ahLst/>
            <a:cxnLst/>
            <a:rect l="l" t="t" r="r" b="b"/>
            <a:pathLst>
              <a:path w="1638300" h="0">
                <a:moveTo>
                  <a:pt x="0" y="0"/>
                </a:moveTo>
                <a:lnTo>
                  <a:pt x="1638299" y="0"/>
                </a:lnTo>
              </a:path>
            </a:pathLst>
          </a:custGeom>
          <a:ln w="12700">
            <a:solidFill>
              <a:srgbClr val="F3B4F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531100" y="2443479"/>
            <a:ext cx="1612900" cy="0"/>
          </a:xfrm>
          <a:custGeom>
            <a:avLst/>
            <a:gdLst/>
            <a:ahLst/>
            <a:cxnLst/>
            <a:rect l="l" t="t" r="r" b="b"/>
            <a:pathLst>
              <a:path w="1612900" h="0">
                <a:moveTo>
                  <a:pt x="0" y="0"/>
                </a:moveTo>
                <a:lnTo>
                  <a:pt x="1612899" y="0"/>
                </a:lnTo>
              </a:path>
            </a:pathLst>
          </a:custGeom>
          <a:ln w="25400">
            <a:solidFill>
              <a:srgbClr val="F3B4F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543800" y="570230"/>
            <a:ext cx="0" cy="1860550"/>
          </a:xfrm>
          <a:custGeom>
            <a:avLst/>
            <a:gdLst/>
            <a:ahLst/>
            <a:cxnLst/>
            <a:rect l="l" t="t" r="r" b="b"/>
            <a:pathLst>
              <a:path w="0" h="1860550">
                <a:moveTo>
                  <a:pt x="0" y="0"/>
                </a:moveTo>
                <a:lnTo>
                  <a:pt x="0" y="1860550"/>
                </a:lnTo>
              </a:path>
            </a:pathLst>
          </a:custGeom>
          <a:ln w="25400">
            <a:solidFill>
              <a:srgbClr val="F3B4F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531100" y="557530"/>
            <a:ext cx="1612900" cy="0"/>
          </a:xfrm>
          <a:custGeom>
            <a:avLst/>
            <a:gdLst/>
            <a:ahLst/>
            <a:cxnLst/>
            <a:rect l="l" t="t" r="r" b="b"/>
            <a:pathLst>
              <a:path w="1612900" h="0">
                <a:moveTo>
                  <a:pt x="0" y="0"/>
                </a:moveTo>
                <a:lnTo>
                  <a:pt x="1612899" y="0"/>
                </a:lnTo>
              </a:path>
            </a:pathLst>
          </a:custGeom>
          <a:ln w="25400">
            <a:solidFill>
              <a:srgbClr val="F3B4F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9137650" y="570483"/>
            <a:ext cx="0" cy="1859914"/>
          </a:xfrm>
          <a:custGeom>
            <a:avLst/>
            <a:gdLst/>
            <a:ahLst/>
            <a:cxnLst/>
            <a:rect l="l" t="t" r="r" b="b"/>
            <a:pathLst>
              <a:path w="0" h="1859914">
                <a:moveTo>
                  <a:pt x="0" y="0"/>
                </a:moveTo>
                <a:lnTo>
                  <a:pt x="0" y="1859788"/>
                </a:lnTo>
              </a:path>
            </a:pathLst>
          </a:custGeom>
          <a:ln w="12699">
            <a:solidFill>
              <a:srgbClr val="F3B4F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7569200" y="2411729"/>
            <a:ext cx="1549400" cy="0"/>
          </a:xfrm>
          <a:custGeom>
            <a:avLst/>
            <a:gdLst/>
            <a:ahLst/>
            <a:cxnLst/>
            <a:rect l="l" t="t" r="r" b="b"/>
            <a:pathLst>
              <a:path w="1549400" h="0">
                <a:moveTo>
                  <a:pt x="0" y="0"/>
                </a:moveTo>
                <a:lnTo>
                  <a:pt x="1549400" y="0"/>
                </a:lnTo>
              </a:path>
            </a:pathLst>
          </a:custGeom>
          <a:ln w="12700">
            <a:solidFill>
              <a:srgbClr val="F3B4F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7575550" y="595630"/>
            <a:ext cx="0" cy="1809750"/>
          </a:xfrm>
          <a:custGeom>
            <a:avLst/>
            <a:gdLst/>
            <a:ahLst/>
            <a:cxnLst/>
            <a:rect l="l" t="t" r="r" b="b"/>
            <a:pathLst>
              <a:path w="0" h="1809750">
                <a:moveTo>
                  <a:pt x="0" y="0"/>
                </a:moveTo>
                <a:lnTo>
                  <a:pt x="0" y="1809750"/>
                </a:lnTo>
              </a:path>
            </a:pathLst>
          </a:custGeom>
          <a:ln w="12700">
            <a:solidFill>
              <a:srgbClr val="F3B4F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569200" y="589280"/>
            <a:ext cx="1549400" cy="0"/>
          </a:xfrm>
          <a:custGeom>
            <a:avLst/>
            <a:gdLst/>
            <a:ahLst/>
            <a:cxnLst/>
            <a:rect l="l" t="t" r="r" b="b"/>
            <a:pathLst>
              <a:path w="1549400" h="0">
                <a:moveTo>
                  <a:pt x="0" y="0"/>
                </a:moveTo>
                <a:lnTo>
                  <a:pt x="1549400" y="0"/>
                </a:lnTo>
              </a:path>
            </a:pathLst>
          </a:custGeom>
          <a:ln w="12700">
            <a:solidFill>
              <a:srgbClr val="F3B4F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9112250" y="595883"/>
            <a:ext cx="0" cy="1809114"/>
          </a:xfrm>
          <a:custGeom>
            <a:avLst/>
            <a:gdLst/>
            <a:ahLst/>
            <a:cxnLst/>
            <a:rect l="l" t="t" r="r" b="b"/>
            <a:pathLst>
              <a:path w="0" h="1809114">
                <a:moveTo>
                  <a:pt x="0" y="0"/>
                </a:moveTo>
                <a:lnTo>
                  <a:pt x="0" y="1808988"/>
                </a:lnTo>
              </a:path>
            </a:pathLst>
          </a:custGeom>
          <a:ln w="12700">
            <a:solidFill>
              <a:srgbClr val="F3B4F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7556500" y="433223"/>
            <a:ext cx="1562100" cy="19291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9375" marR="306070">
              <a:lnSpc>
                <a:spcPct val="13010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400" spc="-1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Be </a:t>
            </a: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Abc  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b  </a:t>
            </a:r>
            <a:r>
              <a:rPr dirty="0" sz="2400" spc="-5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54939" y="520953"/>
            <a:ext cx="6877050" cy="9956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3579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规范推导：</a:t>
            </a:r>
            <a:endParaRPr sz="3200">
              <a:latin typeface="宋体"/>
              <a:cs typeface="宋体"/>
            </a:endParaRPr>
          </a:p>
          <a:p>
            <a:pPr algn="ctr" marL="946150">
              <a:lnSpc>
                <a:spcPts val="4060"/>
              </a:lnSpc>
            </a:pPr>
            <a:r>
              <a:rPr dirty="0" sz="3600" spc="-5" b="1" i="1">
                <a:solidFill>
                  <a:srgbClr val="FFFFFF"/>
                </a:solidFill>
                <a:latin typeface="Times New Roman"/>
                <a:cs typeface="Times New Roman"/>
              </a:rPr>
              <a:t>S </a:t>
            </a:r>
            <a:r>
              <a:rPr dirty="0" sz="3600" b="1">
                <a:solidFill>
                  <a:srgbClr val="FFFF00"/>
                </a:solidFill>
                <a:latin typeface="Times New Roman"/>
                <a:cs typeface="Times New Roman"/>
              </a:rPr>
              <a:t>=&gt; </a:t>
            </a:r>
            <a:r>
              <a:rPr dirty="0" u="heavy" sz="3600" spc="-5" b="1" i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aAB</a:t>
            </a:r>
            <a:r>
              <a:rPr dirty="0" sz="3600" spc="-5" b="1" i="1">
                <a:solidFill>
                  <a:srgbClr val="66FFFF"/>
                </a:solidFill>
                <a:latin typeface="Times New Roman"/>
                <a:cs typeface="Times New Roman"/>
              </a:rPr>
              <a:t>e </a:t>
            </a:r>
            <a:r>
              <a:rPr dirty="0" sz="3600" b="1">
                <a:solidFill>
                  <a:srgbClr val="FFFF00"/>
                </a:solidFill>
                <a:latin typeface="Times New Roman"/>
                <a:cs typeface="Times New Roman"/>
              </a:rPr>
              <a:t>=&gt; </a:t>
            </a:r>
            <a:r>
              <a:rPr dirty="0" sz="36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6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u="heavy" sz="3600" b="1" i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d</a:t>
            </a:r>
            <a:r>
              <a:rPr dirty="0" sz="3600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3600" b="1">
                <a:solidFill>
                  <a:srgbClr val="FFFF00"/>
                </a:solidFill>
                <a:latin typeface="Times New Roman"/>
                <a:cs typeface="Times New Roman"/>
              </a:rPr>
              <a:t>=&gt;</a:t>
            </a:r>
            <a:r>
              <a:rPr dirty="0" sz="3600" spc="-7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6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u="heavy" sz="3600" spc="-5" b="1" i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A</a:t>
            </a:r>
            <a:r>
              <a:rPr dirty="0" u="heavy" sz="3600" spc="-5" b="1" i="1">
                <a:solidFill>
                  <a:srgbClr val="66FFFF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bc</a:t>
            </a:r>
            <a:r>
              <a:rPr dirty="0" sz="3600" spc="-5" b="1" i="1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8273795" y="3067811"/>
            <a:ext cx="870203" cy="2225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8517763" y="3070351"/>
            <a:ext cx="38608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5" b="1">
                <a:latin typeface="宋体"/>
                <a:cs typeface="宋体"/>
                <a:hlinkClick r:id="rId4" action="ppaction://hlinksldjump"/>
              </a:rPr>
              <a:t>查看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69694" y="2891789"/>
            <a:ext cx="6555740" cy="12947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lvl="2" marL="1236345" indent="-1224280">
              <a:lnSpc>
                <a:spcPct val="100000"/>
              </a:lnSpc>
              <a:spcBef>
                <a:spcPts val="105"/>
              </a:spcBef>
              <a:buClr>
                <a:srgbClr val="FFFF00"/>
              </a:buClr>
              <a:buFont typeface="Times New Roman"/>
              <a:buAutoNum type="arabicPeriod"/>
              <a:tabLst>
                <a:tab pos="1236345" algn="l"/>
                <a:tab pos="1236980" algn="l"/>
              </a:tabLst>
            </a:pPr>
            <a:r>
              <a:rPr dirty="0" sz="3200" b="1">
                <a:solidFill>
                  <a:srgbClr val="FF9933"/>
                </a:solidFill>
                <a:latin typeface="宋体"/>
                <a:cs typeface="宋体"/>
              </a:rPr>
              <a:t>直观</a:t>
            </a:r>
            <a:r>
              <a:rPr dirty="0" sz="3200" spc="5" b="1">
                <a:solidFill>
                  <a:srgbClr val="FF9933"/>
                </a:solidFill>
                <a:latin typeface="宋体"/>
                <a:cs typeface="宋体"/>
              </a:rPr>
              <a:t>的</a:t>
            </a:r>
            <a:r>
              <a:rPr dirty="0" sz="3200" b="1">
                <a:solidFill>
                  <a:srgbClr val="FF9933"/>
                </a:solidFill>
                <a:latin typeface="宋体"/>
                <a:cs typeface="宋体"/>
              </a:rPr>
              <a:t>“移近</a:t>
            </a:r>
            <a:r>
              <a:rPr dirty="0" sz="3200" b="1">
                <a:solidFill>
                  <a:srgbClr val="FF9933"/>
                </a:solidFill>
                <a:latin typeface="Times New Roman"/>
                <a:cs typeface="Times New Roman"/>
              </a:rPr>
              <a:t>—</a:t>
            </a:r>
            <a:r>
              <a:rPr dirty="0" sz="3200" b="1">
                <a:solidFill>
                  <a:srgbClr val="FF9933"/>
                </a:solidFill>
                <a:latin typeface="宋体"/>
                <a:cs typeface="宋体"/>
              </a:rPr>
              <a:t>归</a:t>
            </a:r>
            <a:r>
              <a:rPr dirty="0" sz="3200" spc="-10" b="1">
                <a:solidFill>
                  <a:srgbClr val="FF9933"/>
                </a:solidFill>
                <a:latin typeface="宋体"/>
                <a:cs typeface="宋体"/>
              </a:rPr>
              <a:t>约</a:t>
            </a:r>
            <a:r>
              <a:rPr dirty="0" sz="3200" b="1">
                <a:solidFill>
                  <a:srgbClr val="FF9933"/>
                </a:solidFill>
                <a:latin typeface="宋体"/>
                <a:cs typeface="宋体"/>
              </a:rPr>
              <a:t>”分析</a:t>
            </a:r>
            <a:r>
              <a:rPr dirty="0" sz="3200" spc="-10" b="1">
                <a:solidFill>
                  <a:srgbClr val="FF9933"/>
                </a:solidFill>
                <a:latin typeface="宋体"/>
                <a:cs typeface="宋体"/>
              </a:rPr>
              <a:t>法</a:t>
            </a:r>
            <a:endParaRPr sz="3200">
              <a:latin typeface="宋体"/>
              <a:cs typeface="宋体"/>
            </a:endParaRPr>
          </a:p>
          <a:p>
            <a:pPr lvl="2" marL="1231900" indent="-1219200">
              <a:lnSpc>
                <a:spcPct val="100000"/>
              </a:lnSpc>
              <a:spcBef>
                <a:spcPts val="2305"/>
              </a:spcBef>
              <a:buClr>
                <a:srgbClr val="FFFF00"/>
              </a:buClr>
              <a:buFont typeface="Times New Roman"/>
              <a:buAutoNum type="arabicPeriod"/>
              <a:tabLst>
                <a:tab pos="1231265" algn="l"/>
                <a:tab pos="1231900" algn="l"/>
              </a:tabLst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规范归约与句柄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577464" y="26923"/>
            <a:ext cx="443547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22170" algn="l"/>
                <a:tab pos="2629535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算符优先分析法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9361" y="3772661"/>
            <a:ext cx="1231392" cy="5593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29361" y="3772661"/>
            <a:ext cx="1231900" cy="559435"/>
          </a:xfrm>
          <a:custGeom>
            <a:avLst/>
            <a:gdLst/>
            <a:ahLst/>
            <a:cxnLst/>
            <a:rect l="l" t="t" r="r" b="b"/>
            <a:pathLst>
              <a:path w="1231900" h="559435">
                <a:moveTo>
                  <a:pt x="0" y="139826"/>
                </a:moveTo>
                <a:lnTo>
                  <a:pt x="923137" y="139826"/>
                </a:lnTo>
                <a:lnTo>
                  <a:pt x="923137" y="0"/>
                </a:lnTo>
                <a:lnTo>
                  <a:pt x="1231392" y="279654"/>
                </a:lnTo>
                <a:lnTo>
                  <a:pt x="923137" y="559307"/>
                </a:lnTo>
                <a:lnTo>
                  <a:pt x="923137" y="419481"/>
                </a:lnTo>
                <a:lnTo>
                  <a:pt x="0" y="419481"/>
                </a:lnTo>
                <a:lnTo>
                  <a:pt x="0" y="139826"/>
                </a:lnTo>
                <a:close/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055319" y="786765"/>
            <a:ext cx="6747509" cy="1342390"/>
          </a:xfrm>
          <a:prstGeom prst="rect"/>
        </p:spPr>
        <p:txBody>
          <a:bodyPr wrap="square" lIns="0" tIns="158750" rIns="0" bIns="0" rtlCol="0" vert="horz">
            <a:spAutoFit/>
          </a:bodyPr>
          <a:lstStyle/>
          <a:p>
            <a:pPr marL="3070225" marR="5080" indent="-3058160">
              <a:lnSpc>
                <a:spcPct val="80000"/>
              </a:lnSpc>
              <a:spcBef>
                <a:spcPts val="1250"/>
              </a:spcBef>
              <a:tabLst>
                <a:tab pos="1231900" algn="l"/>
              </a:tabLst>
            </a:pPr>
            <a:r>
              <a:rPr dirty="0" sz="4800">
                <a:solidFill>
                  <a:srgbClr val="FFFF00"/>
                </a:solidFill>
                <a:latin typeface="Times New Roman"/>
                <a:cs typeface="Times New Roman"/>
              </a:rPr>
              <a:t>5.1	</a:t>
            </a:r>
            <a:r>
              <a:rPr dirty="0" sz="4800" spc="-10">
                <a:solidFill>
                  <a:srgbClr val="FFFF00"/>
                </a:solidFill>
              </a:rPr>
              <a:t>“移近</a:t>
            </a:r>
            <a:r>
              <a:rPr dirty="0" sz="4800">
                <a:solidFill>
                  <a:srgbClr val="FFFF00"/>
                </a:solidFill>
                <a:latin typeface="Times New Roman"/>
                <a:cs typeface="Times New Roman"/>
              </a:rPr>
              <a:t>—</a:t>
            </a:r>
            <a:r>
              <a:rPr dirty="0" sz="4800" spc="-20">
                <a:solidFill>
                  <a:srgbClr val="FFFF00"/>
                </a:solidFill>
              </a:rPr>
              <a:t>归</a:t>
            </a:r>
            <a:r>
              <a:rPr dirty="0" sz="4800" spc="10">
                <a:solidFill>
                  <a:srgbClr val="FFFF00"/>
                </a:solidFill>
              </a:rPr>
              <a:t>约”</a:t>
            </a:r>
            <a:r>
              <a:rPr dirty="0" sz="4800" spc="-5">
                <a:solidFill>
                  <a:srgbClr val="FFFF00"/>
                </a:solidFill>
              </a:rPr>
              <a:t>分</a:t>
            </a:r>
            <a:r>
              <a:rPr dirty="0" sz="4800" spc="-15">
                <a:solidFill>
                  <a:srgbClr val="FFFF00"/>
                </a:solidFill>
              </a:rPr>
              <a:t>析 </a:t>
            </a:r>
            <a:r>
              <a:rPr dirty="0" sz="4800" spc="-20">
                <a:solidFill>
                  <a:srgbClr val="FFFF00"/>
                </a:solidFill>
              </a:rPr>
              <a:t>法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165" y="702945"/>
            <a:ext cx="1770380" cy="587375"/>
          </a:xfrm>
          <a:prstGeom prst="rect"/>
        </p:spPr>
        <p:txBody>
          <a:bodyPr wrap="square" lIns="0" tIns="74295" rIns="0" bIns="0" rtlCol="0" vert="horz">
            <a:spAutoFit/>
          </a:bodyPr>
          <a:lstStyle/>
          <a:p>
            <a:pPr marL="429895" indent="-417830">
              <a:lnSpc>
                <a:spcPct val="100000"/>
              </a:lnSpc>
              <a:spcBef>
                <a:spcPts val="585"/>
              </a:spcBef>
              <a:buClr>
                <a:srgbClr val="99FF99"/>
              </a:buClr>
              <a:buSzPct val="114062"/>
              <a:buFont typeface="Wingdings"/>
              <a:buChar char=""/>
              <a:tabLst>
                <a:tab pos="429895" algn="l"/>
                <a:tab pos="430530" algn="l"/>
              </a:tabLst>
            </a:pPr>
            <a:r>
              <a:rPr dirty="0" sz="3200">
                <a:solidFill>
                  <a:srgbClr val="FFFF00"/>
                </a:solidFill>
              </a:rPr>
              <a:t>定义</a:t>
            </a:r>
            <a:r>
              <a:rPr dirty="0" sz="3200" spc="5">
                <a:solidFill>
                  <a:srgbClr val="FFFF00"/>
                </a:solidFill>
                <a:latin typeface="Times New Roman"/>
                <a:cs typeface="Times New Roman"/>
              </a:rPr>
              <a:t>5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.1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64332" y="763905"/>
            <a:ext cx="165925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15" b="1">
                <a:solidFill>
                  <a:srgbClr val="FFFF00"/>
                </a:solidFill>
                <a:latin typeface="宋体"/>
                <a:cs typeface="宋体"/>
              </a:rPr>
              <a:t>(</a:t>
            </a:r>
            <a:r>
              <a:rPr dirty="0" sz="3200" spc="-3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短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语</a:t>
            </a:r>
            <a:r>
              <a:rPr dirty="0" sz="3200" spc="-5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200" spc="-15" b="1">
                <a:solidFill>
                  <a:srgbClr val="FFFF00"/>
                </a:solidFill>
                <a:latin typeface="宋体"/>
                <a:cs typeface="宋体"/>
              </a:rPr>
              <a:t>)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6765" y="1255867"/>
            <a:ext cx="8206740" cy="19291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 marR="30480">
              <a:lnSpc>
                <a:spcPct val="124300"/>
              </a:lnSpc>
              <a:spcBef>
                <a:spcPts val="95"/>
              </a:spcBef>
            </a:pPr>
            <a:r>
              <a:rPr dirty="0" sz="3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是文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的开始符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号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85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350" spc="-75" b="1" i="1">
                <a:solidFill>
                  <a:srgbClr val="FFFFFF"/>
                </a:solidFill>
                <a:latin typeface="Symbol"/>
                <a:cs typeface="Symbol"/>
              </a:rPr>
              <a:t>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的一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个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句</a:t>
            </a:r>
            <a:r>
              <a:rPr dirty="0" sz="3200" spc="15" b="1">
                <a:solidFill>
                  <a:srgbClr val="FFFFFF"/>
                </a:solidFill>
                <a:latin typeface="宋体"/>
                <a:cs typeface="宋体"/>
              </a:rPr>
              <a:t>型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，  若</a:t>
            </a:r>
            <a:r>
              <a:rPr dirty="0" sz="3200" spc="-81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 </a:t>
            </a:r>
            <a:r>
              <a:rPr dirty="0" sz="3200" spc="-47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baseline="11904" sz="4200" spc="-70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3200" spc="-470" b="1">
                <a:solidFill>
                  <a:srgbClr val="FFFFFF"/>
                </a:solidFill>
                <a:latin typeface="Times New Roman"/>
                <a:cs typeface="Times New Roman"/>
              </a:rPr>
              <a:t>&gt;</a:t>
            </a:r>
            <a:r>
              <a:rPr dirty="0" sz="3200" spc="-3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350" spc="-55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3200" spc="-5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350" spc="-55" b="1" i="1">
                <a:solidFill>
                  <a:srgbClr val="FFFFFF"/>
                </a:solidFill>
                <a:latin typeface="Symbol"/>
                <a:cs typeface="Symbol"/>
              </a:rPr>
              <a:t>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且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spc="-3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35" b="1">
                <a:solidFill>
                  <a:srgbClr val="FFFF00"/>
                </a:solidFill>
                <a:latin typeface="Times New Roman"/>
                <a:cs typeface="Times New Roman"/>
              </a:rPr>
              <a:t>=</a:t>
            </a:r>
            <a:r>
              <a:rPr dirty="0" baseline="24801" sz="4200" spc="-802" b="1">
                <a:solidFill>
                  <a:srgbClr val="FFFF00"/>
                </a:solidFill>
                <a:latin typeface="Times New Roman"/>
                <a:cs typeface="Times New Roman"/>
              </a:rPr>
              <a:t>+</a:t>
            </a:r>
            <a:r>
              <a:rPr dirty="0" sz="3200" spc="-535" b="1">
                <a:solidFill>
                  <a:srgbClr val="FFFF00"/>
                </a:solidFill>
                <a:latin typeface="Times New Roman"/>
                <a:cs typeface="Times New Roman"/>
              </a:rPr>
              <a:t>&gt;</a:t>
            </a:r>
            <a:r>
              <a:rPr dirty="0" sz="3200" spc="-53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350" spc="-85" b="1" i="1">
                <a:solidFill>
                  <a:srgbClr val="FFFFFF"/>
                </a:solidFill>
                <a:latin typeface="Symbol"/>
                <a:cs typeface="Symbol"/>
              </a:rPr>
              <a:t></a:t>
            </a:r>
            <a:r>
              <a:rPr dirty="0" sz="3350" spc="-3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endParaRPr sz="32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969"/>
              </a:spcBef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dirty="0" sz="3350" spc="-70" b="1" i="1">
                <a:solidFill>
                  <a:srgbClr val="FFFFFF"/>
                </a:solidFill>
                <a:latin typeface="Symbol"/>
                <a:cs typeface="Symbol"/>
              </a:rPr>
              <a:t>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是句型</a:t>
            </a:r>
            <a:r>
              <a:rPr dirty="0" sz="3350" spc="-80" b="1" i="1">
                <a:solidFill>
                  <a:srgbClr val="FFFFFF"/>
                </a:solidFill>
                <a:latin typeface="Symbol"/>
                <a:cs typeface="Symbol"/>
              </a:rPr>
              <a:t>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相对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于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短</a:t>
            </a:r>
            <a:r>
              <a:rPr dirty="0" sz="3200" spc="765" b="1">
                <a:solidFill>
                  <a:srgbClr val="FFFFFF"/>
                </a:solidFill>
                <a:latin typeface="宋体"/>
                <a:cs typeface="宋体"/>
              </a:rPr>
              <a:t>语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0265" y="3613530"/>
            <a:ext cx="1770380" cy="587375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marL="429895" indent="-417830">
              <a:lnSpc>
                <a:spcPct val="100000"/>
              </a:lnSpc>
              <a:spcBef>
                <a:spcPts val="585"/>
              </a:spcBef>
              <a:buClr>
                <a:srgbClr val="99FF99"/>
              </a:buClr>
              <a:buSzPct val="114062"/>
              <a:buFont typeface="Wingdings"/>
              <a:buChar char=""/>
              <a:tabLst>
                <a:tab pos="429895" algn="l"/>
                <a:tab pos="43053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定义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5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.2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02432" y="3674490"/>
            <a:ext cx="247586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5" b="1">
                <a:solidFill>
                  <a:srgbClr val="FFFF00"/>
                </a:solidFill>
                <a:latin typeface="宋体"/>
                <a:cs typeface="宋体"/>
              </a:rPr>
              <a:t>(</a:t>
            </a:r>
            <a:r>
              <a:rPr dirty="0" sz="3200" spc="-3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直接短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语</a:t>
            </a:r>
            <a:r>
              <a:rPr dirty="0" sz="3200" spc="-4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200" spc="-15" b="1">
                <a:solidFill>
                  <a:srgbClr val="FFFF00"/>
                </a:solidFill>
                <a:latin typeface="宋体"/>
                <a:cs typeface="宋体"/>
              </a:rPr>
              <a:t>)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4865" y="4167435"/>
            <a:ext cx="7900670" cy="192786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 marR="30480">
              <a:lnSpc>
                <a:spcPct val="124200"/>
              </a:lnSpc>
              <a:spcBef>
                <a:spcPts val="90"/>
              </a:spcBef>
            </a:pPr>
            <a:r>
              <a:rPr dirty="0" sz="3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是文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的开始符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号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3200" spc="-9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350" spc="-75" b="1" i="1">
                <a:solidFill>
                  <a:srgbClr val="FFFFFF"/>
                </a:solidFill>
                <a:latin typeface="Symbol"/>
                <a:cs typeface="Symbol"/>
              </a:rPr>
              <a:t>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一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个句</a:t>
            </a:r>
            <a:r>
              <a:rPr dirty="0" sz="3200" spc="10" b="1">
                <a:solidFill>
                  <a:srgbClr val="FFFFFF"/>
                </a:solidFill>
                <a:latin typeface="宋体"/>
                <a:cs typeface="宋体"/>
              </a:rPr>
              <a:t>型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，  若</a:t>
            </a:r>
            <a:r>
              <a:rPr dirty="0" sz="3200" spc="-81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 </a:t>
            </a:r>
            <a:r>
              <a:rPr dirty="0" sz="3200" spc="-855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baseline="13888" sz="4200" spc="-1282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baseline="13888" sz="4200" spc="-6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&gt;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350" spc="-55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3200" spc="-5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350" spc="-55" b="1" i="1">
                <a:solidFill>
                  <a:srgbClr val="FFFFFF"/>
                </a:solidFill>
                <a:latin typeface="Symbol"/>
                <a:cs typeface="Symbol"/>
              </a:rPr>
              <a:t>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且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spc="-19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40" b="1">
                <a:solidFill>
                  <a:srgbClr val="FFFF00"/>
                </a:solidFill>
                <a:latin typeface="Symbol"/>
                <a:cs typeface="Symbol"/>
              </a:rPr>
              <a:t></a:t>
            </a:r>
            <a:r>
              <a:rPr dirty="0" sz="3350" spc="-40" b="1" i="1">
                <a:solidFill>
                  <a:srgbClr val="FFFFFF"/>
                </a:solidFill>
                <a:latin typeface="Symbol"/>
                <a:cs typeface="Symbol"/>
              </a:rPr>
              <a:t></a:t>
            </a:r>
            <a:r>
              <a:rPr dirty="0" sz="3350" spc="-4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endParaRPr sz="32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975"/>
              </a:spcBef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dirty="0" sz="3350" spc="-70" b="1" i="1">
                <a:solidFill>
                  <a:srgbClr val="FFFFFF"/>
                </a:solidFill>
                <a:latin typeface="Symbol"/>
                <a:cs typeface="Symbol"/>
              </a:rPr>
              <a:t>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是句型</a:t>
            </a:r>
            <a:r>
              <a:rPr dirty="0" sz="3350" spc="-80" b="1" i="1">
                <a:solidFill>
                  <a:srgbClr val="FFFFFF"/>
                </a:solidFill>
                <a:latin typeface="Symbol"/>
                <a:cs typeface="Symbol"/>
              </a:rPr>
              <a:t>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相对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于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直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接短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语</a:t>
            </a:r>
            <a:r>
              <a:rPr dirty="0" sz="3200" spc="-85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365753" y="1814322"/>
            <a:ext cx="620395" cy="868680"/>
          </a:xfrm>
          <a:custGeom>
            <a:avLst/>
            <a:gdLst/>
            <a:ahLst/>
            <a:cxnLst/>
            <a:rect l="l" t="t" r="r" b="b"/>
            <a:pathLst>
              <a:path w="620395" h="868680">
                <a:moveTo>
                  <a:pt x="0" y="434339"/>
                </a:moveTo>
                <a:lnTo>
                  <a:pt x="2415" y="379852"/>
                </a:lnTo>
                <a:lnTo>
                  <a:pt x="9469" y="327386"/>
                </a:lnTo>
                <a:lnTo>
                  <a:pt x="20870" y="277347"/>
                </a:lnTo>
                <a:lnTo>
                  <a:pt x="36329" y="230144"/>
                </a:lnTo>
                <a:lnTo>
                  <a:pt x="55554" y="186181"/>
                </a:lnTo>
                <a:lnTo>
                  <a:pt x="78256" y="145868"/>
                </a:lnTo>
                <a:lnTo>
                  <a:pt x="104145" y="109609"/>
                </a:lnTo>
                <a:lnTo>
                  <a:pt x="132929" y="77812"/>
                </a:lnTo>
                <a:lnTo>
                  <a:pt x="164320" y="50885"/>
                </a:lnTo>
                <a:lnTo>
                  <a:pt x="198026" y="29233"/>
                </a:lnTo>
                <a:lnTo>
                  <a:pt x="233757" y="13263"/>
                </a:lnTo>
                <a:lnTo>
                  <a:pt x="271223" y="3383"/>
                </a:lnTo>
                <a:lnTo>
                  <a:pt x="310134" y="0"/>
                </a:lnTo>
                <a:lnTo>
                  <a:pt x="349044" y="3383"/>
                </a:lnTo>
                <a:lnTo>
                  <a:pt x="386510" y="13263"/>
                </a:lnTo>
                <a:lnTo>
                  <a:pt x="422241" y="29233"/>
                </a:lnTo>
                <a:lnTo>
                  <a:pt x="455947" y="50885"/>
                </a:lnTo>
                <a:lnTo>
                  <a:pt x="487338" y="77812"/>
                </a:lnTo>
                <a:lnTo>
                  <a:pt x="516122" y="109609"/>
                </a:lnTo>
                <a:lnTo>
                  <a:pt x="542011" y="145868"/>
                </a:lnTo>
                <a:lnTo>
                  <a:pt x="564713" y="186181"/>
                </a:lnTo>
                <a:lnTo>
                  <a:pt x="583938" y="230144"/>
                </a:lnTo>
                <a:lnTo>
                  <a:pt x="599397" y="277347"/>
                </a:lnTo>
                <a:lnTo>
                  <a:pt x="610798" y="327386"/>
                </a:lnTo>
                <a:lnTo>
                  <a:pt x="617852" y="379852"/>
                </a:lnTo>
                <a:lnTo>
                  <a:pt x="620268" y="434339"/>
                </a:lnTo>
                <a:lnTo>
                  <a:pt x="617852" y="488827"/>
                </a:lnTo>
                <a:lnTo>
                  <a:pt x="610798" y="541293"/>
                </a:lnTo>
                <a:lnTo>
                  <a:pt x="599397" y="591332"/>
                </a:lnTo>
                <a:lnTo>
                  <a:pt x="583938" y="638535"/>
                </a:lnTo>
                <a:lnTo>
                  <a:pt x="564713" y="682498"/>
                </a:lnTo>
                <a:lnTo>
                  <a:pt x="542011" y="722811"/>
                </a:lnTo>
                <a:lnTo>
                  <a:pt x="516122" y="759070"/>
                </a:lnTo>
                <a:lnTo>
                  <a:pt x="487338" y="790867"/>
                </a:lnTo>
                <a:lnTo>
                  <a:pt x="455947" y="817794"/>
                </a:lnTo>
                <a:lnTo>
                  <a:pt x="422241" y="839446"/>
                </a:lnTo>
                <a:lnTo>
                  <a:pt x="386510" y="855416"/>
                </a:lnTo>
                <a:lnTo>
                  <a:pt x="349044" y="865296"/>
                </a:lnTo>
                <a:lnTo>
                  <a:pt x="310134" y="868679"/>
                </a:lnTo>
                <a:lnTo>
                  <a:pt x="271223" y="865296"/>
                </a:lnTo>
                <a:lnTo>
                  <a:pt x="233757" y="855416"/>
                </a:lnTo>
                <a:lnTo>
                  <a:pt x="198026" y="839446"/>
                </a:lnTo>
                <a:lnTo>
                  <a:pt x="164320" y="817794"/>
                </a:lnTo>
                <a:lnTo>
                  <a:pt x="132929" y="790867"/>
                </a:lnTo>
                <a:lnTo>
                  <a:pt x="104145" y="759070"/>
                </a:lnTo>
                <a:lnTo>
                  <a:pt x="78256" y="722811"/>
                </a:lnTo>
                <a:lnTo>
                  <a:pt x="55554" y="682498"/>
                </a:lnTo>
                <a:lnTo>
                  <a:pt x="36329" y="638535"/>
                </a:lnTo>
                <a:lnTo>
                  <a:pt x="20870" y="591332"/>
                </a:lnTo>
                <a:lnTo>
                  <a:pt x="9469" y="541293"/>
                </a:lnTo>
                <a:lnTo>
                  <a:pt x="2415" y="488827"/>
                </a:lnTo>
                <a:lnTo>
                  <a:pt x="0" y="434339"/>
                </a:lnTo>
                <a:close/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380994" y="4793741"/>
            <a:ext cx="452755" cy="866140"/>
          </a:xfrm>
          <a:custGeom>
            <a:avLst/>
            <a:gdLst/>
            <a:ahLst/>
            <a:cxnLst/>
            <a:rect l="l" t="t" r="r" b="b"/>
            <a:pathLst>
              <a:path w="452754" h="866139">
                <a:moveTo>
                  <a:pt x="0" y="432815"/>
                </a:moveTo>
                <a:lnTo>
                  <a:pt x="2454" y="368862"/>
                </a:lnTo>
                <a:lnTo>
                  <a:pt x="9583" y="307821"/>
                </a:lnTo>
                <a:lnTo>
                  <a:pt x="21037" y="250361"/>
                </a:lnTo>
                <a:lnTo>
                  <a:pt x="36466" y="197153"/>
                </a:lnTo>
                <a:lnTo>
                  <a:pt x="55518" y="148866"/>
                </a:lnTo>
                <a:lnTo>
                  <a:pt x="77844" y="106170"/>
                </a:lnTo>
                <a:lnTo>
                  <a:pt x="103093" y="69735"/>
                </a:lnTo>
                <a:lnTo>
                  <a:pt x="130915" y="40230"/>
                </a:lnTo>
                <a:lnTo>
                  <a:pt x="192875" y="4693"/>
                </a:lnTo>
                <a:lnTo>
                  <a:pt x="226313" y="0"/>
                </a:lnTo>
                <a:lnTo>
                  <a:pt x="259752" y="4693"/>
                </a:lnTo>
                <a:lnTo>
                  <a:pt x="321712" y="40230"/>
                </a:lnTo>
                <a:lnTo>
                  <a:pt x="349534" y="69735"/>
                </a:lnTo>
                <a:lnTo>
                  <a:pt x="374783" y="106170"/>
                </a:lnTo>
                <a:lnTo>
                  <a:pt x="397109" y="148866"/>
                </a:lnTo>
                <a:lnTo>
                  <a:pt x="416161" y="197153"/>
                </a:lnTo>
                <a:lnTo>
                  <a:pt x="431590" y="250361"/>
                </a:lnTo>
                <a:lnTo>
                  <a:pt x="443044" y="307821"/>
                </a:lnTo>
                <a:lnTo>
                  <a:pt x="450173" y="368862"/>
                </a:lnTo>
                <a:lnTo>
                  <a:pt x="452627" y="432815"/>
                </a:lnTo>
                <a:lnTo>
                  <a:pt x="450173" y="496769"/>
                </a:lnTo>
                <a:lnTo>
                  <a:pt x="443044" y="557810"/>
                </a:lnTo>
                <a:lnTo>
                  <a:pt x="431590" y="615270"/>
                </a:lnTo>
                <a:lnTo>
                  <a:pt x="416161" y="668478"/>
                </a:lnTo>
                <a:lnTo>
                  <a:pt x="397109" y="716765"/>
                </a:lnTo>
                <a:lnTo>
                  <a:pt x="374783" y="759461"/>
                </a:lnTo>
                <a:lnTo>
                  <a:pt x="349534" y="795896"/>
                </a:lnTo>
                <a:lnTo>
                  <a:pt x="321712" y="825401"/>
                </a:lnTo>
                <a:lnTo>
                  <a:pt x="259752" y="860938"/>
                </a:lnTo>
                <a:lnTo>
                  <a:pt x="226313" y="865631"/>
                </a:lnTo>
                <a:lnTo>
                  <a:pt x="192875" y="860938"/>
                </a:lnTo>
                <a:lnTo>
                  <a:pt x="130915" y="825401"/>
                </a:lnTo>
                <a:lnTo>
                  <a:pt x="103093" y="795896"/>
                </a:lnTo>
                <a:lnTo>
                  <a:pt x="77844" y="759461"/>
                </a:lnTo>
                <a:lnTo>
                  <a:pt x="55518" y="716765"/>
                </a:lnTo>
                <a:lnTo>
                  <a:pt x="36466" y="668478"/>
                </a:lnTo>
                <a:lnTo>
                  <a:pt x="21037" y="615270"/>
                </a:lnTo>
                <a:lnTo>
                  <a:pt x="9583" y="557810"/>
                </a:lnTo>
                <a:lnTo>
                  <a:pt x="2454" y="496769"/>
                </a:lnTo>
                <a:lnTo>
                  <a:pt x="0" y="432815"/>
                </a:lnTo>
                <a:close/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354960" y="26923"/>
            <a:ext cx="16306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464811" y="26923"/>
            <a:ext cx="232537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移进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Arial"/>
                <a:cs typeface="Arial"/>
              </a:rPr>
              <a:t>—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归约分析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7042" y="549656"/>
            <a:ext cx="1759585" cy="561340"/>
          </a:xfrm>
          <a:prstGeom prst="rect">
            <a:avLst/>
          </a:prstGeom>
        </p:spPr>
        <p:txBody>
          <a:bodyPr wrap="square" lIns="0" tIns="52705" rIns="0" bIns="0" rtlCol="0" vert="horz">
            <a:spAutoFit/>
          </a:bodyPr>
          <a:lstStyle/>
          <a:p>
            <a:pPr marL="419100" indent="-407034">
              <a:lnSpc>
                <a:spcPct val="100000"/>
              </a:lnSpc>
              <a:spcBef>
                <a:spcPts val="415"/>
              </a:spcBef>
              <a:buClr>
                <a:srgbClr val="99FF99"/>
              </a:buClr>
              <a:buSzPct val="109375"/>
              <a:buFont typeface="Wingdings"/>
              <a:buChar char=""/>
              <a:tabLst>
                <a:tab pos="419100" algn="l"/>
                <a:tab pos="419734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定义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5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.3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58617" y="589280"/>
            <a:ext cx="165862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15" b="1">
                <a:solidFill>
                  <a:srgbClr val="FFFF00"/>
                </a:solidFill>
                <a:latin typeface="宋体"/>
                <a:cs typeface="宋体"/>
              </a:rPr>
              <a:t>(</a:t>
            </a:r>
            <a:r>
              <a:rPr dirty="0" sz="3200" spc="-3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句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柄</a:t>
            </a:r>
            <a:r>
              <a:rPr dirty="0" sz="3200" spc="-5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200" spc="-15" b="1">
                <a:solidFill>
                  <a:srgbClr val="FFFF00"/>
                </a:solidFill>
                <a:latin typeface="宋体"/>
                <a:cs typeface="宋体"/>
              </a:rPr>
              <a:t>)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38912" y="1711451"/>
            <a:ext cx="8324215" cy="5066030"/>
          </a:xfrm>
          <a:custGeom>
            <a:avLst/>
            <a:gdLst/>
            <a:ahLst/>
            <a:cxnLst/>
            <a:rect l="l" t="t" r="r" b="b"/>
            <a:pathLst>
              <a:path w="8324215" h="5066030">
                <a:moveTo>
                  <a:pt x="0" y="5065776"/>
                </a:moveTo>
                <a:lnTo>
                  <a:pt x="8324088" y="5065776"/>
                </a:lnTo>
                <a:lnTo>
                  <a:pt x="8324088" y="0"/>
                </a:lnTo>
                <a:lnTo>
                  <a:pt x="0" y="0"/>
                </a:lnTo>
                <a:lnTo>
                  <a:pt x="0" y="5065776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17042" y="1222958"/>
            <a:ext cx="7807325" cy="54660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824865">
              <a:lnSpc>
                <a:spcPts val="3435"/>
              </a:lnSpc>
              <a:spcBef>
                <a:spcPts val="105"/>
              </a:spcBef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一个句型的最左直接短语称为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句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柄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  <a:p>
            <a:pPr marL="12700">
              <a:lnSpc>
                <a:spcPts val="4395"/>
              </a:lnSpc>
            </a:pPr>
            <a:r>
              <a:rPr dirty="0" sz="4000" spc="-5">
                <a:solidFill>
                  <a:srgbClr val="FFCC00"/>
                </a:solidFill>
                <a:latin typeface="Wingdings"/>
                <a:cs typeface="Wingdings"/>
              </a:rPr>
              <a:t></a:t>
            </a:r>
            <a:r>
              <a:rPr dirty="0" sz="4000" spc="-204">
                <a:solidFill>
                  <a:srgbClr val="FFCC00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FF0000"/>
                </a:solidFill>
                <a:latin typeface="宋体"/>
                <a:cs typeface="宋体"/>
              </a:rPr>
              <a:t>注意：</a:t>
            </a:r>
            <a:endParaRPr sz="3200">
              <a:latin typeface="宋体"/>
              <a:cs typeface="宋体"/>
            </a:endParaRPr>
          </a:p>
          <a:p>
            <a:pPr marL="114300">
              <a:lnSpc>
                <a:spcPct val="100000"/>
              </a:lnSpc>
              <a:spcBef>
                <a:spcPts val="1200"/>
              </a:spcBef>
            </a:pPr>
            <a:r>
              <a:rPr dirty="0" sz="3200" spc="5" b="1">
                <a:latin typeface="Times New Roman"/>
                <a:cs typeface="Times New Roman"/>
              </a:rPr>
              <a:t>*</a:t>
            </a:r>
            <a:r>
              <a:rPr dirty="0" sz="3200" b="1">
                <a:latin typeface="宋体"/>
                <a:cs typeface="宋体"/>
              </a:rPr>
              <a:t>直接短语一定是短</a:t>
            </a:r>
            <a:r>
              <a:rPr dirty="0" sz="3200" spc="-15" b="1">
                <a:latin typeface="宋体"/>
                <a:cs typeface="宋体"/>
              </a:rPr>
              <a:t>语</a:t>
            </a:r>
            <a:r>
              <a:rPr dirty="0" sz="3200" spc="-10" b="1">
                <a:latin typeface="宋体"/>
                <a:cs typeface="宋体"/>
              </a:rPr>
              <a:t>；</a:t>
            </a:r>
            <a:endParaRPr sz="3200">
              <a:latin typeface="宋体"/>
              <a:cs typeface="宋体"/>
            </a:endParaRPr>
          </a:p>
          <a:p>
            <a:pPr marL="114300">
              <a:lnSpc>
                <a:spcPct val="100000"/>
              </a:lnSpc>
              <a:spcBef>
                <a:spcPts val="1150"/>
              </a:spcBef>
            </a:pPr>
            <a:r>
              <a:rPr dirty="0" sz="3200" spc="5" b="1">
                <a:latin typeface="Times New Roman"/>
                <a:cs typeface="Times New Roman"/>
              </a:rPr>
              <a:t>*</a:t>
            </a:r>
            <a:r>
              <a:rPr dirty="0" sz="3200" b="1">
                <a:latin typeface="宋体"/>
                <a:cs typeface="宋体"/>
              </a:rPr>
              <a:t>句柄一定是直接短</a:t>
            </a:r>
            <a:r>
              <a:rPr dirty="0" sz="3200" spc="-15" b="1">
                <a:latin typeface="宋体"/>
                <a:cs typeface="宋体"/>
              </a:rPr>
              <a:t>语</a:t>
            </a:r>
            <a:r>
              <a:rPr dirty="0" sz="3200" b="1">
                <a:latin typeface="宋体"/>
                <a:cs typeface="宋体"/>
              </a:rPr>
              <a:t>且具有</a:t>
            </a:r>
            <a:r>
              <a:rPr dirty="0" sz="3200" spc="-15" b="1">
                <a:latin typeface="宋体"/>
                <a:cs typeface="宋体"/>
              </a:rPr>
              <a:t>最</a:t>
            </a:r>
            <a:r>
              <a:rPr dirty="0" sz="3200" b="1">
                <a:latin typeface="宋体"/>
                <a:cs typeface="宋体"/>
              </a:rPr>
              <a:t>左性；</a:t>
            </a:r>
            <a:endParaRPr sz="3200">
              <a:latin typeface="宋体"/>
              <a:cs typeface="宋体"/>
            </a:endParaRPr>
          </a:p>
          <a:p>
            <a:pPr marL="215265" marR="113030" indent="-100965">
              <a:lnSpc>
                <a:spcPct val="130000"/>
              </a:lnSpc>
              <a:spcBef>
                <a:spcPts val="5"/>
              </a:spcBef>
            </a:pPr>
            <a:r>
              <a:rPr dirty="0" sz="3200" spc="5" b="1">
                <a:latin typeface="Times New Roman"/>
                <a:cs typeface="Times New Roman"/>
              </a:rPr>
              <a:t>*</a:t>
            </a:r>
            <a:r>
              <a:rPr dirty="0" sz="3200" b="1">
                <a:latin typeface="宋体"/>
                <a:cs typeface="宋体"/>
              </a:rPr>
              <a:t>一个短语对应语法</a:t>
            </a:r>
            <a:r>
              <a:rPr dirty="0" sz="3200" spc="-15" b="1">
                <a:latin typeface="宋体"/>
                <a:cs typeface="宋体"/>
              </a:rPr>
              <a:t>分</a:t>
            </a:r>
            <a:r>
              <a:rPr dirty="0" sz="3200" b="1">
                <a:latin typeface="宋体"/>
                <a:cs typeface="宋体"/>
              </a:rPr>
              <a:t>析树的</a:t>
            </a:r>
            <a:r>
              <a:rPr dirty="0" sz="3200" spc="-15" b="1">
                <a:latin typeface="宋体"/>
                <a:cs typeface="宋体"/>
              </a:rPr>
              <a:t>一</a:t>
            </a:r>
            <a:r>
              <a:rPr dirty="0" sz="3200" b="1">
                <a:latin typeface="宋体"/>
                <a:cs typeface="宋体"/>
              </a:rPr>
              <a:t>个层</a:t>
            </a:r>
            <a:r>
              <a:rPr dirty="0" sz="3200" spc="-5" b="1">
                <a:latin typeface="宋体"/>
                <a:cs typeface="宋体"/>
              </a:rPr>
              <a:t>数</a:t>
            </a:r>
            <a:r>
              <a:rPr dirty="0" sz="3200" spc="5" b="1">
                <a:latin typeface="Times New Roman"/>
                <a:cs typeface="Times New Roman"/>
              </a:rPr>
              <a:t>≥2</a:t>
            </a:r>
            <a:r>
              <a:rPr dirty="0" sz="3200" spc="-10" b="1">
                <a:latin typeface="宋体"/>
                <a:cs typeface="宋体"/>
              </a:rPr>
              <a:t>的 </a:t>
            </a:r>
            <a:r>
              <a:rPr dirty="0" sz="3200" b="1">
                <a:latin typeface="宋体"/>
                <a:cs typeface="宋体"/>
              </a:rPr>
              <a:t>子树；</a:t>
            </a:r>
            <a:endParaRPr sz="3200">
              <a:latin typeface="宋体"/>
              <a:cs typeface="宋体"/>
            </a:endParaRPr>
          </a:p>
          <a:p>
            <a:pPr marL="114300">
              <a:lnSpc>
                <a:spcPct val="100000"/>
              </a:lnSpc>
              <a:spcBef>
                <a:spcPts val="1155"/>
              </a:spcBef>
            </a:pPr>
            <a:r>
              <a:rPr dirty="0" sz="3200" spc="5" b="1">
                <a:latin typeface="Times New Roman"/>
                <a:cs typeface="Times New Roman"/>
              </a:rPr>
              <a:t>*</a:t>
            </a:r>
            <a:r>
              <a:rPr dirty="0" sz="3200" b="1">
                <a:latin typeface="宋体"/>
                <a:cs typeface="宋体"/>
              </a:rPr>
              <a:t>句子的句柄是语法</a:t>
            </a:r>
            <a:r>
              <a:rPr dirty="0" sz="3200" spc="-15" b="1">
                <a:latin typeface="宋体"/>
                <a:cs typeface="宋体"/>
              </a:rPr>
              <a:t>分</a:t>
            </a:r>
            <a:r>
              <a:rPr dirty="0" sz="3200" b="1">
                <a:latin typeface="宋体"/>
                <a:cs typeface="宋体"/>
              </a:rPr>
              <a:t>析树中</a:t>
            </a:r>
            <a:r>
              <a:rPr dirty="0" sz="3200" spc="-15" b="1">
                <a:latin typeface="宋体"/>
                <a:cs typeface="宋体"/>
              </a:rPr>
              <a:t>最</a:t>
            </a:r>
            <a:r>
              <a:rPr dirty="0" sz="3200" b="1">
                <a:latin typeface="宋体"/>
                <a:cs typeface="宋体"/>
              </a:rPr>
              <a:t>左边且</a:t>
            </a:r>
            <a:endParaRPr sz="3200">
              <a:latin typeface="宋体"/>
              <a:cs typeface="宋体"/>
            </a:endParaRPr>
          </a:p>
          <a:p>
            <a:pPr marL="12700" marR="5080">
              <a:lnSpc>
                <a:spcPts val="4990"/>
              </a:lnSpc>
              <a:spcBef>
                <a:spcPts val="355"/>
              </a:spcBef>
            </a:pPr>
            <a:r>
              <a:rPr dirty="0" sz="3200" b="1">
                <a:latin typeface="宋体"/>
                <a:cs typeface="宋体"/>
              </a:rPr>
              <a:t>层数</a:t>
            </a:r>
            <a:r>
              <a:rPr dirty="0" sz="3200" spc="-5" b="1">
                <a:latin typeface="Times New Roman"/>
                <a:cs typeface="Times New Roman"/>
              </a:rPr>
              <a:t>=</a:t>
            </a:r>
            <a:r>
              <a:rPr dirty="0" sz="3200" spc="5" b="1">
                <a:latin typeface="Times New Roman"/>
                <a:cs typeface="Times New Roman"/>
              </a:rPr>
              <a:t>2</a:t>
            </a:r>
            <a:r>
              <a:rPr dirty="0" sz="3200" spc="5" b="1">
                <a:latin typeface="宋体"/>
                <a:cs typeface="宋体"/>
              </a:rPr>
              <a:t>的</a:t>
            </a:r>
            <a:r>
              <a:rPr dirty="0" sz="3200" b="1">
                <a:latin typeface="宋体"/>
                <a:cs typeface="宋体"/>
              </a:rPr>
              <a:t>子树对应的叶结</a:t>
            </a:r>
            <a:r>
              <a:rPr dirty="0" sz="3200" spc="-15" b="1">
                <a:latin typeface="宋体"/>
                <a:cs typeface="宋体"/>
              </a:rPr>
              <a:t>点</a:t>
            </a:r>
            <a:r>
              <a:rPr dirty="0" sz="3200" spc="5" b="1">
                <a:latin typeface="宋体"/>
                <a:cs typeface="宋体"/>
              </a:rPr>
              <a:t>或</a:t>
            </a:r>
            <a:r>
              <a:rPr dirty="0" sz="3200" spc="-5" b="1">
                <a:latin typeface="宋体"/>
                <a:cs typeface="宋体"/>
              </a:rPr>
              <a:t>在</a:t>
            </a:r>
            <a:r>
              <a:rPr dirty="0" sz="3200" spc="-10" b="1">
                <a:latin typeface="宋体"/>
                <a:cs typeface="宋体"/>
              </a:rPr>
              <a:t>句</a:t>
            </a:r>
            <a:r>
              <a:rPr dirty="0" sz="3200" spc="-5" b="1">
                <a:latin typeface="宋体"/>
                <a:cs typeface="宋体"/>
              </a:rPr>
              <a:t>子的</a:t>
            </a:r>
            <a:r>
              <a:rPr dirty="0" sz="3200" spc="-10" b="1">
                <a:latin typeface="宋体"/>
                <a:cs typeface="宋体"/>
              </a:rPr>
              <a:t>规范 </a:t>
            </a:r>
            <a:r>
              <a:rPr dirty="0" sz="3200" b="1">
                <a:latin typeface="宋体"/>
                <a:cs typeface="宋体"/>
              </a:rPr>
              <a:t>推导序列中，最后使用的产</a:t>
            </a:r>
            <a:r>
              <a:rPr dirty="0" sz="3200" spc="-15" b="1">
                <a:latin typeface="宋体"/>
                <a:cs typeface="宋体"/>
              </a:rPr>
              <a:t>生</a:t>
            </a:r>
            <a:r>
              <a:rPr dirty="0" sz="3200" b="1">
                <a:latin typeface="宋体"/>
                <a:cs typeface="宋体"/>
              </a:rPr>
              <a:t>式的</a:t>
            </a:r>
            <a:r>
              <a:rPr dirty="0" sz="3200" spc="-15" b="1">
                <a:latin typeface="宋体"/>
                <a:cs typeface="宋体"/>
              </a:rPr>
              <a:t>右</a:t>
            </a:r>
            <a:r>
              <a:rPr dirty="0" sz="3200" b="1">
                <a:latin typeface="宋体"/>
                <a:cs typeface="宋体"/>
              </a:rPr>
              <a:t>部。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354960" y="26923"/>
            <a:ext cx="16306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464811" y="26923"/>
            <a:ext cx="232537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移进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Arial"/>
                <a:cs typeface="Arial"/>
              </a:rPr>
              <a:t>—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归约分析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2140" y="1139444"/>
            <a:ext cx="4866640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32840" algn="l"/>
              </a:tabLst>
            </a:pPr>
            <a:r>
              <a:rPr dirty="0" sz="3200">
                <a:solidFill>
                  <a:srgbClr val="FFFF00"/>
                </a:solidFill>
              </a:rPr>
              <a:t>例</a:t>
            </a:r>
            <a:r>
              <a:rPr dirty="0" sz="3200" spc="5">
                <a:solidFill>
                  <a:srgbClr val="FFFF00"/>
                </a:solidFill>
                <a:latin typeface="Times New Roman"/>
                <a:cs typeface="Times New Roman"/>
              </a:rPr>
              <a:t>5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.2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3200">
                <a:solidFill>
                  <a:srgbClr val="FFFF00"/>
                </a:solidFill>
              </a:rPr>
              <a:t>设有文</a:t>
            </a:r>
            <a:r>
              <a:rPr dirty="0" sz="3200" spc="5">
                <a:solidFill>
                  <a:srgbClr val="FFFF00"/>
                </a:solidFill>
              </a:rPr>
              <a:t>法</a:t>
            </a:r>
            <a:r>
              <a:rPr dirty="0" sz="3200" i="1">
                <a:solidFill>
                  <a:srgbClr val="FFFF00"/>
                </a:solidFill>
                <a:latin typeface="Times New Roman"/>
                <a:cs typeface="Times New Roman"/>
              </a:rPr>
              <a:t>G</a:t>
            </a:r>
            <a:r>
              <a:rPr dirty="0" sz="3200">
                <a:solidFill>
                  <a:srgbClr val="FFFF00"/>
                </a:solidFill>
              </a:rPr>
              <a:t>和输入串</a:t>
            </a:r>
            <a:r>
              <a:rPr dirty="0" sz="3200" i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67536" y="1747773"/>
            <a:ext cx="637413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90269" algn="l"/>
                <a:tab pos="2827655" algn="l"/>
                <a:tab pos="4157979" algn="l"/>
                <a:tab pos="5534660" algn="l"/>
              </a:tabLst>
            </a:pPr>
            <a:r>
              <a:rPr dirty="0" sz="3000" b="1" i="1">
                <a:solidFill>
                  <a:srgbClr val="99FF99"/>
                </a:solidFill>
                <a:latin typeface="Times New Roman"/>
                <a:cs typeface="Times New Roman"/>
              </a:rPr>
              <a:t>G</a:t>
            </a:r>
            <a:r>
              <a:rPr dirty="0" sz="3000" b="1">
                <a:solidFill>
                  <a:srgbClr val="99FF99"/>
                </a:solidFill>
                <a:latin typeface="Times New Roman"/>
                <a:cs typeface="Times New Roman"/>
              </a:rPr>
              <a:t>:	</a:t>
            </a:r>
            <a:r>
              <a:rPr dirty="0" sz="30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000" b="1" i="1">
                <a:solidFill>
                  <a:srgbClr val="FFFFFF"/>
                </a:solidFill>
                <a:latin typeface="Times New Roman"/>
                <a:cs typeface="Times New Roman"/>
              </a:rPr>
              <a:t>aAcB	A</a:t>
            </a: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000" b="1" i="1">
                <a:solidFill>
                  <a:srgbClr val="FFFFFF"/>
                </a:solidFill>
                <a:latin typeface="Times New Roman"/>
                <a:cs typeface="Times New Roman"/>
              </a:rPr>
              <a:t>P	P</a:t>
            </a: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000" b="1" i="1">
                <a:solidFill>
                  <a:srgbClr val="FFFFFF"/>
                </a:solidFill>
                <a:latin typeface="Times New Roman"/>
                <a:cs typeface="Times New Roman"/>
              </a:rPr>
              <a:t>ab	</a:t>
            </a:r>
            <a:r>
              <a:rPr dirty="0" sz="3000" spc="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000" b="1" i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50057" y="3864102"/>
            <a:ext cx="5963920" cy="1571625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4000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15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是句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型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aPcB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相对于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的短语，也是相对</a:t>
            </a:r>
            <a:endParaRPr sz="2400">
              <a:latin typeface="宋体"/>
              <a:cs typeface="宋体"/>
            </a:endParaRPr>
          </a:p>
          <a:p>
            <a:pPr marL="90805">
              <a:lnSpc>
                <a:spcPct val="100000"/>
              </a:lnSpc>
              <a:spcBef>
                <a:spcPts val="1445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于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的直接短语</a:t>
            </a:r>
            <a:r>
              <a:rPr dirty="0" sz="2400" spc="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也是句型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aPcB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的句柄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  <a:p>
            <a:pPr marL="90805">
              <a:lnSpc>
                <a:spcPct val="100000"/>
              </a:lnSpc>
              <a:spcBef>
                <a:spcPts val="144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aPcB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是句型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aPcB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相对于</a:t>
            </a:r>
            <a:r>
              <a:rPr dirty="0" sz="2400" spc="-1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的短语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9740" y="2998088"/>
            <a:ext cx="4596130" cy="266446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836294" marR="5080" indent="-824230">
              <a:lnSpc>
                <a:spcPts val="3470"/>
              </a:lnSpc>
              <a:spcBef>
                <a:spcPts val="120"/>
              </a:spcBef>
              <a:tabLst>
                <a:tab pos="1797050" algn="l"/>
              </a:tabLst>
            </a:pPr>
            <a:r>
              <a:rPr dirty="0" u="heavy" sz="2800" spc="-5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存在推</a:t>
            </a:r>
            <a:r>
              <a:rPr dirty="0" u="heavy" sz="2800" spc="-15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导</a:t>
            </a:r>
            <a:r>
              <a:rPr dirty="0" sz="2800" spc="-15" b="1">
                <a:solidFill>
                  <a:srgbClr val="66FFFF"/>
                </a:solidFill>
                <a:latin typeface="宋体"/>
                <a:cs typeface="宋体"/>
              </a:rPr>
              <a:t>	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=&gt; </a:t>
            </a:r>
            <a:r>
              <a:rPr dirty="0" u="heavy" sz="2800" spc="-5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a</a:t>
            </a:r>
            <a:r>
              <a:rPr dirty="0" u="heavy" sz="2800" spc="-5" b="1" i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A</a:t>
            </a:r>
            <a:r>
              <a:rPr dirty="0" u="heavy" sz="2800" spc="-5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cB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=&gt;</a:t>
            </a:r>
            <a:r>
              <a:rPr dirty="0" sz="2800" spc="-6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u="heavy" sz="2800" spc="-5" b="1" i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P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cB 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sz="2800">
              <a:latin typeface="Times New Roman"/>
              <a:cs typeface="Times New Roman"/>
            </a:endParaRPr>
          </a:p>
          <a:p>
            <a:pPr marL="512445" marR="2957195" indent="-457200">
              <a:lnSpc>
                <a:spcPts val="7050"/>
              </a:lnSpc>
              <a:spcBef>
                <a:spcPts val="565"/>
              </a:spcBef>
              <a:tabLst>
                <a:tab pos="487045" algn="l"/>
                <a:tab pos="970280" algn="l"/>
                <a:tab pos="1393190" algn="l"/>
              </a:tabLst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81277" y="4834890"/>
            <a:ext cx="0" cy="460375"/>
          </a:xfrm>
          <a:custGeom>
            <a:avLst/>
            <a:gdLst/>
            <a:ahLst/>
            <a:cxnLst/>
            <a:rect l="l" t="t" r="r" b="b"/>
            <a:pathLst>
              <a:path w="0" h="460375">
                <a:moveTo>
                  <a:pt x="0" y="0"/>
                </a:moveTo>
                <a:lnTo>
                  <a:pt x="0" y="460248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91133" y="3903726"/>
            <a:ext cx="515620" cy="439420"/>
          </a:xfrm>
          <a:custGeom>
            <a:avLst/>
            <a:gdLst/>
            <a:ahLst/>
            <a:cxnLst/>
            <a:rect l="l" t="t" r="r" b="b"/>
            <a:pathLst>
              <a:path w="515619" h="439420">
                <a:moveTo>
                  <a:pt x="515112" y="0"/>
                </a:moveTo>
                <a:lnTo>
                  <a:pt x="0" y="438912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062989" y="3976878"/>
            <a:ext cx="304800" cy="365760"/>
          </a:xfrm>
          <a:custGeom>
            <a:avLst/>
            <a:gdLst/>
            <a:ahLst/>
            <a:cxnLst/>
            <a:rect l="l" t="t" r="r" b="b"/>
            <a:pathLst>
              <a:path w="304800" h="365760">
                <a:moveTo>
                  <a:pt x="304800" y="0"/>
                </a:moveTo>
                <a:lnTo>
                  <a:pt x="0" y="36576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367789" y="3976878"/>
            <a:ext cx="238125" cy="365760"/>
          </a:xfrm>
          <a:custGeom>
            <a:avLst/>
            <a:gdLst/>
            <a:ahLst/>
            <a:cxnLst/>
            <a:rect l="l" t="t" r="r" b="b"/>
            <a:pathLst>
              <a:path w="238125" h="365760">
                <a:moveTo>
                  <a:pt x="0" y="0"/>
                </a:moveTo>
                <a:lnTo>
                  <a:pt x="237744" y="36576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605533" y="3903726"/>
            <a:ext cx="372110" cy="381000"/>
          </a:xfrm>
          <a:custGeom>
            <a:avLst/>
            <a:gdLst/>
            <a:ahLst/>
            <a:cxnLst/>
            <a:rect l="l" t="t" r="r" b="b"/>
            <a:pathLst>
              <a:path w="372110" h="381000">
                <a:moveTo>
                  <a:pt x="0" y="0"/>
                </a:moveTo>
                <a:lnTo>
                  <a:pt x="371855" y="38100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2354960" y="26923"/>
            <a:ext cx="16306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464811" y="26923"/>
            <a:ext cx="232537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移进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Arial"/>
                <a:cs typeface="Arial"/>
              </a:rPr>
              <a:t>—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归约分析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2140" y="777062"/>
            <a:ext cx="4866640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32840" algn="l"/>
              </a:tabLst>
            </a:pPr>
            <a:r>
              <a:rPr dirty="0" sz="3200">
                <a:solidFill>
                  <a:srgbClr val="FFFF00"/>
                </a:solidFill>
              </a:rPr>
              <a:t>例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5.2	</a:t>
            </a:r>
            <a:r>
              <a:rPr dirty="0" sz="3200" spc="-5">
                <a:solidFill>
                  <a:srgbClr val="FFFF00"/>
                </a:solidFill>
              </a:rPr>
              <a:t>设有文</a:t>
            </a:r>
            <a:r>
              <a:rPr dirty="0" sz="3200">
                <a:solidFill>
                  <a:srgbClr val="FFFF00"/>
                </a:solidFill>
              </a:rPr>
              <a:t>法</a:t>
            </a:r>
            <a:r>
              <a:rPr dirty="0" sz="3200" i="1">
                <a:solidFill>
                  <a:srgbClr val="FFFF00"/>
                </a:solidFill>
                <a:latin typeface="Times New Roman"/>
                <a:cs typeface="Times New Roman"/>
              </a:rPr>
              <a:t>G</a:t>
            </a:r>
            <a:r>
              <a:rPr dirty="0" sz="3200" spc="-5">
                <a:solidFill>
                  <a:srgbClr val="FFFF00"/>
                </a:solidFill>
              </a:rPr>
              <a:t>和输入</a:t>
            </a:r>
            <a:r>
              <a:rPr dirty="0" sz="3200">
                <a:solidFill>
                  <a:srgbClr val="FFFF00"/>
                </a:solidFill>
              </a:rPr>
              <a:t>串</a:t>
            </a:r>
            <a:r>
              <a:rPr dirty="0" sz="3200" i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7814" y="1381125"/>
            <a:ext cx="6743700" cy="1946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2270">
              <a:lnSpc>
                <a:spcPct val="100000"/>
              </a:lnSpc>
              <a:spcBef>
                <a:spcPts val="100"/>
              </a:spcBef>
              <a:tabLst>
                <a:tab pos="1259840" algn="l"/>
                <a:tab pos="3197225" algn="l"/>
                <a:tab pos="4528185" algn="l"/>
                <a:tab pos="5904230" algn="l"/>
              </a:tabLst>
            </a:pPr>
            <a:r>
              <a:rPr dirty="0" sz="3000" b="1" i="1">
                <a:solidFill>
                  <a:srgbClr val="99FF99"/>
                </a:solidFill>
                <a:latin typeface="Times New Roman"/>
                <a:cs typeface="Times New Roman"/>
              </a:rPr>
              <a:t>G</a:t>
            </a:r>
            <a:r>
              <a:rPr dirty="0" sz="3000" b="1">
                <a:solidFill>
                  <a:srgbClr val="99FF99"/>
                </a:solidFill>
                <a:latin typeface="Times New Roman"/>
                <a:cs typeface="Times New Roman"/>
              </a:rPr>
              <a:t>:	</a:t>
            </a:r>
            <a:r>
              <a:rPr dirty="0" sz="30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000" b="1" i="1">
                <a:solidFill>
                  <a:srgbClr val="FFFFFF"/>
                </a:solidFill>
                <a:latin typeface="Times New Roman"/>
                <a:cs typeface="Times New Roman"/>
              </a:rPr>
              <a:t>aAcB	A</a:t>
            </a: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000" b="1" i="1">
                <a:solidFill>
                  <a:srgbClr val="FFFFFF"/>
                </a:solidFill>
                <a:latin typeface="Times New Roman"/>
                <a:cs typeface="Times New Roman"/>
              </a:rPr>
              <a:t>P	P</a:t>
            </a: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000" b="1" i="1">
                <a:solidFill>
                  <a:srgbClr val="FFFFFF"/>
                </a:solidFill>
                <a:latin typeface="Times New Roman"/>
                <a:cs typeface="Times New Roman"/>
              </a:rPr>
              <a:t>ab	</a:t>
            </a:r>
            <a:r>
              <a:rPr dirty="0" sz="3000" spc="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000" b="1" i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endParaRPr sz="3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950">
              <a:latin typeface="Times New Roman"/>
              <a:cs typeface="Times New Roman"/>
            </a:endParaRPr>
          </a:p>
          <a:p>
            <a:pPr marL="836294" marR="727075" indent="-824230">
              <a:lnSpc>
                <a:spcPct val="103400"/>
              </a:lnSpc>
              <a:tabLst>
                <a:tab pos="1797050" algn="l"/>
              </a:tabLst>
            </a:pPr>
            <a:r>
              <a:rPr dirty="0" u="heavy" sz="2800" spc="-5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存在推</a:t>
            </a:r>
            <a:r>
              <a:rPr dirty="0" u="heavy" sz="2800" spc="-15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导</a:t>
            </a:r>
            <a:r>
              <a:rPr dirty="0" sz="2800" spc="-15" b="1">
                <a:solidFill>
                  <a:srgbClr val="66FFFF"/>
                </a:solidFill>
                <a:latin typeface="宋体"/>
                <a:cs typeface="宋体"/>
              </a:rPr>
              <a:t>	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=&gt; </a:t>
            </a:r>
            <a:r>
              <a:rPr dirty="0" u="heavy" sz="2800" spc="-5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a</a:t>
            </a:r>
            <a:r>
              <a:rPr dirty="0" u="heavy" sz="2800" spc="-5" b="1" i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A</a:t>
            </a:r>
            <a:r>
              <a:rPr dirty="0" u="heavy" sz="2800" spc="-5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cB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=&gt;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u="heavy" sz="2800" spc="-5" b="1" i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P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cB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=&gt;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u="heavy" sz="2800" spc="-5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ab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B 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0791" y="3751834"/>
            <a:ext cx="1600200" cy="2159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43865" algn="l"/>
                <a:tab pos="927100" algn="l"/>
                <a:tab pos="1350010" algn="l"/>
              </a:tabLst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2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6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tabLst>
                <a:tab pos="761365" algn="l"/>
              </a:tabLst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	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29817" y="5177790"/>
            <a:ext cx="304800" cy="364490"/>
          </a:xfrm>
          <a:custGeom>
            <a:avLst/>
            <a:gdLst/>
            <a:ahLst/>
            <a:cxnLst/>
            <a:rect l="l" t="t" r="r" b="b"/>
            <a:pathLst>
              <a:path w="304800" h="364489">
                <a:moveTo>
                  <a:pt x="304800" y="0"/>
                </a:moveTo>
                <a:lnTo>
                  <a:pt x="0" y="364236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134617" y="5177790"/>
            <a:ext cx="285115" cy="307975"/>
          </a:xfrm>
          <a:custGeom>
            <a:avLst/>
            <a:gdLst/>
            <a:ahLst/>
            <a:cxnLst/>
            <a:rect l="l" t="t" r="r" b="b"/>
            <a:pathLst>
              <a:path w="285115" h="307975">
                <a:moveTo>
                  <a:pt x="0" y="0"/>
                </a:moveTo>
                <a:lnTo>
                  <a:pt x="284988" y="307848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219961" y="4271009"/>
            <a:ext cx="0" cy="460375"/>
          </a:xfrm>
          <a:custGeom>
            <a:avLst/>
            <a:gdLst/>
            <a:ahLst/>
            <a:cxnLst/>
            <a:rect l="l" t="t" r="r" b="b"/>
            <a:pathLst>
              <a:path w="0" h="460375">
                <a:moveTo>
                  <a:pt x="0" y="0"/>
                </a:moveTo>
                <a:lnTo>
                  <a:pt x="0" y="460247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29817" y="3341370"/>
            <a:ext cx="513715" cy="437515"/>
          </a:xfrm>
          <a:custGeom>
            <a:avLst/>
            <a:gdLst/>
            <a:ahLst/>
            <a:cxnLst/>
            <a:rect l="l" t="t" r="r" b="b"/>
            <a:pathLst>
              <a:path w="513715" h="437514">
                <a:moveTo>
                  <a:pt x="513588" y="0"/>
                </a:moveTo>
                <a:lnTo>
                  <a:pt x="0" y="437387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201674" y="3414521"/>
            <a:ext cx="304800" cy="364490"/>
          </a:xfrm>
          <a:custGeom>
            <a:avLst/>
            <a:gdLst/>
            <a:ahLst/>
            <a:cxnLst/>
            <a:rect l="l" t="t" r="r" b="b"/>
            <a:pathLst>
              <a:path w="304800" h="364489">
                <a:moveTo>
                  <a:pt x="304800" y="0"/>
                </a:moveTo>
                <a:lnTo>
                  <a:pt x="0" y="364235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506474" y="3414521"/>
            <a:ext cx="238125" cy="364490"/>
          </a:xfrm>
          <a:custGeom>
            <a:avLst/>
            <a:gdLst/>
            <a:ahLst/>
            <a:cxnLst/>
            <a:rect l="l" t="t" r="r" b="b"/>
            <a:pathLst>
              <a:path w="238125" h="364489">
                <a:moveTo>
                  <a:pt x="0" y="0"/>
                </a:moveTo>
                <a:lnTo>
                  <a:pt x="237744" y="364235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744217" y="3341370"/>
            <a:ext cx="372110" cy="381000"/>
          </a:xfrm>
          <a:custGeom>
            <a:avLst/>
            <a:gdLst/>
            <a:ahLst/>
            <a:cxnLst/>
            <a:rect l="l" t="t" r="r" b="b"/>
            <a:pathLst>
              <a:path w="372110" h="381000">
                <a:moveTo>
                  <a:pt x="0" y="0"/>
                </a:moveTo>
                <a:lnTo>
                  <a:pt x="371856" y="380999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2354960" y="26923"/>
            <a:ext cx="443547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2122170" algn="l"/>
                <a:tab pos="263144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移进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Arial"/>
                <a:cs typeface="Arial"/>
              </a:rPr>
              <a:t>—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归约分析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819400" y="3413759"/>
            <a:ext cx="5697220" cy="1569720"/>
          </a:xfrm>
          <a:prstGeom prst="rect">
            <a:avLst/>
          </a:prstGeom>
          <a:ln w="57150">
            <a:solidFill>
              <a:srgbClr val="FFCC00"/>
            </a:solidFill>
          </a:ln>
        </p:spPr>
        <p:txBody>
          <a:bodyPr wrap="square" lIns="0" tIns="4000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15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ab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是句型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aabcB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相对于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的短</a:t>
            </a:r>
            <a:r>
              <a:rPr dirty="0" sz="2400" spc="5" b="1">
                <a:solidFill>
                  <a:srgbClr val="FFFFFF"/>
                </a:solidFill>
                <a:latin typeface="宋体"/>
                <a:cs typeface="宋体"/>
              </a:rPr>
              <a:t>语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；相对于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endParaRPr sz="24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  <a:spcBef>
                <a:spcPts val="1435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的直接短语；且为句型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aabcB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的句柄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  <a:p>
            <a:pPr marL="168275">
              <a:lnSpc>
                <a:spcPct val="100000"/>
              </a:lnSpc>
              <a:spcBef>
                <a:spcPts val="1445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aabcB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是句型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aabcB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相对于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的短语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3242" y="529589"/>
            <a:ext cx="4866640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32205" algn="l"/>
              </a:tabLst>
            </a:pPr>
            <a:r>
              <a:rPr dirty="0" sz="3200">
                <a:solidFill>
                  <a:srgbClr val="FFFF00"/>
                </a:solidFill>
              </a:rPr>
              <a:t>例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5.2	</a:t>
            </a:r>
            <a:r>
              <a:rPr dirty="0" sz="3200">
                <a:solidFill>
                  <a:srgbClr val="FFFF00"/>
                </a:solidFill>
              </a:rPr>
              <a:t>设有文</a:t>
            </a:r>
            <a:r>
              <a:rPr dirty="0" sz="3200" spc="-5">
                <a:solidFill>
                  <a:srgbClr val="FFFF00"/>
                </a:solidFill>
              </a:rPr>
              <a:t>法</a:t>
            </a:r>
            <a:r>
              <a:rPr dirty="0" sz="3200" i="1">
                <a:solidFill>
                  <a:srgbClr val="FFFF00"/>
                </a:solidFill>
                <a:latin typeface="Times New Roman"/>
                <a:cs typeface="Times New Roman"/>
              </a:rPr>
              <a:t>G</a:t>
            </a:r>
            <a:r>
              <a:rPr dirty="0" sz="3200">
                <a:solidFill>
                  <a:srgbClr val="FFFF00"/>
                </a:solidFill>
              </a:rPr>
              <a:t>和输入</a:t>
            </a:r>
            <a:r>
              <a:rPr dirty="0" sz="3200" spc="-5">
                <a:solidFill>
                  <a:srgbClr val="FFFF00"/>
                </a:solidFill>
              </a:rPr>
              <a:t>串</a:t>
            </a:r>
            <a:r>
              <a:rPr dirty="0" sz="3200" i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386328" y="3875532"/>
            <a:ext cx="5237987" cy="26929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386328" y="3794759"/>
            <a:ext cx="5238115" cy="27698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1755" marR="381635">
              <a:lnSpc>
                <a:spcPct val="150100"/>
              </a:lnSpc>
              <a:spcBef>
                <a:spcPts val="100"/>
              </a:spcBef>
            </a:pPr>
            <a:r>
              <a:rPr dirty="0" sz="2400" b="1" i="1">
                <a:latin typeface="Times New Roman"/>
                <a:cs typeface="Times New Roman"/>
              </a:rPr>
              <a:t>d</a:t>
            </a:r>
            <a:r>
              <a:rPr dirty="0" sz="2400" b="1">
                <a:latin typeface="宋体"/>
                <a:cs typeface="宋体"/>
              </a:rPr>
              <a:t>是句子</a:t>
            </a:r>
            <a:r>
              <a:rPr dirty="0" sz="2400" b="1" i="1">
                <a:latin typeface="Times New Roman"/>
                <a:cs typeface="Times New Roman"/>
              </a:rPr>
              <a:t>aabcd</a:t>
            </a:r>
            <a:r>
              <a:rPr dirty="0" sz="2400" b="1">
                <a:latin typeface="宋体"/>
                <a:cs typeface="宋体"/>
              </a:rPr>
              <a:t>相对于</a:t>
            </a:r>
            <a:r>
              <a:rPr dirty="0" sz="2400" spc="-5" b="1" i="1">
                <a:latin typeface="Times New Roman"/>
                <a:cs typeface="Times New Roman"/>
              </a:rPr>
              <a:t>B</a:t>
            </a:r>
            <a:r>
              <a:rPr dirty="0" sz="2400" b="1">
                <a:latin typeface="宋体"/>
                <a:cs typeface="宋体"/>
              </a:rPr>
              <a:t>的短语；相对 </a:t>
            </a:r>
            <a:r>
              <a:rPr dirty="0" sz="2400" b="1">
                <a:latin typeface="宋体"/>
                <a:cs typeface="宋体"/>
              </a:rPr>
              <a:t>于</a:t>
            </a:r>
            <a:r>
              <a:rPr dirty="0" sz="2400" spc="-5" b="1" i="1">
                <a:latin typeface="Times New Roman"/>
                <a:cs typeface="Times New Roman"/>
              </a:rPr>
              <a:t>B</a:t>
            </a:r>
            <a:r>
              <a:rPr dirty="0" sz="2400" b="1">
                <a:latin typeface="宋体"/>
                <a:cs typeface="宋体"/>
              </a:rPr>
              <a:t>的直接短语；</a:t>
            </a:r>
            <a:endParaRPr sz="2400">
              <a:latin typeface="宋体"/>
              <a:cs typeface="宋体"/>
            </a:endParaRPr>
          </a:p>
          <a:p>
            <a:pPr algn="just" marL="71755" marR="535940">
              <a:lnSpc>
                <a:spcPct val="150000"/>
              </a:lnSpc>
            </a:pPr>
            <a:r>
              <a:rPr dirty="0" sz="2400" b="1" i="1">
                <a:latin typeface="Times New Roman"/>
                <a:cs typeface="Times New Roman"/>
              </a:rPr>
              <a:t>a</a:t>
            </a:r>
            <a:r>
              <a:rPr dirty="0" sz="2400" spc="-5" b="1" i="1">
                <a:latin typeface="Times New Roman"/>
                <a:cs typeface="Times New Roman"/>
              </a:rPr>
              <a:t>b</a:t>
            </a:r>
            <a:r>
              <a:rPr dirty="0" sz="2400" b="1">
                <a:latin typeface="宋体"/>
                <a:cs typeface="宋体"/>
              </a:rPr>
              <a:t>是句子</a:t>
            </a:r>
            <a:r>
              <a:rPr dirty="0" sz="2400" b="1" i="1">
                <a:latin typeface="Times New Roman"/>
                <a:cs typeface="Times New Roman"/>
              </a:rPr>
              <a:t>aabc</a:t>
            </a:r>
            <a:r>
              <a:rPr dirty="0" sz="2400" spc="5" b="1" i="1">
                <a:latin typeface="Times New Roman"/>
                <a:cs typeface="Times New Roman"/>
              </a:rPr>
              <a:t>d</a:t>
            </a:r>
            <a:r>
              <a:rPr dirty="0" sz="2400" b="1">
                <a:latin typeface="宋体"/>
                <a:cs typeface="宋体"/>
              </a:rPr>
              <a:t>相对于</a:t>
            </a:r>
            <a:r>
              <a:rPr dirty="0" sz="2400" spc="-5" b="1" i="1">
                <a:latin typeface="Times New Roman"/>
                <a:cs typeface="Times New Roman"/>
              </a:rPr>
              <a:t>A</a:t>
            </a:r>
            <a:r>
              <a:rPr dirty="0" sz="2400" b="1">
                <a:latin typeface="宋体"/>
                <a:cs typeface="宋体"/>
              </a:rPr>
              <a:t>的短语；</a:t>
            </a:r>
            <a:r>
              <a:rPr dirty="0" sz="2400" spc="-10" b="1">
                <a:latin typeface="宋体"/>
                <a:cs typeface="宋体"/>
              </a:rPr>
              <a:t>相 </a:t>
            </a:r>
            <a:r>
              <a:rPr dirty="0" sz="2400" b="1">
                <a:latin typeface="宋体"/>
                <a:cs typeface="宋体"/>
              </a:rPr>
              <a:t>对</a:t>
            </a:r>
            <a:r>
              <a:rPr dirty="0" sz="2400" spc="-5" b="1">
                <a:latin typeface="宋体"/>
                <a:cs typeface="宋体"/>
              </a:rPr>
              <a:t>于</a:t>
            </a:r>
            <a:r>
              <a:rPr dirty="0" sz="2400" spc="-5" b="1" i="1">
                <a:latin typeface="Times New Roman"/>
                <a:cs typeface="Times New Roman"/>
              </a:rPr>
              <a:t>P</a:t>
            </a:r>
            <a:r>
              <a:rPr dirty="0" sz="2400" spc="-5" b="1">
                <a:latin typeface="宋体"/>
                <a:cs typeface="宋体"/>
              </a:rPr>
              <a:t>的直接短语；也是句</a:t>
            </a:r>
            <a:r>
              <a:rPr dirty="0" sz="2400" b="1">
                <a:latin typeface="宋体"/>
                <a:cs typeface="宋体"/>
              </a:rPr>
              <a:t>子</a:t>
            </a:r>
            <a:r>
              <a:rPr dirty="0" sz="2400" b="1" i="1">
                <a:latin typeface="Times New Roman"/>
                <a:cs typeface="Times New Roman"/>
              </a:rPr>
              <a:t>aabcd  </a:t>
            </a:r>
            <a:r>
              <a:rPr dirty="0" sz="2400" b="1">
                <a:latin typeface="宋体"/>
                <a:cs typeface="宋体"/>
              </a:rPr>
              <a:t>的句</a:t>
            </a:r>
            <a:r>
              <a:rPr dirty="0" sz="2400" spc="-5" b="1">
                <a:latin typeface="宋体"/>
                <a:cs typeface="宋体"/>
              </a:rPr>
              <a:t>柄</a:t>
            </a:r>
            <a:r>
              <a:rPr dirty="0" sz="2400" spc="-10" b="1"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2742" y="991108"/>
            <a:ext cx="6918325" cy="2534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86740" marR="17780" indent="-29209">
              <a:lnSpc>
                <a:spcPct val="131100"/>
              </a:lnSpc>
              <a:spcBef>
                <a:spcPts val="95"/>
              </a:spcBef>
              <a:tabLst>
                <a:tab pos="1436370" algn="l"/>
                <a:tab pos="1503045" algn="l"/>
                <a:tab pos="3359785" algn="l"/>
                <a:tab pos="4690110" algn="l"/>
                <a:tab pos="6066790" algn="l"/>
              </a:tabLst>
            </a:pPr>
            <a:r>
              <a:rPr dirty="0" sz="3000" b="1" i="1">
                <a:solidFill>
                  <a:srgbClr val="99FF99"/>
                </a:solidFill>
                <a:latin typeface="Times New Roman"/>
                <a:cs typeface="Times New Roman"/>
              </a:rPr>
              <a:t>G</a:t>
            </a:r>
            <a:r>
              <a:rPr dirty="0" sz="3000" b="1">
                <a:solidFill>
                  <a:srgbClr val="99FF99"/>
                </a:solidFill>
                <a:latin typeface="Times New Roman"/>
                <a:cs typeface="Times New Roman"/>
              </a:rPr>
              <a:t>:	</a:t>
            </a:r>
            <a:r>
              <a:rPr dirty="0" sz="30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000" b="1" i="1">
                <a:solidFill>
                  <a:srgbClr val="FFFFFF"/>
                </a:solidFill>
                <a:latin typeface="Times New Roman"/>
                <a:cs typeface="Times New Roman"/>
              </a:rPr>
              <a:t>aAcB	A</a:t>
            </a: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000" b="1" i="1">
                <a:solidFill>
                  <a:srgbClr val="FFFFFF"/>
                </a:solidFill>
                <a:latin typeface="Times New Roman"/>
                <a:cs typeface="Times New Roman"/>
              </a:rPr>
              <a:t>P	P</a:t>
            </a: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000" b="1" i="1">
                <a:solidFill>
                  <a:srgbClr val="FFFFFF"/>
                </a:solidFill>
                <a:latin typeface="Times New Roman"/>
                <a:cs typeface="Times New Roman"/>
              </a:rPr>
              <a:t>ab	B</a:t>
            </a: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000" b="1" i="1">
                <a:solidFill>
                  <a:srgbClr val="FFFFFF"/>
                </a:solidFill>
                <a:latin typeface="Times New Roman"/>
                <a:cs typeface="Times New Roman"/>
              </a:rPr>
              <a:t>d </a:t>
            </a:r>
            <a:r>
              <a:rPr dirty="0" sz="300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 spc="-10" b="1" i="1">
                <a:solidFill>
                  <a:srgbClr val="99FF99"/>
                </a:solidFill>
                <a:latin typeface="Times New Roman"/>
                <a:cs typeface="Times New Roman"/>
              </a:rPr>
              <a:t>r</a:t>
            </a:r>
            <a:r>
              <a:rPr dirty="0" sz="3000" spc="-10" b="1">
                <a:solidFill>
                  <a:srgbClr val="99FF99"/>
                </a:solidFill>
                <a:latin typeface="宋体"/>
                <a:cs typeface="宋体"/>
              </a:rPr>
              <a:t>:		</a:t>
            </a:r>
            <a:r>
              <a:rPr dirty="0" sz="3000" b="1" i="1">
                <a:solidFill>
                  <a:srgbClr val="FFFFFF"/>
                </a:solidFill>
                <a:latin typeface="Times New Roman"/>
                <a:cs typeface="Times New Roman"/>
              </a:rPr>
              <a:t>aabcd</a:t>
            </a:r>
            <a:endParaRPr sz="3000">
              <a:latin typeface="Times New Roman"/>
              <a:cs typeface="Times New Roman"/>
            </a:endParaRPr>
          </a:p>
          <a:p>
            <a:pPr marL="1212850" marR="608965" indent="-1162685">
              <a:lnSpc>
                <a:spcPct val="120100"/>
              </a:lnSpc>
              <a:spcBef>
                <a:spcPts val="2255"/>
              </a:spcBef>
              <a:tabLst>
                <a:tab pos="2330450" algn="l"/>
                <a:tab pos="2794000" algn="l"/>
              </a:tabLst>
            </a:pPr>
            <a:r>
              <a:rPr dirty="0" u="heavy" sz="2800" spc="-5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对</a:t>
            </a:r>
            <a:r>
              <a:rPr dirty="0" u="heavy" sz="2800" spc="-5" b="1" i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r</a:t>
            </a:r>
            <a:r>
              <a:rPr dirty="0" u="heavy" sz="2800" spc="-5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存在推</a:t>
            </a:r>
            <a:r>
              <a:rPr dirty="0" u="heavy" sz="2800" spc="-15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导</a:t>
            </a:r>
            <a:r>
              <a:rPr dirty="0" sz="2800" spc="-15" b="1">
                <a:solidFill>
                  <a:srgbClr val="66FFFF"/>
                </a:solidFill>
                <a:latin typeface="宋体"/>
                <a:cs typeface="宋体"/>
              </a:rPr>
              <a:t>	</a:t>
            </a: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=&gt; </a:t>
            </a:r>
            <a:r>
              <a:rPr dirty="0" u="heavy" sz="2800" spc="-5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aAc</a:t>
            </a:r>
            <a:r>
              <a:rPr dirty="0" u="heavy" sz="2800" spc="-5" b="1" i="1">
                <a:solidFill>
                  <a:srgbClr val="66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=&gt;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u="heavy" sz="2800" spc="-5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d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=&gt; 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u="heavy" sz="2800" spc="-10" b="1" i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P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cd  </a:t>
            </a:r>
            <a:r>
              <a:rPr dirty="0" baseline="-6944" sz="4200" spc="-7" b="1" i="1">
                <a:solidFill>
                  <a:srgbClr val="FFFFFF"/>
                </a:solidFill>
                <a:latin typeface="Times New Roman"/>
                <a:cs typeface="Times New Roman"/>
              </a:rPr>
              <a:t>S		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=&gt;</a:t>
            </a:r>
            <a:r>
              <a:rPr dirty="0" sz="2800" spc="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u="heavy" sz="2800" b="1" i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ab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d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1842" y="3997833"/>
            <a:ext cx="1863089" cy="1358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R="267335">
              <a:lnSpc>
                <a:spcPct val="100000"/>
              </a:lnSpc>
              <a:spcBef>
                <a:spcPts val="95"/>
              </a:spcBef>
              <a:tabLst>
                <a:tab pos="431165" algn="l"/>
                <a:tab pos="914400" algn="l"/>
                <a:tab pos="1337310" algn="l"/>
              </a:tabLst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250">
              <a:latin typeface="Times New Roman"/>
              <a:cs typeface="Times New Roman"/>
            </a:endParaRPr>
          </a:p>
          <a:p>
            <a:pPr algn="r" marR="207010">
              <a:lnSpc>
                <a:spcPct val="100000"/>
              </a:lnSpc>
              <a:tabLst>
                <a:tab pos="1000125" algn="l"/>
              </a:tabLst>
            </a:pPr>
            <a:r>
              <a:rPr dirty="0" baseline="1984" sz="4200" spc="-7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baseline="1984" sz="4200" spc="-7" b="1" i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0654" y="5791961"/>
            <a:ext cx="1181100" cy="414655"/>
          </a:xfrm>
          <a:prstGeom prst="rect">
            <a:avLst/>
          </a:prstGeom>
          <a:ln w="38100">
            <a:solidFill>
              <a:srgbClr val="FF99CC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211454">
              <a:lnSpc>
                <a:spcPts val="2770"/>
              </a:lnSpc>
              <a:tabLst>
                <a:tab pos="922655" algn="l"/>
              </a:tabLst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	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11174" y="5423153"/>
            <a:ext cx="304800" cy="365760"/>
          </a:xfrm>
          <a:custGeom>
            <a:avLst/>
            <a:gdLst/>
            <a:ahLst/>
            <a:cxnLst/>
            <a:rect l="l" t="t" r="r" b="b"/>
            <a:pathLst>
              <a:path w="304800" h="365760">
                <a:moveTo>
                  <a:pt x="304800" y="0"/>
                </a:moveTo>
                <a:lnTo>
                  <a:pt x="0" y="36576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315974" y="5423153"/>
            <a:ext cx="285115" cy="307975"/>
          </a:xfrm>
          <a:custGeom>
            <a:avLst/>
            <a:gdLst/>
            <a:ahLst/>
            <a:cxnLst/>
            <a:rect l="l" t="t" r="r" b="b"/>
            <a:pathLst>
              <a:path w="285115" h="307975">
                <a:moveTo>
                  <a:pt x="0" y="0"/>
                </a:moveTo>
                <a:lnTo>
                  <a:pt x="284988" y="307848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372105" y="4517897"/>
            <a:ext cx="0" cy="460375"/>
          </a:xfrm>
          <a:custGeom>
            <a:avLst/>
            <a:gdLst/>
            <a:ahLst/>
            <a:cxnLst/>
            <a:rect l="l" t="t" r="r" b="b"/>
            <a:pathLst>
              <a:path w="0" h="460375">
                <a:moveTo>
                  <a:pt x="0" y="0"/>
                </a:moveTo>
                <a:lnTo>
                  <a:pt x="0" y="460247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401317" y="4517897"/>
            <a:ext cx="0" cy="460375"/>
          </a:xfrm>
          <a:custGeom>
            <a:avLst/>
            <a:gdLst/>
            <a:ahLst/>
            <a:cxnLst/>
            <a:rect l="l" t="t" r="r" b="b"/>
            <a:pathLst>
              <a:path w="0" h="460375">
                <a:moveTo>
                  <a:pt x="0" y="0"/>
                </a:moveTo>
                <a:lnTo>
                  <a:pt x="0" y="460247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011174" y="3586734"/>
            <a:ext cx="513715" cy="439420"/>
          </a:xfrm>
          <a:custGeom>
            <a:avLst/>
            <a:gdLst/>
            <a:ahLst/>
            <a:cxnLst/>
            <a:rect l="l" t="t" r="r" b="b"/>
            <a:pathLst>
              <a:path w="513715" h="439420">
                <a:moveTo>
                  <a:pt x="513588" y="0"/>
                </a:moveTo>
                <a:lnTo>
                  <a:pt x="0" y="438911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381505" y="3659885"/>
            <a:ext cx="304800" cy="365760"/>
          </a:xfrm>
          <a:custGeom>
            <a:avLst/>
            <a:gdLst/>
            <a:ahLst/>
            <a:cxnLst/>
            <a:rect l="l" t="t" r="r" b="b"/>
            <a:pathLst>
              <a:path w="304800" h="365760">
                <a:moveTo>
                  <a:pt x="304800" y="0"/>
                </a:moveTo>
                <a:lnTo>
                  <a:pt x="0" y="365759"/>
                </a:lnTo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686305" y="3659885"/>
            <a:ext cx="239395" cy="365760"/>
          </a:xfrm>
          <a:custGeom>
            <a:avLst/>
            <a:gdLst/>
            <a:ahLst/>
            <a:cxnLst/>
            <a:rect l="l" t="t" r="r" b="b"/>
            <a:pathLst>
              <a:path w="239394" h="365760">
                <a:moveTo>
                  <a:pt x="0" y="0"/>
                </a:moveTo>
                <a:lnTo>
                  <a:pt x="239268" y="365759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925573" y="3586734"/>
            <a:ext cx="370840" cy="381000"/>
          </a:xfrm>
          <a:custGeom>
            <a:avLst/>
            <a:gdLst/>
            <a:ahLst/>
            <a:cxnLst/>
            <a:rect l="l" t="t" r="r" b="b"/>
            <a:pathLst>
              <a:path w="370839" h="381000">
                <a:moveTo>
                  <a:pt x="0" y="0"/>
                </a:moveTo>
                <a:lnTo>
                  <a:pt x="370331" y="380999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2354960" y="26923"/>
            <a:ext cx="443547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2122170" algn="l"/>
                <a:tab pos="263144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移进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Arial"/>
                <a:cs typeface="Arial"/>
              </a:rPr>
              <a:t>—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归约分析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932813" y="12902"/>
            <a:ext cx="1943100" cy="3917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04850" algn="l"/>
              </a:tabLst>
            </a:pPr>
            <a:r>
              <a:rPr dirty="0" sz="2400">
                <a:solidFill>
                  <a:srgbClr val="A15100"/>
                </a:solidFill>
                <a:latin typeface="Times New Roman"/>
                <a:cs typeface="Times New Roman"/>
              </a:rPr>
              <a:t>C</a:t>
            </a:r>
            <a:r>
              <a:rPr dirty="0" sz="2400" spc="-10">
                <a:solidFill>
                  <a:srgbClr val="A15100"/>
                </a:solidFill>
                <a:latin typeface="Times New Roman"/>
                <a:cs typeface="Times New Roman"/>
              </a:rPr>
              <a:t>h</a:t>
            </a:r>
            <a:r>
              <a:rPr dirty="0" sz="2400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400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400" spc="5">
                <a:solidFill>
                  <a:srgbClr val="A15100"/>
                </a:solidFill>
                <a:latin typeface="华文新魏"/>
                <a:cs typeface="华文新魏"/>
              </a:rPr>
              <a:t>语法分析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43476" y="12902"/>
            <a:ext cx="276860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5950" algn="l"/>
              </a:tabLst>
            </a:pPr>
            <a:r>
              <a:rPr dirty="0" u="sng" sz="24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</a:t>
            </a:r>
            <a:r>
              <a:rPr dirty="0" u="sng" sz="24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sng" sz="24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4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移进</a:t>
            </a:r>
            <a:r>
              <a:rPr dirty="0" u="sng" sz="24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Arial"/>
                <a:cs typeface="Arial"/>
              </a:rPr>
              <a:t>—</a:t>
            </a:r>
            <a:r>
              <a:rPr dirty="0" u="sng" sz="24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归</a:t>
            </a:r>
            <a:r>
              <a:rPr dirty="0" u="sng" sz="24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约分析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974216"/>
            <a:ext cx="944244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5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.3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33626" y="974216"/>
            <a:ext cx="576453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设有文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3200" spc="10" b="1" i="1">
                <a:solidFill>
                  <a:srgbClr val="66FFFF"/>
                </a:solidFill>
                <a:latin typeface="Times New Roman"/>
                <a:cs typeface="Times New Roman"/>
              </a:rPr>
              <a:t>G</a:t>
            </a:r>
            <a:r>
              <a:rPr dirty="0" baseline="-25132" sz="3150" spc="15" b="1">
                <a:solidFill>
                  <a:srgbClr val="66FFFF"/>
                </a:solidFill>
                <a:latin typeface="Times New Roman"/>
                <a:cs typeface="Times New Roman"/>
              </a:rPr>
              <a:t>1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和输入字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符</a:t>
            </a:r>
            <a:r>
              <a:rPr dirty="0" sz="3200" spc="10" b="1">
                <a:solidFill>
                  <a:srgbClr val="FFFFFF"/>
                </a:solidFill>
                <a:latin typeface="宋体"/>
                <a:cs typeface="宋体"/>
              </a:rPr>
              <a:t>串</a:t>
            </a:r>
            <a:r>
              <a:rPr dirty="0" sz="3200" b="1" i="1">
                <a:solidFill>
                  <a:srgbClr val="66FFFF"/>
                </a:solidFill>
                <a:latin typeface="Times New Roman"/>
                <a:cs typeface="Times New Roman"/>
              </a:rPr>
              <a:t>abbcde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60194" y="1466697"/>
            <a:ext cx="2367280" cy="2943860"/>
          </a:xfrm>
          <a:prstGeom prst="rect">
            <a:avLst/>
          </a:prstGeom>
        </p:spPr>
        <p:txBody>
          <a:bodyPr wrap="square" lIns="0" tIns="252095" rIns="0" bIns="0" rtlCol="0" vert="horz">
            <a:spAutoFit/>
          </a:bodyPr>
          <a:lstStyle/>
          <a:p>
            <a:pPr marL="794385" indent="-779780">
              <a:lnSpc>
                <a:spcPct val="100000"/>
              </a:lnSpc>
              <a:spcBef>
                <a:spcPts val="1985"/>
              </a:spcBef>
              <a:buFont typeface="Times New Roman"/>
              <a:buAutoNum type="arabicParenBoth"/>
              <a:tabLst>
                <a:tab pos="794385" algn="l"/>
                <a:tab pos="795020" algn="l"/>
              </a:tabLst>
            </a:pPr>
            <a:r>
              <a:rPr dirty="0" sz="3200" spc="-10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aABe</a:t>
            </a:r>
            <a:endParaRPr sz="3200">
              <a:latin typeface="Times New Roman"/>
              <a:cs typeface="Times New Roman"/>
            </a:endParaRPr>
          </a:p>
          <a:p>
            <a:pPr marL="789940" indent="-777875">
              <a:lnSpc>
                <a:spcPct val="100000"/>
              </a:lnSpc>
              <a:spcBef>
                <a:spcPts val="1885"/>
              </a:spcBef>
              <a:buFont typeface="Times New Roman"/>
              <a:buAutoNum type="arabicParenBoth"/>
              <a:tabLst>
                <a:tab pos="789940" algn="l"/>
                <a:tab pos="790575" algn="l"/>
              </a:tabLst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Abc</a:t>
            </a:r>
            <a:endParaRPr sz="3200">
              <a:latin typeface="Times New Roman"/>
              <a:cs typeface="Times New Roman"/>
            </a:endParaRPr>
          </a:p>
          <a:p>
            <a:pPr marL="789940" indent="-777875">
              <a:lnSpc>
                <a:spcPct val="100000"/>
              </a:lnSpc>
              <a:spcBef>
                <a:spcPts val="1920"/>
              </a:spcBef>
              <a:buFont typeface="Times New Roman"/>
              <a:buAutoNum type="arabicParenBoth"/>
              <a:tabLst>
                <a:tab pos="789940" algn="l"/>
                <a:tab pos="790575" algn="l"/>
              </a:tabLst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endParaRPr sz="3200">
              <a:latin typeface="Times New Roman"/>
              <a:cs typeface="Times New Roman"/>
            </a:endParaRPr>
          </a:p>
          <a:p>
            <a:pPr marL="789940" indent="-777875">
              <a:lnSpc>
                <a:spcPct val="100000"/>
              </a:lnSpc>
              <a:spcBef>
                <a:spcPts val="1925"/>
              </a:spcBef>
              <a:buFont typeface="Times New Roman"/>
              <a:buAutoNum type="arabicParenBoth"/>
              <a:tabLst>
                <a:tab pos="789940" algn="l"/>
                <a:tab pos="790575" algn="l"/>
              </a:tabLst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d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354960" y="26923"/>
            <a:ext cx="443547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2122170" algn="l"/>
                <a:tab pos="263144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移进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Arial"/>
                <a:cs typeface="Arial"/>
              </a:rPr>
              <a:t>—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归约分析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40075" y="5637081"/>
            <a:ext cx="203835" cy="4508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495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46269" y="5637081"/>
            <a:ext cx="203835" cy="4508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495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93242" y="760821"/>
            <a:ext cx="7253605" cy="54038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200" i="1">
                <a:solidFill>
                  <a:srgbClr val="FFFFFF"/>
                </a:solidFill>
                <a:latin typeface="Times New Roman"/>
                <a:cs typeface="Times New Roman"/>
              </a:rPr>
              <a:t>S </a:t>
            </a:r>
            <a:r>
              <a:rPr dirty="0" sz="3200" spc="-5">
                <a:solidFill>
                  <a:srgbClr val="FFFF00"/>
                </a:solidFill>
                <a:latin typeface="Times New Roman"/>
                <a:cs typeface="Times New Roman"/>
              </a:rPr>
              <a:t>=&gt; </a:t>
            </a:r>
            <a:r>
              <a:rPr dirty="0" u="heavy" sz="3200" spc="-25" i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aAB</a:t>
            </a:r>
            <a:r>
              <a:rPr dirty="0" u="heavy" sz="3350" spc="-25" i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ｅ</a:t>
            </a:r>
            <a:r>
              <a:rPr dirty="0" sz="3200" spc="-25">
                <a:solidFill>
                  <a:srgbClr val="FFFF00"/>
                </a:solidFill>
                <a:latin typeface="Times New Roman"/>
                <a:cs typeface="Times New Roman"/>
              </a:rPr>
              <a:t>=&gt; </a:t>
            </a:r>
            <a:r>
              <a:rPr dirty="0" sz="3200" i="1">
                <a:solidFill>
                  <a:srgbClr val="FFFFFF"/>
                </a:solidFill>
                <a:latin typeface="Times New Roman"/>
                <a:cs typeface="Times New Roman"/>
              </a:rPr>
              <a:t>aA</a:t>
            </a:r>
            <a:r>
              <a:rPr dirty="0" u="heavy" sz="3200" i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d</a:t>
            </a:r>
            <a:r>
              <a:rPr dirty="0" sz="3200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3200" spc="-5">
                <a:solidFill>
                  <a:srgbClr val="FFFF00"/>
                </a:solidFill>
                <a:latin typeface="Times New Roman"/>
                <a:cs typeface="Times New Roman"/>
              </a:rPr>
              <a:t>=&gt; </a:t>
            </a:r>
            <a:r>
              <a:rPr dirty="0" sz="3200" spc="5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u="heavy" sz="3200" spc="5" i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Abc</a:t>
            </a:r>
            <a:r>
              <a:rPr dirty="0" sz="3200" spc="5" i="1">
                <a:solidFill>
                  <a:srgbClr val="FFFFFF"/>
                </a:solidFill>
                <a:latin typeface="Times New Roman"/>
                <a:cs typeface="Times New Roman"/>
              </a:rPr>
              <a:t>de </a:t>
            </a:r>
            <a:r>
              <a:rPr dirty="0" sz="3200" spc="-5">
                <a:solidFill>
                  <a:srgbClr val="FFFF00"/>
                </a:solidFill>
                <a:latin typeface="Times New Roman"/>
                <a:cs typeface="Times New Roman"/>
              </a:rPr>
              <a:t>=&gt;</a:t>
            </a:r>
            <a:r>
              <a:rPr dirty="0" sz="3200" spc="-6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spc="5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u="heavy" sz="3200" spc="5" i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b</a:t>
            </a:r>
            <a:r>
              <a:rPr dirty="0" sz="3200" spc="5" i="1">
                <a:solidFill>
                  <a:srgbClr val="FFFFFF"/>
                </a:solidFill>
                <a:latin typeface="Times New Roman"/>
                <a:cs typeface="Times New Roman"/>
              </a:rPr>
              <a:t>bcde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60952" y="1907794"/>
            <a:ext cx="28003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5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649473" y="2466594"/>
            <a:ext cx="1313815" cy="640080"/>
          </a:xfrm>
          <a:custGeom>
            <a:avLst/>
            <a:gdLst/>
            <a:ahLst/>
            <a:cxnLst/>
            <a:rect l="l" t="t" r="r" b="b"/>
            <a:pathLst>
              <a:path w="1313814" h="640080">
                <a:moveTo>
                  <a:pt x="0" y="640079"/>
                </a:moveTo>
                <a:lnTo>
                  <a:pt x="1313688" y="0"/>
                </a:lnTo>
              </a:path>
            </a:pathLst>
          </a:custGeom>
          <a:ln w="38100">
            <a:solidFill>
              <a:srgbClr val="F3B4F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458461" y="2466594"/>
            <a:ext cx="1257300" cy="745490"/>
          </a:xfrm>
          <a:custGeom>
            <a:avLst/>
            <a:gdLst/>
            <a:ahLst/>
            <a:cxnLst/>
            <a:rect l="l" t="t" r="r" b="b"/>
            <a:pathLst>
              <a:path w="1257300" h="745489">
                <a:moveTo>
                  <a:pt x="0" y="0"/>
                </a:moveTo>
                <a:lnTo>
                  <a:pt x="1257300" y="745235"/>
                </a:lnTo>
              </a:path>
            </a:pathLst>
          </a:custGeom>
          <a:ln w="38100">
            <a:solidFill>
              <a:srgbClr val="F3B4F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810761" y="2522982"/>
            <a:ext cx="346075" cy="835660"/>
          </a:xfrm>
          <a:custGeom>
            <a:avLst/>
            <a:gdLst/>
            <a:ahLst/>
            <a:cxnLst/>
            <a:rect l="l" t="t" r="r" b="b"/>
            <a:pathLst>
              <a:path w="346075" h="835660">
                <a:moveTo>
                  <a:pt x="0" y="835151"/>
                </a:moveTo>
                <a:lnTo>
                  <a:pt x="345948" y="0"/>
                </a:lnTo>
              </a:path>
            </a:pathLst>
          </a:custGeom>
          <a:ln w="38100">
            <a:solidFill>
              <a:srgbClr val="F3B4F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306061" y="2522982"/>
            <a:ext cx="685800" cy="835660"/>
          </a:xfrm>
          <a:custGeom>
            <a:avLst/>
            <a:gdLst/>
            <a:ahLst/>
            <a:cxnLst/>
            <a:rect l="l" t="t" r="r" b="b"/>
            <a:pathLst>
              <a:path w="685800" h="835660">
                <a:moveTo>
                  <a:pt x="0" y="0"/>
                </a:moveTo>
                <a:lnTo>
                  <a:pt x="685800" y="835151"/>
                </a:lnTo>
              </a:path>
            </a:pathLst>
          </a:custGeom>
          <a:ln w="38100">
            <a:solidFill>
              <a:srgbClr val="F3B4F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934461" y="4981194"/>
            <a:ext cx="533400" cy="1268095"/>
          </a:xfrm>
          <a:custGeom>
            <a:avLst/>
            <a:gdLst/>
            <a:ahLst/>
            <a:cxnLst/>
            <a:rect l="l" t="t" r="r" b="b"/>
            <a:pathLst>
              <a:path w="533400" h="1268095">
                <a:moveTo>
                  <a:pt x="0" y="1267967"/>
                </a:moveTo>
                <a:lnTo>
                  <a:pt x="533400" y="1267967"/>
                </a:lnTo>
                <a:lnTo>
                  <a:pt x="533400" y="0"/>
                </a:lnTo>
                <a:lnTo>
                  <a:pt x="0" y="0"/>
                </a:lnTo>
                <a:lnTo>
                  <a:pt x="0" y="1267967"/>
                </a:lnTo>
                <a:close/>
              </a:path>
            </a:pathLst>
          </a:custGeom>
          <a:ln w="38100">
            <a:solidFill>
              <a:srgbClr val="F3B4F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877561" y="3894582"/>
            <a:ext cx="477520" cy="2281555"/>
          </a:xfrm>
          <a:custGeom>
            <a:avLst/>
            <a:gdLst/>
            <a:ahLst/>
            <a:cxnLst/>
            <a:rect l="l" t="t" r="r" b="b"/>
            <a:pathLst>
              <a:path w="477520" h="2281554">
                <a:moveTo>
                  <a:pt x="0" y="2281428"/>
                </a:moveTo>
                <a:lnTo>
                  <a:pt x="477012" y="2281428"/>
                </a:lnTo>
                <a:lnTo>
                  <a:pt x="477012" y="0"/>
                </a:lnTo>
                <a:lnTo>
                  <a:pt x="0" y="0"/>
                </a:lnTo>
                <a:lnTo>
                  <a:pt x="0" y="2281428"/>
                </a:lnTo>
                <a:close/>
              </a:path>
            </a:pathLst>
          </a:custGeom>
          <a:ln w="38099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963161" y="4059173"/>
            <a:ext cx="495300" cy="1562100"/>
          </a:xfrm>
          <a:custGeom>
            <a:avLst/>
            <a:gdLst/>
            <a:ahLst/>
            <a:cxnLst/>
            <a:rect l="l" t="t" r="r" b="b"/>
            <a:pathLst>
              <a:path w="495300" h="1562100">
                <a:moveTo>
                  <a:pt x="0" y="0"/>
                </a:moveTo>
                <a:lnTo>
                  <a:pt x="495300" y="1562100"/>
                </a:lnTo>
              </a:path>
            </a:pathLst>
          </a:custGeom>
          <a:ln w="38100">
            <a:solidFill>
              <a:srgbClr val="F3B4F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220973" y="4059173"/>
            <a:ext cx="448309" cy="474345"/>
          </a:xfrm>
          <a:custGeom>
            <a:avLst/>
            <a:gdLst/>
            <a:ahLst/>
            <a:cxnLst/>
            <a:rect l="l" t="t" r="r" b="b"/>
            <a:pathLst>
              <a:path w="448310" h="474345">
                <a:moveTo>
                  <a:pt x="448055" y="0"/>
                </a:moveTo>
                <a:lnTo>
                  <a:pt x="0" y="473963"/>
                </a:lnTo>
              </a:path>
            </a:pathLst>
          </a:custGeom>
          <a:ln w="38100">
            <a:solidFill>
              <a:srgbClr val="F3B4F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2530094" y="3426697"/>
            <a:ext cx="3206750" cy="26612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130935">
              <a:lnSpc>
                <a:spcPts val="3495"/>
              </a:lnSpc>
              <a:tabLst>
                <a:tab pos="2438400" algn="l"/>
              </a:tabLst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	B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4050">
              <a:latin typeface="Times New Roman"/>
              <a:cs typeface="Times New Roman"/>
            </a:endParaRPr>
          </a:p>
          <a:p>
            <a:pPr marL="495300">
              <a:lnSpc>
                <a:spcPct val="100000"/>
              </a:lnSpc>
            </a:pPr>
            <a:r>
              <a:rPr dirty="0" sz="3200" b="1" i="1">
                <a:solidFill>
                  <a:srgbClr val="F3B4FB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4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tabLst>
                <a:tab pos="1219200" algn="l"/>
                <a:tab pos="1828800" algn="l"/>
                <a:tab pos="3025140" algn="l"/>
              </a:tabLst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305811" y="2444495"/>
            <a:ext cx="3962400" cy="4102735"/>
          </a:xfrm>
          <a:custGeom>
            <a:avLst/>
            <a:gdLst/>
            <a:ahLst/>
            <a:cxnLst/>
            <a:rect l="l" t="t" r="r" b="b"/>
            <a:pathLst>
              <a:path w="3962400" h="4102734">
                <a:moveTo>
                  <a:pt x="0" y="4102608"/>
                </a:moveTo>
                <a:lnTo>
                  <a:pt x="3962400" y="4102608"/>
                </a:lnTo>
                <a:lnTo>
                  <a:pt x="3962400" y="0"/>
                </a:lnTo>
                <a:lnTo>
                  <a:pt x="0" y="0"/>
                </a:lnTo>
                <a:lnTo>
                  <a:pt x="0" y="4102608"/>
                </a:lnTo>
                <a:close/>
              </a:path>
            </a:pathLst>
          </a:custGeom>
          <a:solidFill>
            <a:srgbClr val="3366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933700" y="3915155"/>
            <a:ext cx="1702435" cy="2281555"/>
          </a:xfrm>
          <a:custGeom>
            <a:avLst/>
            <a:gdLst/>
            <a:ahLst/>
            <a:cxnLst/>
            <a:rect l="l" t="t" r="r" b="b"/>
            <a:pathLst>
              <a:path w="1702435" h="2281554">
                <a:moveTo>
                  <a:pt x="0" y="2281428"/>
                </a:moveTo>
                <a:lnTo>
                  <a:pt x="1702307" y="2281428"/>
                </a:lnTo>
                <a:lnTo>
                  <a:pt x="1702307" y="0"/>
                </a:lnTo>
                <a:lnTo>
                  <a:pt x="0" y="0"/>
                </a:lnTo>
                <a:lnTo>
                  <a:pt x="0" y="2281428"/>
                </a:lnTo>
                <a:close/>
              </a:path>
            </a:pathLst>
          </a:custGeom>
          <a:solidFill>
            <a:srgbClr val="3366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15975" algn="l"/>
              </a:tabLst>
            </a:pPr>
            <a:r>
              <a:rPr dirty="0" spc="-5">
                <a:latin typeface="Times New Roman"/>
                <a:cs typeface="Times New Roman"/>
              </a:rPr>
              <a:t>5.1	</a:t>
            </a:r>
            <a:r>
              <a:rPr dirty="0" spc="-10"/>
              <a:t>“移近</a:t>
            </a:r>
            <a:r>
              <a:rPr dirty="0" spc="-10">
                <a:latin typeface="Times New Roman"/>
                <a:cs typeface="Times New Roman"/>
              </a:rPr>
              <a:t>—</a:t>
            </a:r>
            <a:r>
              <a:rPr dirty="0" spc="-10"/>
              <a:t>归约”分析法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28471" y="1286662"/>
            <a:ext cx="6364605" cy="5168900"/>
          </a:xfrm>
          <a:prstGeom prst="rect">
            <a:avLst/>
          </a:prstGeom>
        </p:spPr>
        <p:txBody>
          <a:bodyPr wrap="square" lIns="0" tIns="161925" rIns="0" bIns="0" rtlCol="0" vert="horz">
            <a:spAutoFit/>
          </a:bodyPr>
          <a:lstStyle/>
          <a:p>
            <a:pPr lvl="1" marL="815975" indent="-803910">
              <a:lnSpc>
                <a:spcPct val="100000"/>
              </a:lnSpc>
              <a:spcBef>
                <a:spcPts val="1275"/>
              </a:spcBef>
              <a:buClr>
                <a:srgbClr val="FFFF00"/>
              </a:buClr>
              <a:buFont typeface="Times New Roman"/>
              <a:buAutoNum type="arabicPeriod" startAt="2"/>
              <a:tabLst>
                <a:tab pos="815975" algn="l"/>
                <a:tab pos="816610" algn="l"/>
              </a:tabLst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算符优先分析法</a:t>
            </a:r>
            <a:endParaRPr sz="2800">
              <a:latin typeface="宋体"/>
              <a:cs typeface="宋体"/>
            </a:endParaRPr>
          </a:p>
          <a:p>
            <a:pPr lvl="1" marL="815975" indent="-803910">
              <a:lnSpc>
                <a:spcPct val="100000"/>
              </a:lnSpc>
              <a:spcBef>
                <a:spcPts val="1175"/>
              </a:spcBef>
              <a:buClr>
                <a:srgbClr val="FFFF00"/>
              </a:buClr>
              <a:buAutoNum type="arabicPeriod" startAt="2"/>
              <a:tabLst>
                <a:tab pos="815975" algn="l"/>
                <a:tab pos="816610" algn="l"/>
              </a:tabLst>
            </a:pP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LR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分析鸟瞰</a:t>
            </a:r>
            <a:endParaRPr sz="2800">
              <a:latin typeface="宋体"/>
              <a:cs typeface="宋体"/>
            </a:endParaRPr>
          </a:p>
          <a:p>
            <a:pPr lvl="1" marL="815975" indent="-803910">
              <a:lnSpc>
                <a:spcPct val="100000"/>
              </a:lnSpc>
              <a:spcBef>
                <a:spcPts val="1180"/>
              </a:spcBef>
              <a:buClr>
                <a:srgbClr val="FFFF00"/>
              </a:buClr>
              <a:buAutoNum type="arabicPeriod" startAt="2"/>
              <a:tabLst>
                <a:tab pos="815975" algn="l"/>
                <a:tab pos="816610" algn="l"/>
              </a:tabLst>
            </a:pP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LR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 (0)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分析</a:t>
            </a:r>
            <a:endParaRPr sz="2800">
              <a:latin typeface="宋体"/>
              <a:cs typeface="宋体"/>
            </a:endParaRPr>
          </a:p>
          <a:p>
            <a:pPr lvl="1" marL="815975" indent="-803910">
              <a:lnSpc>
                <a:spcPct val="100000"/>
              </a:lnSpc>
              <a:spcBef>
                <a:spcPts val="1175"/>
              </a:spcBef>
              <a:buClr>
                <a:srgbClr val="FFFF00"/>
              </a:buClr>
              <a:buAutoNum type="arabicPeriod" startAt="2"/>
              <a:tabLst>
                <a:tab pos="815975" algn="l"/>
                <a:tab pos="816610" algn="l"/>
              </a:tabLst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SLR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 (1)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分析</a:t>
            </a:r>
            <a:endParaRPr sz="2800">
              <a:latin typeface="宋体"/>
              <a:cs typeface="宋体"/>
            </a:endParaRPr>
          </a:p>
          <a:p>
            <a:pPr lvl="1" marL="1344930" indent="-624205">
              <a:lnSpc>
                <a:spcPct val="100000"/>
              </a:lnSpc>
              <a:spcBef>
                <a:spcPts val="1510"/>
              </a:spcBef>
              <a:buClr>
                <a:srgbClr val="FFFF00"/>
              </a:buClr>
              <a:buAutoNum type="arabicPeriod" startAt="2"/>
              <a:tabLst>
                <a:tab pos="1344295" algn="l"/>
                <a:tab pos="1345565" algn="l"/>
              </a:tabLst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LR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(1)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分析</a:t>
            </a:r>
            <a:endParaRPr sz="2800">
              <a:latin typeface="宋体"/>
              <a:cs typeface="宋体"/>
            </a:endParaRPr>
          </a:p>
          <a:p>
            <a:pPr lvl="1" marL="1344930" indent="-624205">
              <a:lnSpc>
                <a:spcPct val="100000"/>
              </a:lnSpc>
              <a:spcBef>
                <a:spcPts val="1015"/>
              </a:spcBef>
              <a:buClr>
                <a:srgbClr val="FFFF00"/>
              </a:buClr>
              <a:buAutoNum type="arabicPeriod" startAt="2"/>
              <a:tabLst>
                <a:tab pos="1344295" algn="l"/>
                <a:tab pos="1345565" algn="l"/>
              </a:tabLst>
            </a:pP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LALR</a:t>
            </a:r>
            <a:r>
              <a:rPr dirty="0" sz="2800" spc="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(1)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分析</a:t>
            </a:r>
            <a:endParaRPr sz="2800">
              <a:latin typeface="宋体"/>
              <a:cs typeface="宋体"/>
            </a:endParaRPr>
          </a:p>
          <a:p>
            <a:pPr lvl="1" marL="1344930" indent="-624205">
              <a:lnSpc>
                <a:spcPct val="100000"/>
              </a:lnSpc>
              <a:spcBef>
                <a:spcPts val="1005"/>
              </a:spcBef>
              <a:buClr>
                <a:srgbClr val="FFFF00"/>
              </a:buClr>
              <a:buAutoNum type="arabicPeriod" startAt="2"/>
              <a:tabLst>
                <a:tab pos="1344295" algn="l"/>
                <a:tab pos="1345565" algn="l"/>
              </a:tabLst>
            </a:pP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分析对二义文法的应用</a:t>
            </a:r>
            <a:endParaRPr sz="2800">
              <a:latin typeface="宋体"/>
              <a:cs typeface="宋体"/>
            </a:endParaRPr>
          </a:p>
          <a:p>
            <a:pPr lvl="1" marL="1344930" indent="-624205">
              <a:lnSpc>
                <a:spcPct val="100000"/>
              </a:lnSpc>
              <a:spcBef>
                <a:spcPts val="1010"/>
              </a:spcBef>
              <a:buClr>
                <a:srgbClr val="FFFF00"/>
              </a:buClr>
              <a:buAutoNum type="arabicPeriod" startAt="2"/>
              <a:tabLst>
                <a:tab pos="1344295" algn="l"/>
                <a:tab pos="1345565" algn="l"/>
              </a:tabLst>
            </a:pP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LR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分析的错误处理与恢复</a:t>
            </a:r>
            <a:endParaRPr sz="2800">
              <a:latin typeface="宋体"/>
              <a:cs typeface="宋体"/>
            </a:endParaRPr>
          </a:p>
          <a:p>
            <a:pPr lvl="1" marL="1433195" indent="-712470">
              <a:lnSpc>
                <a:spcPct val="100000"/>
              </a:lnSpc>
              <a:spcBef>
                <a:spcPts val="1010"/>
              </a:spcBef>
              <a:buClr>
                <a:srgbClr val="FFFF00"/>
              </a:buClr>
              <a:buFont typeface="Times New Roman"/>
              <a:buAutoNum type="arabicPeriod" startAt="2"/>
              <a:tabLst>
                <a:tab pos="1433830" algn="l"/>
              </a:tabLst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语法分析器的自动生成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与</a:t>
            </a:r>
            <a:r>
              <a:rPr dirty="0" sz="2800" spc="-260" b="1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AC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761"/>
            <a:ext cx="8992362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761"/>
            <a:ext cx="8992870" cy="434340"/>
          </a:xfrm>
          <a:custGeom>
            <a:avLst/>
            <a:gdLst/>
            <a:ahLst/>
            <a:cxnLst/>
            <a:rect l="l" t="t" r="r" b="b"/>
            <a:pathLst>
              <a:path w="8992870" h="434340">
                <a:moveTo>
                  <a:pt x="0" y="434340"/>
                </a:moveTo>
                <a:lnTo>
                  <a:pt x="8992362" y="434340"/>
                </a:lnTo>
                <a:lnTo>
                  <a:pt x="8992362" y="0"/>
                </a:lnTo>
                <a:lnTo>
                  <a:pt x="0" y="0"/>
                </a:lnTo>
              </a:path>
            </a:pathLst>
          </a:custGeom>
          <a:ln w="38099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0" y="14732"/>
            <a:ext cx="89738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127635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Ch5</a:t>
            </a:r>
            <a:r>
              <a:rPr dirty="0" sz="2000" spc="47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10" b="1">
                <a:solidFill>
                  <a:srgbClr val="A15100"/>
                </a:solidFill>
                <a:latin typeface="华文新魏"/>
                <a:cs typeface="华文新魏"/>
              </a:rPr>
              <a:t>语</a:t>
            </a:r>
            <a:r>
              <a:rPr dirty="0" sz="2000" b="1">
                <a:solidFill>
                  <a:srgbClr val="A15100"/>
                </a:solidFill>
                <a:latin typeface="华文新魏"/>
                <a:cs typeface="华文新魏"/>
              </a:rPr>
              <a:t>法分析</a:t>
            </a:r>
            <a:endParaRPr sz="2000">
              <a:latin typeface="华文新魏"/>
              <a:cs typeface="华文新魏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052821" y="1410461"/>
            <a:ext cx="1562100" cy="5364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052821" y="1410461"/>
            <a:ext cx="1562100" cy="536575"/>
          </a:xfrm>
          <a:custGeom>
            <a:avLst/>
            <a:gdLst/>
            <a:ahLst/>
            <a:cxnLst/>
            <a:rect l="l" t="t" r="r" b="b"/>
            <a:pathLst>
              <a:path w="1562100" h="536575">
                <a:moveTo>
                  <a:pt x="0" y="268224"/>
                </a:moveTo>
                <a:lnTo>
                  <a:pt x="390398" y="0"/>
                </a:lnTo>
                <a:lnTo>
                  <a:pt x="390398" y="134112"/>
                </a:lnTo>
                <a:lnTo>
                  <a:pt x="1562100" y="134112"/>
                </a:lnTo>
                <a:lnTo>
                  <a:pt x="1562100" y="402336"/>
                </a:lnTo>
                <a:lnTo>
                  <a:pt x="390398" y="402336"/>
                </a:lnTo>
                <a:lnTo>
                  <a:pt x="390398" y="536448"/>
                </a:lnTo>
                <a:lnTo>
                  <a:pt x="0" y="26822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39366" y="2040763"/>
            <a:ext cx="6963409" cy="27698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lvl="2" marL="1236345" indent="-1224280">
              <a:lnSpc>
                <a:spcPct val="100000"/>
              </a:lnSpc>
              <a:spcBef>
                <a:spcPts val="105"/>
              </a:spcBef>
              <a:buClr>
                <a:srgbClr val="FFFF00"/>
              </a:buClr>
              <a:buFont typeface="Times New Roman"/>
              <a:buAutoNum type="arabicPeriod"/>
              <a:tabLst>
                <a:tab pos="1236345" algn="l"/>
                <a:tab pos="1236980" algn="l"/>
              </a:tabLst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直观的算符优先分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析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endParaRPr sz="3200">
              <a:latin typeface="宋体"/>
              <a:cs typeface="宋体"/>
            </a:endParaRPr>
          </a:p>
          <a:p>
            <a:pPr lvl="2" marL="1236345" indent="-1224280">
              <a:lnSpc>
                <a:spcPct val="100000"/>
              </a:lnSpc>
              <a:spcBef>
                <a:spcPts val="2300"/>
              </a:spcBef>
              <a:buClr>
                <a:srgbClr val="FFFF00"/>
              </a:buClr>
              <a:buFont typeface="Times New Roman"/>
              <a:buAutoNum type="arabicPeriod"/>
              <a:tabLst>
                <a:tab pos="1236345" algn="l"/>
                <a:tab pos="1236980" algn="l"/>
              </a:tabLst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算符优先分析与算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符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优先分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析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器</a:t>
            </a:r>
            <a:endParaRPr sz="3200">
              <a:latin typeface="宋体"/>
              <a:cs typeface="宋体"/>
            </a:endParaRPr>
          </a:p>
          <a:p>
            <a:pPr lvl="2" marL="1236345" indent="-1224280">
              <a:lnSpc>
                <a:spcPct val="100000"/>
              </a:lnSpc>
              <a:spcBef>
                <a:spcPts val="2020"/>
              </a:spcBef>
              <a:buClr>
                <a:srgbClr val="FFFF00"/>
              </a:buClr>
              <a:buFont typeface="Times New Roman"/>
              <a:buAutoNum type="arabicPeriod"/>
              <a:tabLst>
                <a:tab pos="1236345" algn="l"/>
                <a:tab pos="1236980" algn="l"/>
              </a:tabLst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算符优先分析法实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现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的理论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探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讨</a:t>
            </a:r>
            <a:endParaRPr sz="3200">
              <a:latin typeface="宋体"/>
              <a:cs typeface="宋体"/>
            </a:endParaRPr>
          </a:p>
          <a:p>
            <a:pPr lvl="2" marL="1236345" indent="-1224280">
              <a:lnSpc>
                <a:spcPct val="100000"/>
              </a:lnSpc>
              <a:spcBef>
                <a:spcPts val="1920"/>
              </a:spcBef>
              <a:buClr>
                <a:srgbClr val="FFFF00"/>
              </a:buClr>
              <a:buFont typeface="Times New Roman"/>
              <a:buAutoNum type="arabicPeriod"/>
              <a:tabLst>
                <a:tab pos="1236345" algn="l"/>
                <a:tab pos="1236980" algn="l"/>
              </a:tabLst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优先函数表的构造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577464" y="26923"/>
            <a:ext cx="443547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22170" algn="l"/>
                <a:tab pos="2629535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算符优先分析法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9361" y="2122170"/>
            <a:ext cx="1231392" cy="5577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29361" y="2122170"/>
            <a:ext cx="1231900" cy="558165"/>
          </a:xfrm>
          <a:custGeom>
            <a:avLst/>
            <a:gdLst/>
            <a:ahLst/>
            <a:cxnLst/>
            <a:rect l="l" t="t" r="r" b="b"/>
            <a:pathLst>
              <a:path w="1231900" h="558164">
                <a:moveTo>
                  <a:pt x="0" y="139445"/>
                </a:moveTo>
                <a:lnTo>
                  <a:pt x="923975" y="139445"/>
                </a:lnTo>
                <a:lnTo>
                  <a:pt x="923975" y="0"/>
                </a:lnTo>
                <a:lnTo>
                  <a:pt x="1231392" y="278891"/>
                </a:lnTo>
                <a:lnTo>
                  <a:pt x="923975" y="557783"/>
                </a:lnTo>
                <a:lnTo>
                  <a:pt x="923975" y="418338"/>
                </a:lnTo>
                <a:lnTo>
                  <a:pt x="0" y="418338"/>
                </a:lnTo>
                <a:lnTo>
                  <a:pt x="0" y="139445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675257" y="786765"/>
            <a:ext cx="5523865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31900" algn="l"/>
              </a:tabLst>
            </a:pPr>
            <a:r>
              <a:rPr dirty="0" sz="4800">
                <a:solidFill>
                  <a:srgbClr val="FFFF00"/>
                </a:solidFill>
                <a:latin typeface="Times New Roman"/>
                <a:cs typeface="Times New Roman"/>
              </a:rPr>
              <a:t>5.2	</a:t>
            </a:r>
            <a:r>
              <a:rPr dirty="0" sz="4800" spc="-20">
                <a:solidFill>
                  <a:srgbClr val="FFFF00"/>
                </a:solidFill>
              </a:rPr>
              <a:t>算</a:t>
            </a:r>
            <a:r>
              <a:rPr dirty="0" sz="4800" spc="-5">
                <a:solidFill>
                  <a:srgbClr val="FFFF00"/>
                </a:solidFill>
              </a:rPr>
              <a:t>符</a:t>
            </a:r>
            <a:r>
              <a:rPr dirty="0" sz="4800" spc="-20">
                <a:solidFill>
                  <a:srgbClr val="FFFF00"/>
                </a:solidFill>
              </a:rPr>
              <a:t>优</a:t>
            </a:r>
            <a:r>
              <a:rPr dirty="0" sz="4800" spc="-5">
                <a:solidFill>
                  <a:srgbClr val="FFFF00"/>
                </a:solidFill>
              </a:rPr>
              <a:t>先分</a:t>
            </a:r>
            <a:r>
              <a:rPr dirty="0" sz="4800" spc="10">
                <a:solidFill>
                  <a:srgbClr val="FFFF00"/>
                </a:solidFill>
              </a:rPr>
              <a:t>析</a:t>
            </a:r>
            <a:r>
              <a:rPr dirty="0" sz="4800" spc="-20">
                <a:solidFill>
                  <a:srgbClr val="FFFF00"/>
                </a:solidFill>
              </a:rPr>
              <a:t>法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51942" y="26923"/>
            <a:ext cx="8320405" cy="63163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0">
              <a:lnSpc>
                <a:spcPct val="100000"/>
              </a:lnSpc>
              <a:spcBef>
                <a:spcPts val="100"/>
              </a:spcBef>
              <a:tabLst>
                <a:tab pos="2293620" algn="l"/>
                <a:tab pos="2801620" algn="l"/>
                <a:tab pos="5036185" algn="l"/>
                <a:tab pos="573405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算符优先分析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法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5.2.1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直观的算符优先分析法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750">
              <a:latin typeface="宋体"/>
              <a:cs typeface="宋体"/>
            </a:endParaRPr>
          </a:p>
          <a:p>
            <a:pPr marL="342265" indent="-317500">
              <a:lnSpc>
                <a:spcPct val="100000"/>
              </a:lnSpc>
              <a:buClr>
                <a:srgbClr val="66FFFF"/>
              </a:buClr>
              <a:buSzPct val="114062"/>
              <a:buFont typeface="Wingdings"/>
              <a:buChar char=""/>
              <a:tabLst>
                <a:tab pos="34290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基本思想</a:t>
            </a:r>
            <a:endParaRPr sz="3200">
              <a:latin typeface="宋体"/>
              <a:cs typeface="宋体"/>
            </a:endParaRPr>
          </a:p>
          <a:p>
            <a:pPr algn="just" marL="25400" marR="48895" indent="711200">
              <a:lnSpc>
                <a:spcPct val="130000"/>
              </a:lnSpc>
              <a:spcBef>
                <a:spcPts val="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对给定的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按照一定原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求</a:t>
            </a:r>
            <a:r>
              <a:rPr dirty="0" sz="3200" spc="20" b="1">
                <a:solidFill>
                  <a:srgbClr val="FFFFFF"/>
                </a:solidFill>
                <a:latin typeface="宋体"/>
                <a:cs typeface="宋体"/>
              </a:rPr>
              <a:t>出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文法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符号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间的优先关系，按照优先关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系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确定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可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归约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子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串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实施归约。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000">
              <a:latin typeface="宋体"/>
              <a:cs typeface="宋体"/>
            </a:endParaRPr>
          </a:p>
          <a:p>
            <a:pPr marL="227965">
              <a:lnSpc>
                <a:spcPct val="100000"/>
              </a:lnSpc>
              <a:tabLst>
                <a:tab pos="155067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5.4	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设有文法</a:t>
            </a:r>
            <a:r>
              <a:rPr dirty="0" sz="3200" b="1" i="1">
                <a:solidFill>
                  <a:srgbClr val="66FFFF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和输入串</a:t>
            </a:r>
            <a:r>
              <a:rPr dirty="0" sz="3200" b="1" i="1">
                <a:solidFill>
                  <a:srgbClr val="66FFFF"/>
                </a:solidFill>
                <a:latin typeface="Times New Roman"/>
                <a:cs typeface="Times New Roman"/>
              </a:rPr>
              <a:t>aabb</a:t>
            </a:r>
            <a:endParaRPr sz="3200">
              <a:latin typeface="Times New Roman"/>
              <a:cs typeface="Times New Roman"/>
            </a:endParaRPr>
          </a:p>
          <a:p>
            <a:pPr lvl="1" marL="2228850" indent="-779780">
              <a:lnSpc>
                <a:spcPct val="100000"/>
              </a:lnSpc>
              <a:spcBef>
                <a:spcPts val="1150"/>
              </a:spcBef>
              <a:buFont typeface="Times New Roman"/>
              <a:buAutoNum type="arabicParenBoth"/>
              <a:tabLst>
                <a:tab pos="2228850" algn="l"/>
                <a:tab pos="2229485" algn="l"/>
              </a:tabLst>
            </a:pP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spc="-2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aSb</a:t>
            </a:r>
            <a:endParaRPr sz="3200">
              <a:latin typeface="Times New Roman"/>
              <a:cs typeface="Times New Roman"/>
            </a:endParaRPr>
          </a:p>
          <a:p>
            <a:pPr lvl="1" marL="2226310" indent="-779780">
              <a:lnSpc>
                <a:spcPct val="100000"/>
              </a:lnSpc>
              <a:spcBef>
                <a:spcPts val="1120"/>
              </a:spcBef>
              <a:buFont typeface="Times New Roman"/>
              <a:buAutoNum type="arabicParenBoth"/>
              <a:tabLst>
                <a:tab pos="2226310" algn="l"/>
                <a:tab pos="2226945" algn="l"/>
              </a:tabLst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ab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800">
              <a:latin typeface="Times New Roman"/>
              <a:cs typeface="Times New Roman"/>
            </a:endParaRPr>
          </a:p>
          <a:p>
            <a:pPr marL="958850">
              <a:lnSpc>
                <a:spcPct val="100000"/>
              </a:lnSpc>
            </a:pPr>
            <a:r>
              <a:rPr dirty="0" sz="3200" b="1">
                <a:solidFill>
                  <a:srgbClr val="FF66FF"/>
                </a:solidFill>
                <a:latin typeface="Times New Roman"/>
                <a:cs typeface="Times New Roman"/>
              </a:rPr>
              <a:t>L(</a:t>
            </a:r>
            <a:r>
              <a:rPr dirty="0" sz="3200" b="1" i="1">
                <a:solidFill>
                  <a:srgbClr val="FF66FF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66FF"/>
                </a:solidFill>
                <a:latin typeface="Times New Roman"/>
                <a:cs typeface="Times New Roman"/>
              </a:rPr>
              <a:t>) = { </a:t>
            </a:r>
            <a:r>
              <a:rPr dirty="0" sz="3200" spc="10" b="1" i="1">
                <a:solidFill>
                  <a:srgbClr val="FF66FF"/>
                </a:solidFill>
                <a:latin typeface="Times New Roman"/>
                <a:cs typeface="Times New Roman"/>
              </a:rPr>
              <a:t>a</a:t>
            </a:r>
            <a:r>
              <a:rPr dirty="0" baseline="25132" sz="3150" spc="15" b="1" i="1">
                <a:solidFill>
                  <a:srgbClr val="FF66FF"/>
                </a:solidFill>
                <a:latin typeface="Times New Roman"/>
                <a:cs typeface="Times New Roman"/>
              </a:rPr>
              <a:t>n</a:t>
            </a:r>
            <a:r>
              <a:rPr dirty="0" sz="3200" spc="10" b="1" i="1">
                <a:solidFill>
                  <a:srgbClr val="FF66FF"/>
                </a:solidFill>
                <a:latin typeface="Times New Roman"/>
                <a:cs typeface="Times New Roman"/>
              </a:rPr>
              <a:t>b</a:t>
            </a:r>
            <a:r>
              <a:rPr dirty="0" baseline="25132" sz="3150" spc="15" b="1" i="1">
                <a:solidFill>
                  <a:srgbClr val="FF66FF"/>
                </a:solidFill>
                <a:latin typeface="Times New Roman"/>
                <a:cs typeface="Times New Roman"/>
              </a:rPr>
              <a:t>n </a:t>
            </a:r>
            <a:r>
              <a:rPr dirty="0" sz="3200" b="1">
                <a:solidFill>
                  <a:srgbClr val="FF66FF"/>
                </a:solidFill>
                <a:latin typeface="Times New Roman"/>
                <a:cs typeface="Times New Roman"/>
              </a:rPr>
              <a:t>| </a:t>
            </a:r>
            <a:r>
              <a:rPr dirty="0" sz="3200" b="1" i="1">
                <a:solidFill>
                  <a:srgbClr val="FF66FF"/>
                </a:solidFill>
                <a:latin typeface="Times New Roman"/>
                <a:cs typeface="Times New Roman"/>
              </a:rPr>
              <a:t>n</a:t>
            </a:r>
            <a:r>
              <a:rPr dirty="0" sz="3200" spc="-340" b="1" i="1">
                <a:solidFill>
                  <a:srgbClr val="FF66FF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>
                <a:solidFill>
                  <a:srgbClr val="FF66FF"/>
                </a:solidFill>
                <a:latin typeface="Symbol"/>
                <a:cs typeface="Symbol"/>
              </a:rPr>
              <a:t></a:t>
            </a:r>
            <a:r>
              <a:rPr dirty="0" sz="3200" spc="5" b="1">
                <a:solidFill>
                  <a:srgbClr val="FF66FF"/>
                </a:solidFill>
                <a:latin typeface="Times New Roman"/>
                <a:cs typeface="Times New Roman"/>
              </a:rPr>
              <a:t>1}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211057" y="6678574"/>
            <a:ext cx="73787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19</a:t>
            </a:r>
            <a:r>
              <a:rPr dirty="0" sz="1400" spc="25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774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8491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388228" y="26923"/>
            <a:ext cx="32715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6978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直观的算符优先分析法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6448" y="0"/>
            <a:ext cx="4432300" cy="1143000"/>
          </a:xfrm>
          <a:prstGeom prst="rect">
            <a:avLst/>
          </a:prstGeom>
        </p:spPr>
        <p:txBody>
          <a:bodyPr wrap="square" lIns="0" tIns="13779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85"/>
              </a:spcBef>
              <a:tabLst>
                <a:tab pos="2108835" algn="l"/>
                <a:tab pos="2616835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算符优先分析法</a:t>
            </a:r>
            <a:endParaRPr sz="2000">
              <a:latin typeface="宋体"/>
              <a:cs typeface="宋体"/>
            </a:endParaRPr>
          </a:p>
          <a:p>
            <a:pPr marL="1276350">
              <a:lnSpc>
                <a:spcPct val="100000"/>
              </a:lnSpc>
              <a:spcBef>
                <a:spcPts val="1570"/>
              </a:spcBef>
            </a:pPr>
            <a:r>
              <a:rPr dirty="0" sz="3200" b="1">
                <a:solidFill>
                  <a:srgbClr val="FFFFFF"/>
                </a:solidFill>
                <a:latin typeface="微软雅黑"/>
                <a:cs typeface="微软雅黑"/>
              </a:rPr>
              <a:t>文法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FF"/>
                </a:solidFill>
                <a:latin typeface="微软雅黑"/>
                <a:cs typeface="微软雅黑"/>
              </a:rPr>
              <a:t>的优先关系</a:t>
            </a:r>
            <a:endParaRPr sz="3200">
              <a:latin typeface="微软雅黑"/>
              <a:cs typeface="微软雅黑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134361" y="4914138"/>
            <a:ext cx="325120" cy="1449705"/>
          </a:xfrm>
          <a:custGeom>
            <a:avLst/>
            <a:gdLst/>
            <a:ahLst/>
            <a:cxnLst/>
            <a:rect l="l" t="t" r="r" b="b"/>
            <a:pathLst>
              <a:path w="325119" h="1449704">
                <a:moveTo>
                  <a:pt x="324612" y="1449324"/>
                </a:moveTo>
                <a:lnTo>
                  <a:pt x="273301" y="1443151"/>
                </a:lnTo>
                <a:lnTo>
                  <a:pt x="228746" y="1425964"/>
                </a:lnTo>
                <a:lnTo>
                  <a:pt x="193615" y="1399757"/>
                </a:lnTo>
                <a:lnTo>
                  <a:pt x="170578" y="1366522"/>
                </a:lnTo>
                <a:lnTo>
                  <a:pt x="162306" y="1328254"/>
                </a:lnTo>
                <a:lnTo>
                  <a:pt x="162306" y="845731"/>
                </a:lnTo>
                <a:lnTo>
                  <a:pt x="154033" y="807463"/>
                </a:lnTo>
                <a:lnTo>
                  <a:pt x="130996" y="774228"/>
                </a:lnTo>
                <a:lnTo>
                  <a:pt x="95865" y="748021"/>
                </a:lnTo>
                <a:lnTo>
                  <a:pt x="51310" y="730834"/>
                </a:lnTo>
                <a:lnTo>
                  <a:pt x="0" y="724662"/>
                </a:lnTo>
                <a:lnTo>
                  <a:pt x="51310" y="718487"/>
                </a:lnTo>
                <a:lnTo>
                  <a:pt x="95865" y="701298"/>
                </a:lnTo>
                <a:lnTo>
                  <a:pt x="130996" y="675092"/>
                </a:lnTo>
                <a:lnTo>
                  <a:pt x="154033" y="641870"/>
                </a:lnTo>
                <a:lnTo>
                  <a:pt x="162306" y="603631"/>
                </a:lnTo>
                <a:lnTo>
                  <a:pt x="162306" y="121031"/>
                </a:lnTo>
                <a:lnTo>
                  <a:pt x="170578" y="82791"/>
                </a:lnTo>
                <a:lnTo>
                  <a:pt x="193615" y="49569"/>
                </a:lnTo>
                <a:lnTo>
                  <a:pt x="228746" y="23363"/>
                </a:lnTo>
                <a:lnTo>
                  <a:pt x="273301" y="6174"/>
                </a:lnTo>
                <a:lnTo>
                  <a:pt x="324612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535940" y="5350560"/>
            <a:ext cx="145351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66FF"/>
                </a:solidFill>
                <a:latin typeface="宋体"/>
                <a:cs typeface="宋体"/>
              </a:rPr>
              <a:t>优先关系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972300" y="6591300"/>
            <a:ext cx="597407" cy="2666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2593594" y="4641547"/>
            <a:ext cx="5424170" cy="2214880"/>
          </a:xfrm>
          <a:prstGeom prst="rect">
            <a:avLst/>
          </a:prstGeom>
        </p:spPr>
        <p:txBody>
          <a:bodyPr wrap="square" lIns="0" tIns="1593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5"/>
              </a:spcBef>
              <a:tabLst>
                <a:tab pos="1609725" algn="l"/>
              </a:tabLst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spc="21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66FFFF"/>
                </a:solidFill>
                <a:latin typeface="Lucida Sans Unicode"/>
                <a:cs typeface="Lucida Sans Unicode"/>
              </a:rPr>
              <a:t>⋖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	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表示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优先关系低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于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  <a:tabLst>
                <a:tab pos="1515110" algn="l"/>
              </a:tabLst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spc="21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66FFFF"/>
                </a:solidFill>
                <a:latin typeface="Lucida Sans Unicode"/>
                <a:cs typeface="Lucida Sans Unicode"/>
              </a:rPr>
              <a:t>⋗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	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表示的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优先关系高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于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  <a:tabLst>
                <a:tab pos="1487805" algn="l"/>
              </a:tabLst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spc="21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66FFFF"/>
                </a:solidFill>
                <a:latin typeface="Lucida Sans Unicode"/>
                <a:cs typeface="Lucida Sans Unicode"/>
              </a:rPr>
              <a:t>≐</a:t>
            </a:r>
            <a:r>
              <a:rPr dirty="0" sz="3200" spc="-215" b="1" i="1">
                <a:solidFill>
                  <a:srgbClr val="66FFFF"/>
                </a:solidFill>
                <a:latin typeface="Lucida Sans Unicode"/>
                <a:cs typeface="Lucida Sans Unicode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	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表示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优先关系同等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于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  <a:p>
            <a:pPr algn="r" marR="558165">
              <a:lnSpc>
                <a:spcPct val="100000"/>
              </a:lnSpc>
              <a:spcBef>
                <a:spcPts val="575"/>
              </a:spcBef>
            </a:pPr>
            <a:r>
              <a:rPr dirty="0" sz="1400" spc="5" b="1">
                <a:latin typeface="宋体"/>
                <a:cs typeface="宋体"/>
                <a:hlinkClick r:id="rId5" action="ppaction://hlinksldjump"/>
              </a:rPr>
              <a:t>分析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715261" y="1125474"/>
            <a:ext cx="896619" cy="647700"/>
          </a:xfrm>
          <a:custGeom>
            <a:avLst/>
            <a:gdLst/>
            <a:ahLst/>
            <a:cxnLst/>
            <a:rect l="l" t="t" r="r" b="b"/>
            <a:pathLst>
              <a:path w="896619" h="647700">
                <a:moveTo>
                  <a:pt x="0" y="0"/>
                </a:moveTo>
                <a:lnTo>
                  <a:pt x="896112" y="64770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1696211" y="1106424"/>
          <a:ext cx="5314950" cy="3322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5985"/>
                <a:gridCol w="2192654"/>
                <a:gridCol w="923925"/>
                <a:gridCol w="1245235"/>
              </a:tblGrid>
              <a:tr h="647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45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ack</a:t>
                      </a:r>
                      <a:r>
                        <a:rPr dirty="0" sz="2800" spc="-34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32738" sz="4200" spc="-7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endParaRPr baseline="32738" sz="4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6215"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72490">
                        <a:lnSpc>
                          <a:spcPts val="3610"/>
                        </a:lnSpc>
                      </a:pPr>
                      <a:r>
                        <a:rPr dirty="0" sz="32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2729">
                        <a:lnSpc>
                          <a:spcPts val="3610"/>
                        </a:lnSpc>
                      </a:pPr>
                      <a:r>
                        <a:rPr dirty="0" sz="32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ts val="3610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1334022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4400">
                        <a:latin typeface="Times New Roman"/>
                        <a:cs typeface="Times New Roman"/>
                      </a:endParaRPr>
                    </a:p>
                    <a:p>
                      <a:pPr algn="just" marL="293370" marR="391160">
                        <a:lnSpc>
                          <a:spcPct val="114999"/>
                        </a:lnSpc>
                      </a:pPr>
                      <a:r>
                        <a:rPr dirty="0" sz="32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dirty="0" sz="32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2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  </a:t>
                      </a: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5450">
                        <a:latin typeface="Times New Roman"/>
                        <a:cs typeface="Times New Roman"/>
                      </a:endParaRPr>
                    </a:p>
                    <a:p>
                      <a:pPr algn="r" marR="245110">
                        <a:lnSpc>
                          <a:spcPct val="100000"/>
                        </a:lnSpc>
                      </a:pPr>
                      <a:r>
                        <a:rPr dirty="0" sz="3200" b="1" i="1">
                          <a:solidFill>
                            <a:srgbClr val="66FFFF"/>
                          </a:solidFill>
                          <a:latin typeface="Lucida Sans Unicode"/>
                          <a:cs typeface="Lucida Sans Unicode"/>
                        </a:rPr>
                        <a:t>⋖</a:t>
                      </a:r>
                      <a:endParaRPr sz="32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3810">
                    <a:lnL w="38100">
                      <a:solidFill>
                        <a:srgbClr val="FFFF00"/>
                      </a:solidFill>
                      <a:prstDash val="solid"/>
                    </a:lnL>
                    <a:lnT w="38100">
                      <a:solidFill>
                        <a:srgbClr val="FFFF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5450">
                        <a:latin typeface="Times New Roman"/>
                        <a:cs typeface="Times New Roman"/>
                      </a:endParaRPr>
                    </a:p>
                    <a:p>
                      <a:pPr algn="r" marR="135255">
                        <a:lnSpc>
                          <a:spcPct val="100000"/>
                        </a:lnSpc>
                      </a:pPr>
                      <a:r>
                        <a:rPr dirty="0" sz="3200" b="1" i="1">
                          <a:solidFill>
                            <a:srgbClr val="66FFFF"/>
                          </a:solidFill>
                          <a:latin typeface="Lucida Sans Unicode"/>
                          <a:cs typeface="Lucida Sans Unicode"/>
                        </a:rPr>
                        <a:t>≐</a:t>
                      </a:r>
                      <a:endParaRPr sz="32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3810">
                    <a:lnT w="38100">
                      <a:solidFill>
                        <a:srgbClr val="FFFF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38100">
                      <a:solidFill>
                        <a:srgbClr val="FFFF00"/>
                      </a:solidFill>
                      <a:prstDash val="solid"/>
                    </a:lnT>
                  </a:tcPr>
                </a:tc>
              </a:tr>
              <a:tr h="524296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"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r" marR="167640">
                        <a:lnSpc>
                          <a:spcPts val="3750"/>
                        </a:lnSpc>
                      </a:pPr>
                      <a:r>
                        <a:rPr dirty="0" sz="3200" b="1" i="1">
                          <a:solidFill>
                            <a:srgbClr val="66FFFF"/>
                          </a:solidFill>
                          <a:latin typeface="Lucida Sans Unicode"/>
                          <a:cs typeface="Lucida Sans Unicode"/>
                        </a:rPr>
                        <a:t>⋗</a:t>
                      </a:r>
                      <a:endParaRPr sz="32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42545">
                        <a:lnSpc>
                          <a:spcPts val="3750"/>
                        </a:lnSpc>
                      </a:pPr>
                      <a:r>
                        <a:rPr dirty="0" sz="3200" b="1" i="1">
                          <a:solidFill>
                            <a:srgbClr val="66FFFF"/>
                          </a:solidFill>
                          <a:latin typeface="Lucida Sans Unicode"/>
                          <a:cs typeface="Lucida Sans Unicode"/>
                        </a:rPr>
                        <a:t>⋗</a:t>
                      </a:r>
                      <a:endParaRPr sz="32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/>
                </a:tc>
              </a:tr>
              <a:tr h="7782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"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64160">
                        <a:lnSpc>
                          <a:spcPts val="3760"/>
                        </a:lnSpc>
                      </a:pPr>
                      <a:r>
                        <a:rPr dirty="0" sz="3200" b="1" i="1">
                          <a:solidFill>
                            <a:srgbClr val="66FFFF"/>
                          </a:solidFill>
                          <a:latin typeface="Lucida Sans Unicode"/>
                          <a:cs typeface="Lucida Sans Unicode"/>
                        </a:rPr>
                        <a:t>⋖</a:t>
                      </a:r>
                      <a:endParaRPr sz="32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object 16"/>
          <p:cNvSpPr txBox="1"/>
          <p:nvPr/>
        </p:nvSpPr>
        <p:spPr>
          <a:xfrm>
            <a:off x="1374394" y="1309192"/>
            <a:ext cx="28257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st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136892" y="1261110"/>
            <a:ext cx="2007235" cy="0"/>
          </a:xfrm>
          <a:custGeom>
            <a:avLst/>
            <a:gdLst/>
            <a:ahLst/>
            <a:cxnLst/>
            <a:rect l="l" t="t" r="r" b="b"/>
            <a:pathLst>
              <a:path w="2007234" h="0">
                <a:moveTo>
                  <a:pt x="0" y="0"/>
                </a:moveTo>
                <a:lnTo>
                  <a:pt x="2007107" y="0"/>
                </a:lnTo>
              </a:path>
            </a:pathLst>
          </a:custGeom>
          <a:ln w="12700">
            <a:solidFill>
              <a:srgbClr val="F3B4F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143242" y="452119"/>
            <a:ext cx="0" cy="802640"/>
          </a:xfrm>
          <a:custGeom>
            <a:avLst/>
            <a:gdLst/>
            <a:ahLst/>
            <a:cxnLst/>
            <a:rect l="l" t="t" r="r" b="b"/>
            <a:pathLst>
              <a:path w="0" h="802640">
                <a:moveTo>
                  <a:pt x="0" y="0"/>
                </a:moveTo>
                <a:lnTo>
                  <a:pt x="0" y="802639"/>
                </a:lnTo>
              </a:path>
            </a:pathLst>
          </a:custGeom>
          <a:ln w="12700">
            <a:solidFill>
              <a:srgbClr val="F3B4F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136892" y="445769"/>
            <a:ext cx="2007235" cy="0"/>
          </a:xfrm>
          <a:custGeom>
            <a:avLst/>
            <a:gdLst/>
            <a:ahLst/>
            <a:cxnLst/>
            <a:rect l="l" t="t" r="r" b="b"/>
            <a:pathLst>
              <a:path w="2007234" h="0">
                <a:moveTo>
                  <a:pt x="0" y="0"/>
                </a:moveTo>
                <a:lnTo>
                  <a:pt x="2007107" y="0"/>
                </a:lnTo>
              </a:path>
            </a:pathLst>
          </a:custGeom>
          <a:ln w="12700">
            <a:solidFill>
              <a:srgbClr val="F3B4F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162292" y="1229360"/>
            <a:ext cx="1981835" cy="0"/>
          </a:xfrm>
          <a:custGeom>
            <a:avLst/>
            <a:gdLst/>
            <a:ahLst/>
            <a:cxnLst/>
            <a:rect l="l" t="t" r="r" b="b"/>
            <a:pathLst>
              <a:path w="1981834" h="0">
                <a:moveTo>
                  <a:pt x="0" y="0"/>
                </a:moveTo>
                <a:lnTo>
                  <a:pt x="1981707" y="0"/>
                </a:lnTo>
              </a:path>
            </a:pathLst>
          </a:custGeom>
          <a:ln w="25400">
            <a:solidFill>
              <a:srgbClr val="F3B4F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174992" y="490219"/>
            <a:ext cx="0" cy="726440"/>
          </a:xfrm>
          <a:custGeom>
            <a:avLst/>
            <a:gdLst/>
            <a:ahLst/>
            <a:cxnLst/>
            <a:rect l="l" t="t" r="r" b="b"/>
            <a:pathLst>
              <a:path w="0" h="726440">
                <a:moveTo>
                  <a:pt x="0" y="0"/>
                </a:moveTo>
                <a:lnTo>
                  <a:pt x="0" y="726439"/>
                </a:lnTo>
              </a:path>
            </a:pathLst>
          </a:custGeom>
          <a:ln w="25400">
            <a:solidFill>
              <a:srgbClr val="F3B4F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162292" y="477519"/>
            <a:ext cx="1981835" cy="0"/>
          </a:xfrm>
          <a:custGeom>
            <a:avLst/>
            <a:gdLst/>
            <a:ahLst/>
            <a:cxnLst/>
            <a:rect l="l" t="t" r="r" b="b"/>
            <a:pathLst>
              <a:path w="1981834" h="0">
                <a:moveTo>
                  <a:pt x="0" y="0"/>
                </a:moveTo>
                <a:lnTo>
                  <a:pt x="1981707" y="0"/>
                </a:lnTo>
              </a:path>
            </a:pathLst>
          </a:custGeom>
          <a:ln w="25400">
            <a:solidFill>
              <a:srgbClr val="F3B4F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9137650" y="489712"/>
            <a:ext cx="0" cy="727710"/>
          </a:xfrm>
          <a:custGeom>
            <a:avLst/>
            <a:gdLst/>
            <a:ahLst/>
            <a:cxnLst/>
            <a:rect l="l" t="t" r="r" b="b"/>
            <a:pathLst>
              <a:path w="0" h="727710">
                <a:moveTo>
                  <a:pt x="0" y="0"/>
                </a:moveTo>
                <a:lnTo>
                  <a:pt x="0" y="727455"/>
                </a:lnTo>
              </a:path>
            </a:pathLst>
          </a:custGeom>
          <a:ln w="12700">
            <a:solidFill>
              <a:srgbClr val="F3B4F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200392" y="1197610"/>
            <a:ext cx="1918335" cy="0"/>
          </a:xfrm>
          <a:custGeom>
            <a:avLst/>
            <a:gdLst/>
            <a:ahLst/>
            <a:cxnLst/>
            <a:rect l="l" t="t" r="r" b="b"/>
            <a:pathLst>
              <a:path w="1918334" h="0">
                <a:moveTo>
                  <a:pt x="0" y="0"/>
                </a:moveTo>
                <a:lnTo>
                  <a:pt x="1918207" y="0"/>
                </a:lnTo>
              </a:path>
            </a:pathLst>
          </a:custGeom>
          <a:ln w="12700">
            <a:solidFill>
              <a:srgbClr val="F3B4F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206742" y="515619"/>
            <a:ext cx="0" cy="675640"/>
          </a:xfrm>
          <a:custGeom>
            <a:avLst/>
            <a:gdLst/>
            <a:ahLst/>
            <a:cxnLst/>
            <a:rect l="l" t="t" r="r" b="b"/>
            <a:pathLst>
              <a:path w="0" h="675640">
                <a:moveTo>
                  <a:pt x="0" y="0"/>
                </a:moveTo>
                <a:lnTo>
                  <a:pt x="0" y="675639"/>
                </a:lnTo>
              </a:path>
            </a:pathLst>
          </a:custGeom>
          <a:ln w="12700">
            <a:solidFill>
              <a:srgbClr val="F3B4F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200392" y="509269"/>
            <a:ext cx="1918335" cy="0"/>
          </a:xfrm>
          <a:custGeom>
            <a:avLst/>
            <a:gdLst/>
            <a:ahLst/>
            <a:cxnLst/>
            <a:rect l="l" t="t" r="r" b="b"/>
            <a:pathLst>
              <a:path w="1918334" h="0">
                <a:moveTo>
                  <a:pt x="0" y="0"/>
                </a:moveTo>
                <a:lnTo>
                  <a:pt x="1918207" y="0"/>
                </a:lnTo>
              </a:path>
            </a:pathLst>
          </a:custGeom>
          <a:ln w="12700">
            <a:solidFill>
              <a:srgbClr val="F3B4F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9112250" y="515112"/>
            <a:ext cx="0" cy="676910"/>
          </a:xfrm>
          <a:custGeom>
            <a:avLst/>
            <a:gdLst/>
            <a:ahLst/>
            <a:cxnLst/>
            <a:rect l="l" t="t" r="r" b="b"/>
            <a:pathLst>
              <a:path w="0" h="676910">
                <a:moveTo>
                  <a:pt x="0" y="0"/>
                </a:moveTo>
                <a:lnTo>
                  <a:pt x="0" y="676655"/>
                </a:lnTo>
              </a:path>
            </a:pathLst>
          </a:custGeom>
          <a:ln w="12700">
            <a:solidFill>
              <a:srgbClr val="F3B4F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7187692" y="462788"/>
            <a:ext cx="1931035" cy="683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64210" indent="-584200">
              <a:lnSpc>
                <a:spcPts val="2590"/>
              </a:lnSpc>
              <a:spcBef>
                <a:spcPts val="100"/>
              </a:spcBef>
              <a:buFont typeface="Times New Roman"/>
              <a:buAutoNum type="arabicParenBoth"/>
              <a:tabLst>
                <a:tab pos="663575" algn="l"/>
                <a:tab pos="664210" algn="l"/>
              </a:tabLst>
            </a:pP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2400" spc="-1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aSb</a:t>
            </a:r>
            <a:endParaRPr sz="2400">
              <a:latin typeface="Times New Roman"/>
              <a:cs typeface="Times New Roman"/>
            </a:endParaRPr>
          </a:p>
          <a:p>
            <a:pPr marL="664210" indent="-584200">
              <a:lnSpc>
                <a:spcPts val="2590"/>
              </a:lnSpc>
              <a:buFont typeface="Times New Roman"/>
              <a:buAutoNum type="arabicParenBoth"/>
              <a:tabLst>
                <a:tab pos="663575" algn="l"/>
                <a:tab pos="664210" algn="l"/>
              </a:tabLst>
            </a:pP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ab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211057" y="6678574"/>
            <a:ext cx="73787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20</a:t>
            </a:r>
            <a:r>
              <a:rPr dirty="0" sz="1400" spc="25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774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8491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42950" y="1215339"/>
            <a:ext cx="63754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step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34361" y="1215339"/>
            <a:ext cx="220027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048510" algn="l"/>
              </a:tabLst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st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ck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31509" y="1265631"/>
            <a:ext cx="63817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关系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45781" y="1215339"/>
            <a:ext cx="95440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acti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97429" y="2092730"/>
            <a:ext cx="560070" cy="1196975"/>
          </a:xfrm>
          <a:prstGeom prst="rect">
            <a:avLst/>
          </a:prstGeom>
        </p:spPr>
        <p:txBody>
          <a:bodyPr wrap="square" lIns="0" tIns="1714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dirty="0" sz="2800" spc="-15" b="1">
                <a:solidFill>
                  <a:srgbClr val="66FFFF"/>
                </a:solidFill>
                <a:latin typeface="宋体"/>
                <a:cs typeface="宋体"/>
              </a:rPr>
              <a:t>＃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＃</a:t>
            </a: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00932" y="2092730"/>
            <a:ext cx="1097280" cy="11969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3675" marR="5080" indent="-181610">
              <a:lnSpc>
                <a:spcPct val="137200"/>
              </a:lnSpc>
              <a:spcBef>
                <a:spcPts val="100"/>
              </a:spcBef>
            </a:pPr>
            <a:r>
              <a:rPr dirty="0" sz="2800" b="1" i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abb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＃  </a:t>
            </a:r>
            <a:r>
              <a:rPr dirty="0" sz="2800" b="1" i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bb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＃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02942" y="3423030"/>
            <a:ext cx="7378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＃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07514" y="4007942"/>
            <a:ext cx="91694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＃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u="heavy" sz="2800" spc="-5" b="1" i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a</a:t>
            </a:r>
            <a:r>
              <a:rPr dirty="0" u="heavy" sz="2800" spc="-5" b="1" i="1">
                <a:solidFill>
                  <a:srgbClr val="66FFFF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54500" y="3264366"/>
            <a:ext cx="742315" cy="11957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94945" marR="5080" indent="-182880">
              <a:lnSpc>
                <a:spcPct val="137100"/>
              </a:lnSpc>
              <a:spcBef>
                <a:spcPts val="95"/>
              </a:spcBef>
            </a:pPr>
            <a:r>
              <a:rPr dirty="0" sz="2800" b="1" i="1">
                <a:solidFill>
                  <a:srgbClr val="66FFFF"/>
                </a:solidFill>
                <a:latin typeface="Times New Roman"/>
                <a:cs typeface="Times New Roman"/>
              </a:rPr>
              <a:t>b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＃  </a:t>
            </a: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b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＃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07514" y="4593716"/>
            <a:ext cx="75819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＃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07514" y="5178628"/>
            <a:ext cx="93662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＃</a:t>
            </a:r>
            <a:r>
              <a:rPr dirty="0" u="heavy" sz="2800" spc="-5" b="1" i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aS</a:t>
            </a:r>
            <a:r>
              <a:rPr dirty="0" u="heavy" sz="2800" spc="-5" b="1" i="1">
                <a:solidFill>
                  <a:srgbClr val="66FFFF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457191" y="4435052"/>
            <a:ext cx="558800" cy="1195705"/>
          </a:xfrm>
          <a:prstGeom prst="rect">
            <a:avLst/>
          </a:prstGeom>
        </p:spPr>
        <p:txBody>
          <a:bodyPr wrap="square" lIns="0" tIns="1708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dirty="0" sz="2800" b="1" i="1">
                <a:solidFill>
                  <a:srgbClr val="66FFFF"/>
                </a:solidFill>
                <a:latin typeface="Times New Roman"/>
                <a:cs typeface="Times New Roman"/>
              </a:rPr>
              <a:t>b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＃</a:t>
            </a:r>
            <a:endParaRPr sz="2800">
              <a:latin typeface="宋体"/>
              <a:cs typeface="宋体"/>
            </a:endParaRPr>
          </a:p>
          <a:p>
            <a:pPr marL="189230">
              <a:lnSpc>
                <a:spcPct val="100000"/>
              </a:lnSpc>
              <a:spcBef>
                <a:spcPts val="1245"/>
              </a:spcBef>
            </a:pPr>
            <a:r>
              <a:rPr dirty="0" sz="2800" spc="-15" b="1">
                <a:solidFill>
                  <a:srgbClr val="66FFFF"/>
                </a:solidFill>
                <a:latin typeface="宋体"/>
                <a:cs typeface="宋体"/>
              </a:rPr>
              <a:t>＃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31342" y="2092730"/>
            <a:ext cx="441325" cy="4073525"/>
          </a:xfrm>
          <a:prstGeom prst="rect">
            <a:avLst/>
          </a:prstGeom>
        </p:spPr>
        <p:txBody>
          <a:bodyPr wrap="square" lIns="0" tIns="1714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(4)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(6)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7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202942" y="5714187"/>
            <a:ext cx="57975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＃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627879" y="5714187"/>
            <a:ext cx="3810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＃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944870" y="2103094"/>
            <a:ext cx="2430145" cy="4062729"/>
          </a:xfrm>
          <a:prstGeom prst="rect">
            <a:avLst/>
          </a:prstGeom>
        </p:spPr>
        <p:txBody>
          <a:bodyPr wrap="square" lIns="0" tIns="110489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869"/>
              </a:spcBef>
              <a:tabLst>
                <a:tab pos="1316990" algn="l"/>
              </a:tabLst>
            </a:pPr>
            <a:r>
              <a:rPr dirty="0" sz="3200" b="1" i="1">
                <a:solidFill>
                  <a:srgbClr val="66FFFF"/>
                </a:solidFill>
                <a:latin typeface="Lucida Sans Unicode"/>
                <a:cs typeface="Lucida Sans Unicode"/>
              </a:rPr>
              <a:t>⋖	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shift</a:t>
            </a:r>
            <a:endParaRPr sz="2800">
              <a:latin typeface="Times New Roman"/>
              <a:cs typeface="Times New Roman"/>
            </a:endParaRPr>
          </a:p>
          <a:p>
            <a:pPr marL="18415">
              <a:lnSpc>
                <a:spcPct val="100000"/>
              </a:lnSpc>
              <a:spcBef>
                <a:spcPts val="770"/>
              </a:spcBef>
              <a:tabLst>
                <a:tab pos="1330325" algn="l"/>
              </a:tabLst>
            </a:pPr>
            <a:r>
              <a:rPr dirty="0" sz="3200" b="1" i="1">
                <a:solidFill>
                  <a:srgbClr val="66FFFF"/>
                </a:solidFill>
                <a:latin typeface="Lucida Sans Unicode"/>
                <a:cs typeface="Lucida Sans Unicode"/>
              </a:rPr>
              <a:t>⋖	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shift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  <a:tabLst>
                <a:tab pos="1264920" algn="l"/>
              </a:tabLst>
            </a:pPr>
            <a:r>
              <a:rPr dirty="0" sz="3200" b="1" i="1">
                <a:solidFill>
                  <a:srgbClr val="66FFFF"/>
                </a:solidFill>
                <a:latin typeface="Lucida Sans Unicode"/>
                <a:cs typeface="Lucida Sans Unicode"/>
              </a:rPr>
              <a:t>≐	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shift</a:t>
            </a:r>
            <a:endParaRPr sz="2800">
              <a:latin typeface="Times New Roman"/>
              <a:cs typeface="Times New Roman"/>
            </a:endParaRPr>
          </a:p>
          <a:p>
            <a:pPr marL="21590">
              <a:lnSpc>
                <a:spcPct val="100000"/>
              </a:lnSpc>
              <a:spcBef>
                <a:spcPts val="765"/>
              </a:spcBef>
              <a:tabLst>
                <a:tab pos="967740" algn="l"/>
              </a:tabLst>
            </a:pPr>
            <a:r>
              <a:rPr dirty="0" sz="3200" b="1" i="1">
                <a:solidFill>
                  <a:srgbClr val="FFFFFF"/>
                </a:solidFill>
                <a:latin typeface="Lucida Sans Unicode"/>
                <a:cs typeface="Lucida Sans Unicode"/>
              </a:rPr>
              <a:t>⋗	</a:t>
            </a:r>
            <a:r>
              <a:rPr dirty="0" sz="2800" spc="-10" b="1">
                <a:solidFill>
                  <a:srgbClr val="FFFF69"/>
                </a:solidFill>
                <a:latin typeface="Times New Roman"/>
                <a:cs typeface="Times New Roman"/>
              </a:rPr>
              <a:t>reduce(2)</a:t>
            </a:r>
            <a:endParaRPr sz="2800">
              <a:latin typeface="Times New Roman"/>
              <a:cs typeface="Times New Roman"/>
            </a:endParaRPr>
          </a:p>
          <a:p>
            <a:pPr marL="41275">
              <a:lnSpc>
                <a:spcPct val="100000"/>
              </a:lnSpc>
              <a:spcBef>
                <a:spcPts val="770"/>
              </a:spcBef>
              <a:tabLst>
                <a:tab pos="1254125" algn="l"/>
              </a:tabLst>
            </a:pPr>
            <a:r>
              <a:rPr dirty="0" sz="3200" b="1" i="1">
                <a:solidFill>
                  <a:srgbClr val="66FFFF"/>
                </a:solidFill>
                <a:latin typeface="Lucida Sans Unicode"/>
                <a:cs typeface="Lucida Sans Unicode"/>
              </a:rPr>
              <a:t>≐	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shift</a:t>
            </a:r>
            <a:endParaRPr sz="2800">
              <a:latin typeface="Times New Roman"/>
              <a:cs typeface="Times New Roman"/>
            </a:endParaRPr>
          </a:p>
          <a:p>
            <a:pPr marL="1368425" marR="5080" indent="-1332230">
              <a:lnSpc>
                <a:spcPts val="4210"/>
              </a:lnSpc>
              <a:spcBef>
                <a:spcPts val="600"/>
              </a:spcBef>
              <a:tabLst>
                <a:tab pos="982980" algn="l"/>
              </a:tabLst>
            </a:pPr>
            <a:r>
              <a:rPr dirty="0" sz="3200" b="1" i="1">
                <a:solidFill>
                  <a:srgbClr val="FFFFFF"/>
                </a:solidFill>
                <a:latin typeface="Lucida Sans Unicode"/>
                <a:cs typeface="Lucida Sans Unicode"/>
              </a:rPr>
              <a:t>⋗</a:t>
            </a:r>
            <a:r>
              <a:rPr dirty="0" sz="3200" b="1" i="1">
                <a:solidFill>
                  <a:srgbClr val="FFFFFF"/>
                </a:solidFill>
                <a:latin typeface="Lucida Sans Unicode"/>
                <a:cs typeface="Lucida Sans Unicode"/>
              </a:rPr>
              <a:t>	</a:t>
            </a:r>
            <a:r>
              <a:rPr dirty="0" sz="2800" spc="-60" b="1">
                <a:solidFill>
                  <a:srgbClr val="FFFF69"/>
                </a:solidFill>
                <a:latin typeface="Times New Roman"/>
                <a:cs typeface="Times New Roman"/>
              </a:rPr>
              <a:t>r</a:t>
            </a:r>
            <a:r>
              <a:rPr dirty="0" sz="2800" spc="-5" b="1">
                <a:solidFill>
                  <a:srgbClr val="FFFF69"/>
                </a:solidFill>
                <a:latin typeface="Times New Roman"/>
                <a:cs typeface="Times New Roman"/>
              </a:rPr>
              <a:t>educ</a:t>
            </a:r>
            <a:r>
              <a:rPr dirty="0" sz="2800" spc="-20" b="1">
                <a:solidFill>
                  <a:srgbClr val="FFFF69"/>
                </a:solidFill>
                <a:latin typeface="Times New Roman"/>
                <a:cs typeface="Times New Roman"/>
              </a:rPr>
              <a:t>e</a:t>
            </a:r>
            <a:r>
              <a:rPr dirty="0" sz="2800" b="1">
                <a:solidFill>
                  <a:srgbClr val="FFFF69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>
                <a:solidFill>
                  <a:srgbClr val="FFFF69"/>
                </a:solidFill>
                <a:latin typeface="Times New Roman"/>
                <a:cs typeface="Times New Roman"/>
              </a:rPr>
              <a:t>1) 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acc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91262" y="1239774"/>
            <a:ext cx="8783320" cy="0"/>
          </a:xfrm>
          <a:custGeom>
            <a:avLst/>
            <a:gdLst/>
            <a:ahLst/>
            <a:cxnLst/>
            <a:rect l="l" t="t" r="r" b="b"/>
            <a:pathLst>
              <a:path w="8783320" h="0">
                <a:moveTo>
                  <a:pt x="0" y="0"/>
                </a:moveTo>
                <a:lnTo>
                  <a:pt x="8782812" y="0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11074" y="1849373"/>
            <a:ext cx="8781415" cy="0"/>
          </a:xfrm>
          <a:custGeom>
            <a:avLst/>
            <a:gdLst/>
            <a:ahLst/>
            <a:cxnLst/>
            <a:rect l="l" t="t" r="r" b="b"/>
            <a:pathLst>
              <a:path w="8781415" h="0">
                <a:moveTo>
                  <a:pt x="0" y="0"/>
                </a:moveTo>
                <a:lnTo>
                  <a:pt x="8781288" y="0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91262" y="6553961"/>
            <a:ext cx="8783320" cy="0"/>
          </a:xfrm>
          <a:custGeom>
            <a:avLst/>
            <a:gdLst/>
            <a:ahLst/>
            <a:cxnLst/>
            <a:rect l="l" t="t" r="r" b="b"/>
            <a:pathLst>
              <a:path w="8783320" h="0">
                <a:moveTo>
                  <a:pt x="0" y="0"/>
                </a:moveTo>
                <a:lnTo>
                  <a:pt x="8782812" y="0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1491488" y="640207"/>
            <a:ext cx="531685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-5" b="1">
                <a:solidFill>
                  <a:srgbClr val="FFFF00"/>
                </a:solidFill>
                <a:latin typeface="微软雅黑"/>
                <a:cs typeface="微软雅黑"/>
              </a:rPr>
              <a:t>句子</a:t>
            </a:r>
            <a:r>
              <a:rPr dirty="0" sz="2800" spc="-70" b="1">
                <a:solidFill>
                  <a:srgbClr val="FFFF00"/>
                </a:solidFill>
                <a:latin typeface="微软雅黑"/>
                <a:cs typeface="微软雅黑"/>
              </a:rPr>
              <a:t> </a:t>
            </a:r>
            <a:r>
              <a:rPr dirty="0" sz="3200" spc="5" b="1" i="1">
                <a:solidFill>
                  <a:srgbClr val="FFFF00"/>
                </a:solidFill>
                <a:latin typeface="Times New Roman"/>
                <a:cs typeface="Times New Roman"/>
              </a:rPr>
              <a:t>aabb</a:t>
            </a:r>
            <a:r>
              <a:rPr dirty="0" sz="3200" b="1">
                <a:solidFill>
                  <a:srgbClr val="FFFF00"/>
                </a:solidFill>
                <a:latin typeface="微软雅黑"/>
                <a:cs typeface="微软雅黑"/>
              </a:rPr>
              <a:t>的算符优</a:t>
            </a:r>
            <a:r>
              <a:rPr dirty="0" sz="3200" spc="-15" b="1">
                <a:solidFill>
                  <a:srgbClr val="FFFF00"/>
                </a:solidFill>
                <a:latin typeface="微软雅黑"/>
                <a:cs typeface="微软雅黑"/>
              </a:rPr>
              <a:t>先</a:t>
            </a:r>
            <a:r>
              <a:rPr dirty="0" sz="3200" b="1">
                <a:solidFill>
                  <a:srgbClr val="FFFF00"/>
                </a:solidFill>
                <a:latin typeface="微软雅黑"/>
                <a:cs typeface="微软雅黑"/>
              </a:rPr>
              <a:t>分析过程</a:t>
            </a:r>
            <a:endParaRPr sz="3200">
              <a:latin typeface="微软雅黑"/>
              <a:cs typeface="微软雅黑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536448" y="26923"/>
            <a:ext cx="81229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2108835" algn="l"/>
                <a:tab pos="2616835" algn="l"/>
                <a:tab pos="4851400" algn="l"/>
                <a:tab pos="5549265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算符优先分析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法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直观的算符优先分析法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340096" y="6633971"/>
            <a:ext cx="870203" cy="22402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5583682" y="6638340"/>
            <a:ext cx="38544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5" b="1">
                <a:latin typeface="宋体"/>
                <a:cs typeface="宋体"/>
                <a:hlinkClick r:id="rId5" action="ppaction://hlinksldjump"/>
              </a:rPr>
              <a:t>查看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248661" y="5791961"/>
            <a:ext cx="2801620" cy="523240"/>
          </a:xfrm>
          <a:custGeom>
            <a:avLst/>
            <a:gdLst/>
            <a:ahLst/>
            <a:cxnLst/>
            <a:rect l="l" t="t" r="r" b="b"/>
            <a:pathLst>
              <a:path w="2801620" h="523239">
                <a:moveTo>
                  <a:pt x="0" y="522731"/>
                </a:moveTo>
                <a:lnTo>
                  <a:pt x="2801112" y="522731"/>
                </a:lnTo>
                <a:lnTo>
                  <a:pt x="2801112" y="0"/>
                </a:lnTo>
                <a:lnTo>
                  <a:pt x="0" y="0"/>
                </a:lnTo>
                <a:lnTo>
                  <a:pt x="0" y="522731"/>
                </a:lnTo>
                <a:close/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5049011" y="5953886"/>
            <a:ext cx="2228215" cy="171450"/>
          </a:xfrm>
          <a:custGeom>
            <a:avLst/>
            <a:gdLst/>
            <a:ahLst/>
            <a:cxnLst/>
            <a:rect l="l" t="t" r="r" b="b"/>
            <a:pathLst>
              <a:path w="2228215" h="171450">
                <a:moveTo>
                  <a:pt x="1942338" y="0"/>
                </a:moveTo>
                <a:lnTo>
                  <a:pt x="1942338" y="171450"/>
                </a:lnTo>
                <a:lnTo>
                  <a:pt x="2132838" y="114300"/>
                </a:lnTo>
                <a:lnTo>
                  <a:pt x="1970913" y="114300"/>
                </a:lnTo>
                <a:lnTo>
                  <a:pt x="1970913" y="57150"/>
                </a:lnTo>
                <a:lnTo>
                  <a:pt x="2132838" y="57150"/>
                </a:lnTo>
                <a:lnTo>
                  <a:pt x="1942338" y="0"/>
                </a:lnTo>
                <a:close/>
              </a:path>
              <a:path w="2228215" h="171450">
                <a:moveTo>
                  <a:pt x="1942338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42338" y="114300"/>
                </a:lnTo>
                <a:lnTo>
                  <a:pt x="1942338" y="57150"/>
                </a:lnTo>
                <a:close/>
              </a:path>
              <a:path w="2228215" h="171450">
                <a:moveTo>
                  <a:pt x="2132838" y="57150"/>
                </a:moveTo>
                <a:lnTo>
                  <a:pt x="1970913" y="57150"/>
                </a:lnTo>
                <a:lnTo>
                  <a:pt x="1970913" y="114300"/>
                </a:lnTo>
                <a:lnTo>
                  <a:pt x="2132838" y="114300"/>
                </a:lnTo>
                <a:lnTo>
                  <a:pt x="2228088" y="85725"/>
                </a:lnTo>
                <a:lnTo>
                  <a:pt x="2132838" y="57150"/>
                </a:lnTo>
                <a:close/>
              </a:path>
            </a:pathLst>
          </a:custGeom>
          <a:solidFill>
            <a:srgbClr val="FF9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2248661" y="2268473"/>
            <a:ext cx="1866900" cy="533400"/>
          </a:xfrm>
          <a:custGeom>
            <a:avLst/>
            <a:gdLst/>
            <a:ahLst/>
            <a:cxnLst/>
            <a:rect l="l" t="t" r="r" b="b"/>
            <a:pathLst>
              <a:path w="1866900" h="533400">
                <a:moveTo>
                  <a:pt x="0" y="533400"/>
                </a:moveTo>
                <a:lnTo>
                  <a:pt x="1866900" y="533400"/>
                </a:lnTo>
                <a:lnTo>
                  <a:pt x="18669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5964173" y="2286761"/>
            <a:ext cx="481965" cy="497205"/>
          </a:xfrm>
          <a:custGeom>
            <a:avLst/>
            <a:gdLst/>
            <a:ahLst/>
            <a:cxnLst/>
            <a:rect l="l" t="t" r="r" b="b"/>
            <a:pathLst>
              <a:path w="481964" h="497205">
                <a:moveTo>
                  <a:pt x="0" y="496824"/>
                </a:moveTo>
                <a:lnTo>
                  <a:pt x="481584" y="496824"/>
                </a:lnTo>
                <a:lnTo>
                  <a:pt x="481584" y="0"/>
                </a:lnTo>
                <a:lnTo>
                  <a:pt x="0" y="0"/>
                </a:lnTo>
                <a:lnTo>
                  <a:pt x="0" y="496824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2648711" y="3296411"/>
            <a:ext cx="1576070" cy="0"/>
          </a:xfrm>
          <a:custGeom>
            <a:avLst/>
            <a:gdLst/>
            <a:ahLst/>
            <a:cxnLst/>
            <a:rect l="l" t="t" r="r" b="b"/>
            <a:pathLst>
              <a:path w="1576070" h="0">
                <a:moveTo>
                  <a:pt x="0" y="0"/>
                </a:moveTo>
                <a:lnTo>
                  <a:pt x="1575815" y="0"/>
                </a:lnTo>
              </a:path>
            </a:pathLst>
          </a:custGeom>
          <a:ln w="5715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5964173" y="2858261"/>
            <a:ext cx="481965" cy="497205"/>
          </a:xfrm>
          <a:custGeom>
            <a:avLst/>
            <a:gdLst/>
            <a:ahLst/>
            <a:cxnLst/>
            <a:rect l="l" t="t" r="r" b="b"/>
            <a:pathLst>
              <a:path w="481964" h="497204">
                <a:moveTo>
                  <a:pt x="0" y="496824"/>
                </a:moveTo>
                <a:lnTo>
                  <a:pt x="481584" y="496824"/>
                </a:lnTo>
                <a:lnTo>
                  <a:pt x="481584" y="0"/>
                </a:lnTo>
                <a:lnTo>
                  <a:pt x="0" y="0"/>
                </a:lnTo>
                <a:lnTo>
                  <a:pt x="0" y="496824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2781300" y="3867911"/>
            <a:ext cx="1647825" cy="0"/>
          </a:xfrm>
          <a:custGeom>
            <a:avLst/>
            <a:gdLst/>
            <a:ahLst/>
            <a:cxnLst/>
            <a:rect l="l" t="t" r="r" b="b"/>
            <a:pathLst>
              <a:path w="1647825" h="0">
                <a:moveTo>
                  <a:pt x="0" y="0"/>
                </a:moveTo>
                <a:lnTo>
                  <a:pt x="1647444" y="0"/>
                </a:lnTo>
              </a:path>
            </a:pathLst>
          </a:custGeom>
          <a:ln w="5715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5944361" y="3391661"/>
            <a:ext cx="483234" cy="497205"/>
          </a:xfrm>
          <a:custGeom>
            <a:avLst/>
            <a:gdLst/>
            <a:ahLst/>
            <a:cxnLst/>
            <a:rect l="l" t="t" r="r" b="b"/>
            <a:pathLst>
              <a:path w="483235" h="497204">
                <a:moveTo>
                  <a:pt x="0" y="496824"/>
                </a:moveTo>
                <a:lnTo>
                  <a:pt x="483108" y="496824"/>
                </a:lnTo>
                <a:lnTo>
                  <a:pt x="483108" y="0"/>
                </a:lnTo>
                <a:lnTo>
                  <a:pt x="0" y="0"/>
                </a:lnTo>
                <a:lnTo>
                  <a:pt x="0" y="496824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971800" y="4533900"/>
            <a:ext cx="1647825" cy="0"/>
          </a:xfrm>
          <a:custGeom>
            <a:avLst/>
            <a:gdLst/>
            <a:ahLst/>
            <a:cxnLst/>
            <a:rect l="l" t="t" r="r" b="b"/>
            <a:pathLst>
              <a:path w="1647825" h="0">
                <a:moveTo>
                  <a:pt x="0" y="0"/>
                </a:moveTo>
                <a:lnTo>
                  <a:pt x="1647444" y="0"/>
                </a:lnTo>
              </a:path>
            </a:pathLst>
          </a:custGeom>
          <a:ln w="5715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5944361" y="3963161"/>
            <a:ext cx="483234" cy="497205"/>
          </a:xfrm>
          <a:custGeom>
            <a:avLst/>
            <a:gdLst/>
            <a:ahLst/>
            <a:cxnLst/>
            <a:rect l="l" t="t" r="r" b="b"/>
            <a:pathLst>
              <a:path w="483235" h="497204">
                <a:moveTo>
                  <a:pt x="0" y="496824"/>
                </a:moveTo>
                <a:lnTo>
                  <a:pt x="483108" y="496824"/>
                </a:lnTo>
                <a:lnTo>
                  <a:pt x="483108" y="0"/>
                </a:lnTo>
                <a:lnTo>
                  <a:pt x="0" y="0"/>
                </a:lnTo>
                <a:lnTo>
                  <a:pt x="0" y="496824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2648711" y="5052059"/>
            <a:ext cx="1915795" cy="0"/>
          </a:xfrm>
          <a:custGeom>
            <a:avLst/>
            <a:gdLst/>
            <a:ahLst/>
            <a:cxnLst/>
            <a:rect l="l" t="t" r="r" b="b"/>
            <a:pathLst>
              <a:path w="1915795" h="0">
                <a:moveTo>
                  <a:pt x="0" y="0"/>
                </a:moveTo>
                <a:lnTo>
                  <a:pt x="1915667" y="0"/>
                </a:lnTo>
              </a:path>
            </a:pathLst>
          </a:custGeom>
          <a:ln w="5715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5933694" y="4555997"/>
            <a:ext cx="502920" cy="463550"/>
          </a:xfrm>
          <a:custGeom>
            <a:avLst/>
            <a:gdLst/>
            <a:ahLst/>
            <a:cxnLst/>
            <a:rect l="l" t="t" r="r" b="b"/>
            <a:pathLst>
              <a:path w="502920" h="463550">
                <a:moveTo>
                  <a:pt x="0" y="463295"/>
                </a:moveTo>
                <a:lnTo>
                  <a:pt x="502920" y="463295"/>
                </a:lnTo>
                <a:lnTo>
                  <a:pt x="502920" y="0"/>
                </a:lnTo>
                <a:lnTo>
                  <a:pt x="0" y="0"/>
                </a:lnTo>
                <a:lnTo>
                  <a:pt x="0" y="463295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2971800" y="5676900"/>
            <a:ext cx="2077720" cy="0"/>
          </a:xfrm>
          <a:custGeom>
            <a:avLst/>
            <a:gdLst/>
            <a:ahLst/>
            <a:cxnLst/>
            <a:rect l="l" t="t" r="r" b="b"/>
            <a:pathLst>
              <a:path w="2077720" h="0">
                <a:moveTo>
                  <a:pt x="0" y="0"/>
                </a:moveTo>
                <a:lnTo>
                  <a:pt x="2077212" y="0"/>
                </a:lnTo>
              </a:path>
            </a:pathLst>
          </a:custGeom>
          <a:ln w="5715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5926073" y="5180838"/>
            <a:ext cx="481965" cy="497205"/>
          </a:xfrm>
          <a:custGeom>
            <a:avLst/>
            <a:gdLst/>
            <a:ahLst/>
            <a:cxnLst/>
            <a:rect l="l" t="t" r="r" b="b"/>
            <a:pathLst>
              <a:path w="481964" h="497204">
                <a:moveTo>
                  <a:pt x="0" y="496824"/>
                </a:moveTo>
                <a:lnTo>
                  <a:pt x="481584" y="496824"/>
                </a:lnTo>
                <a:lnTo>
                  <a:pt x="481584" y="0"/>
                </a:lnTo>
                <a:lnTo>
                  <a:pt x="0" y="0"/>
                </a:lnTo>
                <a:lnTo>
                  <a:pt x="0" y="496824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7162800" y="1261110"/>
            <a:ext cx="1981200" cy="0"/>
          </a:xfrm>
          <a:custGeom>
            <a:avLst/>
            <a:gdLst/>
            <a:ahLst/>
            <a:cxnLst/>
            <a:rect l="l" t="t" r="r" b="b"/>
            <a:pathLst>
              <a:path w="1981200" h="0">
                <a:moveTo>
                  <a:pt x="0" y="0"/>
                </a:moveTo>
                <a:lnTo>
                  <a:pt x="1981199" y="0"/>
                </a:lnTo>
              </a:path>
            </a:pathLst>
          </a:custGeom>
          <a:ln w="12700">
            <a:solidFill>
              <a:srgbClr val="F3B4F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7169150" y="452119"/>
            <a:ext cx="0" cy="802640"/>
          </a:xfrm>
          <a:custGeom>
            <a:avLst/>
            <a:gdLst/>
            <a:ahLst/>
            <a:cxnLst/>
            <a:rect l="l" t="t" r="r" b="b"/>
            <a:pathLst>
              <a:path w="0" h="802640">
                <a:moveTo>
                  <a:pt x="0" y="0"/>
                </a:moveTo>
                <a:lnTo>
                  <a:pt x="0" y="802639"/>
                </a:lnTo>
              </a:path>
            </a:pathLst>
          </a:custGeom>
          <a:ln w="12700">
            <a:solidFill>
              <a:srgbClr val="F3B4F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7162800" y="445769"/>
            <a:ext cx="1981200" cy="0"/>
          </a:xfrm>
          <a:custGeom>
            <a:avLst/>
            <a:gdLst/>
            <a:ahLst/>
            <a:cxnLst/>
            <a:rect l="l" t="t" r="r" b="b"/>
            <a:pathLst>
              <a:path w="1981200" h="0">
                <a:moveTo>
                  <a:pt x="0" y="0"/>
                </a:moveTo>
                <a:lnTo>
                  <a:pt x="1981199" y="0"/>
                </a:lnTo>
              </a:path>
            </a:pathLst>
          </a:custGeom>
          <a:ln w="12700">
            <a:solidFill>
              <a:srgbClr val="F3B4F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7188200" y="1229360"/>
            <a:ext cx="1955800" cy="0"/>
          </a:xfrm>
          <a:custGeom>
            <a:avLst/>
            <a:gdLst/>
            <a:ahLst/>
            <a:cxnLst/>
            <a:rect l="l" t="t" r="r" b="b"/>
            <a:pathLst>
              <a:path w="1955800" h="0">
                <a:moveTo>
                  <a:pt x="0" y="0"/>
                </a:moveTo>
                <a:lnTo>
                  <a:pt x="1955799" y="0"/>
                </a:lnTo>
              </a:path>
            </a:pathLst>
          </a:custGeom>
          <a:ln w="25400">
            <a:solidFill>
              <a:srgbClr val="F3B4F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7200900" y="490219"/>
            <a:ext cx="0" cy="726440"/>
          </a:xfrm>
          <a:custGeom>
            <a:avLst/>
            <a:gdLst/>
            <a:ahLst/>
            <a:cxnLst/>
            <a:rect l="l" t="t" r="r" b="b"/>
            <a:pathLst>
              <a:path w="0" h="726440">
                <a:moveTo>
                  <a:pt x="0" y="0"/>
                </a:moveTo>
                <a:lnTo>
                  <a:pt x="0" y="726439"/>
                </a:lnTo>
              </a:path>
            </a:pathLst>
          </a:custGeom>
          <a:ln w="25400">
            <a:solidFill>
              <a:srgbClr val="F3B4F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7188200" y="477519"/>
            <a:ext cx="1955800" cy="0"/>
          </a:xfrm>
          <a:custGeom>
            <a:avLst/>
            <a:gdLst/>
            <a:ahLst/>
            <a:cxnLst/>
            <a:rect l="l" t="t" r="r" b="b"/>
            <a:pathLst>
              <a:path w="1955800" h="0">
                <a:moveTo>
                  <a:pt x="0" y="0"/>
                </a:moveTo>
                <a:lnTo>
                  <a:pt x="1955799" y="0"/>
                </a:lnTo>
              </a:path>
            </a:pathLst>
          </a:custGeom>
          <a:ln w="25400">
            <a:solidFill>
              <a:srgbClr val="F3B4F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7226300" y="1197610"/>
            <a:ext cx="1917700" cy="0"/>
          </a:xfrm>
          <a:custGeom>
            <a:avLst/>
            <a:gdLst/>
            <a:ahLst/>
            <a:cxnLst/>
            <a:rect l="l" t="t" r="r" b="b"/>
            <a:pathLst>
              <a:path w="1917700" h="0">
                <a:moveTo>
                  <a:pt x="0" y="0"/>
                </a:moveTo>
                <a:lnTo>
                  <a:pt x="1917699" y="0"/>
                </a:lnTo>
              </a:path>
            </a:pathLst>
          </a:custGeom>
          <a:ln w="12700">
            <a:solidFill>
              <a:srgbClr val="F3B4F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7232650" y="515619"/>
            <a:ext cx="0" cy="675640"/>
          </a:xfrm>
          <a:custGeom>
            <a:avLst/>
            <a:gdLst/>
            <a:ahLst/>
            <a:cxnLst/>
            <a:rect l="l" t="t" r="r" b="b"/>
            <a:pathLst>
              <a:path w="0" h="675640">
                <a:moveTo>
                  <a:pt x="0" y="0"/>
                </a:moveTo>
                <a:lnTo>
                  <a:pt x="0" y="675639"/>
                </a:lnTo>
              </a:path>
            </a:pathLst>
          </a:custGeom>
          <a:ln w="12700">
            <a:solidFill>
              <a:srgbClr val="F3B4F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7226300" y="509269"/>
            <a:ext cx="1917700" cy="0"/>
          </a:xfrm>
          <a:custGeom>
            <a:avLst/>
            <a:gdLst/>
            <a:ahLst/>
            <a:cxnLst/>
            <a:rect l="l" t="t" r="r" b="b"/>
            <a:pathLst>
              <a:path w="1917700" h="0">
                <a:moveTo>
                  <a:pt x="0" y="0"/>
                </a:moveTo>
                <a:lnTo>
                  <a:pt x="1917699" y="0"/>
                </a:lnTo>
              </a:path>
            </a:pathLst>
          </a:custGeom>
          <a:ln w="12700">
            <a:solidFill>
              <a:srgbClr val="F3B4F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9137903" y="515112"/>
            <a:ext cx="0" cy="676910"/>
          </a:xfrm>
          <a:custGeom>
            <a:avLst/>
            <a:gdLst/>
            <a:ahLst/>
            <a:cxnLst/>
            <a:rect l="l" t="t" r="r" b="b"/>
            <a:pathLst>
              <a:path w="0" h="676910">
                <a:moveTo>
                  <a:pt x="0" y="0"/>
                </a:moveTo>
                <a:lnTo>
                  <a:pt x="0" y="676655"/>
                </a:lnTo>
              </a:path>
            </a:pathLst>
          </a:custGeom>
          <a:ln w="12191">
            <a:solidFill>
              <a:srgbClr val="F3B4F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7213600" y="462788"/>
            <a:ext cx="1922145" cy="683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63575" indent="-584835">
              <a:lnSpc>
                <a:spcPts val="2590"/>
              </a:lnSpc>
              <a:spcBef>
                <a:spcPts val="100"/>
              </a:spcBef>
              <a:buFont typeface="Times New Roman"/>
              <a:buAutoNum type="arabicParenBoth"/>
              <a:tabLst>
                <a:tab pos="663575" algn="l"/>
                <a:tab pos="664210" algn="l"/>
              </a:tabLst>
            </a:pP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2400" spc="-1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aSb</a:t>
            </a:r>
            <a:endParaRPr sz="2400">
              <a:latin typeface="Times New Roman"/>
              <a:cs typeface="Times New Roman"/>
            </a:endParaRPr>
          </a:p>
          <a:p>
            <a:pPr marL="663575" indent="-584835">
              <a:lnSpc>
                <a:spcPts val="2590"/>
              </a:lnSpc>
              <a:buFont typeface="Times New Roman"/>
              <a:buAutoNum type="arabicParenBoth"/>
              <a:tabLst>
                <a:tab pos="663575" algn="l"/>
                <a:tab pos="664210" algn="l"/>
              </a:tabLst>
            </a:pP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ab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39366" y="2040763"/>
            <a:ext cx="6963409" cy="27698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lvl="2" marL="1236345" indent="-1224280">
              <a:lnSpc>
                <a:spcPct val="100000"/>
              </a:lnSpc>
              <a:spcBef>
                <a:spcPts val="105"/>
              </a:spcBef>
              <a:buFont typeface="Times New Roman"/>
              <a:buAutoNum type="arabicPeriod"/>
              <a:tabLst>
                <a:tab pos="1236345" algn="l"/>
                <a:tab pos="1236980" algn="l"/>
              </a:tabLst>
            </a:pPr>
            <a:r>
              <a:rPr dirty="0" sz="3200" b="1">
                <a:solidFill>
                  <a:srgbClr val="FFFF69"/>
                </a:solidFill>
                <a:latin typeface="宋体"/>
                <a:cs typeface="宋体"/>
              </a:rPr>
              <a:t>直观的算符优先分</a:t>
            </a:r>
            <a:r>
              <a:rPr dirty="0" sz="3200" spc="-15" b="1">
                <a:solidFill>
                  <a:srgbClr val="FFFF69"/>
                </a:solidFill>
                <a:latin typeface="宋体"/>
                <a:cs typeface="宋体"/>
              </a:rPr>
              <a:t>析</a:t>
            </a:r>
            <a:r>
              <a:rPr dirty="0" sz="3200" spc="-10" b="1">
                <a:solidFill>
                  <a:srgbClr val="FFFF69"/>
                </a:solidFill>
                <a:latin typeface="宋体"/>
                <a:cs typeface="宋体"/>
              </a:rPr>
              <a:t>法</a:t>
            </a:r>
            <a:endParaRPr sz="3200">
              <a:latin typeface="宋体"/>
              <a:cs typeface="宋体"/>
            </a:endParaRPr>
          </a:p>
          <a:p>
            <a:pPr lvl="2" marL="1236345" indent="-1224280">
              <a:lnSpc>
                <a:spcPct val="100000"/>
              </a:lnSpc>
              <a:spcBef>
                <a:spcPts val="2300"/>
              </a:spcBef>
              <a:buClr>
                <a:srgbClr val="FFFF00"/>
              </a:buClr>
              <a:buFont typeface="Times New Roman"/>
              <a:buAutoNum type="arabicPeriod"/>
              <a:tabLst>
                <a:tab pos="1236345" algn="l"/>
                <a:tab pos="1236980" algn="l"/>
              </a:tabLst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算符优先分析与算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符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优先分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析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器</a:t>
            </a:r>
            <a:endParaRPr sz="3200">
              <a:latin typeface="宋体"/>
              <a:cs typeface="宋体"/>
            </a:endParaRPr>
          </a:p>
          <a:p>
            <a:pPr lvl="2" marL="1236345" indent="-1224280">
              <a:lnSpc>
                <a:spcPct val="100000"/>
              </a:lnSpc>
              <a:spcBef>
                <a:spcPts val="2020"/>
              </a:spcBef>
              <a:buClr>
                <a:srgbClr val="FFFF00"/>
              </a:buClr>
              <a:buFont typeface="Times New Roman"/>
              <a:buAutoNum type="arabicPeriod"/>
              <a:tabLst>
                <a:tab pos="1236345" algn="l"/>
                <a:tab pos="1236980" algn="l"/>
              </a:tabLst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算符优先分析法实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现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的理论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探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讨</a:t>
            </a:r>
            <a:endParaRPr sz="3200">
              <a:latin typeface="宋体"/>
              <a:cs typeface="宋体"/>
            </a:endParaRPr>
          </a:p>
          <a:p>
            <a:pPr lvl="2" marL="1236345" indent="-1224280">
              <a:lnSpc>
                <a:spcPct val="100000"/>
              </a:lnSpc>
              <a:spcBef>
                <a:spcPts val="1920"/>
              </a:spcBef>
              <a:buClr>
                <a:srgbClr val="FFFF00"/>
              </a:buClr>
              <a:buFont typeface="Times New Roman"/>
              <a:buAutoNum type="arabicPeriod"/>
              <a:tabLst>
                <a:tab pos="1236345" algn="l"/>
                <a:tab pos="1236980" algn="l"/>
              </a:tabLst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优先函数表的构造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577464" y="26923"/>
            <a:ext cx="16294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09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87315" y="26923"/>
            <a:ext cx="232537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0065" algn="l"/>
              </a:tabLst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算符优先分析法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9361" y="2884170"/>
            <a:ext cx="1231392" cy="5577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29361" y="2884170"/>
            <a:ext cx="1231900" cy="558165"/>
          </a:xfrm>
          <a:custGeom>
            <a:avLst/>
            <a:gdLst/>
            <a:ahLst/>
            <a:cxnLst/>
            <a:rect l="l" t="t" r="r" b="b"/>
            <a:pathLst>
              <a:path w="1231900" h="558164">
                <a:moveTo>
                  <a:pt x="0" y="139445"/>
                </a:moveTo>
                <a:lnTo>
                  <a:pt x="923975" y="139445"/>
                </a:lnTo>
                <a:lnTo>
                  <a:pt x="923975" y="0"/>
                </a:lnTo>
                <a:lnTo>
                  <a:pt x="1231392" y="278891"/>
                </a:lnTo>
                <a:lnTo>
                  <a:pt x="923975" y="557783"/>
                </a:lnTo>
                <a:lnTo>
                  <a:pt x="923975" y="418338"/>
                </a:lnTo>
                <a:lnTo>
                  <a:pt x="0" y="418338"/>
                </a:lnTo>
                <a:lnTo>
                  <a:pt x="0" y="139445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36042" y="0"/>
            <a:ext cx="8751570" cy="2456180"/>
          </a:xfrm>
          <a:prstGeom prst="rect">
            <a:avLst/>
          </a:prstGeom>
        </p:spPr>
        <p:txBody>
          <a:bodyPr wrap="square" lIns="0" tIns="121285" rIns="0" bIns="0" rtlCol="0" vert="horz">
            <a:spAutoFit/>
          </a:bodyPr>
          <a:lstStyle/>
          <a:p>
            <a:pPr marL="400050">
              <a:lnSpc>
                <a:spcPct val="100000"/>
              </a:lnSpc>
              <a:spcBef>
                <a:spcPts val="955"/>
              </a:spcBef>
              <a:tabLst>
                <a:tab pos="2509520" algn="l"/>
                <a:tab pos="3017520" algn="l"/>
                <a:tab pos="5252085" algn="l"/>
                <a:tab pos="594995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算符优先分析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法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5.2.2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算符优先分析与分析器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1600">
              <a:latin typeface="宋体"/>
              <a:cs typeface="宋体"/>
            </a:endParaRPr>
          </a:p>
          <a:p>
            <a:pPr marL="467995" indent="-417830">
              <a:lnSpc>
                <a:spcPct val="100000"/>
              </a:lnSpc>
              <a:buClr>
                <a:srgbClr val="66FFFF"/>
              </a:buClr>
              <a:buSzPct val="114062"/>
              <a:buFont typeface="Wingdings"/>
              <a:buChar char=""/>
              <a:tabLst>
                <a:tab pos="467995" algn="l"/>
                <a:tab pos="46863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算符优先分析</a:t>
            </a:r>
            <a:endParaRPr sz="3200">
              <a:latin typeface="宋体"/>
              <a:cs typeface="宋体"/>
            </a:endParaRPr>
          </a:p>
          <a:p>
            <a:pPr marL="50800" marR="43180" indent="711200">
              <a:lnSpc>
                <a:spcPts val="4990"/>
              </a:lnSpc>
              <a:spcBef>
                <a:spcPts val="360"/>
              </a:spcBef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定义算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符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-21164" sz="3150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之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间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的优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先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关系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借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助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这种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关系寻找“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可归约串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”进行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归</a:t>
            </a:r>
            <a:r>
              <a:rPr dirty="0" sz="3200" spc="10" b="1">
                <a:solidFill>
                  <a:srgbClr val="FFFFFF"/>
                </a:solidFill>
                <a:latin typeface="宋体"/>
                <a:cs typeface="宋体"/>
              </a:rPr>
              <a:t>约</a:t>
            </a:r>
            <a:r>
              <a:rPr dirty="0" sz="3200" spc="-1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非规范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归</a:t>
            </a:r>
            <a:r>
              <a:rPr dirty="0" sz="3200" spc="10" b="1">
                <a:solidFill>
                  <a:srgbClr val="FFFFFF"/>
                </a:solidFill>
                <a:latin typeface="宋体"/>
                <a:cs typeface="宋体"/>
              </a:rPr>
              <a:t>约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2742" y="2598801"/>
            <a:ext cx="1669414" cy="587375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marL="329565" indent="-317500">
              <a:lnSpc>
                <a:spcPct val="100000"/>
              </a:lnSpc>
              <a:spcBef>
                <a:spcPts val="585"/>
              </a:spcBef>
              <a:buClr>
                <a:srgbClr val="66FFFF"/>
              </a:buClr>
              <a:buSzPct val="114062"/>
              <a:buFont typeface="Wingdings"/>
              <a:buChar char=""/>
              <a:tabLst>
                <a:tab pos="33020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定义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5.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4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51938" y="2659761"/>
            <a:ext cx="213042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3200" spc="-9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算符文</a:t>
            </a:r>
            <a:r>
              <a:rPr dirty="0" sz="3200" spc="780" b="1">
                <a:solidFill>
                  <a:srgbClr val="FFFF00"/>
                </a:solidFill>
                <a:latin typeface="宋体"/>
                <a:cs typeface="宋体"/>
              </a:rPr>
              <a:t>法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0034" y="3151891"/>
            <a:ext cx="7685405" cy="2558415"/>
          </a:xfrm>
          <a:prstGeom prst="rect">
            <a:avLst/>
          </a:prstGeom>
        </p:spPr>
        <p:txBody>
          <a:bodyPr wrap="square" lIns="0" tIns="154940" rIns="0" bIns="0" rtlCol="0" vert="horz">
            <a:spAutoFit/>
          </a:bodyPr>
          <a:lstStyle/>
          <a:p>
            <a:pPr marL="650240">
              <a:lnSpc>
                <a:spcPct val="100000"/>
              </a:lnSpc>
              <a:spcBef>
                <a:spcPts val="1220"/>
              </a:spcBef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设有一文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如果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中没有</a:t>
            </a:r>
            <a:endParaRPr sz="3200">
              <a:latin typeface="宋体"/>
              <a:cs typeface="宋体"/>
            </a:endParaRPr>
          </a:p>
          <a:p>
            <a:pPr marL="1969135">
              <a:lnSpc>
                <a:spcPct val="100000"/>
              </a:lnSpc>
              <a:spcBef>
                <a:spcPts val="1120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U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→…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VW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endParaRPr sz="3200">
              <a:latin typeface="Times New Roman"/>
              <a:cs typeface="Times New Roman"/>
            </a:endParaRPr>
          </a:p>
          <a:p>
            <a:pPr marL="38100" marR="30480">
              <a:lnSpc>
                <a:spcPts val="4990"/>
              </a:lnSpc>
              <a:spcBef>
                <a:spcPts val="39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的规则，其中</a:t>
            </a:r>
            <a:r>
              <a:rPr dirty="0" sz="3200" spc="-20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sz="3200" spc="-2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20" b="1" i="1">
                <a:solidFill>
                  <a:srgbClr val="FFFFFF"/>
                </a:solidFill>
                <a:latin typeface="Times New Roman"/>
                <a:cs typeface="Times New Roman"/>
              </a:rPr>
              <a:t>W</a:t>
            </a:r>
            <a:r>
              <a:rPr dirty="0" sz="3200" spc="-2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20" b="1" i="1">
                <a:solidFill>
                  <a:srgbClr val="FFFFFF"/>
                </a:solidFill>
                <a:latin typeface="Times New Roman"/>
                <a:cs typeface="Times New Roman"/>
              </a:rPr>
              <a:t>U</a:t>
            </a:r>
            <a:r>
              <a:rPr dirty="0" sz="3200" spc="-20" b="1">
                <a:solidFill>
                  <a:srgbClr val="FFFFFF"/>
                </a:solidFill>
                <a:latin typeface="宋体"/>
                <a:cs typeface="宋体"/>
              </a:rPr>
              <a:t>∈</a:t>
            </a:r>
            <a:r>
              <a:rPr dirty="0" sz="3350" spc="-20" b="1" i="1">
                <a:solidFill>
                  <a:srgbClr val="FFFFFF"/>
                </a:solidFill>
                <a:latin typeface="宋体"/>
                <a:cs typeface="宋体"/>
              </a:rPr>
              <a:t>Ｖ</a:t>
            </a:r>
            <a:r>
              <a:rPr dirty="0" baseline="-25132" sz="3150" spc="-30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baseline="-25132" sz="3150" spc="-89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，则称文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 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是算符文法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(OG)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375528" y="26923"/>
            <a:ext cx="32842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05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算符优先分析与分析器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3748" y="26923"/>
            <a:ext cx="4435475" cy="11449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21535" algn="l"/>
                <a:tab pos="2629535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算符优先分析法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000">
              <a:latin typeface="宋体"/>
              <a:cs typeface="宋体"/>
            </a:endParaRPr>
          </a:p>
          <a:p>
            <a:pPr marL="208279">
              <a:lnSpc>
                <a:spcPct val="100000"/>
              </a:lnSpc>
              <a:tabLst>
                <a:tab pos="153162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5.5	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设有文法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39289" y="1150877"/>
            <a:ext cx="4084954" cy="1283970"/>
          </a:xfrm>
          <a:prstGeom prst="rect">
            <a:avLst/>
          </a:prstGeom>
        </p:spPr>
        <p:txBody>
          <a:bodyPr wrap="square" lIns="0" tIns="15367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210"/>
              </a:spcBef>
              <a:tabLst>
                <a:tab pos="794385" algn="l"/>
              </a:tabLst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(1)	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EAE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| 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（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）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3200" spc="-10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15"/>
              </a:spcBef>
              <a:tabLst>
                <a:tab pos="791210" algn="l"/>
              </a:tabLst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(2)	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 + | – |</a:t>
            </a:r>
            <a:r>
              <a:rPr dirty="0" sz="3200" spc="-6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*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601973" y="2629661"/>
            <a:ext cx="762000" cy="3246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601973" y="2629661"/>
            <a:ext cx="762000" cy="325120"/>
          </a:xfrm>
          <a:custGeom>
            <a:avLst/>
            <a:gdLst/>
            <a:ahLst/>
            <a:cxnLst/>
            <a:rect l="l" t="t" r="r" b="b"/>
            <a:pathLst>
              <a:path w="762000" h="325119">
                <a:moveTo>
                  <a:pt x="0" y="243459"/>
                </a:moveTo>
                <a:lnTo>
                  <a:pt x="190500" y="243459"/>
                </a:lnTo>
                <a:lnTo>
                  <a:pt x="190500" y="0"/>
                </a:lnTo>
                <a:lnTo>
                  <a:pt x="571500" y="0"/>
                </a:lnTo>
                <a:lnTo>
                  <a:pt x="571500" y="243459"/>
                </a:lnTo>
                <a:lnTo>
                  <a:pt x="762000" y="243459"/>
                </a:lnTo>
                <a:lnTo>
                  <a:pt x="381000" y="324612"/>
                </a:lnTo>
                <a:lnTo>
                  <a:pt x="0" y="243459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93242" y="2912491"/>
            <a:ext cx="7880350" cy="29108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400050">
              <a:lnSpc>
                <a:spcPct val="100000"/>
              </a:lnSpc>
              <a:spcBef>
                <a:spcPts val="105"/>
              </a:spcBef>
              <a:tabLst>
                <a:tab pos="5544185" algn="l"/>
              </a:tabLst>
            </a:pPr>
            <a:r>
              <a:rPr dirty="0" sz="3200" b="1" i="1">
                <a:solidFill>
                  <a:srgbClr val="DDDDDD"/>
                </a:solidFill>
                <a:latin typeface="Times New Roman"/>
                <a:cs typeface="Times New Roman"/>
              </a:rPr>
              <a:t>E</a:t>
            </a:r>
            <a:r>
              <a:rPr dirty="0" sz="3200" b="1">
                <a:solidFill>
                  <a:srgbClr val="DDDDDD"/>
                </a:solidFill>
                <a:latin typeface="Times New Roman"/>
                <a:cs typeface="Times New Roman"/>
              </a:rPr>
              <a:t>→ </a:t>
            </a:r>
            <a:r>
              <a:rPr dirty="0" sz="3200" b="1" i="1">
                <a:solidFill>
                  <a:srgbClr val="DDDDDD"/>
                </a:solidFill>
                <a:latin typeface="Times New Roman"/>
                <a:cs typeface="Times New Roman"/>
              </a:rPr>
              <a:t>E</a:t>
            </a:r>
            <a:r>
              <a:rPr dirty="0" sz="3200" b="1">
                <a:solidFill>
                  <a:srgbClr val="DDDDDD"/>
                </a:solidFill>
                <a:latin typeface="Times New Roman"/>
                <a:cs typeface="Times New Roman"/>
              </a:rPr>
              <a:t>+</a:t>
            </a:r>
            <a:r>
              <a:rPr dirty="0" sz="3200" b="1" i="1">
                <a:solidFill>
                  <a:srgbClr val="DDDDDD"/>
                </a:solidFill>
                <a:latin typeface="Times New Roman"/>
                <a:cs typeface="Times New Roman"/>
              </a:rPr>
              <a:t>E </a:t>
            </a:r>
            <a:r>
              <a:rPr dirty="0" sz="3200" b="1">
                <a:solidFill>
                  <a:srgbClr val="DDDDDD"/>
                </a:solidFill>
                <a:latin typeface="Times New Roman"/>
                <a:cs typeface="Times New Roman"/>
              </a:rPr>
              <a:t>| </a:t>
            </a:r>
            <a:r>
              <a:rPr dirty="0" sz="3200" b="1" i="1">
                <a:solidFill>
                  <a:srgbClr val="DDDDDD"/>
                </a:solidFill>
                <a:latin typeface="Times New Roman"/>
                <a:cs typeface="Times New Roman"/>
              </a:rPr>
              <a:t>E </a:t>
            </a:r>
            <a:r>
              <a:rPr dirty="0" sz="3200" b="1">
                <a:solidFill>
                  <a:srgbClr val="DDDDDD"/>
                </a:solidFill>
                <a:latin typeface="Times New Roman"/>
                <a:cs typeface="Times New Roman"/>
              </a:rPr>
              <a:t>– </a:t>
            </a:r>
            <a:r>
              <a:rPr dirty="0" sz="3200" b="1" i="1">
                <a:solidFill>
                  <a:srgbClr val="DDDDDD"/>
                </a:solidFill>
                <a:latin typeface="Times New Roman"/>
                <a:cs typeface="Times New Roman"/>
              </a:rPr>
              <a:t>E </a:t>
            </a:r>
            <a:r>
              <a:rPr dirty="0" sz="3200" b="1">
                <a:solidFill>
                  <a:srgbClr val="DDDDDD"/>
                </a:solidFill>
                <a:latin typeface="Times New Roman"/>
                <a:cs typeface="Times New Roman"/>
              </a:rPr>
              <a:t>| </a:t>
            </a:r>
            <a:r>
              <a:rPr dirty="0" sz="3200" b="1" i="1">
                <a:solidFill>
                  <a:srgbClr val="DDDDDD"/>
                </a:solidFill>
                <a:latin typeface="Times New Roman"/>
                <a:cs typeface="Times New Roman"/>
              </a:rPr>
              <a:t>E </a:t>
            </a:r>
            <a:r>
              <a:rPr dirty="0" sz="3200" b="1">
                <a:solidFill>
                  <a:srgbClr val="DDDDDD"/>
                </a:solidFill>
                <a:latin typeface="Times New Roman"/>
                <a:cs typeface="Times New Roman"/>
              </a:rPr>
              <a:t>* </a:t>
            </a:r>
            <a:r>
              <a:rPr dirty="0" sz="3200" b="1" i="1">
                <a:solidFill>
                  <a:srgbClr val="DDDDDD"/>
                </a:solidFill>
                <a:latin typeface="Times New Roman"/>
                <a:cs typeface="Times New Roman"/>
              </a:rPr>
              <a:t>E</a:t>
            </a:r>
            <a:r>
              <a:rPr dirty="0" sz="3200" spc="-10" b="1" i="1">
                <a:solidFill>
                  <a:srgbClr val="DDDDDD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DDDDDD"/>
                </a:solidFill>
                <a:latin typeface="Times New Roman"/>
                <a:cs typeface="Times New Roman"/>
              </a:rPr>
              <a:t>|</a:t>
            </a:r>
            <a:r>
              <a:rPr dirty="0" sz="3200" spc="-5" b="1">
                <a:solidFill>
                  <a:srgbClr val="DDDDDD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DDDDDD"/>
                </a:solidFill>
                <a:latin typeface="Times New Roman"/>
                <a:cs typeface="Times New Roman"/>
              </a:rPr>
              <a:t>i	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OG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4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320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定义</a:t>
            </a:r>
            <a:r>
              <a:rPr dirty="0" u="heavy" sz="3200" spc="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5.4</a:t>
            </a:r>
            <a:r>
              <a:rPr dirty="0" u="heavy" sz="320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的命题：</a:t>
            </a:r>
            <a:endParaRPr sz="3200">
              <a:latin typeface="宋体"/>
              <a:cs typeface="宋体"/>
            </a:endParaRPr>
          </a:p>
          <a:p>
            <a:pPr marL="12700" marR="5080" indent="507365">
              <a:lnSpc>
                <a:spcPts val="4990"/>
              </a:lnSpc>
              <a:spcBef>
                <a:spcPts val="360"/>
              </a:spcBef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算符文法的任何句型都不会含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两个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相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邻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的非终结符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688073" y="1544574"/>
            <a:ext cx="114300" cy="742315"/>
          </a:xfrm>
          <a:custGeom>
            <a:avLst/>
            <a:gdLst/>
            <a:ahLst/>
            <a:cxnLst/>
            <a:rect l="l" t="t" r="r" b="b"/>
            <a:pathLst>
              <a:path w="114300" h="742314">
                <a:moveTo>
                  <a:pt x="0" y="0"/>
                </a:moveTo>
                <a:lnTo>
                  <a:pt x="22270" y="4861"/>
                </a:lnTo>
                <a:lnTo>
                  <a:pt x="40433" y="18129"/>
                </a:lnTo>
                <a:lnTo>
                  <a:pt x="52667" y="37826"/>
                </a:lnTo>
                <a:lnTo>
                  <a:pt x="57150" y="61975"/>
                </a:lnTo>
                <a:lnTo>
                  <a:pt x="57150" y="309117"/>
                </a:lnTo>
                <a:lnTo>
                  <a:pt x="61632" y="333267"/>
                </a:lnTo>
                <a:lnTo>
                  <a:pt x="73866" y="352964"/>
                </a:lnTo>
                <a:lnTo>
                  <a:pt x="92029" y="366232"/>
                </a:lnTo>
                <a:lnTo>
                  <a:pt x="114300" y="371093"/>
                </a:lnTo>
                <a:lnTo>
                  <a:pt x="92029" y="375955"/>
                </a:lnTo>
                <a:lnTo>
                  <a:pt x="73866" y="389223"/>
                </a:lnTo>
                <a:lnTo>
                  <a:pt x="61632" y="408920"/>
                </a:lnTo>
                <a:lnTo>
                  <a:pt x="57150" y="433070"/>
                </a:lnTo>
                <a:lnTo>
                  <a:pt x="57150" y="680212"/>
                </a:lnTo>
                <a:lnTo>
                  <a:pt x="52667" y="704361"/>
                </a:lnTo>
                <a:lnTo>
                  <a:pt x="40433" y="724058"/>
                </a:lnTo>
                <a:lnTo>
                  <a:pt x="22270" y="737326"/>
                </a:lnTo>
                <a:lnTo>
                  <a:pt x="0" y="742188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976109" y="1564005"/>
            <a:ext cx="106807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66FFFF"/>
                </a:solidFill>
                <a:latin typeface="宋体"/>
                <a:cs typeface="宋体"/>
              </a:rPr>
              <a:t>非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OG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505961" y="1875282"/>
            <a:ext cx="835660" cy="0"/>
          </a:xfrm>
          <a:custGeom>
            <a:avLst/>
            <a:gdLst/>
            <a:ahLst/>
            <a:cxnLst/>
            <a:rect l="l" t="t" r="r" b="b"/>
            <a:pathLst>
              <a:path w="835660" h="0">
                <a:moveTo>
                  <a:pt x="0" y="0"/>
                </a:moveTo>
                <a:lnTo>
                  <a:pt x="835151" y="0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375528" y="26923"/>
            <a:ext cx="32842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05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算符优先分析与分析器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1963" y="457962"/>
            <a:ext cx="1718310" cy="515620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378460" indent="-366395">
              <a:lnSpc>
                <a:spcPct val="100000"/>
              </a:lnSpc>
              <a:spcBef>
                <a:spcPts val="114"/>
              </a:spcBef>
              <a:buClr>
                <a:srgbClr val="99FF99"/>
              </a:buClr>
              <a:buFont typeface="Wingdings"/>
              <a:buChar char=""/>
              <a:tabLst>
                <a:tab pos="378460" algn="l"/>
                <a:tab pos="379095" algn="l"/>
              </a:tabLst>
            </a:pPr>
            <a:r>
              <a:rPr dirty="0" sz="3200">
                <a:solidFill>
                  <a:srgbClr val="FFFF00"/>
                </a:solidFill>
              </a:rPr>
              <a:t>定义</a:t>
            </a:r>
            <a:r>
              <a:rPr dirty="0" sz="3200" spc="5">
                <a:solidFill>
                  <a:srgbClr val="FFFF00"/>
                </a:solidFill>
                <a:latin typeface="Times New Roman"/>
                <a:cs typeface="Times New Roman"/>
              </a:rPr>
              <a:t>5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.5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3748" y="0"/>
            <a:ext cx="4733925" cy="1026160"/>
          </a:xfrm>
          <a:prstGeom prst="rect">
            <a:avLst/>
          </a:prstGeom>
        </p:spPr>
        <p:txBody>
          <a:bodyPr wrap="square" lIns="0" tIns="927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  <a:tabLst>
                <a:tab pos="2121535" algn="l"/>
                <a:tab pos="262953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算符优先分析法</a:t>
            </a:r>
            <a:endParaRPr sz="2000">
              <a:latin typeface="宋体"/>
              <a:cs typeface="宋体"/>
            </a:endParaRPr>
          </a:p>
          <a:p>
            <a:pPr marL="1798955">
              <a:lnSpc>
                <a:spcPct val="100000"/>
              </a:lnSpc>
              <a:spcBef>
                <a:spcPts val="1005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3200" spc="-9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算符优</a:t>
            </a:r>
            <a:r>
              <a:rPr dirty="0" sz="3200" spc="5" b="1">
                <a:solidFill>
                  <a:srgbClr val="FFFF00"/>
                </a:solidFill>
                <a:latin typeface="宋体"/>
                <a:cs typeface="宋体"/>
              </a:rPr>
              <a:t>先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文</a:t>
            </a:r>
            <a:r>
              <a:rPr dirty="0" sz="3200" spc="780" b="1">
                <a:solidFill>
                  <a:srgbClr val="FFFF00"/>
                </a:solidFill>
                <a:latin typeface="宋体"/>
                <a:cs typeface="宋体"/>
              </a:rPr>
              <a:t>法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06679" y="940308"/>
            <a:ext cx="9037320" cy="538480"/>
          </a:xfrm>
          <a:custGeom>
            <a:avLst/>
            <a:gdLst/>
            <a:ahLst/>
            <a:cxnLst/>
            <a:rect l="l" t="t" r="r" b="b"/>
            <a:pathLst>
              <a:path w="9037320" h="538480">
                <a:moveTo>
                  <a:pt x="0" y="537972"/>
                </a:moveTo>
                <a:lnTo>
                  <a:pt x="9037320" y="537972"/>
                </a:lnTo>
                <a:lnTo>
                  <a:pt x="9037320" y="0"/>
                </a:lnTo>
                <a:lnTo>
                  <a:pt x="0" y="0"/>
                </a:lnTo>
                <a:lnTo>
                  <a:pt x="0" y="537972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73863" y="851944"/>
            <a:ext cx="8814435" cy="5701030"/>
          </a:xfrm>
          <a:prstGeom prst="rect">
            <a:avLst/>
          </a:prstGeom>
        </p:spPr>
        <p:txBody>
          <a:bodyPr wrap="square" lIns="0" tIns="113030" rIns="0" bIns="0" rtlCol="0" vert="horz">
            <a:spAutoFit/>
          </a:bodyPr>
          <a:lstStyle/>
          <a:p>
            <a:pPr marL="123825">
              <a:lnSpc>
                <a:spcPct val="100000"/>
              </a:lnSpc>
              <a:spcBef>
                <a:spcPts val="89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其中：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3200" spc="5" b="1">
                <a:solidFill>
                  <a:srgbClr val="FFFFFF"/>
                </a:solidFill>
                <a:latin typeface="Symbol"/>
                <a:cs typeface="Symbol"/>
              </a:rPr>
              <a:t>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-21164" sz="3150" spc="7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;</a:t>
            </a:r>
            <a:r>
              <a:rPr dirty="0" sz="3200" spc="-4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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-21164" sz="3150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“…”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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-21164" sz="3150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∪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-21164" sz="3150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)*</a:t>
            </a:r>
            <a:endParaRPr sz="3200">
              <a:latin typeface="Times New Roman"/>
              <a:cs typeface="Times New Roman"/>
            </a:endParaRPr>
          </a:p>
          <a:p>
            <a:pPr marL="50800" marR="117475" indent="822960">
              <a:lnSpc>
                <a:spcPct val="118900"/>
              </a:lnSpc>
              <a:spcBef>
                <a:spcPts val="55"/>
              </a:spcBef>
            </a:pPr>
            <a:r>
              <a:rPr dirty="0" sz="2800" spc="20" b="1">
                <a:solidFill>
                  <a:srgbClr val="66FFFF"/>
                </a:solidFill>
                <a:latin typeface="宋体"/>
                <a:cs typeface="宋体"/>
              </a:rPr>
              <a:t>设</a:t>
            </a:r>
            <a:r>
              <a:rPr dirty="0" sz="2800" b="1" i="1">
                <a:solidFill>
                  <a:srgbClr val="66FFFF"/>
                </a:solidFill>
                <a:latin typeface="Times New Roman"/>
                <a:cs typeface="Times New Roman"/>
              </a:rPr>
              <a:t>G</a:t>
            </a:r>
            <a:r>
              <a:rPr dirty="0" sz="2800" spc="20" b="1">
                <a:solidFill>
                  <a:srgbClr val="66FFFF"/>
                </a:solidFill>
                <a:latin typeface="宋体"/>
                <a:cs typeface="宋体"/>
              </a:rPr>
              <a:t>是一不含</a:t>
            </a:r>
            <a:r>
              <a:rPr dirty="0" sz="2800" spc="-10" b="1" i="1">
                <a:solidFill>
                  <a:srgbClr val="66FFFF"/>
                </a:solidFill>
                <a:latin typeface="Times New Roman"/>
                <a:cs typeface="Times New Roman"/>
              </a:rPr>
              <a:t>P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→</a:t>
            </a:r>
            <a:r>
              <a:rPr dirty="0" sz="2800" spc="20" b="1" i="1">
                <a:solidFill>
                  <a:srgbClr val="66FFFF"/>
                </a:solidFill>
                <a:latin typeface="Times New Roman"/>
                <a:cs typeface="Times New Roman"/>
              </a:rPr>
              <a:t>ε</a:t>
            </a:r>
            <a:r>
              <a:rPr dirty="0" sz="2800" spc="20" b="1">
                <a:solidFill>
                  <a:srgbClr val="66FFFF"/>
                </a:solidFill>
                <a:latin typeface="宋体"/>
                <a:cs typeface="宋体"/>
              </a:rPr>
              <a:t>形</a:t>
            </a:r>
            <a:r>
              <a:rPr dirty="0" sz="2800" spc="30" b="1">
                <a:solidFill>
                  <a:srgbClr val="66FFFF"/>
                </a:solidFill>
                <a:latin typeface="宋体"/>
                <a:cs typeface="宋体"/>
              </a:rPr>
              <a:t>式</a:t>
            </a:r>
            <a:r>
              <a:rPr dirty="0" sz="2800" spc="20" b="1">
                <a:solidFill>
                  <a:srgbClr val="66FFFF"/>
                </a:solidFill>
                <a:latin typeface="宋体"/>
                <a:cs typeface="宋体"/>
              </a:rPr>
              <a:t>规则的算符文法，则对于任 </a:t>
            </a: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何</a:t>
            </a: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，</a:t>
            </a: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b</a:t>
            </a:r>
            <a:r>
              <a:rPr dirty="0" sz="2800" spc="-10" b="1">
                <a:solidFill>
                  <a:srgbClr val="66FFFF"/>
                </a:solidFill>
                <a:latin typeface="宋体"/>
                <a:cs typeface="宋体"/>
              </a:rPr>
              <a:t>有：</a:t>
            </a:r>
            <a:endParaRPr sz="2800">
              <a:latin typeface="宋体"/>
              <a:cs typeface="宋体"/>
            </a:endParaRPr>
          </a:p>
          <a:p>
            <a:pPr marL="405765">
              <a:lnSpc>
                <a:spcPct val="100000"/>
              </a:lnSpc>
              <a:spcBef>
                <a:spcPts val="635"/>
              </a:spcBef>
              <a:tabLst>
                <a:tab pos="1030605" algn="l"/>
              </a:tabLst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①	</a:t>
            </a:r>
            <a:r>
              <a:rPr dirty="0" sz="2800" b="1" i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dirty="0" sz="2800" b="1" i="1">
                <a:solidFill>
                  <a:srgbClr val="66FFFF"/>
                </a:solidFill>
                <a:latin typeface="Lucida Sans Unicode"/>
                <a:cs typeface="Lucida Sans Unicode"/>
              </a:rPr>
              <a:t>≐</a:t>
            </a:r>
            <a:r>
              <a:rPr dirty="0" sz="2800" b="1" i="1">
                <a:solidFill>
                  <a:srgbClr val="66FFFF"/>
                </a:solidFill>
                <a:latin typeface="Times New Roman"/>
                <a:cs typeface="Times New Roman"/>
              </a:rPr>
              <a:t>b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当且仅当文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中有形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如</a:t>
            </a:r>
            <a:r>
              <a:rPr dirty="0" sz="2800" spc="-66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>
                <a:solidFill>
                  <a:srgbClr val="FFFFFF"/>
                </a:solidFill>
                <a:latin typeface="Courier New"/>
                <a:cs typeface="Courier New"/>
              </a:rPr>
              <a:t>…</a:t>
            </a:r>
            <a:r>
              <a:rPr dirty="0" sz="2800" spc="-99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ab</a:t>
            </a:r>
            <a:r>
              <a:rPr dirty="0" sz="2800" b="1">
                <a:solidFill>
                  <a:srgbClr val="FFFFFF"/>
                </a:solidFill>
                <a:latin typeface="Courier New"/>
                <a:cs typeface="Courier New"/>
              </a:rPr>
              <a:t>…</a:t>
            </a:r>
            <a:r>
              <a:rPr dirty="0" sz="2800" spc="-100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或</a:t>
            </a:r>
            <a:endParaRPr sz="2800">
              <a:latin typeface="宋体"/>
              <a:cs typeface="宋体"/>
            </a:endParaRPr>
          </a:p>
          <a:p>
            <a:pPr marL="50800">
              <a:lnSpc>
                <a:spcPct val="100000"/>
              </a:lnSpc>
              <a:spcBef>
                <a:spcPts val="650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>
                <a:solidFill>
                  <a:srgbClr val="FFFFFF"/>
                </a:solidFill>
                <a:latin typeface="Courier New"/>
                <a:cs typeface="Courier New"/>
              </a:rPr>
              <a:t>…</a:t>
            </a:r>
            <a:r>
              <a:rPr dirty="0" sz="2800" spc="-99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aBb</a:t>
            </a:r>
            <a:r>
              <a:rPr dirty="0" sz="2800" spc="-5" b="1">
                <a:solidFill>
                  <a:srgbClr val="FFFFFF"/>
                </a:solidFill>
                <a:latin typeface="Courier New"/>
                <a:cs typeface="Courier New"/>
              </a:rPr>
              <a:t>…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的规则：</a:t>
            </a:r>
            <a:endParaRPr sz="2800">
              <a:latin typeface="宋体"/>
              <a:cs typeface="宋体"/>
            </a:endParaRPr>
          </a:p>
          <a:p>
            <a:pPr marL="139065" marR="804545" indent="266700">
              <a:lnSpc>
                <a:spcPts val="4000"/>
              </a:lnSpc>
              <a:spcBef>
                <a:spcPts val="235"/>
              </a:spcBef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②</a:t>
            </a:r>
            <a:r>
              <a:rPr dirty="0" sz="2800" spc="-2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 i="1">
                <a:solidFill>
                  <a:srgbClr val="66FFFF"/>
                </a:solidFill>
                <a:latin typeface="Lucida Sans Unicode"/>
                <a:cs typeface="Lucida Sans Unicode"/>
              </a:rPr>
              <a:t>⋖</a:t>
            </a: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，当且仅当文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中有形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如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10" b="1">
                <a:solidFill>
                  <a:srgbClr val="FFFFFF"/>
                </a:solidFill>
                <a:latin typeface="Courier New"/>
                <a:cs typeface="Courier New"/>
              </a:rPr>
              <a:t>…</a:t>
            </a:r>
            <a:r>
              <a:rPr dirty="0" sz="2800" spc="-95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aB</a:t>
            </a:r>
            <a:r>
              <a:rPr dirty="0" sz="2800" spc="-5" b="1">
                <a:solidFill>
                  <a:srgbClr val="FFFFFF"/>
                </a:solidFill>
                <a:latin typeface="Courier New"/>
                <a:cs typeface="Courier New"/>
              </a:rPr>
              <a:t>…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的规 则，其中</a:t>
            </a:r>
            <a:r>
              <a:rPr dirty="0" sz="2800" spc="-24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24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baseline="20833" sz="4200" spc="-359" b="1">
                <a:solidFill>
                  <a:srgbClr val="FFFFFF"/>
                </a:solidFill>
                <a:latin typeface="黑体"/>
                <a:cs typeface="黑体"/>
              </a:rPr>
              <a:t>+</a:t>
            </a:r>
            <a:r>
              <a:rPr dirty="0" sz="2800" spc="-240" b="1">
                <a:solidFill>
                  <a:srgbClr val="FFFFFF"/>
                </a:solidFill>
                <a:latin typeface="Times New Roman"/>
                <a:cs typeface="Times New Roman"/>
              </a:rPr>
              <a:t>&gt;</a:t>
            </a:r>
            <a:r>
              <a:rPr dirty="0" sz="2800" spc="-24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2800" spc="-240" b="1">
                <a:solidFill>
                  <a:srgbClr val="FFFF00"/>
                </a:solidFill>
                <a:latin typeface="Courier New"/>
                <a:cs typeface="Courier New"/>
              </a:rPr>
              <a:t>…</a:t>
            </a:r>
            <a:r>
              <a:rPr dirty="0" sz="2800" spc="-965" b="1">
                <a:solidFill>
                  <a:srgbClr val="FFFF00"/>
                </a:solidFill>
                <a:latin typeface="Courier New"/>
                <a:cs typeface="Courier New"/>
              </a:rPr>
              <a:t>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或</a:t>
            </a:r>
            <a:r>
              <a:rPr dirty="0" sz="2800" spc="-69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36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36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baseline="23809" sz="4200" spc="-540" b="1">
                <a:solidFill>
                  <a:srgbClr val="FFFFFF"/>
                </a:solidFill>
                <a:latin typeface="黑体"/>
                <a:cs typeface="黑体"/>
              </a:rPr>
              <a:t>+</a:t>
            </a:r>
            <a:r>
              <a:rPr dirty="0" sz="2800" spc="-360" b="1">
                <a:solidFill>
                  <a:srgbClr val="FFFFFF"/>
                </a:solidFill>
                <a:latin typeface="Times New Roman"/>
                <a:cs typeface="Times New Roman"/>
              </a:rPr>
              <a:t>&gt;</a:t>
            </a:r>
            <a:r>
              <a:rPr dirty="0" sz="2800" spc="-3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Cb</a:t>
            </a:r>
            <a:r>
              <a:rPr dirty="0" sz="2800" spc="-5" b="1">
                <a:solidFill>
                  <a:srgbClr val="FFFF00"/>
                </a:solidFill>
                <a:latin typeface="Courier New"/>
                <a:cs typeface="Courier New"/>
              </a:rPr>
              <a:t>…</a:t>
            </a:r>
            <a:r>
              <a:rPr dirty="0" sz="2800" spc="-990" b="1">
                <a:solidFill>
                  <a:srgbClr val="FFFF00"/>
                </a:solidFill>
                <a:latin typeface="Courier New"/>
                <a:cs typeface="Courier New"/>
              </a:rPr>
              <a:t>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marL="139065" marR="714375" indent="266700">
              <a:lnSpc>
                <a:spcPts val="4000"/>
              </a:lnSpc>
              <a:spcBef>
                <a:spcPts val="5"/>
              </a:spcBef>
              <a:tabLst>
                <a:tab pos="4047490" algn="l"/>
              </a:tabLst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③</a:t>
            </a:r>
            <a:r>
              <a:rPr dirty="0" sz="2800" spc="-3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dirty="0" sz="2800" spc="-20" b="1" i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66FFFF"/>
                </a:solidFill>
                <a:latin typeface="Lucida Sans Unicode"/>
                <a:cs typeface="Lucida Sans Unicode"/>
              </a:rPr>
              <a:t>⋗</a:t>
            </a: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，当且仅当文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中有形如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>
                <a:solidFill>
                  <a:srgbClr val="FFFFFF"/>
                </a:solidFill>
                <a:latin typeface="Courier New"/>
                <a:cs typeface="Courier New"/>
              </a:rPr>
              <a:t>…</a:t>
            </a:r>
            <a:r>
              <a:rPr dirty="0" sz="2800" spc="-944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Bb</a:t>
            </a:r>
            <a:r>
              <a:rPr dirty="0" sz="2800" spc="-5" b="1">
                <a:solidFill>
                  <a:srgbClr val="FFFFFF"/>
                </a:solidFill>
                <a:latin typeface="Courier New"/>
                <a:cs typeface="Courier New"/>
              </a:rPr>
              <a:t>…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的规 则，其中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1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475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baseline="23809" sz="4200" spc="-712" b="1">
                <a:solidFill>
                  <a:srgbClr val="FFFFFF"/>
                </a:solidFill>
                <a:latin typeface="黑体"/>
                <a:cs typeface="黑体"/>
              </a:rPr>
              <a:t>+</a:t>
            </a:r>
            <a:r>
              <a:rPr dirty="0" sz="2800" spc="-475" b="1">
                <a:solidFill>
                  <a:srgbClr val="FFFFFF"/>
                </a:solidFill>
                <a:latin typeface="Times New Roman"/>
                <a:cs typeface="Times New Roman"/>
              </a:rPr>
              <a:t>&gt;  </a:t>
            </a:r>
            <a:r>
              <a:rPr dirty="0" sz="2800" spc="-43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Courier New"/>
                <a:cs typeface="Courier New"/>
              </a:rPr>
              <a:t>…</a:t>
            </a:r>
            <a:r>
              <a:rPr dirty="0" sz="2800" spc="-980" b="1">
                <a:solidFill>
                  <a:srgbClr val="FFFF00"/>
                </a:solidFill>
                <a:latin typeface="Courier New"/>
                <a:cs typeface="Courier New"/>
              </a:rPr>
              <a:t> 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或</a:t>
            </a:r>
            <a:r>
              <a:rPr dirty="0" sz="2800" spc="-69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40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405" b="1">
                <a:solidFill>
                  <a:srgbClr val="FFFFFF"/>
                </a:solidFill>
                <a:latin typeface="Times New Roman"/>
                <a:cs typeface="Times New Roman"/>
              </a:rPr>
              <a:t>=&gt;</a:t>
            </a:r>
            <a:r>
              <a:rPr dirty="0" baseline="22817" sz="4200" spc="-607" b="1">
                <a:solidFill>
                  <a:srgbClr val="FFFFFF"/>
                </a:solidFill>
                <a:latin typeface="黑体"/>
                <a:cs typeface="黑体"/>
              </a:rPr>
              <a:t>+	</a:t>
            </a:r>
            <a:r>
              <a:rPr dirty="0" sz="2800" spc="-5" b="1">
                <a:solidFill>
                  <a:srgbClr val="FFFF00"/>
                </a:solidFill>
                <a:latin typeface="Courier New"/>
                <a:cs typeface="Courier New"/>
              </a:rPr>
              <a:t>…</a:t>
            </a:r>
            <a:r>
              <a:rPr dirty="0" sz="2800" spc="-990" b="1">
                <a:solidFill>
                  <a:srgbClr val="FFFF00"/>
                </a:solidFill>
                <a:latin typeface="Courier New"/>
                <a:cs typeface="Courier New"/>
              </a:rPr>
              <a:t>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aC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765810">
              <a:lnSpc>
                <a:spcPct val="100000"/>
              </a:lnSpc>
              <a:spcBef>
                <a:spcPts val="3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若文法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中所有终结符号之间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最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多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只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满足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这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三者关</a:t>
            </a:r>
            <a:endParaRPr sz="2800">
              <a:latin typeface="宋体"/>
              <a:cs typeface="宋体"/>
            </a:endParaRPr>
          </a:p>
          <a:p>
            <a:pPr marL="50800">
              <a:lnSpc>
                <a:spcPct val="100000"/>
              </a:lnSpc>
              <a:spcBef>
                <a:spcPts val="65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系之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一，则称文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是算符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优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先文</a:t>
            </a:r>
            <a:r>
              <a:rPr dirty="0" sz="2800" spc="30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OPG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文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23748" y="26923"/>
            <a:ext cx="81356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21535" algn="l"/>
                <a:tab pos="2629535" algn="l"/>
                <a:tab pos="4864100" algn="l"/>
                <a:tab pos="5561965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算符优先分析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法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算符优先分析与分析器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33527" y="556640"/>
            <a:ext cx="208597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5">
                <a:solidFill>
                  <a:srgbClr val="FFFF00"/>
                </a:solidFill>
                <a:latin typeface="Webdings"/>
                <a:cs typeface="Webdings"/>
              </a:rPr>
              <a:t></a:t>
            </a:r>
            <a:r>
              <a:rPr dirty="0" sz="3600" spc="-45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600" spc="-5">
                <a:solidFill>
                  <a:srgbClr val="FFFF00"/>
                </a:solidFill>
              </a:rPr>
              <a:t>说</a:t>
            </a:r>
            <a:r>
              <a:rPr dirty="0" sz="3600" spc="-15">
                <a:solidFill>
                  <a:srgbClr val="FFFF00"/>
                </a:solidFill>
              </a:rPr>
              <a:t>明</a:t>
            </a:r>
            <a:r>
              <a:rPr dirty="0" sz="3600" spc="-950">
                <a:solidFill>
                  <a:srgbClr val="FFFF00"/>
                </a:solidFill>
              </a:rPr>
              <a:t> </a:t>
            </a:r>
            <a:r>
              <a:rPr dirty="0" sz="3600" spc="-15">
                <a:solidFill>
                  <a:srgbClr val="FFFF00"/>
                </a:solidFill>
              </a:rPr>
              <a:t>：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2003" y="1104899"/>
            <a:ext cx="7513955" cy="3074670"/>
          </a:xfrm>
          <a:prstGeom prst="rect">
            <a:avLst/>
          </a:prstGeom>
        </p:spPr>
        <p:txBody>
          <a:bodyPr wrap="square" lIns="0" tIns="226060" rIns="0" bIns="0" rtlCol="0" vert="horz">
            <a:spAutoFit/>
          </a:bodyPr>
          <a:lstStyle/>
          <a:p>
            <a:pPr marL="622300" indent="-609600">
              <a:lnSpc>
                <a:spcPct val="100000"/>
              </a:lnSpc>
              <a:spcBef>
                <a:spcPts val="1780"/>
              </a:spcBef>
              <a:buAutoNum type="arabicParenR"/>
              <a:tabLst>
                <a:tab pos="621665" algn="l"/>
                <a:tab pos="622300" algn="l"/>
              </a:tabLst>
            </a:pPr>
            <a:r>
              <a:rPr dirty="0" sz="3600" spc="-5" b="1">
                <a:solidFill>
                  <a:srgbClr val="FFFFFF"/>
                </a:solidFill>
                <a:latin typeface="Times New Roman"/>
                <a:cs typeface="Times New Roman"/>
              </a:rPr>
              <a:t>OPG</a:t>
            </a: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一定</a:t>
            </a:r>
            <a:r>
              <a:rPr dirty="0" sz="3600" spc="-10" b="1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sz="3600" spc="-10" b="1">
                <a:solidFill>
                  <a:srgbClr val="FFFFFF"/>
                </a:solidFill>
                <a:latin typeface="Times New Roman"/>
                <a:cs typeface="Times New Roman"/>
              </a:rPr>
              <a:t>OG</a:t>
            </a:r>
            <a:r>
              <a:rPr dirty="0" sz="3600" spc="-10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3600">
              <a:latin typeface="宋体"/>
              <a:cs typeface="宋体"/>
            </a:endParaRPr>
          </a:p>
          <a:p>
            <a:pPr marL="621665" indent="-609600">
              <a:lnSpc>
                <a:spcPct val="100000"/>
              </a:lnSpc>
              <a:spcBef>
                <a:spcPts val="1685"/>
              </a:spcBef>
              <a:buAutoNum type="arabicParenR"/>
              <a:tabLst>
                <a:tab pos="621665" algn="l"/>
                <a:tab pos="622300" algn="l"/>
              </a:tabLst>
            </a:pPr>
            <a:r>
              <a:rPr dirty="0" sz="3600" spc="-5" b="1">
                <a:solidFill>
                  <a:srgbClr val="FFFFFF"/>
                </a:solidFill>
                <a:latin typeface="Times New Roman"/>
                <a:cs typeface="Times New Roman"/>
              </a:rPr>
              <a:t>OPG</a:t>
            </a: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不含</a:t>
            </a:r>
            <a:r>
              <a:rPr dirty="0" sz="3600" spc="-5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产生式；</a:t>
            </a:r>
            <a:endParaRPr sz="3600">
              <a:latin typeface="宋体"/>
              <a:cs typeface="宋体"/>
            </a:endParaRPr>
          </a:p>
          <a:p>
            <a:pPr marL="621665" marR="5080" indent="-621665">
              <a:lnSpc>
                <a:spcPct val="138900"/>
              </a:lnSpc>
              <a:buFont typeface="Times New Roman"/>
              <a:buAutoNum type="arabicParenR"/>
              <a:tabLst>
                <a:tab pos="621665" algn="l"/>
                <a:tab pos="622300" algn="l"/>
              </a:tabLst>
            </a:pPr>
            <a:r>
              <a:rPr dirty="0" sz="3600" spc="-10" b="1">
                <a:solidFill>
                  <a:srgbClr val="FFFFFF"/>
                </a:solidFill>
                <a:latin typeface="宋体"/>
                <a:cs typeface="宋体"/>
              </a:rPr>
              <a:t>定</a:t>
            </a:r>
            <a:r>
              <a:rPr dirty="0" sz="3600" spc="-15" b="1">
                <a:solidFill>
                  <a:srgbClr val="FFFFFF"/>
                </a:solidFill>
                <a:latin typeface="宋体"/>
                <a:cs typeface="宋体"/>
              </a:rPr>
              <a:t>义</a:t>
            </a:r>
            <a:r>
              <a:rPr dirty="0" sz="3600" spc="-919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600" spc="-5" b="1">
                <a:solidFill>
                  <a:srgbClr val="FFFFFF"/>
                </a:solidFill>
                <a:latin typeface="Times New Roman"/>
                <a:cs typeface="Times New Roman"/>
              </a:rPr>
              <a:t>5.2</a:t>
            </a:r>
            <a:r>
              <a:rPr dirty="0" sz="3600" spc="-1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600" spc="-15" b="1">
                <a:solidFill>
                  <a:srgbClr val="FFFFFF"/>
                </a:solidFill>
                <a:latin typeface="宋体"/>
                <a:cs typeface="宋体"/>
              </a:rPr>
              <a:t>①</a:t>
            </a:r>
            <a:r>
              <a:rPr dirty="0" sz="3600" spc="-919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600" spc="-15" b="1">
                <a:solidFill>
                  <a:srgbClr val="FFFFFF"/>
                </a:solidFill>
                <a:latin typeface="宋体"/>
                <a:cs typeface="宋体"/>
              </a:rPr>
              <a:t>②</a:t>
            </a:r>
            <a:r>
              <a:rPr dirty="0" sz="3600" spc="-919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600" spc="-10" b="1">
                <a:solidFill>
                  <a:srgbClr val="FFFFFF"/>
                </a:solidFill>
                <a:latin typeface="宋体"/>
                <a:cs typeface="宋体"/>
              </a:rPr>
              <a:t>③给出优先关系的 </a:t>
            </a: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定义</a:t>
            </a:r>
            <a:r>
              <a:rPr dirty="0" sz="36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23748" y="26923"/>
            <a:ext cx="443547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21535" algn="l"/>
                <a:tab pos="2629535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算符优先分析法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0136" y="802005"/>
            <a:ext cx="94361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5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.6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04492" y="718794"/>
            <a:ext cx="2472055" cy="2290445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17475" marR="5080" indent="-105410">
              <a:lnSpc>
                <a:spcPct val="116100"/>
              </a:lnSpc>
              <a:spcBef>
                <a:spcPts val="14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设文法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： 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P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aQ 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bR</a:t>
            </a:r>
            <a:endParaRPr sz="3200">
              <a:latin typeface="Times New Roman"/>
              <a:cs typeface="Times New Roman"/>
            </a:endParaRPr>
          </a:p>
          <a:p>
            <a:pPr marL="117475">
              <a:lnSpc>
                <a:spcPct val="100000"/>
              </a:lnSpc>
              <a:spcBef>
                <a:spcPts val="580"/>
              </a:spcBef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5602" y="3426409"/>
            <a:ext cx="608584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1E2D52"/>
                </a:solidFill>
                <a:latin typeface="宋体"/>
                <a:cs typeface="宋体"/>
              </a:rPr>
              <a:t>考察</a:t>
            </a:r>
            <a:r>
              <a:rPr dirty="0" sz="2800" spc="-5" b="1" i="1">
                <a:solidFill>
                  <a:srgbClr val="1E2D52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1E2D52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1E2D52"/>
                </a:solidFill>
                <a:latin typeface="Times New Roman"/>
                <a:cs typeface="Times New Roman"/>
              </a:rPr>
              <a:t>P</a:t>
            </a:r>
            <a:r>
              <a:rPr dirty="0" sz="2800" spc="-5" b="1">
                <a:solidFill>
                  <a:srgbClr val="1E2D52"/>
                </a:solidFill>
                <a:latin typeface="Times New Roman"/>
                <a:cs typeface="Times New Roman"/>
              </a:rPr>
              <a:t>)</a:t>
            </a:r>
            <a:r>
              <a:rPr dirty="0" sz="2800" spc="-10" b="1">
                <a:solidFill>
                  <a:srgbClr val="1E2D52"/>
                </a:solidFill>
                <a:latin typeface="宋体"/>
                <a:cs typeface="宋体"/>
              </a:rPr>
              <a:t>中的终结</a:t>
            </a:r>
            <a:r>
              <a:rPr dirty="0" sz="2800" spc="-5" b="1">
                <a:solidFill>
                  <a:srgbClr val="1E2D52"/>
                </a:solidFill>
                <a:latin typeface="宋体"/>
                <a:cs typeface="宋体"/>
              </a:rPr>
              <a:t>符</a:t>
            </a:r>
            <a:r>
              <a:rPr dirty="0" sz="2800" spc="-5" b="1" i="1">
                <a:solidFill>
                  <a:srgbClr val="1E2D52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>
                <a:solidFill>
                  <a:srgbClr val="1E2D52"/>
                </a:solidFill>
                <a:latin typeface="宋体"/>
                <a:cs typeface="宋体"/>
              </a:rPr>
              <a:t>、</a:t>
            </a:r>
            <a:r>
              <a:rPr dirty="0" sz="2800" spc="-5" b="1" i="1">
                <a:solidFill>
                  <a:srgbClr val="1E2D52"/>
                </a:solidFill>
                <a:latin typeface="Times New Roman"/>
                <a:cs typeface="Times New Roman"/>
              </a:rPr>
              <a:t>b</a:t>
            </a:r>
            <a:r>
              <a:rPr dirty="0" sz="2800" spc="-10" b="1">
                <a:solidFill>
                  <a:srgbClr val="1E2D52"/>
                </a:solidFill>
                <a:latin typeface="宋体"/>
                <a:cs typeface="宋体"/>
              </a:rPr>
              <a:t>的</a:t>
            </a:r>
            <a:r>
              <a:rPr dirty="0" sz="2800" b="1">
                <a:solidFill>
                  <a:srgbClr val="1E2D52"/>
                </a:solidFill>
                <a:latin typeface="宋体"/>
                <a:cs typeface="宋体"/>
              </a:rPr>
              <a:t>优</a:t>
            </a:r>
            <a:r>
              <a:rPr dirty="0" sz="2800" spc="-10" b="1">
                <a:solidFill>
                  <a:srgbClr val="1E2D52"/>
                </a:solidFill>
                <a:latin typeface="宋体"/>
                <a:cs typeface="宋体"/>
              </a:rPr>
              <a:t>先关</a:t>
            </a:r>
            <a:r>
              <a:rPr dirty="0" sz="2800" b="1">
                <a:solidFill>
                  <a:srgbClr val="1E2D52"/>
                </a:solidFill>
                <a:latin typeface="宋体"/>
                <a:cs typeface="宋体"/>
              </a:rPr>
              <a:t>系</a:t>
            </a:r>
            <a:r>
              <a:rPr dirty="0" sz="2800" spc="-15" b="1">
                <a:solidFill>
                  <a:srgbClr val="1E2D52"/>
                </a:solidFill>
                <a:latin typeface="宋体"/>
                <a:cs typeface="宋体"/>
              </a:rPr>
              <a:t>：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5531" y="2458973"/>
            <a:ext cx="9035796" cy="410032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92302" y="3853078"/>
            <a:ext cx="1108075" cy="14979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0795" indent="1270">
              <a:lnSpc>
                <a:spcPct val="114999"/>
              </a:lnSpc>
              <a:spcBef>
                <a:spcPts val="100"/>
              </a:spcBef>
            </a:pPr>
            <a:r>
              <a:rPr dirty="0" sz="2800" spc="-5" b="1" i="1">
                <a:solidFill>
                  <a:srgbClr val="1E2D52"/>
                </a:solidFill>
                <a:latin typeface="Times New Roman"/>
                <a:cs typeface="Times New Roman"/>
              </a:rPr>
              <a:t>P</a:t>
            </a:r>
            <a:r>
              <a:rPr dirty="0" sz="2800" spc="-5" b="1">
                <a:solidFill>
                  <a:srgbClr val="1E2D52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 i="1">
                <a:solidFill>
                  <a:srgbClr val="CC3300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 i="1">
                <a:solidFill>
                  <a:srgbClr val="336699"/>
                </a:solidFill>
                <a:latin typeface="Times New Roman"/>
                <a:cs typeface="Times New Roman"/>
              </a:rPr>
              <a:t>Q  </a:t>
            </a:r>
            <a:r>
              <a:rPr dirty="0" sz="2800" spc="-10" b="1" i="1">
                <a:solidFill>
                  <a:srgbClr val="1E2D52"/>
                </a:solidFill>
                <a:latin typeface="Times New Roman"/>
                <a:cs typeface="Times New Roman"/>
              </a:rPr>
              <a:t>Q</a:t>
            </a:r>
            <a:r>
              <a:rPr dirty="0" sz="2800" spc="-5" b="1">
                <a:solidFill>
                  <a:srgbClr val="1E2D52"/>
                </a:solidFill>
                <a:latin typeface="Times New Roman"/>
                <a:cs typeface="Times New Roman"/>
              </a:rPr>
              <a:t>=&gt;</a:t>
            </a:r>
            <a:r>
              <a:rPr dirty="0" sz="2800" b="1" i="1">
                <a:solidFill>
                  <a:srgbClr val="CC3300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 i="1">
                <a:solidFill>
                  <a:srgbClr val="1E2D52"/>
                </a:solidFill>
                <a:latin typeface="Times New Roman"/>
                <a:cs typeface="Times New Roman"/>
              </a:rPr>
              <a:t>R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dirty="0" sz="2800" b="1" i="1">
                <a:solidFill>
                  <a:srgbClr val="1E2D52"/>
                </a:solidFill>
                <a:latin typeface="Times New Roman"/>
                <a:cs typeface="Times New Roman"/>
              </a:rPr>
              <a:t>a</a:t>
            </a:r>
            <a:r>
              <a:rPr dirty="0" sz="2800" b="1" i="1">
                <a:solidFill>
                  <a:srgbClr val="1E2D52"/>
                </a:solidFill>
                <a:latin typeface="Lucida Sans Unicode"/>
                <a:cs typeface="Lucida Sans Unicode"/>
              </a:rPr>
              <a:t>⋖</a:t>
            </a:r>
            <a:r>
              <a:rPr dirty="0" sz="2800" b="1" i="1">
                <a:solidFill>
                  <a:srgbClr val="1E2D52"/>
                </a:solidFill>
                <a:latin typeface="Times New Roman"/>
                <a:cs typeface="Times New Roman"/>
              </a:rPr>
              <a:t>b</a:t>
            </a:r>
            <a:r>
              <a:rPr dirty="0" sz="2800" spc="-114" b="1" i="1">
                <a:solidFill>
                  <a:srgbClr val="1E2D52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1E2D52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680454" y="2458973"/>
            <a:ext cx="1143000" cy="935990"/>
          </a:xfrm>
          <a:custGeom>
            <a:avLst/>
            <a:gdLst/>
            <a:ahLst/>
            <a:cxnLst/>
            <a:rect l="l" t="t" r="r" b="b"/>
            <a:pathLst>
              <a:path w="1143000" h="935989">
                <a:moveTo>
                  <a:pt x="0" y="233934"/>
                </a:moveTo>
                <a:lnTo>
                  <a:pt x="571500" y="0"/>
                </a:lnTo>
                <a:lnTo>
                  <a:pt x="1143000" y="233934"/>
                </a:lnTo>
                <a:lnTo>
                  <a:pt x="857250" y="233934"/>
                </a:lnTo>
                <a:lnTo>
                  <a:pt x="857250" y="935736"/>
                </a:lnTo>
                <a:lnTo>
                  <a:pt x="285750" y="935736"/>
                </a:lnTo>
                <a:lnTo>
                  <a:pt x="285750" y="233934"/>
                </a:lnTo>
                <a:lnTo>
                  <a:pt x="0" y="23393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747765" y="1181861"/>
            <a:ext cx="2971800" cy="0"/>
          </a:xfrm>
          <a:custGeom>
            <a:avLst/>
            <a:gdLst/>
            <a:ahLst/>
            <a:cxnLst/>
            <a:rect l="l" t="t" r="r" b="b"/>
            <a:pathLst>
              <a:path w="2971800" h="0">
                <a:moveTo>
                  <a:pt x="0" y="0"/>
                </a:moveTo>
                <a:lnTo>
                  <a:pt x="2971800" y="0"/>
                </a:lnTo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451853" y="648462"/>
            <a:ext cx="0" cy="1811020"/>
          </a:xfrm>
          <a:custGeom>
            <a:avLst/>
            <a:gdLst/>
            <a:ahLst/>
            <a:cxnLst/>
            <a:rect l="l" t="t" r="r" b="b"/>
            <a:pathLst>
              <a:path w="0" h="1811020">
                <a:moveTo>
                  <a:pt x="0" y="0"/>
                </a:moveTo>
                <a:lnTo>
                  <a:pt x="0" y="1810512"/>
                </a:lnTo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5375528" y="0"/>
            <a:ext cx="3284220" cy="1264920"/>
          </a:xfrm>
          <a:prstGeom prst="rect">
            <a:avLst/>
          </a:prstGeom>
        </p:spPr>
        <p:txBody>
          <a:bodyPr wrap="square" lIns="0" tIns="1841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50"/>
              </a:spcBef>
              <a:tabLst>
                <a:tab pos="7105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算符优先分析与分析器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50">
              <a:latin typeface="宋体"/>
              <a:cs typeface="宋体"/>
            </a:endParaRPr>
          </a:p>
          <a:p>
            <a:pPr algn="ctr" marL="832485">
              <a:lnSpc>
                <a:spcPct val="100000"/>
              </a:lnSpc>
              <a:tabLst>
                <a:tab pos="1746885" algn="l"/>
              </a:tabLst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	b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28486" y="1109351"/>
            <a:ext cx="229235" cy="12934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0000"/>
              </a:lnSpc>
              <a:spcBef>
                <a:spcPts val="95"/>
              </a:spcBef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775193" y="1251585"/>
            <a:ext cx="30797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Lucida Sans Unicode"/>
                <a:cs typeface="Lucida Sans Unicode"/>
              </a:rPr>
              <a:t>⋖</a:t>
            </a:r>
            <a:endParaRPr sz="280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898640" y="1916937"/>
            <a:ext cx="30797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Lucida Sans Unicode"/>
                <a:cs typeface="Lucida Sans Unicode"/>
              </a:rPr>
              <a:t>⋖</a:t>
            </a:r>
            <a:endParaRPr sz="2800"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518915" y="3867911"/>
            <a:ext cx="3403091" cy="15102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3525392" y="3835425"/>
            <a:ext cx="1141730" cy="14979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2800" spc="-5" b="1" i="1">
                <a:solidFill>
                  <a:srgbClr val="1E2D52"/>
                </a:solidFill>
                <a:latin typeface="Times New Roman"/>
                <a:cs typeface="Times New Roman"/>
              </a:rPr>
              <a:t>Q</a:t>
            </a:r>
            <a:r>
              <a:rPr dirty="0" sz="2800" spc="-85" b="1" i="1">
                <a:solidFill>
                  <a:srgbClr val="1E2D52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1E2D52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 i="1">
                <a:solidFill>
                  <a:srgbClr val="CC3300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 i="1">
                <a:solidFill>
                  <a:srgbClr val="1E2D52"/>
                </a:solidFill>
                <a:latin typeface="Times New Roman"/>
                <a:cs typeface="Times New Roman"/>
              </a:rPr>
              <a:t>R  </a:t>
            </a:r>
            <a:r>
              <a:rPr dirty="0" sz="2800" spc="-5" b="1" i="1">
                <a:solidFill>
                  <a:srgbClr val="1E2D52"/>
                </a:solidFill>
                <a:latin typeface="Times New Roman"/>
                <a:cs typeface="Times New Roman"/>
              </a:rPr>
              <a:t>R</a:t>
            </a:r>
            <a:r>
              <a:rPr dirty="0" sz="2800" spc="-5" b="1">
                <a:solidFill>
                  <a:srgbClr val="1E2D52"/>
                </a:solidFill>
                <a:latin typeface="Times New Roman"/>
                <a:cs typeface="Times New Roman"/>
              </a:rPr>
              <a:t>=&gt;</a:t>
            </a:r>
            <a:r>
              <a:rPr dirty="0" sz="2800" spc="-5" b="1" i="1">
                <a:solidFill>
                  <a:srgbClr val="CC3300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dirty="0" sz="2800" b="1" i="1">
                <a:solidFill>
                  <a:srgbClr val="1E2D52"/>
                </a:solidFill>
                <a:latin typeface="Times New Roman"/>
                <a:cs typeface="Times New Roman"/>
              </a:rPr>
              <a:t>b</a:t>
            </a:r>
            <a:r>
              <a:rPr dirty="0" sz="2800" b="1" i="1">
                <a:solidFill>
                  <a:srgbClr val="1E2D52"/>
                </a:solidFill>
                <a:latin typeface="Lucida Sans Unicode"/>
                <a:cs typeface="Lucida Sans Unicode"/>
              </a:rPr>
              <a:t>⋖</a:t>
            </a:r>
            <a:r>
              <a:rPr dirty="0" sz="2800" b="1" i="1">
                <a:solidFill>
                  <a:srgbClr val="1E2D52"/>
                </a:solidFill>
                <a:latin typeface="Times New Roman"/>
                <a:cs typeface="Times New Roman"/>
              </a:rPr>
              <a:t>a</a:t>
            </a:r>
            <a:r>
              <a:rPr dirty="0" sz="2800" spc="-80" b="1" i="1">
                <a:solidFill>
                  <a:srgbClr val="1E2D52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1E2D52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337210" y="5434381"/>
            <a:ext cx="8047355" cy="10071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56235">
              <a:lnSpc>
                <a:spcPct val="114999"/>
              </a:lnSpc>
              <a:spcBef>
                <a:spcPts val="100"/>
              </a:spcBef>
            </a:pPr>
            <a:r>
              <a:rPr dirty="0" sz="2800" b="1" i="1">
                <a:solidFill>
                  <a:srgbClr val="1E2D52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1E2D52"/>
                </a:solidFill>
                <a:latin typeface="宋体"/>
                <a:cs typeface="宋体"/>
              </a:rPr>
              <a:t>与</a:t>
            </a:r>
            <a:r>
              <a:rPr dirty="0" sz="2800" b="1" i="1">
                <a:solidFill>
                  <a:srgbClr val="1E2D52"/>
                </a:solidFill>
                <a:latin typeface="Times New Roman"/>
                <a:cs typeface="Times New Roman"/>
              </a:rPr>
              <a:t>b</a:t>
            </a:r>
            <a:r>
              <a:rPr dirty="0" sz="2800" b="1">
                <a:solidFill>
                  <a:srgbClr val="1E2D52"/>
                </a:solidFill>
                <a:latin typeface="Times New Roman"/>
                <a:cs typeface="Times New Roman"/>
              </a:rPr>
              <a:t>,</a:t>
            </a:r>
            <a:r>
              <a:rPr dirty="0" sz="2800" spc="-75" b="1">
                <a:solidFill>
                  <a:srgbClr val="1E2D52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solidFill>
                  <a:srgbClr val="1E2D52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1E2D52"/>
                </a:solidFill>
                <a:latin typeface="宋体"/>
                <a:cs typeface="宋体"/>
              </a:rPr>
              <a:t>与</a:t>
            </a:r>
            <a:r>
              <a:rPr dirty="0" sz="2800" b="1" i="1">
                <a:solidFill>
                  <a:srgbClr val="1E2D52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1E2D52"/>
                </a:solidFill>
                <a:latin typeface="宋体"/>
                <a:cs typeface="宋体"/>
              </a:rPr>
              <a:t>不存在优先关系。所以</a:t>
            </a:r>
            <a:r>
              <a:rPr dirty="0" sz="2800" spc="-5" b="1" i="1">
                <a:solidFill>
                  <a:srgbClr val="1E2D52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1E2D52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1E2D52"/>
                </a:solidFill>
                <a:latin typeface="Times New Roman"/>
                <a:cs typeface="Times New Roman"/>
              </a:rPr>
              <a:t>P</a:t>
            </a:r>
            <a:r>
              <a:rPr dirty="0" sz="2800" spc="-5" b="1">
                <a:solidFill>
                  <a:srgbClr val="1E2D52"/>
                </a:solidFill>
                <a:latin typeface="Times New Roman"/>
                <a:cs typeface="Times New Roman"/>
              </a:rPr>
              <a:t>)</a:t>
            </a:r>
            <a:r>
              <a:rPr dirty="0" sz="2800" spc="5" b="1">
                <a:solidFill>
                  <a:srgbClr val="1E2D52"/>
                </a:solidFill>
                <a:latin typeface="宋体"/>
                <a:cs typeface="宋体"/>
              </a:rPr>
              <a:t>是</a:t>
            </a:r>
            <a:r>
              <a:rPr dirty="0" sz="2800" spc="-10" b="1">
                <a:solidFill>
                  <a:srgbClr val="1E2D52"/>
                </a:solidFill>
                <a:latin typeface="宋体"/>
                <a:cs typeface="宋体"/>
              </a:rPr>
              <a:t>算符</a:t>
            </a:r>
            <a:r>
              <a:rPr dirty="0" sz="2800" spc="5" b="1">
                <a:solidFill>
                  <a:srgbClr val="1E2D52"/>
                </a:solidFill>
                <a:latin typeface="宋体"/>
                <a:cs typeface="宋体"/>
              </a:rPr>
              <a:t>优</a:t>
            </a:r>
            <a:r>
              <a:rPr dirty="0" sz="2800" spc="-15" b="1">
                <a:solidFill>
                  <a:srgbClr val="1E2D52"/>
                </a:solidFill>
                <a:latin typeface="宋体"/>
                <a:cs typeface="宋体"/>
              </a:rPr>
              <a:t>先 </a:t>
            </a:r>
            <a:r>
              <a:rPr dirty="0" sz="2800" spc="-5" b="1">
                <a:solidFill>
                  <a:srgbClr val="1E2D52"/>
                </a:solidFill>
                <a:latin typeface="宋体"/>
                <a:cs typeface="宋体"/>
              </a:rPr>
              <a:t>文法</a:t>
            </a:r>
            <a:r>
              <a:rPr dirty="0" sz="2800" spc="-15" b="1">
                <a:solidFill>
                  <a:srgbClr val="1E2D52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23748" y="26923"/>
            <a:ext cx="443547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21535" algn="l"/>
                <a:tab pos="2629535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算符优先分析法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75528" y="26923"/>
            <a:ext cx="32842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05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算符优先分析与分析器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4331" y="802005"/>
            <a:ext cx="944244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5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.7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51050" y="718794"/>
            <a:ext cx="2196465" cy="1168400"/>
          </a:xfrm>
          <a:prstGeom prst="rect">
            <a:avLst/>
          </a:prstGeom>
        </p:spPr>
        <p:txBody>
          <a:bodyPr wrap="square" lIns="0" tIns="965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设文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spc="-6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endParaRPr sz="3200">
              <a:latin typeface="宋体"/>
              <a:cs typeface="宋体"/>
            </a:endParaRPr>
          </a:p>
          <a:p>
            <a:pPr marL="15240">
              <a:lnSpc>
                <a:spcPct val="100000"/>
              </a:lnSpc>
              <a:spcBef>
                <a:spcPts val="660"/>
              </a:spcBef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S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aSb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3200" spc="-114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 i="1">
                <a:solidFill>
                  <a:srgbClr val="FFFF00"/>
                </a:solidFill>
                <a:latin typeface="Times New Roman"/>
                <a:cs typeface="Times New Roman"/>
              </a:rPr>
              <a:t>ab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20898" y="4245000"/>
            <a:ext cx="1450340" cy="1113790"/>
          </a:xfrm>
          <a:prstGeom prst="rect">
            <a:avLst/>
          </a:prstGeom>
        </p:spPr>
        <p:txBody>
          <a:bodyPr wrap="square" lIns="0" tIns="130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据定义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②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 i="1">
                <a:solidFill>
                  <a:srgbClr val="FFFFCC"/>
                </a:solidFill>
                <a:latin typeface="Lucida Sans Unicode"/>
                <a:cs typeface="Lucida Sans Unicode"/>
              </a:rPr>
              <a:t>⋖</a:t>
            </a:r>
            <a:r>
              <a:rPr dirty="0" sz="2800" spc="-210" b="1" i="1">
                <a:solidFill>
                  <a:srgbClr val="FFFFCC"/>
                </a:solidFill>
                <a:latin typeface="Lucida Sans Unicode"/>
                <a:cs typeface="Lucida Sans Unicode"/>
              </a:rPr>
              <a:t> 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;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88455" y="4248454"/>
            <a:ext cx="1450975" cy="1113790"/>
          </a:xfrm>
          <a:prstGeom prst="rect">
            <a:avLst/>
          </a:prstGeom>
        </p:spPr>
        <p:txBody>
          <a:bodyPr wrap="square" lIns="0" tIns="1295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据定义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③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 i="1">
                <a:solidFill>
                  <a:srgbClr val="FFFFFF"/>
                </a:solidFill>
                <a:latin typeface="Lucida Sans Unicode"/>
                <a:cs typeface="Lucida Sans Unicode"/>
              </a:rPr>
              <a:t>⋗</a:t>
            </a:r>
            <a:r>
              <a:rPr dirty="0" sz="2800" spc="-20" b="1" i="1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;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172961" y="2705861"/>
            <a:ext cx="1142999" cy="952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172961" y="2705861"/>
            <a:ext cx="1143000" cy="952500"/>
          </a:xfrm>
          <a:custGeom>
            <a:avLst/>
            <a:gdLst/>
            <a:ahLst/>
            <a:cxnLst/>
            <a:rect l="l" t="t" r="r" b="b"/>
            <a:pathLst>
              <a:path w="1143000" h="952500">
                <a:moveTo>
                  <a:pt x="0" y="238125"/>
                </a:moveTo>
                <a:lnTo>
                  <a:pt x="571499" y="0"/>
                </a:lnTo>
                <a:lnTo>
                  <a:pt x="1142999" y="238125"/>
                </a:lnTo>
                <a:lnTo>
                  <a:pt x="857249" y="238125"/>
                </a:lnTo>
                <a:lnTo>
                  <a:pt x="857249" y="952500"/>
                </a:lnTo>
                <a:lnTo>
                  <a:pt x="285750" y="952500"/>
                </a:lnTo>
                <a:lnTo>
                  <a:pt x="285750" y="238125"/>
                </a:lnTo>
                <a:lnTo>
                  <a:pt x="0" y="238125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296661" y="1386077"/>
            <a:ext cx="2971800" cy="0"/>
          </a:xfrm>
          <a:custGeom>
            <a:avLst/>
            <a:gdLst/>
            <a:ahLst/>
            <a:cxnLst/>
            <a:rect l="l" t="t" r="r" b="b"/>
            <a:pathLst>
              <a:path w="2971800" h="0">
                <a:moveTo>
                  <a:pt x="0" y="0"/>
                </a:moveTo>
                <a:lnTo>
                  <a:pt x="2971799" y="0"/>
                </a:lnTo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002273" y="852677"/>
            <a:ext cx="0" cy="1811020"/>
          </a:xfrm>
          <a:custGeom>
            <a:avLst/>
            <a:gdLst/>
            <a:ahLst/>
            <a:cxnLst/>
            <a:rect l="l" t="t" r="r" b="b"/>
            <a:pathLst>
              <a:path w="0" h="1811020">
                <a:moveTo>
                  <a:pt x="0" y="0"/>
                </a:moveTo>
                <a:lnTo>
                  <a:pt x="0" y="1810512"/>
                </a:lnTo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411214" y="811225"/>
            <a:ext cx="11436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927100" algn="l"/>
              </a:tabLst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477636" y="1314202"/>
            <a:ext cx="229235" cy="12934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0000"/>
              </a:lnSpc>
              <a:spcBef>
                <a:spcPts val="95"/>
              </a:spcBef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21882" y="1255293"/>
            <a:ext cx="1167130" cy="1280160"/>
          </a:xfrm>
          <a:prstGeom prst="rect">
            <a:avLst/>
          </a:prstGeom>
        </p:spPr>
        <p:txBody>
          <a:bodyPr wrap="square" lIns="0" tIns="213360" rIns="0" bIns="0" rtlCol="0" vert="horz">
            <a:spAutoFit/>
          </a:bodyPr>
          <a:lstStyle/>
          <a:p>
            <a:pPr algn="r" marR="17780">
              <a:lnSpc>
                <a:spcPct val="100000"/>
              </a:lnSpc>
              <a:spcBef>
                <a:spcPts val="1680"/>
              </a:spcBef>
              <a:tabLst>
                <a:tab pos="845185" algn="l"/>
              </a:tabLst>
            </a:pPr>
            <a:r>
              <a:rPr dirty="0" sz="2800" spc="-5" b="1" i="1">
                <a:solidFill>
                  <a:srgbClr val="FFFFFF"/>
                </a:solidFill>
                <a:latin typeface="Lucida Sans Unicode"/>
                <a:cs typeface="Lucida Sans Unicode"/>
              </a:rPr>
              <a:t>⋖</a:t>
            </a:r>
            <a:r>
              <a:rPr dirty="0" sz="2800" spc="-5" b="1" i="1">
                <a:solidFill>
                  <a:srgbClr val="FFFFFF"/>
                </a:solidFill>
                <a:latin typeface="Lucida Sans Unicode"/>
                <a:cs typeface="Lucida Sans Unicode"/>
              </a:rPr>
              <a:t>	</a:t>
            </a:r>
            <a:r>
              <a:rPr dirty="0" sz="2800" spc="-5" b="1" i="1">
                <a:solidFill>
                  <a:srgbClr val="FFFFCC"/>
                </a:solidFill>
                <a:latin typeface="Lucida Sans Unicode"/>
                <a:cs typeface="Lucida Sans Unicode"/>
              </a:rPr>
              <a:t>≐</a:t>
            </a:r>
            <a:endParaRPr sz="2800">
              <a:latin typeface="Lucida Sans Unicode"/>
              <a:cs typeface="Lucida Sans Unicode"/>
            </a:endParaRPr>
          </a:p>
          <a:p>
            <a:pPr algn="r" marR="5080">
              <a:lnSpc>
                <a:spcPct val="100000"/>
              </a:lnSpc>
              <a:spcBef>
                <a:spcPts val="1575"/>
              </a:spcBef>
            </a:pPr>
            <a:r>
              <a:rPr dirty="0" sz="2800" spc="-5" b="1" i="1">
                <a:solidFill>
                  <a:srgbClr val="FFFFFF"/>
                </a:solidFill>
                <a:latin typeface="Lucida Sans Unicode"/>
                <a:cs typeface="Lucida Sans Unicode"/>
              </a:rPr>
              <a:t>⋗</a:t>
            </a:r>
            <a:endParaRPr sz="2800"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639061" y="2334005"/>
            <a:ext cx="2705100" cy="5227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639061" y="2334005"/>
            <a:ext cx="2705100" cy="523240"/>
          </a:xfrm>
          <a:prstGeom prst="rect">
            <a:avLst/>
          </a:prstGeom>
          <a:ln w="38100">
            <a:solidFill>
              <a:srgbClr val="FF99CC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92405">
              <a:lnSpc>
                <a:spcPts val="3660"/>
              </a:lnSpc>
              <a:tabLst>
                <a:tab pos="701675" algn="l"/>
              </a:tabLst>
            </a:pPr>
            <a:r>
              <a:rPr dirty="0" sz="2800" spc="-5" b="1">
                <a:latin typeface="Symbol"/>
                <a:cs typeface="Symbol"/>
              </a:rPr>
              <a:t></a:t>
            </a:r>
            <a:r>
              <a:rPr dirty="0" sz="2800" spc="-5">
                <a:latin typeface="Times New Roman"/>
                <a:cs typeface="Times New Roman"/>
              </a:rPr>
              <a:t>	</a:t>
            </a:r>
            <a:r>
              <a:rPr dirty="0" sz="3200" b="1" i="1">
                <a:latin typeface="Times New Roman"/>
                <a:cs typeface="Times New Roman"/>
              </a:rPr>
              <a:t>G</a:t>
            </a:r>
            <a:r>
              <a:rPr dirty="0" sz="3200" spc="5" b="1">
                <a:latin typeface="宋体"/>
                <a:cs typeface="宋体"/>
              </a:rPr>
              <a:t>是</a:t>
            </a:r>
            <a:r>
              <a:rPr dirty="0" sz="3200" b="1">
                <a:latin typeface="Times New Roman"/>
                <a:cs typeface="Times New Roman"/>
              </a:rPr>
              <a:t>OPG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426516" y="2984759"/>
            <a:ext cx="2196465" cy="2428875"/>
          </a:xfrm>
          <a:prstGeom prst="rect">
            <a:avLst/>
          </a:prstGeom>
        </p:spPr>
        <p:txBody>
          <a:bodyPr wrap="square" lIns="0" tIns="15494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220"/>
              </a:spcBef>
            </a:pPr>
            <a:r>
              <a:rPr dirty="0" u="heavy" sz="3200" spc="-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考</a:t>
            </a:r>
            <a:r>
              <a:rPr dirty="0" u="heavy" sz="3200" spc="-1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察</a:t>
            </a:r>
            <a:r>
              <a:rPr dirty="0" u="heavy" sz="3200" spc="-819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 </a:t>
            </a:r>
            <a:r>
              <a:rPr dirty="0" u="heavy" sz="3200" spc="-1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：</a:t>
            </a:r>
            <a:endParaRPr sz="3200">
              <a:latin typeface="宋体"/>
              <a:cs typeface="宋体"/>
            </a:endParaRPr>
          </a:p>
          <a:p>
            <a:pPr marL="15240">
              <a:lnSpc>
                <a:spcPct val="100000"/>
              </a:lnSpc>
              <a:spcBef>
                <a:spcPts val="1115"/>
              </a:spcBef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S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aSb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3200" spc="-12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 i="1">
                <a:solidFill>
                  <a:srgbClr val="FFFF00"/>
                </a:solidFill>
                <a:latin typeface="Times New Roman"/>
                <a:cs typeface="Times New Roman"/>
              </a:rPr>
              <a:t>ab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据定义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①</a:t>
            </a:r>
            <a:endParaRPr sz="2800">
              <a:latin typeface="宋体"/>
              <a:cs typeface="宋体"/>
            </a:endParaRPr>
          </a:p>
          <a:p>
            <a:pPr marL="33020">
              <a:lnSpc>
                <a:spcPct val="100000"/>
              </a:lnSpc>
              <a:spcBef>
                <a:spcPts val="1195"/>
              </a:spcBef>
            </a:pP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800" b="1" i="1">
                <a:solidFill>
                  <a:srgbClr val="FFFFCC"/>
                </a:solidFill>
                <a:latin typeface="Lucida Sans Unicode"/>
                <a:cs typeface="Lucida Sans Unicode"/>
              </a:rPr>
              <a:t>≐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;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23748" y="26923"/>
            <a:ext cx="16294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09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33217" y="26923"/>
            <a:ext cx="232600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0065" algn="l"/>
              </a:tabLst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算符优先分析法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75528" y="26923"/>
            <a:ext cx="32842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05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算符优先分析与分析器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153661" y="1143761"/>
            <a:ext cx="325120" cy="853440"/>
          </a:xfrm>
          <a:custGeom>
            <a:avLst/>
            <a:gdLst/>
            <a:ahLst/>
            <a:cxnLst/>
            <a:rect l="l" t="t" r="r" b="b"/>
            <a:pathLst>
              <a:path w="325120" h="853439">
                <a:moveTo>
                  <a:pt x="324612" y="853439"/>
                </a:moveTo>
                <a:lnTo>
                  <a:pt x="261425" y="847842"/>
                </a:lnTo>
                <a:lnTo>
                  <a:pt x="209835" y="832564"/>
                </a:lnTo>
                <a:lnTo>
                  <a:pt x="175057" y="809880"/>
                </a:lnTo>
                <a:lnTo>
                  <a:pt x="162305" y="782065"/>
                </a:lnTo>
                <a:lnTo>
                  <a:pt x="162305" y="498093"/>
                </a:lnTo>
                <a:lnTo>
                  <a:pt x="149554" y="470279"/>
                </a:lnTo>
                <a:lnTo>
                  <a:pt x="114776" y="447595"/>
                </a:lnTo>
                <a:lnTo>
                  <a:pt x="63186" y="432317"/>
                </a:lnTo>
                <a:lnTo>
                  <a:pt x="0" y="426720"/>
                </a:lnTo>
                <a:lnTo>
                  <a:pt x="63186" y="421122"/>
                </a:lnTo>
                <a:lnTo>
                  <a:pt x="114776" y="405844"/>
                </a:lnTo>
                <a:lnTo>
                  <a:pt x="149554" y="383160"/>
                </a:lnTo>
                <a:lnTo>
                  <a:pt x="162305" y="355346"/>
                </a:lnTo>
                <a:lnTo>
                  <a:pt x="162305" y="71374"/>
                </a:lnTo>
                <a:lnTo>
                  <a:pt x="175057" y="43559"/>
                </a:lnTo>
                <a:lnTo>
                  <a:pt x="209835" y="20875"/>
                </a:lnTo>
                <a:lnTo>
                  <a:pt x="261425" y="5597"/>
                </a:lnTo>
                <a:lnTo>
                  <a:pt x="324612" y="0"/>
                </a:lnTo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59740" y="872743"/>
            <a:ext cx="8086090" cy="54857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166235">
              <a:lnSpc>
                <a:spcPts val="3329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从定义出发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800" spc="-69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小规模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endParaRPr sz="2800">
              <a:latin typeface="Times New Roman"/>
              <a:cs typeface="Times New Roman"/>
            </a:endParaRPr>
          </a:p>
          <a:p>
            <a:pPr marL="279400">
              <a:lnSpc>
                <a:spcPts val="3329"/>
              </a:lnSpc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算符优先关系表构造</a:t>
            </a:r>
            <a:endParaRPr sz="2800">
              <a:latin typeface="宋体"/>
              <a:cs typeface="宋体"/>
            </a:endParaRPr>
          </a:p>
          <a:p>
            <a:pPr marL="4109085">
              <a:lnSpc>
                <a:spcPct val="100000"/>
              </a:lnSpc>
              <a:spcBef>
                <a:spcPts val="6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基于定义，求解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个集合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150">
              <a:latin typeface="宋体"/>
              <a:cs typeface="宋体"/>
            </a:endParaRPr>
          </a:p>
          <a:p>
            <a:pPr marL="468630" indent="-418465">
              <a:lnSpc>
                <a:spcPct val="100000"/>
              </a:lnSpc>
              <a:spcBef>
                <a:spcPts val="5"/>
              </a:spcBef>
              <a:buClr>
                <a:srgbClr val="66FFFF"/>
              </a:buClr>
              <a:buSzPct val="114062"/>
              <a:buFont typeface="Wingdings"/>
              <a:buChar char=""/>
              <a:tabLst>
                <a:tab pos="467995" algn="l"/>
                <a:tab pos="469265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定义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5.6</a:t>
            </a:r>
            <a:endParaRPr sz="3200">
              <a:latin typeface="Times New Roman"/>
              <a:cs typeface="Times New Roman"/>
            </a:endParaRPr>
          </a:p>
          <a:p>
            <a:pPr marL="660400">
              <a:lnSpc>
                <a:spcPct val="100000"/>
              </a:lnSpc>
              <a:spcBef>
                <a:spcPts val="1000"/>
              </a:spcBef>
            </a:pPr>
            <a:r>
              <a:rPr dirty="0" sz="3200" spc="-5" b="1">
                <a:solidFill>
                  <a:srgbClr val="FFFFCC"/>
                </a:solidFill>
                <a:latin typeface="宋体"/>
                <a:cs typeface="宋体"/>
              </a:rPr>
              <a:t>给定文法</a:t>
            </a:r>
            <a:r>
              <a:rPr dirty="0" sz="3200" b="1" i="1">
                <a:solidFill>
                  <a:srgbClr val="FFFFCC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CC"/>
                </a:solidFill>
                <a:latin typeface="宋体"/>
                <a:cs typeface="宋体"/>
              </a:rPr>
              <a:t>，</a:t>
            </a:r>
            <a:r>
              <a:rPr dirty="0" sz="3200" b="1" i="1">
                <a:solidFill>
                  <a:srgbClr val="FFFFCC"/>
                </a:solidFill>
                <a:latin typeface="Times New Roman"/>
                <a:cs typeface="Times New Roman"/>
              </a:rPr>
              <a:t>G</a:t>
            </a:r>
            <a:r>
              <a:rPr dirty="0" sz="3200" spc="-5" b="1">
                <a:solidFill>
                  <a:srgbClr val="FFFFCC"/>
                </a:solidFill>
                <a:latin typeface="宋体"/>
                <a:cs typeface="宋体"/>
              </a:rPr>
              <a:t>中</a:t>
            </a:r>
            <a:r>
              <a:rPr dirty="0" sz="3200" spc="-10" b="1">
                <a:solidFill>
                  <a:srgbClr val="FFFFCC"/>
                </a:solidFill>
                <a:latin typeface="宋体"/>
                <a:cs typeface="宋体"/>
              </a:rPr>
              <a:t>的</a:t>
            </a:r>
            <a:r>
              <a:rPr dirty="0" sz="3200" spc="-840" b="1">
                <a:solidFill>
                  <a:srgbClr val="FFFFCC"/>
                </a:solidFill>
                <a:latin typeface="宋体"/>
                <a:cs typeface="宋体"/>
              </a:rPr>
              <a:t> </a:t>
            </a:r>
            <a:r>
              <a:rPr dirty="0" sz="3200" spc="-35" b="1" i="1">
                <a:solidFill>
                  <a:srgbClr val="FFFFCC"/>
                </a:solidFill>
                <a:latin typeface="Times New Roman"/>
                <a:cs typeface="Times New Roman"/>
              </a:rPr>
              <a:t>P</a:t>
            </a:r>
            <a:r>
              <a:rPr dirty="0" sz="3200" spc="-35" b="1">
                <a:solidFill>
                  <a:srgbClr val="FFFFCC"/>
                </a:solidFill>
                <a:latin typeface="宋体"/>
                <a:cs typeface="宋体"/>
              </a:rPr>
              <a:t>∈</a:t>
            </a:r>
            <a:r>
              <a:rPr dirty="0" sz="3350" spc="-35" b="1" i="1">
                <a:solidFill>
                  <a:srgbClr val="FFFFCC"/>
                </a:solidFill>
                <a:latin typeface="宋体"/>
                <a:cs typeface="宋体"/>
              </a:rPr>
              <a:t>Ｖ</a:t>
            </a:r>
            <a:r>
              <a:rPr dirty="0" baseline="-25132" sz="3150" spc="-52" b="1" i="1">
                <a:solidFill>
                  <a:srgbClr val="FFFFCC"/>
                </a:solidFill>
                <a:latin typeface="Times New Roman"/>
                <a:cs typeface="Times New Roman"/>
              </a:rPr>
              <a:t>N</a:t>
            </a:r>
            <a:r>
              <a:rPr dirty="0" baseline="-25132" sz="3150" spc="382" b="1" i="1">
                <a:solidFill>
                  <a:srgbClr val="FFFFCC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FFFFCC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CC"/>
                </a:solidFill>
                <a:latin typeface="宋体"/>
                <a:cs typeface="宋体"/>
              </a:rPr>
              <a:t>则：</a:t>
            </a:r>
            <a:endParaRPr sz="3200">
              <a:latin typeface="宋体"/>
              <a:cs typeface="宋体"/>
            </a:endParaRPr>
          </a:p>
          <a:p>
            <a:pPr marL="457834">
              <a:lnSpc>
                <a:spcPct val="100000"/>
              </a:lnSpc>
              <a:spcBef>
                <a:spcPts val="1065"/>
              </a:spcBef>
            </a:pPr>
            <a:r>
              <a:rPr dirty="0" sz="3200" b="1">
                <a:solidFill>
                  <a:srgbClr val="FF99CC"/>
                </a:solidFill>
                <a:latin typeface="Times New Roman"/>
                <a:cs typeface="Times New Roman"/>
              </a:rPr>
              <a:t>FIRSTVT(</a:t>
            </a:r>
            <a:r>
              <a:rPr dirty="0" sz="3200" b="1" i="1">
                <a:solidFill>
                  <a:srgbClr val="FF99CC"/>
                </a:solidFill>
                <a:latin typeface="Times New Roman"/>
                <a:cs typeface="Times New Roman"/>
              </a:rPr>
              <a:t>P</a:t>
            </a:r>
            <a:r>
              <a:rPr dirty="0" sz="3200" b="1">
                <a:solidFill>
                  <a:srgbClr val="FF99CC"/>
                </a:solidFill>
                <a:latin typeface="Times New Roman"/>
                <a:cs typeface="Times New Roman"/>
              </a:rPr>
              <a:t>)</a:t>
            </a:r>
            <a:r>
              <a:rPr dirty="0" sz="3200" b="1">
                <a:solidFill>
                  <a:srgbClr val="FFFFCC"/>
                </a:solidFill>
                <a:latin typeface="Times New Roman"/>
                <a:cs typeface="Times New Roman"/>
              </a:rPr>
              <a:t>=</a:t>
            </a:r>
            <a:r>
              <a:rPr dirty="0" sz="3200" b="1">
                <a:solidFill>
                  <a:srgbClr val="FFFFCC"/>
                </a:solidFill>
                <a:latin typeface="宋体"/>
                <a:cs typeface="宋体"/>
              </a:rPr>
              <a:t>｛</a:t>
            </a:r>
            <a:r>
              <a:rPr dirty="0" sz="3200" b="1" i="1">
                <a:solidFill>
                  <a:srgbClr val="FFFFCC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CC"/>
                </a:solidFill>
                <a:latin typeface="Times New Roman"/>
                <a:cs typeface="Times New Roman"/>
              </a:rPr>
              <a:t>│</a:t>
            </a:r>
            <a:r>
              <a:rPr dirty="0" sz="3200" b="1" i="1">
                <a:solidFill>
                  <a:srgbClr val="FFFFCC"/>
                </a:solidFill>
                <a:latin typeface="Times New Roman"/>
                <a:cs typeface="Times New Roman"/>
              </a:rPr>
              <a:t>P</a:t>
            </a:r>
            <a:r>
              <a:rPr dirty="0" sz="3200" spc="-55" b="1" i="1">
                <a:solidFill>
                  <a:srgbClr val="FFFFCC"/>
                </a:solidFill>
                <a:latin typeface="Times New Roman"/>
                <a:cs typeface="Times New Roman"/>
              </a:rPr>
              <a:t> </a:t>
            </a:r>
            <a:r>
              <a:rPr dirty="0" sz="3200" spc="-285" b="1">
                <a:solidFill>
                  <a:srgbClr val="FFFFCC"/>
                </a:solidFill>
                <a:latin typeface="Times New Roman"/>
                <a:cs typeface="Times New Roman"/>
              </a:rPr>
              <a:t>=</a:t>
            </a:r>
            <a:r>
              <a:rPr dirty="0" baseline="29761" sz="4200" spc="-427" b="1">
                <a:solidFill>
                  <a:srgbClr val="FFFFFF"/>
                </a:solidFill>
                <a:latin typeface="黑体"/>
                <a:cs typeface="黑体"/>
              </a:rPr>
              <a:t>+</a:t>
            </a:r>
            <a:r>
              <a:rPr dirty="0" sz="3200" spc="-285" b="1">
                <a:solidFill>
                  <a:srgbClr val="FFFFCC"/>
                </a:solidFill>
                <a:latin typeface="Times New Roman"/>
                <a:cs typeface="Times New Roman"/>
              </a:rPr>
              <a:t>&gt;</a:t>
            </a:r>
            <a:r>
              <a:rPr dirty="0" sz="3200" spc="-285" b="1" i="1">
                <a:solidFill>
                  <a:srgbClr val="FFFFCC"/>
                </a:solidFill>
                <a:latin typeface="Times New Roman"/>
                <a:cs typeface="Times New Roman"/>
              </a:rPr>
              <a:t>a</a:t>
            </a:r>
            <a:r>
              <a:rPr dirty="0" sz="3200" spc="-285" b="1">
                <a:solidFill>
                  <a:srgbClr val="FFFFCC"/>
                </a:solidFill>
                <a:latin typeface="Courier New"/>
                <a:cs typeface="Courier New"/>
              </a:rPr>
              <a:t>…</a:t>
            </a:r>
            <a:r>
              <a:rPr dirty="0" sz="3200" b="1">
                <a:solidFill>
                  <a:srgbClr val="FFFFCC"/>
                </a:solidFill>
                <a:latin typeface="宋体"/>
                <a:cs typeface="宋体"/>
              </a:rPr>
              <a:t>或</a:t>
            </a:r>
            <a:r>
              <a:rPr dirty="0" sz="3200" b="1" i="1">
                <a:solidFill>
                  <a:srgbClr val="FFFFCC"/>
                </a:solidFill>
                <a:latin typeface="Times New Roman"/>
                <a:cs typeface="Times New Roman"/>
              </a:rPr>
              <a:t>P</a:t>
            </a:r>
            <a:r>
              <a:rPr dirty="0" sz="3200" spc="-15" b="1" i="1">
                <a:solidFill>
                  <a:srgbClr val="FFFFCC"/>
                </a:solidFill>
                <a:latin typeface="Times New Roman"/>
                <a:cs typeface="Times New Roman"/>
              </a:rPr>
              <a:t> </a:t>
            </a:r>
            <a:r>
              <a:rPr dirty="0" sz="3200" spc="-204" b="1">
                <a:solidFill>
                  <a:srgbClr val="FFFFCC"/>
                </a:solidFill>
                <a:latin typeface="Times New Roman"/>
                <a:cs typeface="Times New Roman"/>
              </a:rPr>
              <a:t>=</a:t>
            </a:r>
            <a:r>
              <a:rPr dirty="0" baseline="29761" sz="4200" spc="-307" b="1">
                <a:solidFill>
                  <a:srgbClr val="FFFFFF"/>
                </a:solidFill>
                <a:latin typeface="黑体"/>
                <a:cs typeface="黑体"/>
              </a:rPr>
              <a:t>+</a:t>
            </a:r>
            <a:r>
              <a:rPr dirty="0" sz="3200" spc="-204" b="1">
                <a:solidFill>
                  <a:srgbClr val="FFFFCC"/>
                </a:solidFill>
                <a:latin typeface="Times New Roman"/>
                <a:cs typeface="Times New Roman"/>
              </a:rPr>
              <a:t>&gt;</a:t>
            </a:r>
            <a:r>
              <a:rPr dirty="0" sz="3200" spc="-204" b="1" i="1">
                <a:solidFill>
                  <a:srgbClr val="FFFFCC"/>
                </a:solidFill>
                <a:latin typeface="Times New Roman"/>
                <a:cs typeface="Times New Roman"/>
              </a:rPr>
              <a:t>Qa</a:t>
            </a:r>
            <a:r>
              <a:rPr dirty="0" sz="3200" spc="-204" b="1">
                <a:solidFill>
                  <a:srgbClr val="FFFFCC"/>
                </a:solidFill>
                <a:latin typeface="Courier New"/>
                <a:cs typeface="Courier New"/>
              </a:rPr>
              <a:t>…</a:t>
            </a:r>
            <a:r>
              <a:rPr dirty="0" sz="3200" spc="-204" b="1">
                <a:solidFill>
                  <a:srgbClr val="FFFFCC"/>
                </a:solidFill>
                <a:latin typeface="宋体"/>
                <a:cs typeface="宋体"/>
              </a:rPr>
              <a:t>，</a:t>
            </a:r>
            <a:endParaRPr sz="3200">
              <a:latin typeface="宋体"/>
              <a:cs typeface="宋体"/>
            </a:endParaRPr>
          </a:p>
          <a:p>
            <a:pPr marL="4725670">
              <a:lnSpc>
                <a:spcPct val="100000"/>
              </a:lnSpc>
              <a:spcBef>
                <a:spcPts val="1060"/>
              </a:spcBef>
            </a:pPr>
            <a:r>
              <a:rPr dirty="0" sz="3200" spc="-35" b="1" i="1">
                <a:solidFill>
                  <a:srgbClr val="FFFFCC"/>
                </a:solidFill>
                <a:latin typeface="Times New Roman"/>
                <a:cs typeface="Times New Roman"/>
              </a:rPr>
              <a:t>a</a:t>
            </a:r>
            <a:r>
              <a:rPr dirty="0" sz="3200" spc="-35" b="1">
                <a:solidFill>
                  <a:srgbClr val="FFFFCC"/>
                </a:solidFill>
                <a:latin typeface="宋体"/>
                <a:cs typeface="宋体"/>
              </a:rPr>
              <a:t>∈</a:t>
            </a:r>
            <a:r>
              <a:rPr dirty="0" sz="3350" spc="-35" b="1" i="1">
                <a:solidFill>
                  <a:srgbClr val="FFFFCC"/>
                </a:solidFill>
                <a:latin typeface="宋体"/>
                <a:cs typeface="宋体"/>
              </a:rPr>
              <a:t>Ｖ</a:t>
            </a:r>
            <a:r>
              <a:rPr dirty="0" baseline="-25132" sz="3150" spc="-52" b="1" i="1">
                <a:solidFill>
                  <a:srgbClr val="FFFFCC"/>
                </a:solidFill>
                <a:latin typeface="Times New Roman"/>
                <a:cs typeface="Times New Roman"/>
              </a:rPr>
              <a:t>T</a:t>
            </a:r>
            <a:r>
              <a:rPr dirty="0" sz="3200" b="1">
                <a:solidFill>
                  <a:srgbClr val="FFFFCC"/>
                </a:solidFill>
                <a:latin typeface="宋体"/>
                <a:cs typeface="宋体"/>
              </a:rPr>
              <a:t>且</a:t>
            </a:r>
            <a:r>
              <a:rPr dirty="0" sz="3200" spc="-30" b="1" i="1">
                <a:solidFill>
                  <a:srgbClr val="FFFFCC"/>
                </a:solidFill>
                <a:latin typeface="Times New Roman"/>
                <a:cs typeface="Times New Roman"/>
              </a:rPr>
              <a:t>Q</a:t>
            </a:r>
            <a:r>
              <a:rPr dirty="0" sz="3200" spc="-30" b="1">
                <a:solidFill>
                  <a:srgbClr val="FFFFCC"/>
                </a:solidFill>
                <a:latin typeface="宋体"/>
                <a:cs typeface="宋体"/>
              </a:rPr>
              <a:t>∈</a:t>
            </a:r>
            <a:r>
              <a:rPr dirty="0" sz="3350" spc="-30" b="1" i="1">
                <a:solidFill>
                  <a:srgbClr val="FFFFCC"/>
                </a:solidFill>
                <a:latin typeface="宋体"/>
                <a:cs typeface="宋体"/>
              </a:rPr>
              <a:t>Ｖ</a:t>
            </a:r>
            <a:r>
              <a:rPr dirty="0" baseline="-25132" sz="3150" spc="-44" b="1" i="1">
                <a:solidFill>
                  <a:srgbClr val="FFFFCC"/>
                </a:solidFill>
                <a:latin typeface="Times New Roman"/>
                <a:cs typeface="Times New Roman"/>
              </a:rPr>
              <a:t>N</a:t>
            </a:r>
            <a:r>
              <a:rPr dirty="0" sz="3200" spc="-30" b="1">
                <a:solidFill>
                  <a:srgbClr val="FFFFCC"/>
                </a:solidFill>
                <a:latin typeface="宋体"/>
                <a:cs typeface="宋体"/>
              </a:rPr>
              <a:t>｝</a:t>
            </a:r>
            <a:endParaRPr sz="3200">
              <a:latin typeface="宋体"/>
              <a:cs typeface="宋体"/>
            </a:endParaRPr>
          </a:p>
          <a:p>
            <a:pPr marL="457834">
              <a:lnSpc>
                <a:spcPct val="100000"/>
              </a:lnSpc>
              <a:spcBef>
                <a:spcPts val="1065"/>
              </a:spcBef>
            </a:pPr>
            <a:r>
              <a:rPr dirty="0" sz="3200" b="1">
                <a:solidFill>
                  <a:srgbClr val="FF99CC"/>
                </a:solidFill>
                <a:latin typeface="Times New Roman"/>
                <a:cs typeface="Times New Roman"/>
              </a:rPr>
              <a:t>LASTVT(</a:t>
            </a:r>
            <a:r>
              <a:rPr dirty="0" sz="3200" b="1" i="1">
                <a:solidFill>
                  <a:srgbClr val="FF99CC"/>
                </a:solidFill>
                <a:latin typeface="Times New Roman"/>
                <a:cs typeface="Times New Roman"/>
              </a:rPr>
              <a:t>P</a:t>
            </a:r>
            <a:r>
              <a:rPr dirty="0" sz="3200" b="1">
                <a:solidFill>
                  <a:srgbClr val="FF99CC"/>
                </a:solidFill>
                <a:latin typeface="Times New Roman"/>
                <a:cs typeface="Times New Roman"/>
              </a:rPr>
              <a:t>)</a:t>
            </a:r>
            <a:r>
              <a:rPr dirty="0" sz="3200" b="1">
                <a:solidFill>
                  <a:srgbClr val="FFFFCC"/>
                </a:solidFill>
                <a:latin typeface="宋体"/>
                <a:cs typeface="宋体"/>
              </a:rPr>
              <a:t>＝｛</a:t>
            </a:r>
            <a:r>
              <a:rPr dirty="0" sz="3200" b="1" i="1">
                <a:solidFill>
                  <a:srgbClr val="FFFFCC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CC"/>
                </a:solidFill>
                <a:latin typeface="Times New Roman"/>
                <a:cs typeface="Times New Roman"/>
              </a:rPr>
              <a:t>│</a:t>
            </a:r>
            <a:r>
              <a:rPr dirty="0" sz="3200" b="1" i="1">
                <a:solidFill>
                  <a:srgbClr val="FFFFCC"/>
                </a:solidFill>
                <a:latin typeface="Times New Roman"/>
                <a:cs typeface="Times New Roman"/>
              </a:rPr>
              <a:t>P</a:t>
            </a:r>
            <a:r>
              <a:rPr dirty="0" sz="3200" spc="-55" b="1" i="1">
                <a:solidFill>
                  <a:srgbClr val="FFFFCC"/>
                </a:solidFill>
                <a:latin typeface="Times New Roman"/>
                <a:cs typeface="Times New Roman"/>
              </a:rPr>
              <a:t> </a:t>
            </a:r>
            <a:r>
              <a:rPr dirty="0" sz="3200" spc="-285" b="1">
                <a:solidFill>
                  <a:srgbClr val="FFFFCC"/>
                </a:solidFill>
                <a:latin typeface="Times New Roman"/>
                <a:cs typeface="Times New Roman"/>
              </a:rPr>
              <a:t>=</a:t>
            </a:r>
            <a:r>
              <a:rPr dirty="0" baseline="34722" sz="4200" spc="-427" b="1">
                <a:solidFill>
                  <a:srgbClr val="FFFFFF"/>
                </a:solidFill>
                <a:latin typeface="黑体"/>
                <a:cs typeface="黑体"/>
              </a:rPr>
              <a:t>+</a:t>
            </a:r>
            <a:r>
              <a:rPr dirty="0" sz="3200" spc="-285" b="1">
                <a:solidFill>
                  <a:srgbClr val="FFFFCC"/>
                </a:solidFill>
                <a:latin typeface="Times New Roman"/>
                <a:cs typeface="Times New Roman"/>
              </a:rPr>
              <a:t>&gt;</a:t>
            </a:r>
            <a:r>
              <a:rPr dirty="0" sz="3200" spc="-285" b="1">
                <a:solidFill>
                  <a:srgbClr val="FFFFCC"/>
                </a:solidFill>
                <a:latin typeface="Courier New"/>
                <a:cs typeface="Courier New"/>
              </a:rPr>
              <a:t>…</a:t>
            </a:r>
            <a:r>
              <a:rPr dirty="0" sz="3200" spc="-285" b="1" i="1">
                <a:solidFill>
                  <a:srgbClr val="FFFFCC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CC"/>
                </a:solidFill>
                <a:latin typeface="宋体"/>
                <a:cs typeface="宋体"/>
              </a:rPr>
              <a:t>或</a:t>
            </a:r>
            <a:r>
              <a:rPr dirty="0" sz="3200" spc="-180" b="1" i="1">
                <a:solidFill>
                  <a:srgbClr val="FFFFCC"/>
                </a:solidFill>
                <a:latin typeface="Times New Roman"/>
                <a:cs typeface="Times New Roman"/>
              </a:rPr>
              <a:t>P</a:t>
            </a:r>
            <a:r>
              <a:rPr dirty="0" sz="3200" spc="-180" b="1">
                <a:solidFill>
                  <a:srgbClr val="FFFFCC"/>
                </a:solidFill>
                <a:latin typeface="Times New Roman"/>
                <a:cs typeface="Times New Roman"/>
              </a:rPr>
              <a:t>=</a:t>
            </a:r>
            <a:r>
              <a:rPr dirty="0" baseline="34722" sz="4200" spc="-270" b="1">
                <a:solidFill>
                  <a:srgbClr val="FFFFFF"/>
                </a:solidFill>
                <a:latin typeface="黑体"/>
                <a:cs typeface="黑体"/>
              </a:rPr>
              <a:t>+</a:t>
            </a:r>
            <a:r>
              <a:rPr dirty="0" sz="3200" spc="-180" b="1">
                <a:solidFill>
                  <a:srgbClr val="FFFFCC"/>
                </a:solidFill>
                <a:latin typeface="Times New Roman"/>
                <a:cs typeface="Times New Roman"/>
              </a:rPr>
              <a:t>&gt;</a:t>
            </a:r>
            <a:r>
              <a:rPr dirty="0" sz="3200" spc="-180" b="1">
                <a:solidFill>
                  <a:srgbClr val="FFFFCC"/>
                </a:solidFill>
                <a:latin typeface="Courier New"/>
                <a:cs typeface="Courier New"/>
              </a:rPr>
              <a:t>…</a:t>
            </a:r>
            <a:r>
              <a:rPr dirty="0" sz="3200" spc="-180" b="1" i="1">
                <a:solidFill>
                  <a:srgbClr val="FFFFCC"/>
                </a:solidFill>
                <a:latin typeface="Times New Roman"/>
                <a:cs typeface="Times New Roman"/>
              </a:rPr>
              <a:t>aQ</a:t>
            </a:r>
            <a:r>
              <a:rPr dirty="0" sz="3200" spc="-180" b="1">
                <a:solidFill>
                  <a:srgbClr val="FFFFCC"/>
                </a:solidFill>
                <a:latin typeface="宋体"/>
                <a:cs typeface="宋体"/>
              </a:rPr>
              <a:t>，</a:t>
            </a:r>
            <a:endParaRPr sz="3200">
              <a:latin typeface="宋体"/>
              <a:cs typeface="宋体"/>
            </a:endParaRPr>
          </a:p>
          <a:p>
            <a:pPr marL="4623435">
              <a:lnSpc>
                <a:spcPct val="100000"/>
              </a:lnSpc>
              <a:spcBef>
                <a:spcPts val="1060"/>
              </a:spcBef>
            </a:pPr>
            <a:r>
              <a:rPr dirty="0" sz="3200" spc="-35" b="1" i="1">
                <a:solidFill>
                  <a:srgbClr val="FFFFCC"/>
                </a:solidFill>
                <a:latin typeface="Times New Roman"/>
                <a:cs typeface="Times New Roman"/>
              </a:rPr>
              <a:t>a</a:t>
            </a:r>
            <a:r>
              <a:rPr dirty="0" sz="3200" spc="-35" b="1">
                <a:solidFill>
                  <a:srgbClr val="FFFFCC"/>
                </a:solidFill>
                <a:latin typeface="宋体"/>
                <a:cs typeface="宋体"/>
              </a:rPr>
              <a:t>∈</a:t>
            </a:r>
            <a:r>
              <a:rPr dirty="0" sz="3350" spc="-35" b="1" i="1">
                <a:solidFill>
                  <a:srgbClr val="FFFFCC"/>
                </a:solidFill>
                <a:latin typeface="宋体"/>
                <a:cs typeface="宋体"/>
              </a:rPr>
              <a:t>Ｖ</a:t>
            </a:r>
            <a:r>
              <a:rPr dirty="0" baseline="-25132" sz="3150" spc="-52" b="1" i="1">
                <a:solidFill>
                  <a:srgbClr val="FFFFCC"/>
                </a:solidFill>
                <a:latin typeface="Times New Roman"/>
                <a:cs typeface="Times New Roman"/>
              </a:rPr>
              <a:t>T</a:t>
            </a:r>
            <a:r>
              <a:rPr dirty="0" baseline="-25132" sz="3150" spc="322" b="1" i="1">
                <a:solidFill>
                  <a:srgbClr val="FFFFCC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CC"/>
                </a:solidFill>
                <a:latin typeface="宋体"/>
                <a:cs typeface="宋体"/>
              </a:rPr>
              <a:t>且</a:t>
            </a:r>
            <a:r>
              <a:rPr dirty="0" sz="3200" spc="-30" b="1" i="1">
                <a:solidFill>
                  <a:srgbClr val="FFFFCC"/>
                </a:solidFill>
                <a:latin typeface="Times New Roman"/>
                <a:cs typeface="Times New Roman"/>
              </a:rPr>
              <a:t>Q</a:t>
            </a:r>
            <a:r>
              <a:rPr dirty="0" sz="3200" spc="-30" b="1">
                <a:solidFill>
                  <a:srgbClr val="FFFFCC"/>
                </a:solidFill>
                <a:latin typeface="宋体"/>
                <a:cs typeface="宋体"/>
              </a:rPr>
              <a:t>∈</a:t>
            </a:r>
            <a:r>
              <a:rPr dirty="0" sz="3350" spc="-30" b="1" i="1">
                <a:solidFill>
                  <a:srgbClr val="FFFFCC"/>
                </a:solidFill>
                <a:latin typeface="宋体"/>
                <a:cs typeface="宋体"/>
              </a:rPr>
              <a:t>Ｖ</a:t>
            </a:r>
            <a:r>
              <a:rPr dirty="0" baseline="-25132" sz="3150" spc="-44" b="1" i="1">
                <a:solidFill>
                  <a:srgbClr val="FFFFCC"/>
                </a:solidFill>
                <a:latin typeface="Times New Roman"/>
                <a:cs typeface="Times New Roman"/>
              </a:rPr>
              <a:t>N</a:t>
            </a:r>
            <a:r>
              <a:rPr dirty="0" sz="3200" spc="-30" b="1">
                <a:solidFill>
                  <a:srgbClr val="FFFFCC"/>
                </a:solidFill>
                <a:latin typeface="宋体"/>
                <a:cs typeface="宋体"/>
              </a:rPr>
              <a:t>｝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21691" y="26923"/>
            <a:ext cx="8689340" cy="63874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4325">
              <a:lnSpc>
                <a:spcPct val="100000"/>
              </a:lnSpc>
              <a:spcBef>
                <a:spcPts val="100"/>
              </a:spcBef>
              <a:tabLst>
                <a:tab pos="2423795" algn="l"/>
                <a:tab pos="2931795" algn="l"/>
                <a:tab pos="5166360" algn="l"/>
                <a:tab pos="586422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算符优先分析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法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5.2.2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算符优先分析与分析器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450">
              <a:latin typeface="宋体"/>
              <a:cs typeface="宋体"/>
            </a:endParaRPr>
          </a:p>
          <a:p>
            <a:pPr marL="457200" indent="-407034">
              <a:lnSpc>
                <a:spcPct val="100000"/>
              </a:lnSpc>
              <a:buClr>
                <a:srgbClr val="99FF99"/>
              </a:buClr>
              <a:buSzPct val="109375"/>
              <a:buFont typeface="Wingdings"/>
              <a:buChar char=""/>
              <a:tabLst>
                <a:tab pos="457200" algn="l"/>
                <a:tab pos="457834" algn="l"/>
              </a:tabLst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确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定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G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的</a:t>
            </a:r>
            <a:r>
              <a:rPr dirty="0" sz="3200" spc="10" b="1" i="1">
                <a:solidFill>
                  <a:srgbClr val="FFFF00"/>
                </a:solidFill>
                <a:latin typeface="Times New Roman"/>
                <a:cs typeface="Times New Roman"/>
              </a:rPr>
              <a:t>V</a:t>
            </a:r>
            <a:r>
              <a:rPr dirty="0" baseline="-21164" sz="3150" spc="15" b="1" i="1">
                <a:solidFill>
                  <a:srgbClr val="FFFF00"/>
                </a:solidFill>
                <a:latin typeface="Times New Roman"/>
                <a:cs typeface="Times New Roman"/>
              </a:rPr>
              <a:t>T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之间的优先关系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的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规则</a:t>
            </a:r>
            <a:endParaRPr sz="3200">
              <a:latin typeface="宋体"/>
              <a:cs typeface="宋体"/>
            </a:endParaRPr>
          </a:p>
          <a:p>
            <a:pPr marL="660400">
              <a:lnSpc>
                <a:spcPct val="100000"/>
              </a:lnSpc>
              <a:spcBef>
                <a:spcPts val="192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设有文法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的非终结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符</a:t>
            </a:r>
            <a:r>
              <a:rPr dirty="0" sz="3200" spc="-15" b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LASTVT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6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endParaRPr sz="3200">
              <a:latin typeface="宋体"/>
              <a:cs typeface="宋体"/>
            </a:endParaRPr>
          </a:p>
          <a:p>
            <a:pPr marL="50800">
              <a:lnSpc>
                <a:spcPct val="100000"/>
              </a:lnSpc>
              <a:spcBef>
                <a:spcPts val="1150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FIRSTVT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，则有：</a:t>
            </a:r>
            <a:endParaRPr sz="3200">
              <a:latin typeface="宋体"/>
              <a:cs typeface="宋体"/>
            </a:endParaRPr>
          </a:p>
          <a:p>
            <a:pPr marL="661670">
              <a:lnSpc>
                <a:spcPct val="100000"/>
              </a:lnSpc>
              <a:spcBef>
                <a:spcPts val="1155"/>
              </a:spcBef>
            </a:pP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①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若有文法规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dirty="0" sz="3200" spc="-82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3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69"/>
                </a:solidFill>
                <a:latin typeface="Times New Roman"/>
                <a:cs typeface="Times New Roman"/>
              </a:rPr>
              <a:t>ab</a:t>
            </a:r>
            <a:r>
              <a:rPr dirty="0" sz="3200" spc="-20" b="1" i="1">
                <a:solidFill>
                  <a:srgbClr val="FFFF69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或</a:t>
            </a:r>
            <a:endParaRPr sz="3200">
              <a:latin typeface="宋体"/>
              <a:cs typeface="宋体"/>
            </a:endParaRPr>
          </a:p>
          <a:p>
            <a:pPr marL="1270000">
              <a:lnSpc>
                <a:spcPct val="100000"/>
              </a:lnSpc>
              <a:spcBef>
                <a:spcPts val="109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200" spc="-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dirty="0" sz="32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69"/>
                </a:solidFill>
                <a:latin typeface="Times New Roman"/>
                <a:cs typeface="Times New Roman"/>
              </a:rPr>
              <a:t>a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3200" b="1" i="1">
                <a:solidFill>
                  <a:srgbClr val="FFFF69"/>
                </a:solidFill>
                <a:latin typeface="Times New Roman"/>
                <a:cs typeface="Times New Roman"/>
              </a:rPr>
              <a:t>b</a:t>
            </a:r>
            <a:r>
              <a:rPr dirty="0" sz="3200" spc="-25" b="1" i="1">
                <a:solidFill>
                  <a:srgbClr val="FFFF69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，则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3200" spc="-82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spc="5" b="1" i="1">
                <a:solidFill>
                  <a:srgbClr val="FFFFFF"/>
                </a:solidFill>
                <a:latin typeface="Lucida Sans Unicode"/>
                <a:cs typeface="Lucida Sans Unicode"/>
              </a:rPr>
              <a:t>≐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3200" spc="20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3200">
              <a:latin typeface="宋体"/>
              <a:cs typeface="宋体"/>
            </a:endParaRPr>
          </a:p>
          <a:p>
            <a:pPr marL="661670">
              <a:lnSpc>
                <a:spcPct val="100000"/>
              </a:lnSpc>
              <a:spcBef>
                <a:spcPts val="1215"/>
              </a:spcBef>
            </a:pP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②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若有文法规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dirty="0" sz="3200" spc="-2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2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dirty="0" sz="32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3200" spc="-5" b="1" i="1">
                <a:solidFill>
                  <a:srgbClr val="FFFF69"/>
                </a:solidFill>
                <a:latin typeface="Times New Roman"/>
                <a:cs typeface="Times New Roman"/>
              </a:rPr>
              <a:t>b</a:t>
            </a:r>
            <a:r>
              <a:rPr dirty="0" sz="3200" spc="-10" b="1" i="1">
                <a:solidFill>
                  <a:srgbClr val="FFFF69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dirty="0" sz="32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，对所有</a:t>
            </a:r>
            <a:endParaRPr sz="3200">
              <a:latin typeface="宋体"/>
              <a:cs typeface="宋体"/>
            </a:endParaRPr>
          </a:p>
          <a:p>
            <a:pPr marL="1270000">
              <a:lnSpc>
                <a:spcPct val="100000"/>
              </a:lnSpc>
              <a:spcBef>
                <a:spcPts val="1090"/>
              </a:spcBef>
            </a:pPr>
            <a:r>
              <a:rPr dirty="0" sz="3200" b="1" i="1">
                <a:solidFill>
                  <a:srgbClr val="FFFF69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∈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LASTVT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3200" spc="-85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spc="5" b="1" i="1">
                <a:solidFill>
                  <a:srgbClr val="FFFF00"/>
                </a:solidFill>
                <a:latin typeface="Lucida Sans Unicode"/>
                <a:cs typeface="Lucida Sans Unicode"/>
              </a:rPr>
              <a:t>⋗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3200" spc="19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3200">
              <a:latin typeface="宋体"/>
              <a:cs typeface="宋体"/>
            </a:endParaRPr>
          </a:p>
          <a:p>
            <a:pPr marL="662940">
              <a:lnSpc>
                <a:spcPct val="100000"/>
              </a:lnSpc>
              <a:spcBef>
                <a:spcPts val="1065"/>
              </a:spcBef>
            </a:pP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③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若有文法规则</a:t>
            </a:r>
            <a:r>
              <a:rPr dirty="0" sz="3350" spc="-25" b="1" i="1">
                <a:solidFill>
                  <a:srgbClr val="FFFFFF"/>
                </a:solidFill>
                <a:latin typeface="宋体"/>
                <a:cs typeface="宋体"/>
              </a:rPr>
              <a:t>Ｑ</a:t>
            </a:r>
            <a:r>
              <a:rPr dirty="0" sz="3200" spc="-25" b="1">
                <a:solidFill>
                  <a:srgbClr val="FFFFFF"/>
                </a:solidFill>
                <a:latin typeface="宋体"/>
                <a:cs typeface="宋体"/>
              </a:rPr>
              <a:t>→</a:t>
            </a:r>
            <a:r>
              <a:rPr dirty="0" sz="3200" spc="-25" b="1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dirty="0" sz="3200" spc="-25" b="1" i="1">
                <a:solidFill>
                  <a:srgbClr val="FFFFFF"/>
                </a:solidFill>
                <a:latin typeface="Times New Roman"/>
                <a:cs typeface="Times New Roman"/>
              </a:rPr>
              <a:t>aP</a:t>
            </a:r>
            <a:r>
              <a:rPr dirty="0" sz="3200" spc="-25" b="1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dirty="0" sz="3200" spc="-2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对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所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endParaRPr sz="3200">
              <a:latin typeface="宋体"/>
              <a:cs typeface="宋体"/>
            </a:endParaRPr>
          </a:p>
          <a:p>
            <a:pPr marL="1280795">
              <a:lnSpc>
                <a:spcPct val="100000"/>
              </a:lnSpc>
              <a:spcBef>
                <a:spcPts val="1060"/>
              </a:spcBef>
            </a:pPr>
            <a:r>
              <a:rPr dirty="0" sz="3200" b="1" i="1">
                <a:solidFill>
                  <a:srgbClr val="FFFF69"/>
                </a:solidFill>
                <a:latin typeface="Times New Roman"/>
                <a:cs typeface="Times New Roman"/>
              </a:rPr>
              <a:t>b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∈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FIRSTVT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 i="1">
                <a:solidFill>
                  <a:srgbClr val="FFFF00"/>
                </a:solidFill>
                <a:latin typeface="Lucida Sans Unicode"/>
                <a:cs typeface="Lucida Sans Unicode"/>
              </a:rPr>
              <a:t>⋖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23748" y="26923"/>
            <a:ext cx="16294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09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33217" y="26923"/>
            <a:ext cx="232600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0065" algn="l"/>
              </a:tabLst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算符优先分析法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75528" y="26923"/>
            <a:ext cx="32842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05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算符优先分析与分析器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92073" y="973074"/>
            <a:ext cx="8095488" cy="24262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92073" y="973074"/>
            <a:ext cx="8095615" cy="2426335"/>
          </a:xfrm>
          <a:custGeom>
            <a:avLst/>
            <a:gdLst/>
            <a:ahLst/>
            <a:cxnLst/>
            <a:rect l="l" t="t" r="r" b="b"/>
            <a:pathLst>
              <a:path w="8095615" h="2426335">
                <a:moveTo>
                  <a:pt x="0" y="2426208"/>
                </a:moveTo>
                <a:lnTo>
                  <a:pt x="8095488" y="2426208"/>
                </a:lnTo>
                <a:lnTo>
                  <a:pt x="8095488" y="0"/>
                </a:lnTo>
                <a:lnTo>
                  <a:pt x="0" y="0"/>
                </a:lnTo>
                <a:lnTo>
                  <a:pt x="0" y="2426208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69442" y="807221"/>
            <a:ext cx="7782559" cy="2544445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marL="546100">
              <a:lnSpc>
                <a:spcPct val="100000"/>
              </a:lnSpc>
              <a:spcBef>
                <a:spcPts val="1180"/>
              </a:spcBef>
              <a:tabLst>
                <a:tab pos="1262380" algn="l"/>
              </a:tabLst>
            </a:pPr>
            <a:r>
              <a:rPr dirty="0" sz="2800" spc="-5" b="1">
                <a:latin typeface="Symbol"/>
                <a:cs typeface="Symbol"/>
              </a:rPr>
              <a:t></a:t>
            </a:r>
            <a:r>
              <a:rPr dirty="0" sz="2800" spc="-5">
                <a:latin typeface="Times New Roman"/>
                <a:cs typeface="Times New Roman"/>
              </a:rPr>
              <a:t>	</a:t>
            </a:r>
            <a:r>
              <a:rPr dirty="0" sz="3200" spc="-5" b="1">
                <a:latin typeface="宋体"/>
                <a:cs typeface="宋体"/>
              </a:rPr>
              <a:t>只要给出求文法的所有非</a:t>
            </a:r>
            <a:r>
              <a:rPr dirty="0" sz="3200" spc="-15" b="1">
                <a:latin typeface="宋体"/>
                <a:cs typeface="宋体"/>
              </a:rPr>
              <a:t>终</a:t>
            </a:r>
            <a:r>
              <a:rPr dirty="0" sz="3200" spc="-5" b="1">
                <a:latin typeface="宋体"/>
                <a:cs typeface="宋体"/>
              </a:rPr>
              <a:t>结符的</a:t>
            </a:r>
            <a:endParaRPr sz="32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dirty="0" sz="3200" b="1">
                <a:latin typeface="Times New Roman"/>
                <a:cs typeface="Times New Roman"/>
              </a:rPr>
              <a:t>FIRSTVT</a:t>
            </a:r>
            <a:r>
              <a:rPr dirty="0" sz="3200" b="1">
                <a:latin typeface="宋体"/>
                <a:cs typeface="宋体"/>
              </a:rPr>
              <a:t>和</a:t>
            </a:r>
            <a:r>
              <a:rPr dirty="0" sz="3200" b="1">
                <a:latin typeface="Times New Roman"/>
                <a:cs typeface="Times New Roman"/>
              </a:rPr>
              <a:t>LASTVT</a:t>
            </a:r>
            <a:r>
              <a:rPr dirty="0" sz="3200" b="1">
                <a:latin typeface="宋体"/>
                <a:cs typeface="宋体"/>
              </a:rPr>
              <a:t>集合的实现算法</a:t>
            </a:r>
            <a:r>
              <a:rPr dirty="0" sz="3200" spc="-15" b="1">
                <a:latin typeface="宋体"/>
                <a:cs typeface="宋体"/>
              </a:rPr>
              <a:t>，</a:t>
            </a:r>
            <a:r>
              <a:rPr dirty="0" sz="3200" spc="-10" b="1">
                <a:latin typeface="宋体"/>
                <a:cs typeface="宋体"/>
              </a:rPr>
              <a:t>就</a:t>
            </a:r>
            <a:endParaRPr sz="3200">
              <a:latin typeface="宋体"/>
              <a:cs typeface="宋体"/>
            </a:endParaRPr>
          </a:p>
          <a:p>
            <a:pPr marL="12700" marR="5080">
              <a:lnSpc>
                <a:spcPct val="125699"/>
              </a:lnSpc>
              <a:spcBef>
                <a:spcPts val="334"/>
              </a:spcBef>
            </a:pPr>
            <a:r>
              <a:rPr dirty="0" sz="3200" b="1">
                <a:latin typeface="宋体"/>
                <a:cs typeface="宋体"/>
              </a:rPr>
              <a:t>可以根据以上规则自动构造</a:t>
            </a:r>
            <a:r>
              <a:rPr dirty="0" sz="3200" spc="-15" b="1">
                <a:latin typeface="宋体"/>
                <a:cs typeface="宋体"/>
              </a:rPr>
              <a:t>文</a:t>
            </a:r>
            <a:r>
              <a:rPr dirty="0" sz="3200" b="1">
                <a:latin typeface="宋体"/>
                <a:cs typeface="宋体"/>
              </a:rPr>
              <a:t>法的</a:t>
            </a:r>
            <a:r>
              <a:rPr dirty="0" sz="3200" spc="-15" b="1">
                <a:latin typeface="宋体"/>
                <a:cs typeface="宋体"/>
              </a:rPr>
              <a:t>优</a:t>
            </a:r>
            <a:r>
              <a:rPr dirty="0" sz="3200" b="1">
                <a:latin typeface="宋体"/>
                <a:cs typeface="宋体"/>
              </a:rPr>
              <a:t>先关系 </a:t>
            </a:r>
            <a:r>
              <a:rPr dirty="0" sz="3200" b="1">
                <a:latin typeface="宋体"/>
                <a:cs typeface="宋体"/>
              </a:rPr>
              <a:t>表。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800605" y="4318253"/>
            <a:ext cx="170815" cy="1353820"/>
          </a:xfrm>
          <a:custGeom>
            <a:avLst/>
            <a:gdLst/>
            <a:ahLst/>
            <a:cxnLst/>
            <a:rect l="l" t="t" r="r" b="b"/>
            <a:pathLst>
              <a:path w="170814" h="1353820">
                <a:moveTo>
                  <a:pt x="170687" y="1353312"/>
                </a:moveTo>
                <a:lnTo>
                  <a:pt x="137475" y="1344410"/>
                </a:lnTo>
                <a:lnTo>
                  <a:pt x="110347" y="1320134"/>
                </a:lnTo>
                <a:lnTo>
                  <a:pt x="92053" y="1284126"/>
                </a:lnTo>
                <a:lnTo>
                  <a:pt x="85343" y="1240028"/>
                </a:lnTo>
                <a:lnTo>
                  <a:pt x="85343" y="789940"/>
                </a:lnTo>
                <a:lnTo>
                  <a:pt x="78634" y="745825"/>
                </a:lnTo>
                <a:lnTo>
                  <a:pt x="60340" y="709818"/>
                </a:lnTo>
                <a:lnTo>
                  <a:pt x="33212" y="685551"/>
                </a:lnTo>
                <a:lnTo>
                  <a:pt x="0" y="676656"/>
                </a:lnTo>
                <a:lnTo>
                  <a:pt x="33212" y="667760"/>
                </a:lnTo>
                <a:lnTo>
                  <a:pt x="60340" y="643493"/>
                </a:lnTo>
                <a:lnTo>
                  <a:pt x="78634" y="607486"/>
                </a:lnTo>
                <a:lnTo>
                  <a:pt x="85343" y="563372"/>
                </a:lnTo>
                <a:lnTo>
                  <a:pt x="85343" y="113284"/>
                </a:lnTo>
                <a:lnTo>
                  <a:pt x="92053" y="69169"/>
                </a:lnTo>
                <a:lnTo>
                  <a:pt x="110347" y="33162"/>
                </a:lnTo>
                <a:lnTo>
                  <a:pt x="137475" y="8895"/>
                </a:lnTo>
                <a:lnTo>
                  <a:pt x="170687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583793" y="4224985"/>
            <a:ext cx="6508750" cy="14922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593850">
              <a:lnSpc>
                <a:spcPts val="3825"/>
              </a:lnSpc>
              <a:spcBef>
                <a:spcPts val="105"/>
              </a:spcBef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通过布尔数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组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计算两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个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集合</a:t>
            </a:r>
            <a:endParaRPr sz="3200">
              <a:latin typeface="宋体"/>
              <a:cs typeface="宋体"/>
            </a:endParaRPr>
          </a:p>
          <a:p>
            <a:pPr marL="12700">
              <a:lnSpc>
                <a:spcPts val="3825"/>
              </a:lnSpc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算法</a:t>
            </a:r>
            <a:endParaRPr sz="3200">
              <a:latin typeface="宋体"/>
              <a:cs typeface="宋体"/>
            </a:endParaRPr>
          </a:p>
          <a:p>
            <a:pPr marL="1593850">
              <a:lnSpc>
                <a:spcPct val="100000"/>
              </a:lnSpc>
              <a:spcBef>
                <a:spcPts val="50"/>
              </a:spcBef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关系图法计算两个集合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077211" y="4840223"/>
            <a:ext cx="5143500" cy="0"/>
          </a:xfrm>
          <a:custGeom>
            <a:avLst/>
            <a:gdLst/>
            <a:ahLst/>
            <a:cxnLst/>
            <a:rect l="l" t="t" r="r" b="b"/>
            <a:pathLst>
              <a:path w="5143500" h="0">
                <a:moveTo>
                  <a:pt x="0" y="0"/>
                </a:moveTo>
                <a:lnTo>
                  <a:pt x="5143499" y="0"/>
                </a:lnTo>
              </a:path>
            </a:pathLst>
          </a:custGeom>
          <a:ln w="5715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23748" y="26923"/>
            <a:ext cx="16294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09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633217" y="26923"/>
            <a:ext cx="232600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0065" algn="l"/>
              </a:tabLst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算符优先分析法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75528" y="26923"/>
            <a:ext cx="32842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05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算符优先分析与分析器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2242" y="613917"/>
            <a:ext cx="1541145" cy="495934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370840" indent="-358140">
              <a:lnSpc>
                <a:spcPct val="100000"/>
              </a:lnSpc>
              <a:spcBef>
                <a:spcPts val="380"/>
              </a:spcBef>
              <a:buClr>
                <a:srgbClr val="66FFFF"/>
              </a:buClr>
              <a:buSzPct val="108928"/>
              <a:buFont typeface="Wingdings"/>
              <a:buChar char=""/>
              <a:tabLst>
                <a:tab pos="370205" algn="l"/>
                <a:tab pos="370840" algn="l"/>
              </a:tabLst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算法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5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.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84070" y="650493"/>
            <a:ext cx="27698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计算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FIRSTV</a:t>
            </a:r>
            <a:r>
              <a:rPr dirty="0" sz="2800" spc="-20" b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2242" y="1076222"/>
            <a:ext cx="8724900" cy="5410200"/>
          </a:xfrm>
          <a:prstGeom prst="rect">
            <a:avLst/>
          </a:prstGeom>
        </p:spPr>
        <p:txBody>
          <a:bodyPr wrap="square" lIns="0" tIns="140970" rIns="0" bIns="0" rtlCol="0" vert="horz">
            <a:spAutoFit/>
          </a:bodyPr>
          <a:lstStyle/>
          <a:p>
            <a:pPr marL="367665">
              <a:lnSpc>
                <a:spcPct val="100000"/>
              </a:lnSpc>
              <a:spcBef>
                <a:spcPts val="111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输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入</a:t>
            </a:r>
            <a:r>
              <a:rPr dirty="0" sz="2800" spc="-70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800" spc="-69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文法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endParaRPr sz="2800">
              <a:latin typeface="Times New Roman"/>
              <a:cs typeface="Times New Roman"/>
            </a:endParaRPr>
          </a:p>
          <a:p>
            <a:pPr marL="368935" marR="3521710" indent="-1905">
              <a:lnSpc>
                <a:spcPct val="130000"/>
              </a:lnSpc>
              <a:spcBef>
                <a:spcPts val="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输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出</a:t>
            </a:r>
            <a:r>
              <a:rPr dirty="0" sz="2800" spc="-74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800" spc="-73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文法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FIRSTVT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集合 方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2800" spc="-70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  <a:tabLst>
                <a:tab pos="400685" algn="l"/>
              </a:tabLst>
            </a:pP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/*	</a:t>
            </a:r>
            <a:r>
              <a:rPr dirty="0" sz="2400" spc="-5" b="1">
                <a:solidFill>
                  <a:srgbClr val="FFFF00"/>
                </a:solidFill>
                <a:latin typeface="宋体"/>
                <a:cs typeface="宋体"/>
              </a:rPr>
              <a:t>依据规则：</a:t>
            </a:r>
            <a:endParaRPr sz="2400">
              <a:latin typeface="宋体"/>
              <a:cs typeface="宋体"/>
            </a:endParaRPr>
          </a:p>
          <a:p>
            <a:pPr marL="1359535" indent="-584200">
              <a:lnSpc>
                <a:spcPct val="100000"/>
              </a:lnSpc>
              <a:spcBef>
                <a:spcPts val="944"/>
              </a:spcBef>
              <a:buFont typeface="Times New Roman"/>
              <a:buAutoNum type="arabicParenBoth"/>
              <a:tabLst>
                <a:tab pos="1359535" algn="l"/>
                <a:tab pos="1360170" algn="l"/>
              </a:tabLst>
            </a:pP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若有产生</a:t>
            </a:r>
            <a:r>
              <a:rPr dirty="0" sz="2400" spc="-5" b="1">
                <a:solidFill>
                  <a:srgbClr val="FFFF00"/>
                </a:solidFill>
                <a:latin typeface="宋体"/>
                <a:cs typeface="宋体"/>
              </a:rPr>
              <a:t>式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P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2400" spc="-5" b="1" i="1">
                <a:solidFill>
                  <a:srgbClr val="66FFFF"/>
                </a:solidFill>
                <a:latin typeface="Times New Roman"/>
                <a:cs typeface="Times New Roman"/>
              </a:rPr>
              <a:t>a </a:t>
            </a:r>
            <a:r>
              <a:rPr dirty="0" sz="2800" spc="-5" b="1">
                <a:solidFill>
                  <a:srgbClr val="FFFF00"/>
                </a:solidFill>
                <a:latin typeface="Courier New"/>
                <a:cs typeface="Courier New"/>
              </a:rPr>
              <a:t>…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或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P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r>
              <a:rPr dirty="0" sz="2400" spc="-5" b="1" i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dirty="0" sz="2400" spc="5" b="1" i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Courier New"/>
                <a:cs typeface="Courier New"/>
              </a:rPr>
              <a:t>…</a:t>
            </a:r>
            <a:r>
              <a:rPr dirty="0" sz="2800" spc="-1100" b="1">
                <a:solidFill>
                  <a:srgbClr val="FFFF00"/>
                </a:solidFill>
                <a:latin typeface="Courier New"/>
                <a:cs typeface="Courier New"/>
              </a:rPr>
              <a:t> 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，则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00"/>
                </a:solidFill>
                <a:latin typeface="Symbol"/>
                <a:cs typeface="Symbol"/>
              </a:rPr>
              <a:t>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FIRSTVT(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P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r>
              <a:rPr dirty="0" sz="2400" spc="-5" b="1">
                <a:solidFill>
                  <a:srgbClr val="FFFF00"/>
                </a:solidFill>
                <a:latin typeface="宋体"/>
                <a:cs typeface="宋体"/>
              </a:rPr>
              <a:t>；</a:t>
            </a:r>
            <a:endParaRPr sz="2400">
              <a:latin typeface="宋体"/>
              <a:cs typeface="宋体"/>
            </a:endParaRPr>
          </a:p>
          <a:p>
            <a:pPr marL="1358265" indent="-584200">
              <a:lnSpc>
                <a:spcPct val="100000"/>
              </a:lnSpc>
              <a:spcBef>
                <a:spcPts val="960"/>
              </a:spcBef>
              <a:buFont typeface="Times New Roman"/>
              <a:buAutoNum type="arabicParenBoth"/>
              <a:tabLst>
                <a:tab pos="1358265" algn="l"/>
                <a:tab pos="1358900" algn="l"/>
              </a:tabLst>
            </a:pPr>
            <a:r>
              <a:rPr dirty="0" sz="2400" spc="5" b="1">
                <a:solidFill>
                  <a:srgbClr val="FFFF00"/>
                </a:solidFill>
                <a:latin typeface="宋体"/>
                <a:cs typeface="宋体"/>
              </a:rPr>
              <a:t>若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400" spc="-5" b="1">
                <a:solidFill>
                  <a:srgbClr val="FFFF00"/>
                </a:solidFill>
                <a:latin typeface="宋体"/>
                <a:cs typeface="宋体"/>
              </a:rPr>
              <a:t>∈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FIRSTVT(</a:t>
            </a:r>
            <a:r>
              <a:rPr dirty="0" sz="2400" spc="-5" b="1" i="1">
                <a:solidFill>
                  <a:srgbClr val="66FFFF"/>
                </a:solidFill>
                <a:latin typeface="Times New Roman"/>
                <a:cs typeface="Times New Roman"/>
              </a:rPr>
              <a:t>Q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且有产生</a:t>
            </a:r>
            <a:r>
              <a:rPr dirty="0" sz="2400" spc="-10" b="1">
                <a:solidFill>
                  <a:srgbClr val="FFFF00"/>
                </a:solidFill>
                <a:latin typeface="宋体"/>
                <a:cs typeface="宋体"/>
              </a:rPr>
              <a:t>式</a:t>
            </a:r>
            <a:r>
              <a:rPr dirty="0" sz="2400" spc="-56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400" spc="-5" b="1" i="1">
                <a:solidFill>
                  <a:srgbClr val="66FFFF"/>
                </a:solidFill>
                <a:latin typeface="Times New Roman"/>
                <a:cs typeface="Times New Roman"/>
              </a:rPr>
              <a:t>P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2400" spc="-5" b="1" i="1">
                <a:solidFill>
                  <a:srgbClr val="66FFFF"/>
                </a:solidFill>
                <a:latin typeface="Times New Roman"/>
                <a:cs typeface="Times New Roman"/>
              </a:rPr>
              <a:t>Q</a:t>
            </a:r>
            <a:r>
              <a:rPr dirty="0" sz="2400" spc="5" b="1" i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Courier New"/>
                <a:cs typeface="Courier New"/>
              </a:rPr>
              <a:t>…</a:t>
            </a:r>
            <a:r>
              <a:rPr dirty="0" sz="2800" spc="-1085" b="1">
                <a:solidFill>
                  <a:srgbClr val="FFFF00"/>
                </a:solidFill>
                <a:latin typeface="Courier New"/>
                <a:cs typeface="Courier New"/>
              </a:rPr>
              <a:t> </a:t>
            </a:r>
            <a:r>
              <a:rPr dirty="0" sz="2400" spc="-10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endParaRPr sz="2400">
              <a:latin typeface="宋体"/>
              <a:cs typeface="宋体"/>
            </a:endParaRPr>
          </a:p>
          <a:p>
            <a:pPr marL="1383665">
              <a:lnSpc>
                <a:spcPct val="100000"/>
              </a:lnSpc>
              <a:spcBef>
                <a:spcPts val="980"/>
              </a:spcBef>
              <a:tabLst>
                <a:tab pos="8284209" algn="l"/>
              </a:tabLst>
            </a:pPr>
            <a:r>
              <a:rPr dirty="0" sz="2400" spc="5" b="1">
                <a:solidFill>
                  <a:srgbClr val="FFFF00"/>
                </a:solidFill>
                <a:latin typeface="宋体"/>
                <a:cs typeface="宋体"/>
              </a:rPr>
              <a:t>则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400" spc="-5" b="1">
                <a:solidFill>
                  <a:srgbClr val="FFFF00"/>
                </a:solidFill>
                <a:latin typeface="宋体"/>
                <a:cs typeface="宋体"/>
              </a:rPr>
              <a:t>∈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FIRSTVT(</a:t>
            </a:r>
            <a:r>
              <a:rPr dirty="0" sz="2400" spc="-5" b="1" i="1">
                <a:solidFill>
                  <a:srgbClr val="66FFFF"/>
                </a:solidFill>
                <a:latin typeface="Times New Roman"/>
                <a:cs typeface="Times New Roman"/>
              </a:rPr>
              <a:t>P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r>
              <a:rPr dirty="0" sz="2400" spc="-5" b="1">
                <a:solidFill>
                  <a:srgbClr val="FFFF00"/>
                </a:solidFill>
                <a:latin typeface="宋体"/>
                <a:cs typeface="宋体"/>
              </a:rPr>
              <a:t>；	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*/</a:t>
            </a:r>
            <a:endParaRPr sz="2400">
              <a:latin typeface="Times New Roman"/>
              <a:cs typeface="Times New Roman"/>
            </a:endParaRPr>
          </a:p>
          <a:p>
            <a:pPr marL="546100">
              <a:lnSpc>
                <a:spcPct val="100000"/>
              </a:lnSpc>
              <a:spcBef>
                <a:spcPts val="990"/>
              </a:spcBef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①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99FF"/>
                </a:solidFill>
                <a:latin typeface="宋体"/>
                <a:cs typeface="宋体"/>
              </a:rPr>
              <a:t>初始化</a:t>
            </a:r>
            <a:r>
              <a:rPr dirty="0" sz="2800" b="1">
                <a:solidFill>
                  <a:srgbClr val="FF99FF"/>
                </a:solidFill>
                <a:latin typeface="宋体"/>
                <a:cs typeface="宋体"/>
              </a:rPr>
              <a:t>：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置数组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FR(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6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3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3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30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800" spc="-30" b="1">
                <a:solidFill>
                  <a:srgbClr val="FFFFFF"/>
                </a:solidFill>
                <a:latin typeface="Times New Roman"/>
                <a:cs typeface="Times New Roman"/>
              </a:rPr>
              <a:t>FALSE</a:t>
            </a:r>
            <a:r>
              <a:rPr dirty="0" sz="2800" spc="-30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marL="100965" marR="5080" indent="446405">
              <a:lnSpc>
                <a:spcPts val="4370"/>
              </a:lnSpc>
              <a:spcBef>
                <a:spcPts val="265"/>
              </a:spcBef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②</a:t>
            </a:r>
            <a:r>
              <a:rPr dirty="0" sz="2800" spc="-2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10" b="1">
                <a:solidFill>
                  <a:srgbClr val="FF99FF"/>
                </a:solidFill>
                <a:latin typeface="宋体"/>
                <a:cs typeface="宋体"/>
              </a:rPr>
              <a:t>根</a:t>
            </a:r>
            <a:r>
              <a:rPr dirty="0" sz="2800" spc="-5" b="1">
                <a:solidFill>
                  <a:srgbClr val="FF99FF"/>
                </a:solidFill>
                <a:latin typeface="宋体"/>
                <a:cs typeface="宋体"/>
              </a:rPr>
              <a:t>据</a:t>
            </a:r>
            <a:r>
              <a:rPr dirty="0" sz="2800" spc="-5" b="1">
                <a:solidFill>
                  <a:srgbClr val="FF99FF"/>
                </a:solidFill>
                <a:latin typeface="Times New Roman"/>
                <a:cs typeface="Times New Roman"/>
              </a:rPr>
              <a:t>(1)</a:t>
            </a:r>
            <a:r>
              <a:rPr dirty="0" sz="2800" spc="-10" b="1">
                <a:solidFill>
                  <a:srgbClr val="FF99FF"/>
                </a:solidFill>
                <a:latin typeface="宋体"/>
                <a:cs typeface="宋体"/>
              </a:rPr>
              <a:t>改变数</a:t>
            </a:r>
            <a:r>
              <a:rPr dirty="0" sz="2800" spc="-5" b="1">
                <a:solidFill>
                  <a:srgbClr val="FF99FF"/>
                </a:solidFill>
                <a:latin typeface="宋体"/>
                <a:cs typeface="宋体"/>
              </a:rPr>
              <a:t>组</a:t>
            </a:r>
            <a:r>
              <a:rPr dirty="0" sz="2800" spc="-10" b="1">
                <a:solidFill>
                  <a:srgbClr val="FF99FF"/>
                </a:solidFill>
                <a:latin typeface="Times New Roman"/>
                <a:cs typeface="Times New Roman"/>
              </a:rPr>
              <a:t>,</a:t>
            </a:r>
            <a:r>
              <a:rPr dirty="0" sz="2800" spc="-10" b="1">
                <a:solidFill>
                  <a:srgbClr val="FF99FF"/>
                </a:solidFill>
                <a:latin typeface="宋体"/>
                <a:cs typeface="宋体"/>
              </a:rPr>
              <a:t>并初始化栈</a:t>
            </a:r>
            <a:r>
              <a:rPr dirty="0" sz="2800" spc="-5" b="1">
                <a:solidFill>
                  <a:srgbClr val="FF99FF"/>
                </a:solidFill>
                <a:latin typeface="宋体"/>
                <a:cs typeface="宋体"/>
              </a:rPr>
              <a:t>：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若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有规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dirty="0" sz="2800" spc="-64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Courier New"/>
                <a:cs typeface="Courier New"/>
              </a:rPr>
              <a:t>…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或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Courier New"/>
                <a:cs typeface="Courier New"/>
              </a:rPr>
              <a:t>…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FR(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TURE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；并将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5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推入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栈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中；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81000" y="3489959"/>
            <a:ext cx="8534400" cy="24612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59740" y="26923"/>
            <a:ext cx="8199755" cy="59150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6200">
              <a:lnSpc>
                <a:spcPct val="100000"/>
              </a:lnSpc>
              <a:spcBef>
                <a:spcPts val="100"/>
              </a:spcBef>
              <a:tabLst>
                <a:tab pos="2185670" algn="l"/>
                <a:tab pos="2693670" algn="l"/>
                <a:tab pos="4928235" algn="l"/>
                <a:tab pos="562610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算符优先分析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法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算符优先分析与分析器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200">
              <a:latin typeface="宋体"/>
              <a:cs typeface="宋体"/>
            </a:endParaRPr>
          </a:p>
          <a:p>
            <a:pPr marL="812800" marR="412750" indent="-534035">
              <a:lnSpc>
                <a:spcPct val="130000"/>
              </a:lnSpc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③</a:t>
            </a:r>
            <a:r>
              <a:rPr dirty="0" sz="2800" spc="-5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99FF"/>
                </a:solidFill>
                <a:latin typeface="宋体"/>
                <a:cs typeface="宋体"/>
              </a:rPr>
              <a:t>根据（</a:t>
            </a:r>
            <a:r>
              <a:rPr dirty="0" sz="2800" spc="-5" b="1">
                <a:solidFill>
                  <a:srgbClr val="FF99FF"/>
                </a:solidFill>
                <a:latin typeface="Times New Roman"/>
                <a:cs typeface="Times New Roman"/>
              </a:rPr>
              <a:t>2</a:t>
            </a:r>
            <a:r>
              <a:rPr dirty="0" sz="2800" spc="-5" b="1">
                <a:solidFill>
                  <a:srgbClr val="FF99FF"/>
                </a:solidFill>
                <a:latin typeface="宋体"/>
                <a:cs typeface="宋体"/>
              </a:rPr>
              <a:t>）修改栈及数组：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将当前</a:t>
            </a:r>
            <a:r>
              <a:rPr dirty="0" sz="2800" spc="10" b="1">
                <a:solidFill>
                  <a:srgbClr val="FFFFFF"/>
                </a:solidFill>
                <a:latin typeface="宋体"/>
                <a:cs typeface="宋体"/>
              </a:rPr>
              <a:t>栈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栈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顶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项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弹出；对每个形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如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2800" spc="-10" b="1">
                <a:solidFill>
                  <a:srgbClr val="FFFFFF"/>
                </a:solidFill>
                <a:latin typeface="Courier New"/>
                <a:cs typeface="Courier New"/>
              </a:rPr>
              <a:t>…</a:t>
            </a:r>
            <a:r>
              <a:rPr dirty="0" sz="2800" spc="-969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的规则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置</a:t>
            </a:r>
            <a:r>
              <a:rPr dirty="0" sz="2800" spc="-72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FR(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TURE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然后再将其压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入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栈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； 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重复③直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至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栈为空则结束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3750">
              <a:latin typeface="宋体"/>
              <a:cs typeface="宋体"/>
            </a:endParaRPr>
          </a:p>
          <a:p>
            <a:pPr marL="724535">
              <a:lnSpc>
                <a:spcPct val="100000"/>
              </a:lnSpc>
            </a:pPr>
            <a:r>
              <a:rPr dirty="0" sz="3200" b="1">
                <a:latin typeface="宋体"/>
                <a:cs typeface="宋体"/>
              </a:rPr>
              <a:t>由数组</a:t>
            </a:r>
            <a:r>
              <a:rPr dirty="0" sz="3200" b="1">
                <a:latin typeface="Times New Roman"/>
                <a:cs typeface="Times New Roman"/>
              </a:rPr>
              <a:t>FR</a:t>
            </a:r>
            <a:r>
              <a:rPr dirty="0" sz="3200" spc="-5" b="1">
                <a:latin typeface="宋体"/>
                <a:cs typeface="宋体"/>
              </a:rPr>
              <a:t>可直接得到</a:t>
            </a:r>
            <a:r>
              <a:rPr dirty="0" sz="3200" spc="-10" b="1">
                <a:latin typeface="宋体"/>
                <a:cs typeface="宋体"/>
              </a:rPr>
              <a:t>任</a:t>
            </a:r>
            <a:r>
              <a:rPr dirty="0" sz="3200" spc="-5" b="1">
                <a:latin typeface="宋体"/>
                <a:cs typeface="宋体"/>
              </a:rPr>
              <a:t>何非</a:t>
            </a:r>
            <a:r>
              <a:rPr dirty="0" sz="3200" spc="-10" b="1">
                <a:latin typeface="宋体"/>
                <a:cs typeface="宋体"/>
              </a:rPr>
              <a:t>终</a:t>
            </a:r>
            <a:r>
              <a:rPr dirty="0" sz="3200" spc="-5" b="1">
                <a:latin typeface="宋体"/>
                <a:cs typeface="宋体"/>
              </a:rPr>
              <a:t>结</a:t>
            </a:r>
            <a:r>
              <a:rPr dirty="0" sz="3200" spc="25" b="1">
                <a:latin typeface="宋体"/>
                <a:cs typeface="宋体"/>
              </a:rPr>
              <a:t>符</a:t>
            </a:r>
            <a:r>
              <a:rPr dirty="0" sz="3200" spc="-15" b="1" i="1">
                <a:latin typeface="Times New Roman"/>
                <a:cs typeface="Times New Roman"/>
              </a:rPr>
              <a:t>P</a:t>
            </a:r>
            <a:r>
              <a:rPr dirty="0" sz="3200" spc="-10" b="1">
                <a:latin typeface="宋体"/>
                <a:cs typeface="宋体"/>
              </a:rPr>
              <a:t>的</a:t>
            </a:r>
            <a:endParaRPr sz="32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dirty="0" sz="3200" b="1">
                <a:latin typeface="Times New Roman"/>
                <a:cs typeface="Times New Roman"/>
              </a:rPr>
              <a:t>FIRSTVT</a:t>
            </a:r>
            <a:r>
              <a:rPr dirty="0" sz="3200" b="1">
                <a:latin typeface="宋体"/>
                <a:cs typeface="宋体"/>
              </a:rPr>
              <a:t>，即：</a:t>
            </a:r>
            <a:endParaRPr sz="3200">
              <a:latin typeface="宋体"/>
              <a:cs typeface="宋体"/>
            </a:endParaRPr>
          </a:p>
          <a:p>
            <a:pPr marL="725805">
              <a:lnSpc>
                <a:spcPct val="100000"/>
              </a:lnSpc>
              <a:spcBef>
                <a:spcPts val="1155"/>
              </a:spcBef>
            </a:pPr>
            <a:r>
              <a:rPr dirty="0" sz="3200" b="1">
                <a:latin typeface="Times New Roman"/>
                <a:cs typeface="Times New Roman"/>
              </a:rPr>
              <a:t>FIRSTVT(</a:t>
            </a:r>
            <a:r>
              <a:rPr dirty="0" sz="3200" b="1" i="1">
                <a:latin typeface="Times New Roman"/>
                <a:cs typeface="Times New Roman"/>
              </a:rPr>
              <a:t>P</a:t>
            </a:r>
            <a:r>
              <a:rPr dirty="0" sz="3200" b="1">
                <a:latin typeface="Times New Roman"/>
                <a:cs typeface="Times New Roman"/>
              </a:rPr>
              <a:t>) </a:t>
            </a:r>
            <a:r>
              <a:rPr dirty="0" sz="3200" b="1">
                <a:latin typeface="宋体"/>
                <a:cs typeface="宋体"/>
              </a:rPr>
              <a:t>＝</a:t>
            </a:r>
            <a:r>
              <a:rPr dirty="0" sz="3200" b="1">
                <a:latin typeface="Times New Roman"/>
                <a:cs typeface="Times New Roman"/>
              </a:rPr>
              <a:t>{ </a:t>
            </a:r>
            <a:r>
              <a:rPr dirty="0" sz="3200" b="1" i="1">
                <a:latin typeface="Times New Roman"/>
                <a:cs typeface="Times New Roman"/>
              </a:rPr>
              <a:t>a</a:t>
            </a:r>
            <a:r>
              <a:rPr dirty="0" sz="3200" b="1">
                <a:latin typeface="Times New Roman"/>
                <a:cs typeface="Times New Roman"/>
              </a:rPr>
              <a:t>│FR(</a:t>
            </a:r>
            <a:r>
              <a:rPr dirty="0" sz="3200" b="1" i="1">
                <a:latin typeface="Times New Roman"/>
                <a:cs typeface="Times New Roman"/>
              </a:rPr>
              <a:t>P</a:t>
            </a:r>
            <a:r>
              <a:rPr dirty="0" sz="3200" b="1">
                <a:latin typeface="Times New Roman"/>
                <a:cs typeface="Times New Roman"/>
              </a:rPr>
              <a:t>,</a:t>
            </a:r>
            <a:r>
              <a:rPr dirty="0" sz="3200" spc="-95" b="1">
                <a:latin typeface="Times New Roman"/>
                <a:cs typeface="Times New Roman"/>
              </a:rPr>
              <a:t> </a:t>
            </a:r>
            <a:r>
              <a:rPr dirty="0" sz="3200" b="1" i="1">
                <a:latin typeface="Times New Roman"/>
                <a:cs typeface="Times New Roman"/>
              </a:rPr>
              <a:t>a</a:t>
            </a:r>
            <a:r>
              <a:rPr dirty="0" sz="3200" b="1">
                <a:latin typeface="Times New Roman"/>
                <a:cs typeface="Times New Roman"/>
              </a:rPr>
              <a:t>)</a:t>
            </a:r>
            <a:r>
              <a:rPr dirty="0" sz="3200" b="1">
                <a:latin typeface="宋体"/>
                <a:cs typeface="宋体"/>
              </a:rPr>
              <a:t>＝</a:t>
            </a:r>
            <a:r>
              <a:rPr dirty="0" sz="3200" b="1">
                <a:latin typeface="Times New Roman"/>
                <a:cs typeface="Times New Roman"/>
              </a:rPr>
              <a:t>TRUE}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dirty="0" sz="3200" b="1">
                <a:solidFill>
                  <a:srgbClr val="006600"/>
                </a:solidFill>
                <a:latin typeface="宋体"/>
                <a:cs typeface="宋体"/>
              </a:rPr>
              <a:t>求</a:t>
            </a:r>
            <a:r>
              <a:rPr dirty="0" sz="3200" b="1">
                <a:solidFill>
                  <a:srgbClr val="006600"/>
                </a:solidFill>
                <a:latin typeface="Times New Roman"/>
                <a:cs typeface="Times New Roman"/>
              </a:rPr>
              <a:t>LASTVT</a:t>
            </a:r>
            <a:r>
              <a:rPr dirty="0" sz="3200" b="1">
                <a:solidFill>
                  <a:srgbClr val="006600"/>
                </a:solidFill>
                <a:latin typeface="宋体"/>
                <a:cs typeface="宋体"/>
              </a:rPr>
              <a:t>算法类</a:t>
            </a:r>
            <a:r>
              <a:rPr dirty="0" sz="3200" spc="-5" b="1">
                <a:solidFill>
                  <a:srgbClr val="006600"/>
                </a:solidFill>
                <a:latin typeface="宋体"/>
                <a:cs typeface="宋体"/>
              </a:rPr>
              <a:t>似</a:t>
            </a:r>
            <a:r>
              <a:rPr dirty="0" sz="3200" spc="-10" b="1">
                <a:solidFill>
                  <a:srgbClr val="006600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4873" y="761"/>
            <a:ext cx="9009125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34873" y="416051"/>
            <a:ext cx="9009380" cy="38100"/>
          </a:xfrm>
          <a:custGeom>
            <a:avLst/>
            <a:gdLst/>
            <a:ahLst/>
            <a:cxnLst/>
            <a:rect l="l" t="t" r="r" b="b"/>
            <a:pathLst>
              <a:path w="9009380" h="38100">
                <a:moveTo>
                  <a:pt x="0" y="38100"/>
                </a:moveTo>
                <a:lnTo>
                  <a:pt x="9009125" y="38100"/>
                </a:lnTo>
                <a:lnTo>
                  <a:pt x="9009125" y="0"/>
                </a:lnTo>
                <a:lnTo>
                  <a:pt x="0" y="0"/>
                </a:lnTo>
                <a:lnTo>
                  <a:pt x="0" y="38100"/>
                </a:lnTo>
                <a:close/>
              </a:path>
            </a:pathLst>
          </a:custGeom>
          <a:solidFill>
            <a:srgbClr val="CCC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4873" y="761"/>
            <a:ext cx="9009380" cy="434340"/>
          </a:xfrm>
          <a:custGeom>
            <a:avLst/>
            <a:gdLst/>
            <a:ahLst/>
            <a:cxnLst/>
            <a:rect l="l" t="t" r="r" b="b"/>
            <a:pathLst>
              <a:path w="9009380" h="434340">
                <a:moveTo>
                  <a:pt x="9009125" y="0"/>
                </a:moveTo>
                <a:lnTo>
                  <a:pt x="0" y="0"/>
                </a:lnTo>
                <a:lnTo>
                  <a:pt x="0" y="434340"/>
                </a:lnTo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57250" y="26923"/>
            <a:ext cx="44348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22170" algn="l"/>
                <a:tab pos="2629535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算符优先分析法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08752" y="26923"/>
            <a:ext cx="32842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0565" algn="l"/>
              </a:tabLst>
            </a:pP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.2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算符优先分析与分析器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7834" y="744727"/>
            <a:ext cx="94361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5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.8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082545" y="661884"/>
            <a:ext cx="2571115" cy="22904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19710" marR="5080" indent="-207645">
              <a:lnSpc>
                <a:spcPct val="117200"/>
              </a:lnSpc>
              <a:spcBef>
                <a:spcPts val="95"/>
              </a:spcBef>
            </a:pPr>
            <a:r>
              <a:rPr dirty="0" sz="3200">
                <a:solidFill>
                  <a:srgbClr val="FFFFFF"/>
                </a:solidFill>
              </a:rPr>
              <a:t>设文法</a:t>
            </a:r>
            <a:r>
              <a:rPr dirty="0" sz="3200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spc="-10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3200" spc="-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5">
                <a:solidFill>
                  <a:srgbClr val="FFFFFF"/>
                </a:solidFill>
              </a:rPr>
              <a:t>：  </a:t>
            </a:r>
            <a:r>
              <a:rPr dirty="0" sz="3200" i="1">
                <a:solidFill>
                  <a:srgbClr val="FFFF00"/>
                </a:solidFill>
                <a:latin typeface="Times New Roman"/>
                <a:cs typeface="Times New Roman"/>
              </a:rPr>
              <a:t>P </a:t>
            </a:r>
            <a:r>
              <a:rPr dirty="0" sz="3200" spc="5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spc="-165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i="1">
                <a:solidFill>
                  <a:srgbClr val="FFFF00"/>
                </a:solidFill>
                <a:latin typeface="Times New Roman"/>
                <a:cs typeface="Times New Roman"/>
              </a:rPr>
              <a:t>Qa</a:t>
            </a:r>
            <a:endParaRPr sz="3200">
              <a:latin typeface="Times New Roman"/>
              <a:cs typeface="Times New Roman"/>
            </a:endParaRPr>
          </a:p>
          <a:p>
            <a:pPr marL="219710" marR="965200">
              <a:lnSpc>
                <a:spcPct val="114999"/>
              </a:lnSpc>
            </a:pPr>
            <a:r>
              <a:rPr dirty="0" sz="3200" i="1">
                <a:solidFill>
                  <a:srgbClr val="FFFF00"/>
                </a:solidFill>
                <a:latin typeface="Times New Roman"/>
                <a:cs typeface="Times New Roman"/>
              </a:rPr>
              <a:t>Q 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spc="-11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spc="5" i="1">
                <a:solidFill>
                  <a:srgbClr val="FFFF00"/>
                </a:solidFill>
                <a:latin typeface="Times New Roman"/>
                <a:cs typeface="Times New Roman"/>
              </a:rPr>
              <a:t>bR  </a:t>
            </a:r>
            <a:r>
              <a:rPr dirty="0" sz="3200" i="1">
                <a:solidFill>
                  <a:srgbClr val="FFFF00"/>
                </a:solidFill>
                <a:latin typeface="Times New Roman"/>
                <a:cs typeface="Times New Roman"/>
              </a:rPr>
              <a:t>R </a:t>
            </a:r>
            <a:r>
              <a:rPr dirty="0" sz="3200" spc="5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spc="-55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9442" y="3113277"/>
            <a:ext cx="707072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CC99FF"/>
                </a:solidFill>
                <a:latin typeface="宋体"/>
                <a:cs typeface="宋体"/>
              </a:rPr>
              <a:t>I.</a:t>
            </a:r>
            <a:r>
              <a:rPr dirty="0" sz="2800" spc="495" b="1">
                <a:solidFill>
                  <a:srgbClr val="CC99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据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FIRSTVT(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的算法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首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先初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始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化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数</a:t>
            </a:r>
            <a:r>
              <a:rPr dirty="0" sz="2800" spc="10" b="1">
                <a:solidFill>
                  <a:srgbClr val="FFFFFF"/>
                </a:solidFill>
                <a:latin typeface="宋体"/>
                <a:cs typeface="宋体"/>
              </a:rPr>
              <a:t>组</a:t>
            </a:r>
            <a:r>
              <a:rPr dirty="0" sz="2800" spc="5" b="1">
                <a:solidFill>
                  <a:srgbClr val="FFFFFF"/>
                </a:solidFill>
                <a:latin typeface="Times New Roman"/>
                <a:cs typeface="Times New Roman"/>
              </a:rPr>
              <a:t>FR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1129283" y="4163567"/>
          <a:ext cx="2643505" cy="20866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7370"/>
                <a:gridCol w="2039620"/>
              </a:tblGrid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6570">
                        <a:lnSpc>
                          <a:spcPts val="3645"/>
                        </a:lnSpc>
                        <a:tabLst>
                          <a:tab pos="1207135" algn="l"/>
                        </a:tabLst>
                      </a:pPr>
                      <a:r>
                        <a:rPr dirty="0" sz="32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	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1572768">
                <a:tc>
                  <a:txBody>
                    <a:bodyPr/>
                    <a:lstStyle/>
                    <a:p>
                      <a:pPr marL="90805">
                        <a:lnSpc>
                          <a:spcPts val="3285"/>
                        </a:lnSpc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90805" marR="191770">
                        <a:lnSpc>
                          <a:spcPct val="120000"/>
                        </a:lnSpc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Q </a:t>
                      </a:r>
                      <a:r>
                        <a:rPr dirty="0" sz="28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8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7355">
                        <a:lnSpc>
                          <a:spcPct val="100000"/>
                        </a:lnSpc>
                        <a:spcBef>
                          <a:spcPts val="185"/>
                        </a:spcBef>
                        <a:tabLst>
                          <a:tab pos="1165225" algn="l"/>
                        </a:tabLst>
                      </a:pPr>
                      <a:r>
                        <a:rPr dirty="0" sz="28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	F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446405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1184275" algn="l"/>
                        </a:tabLst>
                      </a:pPr>
                      <a:r>
                        <a:rPr dirty="0" sz="28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	F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446405">
                        <a:lnSpc>
                          <a:spcPct val="100000"/>
                        </a:lnSpc>
                        <a:spcBef>
                          <a:spcPts val="805"/>
                        </a:spcBef>
                        <a:tabLst>
                          <a:tab pos="1184275" algn="l"/>
                        </a:tabLst>
                      </a:pPr>
                      <a:r>
                        <a:rPr dirty="0" sz="28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	F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3495">
                    <a:lnL w="38100">
                      <a:solidFill>
                        <a:srgbClr val="FFFF00"/>
                      </a:solidFill>
                      <a:prstDash val="solid"/>
                    </a:lnL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object 11"/>
          <p:cNvSpPr/>
          <p:nvPr/>
        </p:nvSpPr>
        <p:spPr>
          <a:xfrm>
            <a:off x="4241800" y="4696205"/>
            <a:ext cx="1092962" cy="8900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120260" y="4918709"/>
            <a:ext cx="80962" cy="44500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039361" y="4918709"/>
            <a:ext cx="40481" cy="44500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241800" y="4696205"/>
            <a:ext cx="1093470" cy="890269"/>
          </a:xfrm>
          <a:custGeom>
            <a:avLst/>
            <a:gdLst/>
            <a:ahLst/>
            <a:cxnLst/>
            <a:rect l="l" t="t" r="r" b="b"/>
            <a:pathLst>
              <a:path w="1093470" h="890270">
                <a:moveTo>
                  <a:pt x="769112" y="0"/>
                </a:moveTo>
                <a:lnTo>
                  <a:pt x="769112" y="222504"/>
                </a:lnTo>
                <a:lnTo>
                  <a:pt x="0" y="222504"/>
                </a:lnTo>
                <a:lnTo>
                  <a:pt x="0" y="667512"/>
                </a:lnTo>
                <a:lnTo>
                  <a:pt x="769112" y="667512"/>
                </a:lnTo>
                <a:lnTo>
                  <a:pt x="769112" y="890016"/>
                </a:lnTo>
                <a:lnTo>
                  <a:pt x="1092962" y="445008"/>
                </a:lnTo>
                <a:lnTo>
                  <a:pt x="769112" y="0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120260" y="4918709"/>
            <a:ext cx="81280" cy="445134"/>
          </a:xfrm>
          <a:custGeom>
            <a:avLst/>
            <a:gdLst/>
            <a:ahLst/>
            <a:cxnLst/>
            <a:rect l="l" t="t" r="r" b="b"/>
            <a:pathLst>
              <a:path w="81279" h="445135">
                <a:moveTo>
                  <a:pt x="0" y="445007"/>
                </a:moveTo>
                <a:lnTo>
                  <a:pt x="80962" y="445007"/>
                </a:lnTo>
                <a:lnTo>
                  <a:pt x="80962" y="0"/>
                </a:lnTo>
                <a:lnTo>
                  <a:pt x="0" y="0"/>
                </a:lnTo>
                <a:lnTo>
                  <a:pt x="0" y="445007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059602" y="4899659"/>
            <a:ext cx="0" cy="483234"/>
          </a:xfrm>
          <a:custGeom>
            <a:avLst/>
            <a:gdLst/>
            <a:ahLst/>
            <a:cxnLst/>
            <a:rect l="l" t="t" r="r" b="b"/>
            <a:pathLst>
              <a:path w="0" h="483235">
                <a:moveTo>
                  <a:pt x="0" y="0"/>
                </a:moveTo>
                <a:lnTo>
                  <a:pt x="0" y="483107"/>
                </a:lnTo>
              </a:path>
            </a:pathLst>
          </a:custGeom>
          <a:ln w="78581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5775705" y="4851019"/>
            <a:ext cx="261112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数组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FR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初始化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23748" y="26923"/>
            <a:ext cx="443547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21535" algn="l"/>
                <a:tab pos="2629535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算符优先分析法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75528" y="26923"/>
            <a:ext cx="32842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05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算符优先分析与分析器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4331" y="744727"/>
            <a:ext cx="944244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5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.8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948942" y="661884"/>
            <a:ext cx="2571115" cy="22904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19710" marR="5080" indent="-207645">
              <a:lnSpc>
                <a:spcPct val="117200"/>
              </a:lnSpc>
              <a:spcBef>
                <a:spcPts val="95"/>
              </a:spcBef>
            </a:pPr>
            <a:r>
              <a:rPr dirty="0" sz="3200">
                <a:solidFill>
                  <a:srgbClr val="FFFFFF"/>
                </a:solidFill>
              </a:rPr>
              <a:t>设文</a:t>
            </a:r>
            <a:r>
              <a:rPr dirty="0" sz="3200" spc="5">
                <a:solidFill>
                  <a:srgbClr val="FFFFFF"/>
                </a:solidFill>
              </a:rPr>
              <a:t>法</a:t>
            </a:r>
            <a:r>
              <a:rPr dirty="0" sz="3200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spc="-10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3200" spc="-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5">
                <a:solidFill>
                  <a:srgbClr val="FFFFFF"/>
                </a:solidFill>
              </a:rPr>
              <a:t>：  </a:t>
            </a:r>
            <a:r>
              <a:rPr dirty="0" sz="3200" i="1">
                <a:solidFill>
                  <a:srgbClr val="FFFF00"/>
                </a:solidFill>
                <a:latin typeface="Times New Roman"/>
                <a:cs typeface="Times New Roman"/>
              </a:rPr>
              <a:t>P </a:t>
            </a:r>
            <a:r>
              <a:rPr dirty="0" sz="3200" spc="5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spc="-16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i="1">
                <a:solidFill>
                  <a:srgbClr val="FFFF00"/>
                </a:solidFill>
                <a:latin typeface="Times New Roman"/>
                <a:cs typeface="Times New Roman"/>
              </a:rPr>
              <a:t>Qa</a:t>
            </a:r>
            <a:endParaRPr sz="3200">
              <a:latin typeface="Times New Roman"/>
              <a:cs typeface="Times New Roman"/>
            </a:endParaRPr>
          </a:p>
          <a:p>
            <a:pPr marL="219710" marR="963930">
              <a:lnSpc>
                <a:spcPct val="114999"/>
              </a:lnSpc>
            </a:pPr>
            <a:r>
              <a:rPr dirty="0" sz="3200" i="1">
                <a:solidFill>
                  <a:srgbClr val="FFFF00"/>
                </a:solidFill>
                <a:latin typeface="Times New Roman"/>
                <a:cs typeface="Times New Roman"/>
              </a:rPr>
              <a:t>Q 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spc="-105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spc="5" i="1">
                <a:solidFill>
                  <a:srgbClr val="FFFF00"/>
                </a:solidFill>
                <a:latin typeface="Times New Roman"/>
                <a:cs typeface="Times New Roman"/>
              </a:rPr>
              <a:t>bR  </a:t>
            </a:r>
            <a:r>
              <a:rPr dirty="0" sz="3200" i="1">
                <a:solidFill>
                  <a:srgbClr val="FFFF00"/>
                </a:solidFill>
                <a:latin typeface="Times New Roman"/>
                <a:cs typeface="Times New Roman"/>
              </a:rPr>
              <a:t>R </a:t>
            </a:r>
            <a:r>
              <a:rPr dirty="0" sz="3200" spc="5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spc="-55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5940" y="3130676"/>
            <a:ext cx="766254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CC99FF"/>
                </a:solidFill>
                <a:latin typeface="宋体"/>
                <a:cs typeface="宋体"/>
              </a:rPr>
              <a:t>II.</a:t>
            </a:r>
            <a:r>
              <a:rPr dirty="0" sz="2800" spc="-905" b="1">
                <a:solidFill>
                  <a:srgbClr val="CC99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据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FIRSTVT(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的算法</a:t>
            </a:r>
            <a:r>
              <a:rPr dirty="0" sz="2800" spc="10" b="1">
                <a:solidFill>
                  <a:srgbClr val="FFFFFF"/>
                </a:solidFill>
                <a:latin typeface="宋体"/>
                <a:cs typeface="宋体"/>
              </a:rPr>
              <a:t>第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②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步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修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改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该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文法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数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5940" y="3685108"/>
            <a:ext cx="299402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组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FR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及初始化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栈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949572" y="5033009"/>
            <a:ext cx="42862" cy="4450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013961" y="4810505"/>
            <a:ext cx="578612" cy="89001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906773" y="5033009"/>
            <a:ext cx="21431" cy="44500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013961" y="4810505"/>
            <a:ext cx="579120" cy="890269"/>
          </a:xfrm>
          <a:custGeom>
            <a:avLst/>
            <a:gdLst/>
            <a:ahLst/>
            <a:cxnLst/>
            <a:rect l="l" t="t" r="r" b="b"/>
            <a:pathLst>
              <a:path w="579120" h="890270">
                <a:moveTo>
                  <a:pt x="407162" y="0"/>
                </a:moveTo>
                <a:lnTo>
                  <a:pt x="407162" y="222504"/>
                </a:lnTo>
                <a:lnTo>
                  <a:pt x="0" y="222504"/>
                </a:lnTo>
                <a:lnTo>
                  <a:pt x="0" y="667512"/>
                </a:lnTo>
                <a:lnTo>
                  <a:pt x="407162" y="667512"/>
                </a:lnTo>
                <a:lnTo>
                  <a:pt x="407162" y="890016"/>
                </a:lnTo>
                <a:lnTo>
                  <a:pt x="578612" y="445008"/>
                </a:lnTo>
                <a:lnTo>
                  <a:pt x="407162" y="0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947255" y="5013959"/>
            <a:ext cx="64769" cy="483234"/>
          </a:xfrm>
          <a:custGeom>
            <a:avLst/>
            <a:gdLst/>
            <a:ahLst/>
            <a:cxnLst/>
            <a:rect l="l" t="t" r="r" b="b"/>
            <a:pathLst>
              <a:path w="64770" h="483235">
                <a:moveTo>
                  <a:pt x="0" y="483107"/>
                </a:moveTo>
                <a:lnTo>
                  <a:pt x="64230" y="483107"/>
                </a:lnTo>
                <a:lnTo>
                  <a:pt x="64230" y="0"/>
                </a:lnTo>
                <a:lnTo>
                  <a:pt x="0" y="0"/>
                </a:lnTo>
                <a:lnTo>
                  <a:pt x="0" y="48310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887723" y="5013959"/>
            <a:ext cx="59690" cy="483234"/>
          </a:xfrm>
          <a:custGeom>
            <a:avLst/>
            <a:gdLst/>
            <a:ahLst/>
            <a:cxnLst/>
            <a:rect l="l" t="t" r="r" b="b"/>
            <a:pathLst>
              <a:path w="59689" h="483235">
                <a:moveTo>
                  <a:pt x="0" y="483107"/>
                </a:moveTo>
                <a:lnTo>
                  <a:pt x="59531" y="483107"/>
                </a:lnTo>
                <a:lnTo>
                  <a:pt x="59531" y="0"/>
                </a:lnTo>
                <a:lnTo>
                  <a:pt x="0" y="0"/>
                </a:lnTo>
                <a:lnTo>
                  <a:pt x="0" y="48310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868161" y="1247394"/>
            <a:ext cx="1562100" cy="1704339"/>
          </a:xfrm>
          <a:custGeom>
            <a:avLst/>
            <a:gdLst/>
            <a:ahLst/>
            <a:cxnLst/>
            <a:rect l="l" t="t" r="r" b="b"/>
            <a:pathLst>
              <a:path w="1562100" h="1704339">
                <a:moveTo>
                  <a:pt x="0" y="1703831"/>
                </a:moveTo>
                <a:lnTo>
                  <a:pt x="1562099" y="1703831"/>
                </a:lnTo>
                <a:lnTo>
                  <a:pt x="1562099" y="0"/>
                </a:lnTo>
                <a:lnTo>
                  <a:pt x="0" y="0"/>
                </a:lnTo>
                <a:lnTo>
                  <a:pt x="0" y="1703831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868161" y="2426207"/>
            <a:ext cx="1562100" cy="0"/>
          </a:xfrm>
          <a:custGeom>
            <a:avLst/>
            <a:gdLst/>
            <a:ahLst/>
            <a:cxnLst/>
            <a:rect l="l" t="t" r="r" b="b"/>
            <a:pathLst>
              <a:path w="1562100" h="0">
                <a:moveTo>
                  <a:pt x="0" y="0"/>
                </a:moveTo>
                <a:lnTo>
                  <a:pt x="1562099" y="0"/>
                </a:lnTo>
              </a:path>
            </a:pathLst>
          </a:custGeom>
          <a:ln w="27432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868161" y="1887473"/>
            <a:ext cx="1562100" cy="0"/>
          </a:xfrm>
          <a:custGeom>
            <a:avLst/>
            <a:gdLst/>
            <a:ahLst/>
            <a:cxnLst/>
            <a:rect l="l" t="t" r="r" b="b"/>
            <a:pathLst>
              <a:path w="1562100" h="0">
                <a:moveTo>
                  <a:pt x="0" y="0"/>
                </a:moveTo>
                <a:lnTo>
                  <a:pt x="1562099" y="0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753100" y="819911"/>
            <a:ext cx="1889760" cy="495300"/>
          </a:xfrm>
          <a:custGeom>
            <a:avLst/>
            <a:gdLst/>
            <a:ahLst/>
            <a:cxnLst/>
            <a:rect l="l" t="t" r="r" b="b"/>
            <a:pathLst>
              <a:path w="1889759" h="495300">
                <a:moveTo>
                  <a:pt x="0" y="495300"/>
                </a:moveTo>
                <a:lnTo>
                  <a:pt x="1889759" y="495300"/>
                </a:lnTo>
                <a:lnTo>
                  <a:pt x="1889759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solidFill>
            <a:srgbClr val="131F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6162421" y="1951194"/>
            <a:ext cx="994410" cy="45148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495"/>
              </a:lnSpc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3200" spc="-9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b)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887211" y="2388488"/>
            <a:ext cx="152400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69875">
              <a:lnSpc>
                <a:spcPct val="100000"/>
              </a:lnSpc>
              <a:spcBef>
                <a:spcPts val="105"/>
              </a:spcBef>
            </a:pP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3200" spc="-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868161" y="1448561"/>
            <a:ext cx="1562100" cy="439420"/>
          </a:xfrm>
          <a:prstGeom prst="rect">
            <a:avLst/>
          </a:prstGeom>
          <a:ln w="38100">
            <a:solidFill>
              <a:srgbClr val="66FFFF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294005">
              <a:lnSpc>
                <a:spcPts val="3105"/>
              </a:lnSpc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3200" spc="-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811773" y="1383030"/>
            <a:ext cx="1676400" cy="485140"/>
          </a:xfrm>
          <a:custGeom>
            <a:avLst/>
            <a:gdLst/>
            <a:ahLst/>
            <a:cxnLst/>
            <a:rect l="l" t="t" r="r" b="b"/>
            <a:pathLst>
              <a:path w="1676400" h="485139">
                <a:moveTo>
                  <a:pt x="0" y="0"/>
                </a:moveTo>
                <a:lnTo>
                  <a:pt x="1676400" y="484632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811773" y="2468117"/>
            <a:ext cx="1676400" cy="483234"/>
          </a:xfrm>
          <a:custGeom>
            <a:avLst/>
            <a:gdLst/>
            <a:ahLst/>
            <a:cxnLst/>
            <a:rect l="l" t="t" r="r" b="b"/>
            <a:pathLst>
              <a:path w="1676400" h="483235">
                <a:moveTo>
                  <a:pt x="0" y="0"/>
                </a:moveTo>
                <a:lnTo>
                  <a:pt x="1676400" y="483108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2046477" y="4293870"/>
            <a:ext cx="93916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22630" algn="l"/>
              </a:tabLst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015746" y="4325873"/>
            <a:ext cx="2501265" cy="0"/>
          </a:xfrm>
          <a:custGeom>
            <a:avLst/>
            <a:gdLst/>
            <a:ahLst/>
            <a:cxnLst/>
            <a:rect l="l" t="t" r="r" b="b"/>
            <a:pathLst>
              <a:path w="2501265" h="0">
                <a:moveTo>
                  <a:pt x="0" y="0"/>
                </a:moveTo>
                <a:lnTo>
                  <a:pt x="2500883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362200" y="4801361"/>
            <a:ext cx="1154430" cy="0"/>
          </a:xfrm>
          <a:custGeom>
            <a:avLst/>
            <a:gdLst/>
            <a:ahLst/>
            <a:cxnLst/>
            <a:rect l="l" t="t" r="r" b="b"/>
            <a:pathLst>
              <a:path w="1154429" h="0">
                <a:moveTo>
                  <a:pt x="0" y="0"/>
                </a:moveTo>
                <a:lnTo>
                  <a:pt x="1154429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015746" y="4801361"/>
            <a:ext cx="737235" cy="0"/>
          </a:xfrm>
          <a:custGeom>
            <a:avLst/>
            <a:gdLst/>
            <a:ahLst/>
            <a:cxnLst/>
            <a:rect l="l" t="t" r="r" b="b"/>
            <a:pathLst>
              <a:path w="737235" h="0">
                <a:moveTo>
                  <a:pt x="0" y="0"/>
                </a:moveTo>
                <a:lnTo>
                  <a:pt x="736854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099566" y="6372605"/>
            <a:ext cx="2502535" cy="0"/>
          </a:xfrm>
          <a:custGeom>
            <a:avLst/>
            <a:gdLst/>
            <a:ahLst/>
            <a:cxnLst/>
            <a:rect l="l" t="t" r="r" b="b"/>
            <a:pathLst>
              <a:path w="2502535" h="0">
                <a:moveTo>
                  <a:pt x="0" y="0"/>
                </a:moveTo>
                <a:lnTo>
                  <a:pt x="2502408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561338" y="4335017"/>
            <a:ext cx="0" cy="2037714"/>
          </a:xfrm>
          <a:custGeom>
            <a:avLst/>
            <a:gdLst/>
            <a:ahLst/>
            <a:cxnLst/>
            <a:rect l="l" t="t" r="r" b="b"/>
            <a:pathLst>
              <a:path w="0" h="2037714">
                <a:moveTo>
                  <a:pt x="0" y="0"/>
                </a:moveTo>
                <a:lnTo>
                  <a:pt x="0" y="2037587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1093419" y="4693005"/>
            <a:ext cx="281940" cy="1562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20000"/>
              </a:lnSpc>
              <a:spcBef>
                <a:spcPts val="100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P 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Q 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796667" y="5795264"/>
            <a:ext cx="2425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003298" y="5266131"/>
            <a:ext cx="2425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015998" y="4863902"/>
            <a:ext cx="217170" cy="393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050"/>
              </a:lnSpc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777998" y="4863902"/>
            <a:ext cx="236854" cy="393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050"/>
              </a:lnSpc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758694" y="5273604"/>
            <a:ext cx="236854" cy="393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050"/>
              </a:lnSpc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987295" y="5740253"/>
            <a:ext cx="236854" cy="393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050"/>
              </a:lnSpc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752600" y="4759452"/>
            <a:ext cx="609600" cy="434340"/>
          </a:xfrm>
          <a:prstGeom prst="rect">
            <a:avLst/>
          </a:prstGeom>
          <a:solidFill>
            <a:srgbClr val="EAEAEA"/>
          </a:solidFill>
        </p:spPr>
        <p:txBody>
          <a:bodyPr wrap="square" lIns="0" tIns="0" rIns="0" bIns="0" rtlCol="0" vert="horz">
            <a:spAutoFit/>
          </a:bodyPr>
          <a:lstStyle/>
          <a:p>
            <a:pPr marL="173355">
              <a:lnSpc>
                <a:spcPts val="3250"/>
              </a:lnSpc>
            </a:pPr>
            <a:r>
              <a:rPr dirty="0" sz="2800" spc="-5" b="1">
                <a:solidFill>
                  <a:srgbClr val="CC3300"/>
                </a:solidFill>
                <a:latin typeface="Times New Roman"/>
                <a:cs typeface="Times New Roman"/>
              </a:rPr>
              <a:t>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628900" y="5245608"/>
            <a:ext cx="591820" cy="402590"/>
          </a:xfrm>
          <a:prstGeom prst="rect">
            <a:avLst/>
          </a:prstGeom>
          <a:solidFill>
            <a:srgbClr val="EAEAEA"/>
          </a:solidFill>
        </p:spPr>
        <p:txBody>
          <a:bodyPr wrap="square" lIns="0" tIns="0" rIns="0" bIns="0" rtlCol="0" vert="horz">
            <a:spAutoFit/>
          </a:bodyPr>
          <a:lstStyle/>
          <a:p>
            <a:pPr marL="91440">
              <a:lnSpc>
                <a:spcPts val="2995"/>
              </a:lnSpc>
            </a:pPr>
            <a:r>
              <a:rPr dirty="0" sz="2800" spc="-5" b="1">
                <a:solidFill>
                  <a:srgbClr val="CC3300"/>
                </a:solidFill>
                <a:latin typeface="Times New Roman"/>
                <a:cs typeface="Times New Roman"/>
              </a:rPr>
              <a:t>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866900" y="5716523"/>
            <a:ext cx="591820" cy="434340"/>
          </a:xfrm>
          <a:prstGeom prst="rect">
            <a:avLst/>
          </a:prstGeom>
          <a:solidFill>
            <a:srgbClr val="EAEAEA"/>
          </a:solidFill>
        </p:spPr>
        <p:txBody>
          <a:bodyPr wrap="square" lIns="0" tIns="0" rIns="0" bIns="0" rtlCol="0" vert="horz">
            <a:spAutoFit/>
          </a:bodyPr>
          <a:lstStyle/>
          <a:p>
            <a:pPr marL="91440">
              <a:lnSpc>
                <a:spcPts val="3250"/>
              </a:lnSpc>
            </a:pPr>
            <a:r>
              <a:rPr dirty="0" sz="2800" spc="-5" b="1">
                <a:solidFill>
                  <a:srgbClr val="CC3300"/>
                </a:solidFill>
                <a:latin typeface="Times New Roman"/>
                <a:cs typeface="Times New Roman"/>
              </a:rPr>
              <a:t>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3086861" y="2140457"/>
            <a:ext cx="2966720" cy="2839720"/>
          </a:xfrm>
          <a:custGeom>
            <a:avLst/>
            <a:gdLst/>
            <a:ahLst/>
            <a:cxnLst/>
            <a:rect l="l" t="t" r="r" b="b"/>
            <a:pathLst>
              <a:path w="2966720" h="2839720">
                <a:moveTo>
                  <a:pt x="43052" y="2718942"/>
                </a:moveTo>
                <a:lnTo>
                  <a:pt x="0" y="2839211"/>
                </a:lnTo>
                <a:lnTo>
                  <a:pt x="122046" y="2801492"/>
                </a:lnTo>
                <a:lnTo>
                  <a:pt x="108314" y="2787141"/>
                </a:lnTo>
                <a:lnTo>
                  <a:pt x="82042" y="2787141"/>
                </a:lnTo>
                <a:lnTo>
                  <a:pt x="55625" y="2759583"/>
                </a:lnTo>
                <a:lnTo>
                  <a:pt x="69365" y="2746439"/>
                </a:lnTo>
                <a:lnTo>
                  <a:pt x="43052" y="2718942"/>
                </a:lnTo>
                <a:close/>
              </a:path>
              <a:path w="2966720" h="2839720">
                <a:moveTo>
                  <a:pt x="69365" y="2746439"/>
                </a:moveTo>
                <a:lnTo>
                  <a:pt x="55625" y="2759583"/>
                </a:lnTo>
                <a:lnTo>
                  <a:pt x="82042" y="2787141"/>
                </a:lnTo>
                <a:lnTo>
                  <a:pt x="95757" y="2774020"/>
                </a:lnTo>
                <a:lnTo>
                  <a:pt x="69365" y="2746439"/>
                </a:lnTo>
                <a:close/>
              </a:path>
              <a:path w="2966720" h="2839720">
                <a:moveTo>
                  <a:pt x="95757" y="2774020"/>
                </a:moveTo>
                <a:lnTo>
                  <a:pt x="82042" y="2787141"/>
                </a:lnTo>
                <a:lnTo>
                  <a:pt x="108314" y="2787141"/>
                </a:lnTo>
                <a:lnTo>
                  <a:pt x="95757" y="2774020"/>
                </a:lnTo>
                <a:close/>
              </a:path>
              <a:path w="2966720" h="2839720">
                <a:moveTo>
                  <a:pt x="2940304" y="0"/>
                </a:moveTo>
                <a:lnTo>
                  <a:pt x="69365" y="2746439"/>
                </a:lnTo>
                <a:lnTo>
                  <a:pt x="95757" y="2774020"/>
                </a:lnTo>
                <a:lnTo>
                  <a:pt x="2966720" y="27431"/>
                </a:lnTo>
                <a:lnTo>
                  <a:pt x="294030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2686811" y="4809744"/>
            <a:ext cx="513715" cy="436245"/>
          </a:xfrm>
          <a:custGeom>
            <a:avLst/>
            <a:gdLst/>
            <a:ahLst/>
            <a:cxnLst/>
            <a:rect l="l" t="t" r="r" b="b"/>
            <a:pathLst>
              <a:path w="513714" h="436245">
                <a:moveTo>
                  <a:pt x="0" y="435863"/>
                </a:moveTo>
                <a:lnTo>
                  <a:pt x="513588" y="435863"/>
                </a:lnTo>
                <a:lnTo>
                  <a:pt x="513588" y="0"/>
                </a:lnTo>
                <a:lnTo>
                  <a:pt x="0" y="0"/>
                </a:lnTo>
                <a:lnTo>
                  <a:pt x="0" y="43586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2686811" y="4783963"/>
            <a:ext cx="5334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CC3300"/>
                </a:solidFill>
                <a:latin typeface="Times New Roman"/>
                <a:cs typeface="Times New Roman"/>
              </a:rPr>
              <a:t>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5830061" y="1945385"/>
            <a:ext cx="1676400" cy="485140"/>
          </a:xfrm>
          <a:custGeom>
            <a:avLst/>
            <a:gdLst/>
            <a:ahLst/>
            <a:cxnLst/>
            <a:rect l="l" t="t" r="r" b="b"/>
            <a:pathLst>
              <a:path w="1676400" h="485139">
                <a:moveTo>
                  <a:pt x="0" y="0"/>
                </a:moveTo>
                <a:lnTo>
                  <a:pt x="1676399" y="484631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4670552" y="3687023"/>
            <a:ext cx="3847465" cy="2348230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marL="536575" marR="5080" indent="-524510">
              <a:lnSpc>
                <a:spcPct val="134100"/>
              </a:lnSpc>
              <a:spcBef>
                <a:spcPts val="370"/>
              </a:spcBef>
            </a:pPr>
            <a:r>
              <a:rPr dirty="0" sz="2800" spc="-5" b="1">
                <a:solidFill>
                  <a:srgbClr val="CC99FF"/>
                </a:solidFill>
                <a:latin typeface="Times New Roman"/>
                <a:cs typeface="Times New Roman"/>
              </a:rPr>
              <a:t>III.</a:t>
            </a:r>
            <a:r>
              <a:rPr dirty="0" sz="2800" spc="60" b="1">
                <a:solidFill>
                  <a:srgbClr val="CC99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排空栈并修改数组： 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FIRSTVT(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  FIRSTVT(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  FIRSTVT(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5867400" y="1929383"/>
            <a:ext cx="1556385" cy="483234"/>
          </a:xfrm>
          <a:custGeom>
            <a:avLst/>
            <a:gdLst/>
            <a:ahLst/>
            <a:cxnLst/>
            <a:rect l="l" t="t" r="r" b="b"/>
            <a:pathLst>
              <a:path w="1556384" h="483235">
                <a:moveTo>
                  <a:pt x="0" y="483108"/>
                </a:moveTo>
                <a:lnTo>
                  <a:pt x="1556003" y="483108"/>
                </a:lnTo>
                <a:lnTo>
                  <a:pt x="1556003" y="0"/>
                </a:lnTo>
                <a:lnTo>
                  <a:pt x="0" y="0"/>
                </a:lnTo>
                <a:lnTo>
                  <a:pt x="0" y="483108"/>
                </a:lnTo>
                <a:close/>
              </a:path>
            </a:pathLst>
          </a:custGeom>
          <a:solidFill>
            <a:srgbClr val="A737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5887211" y="1888363"/>
            <a:ext cx="152400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4544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5785865" y="1907285"/>
            <a:ext cx="1676400" cy="485140"/>
          </a:xfrm>
          <a:custGeom>
            <a:avLst/>
            <a:gdLst/>
            <a:ahLst/>
            <a:cxnLst/>
            <a:rect l="l" t="t" r="r" b="b"/>
            <a:pathLst>
              <a:path w="1676400" h="485139">
                <a:moveTo>
                  <a:pt x="0" y="0"/>
                </a:moveTo>
                <a:lnTo>
                  <a:pt x="1676400" y="484631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141091" y="26923"/>
            <a:ext cx="181800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算符优先分析法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75528" y="26923"/>
            <a:ext cx="32842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05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算符优先分析与分析器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85266" y="1896617"/>
            <a:ext cx="2502535" cy="0"/>
          </a:xfrm>
          <a:custGeom>
            <a:avLst/>
            <a:gdLst/>
            <a:ahLst/>
            <a:cxnLst/>
            <a:rect l="l" t="t" r="r" b="b"/>
            <a:pathLst>
              <a:path w="2502535" h="0">
                <a:moveTo>
                  <a:pt x="0" y="0"/>
                </a:moveTo>
                <a:lnTo>
                  <a:pt x="2502408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85266" y="2372105"/>
            <a:ext cx="2502535" cy="0"/>
          </a:xfrm>
          <a:custGeom>
            <a:avLst/>
            <a:gdLst/>
            <a:ahLst/>
            <a:cxnLst/>
            <a:rect l="l" t="t" r="r" b="b"/>
            <a:pathLst>
              <a:path w="2502535" h="0">
                <a:moveTo>
                  <a:pt x="0" y="0"/>
                </a:moveTo>
                <a:lnTo>
                  <a:pt x="2502408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069086" y="3944873"/>
            <a:ext cx="2502535" cy="0"/>
          </a:xfrm>
          <a:custGeom>
            <a:avLst/>
            <a:gdLst/>
            <a:ahLst/>
            <a:cxnLst/>
            <a:rect l="l" t="t" r="r" b="b"/>
            <a:pathLst>
              <a:path w="2502535" h="0">
                <a:moveTo>
                  <a:pt x="0" y="0"/>
                </a:moveTo>
                <a:lnTo>
                  <a:pt x="2502408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532382" y="1905761"/>
            <a:ext cx="0" cy="2039620"/>
          </a:xfrm>
          <a:custGeom>
            <a:avLst/>
            <a:gdLst/>
            <a:ahLst/>
            <a:cxnLst/>
            <a:rect l="l" t="t" r="r" b="b"/>
            <a:pathLst>
              <a:path w="0" h="2039620">
                <a:moveTo>
                  <a:pt x="0" y="0"/>
                </a:moveTo>
                <a:lnTo>
                  <a:pt x="0" y="2039112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016379" y="1863928"/>
            <a:ext cx="93980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22630" algn="l"/>
              </a:tabLst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63244" y="2263924"/>
            <a:ext cx="282575" cy="15614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2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P 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Q 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59864" y="2434392"/>
            <a:ext cx="217170" cy="393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050"/>
              </a:lnSpc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85016" y="2383027"/>
            <a:ext cx="2425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978786" y="2888544"/>
            <a:ext cx="217170" cy="393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050"/>
              </a:lnSpc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627866" y="2888544"/>
            <a:ext cx="217170" cy="393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050"/>
              </a:lnSpc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978786" y="3417372"/>
            <a:ext cx="217170" cy="393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050"/>
              </a:lnSpc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615166" y="3366008"/>
            <a:ext cx="2425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983482" y="2510789"/>
            <a:ext cx="578612" cy="8884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919092" y="2732913"/>
            <a:ext cx="42862" cy="44424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876294" y="2732913"/>
            <a:ext cx="21431" cy="44424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983482" y="2510789"/>
            <a:ext cx="579120" cy="889000"/>
          </a:xfrm>
          <a:custGeom>
            <a:avLst/>
            <a:gdLst/>
            <a:ahLst/>
            <a:cxnLst/>
            <a:rect l="l" t="t" r="r" b="b"/>
            <a:pathLst>
              <a:path w="579120" h="889000">
                <a:moveTo>
                  <a:pt x="407162" y="0"/>
                </a:moveTo>
                <a:lnTo>
                  <a:pt x="407162" y="222123"/>
                </a:lnTo>
                <a:lnTo>
                  <a:pt x="0" y="222123"/>
                </a:lnTo>
                <a:lnTo>
                  <a:pt x="0" y="666369"/>
                </a:lnTo>
                <a:lnTo>
                  <a:pt x="407162" y="666369"/>
                </a:lnTo>
                <a:lnTo>
                  <a:pt x="407162" y="888492"/>
                </a:lnTo>
                <a:lnTo>
                  <a:pt x="578612" y="444246"/>
                </a:lnTo>
                <a:lnTo>
                  <a:pt x="407162" y="0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916775" y="2713863"/>
            <a:ext cx="64769" cy="482600"/>
          </a:xfrm>
          <a:custGeom>
            <a:avLst/>
            <a:gdLst/>
            <a:ahLst/>
            <a:cxnLst/>
            <a:rect l="l" t="t" r="r" b="b"/>
            <a:pathLst>
              <a:path w="64770" h="482600">
                <a:moveTo>
                  <a:pt x="0" y="482346"/>
                </a:moveTo>
                <a:lnTo>
                  <a:pt x="64230" y="482346"/>
                </a:lnTo>
                <a:lnTo>
                  <a:pt x="64230" y="0"/>
                </a:lnTo>
                <a:lnTo>
                  <a:pt x="0" y="0"/>
                </a:lnTo>
                <a:lnTo>
                  <a:pt x="0" y="482346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857244" y="2713863"/>
            <a:ext cx="59690" cy="482600"/>
          </a:xfrm>
          <a:custGeom>
            <a:avLst/>
            <a:gdLst/>
            <a:ahLst/>
            <a:cxnLst/>
            <a:rect l="l" t="t" r="r" b="b"/>
            <a:pathLst>
              <a:path w="59689" h="482600">
                <a:moveTo>
                  <a:pt x="0" y="482346"/>
                </a:moveTo>
                <a:lnTo>
                  <a:pt x="59531" y="482346"/>
                </a:lnTo>
                <a:lnTo>
                  <a:pt x="59531" y="0"/>
                </a:lnTo>
                <a:lnTo>
                  <a:pt x="0" y="0"/>
                </a:lnTo>
                <a:lnTo>
                  <a:pt x="0" y="482346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5164328" y="2044725"/>
            <a:ext cx="3020695" cy="1690370"/>
          </a:xfrm>
          <a:prstGeom prst="rect">
            <a:avLst/>
          </a:prstGeom>
        </p:spPr>
        <p:txBody>
          <a:bodyPr wrap="square" lIns="0" tIns="140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LASTVT(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LASTVT(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LASTVT(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684020" y="2435351"/>
            <a:ext cx="609600" cy="434340"/>
          </a:xfrm>
          <a:prstGeom prst="rect">
            <a:avLst/>
          </a:prstGeom>
          <a:solidFill>
            <a:srgbClr val="EAEAEA"/>
          </a:solidFill>
        </p:spPr>
        <p:txBody>
          <a:bodyPr wrap="square" lIns="0" tIns="0" rIns="0" bIns="0" rtlCol="0" vert="horz">
            <a:spAutoFit/>
          </a:bodyPr>
          <a:lstStyle/>
          <a:p>
            <a:pPr marL="173990">
              <a:lnSpc>
                <a:spcPts val="3245"/>
              </a:lnSpc>
            </a:pPr>
            <a:r>
              <a:rPr dirty="0" sz="2800" spc="-5" b="1">
                <a:solidFill>
                  <a:srgbClr val="CC3300"/>
                </a:solidFill>
                <a:latin typeface="Times New Roman"/>
                <a:cs typeface="Times New Roman"/>
              </a:rPr>
              <a:t>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560320" y="2889504"/>
            <a:ext cx="591820" cy="434340"/>
          </a:xfrm>
          <a:custGeom>
            <a:avLst/>
            <a:gdLst/>
            <a:ahLst/>
            <a:cxnLst/>
            <a:rect l="l" t="t" r="r" b="b"/>
            <a:pathLst>
              <a:path w="591819" h="434339">
                <a:moveTo>
                  <a:pt x="0" y="434339"/>
                </a:moveTo>
                <a:lnTo>
                  <a:pt x="591312" y="434339"/>
                </a:lnTo>
                <a:lnTo>
                  <a:pt x="591312" y="0"/>
                </a:lnTo>
                <a:lnTo>
                  <a:pt x="0" y="0"/>
                </a:lnTo>
                <a:lnTo>
                  <a:pt x="0" y="434339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2560320" y="2862148"/>
            <a:ext cx="59182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CC3300"/>
                </a:solidFill>
                <a:latin typeface="Times New Roman"/>
                <a:cs typeface="Times New Roman"/>
              </a:rPr>
              <a:t>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798320" y="3392423"/>
            <a:ext cx="591820" cy="434340"/>
          </a:xfrm>
          <a:prstGeom prst="rect">
            <a:avLst/>
          </a:prstGeom>
          <a:solidFill>
            <a:srgbClr val="EAEAEA"/>
          </a:solidFill>
        </p:spPr>
        <p:txBody>
          <a:bodyPr wrap="square" lIns="0" tIns="0" rIns="0" bIns="0" rtlCol="0" vert="horz">
            <a:spAutoFit/>
          </a:bodyPr>
          <a:lstStyle/>
          <a:p>
            <a:pPr marL="92075">
              <a:lnSpc>
                <a:spcPts val="3250"/>
              </a:lnSpc>
            </a:pPr>
            <a:r>
              <a:rPr dirty="0" sz="2800" spc="-5" b="1">
                <a:solidFill>
                  <a:srgbClr val="CC3300"/>
                </a:solidFill>
                <a:latin typeface="Times New Roman"/>
                <a:cs typeface="Times New Roman"/>
              </a:rPr>
              <a:t>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15239" y="26923"/>
            <a:ext cx="2562860" cy="1174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0650">
              <a:lnSpc>
                <a:spcPct val="100000"/>
              </a:lnSpc>
              <a:spcBef>
                <a:spcPts val="100"/>
              </a:spcBef>
              <a:tabLst>
                <a:tab pos="223012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求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LASTVT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684007" y="1974850"/>
            <a:ext cx="1460500" cy="0"/>
          </a:xfrm>
          <a:custGeom>
            <a:avLst/>
            <a:gdLst/>
            <a:ahLst/>
            <a:cxnLst/>
            <a:rect l="l" t="t" r="r" b="b"/>
            <a:pathLst>
              <a:path w="1460500" h="0">
                <a:moveTo>
                  <a:pt x="0" y="0"/>
                </a:moveTo>
                <a:lnTo>
                  <a:pt x="1459992" y="0"/>
                </a:lnTo>
              </a:path>
            </a:pathLst>
          </a:custGeom>
          <a:ln w="12700">
            <a:solidFill>
              <a:srgbClr val="F3B4F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690357" y="506730"/>
            <a:ext cx="0" cy="1461770"/>
          </a:xfrm>
          <a:custGeom>
            <a:avLst/>
            <a:gdLst/>
            <a:ahLst/>
            <a:cxnLst/>
            <a:rect l="l" t="t" r="r" b="b"/>
            <a:pathLst>
              <a:path w="0" h="1461770">
                <a:moveTo>
                  <a:pt x="0" y="0"/>
                </a:moveTo>
                <a:lnTo>
                  <a:pt x="0" y="1461770"/>
                </a:lnTo>
              </a:path>
            </a:pathLst>
          </a:custGeom>
          <a:ln w="12700">
            <a:solidFill>
              <a:srgbClr val="F3B4F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684007" y="500380"/>
            <a:ext cx="1460500" cy="0"/>
          </a:xfrm>
          <a:custGeom>
            <a:avLst/>
            <a:gdLst/>
            <a:ahLst/>
            <a:cxnLst/>
            <a:rect l="l" t="t" r="r" b="b"/>
            <a:pathLst>
              <a:path w="1460500" h="0">
                <a:moveTo>
                  <a:pt x="0" y="0"/>
                </a:moveTo>
                <a:lnTo>
                  <a:pt x="1459992" y="0"/>
                </a:lnTo>
              </a:path>
            </a:pathLst>
          </a:custGeom>
          <a:ln w="12700">
            <a:solidFill>
              <a:srgbClr val="F3B4F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709407" y="1943100"/>
            <a:ext cx="1435100" cy="0"/>
          </a:xfrm>
          <a:custGeom>
            <a:avLst/>
            <a:gdLst/>
            <a:ahLst/>
            <a:cxnLst/>
            <a:rect l="l" t="t" r="r" b="b"/>
            <a:pathLst>
              <a:path w="1435100" h="0">
                <a:moveTo>
                  <a:pt x="0" y="0"/>
                </a:moveTo>
                <a:lnTo>
                  <a:pt x="1434592" y="0"/>
                </a:lnTo>
              </a:path>
            </a:pathLst>
          </a:custGeom>
          <a:ln w="25400">
            <a:solidFill>
              <a:srgbClr val="F3B4F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722107" y="544830"/>
            <a:ext cx="0" cy="1385570"/>
          </a:xfrm>
          <a:custGeom>
            <a:avLst/>
            <a:gdLst/>
            <a:ahLst/>
            <a:cxnLst/>
            <a:rect l="l" t="t" r="r" b="b"/>
            <a:pathLst>
              <a:path w="0" h="1385570">
                <a:moveTo>
                  <a:pt x="0" y="0"/>
                </a:moveTo>
                <a:lnTo>
                  <a:pt x="0" y="1385570"/>
                </a:lnTo>
              </a:path>
            </a:pathLst>
          </a:custGeom>
          <a:ln w="25400">
            <a:solidFill>
              <a:srgbClr val="F3B4F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7709407" y="532130"/>
            <a:ext cx="1435100" cy="0"/>
          </a:xfrm>
          <a:custGeom>
            <a:avLst/>
            <a:gdLst/>
            <a:ahLst/>
            <a:cxnLst/>
            <a:rect l="l" t="t" r="r" b="b"/>
            <a:pathLst>
              <a:path w="1435100" h="0">
                <a:moveTo>
                  <a:pt x="0" y="0"/>
                </a:moveTo>
                <a:lnTo>
                  <a:pt x="1434592" y="0"/>
                </a:lnTo>
              </a:path>
            </a:pathLst>
          </a:custGeom>
          <a:ln w="25400">
            <a:solidFill>
              <a:srgbClr val="F3B4F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9137650" y="544576"/>
            <a:ext cx="0" cy="1386205"/>
          </a:xfrm>
          <a:custGeom>
            <a:avLst/>
            <a:gdLst/>
            <a:ahLst/>
            <a:cxnLst/>
            <a:rect l="l" t="t" r="r" b="b"/>
            <a:pathLst>
              <a:path w="0" h="1386205">
                <a:moveTo>
                  <a:pt x="0" y="0"/>
                </a:moveTo>
                <a:lnTo>
                  <a:pt x="0" y="1385824"/>
                </a:lnTo>
              </a:path>
            </a:pathLst>
          </a:custGeom>
          <a:ln w="12700">
            <a:solidFill>
              <a:srgbClr val="F3B4F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747507" y="1911350"/>
            <a:ext cx="1371600" cy="0"/>
          </a:xfrm>
          <a:custGeom>
            <a:avLst/>
            <a:gdLst/>
            <a:ahLst/>
            <a:cxnLst/>
            <a:rect l="l" t="t" r="r" b="b"/>
            <a:pathLst>
              <a:path w="1371600" h="0">
                <a:moveTo>
                  <a:pt x="0" y="0"/>
                </a:moveTo>
                <a:lnTo>
                  <a:pt x="1371092" y="0"/>
                </a:lnTo>
              </a:path>
            </a:pathLst>
          </a:custGeom>
          <a:ln w="12700">
            <a:solidFill>
              <a:srgbClr val="F3B4F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7753857" y="570230"/>
            <a:ext cx="0" cy="1334770"/>
          </a:xfrm>
          <a:custGeom>
            <a:avLst/>
            <a:gdLst/>
            <a:ahLst/>
            <a:cxnLst/>
            <a:rect l="l" t="t" r="r" b="b"/>
            <a:pathLst>
              <a:path w="0" h="1334770">
                <a:moveTo>
                  <a:pt x="0" y="0"/>
                </a:moveTo>
                <a:lnTo>
                  <a:pt x="0" y="1334770"/>
                </a:lnTo>
              </a:path>
            </a:pathLst>
          </a:custGeom>
          <a:ln w="12700">
            <a:solidFill>
              <a:srgbClr val="F3B4F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7747507" y="563880"/>
            <a:ext cx="1371600" cy="0"/>
          </a:xfrm>
          <a:custGeom>
            <a:avLst/>
            <a:gdLst/>
            <a:ahLst/>
            <a:cxnLst/>
            <a:rect l="l" t="t" r="r" b="b"/>
            <a:pathLst>
              <a:path w="1371600" h="0">
                <a:moveTo>
                  <a:pt x="0" y="0"/>
                </a:moveTo>
                <a:lnTo>
                  <a:pt x="1371092" y="0"/>
                </a:lnTo>
              </a:path>
            </a:pathLst>
          </a:custGeom>
          <a:ln w="12700">
            <a:solidFill>
              <a:srgbClr val="F3B4F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9112250" y="569976"/>
            <a:ext cx="0" cy="1335405"/>
          </a:xfrm>
          <a:custGeom>
            <a:avLst/>
            <a:gdLst/>
            <a:ahLst/>
            <a:cxnLst/>
            <a:rect l="l" t="t" r="r" b="b"/>
            <a:pathLst>
              <a:path w="0" h="1335405">
                <a:moveTo>
                  <a:pt x="0" y="0"/>
                </a:moveTo>
                <a:lnTo>
                  <a:pt x="0" y="1335024"/>
                </a:lnTo>
              </a:path>
            </a:pathLst>
          </a:custGeom>
          <a:ln w="12700">
            <a:solidFill>
              <a:srgbClr val="F3B4F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7734807" y="408973"/>
            <a:ext cx="1384300" cy="14522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79375" marR="281940">
              <a:lnSpc>
                <a:spcPct val="130000"/>
              </a:lnSpc>
              <a:spcBef>
                <a:spcPts val="95"/>
              </a:spcBef>
            </a:pP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P 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2400" spc="-9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 i="1">
                <a:solidFill>
                  <a:srgbClr val="FFFF00"/>
                </a:solidFill>
                <a:latin typeface="Times New Roman"/>
                <a:cs typeface="Times New Roman"/>
              </a:rPr>
              <a:t>Qa  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bR  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2400" spc="-2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5592317" y="630173"/>
            <a:ext cx="1562100" cy="1503045"/>
          </a:xfrm>
          <a:custGeom>
            <a:avLst/>
            <a:gdLst/>
            <a:ahLst/>
            <a:cxnLst/>
            <a:rect l="l" t="t" r="r" b="b"/>
            <a:pathLst>
              <a:path w="1562100" h="1503045">
                <a:moveTo>
                  <a:pt x="0" y="1502664"/>
                </a:moveTo>
                <a:lnTo>
                  <a:pt x="1562099" y="1502664"/>
                </a:lnTo>
                <a:lnTo>
                  <a:pt x="1562099" y="0"/>
                </a:lnTo>
                <a:lnTo>
                  <a:pt x="0" y="0"/>
                </a:lnTo>
                <a:lnTo>
                  <a:pt x="0" y="1502664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5592317" y="1600961"/>
            <a:ext cx="1562100" cy="0"/>
          </a:xfrm>
          <a:custGeom>
            <a:avLst/>
            <a:gdLst/>
            <a:ahLst/>
            <a:cxnLst/>
            <a:rect l="l" t="t" r="r" b="b"/>
            <a:pathLst>
              <a:path w="1562100" h="0">
                <a:moveTo>
                  <a:pt x="0" y="0"/>
                </a:moveTo>
                <a:lnTo>
                  <a:pt x="1562100" y="0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5592317" y="1076705"/>
            <a:ext cx="1562100" cy="0"/>
          </a:xfrm>
          <a:custGeom>
            <a:avLst/>
            <a:gdLst/>
            <a:ahLst/>
            <a:cxnLst/>
            <a:rect l="l" t="t" r="r" b="b"/>
            <a:pathLst>
              <a:path w="1562100" h="0">
                <a:moveTo>
                  <a:pt x="0" y="0"/>
                </a:moveTo>
                <a:lnTo>
                  <a:pt x="1562100" y="0"/>
                </a:lnTo>
              </a:path>
            </a:pathLst>
          </a:custGeom>
          <a:ln w="19812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5611367" y="1074877"/>
            <a:ext cx="152400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74955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3200" spc="-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592317" y="1600961"/>
            <a:ext cx="1562100" cy="532130"/>
          </a:xfrm>
          <a:prstGeom prst="rect">
            <a:avLst/>
          </a:prstGeom>
          <a:ln w="38100">
            <a:solidFill>
              <a:srgbClr val="66FFFF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288290">
              <a:lnSpc>
                <a:spcPts val="3690"/>
              </a:lnSpc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3200" spc="-4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886322" y="579213"/>
            <a:ext cx="949960" cy="45148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495"/>
              </a:lnSpc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3200" spc="-9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a)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728216" y="2889504"/>
            <a:ext cx="546100" cy="48514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 marL="92075">
              <a:lnSpc>
                <a:spcPts val="3625"/>
              </a:lnSpc>
            </a:pPr>
            <a:r>
              <a:rPr dirty="0" sz="3200" b="1">
                <a:solidFill>
                  <a:srgbClr val="CC3300"/>
                </a:solidFill>
                <a:latin typeface="Times New Roman"/>
                <a:cs typeface="Times New Roman"/>
              </a:rPr>
              <a:t>T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2274570" y="821308"/>
            <a:ext cx="3463925" cy="2203450"/>
          </a:xfrm>
          <a:custGeom>
            <a:avLst/>
            <a:gdLst/>
            <a:ahLst/>
            <a:cxnLst/>
            <a:rect l="l" t="t" r="r" b="b"/>
            <a:pathLst>
              <a:path w="3463925" h="2203450">
                <a:moveTo>
                  <a:pt x="66040" y="2093594"/>
                </a:moveTo>
                <a:lnTo>
                  <a:pt x="0" y="2203068"/>
                </a:lnTo>
                <a:lnTo>
                  <a:pt x="127127" y="2190241"/>
                </a:lnTo>
                <a:lnTo>
                  <a:pt x="113159" y="2168143"/>
                </a:lnTo>
                <a:lnTo>
                  <a:pt x="90678" y="2168143"/>
                </a:lnTo>
                <a:lnTo>
                  <a:pt x="70231" y="2136013"/>
                </a:lnTo>
                <a:lnTo>
                  <a:pt x="86384" y="2125783"/>
                </a:lnTo>
                <a:lnTo>
                  <a:pt x="66040" y="2093594"/>
                </a:lnTo>
                <a:close/>
              </a:path>
              <a:path w="3463925" h="2203450">
                <a:moveTo>
                  <a:pt x="86384" y="2125783"/>
                </a:moveTo>
                <a:lnTo>
                  <a:pt x="70231" y="2136013"/>
                </a:lnTo>
                <a:lnTo>
                  <a:pt x="90678" y="2168143"/>
                </a:lnTo>
                <a:lnTo>
                  <a:pt x="106733" y="2157976"/>
                </a:lnTo>
                <a:lnTo>
                  <a:pt x="86384" y="2125783"/>
                </a:lnTo>
                <a:close/>
              </a:path>
              <a:path w="3463925" h="2203450">
                <a:moveTo>
                  <a:pt x="106733" y="2157976"/>
                </a:moveTo>
                <a:lnTo>
                  <a:pt x="90678" y="2168143"/>
                </a:lnTo>
                <a:lnTo>
                  <a:pt x="113159" y="2168143"/>
                </a:lnTo>
                <a:lnTo>
                  <a:pt x="106733" y="2157976"/>
                </a:lnTo>
                <a:close/>
              </a:path>
              <a:path w="3463925" h="2203450">
                <a:moveTo>
                  <a:pt x="3443224" y="0"/>
                </a:moveTo>
                <a:lnTo>
                  <a:pt x="86384" y="2125783"/>
                </a:lnTo>
                <a:lnTo>
                  <a:pt x="106733" y="2157976"/>
                </a:lnTo>
                <a:lnTo>
                  <a:pt x="3463544" y="32257"/>
                </a:lnTo>
                <a:lnTo>
                  <a:pt x="344322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5519165" y="630173"/>
            <a:ext cx="1676400" cy="483234"/>
          </a:xfrm>
          <a:custGeom>
            <a:avLst/>
            <a:gdLst/>
            <a:ahLst/>
            <a:cxnLst/>
            <a:rect l="l" t="t" r="r" b="b"/>
            <a:pathLst>
              <a:path w="1676400" h="483234">
                <a:moveTo>
                  <a:pt x="0" y="0"/>
                </a:moveTo>
                <a:lnTo>
                  <a:pt x="1676400" y="483108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5602223" y="582168"/>
            <a:ext cx="1550035" cy="485140"/>
          </a:xfrm>
          <a:custGeom>
            <a:avLst/>
            <a:gdLst/>
            <a:ahLst/>
            <a:cxnLst/>
            <a:rect l="l" t="t" r="r" b="b"/>
            <a:pathLst>
              <a:path w="1550034" h="485140">
                <a:moveTo>
                  <a:pt x="0" y="484631"/>
                </a:moveTo>
                <a:lnTo>
                  <a:pt x="1549907" y="484631"/>
                </a:lnTo>
                <a:lnTo>
                  <a:pt x="1549907" y="0"/>
                </a:lnTo>
                <a:lnTo>
                  <a:pt x="0" y="0"/>
                </a:lnTo>
                <a:lnTo>
                  <a:pt x="0" y="484631"/>
                </a:lnTo>
                <a:close/>
              </a:path>
            </a:pathLst>
          </a:custGeom>
          <a:solidFill>
            <a:srgbClr val="A737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5611367" y="541782"/>
            <a:ext cx="152400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30835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5578602" y="645413"/>
            <a:ext cx="1676400" cy="485140"/>
          </a:xfrm>
          <a:custGeom>
            <a:avLst/>
            <a:gdLst/>
            <a:ahLst/>
            <a:cxnLst/>
            <a:rect l="l" t="t" r="r" b="b"/>
            <a:pathLst>
              <a:path w="1676400" h="485140">
                <a:moveTo>
                  <a:pt x="0" y="0"/>
                </a:moveTo>
                <a:lnTo>
                  <a:pt x="1676400" y="484632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5578602" y="1126997"/>
            <a:ext cx="1676400" cy="483234"/>
          </a:xfrm>
          <a:custGeom>
            <a:avLst/>
            <a:gdLst/>
            <a:ahLst/>
            <a:cxnLst/>
            <a:rect l="l" t="t" r="r" b="b"/>
            <a:pathLst>
              <a:path w="1676400" h="483234">
                <a:moveTo>
                  <a:pt x="0" y="0"/>
                </a:moveTo>
                <a:lnTo>
                  <a:pt x="1676400" y="483107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5540502" y="1625346"/>
            <a:ext cx="1676400" cy="483234"/>
          </a:xfrm>
          <a:custGeom>
            <a:avLst/>
            <a:gdLst/>
            <a:ahLst/>
            <a:cxnLst/>
            <a:rect l="l" t="t" r="r" b="b"/>
            <a:pathLst>
              <a:path w="1676400" h="483235">
                <a:moveTo>
                  <a:pt x="0" y="0"/>
                </a:moveTo>
                <a:lnTo>
                  <a:pt x="1676400" y="483107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23748" y="26923"/>
            <a:ext cx="81356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21535" algn="l"/>
                <a:tab pos="2629535" algn="l"/>
                <a:tab pos="4864100" algn="l"/>
                <a:tab pos="5561965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算符优先分析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法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算符优先分析与分析器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8739" y="400303"/>
            <a:ext cx="1549400" cy="515620"/>
          </a:xfrm>
          <a:prstGeom prst="rect"/>
        </p:spPr>
        <p:txBody>
          <a:bodyPr wrap="square" lIns="0" tIns="65405" rIns="0" bIns="0" rtlCol="0" vert="horz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515"/>
              </a:spcBef>
              <a:buClr>
                <a:srgbClr val="99FF99"/>
              </a:buClr>
              <a:buSzPct val="114285"/>
              <a:buFont typeface="Wingdings"/>
              <a:buChar char=""/>
              <a:tabLst>
                <a:tab pos="377825" algn="l"/>
                <a:tab pos="378460" algn="l"/>
              </a:tabLst>
            </a:pPr>
            <a:r>
              <a:rPr dirty="0" spc="-5"/>
              <a:t>算法</a:t>
            </a:r>
            <a:r>
              <a:rPr dirty="0">
                <a:latin typeface="Times New Roman"/>
                <a:cs typeface="Times New Roman"/>
              </a:rPr>
              <a:t>5</a:t>
            </a:r>
            <a:r>
              <a:rPr dirty="0" spc="-10">
                <a:latin typeface="Times New Roman"/>
                <a:cs typeface="Times New Roman"/>
              </a:rPr>
              <a:t>.</a:t>
            </a:r>
            <a:r>
              <a:rPr dirty="0" spc="-5"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958085" y="453643"/>
            <a:ext cx="38481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8686"/>
                </a:solidFill>
                <a:latin typeface="宋体"/>
                <a:cs typeface="宋体"/>
              </a:rPr>
              <a:t>构造文</a:t>
            </a:r>
            <a:r>
              <a:rPr dirty="0" sz="2800" b="1">
                <a:solidFill>
                  <a:srgbClr val="FF8686"/>
                </a:solidFill>
                <a:latin typeface="宋体"/>
                <a:cs typeface="宋体"/>
              </a:rPr>
              <a:t>法</a:t>
            </a:r>
            <a:r>
              <a:rPr dirty="0" sz="2800" spc="-10" b="1" i="1">
                <a:solidFill>
                  <a:srgbClr val="FF8686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FF8686"/>
                </a:solidFill>
                <a:latin typeface="宋体"/>
                <a:cs typeface="宋体"/>
              </a:rPr>
              <a:t>的优先关系表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7047" y="926744"/>
            <a:ext cx="8416290" cy="955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9000"/>
              </a:lnSpc>
              <a:spcBef>
                <a:spcPts val="100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输入：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文</a:t>
            </a:r>
            <a:r>
              <a:rPr dirty="0" u="heavy" sz="2800" spc="-5" b="1">
                <a:solidFill>
                  <a:srgbClr val="FFFFFF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法</a:t>
            </a:r>
            <a:r>
              <a:rPr dirty="0" u="heavy" sz="2800" spc="-10" b="1" i="1">
                <a:solidFill>
                  <a:srgbClr val="FFFFFF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G</a:t>
            </a:r>
            <a:r>
              <a:rPr dirty="0" u="heavy" sz="2800" spc="-5" b="1">
                <a:solidFill>
                  <a:srgbClr val="FFFFFF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的拓</a:t>
            </a:r>
            <a:r>
              <a:rPr dirty="0" u="heavy" sz="2800" b="1">
                <a:solidFill>
                  <a:srgbClr val="FFFFFF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广</a:t>
            </a:r>
            <a:r>
              <a:rPr dirty="0" u="heavy" sz="2800" spc="-5" b="1">
                <a:solidFill>
                  <a:srgbClr val="FFFFFF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及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FIRS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VT</a:t>
            </a:r>
            <a:r>
              <a:rPr dirty="0" sz="2800" spc="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1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VT</a:t>
            </a:r>
            <a:r>
              <a:rPr dirty="0" sz="2800" spc="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 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输出：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文法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的优先关系表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940" y="2304567"/>
            <a:ext cx="7979409" cy="2395220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270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方法</a:t>
            </a:r>
            <a:endParaRPr sz="2800">
              <a:latin typeface="宋体"/>
              <a:cs typeface="宋体"/>
            </a:endParaRPr>
          </a:p>
          <a:p>
            <a:pPr marL="63500">
              <a:lnSpc>
                <a:spcPct val="100000"/>
              </a:lnSpc>
              <a:spcBef>
                <a:spcPts val="170"/>
              </a:spcBef>
              <a:tabLst>
                <a:tab pos="874394" algn="l"/>
                <a:tab pos="3989704" algn="l"/>
              </a:tabLst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for	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中的每条规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则	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baseline="-25525" sz="2775" spc="-7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baseline="-25525" sz="2775" spc="-7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800" spc="-5" b="1">
                <a:solidFill>
                  <a:srgbClr val="FFFFFF"/>
                </a:solidFill>
                <a:latin typeface="Courier New"/>
                <a:cs typeface="Courier New"/>
              </a:rPr>
              <a:t>…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baseline="-25525" sz="2775" spc="-7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endParaRPr baseline="-25525" sz="2775">
              <a:latin typeface="Times New Roman"/>
              <a:cs typeface="Times New Roman"/>
            </a:endParaRPr>
          </a:p>
          <a:p>
            <a:pPr marL="596900">
              <a:lnSpc>
                <a:spcPct val="100000"/>
              </a:lnSpc>
              <a:spcBef>
                <a:spcPts val="17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z="2800" spc="-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①</a:t>
            </a:r>
            <a:r>
              <a:rPr dirty="0" sz="2800" spc="-2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置相邻的两个终结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符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baseline="-25525" sz="2775" spc="-7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baseline="-25525" sz="277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25525" sz="2775" b="1">
                <a:solidFill>
                  <a:srgbClr val="FFFFFF"/>
                </a:solidFill>
                <a:latin typeface="Times New Roman"/>
                <a:cs typeface="Times New Roman"/>
              </a:rPr>
              <a:t>+1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或只隔一个</a:t>
            </a:r>
            <a:endParaRPr sz="2800">
              <a:latin typeface="宋体"/>
              <a:cs typeface="宋体"/>
            </a:endParaRPr>
          </a:p>
          <a:p>
            <a:pPr marL="241300">
              <a:lnSpc>
                <a:spcPct val="100000"/>
              </a:lnSpc>
              <a:spcBef>
                <a:spcPts val="42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非终结符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为“</a:t>
            </a:r>
            <a:r>
              <a:rPr dirty="0" sz="2800" spc="-5" b="1" i="1">
                <a:solidFill>
                  <a:srgbClr val="FFFFFF"/>
                </a:solidFill>
                <a:latin typeface="Lucida Sans Unicode"/>
                <a:cs typeface="Lucida Sans Unicode"/>
              </a:rPr>
              <a:t>≐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”，即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X</a:t>
            </a:r>
            <a:r>
              <a:rPr dirty="0" baseline="-25525" sz="2775" spc="-7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sz="2800" spc="-5" b="1" i="1">
                <a:solidFill>
                  <a:srgbClr val="66FFFF"/>
                </a:solidFill>
                <a:latin typeface="Lucida Sans Unicode"/>
                <a:cs typeface="Lucida Sans Unicode"/>
              </a:rPr>
              <a:t>≐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X</a:t>
            </a:r>
            <a:r>
              <a:rPr dirty="0" baseline="-25525" sz="2775" spc="-7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baseline="-25525" sz="2775" spc="-7" b="1">
                <a:solidFill>
                  <a:srgbClr val="FFFF00"/>
                </a:solidFill>
                <a:latin typeface="Times New Roman"/>
                <a:cs typeface="Times New Roman"/>
              </a:rPr>
              <a:t>+1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marL="774700">
              <a:lnSpc>
                <a:spcPct val="100000"/>
              </a:lnSpc>
              <a:spcBef>
                <a:spcPts val="925"/>
              </a:spcBef>
              <a:tabLst>
                <a:tab pos="4512310" algn="l"/>
                <a:tab pos="5584190" algn="l"/>
              </a:tabLst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②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if</a:t>
            </a:r>
            <a:r>
              <a:rPr dirty="0" sz="2800" spc="-4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baseline="-25525" sz="2775" spc="-7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∈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-25525" sz="2775" spc="-7" b="1" i="1">
                <a:solidFill>
                  <a:srgbClr val="FFFFFF"/>
                </a:solidFill>
                <a:latin typeface="Times New Roman"/>
                <a:cs typeface="Times New Roman"/>
              </a:rPr>
              <a:t>T 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而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baseline="-25525" sz="277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25525" sz="2775" b="1">
                <a:solidFill>
                  <a:srgbClr val="FFFFFF"/>
                </a:solidFill>
                <a:latin typeface="Times New Roman"/>
                <a:cs typeface="Times New Roman"/>
              </a:rPr>
              <a:t>+1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∈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-25525" sz="2775" b="1" i="1">
                <a:solidFill>
                  <a:srgbClr val="FFFFFF"/>
                </a:solidFill>
                <a:latin typeface="Times New Roman"/>
                <a:cs typeface="Times New Roman"/>
              </a:rPr>
              <a:t>N	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dirty="0" sz="2800" spc="-70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for	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FIRSTVT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baseline="-25525" sz="2775" spc="-7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25525" sz="2775" spc="-7" b="1">
                <a:solidFill>
                  <a:srgbClr val="FFFFFF"/>
                </a:solidFill>
                <a:latin typeface="Times New Roman"/>
                <a:cs typeface="Times New Roman"/>
              </a:rPr>
              <a:t>+1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1647" y="4796409"/>
            <a:ext cx="315722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中的每个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置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X</a:t>
            </a:r>
            <a:r>
              <a:rPr dirty="0" baseline="-25525" sz="2775" spc="-7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sz="2800" spc="-5" b="1" i="1">
                <a:solidFill>
                  <a:srgbClr val="66FFFF"/>
                </a:solidFill>
                <a:latin typeface="Lucida Sans Unicode"/>
                <a:cs typeface="Lucida Sans Unicode"/>
              </a:rPr>
              <a:t>⋖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5048" y="5337740"/>
            <a:ext cx="6845300" cy="474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3865245" algn="l"/>
              </a:tabLst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③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if</a:t>
            </a:r>
            <a:r>
              <a:rPr dirty="0" sz="2800" spc="-4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baseline="-25525" sz="2775" spc="-7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∈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-25525" sz="2775" spc="-7" b="1" i="1">
                <a:solidFill>
                  <a:srgbClr val="FFFFFF"/>
                </a:solidFill>
                <a:latin typeface="Times New Roman"/>
                <a:cs typeface="Times New Roman"/>
              </a:rPr>
              <a:t>N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而</a:t>
            </a:r>
            <a:r>
              <a:rPr dirty="0" sz="2800" spc="-20" b="1" i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baseline="-25525" sz="2775" spc="-3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25525" sz="2775" spc="-30" b="1">
                <a:solidFill>
                  <a:srgbClr val="FFFFFF"/>
                </a:solidFill>
                <a:latin typeface="Times New Roman"/>
                <a:cs typeface="Times New Roman"/>
              </a:rPr>
              <a:t>+1</a:t>
            </a:r>
            <a:r>
              <a:rPr dirty="0" sz="2800" spc="-20" b="1">
                <a:solidFill>
                  <a:srgbClr val="FFFFFF"/>
                </a:solidFill>
                <a:latin typeface="宋体"/>
                <a:cs typeface="宋体"/>
              </a:rPr>
              <a:t>∈</a:t>
            </a:r>
            <a:r>
              <a:rPr dirty="0" sz="2950" spc="-20" b="1" i="1">
                <a:solidFill>
                  <a:srgbClr val="FFFFFF"/>
                </a:solidFill>
                <a:latin typeface="宋体"/>
                <a:cs typeface="宋体"/>
              </a:rPr>
              <a:t>Ｖ</a:t>
            </a:r>
            <a:r>
              <a:rPr dirty="0" baseline="-25525" sz="2775" spc="-30" b="1" i="1">
                <a:solidFill>
                  <a:srgbClr val="FFFFFF"/>
                </a:solidFill>
                <a:latin typeface="Times New Roman"/>
                <a:cs typeface="Times New Roman"/>
              </a:rPr>
              <a:t>T	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dirty="0" sz="2800" spc="-819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for 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LASTVT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baseline="-25525" sz="2775" spc="-7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339" y="5826963"/>
            <a:ext cx="364426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中的每个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置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800" spc="-3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solidFill>
                  <a:srgbClr val="66FFFF"/>
                </a:solidFill>
                <a:latin typeface="Lucida Sans Unicode"/>
                <a:cs typeface="Lucida Sans Unicode"/>
              </a:rPr>
              <a:t>⋗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X</a:t>
            </a:r>
            <a:r>
              <a:rPr dirty="0" baseline="-25525" sz="2775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baseline="-25525" sz="2775" b="1">
                <a:solidFill>
                  <a:srgbClr val="FFFF00"/>
                </a:solidFill>
                <a:latin typeface="Times New Roman"/>
                <a:cs typeface="Times New Roman"/>
              </a:rPr>
              <a:t>+1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20311" y="4896611"/>
            <a:ext cx="4482465" cy="483234"/>
          </a:xfrm>
          <a:prstGeom prst="rect">
            <a:avLst/>
          </a:prstGeom>
          <a:solidFill>
            <a:srgbClr val="DDDDDD"/>
          </a:solidFill>
        </p:spPr>
        <p:txBody>
          <a:bodyPr wrap="square" lIns="0" tIns="0" rIns="0" bIns="0" rtlCol="0" vert="horz">
            <a:spAutoFit/>
          </a:bodyPr>
          <a:lstStyle/>
          <a:p>
            <a:pPr marL="90805">
              <a:lnSpc>
                <a:spcPts val="3600"/>
              </a:lnSpc>
            </a:pPr>
            <a:r>
              <a:rPr dirty="0" sz="3200" b="1" i="1">
                <a:latin typeface="Times New Roman"/>
                <a:cs typeface="Times New Roman"/>
              </a:rPr>
              <a:t>P</a:t>
            </a:r>
            <a:r>
              <a:rPr dirty="0" sz="3200" spc="-25" b="1" i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→</a:t>
            </a:r>
            <a:r>
              <a:rPr dirty="0" sz="2800" spc="-5" b="1">
                <a:latin typeface="Courier New"/>
                <a:cs typeface="Courier New"/>
              </a:rPr>
              <a:t>…</a:t>
            </a:r>
            <a:r>
              <a:rPr dirty="0" sz="2800" spc="-994" b="1">
                <a:latin typeface="Courier New"/>
                <a:cs typeface="Courier New"/>
              </a:rPr>
              <a:t> </a:t>
            </a:r>
            <a:r>
              <a:rPr dirty="0" sz="2800" spc="-5" b="1" i="1">
                <a:solidFill>
                  <a:srgbClr val="CC3300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 i="1">
                <a:latin typeface="Times New Roman"/>
                <a:cs typeface="Times New Roman"/>
              </a:rPr>
              <a:t>R</a:t>
            </a:r>
            <a:r>
              <a:rPr dirty="0" sz="2800" spc="-5" b="1">
                <a:latin typeface="Courier New"/>
                <a:cs typeface="Courier New"/>
              </a:rPr>
              <a:t>…</a:t>
            </a:r>
            <a:r>
              <a:rPr dirty="0" sz="2800" spc="-300" b="1">
                <a:latin typeface="Courier New"/>
                <a:cs typeface="Courier New"/>
              </a:rPr>
              <a:t> </a:t>
            </a:r>
            <a:r>
              <a:rPr dirty="0" sz="2800" spc="-15" b="1">
                <a:latin typeface="宋体"/>
                <a:cs typeface="宋体"/>
              </a:rPr>
              <a:t>且</a:t>
            </a:r>
            <a:r>
              <a:rPr dirty="0" sz="2800" spc="-715" b="1"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CC3300"/>
                </a:solidFill>
                <a:latin typeface="Times New Roman"/>
                <a:cs typeface="Times New Roman"/>
              </a:rPr>
              <a:t>FIRSTVT</a:t>
            </a:r>
            <a:r>
              <a:rPr dirty="0" sz="2800" spc="-5" b="1">
                <a:latin typeface="Times New Roman"/>
                <a:cs typeface="Times New Roman"/>
              </a:rPr>
              <a:t>(</a:t>
            </a:r>
            <a:r>
              <a:rPr dirty="0" sz="2800" spc="-5" b="1" i="1">
                <a:latin typeface="Times New Roman"/>
                <a:cs typeface="Times New Roman"/>
              </a:rPr>
              <a:t>R</a:t>
            </a:r>
            <a:r>
              <a:rPr dirty="0" sz="2800" spc="-5" b="1"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96511" y="6062471"/>
            <a:ext cx="4686300" cy="485140"/>
          </a:xfrm>
          <a:prstGeom prst="rect">
            <a:avLst/>
          </a:prstGeom>
          <a:solidFill>
            <a:srgbClr val="DDDDDD"/>
          </a:solidFill>
        </p:spPr>
        <p:txBody>
          <a:bodyPr wrap="square" lIns="0" tIns="0" rIns="0" bIns="0" rtlCol="0" vert="horz">
            <a:spAutoFit/>
          </a:bodyPr>
          <a:lstStyle/>
          <a:p>
            <a:pPr marL="90805">
              <a:lnSpc>
                <a:spcPts val="3610"/>
              </a:lnSpc>
            </a:pPr>
            <a:r>
              <a:rPr dirty="0" sz="3200" b="1" i="1">
                <a:latin typeface="Times New Roman"/>
                <a:cs typeface="Times New Roman"/>
              </a:rPr>
              <a:t>P</a:t>
            </a:r>
            <a:r>
              <a:rPr dirty="0" sz="3200" spc="-135" b="1" i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→</a:t>
            </a:r>
            <a:r>
              <a:rPr dirty="0" sz="2800" spc="-5" b="1">
                <a:latin typeface="Courier New"/>
                <a:cs typeface="Courier New"/>
              </a:rPr>
              <a:t>…</a:t>
            </a:r>
            <a:r>
              <a:rPr dirty="0" sz="2800" spc="-990" b="1">
                <a:latin typeface="Courier New"/>
                <a:cs typeface="Courier New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R</a:t>
            </a:r>
            <a:r>
              <a:rPr dirty="0" sz="2800" spc="-5" b="1" i="1">
                <a:solidFill>
                  <a:srgbClr val="CC3300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latin typeface="Courier New"/>
                <a:cs typeface="Courier New"/>
              </a:rPr>
              <a:t>…</a:t>
            </a:r>
            <a:r>
              <a:rPr dirty="0" sz="2800" spc="-285" b="1">
                <a:latin typeface="Courier New"/>
                <a:cs typeface="Courier New"/>
              </a:rPr>
              <a:t> </a:t>
            </a:r>
            <a:r>
              <a:rPr dirty="0" sz="2800" spc="-15" b="1">
                <a:latin typeface="宋体"/>
                <a:cs typeface="宋体"/>
              </a:rPr>
              <a:t>且</a:t>
            </a:r>
            <a:r>
              <a:rPr dirty="0" sz="2800" spc="-710" b="1">
                <a:latin typeface="宋体"/>
                <a:cs typeface="宋体"/>
              </a:rPr>
              <a:t> </a:t>
            </a:r>
            <a:r>
              <a:rPr dirty="0" sz="2800" spc="-10" b="1">
                <a:solidFill>
                  <a:srgbClr val="CC3300"/>
                </a:solidFill>
                <a:latin typeface="Times New Roman"/>
                <a:cs typeface="Times New Roman"/>
              </a:rPr>
              <a:t>LASTVT</a:t>
            </a:r>
            <a:r>
              <a:rPr dirty="0" sz="2800" spc="-10" b="1">
                <a:latin typeface="Times New Roman"/>
                <a:cs typeface="Times New Roman"/>
              </a:rPr>
              <a:t>(</a:t>
            </a:r>
            <a:r>
              <a:rPr dirty="0" sz="2800" spc="-10" b="1" i="1">
                <a:latin typeface="Times New Roman"/>
                <a:cs typeface="Times New Roman"/>
              </a:rPr>
              <a:t>R</a:t>
            </a:r>
            <a:r>
              <a:rPr dirty="0" sz="2800" spc="-10" b="1"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70203" y="1927860"/>
            <a:ext cx="5187950" cy="483234"/>
          </a:xfrm>
          <a:prstGeom prst="rect">
            <a:avLst/>
          </a:prstGeom>
          <a:solidFill>
            <a:srgbClr val="A73737"/>
          </a:solidFill>
        </p:spPr>
        <p:txBody>
          <a:bodyPr wrap="square" lIns="0" tIns="0" rIns="0" bIns="0" rtlCol="0" vert="horz">
            <a:spAutoFit/>
          </a:bodyPr>
          <a:lstStyle/>
          <a:p>
            <a:pPr marL="91440">
              <a:lnSpc>
                <a:spcPts val="3654"/>
              </a:lnSpc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加一产生式：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’</a:t>
            </a:r>
            <a:r>
              <a:rPr dirty="0" sz="3200" spc="-26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＃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＃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23748" y="26923"/>
            <a:ext cx="16294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09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33217" y="26923"/>
            <a:ext cx="232600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0065" algn="l"/>
              </a:tabLst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算符优先分析法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75528" y="26923"/>
            <a:ext cx="32842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05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算符优先分析与分析器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7334" y="398221"/>
            <a:ext cx="105791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5.8'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99310" y="314755"/>
            <a:ext cx="2578735" cy="2852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7620">
              <a:lnSpc>
                <a:spcPct val="117200"/>
              </a:lnSpc>
              <a:spcBef>
                <a:spcPts val="100"/>
              </a:spcBef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设文法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spc="-9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：  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P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’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→#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P</a:t>
            </a:r>
            <a:r>
              <a:rPr dirty="0" sz="3200" spc="-409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  <a:p>
            <a:pPr algn="just" marL="12700" marR="1107440" indent="93980">
              <a:lnSpc>
                <a:spcPct val="114999"/>
              </a:lnSpc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P 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spc="-10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Qa 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Q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 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Rb 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R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spc="-4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981955" y="1798320"/>
            <a:ext cx="3675888" cy="15590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981955" y="1646988"/>
            <a:ext cx="3676015" cy="1691005"/>
          </a:xfrm>
          <a:prstGeom prst="rect">
            <a:avLst/>
          </a:prstGeom>
        </p:spPr>
        <p:txBody>
          <a:bodyPr wrap="square" lIns="0" tIns="14097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1110"/>
              </a:spcBef>
            </a:pPr>
            <a:r>
              <a:rPr dirty="0" sz="2800" spc="-5" b="1">
                <a:latin typeface="Times New Roman"/>
                <a:cs typeface="Times New Roman"/>
              </a:rPr>
              <a:t>FIRSTVT(</a:t>
            </a:r>
            <a:r>
              <a:rPr dirty="0" sz="2800" spc="-5" b="1" i="1">
                <a:latin typeface="Times New Roman"/>
                <a:cs typeface="Times New Roman"/>
              </a:rPr>
              <a:t>P</a:t>
            </a:r>
            <a:r>
              <a:rPr dirty="0" sz="2800" spc="-5" b="1">
                <a:latin typeface="Times New Roman"/>
                <a:cs typeface="Times New Roman"/>
              </a:rPr>
              <a:t>)</a:t>
            </a:r>
            <a:r>
              <a:rPr dirty="0" sz="2800" spc="-5" b="1">
                <a:latin typeface="宋体"/>
                <a:cs typeface="宋体"/>
              </a:rPr>
              <a:t>＝</a:t>
            </a:r>
            <a:r>
              <a:rPr dirty="0" sz="2800" spc="-5" b="1">
                <a:latin typeface="Times New Roman"/>
                <a:cs typeface="Times New Roman"/>
              </a:rPr>
              <a:t>{</a:t>
            </a:r>
            <a:r>
              <a:rPr dirty="0" sz="2800" spc="-5" b="1" i="1">
                <a:latin typeface="Times New Roman"/>
                <a:cs typeface="Times New Roman"/>
              </a:rPr>
              <a:t>a</a:t>
            </a:r>
            <a:r>
              <a:rPr dirty="0" sz="2800" spc="-5" b="1">
                <a:latin typeface="Times New Roman"/>
                <a:cs typeface="Times New Roman"/>
              </a:rPr>
              <a:t>,</a:t>
            </a:r>
            <a:r>
              <a:rPr dirty="0" sz="2800" spc="25" b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b</a:t>
            </a:r>
            <a:r>
              <a:rPr dirty="0" sz="2800" spc="-5" b="1"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91440" marR="367665">
              <a:lnSpc>
                <a:spcPct val="130000"/>
              </a:lnSpc>
              <a:spcBef>
                <a:spcPts val="5"/>
              </a:spcBef>
            </a:pPr>
            <a:r>
              <a:rPr dirty="0" sz="2800" spc="-5" b="1">
                <a:latin typeface="Times New Roman"/>
                <a:cs typeface="Times New Roman"/>
              </a:rPr>
              <a:t>FIRSTVT(</a:t>
            </a:r>
            <a:r>
              <a:rPr dirty="0" sz="2800" spc="-5" b="1" i="1">
                <a:latin typeface="Times New Roman"/>
                <a:cs typeface="Times New Roman"/>
              </a:rPr>
              <a:t>Q</a:t>
            </a:r>
            <a:r>
              <a:rPr dirty="0" sz="2800" spc="-5" b="1">
                <a:latin typeface="Times New Roman"/>
                <a:cs typeface="Times New Roman"/>
              </a:rPr>
              <a:t>)</a:t>
            </a:r>
            <a:r>
              <a:rPr dirty="0" sz="2800" spc="-5" b="1">
                <a:latin typeface="宋体"/>
                <a:cs typeface="宋体"/>
              </a:rPr>
              <a:t>＝</a:t>
            </a:r>
            <a:r>
              <a:rPr dirty="0" sz="2800" spc="-5" b="1">
                <a:latin typeface="Times New Roman"/>
                <a:cs typeface="Times New Roman"/>
              </a:rPr>
              <a:t>{</a:t>
            </a:r>
            <a:r>
              <a:rPr dirty="0" sz="2800" spc="-5" b="1" i="1">
                <a:latin typeface="Times New Roman"/>
                <a:cs typeface="Times New Roman"/>
              </a:rPr>
              <a:t>a</a:t>
            </a:r>
            <a:r>
              <a:rPr dirty="0" sz="2800" spc="-5" b="1">
                <a:latin typeface="Times New Roman"/>
                <a:cs typeface="Times New Roman"/>
              </a:rPr>
              <a:t>, </a:t>
            </a:r>
            <a:r>
              <a:rPr dirty="0" sz="2800" b="1" i="1">
                <a:latin typeface="Times New Roman"/>
                <a:cs typeface="Times New Roman"/>
              </a:rPr>
              <a:t>b</a:t>
            </a:r>
            <a:r>
              <a:rPr dirty="0" sz="2800" b="1">
                <a:latin typeface="Times New Roman"/>
                <a:cs typeface="Times New Roman"/>
              </a:rPr>
              <a:t>}  </a:t>
            </a:r>
            <a:r>
              <a:rPr dirty="0" sz="2800" spc="-5" b="1">
                <a:latin typeface="Times New Roman"/>
                <a:cs typeface="Times New Roman"/>
              </a:rPr>
              <a:t>FIRSTVT(</a:t>
            </a:r>
            <a:r>
              <a:rPr dirty="0" sz="2800" spc="-5" b="1" i="1">
                <a:latin typeface="Times New Roman"/>
                <a:cs typeface="Times New Roman"/>
              </a:rPr>
              <a:t>R</a:t>
            </a:r>
            <a:r>
              <a:rPr dirty="0" sz="2800" spc="-5" b="1">
                <a:latin typeface="Times New Roman"/>
                <a:cs typeface="Times New Roman"/>
              </a:rPr>
              <a:t>)</a:t>
            </a:r>
            <a:r>
              <a:rPr dirty="0" sz="2800" spc="-5" b="1">
                <a:latin typeface="宋体"/>
                <a:cs typeface="宋体"/>
              </a:rPr>
              <a:t>＝</a:t>
            </a:r>
            <a:r>
              <a:rPr dirty="0" sz="2800" spc="-5" b="1">
                <a:latin typeface="Times New Roman"/>
                <a:cs typeface="Times New Roman"/>
              </a:rPr>
              <a:t>{</a:t>
            </a:r>
            <a:r>
              <a:rPr dirty="0" sz="2800" spc="-5" b="1" i="1">
                <a:latin typeface="Times New Roman"/>
                <a:cs typeface="Times New Roman"/>
              </a:rPr>
              <a:t>a</a:t>
            </a:r>
            <a:r>
              <a:rPr dirty="0" sz="2800" spc="-5" b="1"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029200" y="4248911"/>
            <a:ext cx="3677411" cy="15453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029200" y="4097807"/>
            <a:ext cx="3677920" cy="1689735"/>
          </a:xfrm>
          <a:prstGeom prst="rect">
            <a:avLst/>
          </a:prstGeom>
        </p:spPr>
        <p:txBody>
          <a:bodyPr wrap="square" lIns="0" tIns="14033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1105"/>
              </a:spcBef>
            </a:pPr>
            <a:r>
              <a:rPr dirty="0" sz="2800" spc="-5" b="1">
                <a:latin typeface="Times New Roman"/>
                <a:cs typeface="Times New Roman"/>
              </a:rPr>
              <a:t>LASTVT(</a:t>
            </a:r>
            <a:r>
              <a:rPr dirty="0" sz="2800" spc="-5" b="1" i="1">
                <a:latin typeface="Times New Roman"/>
                <a:cs typeface="Times New Roman"/>
              </a:rPr>
              <a:t>P</a:t>
            </a:r>
            <a:r>
              <a:rPr dirty="0" sz="2800" spc="-5" b="1">
                <a:latin typeface="Times New Roman"/>
                <a:cs typeface="Times New Roman"/>
              </a:rPr>
              <a:t>)</a:t>
            </a:r>
            <a:r>
              <a:rPr dirty="0" sz="2800" spc="-5" b="1">
                <a:latin typeface="宋体"/>
                <a:cs typeface="宋体"/>
              </a:rPr>
              <a:t>＝</a:t>
            </a:r>
            <a:r>
              <a:rPr dirty="0" sz="2800" spc="-5" b="1">
                <a:latin typeface="Times New Roman"/>
                <a:cs typeface="Times New Roman"/>
              </a:rPr>
              <a:t>{</a:t>
            </a:r>
            <a:r>
              <a:rPr dirty="0" sz="2800" spc="-5" b="1" i="1">
                <a:latin typeface="Times New Roman"/>
                <a:cs typeface="Times New Roman"/>
              </a:rPr>
              <a:t>a</a:t>
            </a:r>
            <a:r>
              <a:rPr dirty="0" sz="2800" spc="-5" b="1"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  <a:spcBef>
                <a:spcPts val="1010"/>
              </a:spcBef>
            </a:pPr>
            <a:r>
              <a:rPr dirty="0" sz="2800" spc="-5" b="1">
                <a:latin typeface="Times New Roman"/>
                <a:cs typeface="Times New Roman"/>
              </a:rPr>
              <a:t>LASTVT(</a:t>
            </a:r>
            <a:r>
              <a:rPr dirty="0" sz="2800" spc="-5" b="1" i="1">
                <a:latin typeface="Times New Roman"/>
                <a:cs typeface="Times New Roman"/>
              </a:rPr>
              <a:t>Q</a:t>
            </a:r>
            <a:r>
              <a:rPr dirty="0" sz="2800" spc="-5" b="1">
                <a:latin typeface="Times New Roman"/>
                <a:cs typeface="Times New Roman"/>
              </a:rPr>
              <a:t>)</a:t>
            </a:r>
            <a:r>
              <a:rPr dirty="0" sz="2800" spc="-5" b="1">
                <a:latin typeface="宋体"/>
                <a:cs typeface="宋体"/>
              </a:rPr>
              <a:t>＝</a:t>
            </a:r>
            <a:r>
              <a:rPr dirty="0" sz="2800" spc="-5" b="1">
                <a:latin typeface="Times New Roman"/>
                <a:cs typeface="Times New Roman"/>
              </a:rPr>
              <a:t>{</a:t>
            </a:r>
            <a:r>
              <a:rPr dirty="0" sz="2800" spc="-5" b="1" i="1">
                <a:latin typeface="Times New Roman"/>
                <a:cs typeface="Times New Roman"/>
              </a:rPr>
              <a:t>b</a:t>
            </a:r>
            <a:r>
              <a:rPr dirty="0" sz="2800" spc="-5" b="1"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  <a:spcBef>
                <a:spcPts val="1010"/>
              </a:spcBef>
            </a:pPr>
            <a:r>
              <a:rPr dirty="0" sz="2800" spc="-5" b="1">
                <a:latin typeface="Times New Roman"/>
                <a:cs typeface="Times New Roman"/>
              </a:rPr>
              <a:t>LASTVT(</a:t>
            </a:r>
            <a:r>
              <a:rPr dirty="0" sz="2800" spc="-5" b="1" i="1">
                <a:latin typeface="Times New Roman"/>
                <a:cs typeface="Times New Roman"/>
              </a:rPr>
              <a:t>R</a:t>
            </a:r>
            <a:r>
              <a:rPr dirty="0" sz="2800" spc="-5" b="1">
                <a:latin typeface="Times New Roman"/>
                <a:cs typeface="Times New Roman"/>
              </a:rPr>
              <a:t>)</a:t>
            </a:r>
            <a:r>
              <a:rPr dirty="0" sz="2800" spc="-5" b="1">
                <a:latin typeface="宋体"/>
                <a:cs typeface="宋体"/>
              </a:rPr>
              <a:t>＝</a:t>
            </a:r>
            <a:r>
              <a:rPr dirty="0" sz="2800" spc="-5" b="1">
                <a:latin typeface="Times New Roman"/>
                <a:cs typeface="Times New Roman"/>
              </a:rPr>
              <a:t>{</a:t>
            </a:r>
            <a:r>
              <a:rPr dirty="0" sz="2800" spc="-5" b="1" i="1">
                <a:latin typeface="Times New Roman"/>
                <a:cs typeface="Times New Roman"/>
              </a:rPr>
              <a:t>a</a:t>
            </a:r>
            <a:r>
              <a:rPr dirty="0" sz="2800" spc="-5" b="1"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44473" y="3915917"/>
            <a:ext cx="3619500" cy="0"/>
          </a:xfrm>
          <a:custGeom>
            <a:avLst/>
            <a:gdLst/>
            <a:ahLst/>
            <a:cxnLst/>
            <a:rect l="l" t="t" r="r" b="b"/>
            <a:pathLst>
              <a:path w="3619500" h="0">
                <a:moveTo>
                  <a:pt x="0" y="0"/>
                </a:moveTo>
                <a:lnTo>
                  <a:pt x="3619500" y="0"/>
                </a:lnTo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448561" y="3382517"/>
            <a:ext cx="0" cy="2451100"/>
          </a:xfrm>
          <a:custGeom>
            <a:avLst/>
            <a:gdLst/>
            <a:ahLst/>
            <a:cxnLst/>
            <a:rect l="l" t="t" r="r" b="b"/>
            <a:pathLst>
              <a:path w="0" h="2451100">
                <a:moveTo>
                  <a:pt x="0" y="0"/>
                </a:moveTo>
                <a:lnTo>
                  <a:pt x="0" y="2450592"/>
                </a:lnTo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2659126" y="3967734"/>
            <a:ext cx="34925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 i="1">
                <a:solidFill>
                  <a:srgbClr val="FFFF00"/>
                </a:solidFill>
                <a:latin typeface="Lucida Sans Unicode"/>
                <a:cs typeface="Lucida Sans Unicode"/>
              </a:rPr>
              <a:t>⋗</a:t>
            </a:r>
            <a:endParaRPr sz="320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241297" y="6188202"/>
            <a:ext cx="3122676" cy="52273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241297" y="6188202"/>
            <a:ext cx="3122930" cy="523240"/>
          </a:xfrm>
          <a:prstGeom prst="rect">
            <a:avLst/>
          </a:prstGeom>
          <a:ln w="38100">
            <a:solidFill>
              <a:srgbClr val="FF99CC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92405">
              <a:lnSpc>
                <a:spcPts val="3670"/>
              </a:lnSpc>
              <a:tabLst>
                <a:tab pos="701040" algn="l"/>
              </a:tabLst>
            </a:pPr>
            <a:r>
              <a:rPr dirty="0" sz="2800" spc="-5" b="1">
                <a:latin typeface="Symbol"/>
                <a:cs typeface="Symbol"/>
              </a:rPr>
              <a:t></a:t>
            </a:r>
            <a:r>
              <a:rPr dirty="0" sz="2800" spc="-5">
                <a:latin typeface="Times New Roman"/>
                <a:cs typeface="Times New Roman"/>
              </a:rPr>
              <a:t>	</a:t>
            </a:r>
            <a:r>
              <a:rPr dirty="0" sz="3200" b="1">
                <a:latin typeface="Times New Roman"/>
                <a:cs typeface="Times New Roman"/>
              </a:rPr>
              <a:t>G(</a:t>
            </a:r>
            <a:r>
              <a:rPr dirty="0" sz="3200" b="1" i="1">
                <a:latin typeface="Times New Roman"/>
                <a:cs typeface="Times New Roman"/>
              </a:rPr>
              <a:t>P</a:t>
            </a:r>
            <a:r>
              <a:rPr dirty="0" sz="3200" b="1">
                <a:latin typeface="Times New Roman"/>
                <a:cs typeface="Times New Roman"/>
              </a:rPr>
              <a:t>)</a:t>
            </a:r>
            <a:r>
              <a:rPr dirty="0" sz="3200" b="1">
                <a:latin typeface="宋体"/>
                <a:cs typeface="宋体"/>
              </a:rPr>
              <a:t>是</a:t>
            </a:r>
            <a:r>
              <a:rPr dirty="0" sz="3200" b="1">
                <a:latin typeface="Times New Roman"/>
                <a:cs typeface="Times New Roman"/>
              </a:rPr>
              <a:t>OPG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821842" y="3834144"/>
            <a:ext cx="2039620" cy="1900555"/>
          </a:xfrm>
          <a:prstGeom prst="rect">
            <a:avLst/>
          </a:prstGeom>
        </p:spPr>
        <p:txBody>
          <a:bodyPr wrap="square" lIns="0" tIns="167640" rIns="0" bIns="0" rtlCol="0" vert="horz">
            <a:spAutoFit/>
          </a:bodyPr>
          <a:lstStyle/>
          <a:p>
            <a:pPr marL="114300">
              <a:lnSpc>
                <a:spcPct val="100000"/>
              </a:lnSpc>
              <a:spcBef>
                <a:spcPts val="1320"/>
              </a:spcBef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  <a:p>
            <a:pPr marL="114300">
              <a:lnSpc>
                <a:spcPct val="100000"/>
              </a:lnSpc>
              <a:spcBef>
                <a:spcPts val="1230"/>
              </a:spcBef>
              <a:tabLst>
                <a:tab pos="973455" algn="l"/>
              </a:tabLst>
            </a:pPr>
            <a:r>
              <a:rPr dirty="0" baseline="1736" sz="4800" b="1" i="1">
                <a:solidFill>
                  <a:srgbClr val="FFFF00"/>
                </a:solidFill>
                <a:latin typeface="Times New Roman"/>
                <a:cs typeface="Times New Roman"/>
              </a:rPr>
              <a:t>b	</a:t>
            </a:r>
            <a:r>
              <a:rPr dirty="0" sz="3200" b="1" i="1">
                <a:solidFill>
                  <a:srgbClr val="FFFF00"/>
                </a:solidFill>
                <a:latin typeface="Lucida Sans Unicode"/>
                <a:cs typeface="Lucida Sans Unicode"/>
              </a:rPr>
              <a:t>⋗</a:t>
            </a:r>
            <a:endParaRPr sz="32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  <a:tabLst>
                <a:tab pos="991869" algn="l"/>
                <a:tab pos="1702435" algn="l"/>
              </a:tabLst>
            </a:pPr>
            <a:r>
              <a:rPr dirty="0" baseline="-5208" sz="4800" b="1" i="1">
                <a:solidFill>
                  <a:srgbClr val="FFFF00"/>
                </a:solidFill>
                <a:latin typeface="Times New Roman"/>
                <a:cs typeface="Times New Roman"/>
              </a:rPr>
              <a:t>#</a:t>
            </a:r>
            <a:r>
              <a:rPr dirty="0" baseline="-5208" sz="4800" b="1" i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3200" b="1" i="1">
                <a:solidFill>
                  <a:srgbClr val="FFFF00"/>
                </a:solidFill>
                <a:latin typeface="Lucida Sans Unicode"/>
                <a:cs typeface="Lucida Sans Unicode"/>
              </a:rPr>
              <a:t>⋖</a:t>
            </a:r>
            <a:r>
              <a:rPr dirty="0" sz="3200" b="1" i="1">
                <a:solidFill>
                  <a:srgbClr val="FFFF00"/>
                </a:solidFill>
                <a:latin typeface="Lucida Sans Unicode"/>
                <a:cs typeface="Lucida Sans Unicode"/>
              </a:rPr>
              <a:t>	</a:t>
            </a:r>
            <a:r>
              <a:rPr dirty="0" sz="3200" b="1" i="1">
                <a:solidFill>
                  <a:srgbClr val="FFFF00"/>
                </a:solidFill>
                <a:latin typeface="Lucida Sans Unicode"/>
                <a:cs typeface="Lucida Sans Unicode"/>
              </a:rPr>
              <a:t>⋖</a:t>
            </a:r>
            <a:endParaRPr sz="320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521202" y="5183835"/>
            <a:ext cx="34925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 i="1">
                <a:solidFill>
                  <a:srgbClr val="FFFF00"/>
                </a:solidFill>
                <a:latin typeface="Lucida Sans Unicode"/>
                <a:cs typeface="Lucida Sans Unicode"/>
              </a:rPr>
              <a:t>≐</a:t>
            </a:r>
            <a:endParaRPr sz="320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857501" y="3244123"/>
            <a:ext cx="1924050" cy="1196340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  <a:tabLst>
                <a:tab pos="824865" algn="l"/>
                <a:tab pos="1637664" algn="l"/>
              </a:tabLst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	b	#</a:t>
            </a:r>
            <a:endParaRPr sz="3200">
              <a:latin typeface="Times New Roman"/>
              <a:cs typeface="Times New Roman"/>
            </a:endParaRPr>
          </a:p>
          <a:p>
            <a:pPr algn="r" marR="5080">
              <a:lnSpc>
                <a:spcPct val="100000"/>
              </a:lnSpc>
              <a:spcBef>
                <a:spcPts val="770"/>
              </a:spcBef>
            </a:pPr>
            <a:r>
              <a:rPr dirty="0" sz="3200" b="1" i="1">
                <a:solidFill>
                  <a:srgbClr val="FFFF00"/>
                </a:solidFill>
                <a:latin typeface="Lucida Sans Unicode"/>
                <a:cs typeface="Lucida Sans Unicode"/>
              </a:rPr>
              <a:t>⋗</a:t>
            </a:r>
            <a:endParaRPr sz="32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77161" y="4813553"/>
            <a:ext cx="899160" cy="436245"/>
          </a:xfrm>
          <a:custGeom>
            <a:avLst/>
            <a:gdLst/>
            <a:ahLst/>
            <a:cxnLst/>
            <a:rect l="l" t="t" r="r" b="b"/>
            <a:pathLst>
              <a:path w="899160" h="436245">
                <a:moveTo>
                  <a:pt x="449580" y="0"/>
                </a:moveTo>
                <a:lnTo>
                  <a:pt x="388577" y="1988"/>
                </a:lnTo>
                <a:lnTo>
                  <a:pt x="330067" y="7782"/>
                </a:lnTo>
                <a:lnTo>
                  <a:pt x="274587" y="17121"/>
                </a:lnTo>
                <a:lnTo>
                  <a:pt x="222673" y="29746"/>
                </a:lnTo>
                <a:lnTo>
                  <a:pt x="174859" y="45398"/>
                </a:lnTo>
                <a:lnTo>
                  <a:pt x="131683" y="63817"/>
                </a:lnTo>
                <a:lnTo>
                  <a:pt x="93679" y="84745"/>
                </a:lnTo>
                <a:lnTo>
                  <a:pt x="61383" y="107921"/>
                </a:lnTo>
                <a:lnTo>
                  <a:pt x="16060" y="159984"/>
                </a:lnTo>
                <a:lnTo>
                  <a:pt x="0" y="217932"/>
                </a:lnTo>
                <a:lnTo>
                  <a:pt x="4104" y="247511"/>
                </a:lnTo>
                <a:lnTo>
                  <a:pt x="35331" y="302775"/>
                </a:lnTo>
                <a:lnTo>
                  <a:pt x="93679" y="351118"/>
                </a:lnTo>
                <a:lnTo>
                  <a:pt x="131683" y="372046"/>
                </a:lnTo>
                <a:lnTo>
                  <a:pt x="174859" y="390465"/>
                </a:lnTo>
                <a:lnTo>
                  <a:pt x="222673" y="406117"/>
                </a:lnTo>
                <a:lnTo>
                  <a:pt x="274587" y="418742"/>
                </a:lnTo>
                <a:lnTo>
                  <a:pt x="330067" y="428081"/>
                </a:lnTo>
                <a:lnTo>
                  <a:pt x="388577" y="433875"/>
                </a:lnTo>
                <a:lnTo>
                  <a:pt x="449580" y="435864"/>
                </a:lnTo>
                <a:lnTo>
                  <a:pt x="510582" y="433875"/>
                </a:lnTo>
                <a:lnTo>
                  <a:pt x="569092" y="428081"/>
                </a:lnTo>
                <a:lnTo>
                  <a:pt x="624572" y="418742"/>
                </a:lnTo>
                <a:lnTo>
                  <a:pt x="676486" y="406117"/>
                </a:lnTo>
                <a:lnTo>
                  <a:pt x="724300" y="390465"/>
                </a:lnTo>
                <a:lnTo>
                  <a:pt x="767476" y="372046"/>
                </a:lnTo>
                <a:lnTo>
                  <a:pt x="805480" y="351118"/>
                </a:lnTo>
                <a:lnTo>
                  <a:pt x="837776" y="327942"/>
                </a:lnTo>
                <a:lnTo>
                  <a:pt x="883099" y="275879"/>
                </a:lnTo>
                <a:lnTo>
                  <a:pt x="899160" y="217932"/>
                </a:lnTo>
                <a:lnTo>
                  <a:pt x="895055" y="188352"/>
                </a:lnTo>
                <a:lnTo>
                  <a:pt x="863828" y="133088"/>
                </a:lnTo>
                <a:lnTo>
                  <a:pt x="805480" y="84745"/>
                </a:lnTo>
                <a:lnTo>
                  <a:pt x="767476" y="63817"/>
                </a:lnTo>
                <a:lnTo>
                  <a:pt x="724300" y="45398"/>
                </a:lnTo>
                <a:lnTo>
                  <a:pt x="676486" y="29746"/>
                </a:lnTo>
                <a:lnTo>
                  <a:pt x="624572" y="17121"/>
                </a:lnTo>
                <a:lnTo>
                  <a:pt x="569092" y="7782"/>
                </a:lnTo>
                <a:lnTo>
                  <a:pt x="510582" y="1988"/>
                </a:lnTo>
                <a:lnTo>
                  <a:pt x="449580" y="0"/>
                </a:lnTo>
                <a:close/>
              </a:path>
            </a:pathLst>
          </a:custGeom>
          <a:solidFill>
            <a:srgbClr val="666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677161" y="4813553"/>
            <a:ext cx="899160" cy="436245"/>
          </a:xfrm>
          <a:custGeom>
            <a:avLst/>
            <a:gdLst/>
            <a:ahLst/>
            <a:cxnLst/>
            <a:rect l="l" t="t" r="r" b="b"/>
            <a:pathLst>
              <a:path w="899160" h="436245">
                <a:moveTo>
                  <a:pt x="0" y="217932"/>
                </a:moveTo>
                <a:lnTo>
                  <a:pt x="16060" y="159984"/>
                </a:lnTo>
                <a:lnTo>
                  <a:pt x="61383" y="107921"/>
                </a:lnTo>
                <a:lnTo>
                  <a:pt x="93679" y="84745"/>
                </a:lnTo>
                <a:lnTo>
                  <a:pt x="131683" y="63817"/>
                </a:lnTo>
                <a:lnTo>
                  <a:pt x="174859" y="45398"/>
                </a:lnTo>
                <a:lnTo>
                  <a:pt x="222673" y="29746"/>
                </a:lnTo>
                <a:lnTo>
                  <a:pt x="274587" y="17121"/>
                </a:lnTo>
                <a:lnTo>
                  <a:pt x="330067" y="7782"/>
                </a:lnTo>
                <a:lnTo>
                  <a:pt x="388577" y="1988"/>
                </a:lnTo>
                <a:lnTo>
                  <a:pt x="449580" y="0"/>
                </a:lnTo>
                <a:lnTo>
                  <a:pt x="510582" y="1988"/>
                </a:lnTo>
                <a:lnTo>
                  <a:pt x="569092" y="7782"/>
                </a:lnTo>
                <a:lnTo>
                  <a:pt x="624572" y="17121"/>
                </a:lnTo>
                <a:lnTo>
                  <a:pt x="676486" y="29746"/>
                </a:lnTo>
                <a:lnTo>
                  <a:pt x="724300" y="45398"/>
                </a:lnTo>
                <a:lnTo>
                  <a:pt x="767476" y="63817"/>
                </a:lnTo>
                <a:lnTo>
                  <a:pt x="805480" y="84745"/>
                </a:lnTo>
                <a:lnTo>
                  <a:pt x="837776" y="107921"/>
                </a:lnTo>
                <a:lnTo>
                  <a:pt x="883099" y="159984"/>
                </a:lnTo>
                <a:lnTo>
                  <a:pt x="899160" y="217932"/>
                </a:lnTo>
                <a:lnTo>
                  <a:pt x="895055" y="247511"/>
                </a:lnTo>
                <a:lnTo>
                  <a:pt x="863828" y="302775"/>
                </a:lnTo>
                <a:lnTo>
                  <a:pt x="805480" y="351118"/>
                </a:lnTo>
                <a:lnTo>
                  <a:pt x="767476" y="372046"/>
                </a:lnTo>
                <a:lnTo>
                  <a:pt x="724300" y="390465"/>
                </a:lnTo>
                <a:lnTo>
                  <a:pt x="676486" y="406117"/>
                </a:lnTo>
                <a:lnTo>
                  <a:pt x="624572" y="418742"/>
                </a:lnTo>
                <a:lnTo>
                  <a:pt x="569092" y="428081"/>
                </a:lnTo>
                <a:lnTo>
                  <a:pt x="510582" y="433875"/>
                </a:lnTo>
                <a:lnTo>
                  <a:pt x="449580" y="435864"/>
                </a:lnTo>
                <a:lnTo>
                  <a:pt x="388577" y="433875"/>
                </a:lnTo>
                <a:lnTo>
                  <a:pt x="330067" y="428081"/>
                </a:lnTo>
                <a:lnTo>
                  <a:pt x="274587" y="418742"/>
                </a:lnTo>
                <a:lnTo>
                  <a:pt x="222673" y="406117"/>
                </a:lnTo>
                <a:lnTo>
                  <a:pt x="174859" y="390465"/>
                </a:lnTo>
                <a:lnTo>
                  <a:pt x="131683" y="372046"/>
                </a:lnTo>
                <a:lnTo>
                  <a:pt x="93679" y="351118"/>
                </a:lnTo>
                <a:lnTo>
                  <a:pt x="61383" y="327942"/>
                </a:lnTo>
                <a:lnTo>
                  <a:pt x="16060" y="275879"/>
                </a:lnTo>
                <a:lnTo>
                  <a:pt x="0" y="21793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23748" y="26923"/>
            <a:ext cx="443547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21535" algn="l"/>
                <a:tab pos="2629535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算符优先分析法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75528" y="26923"/>
            <a:ext cx="32842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05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算符优先分析与分析器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54828" y="634644"/>
            <a:ext cx="3020695" cy="1689735"/>
          </a:xfrm>
          <a:prstGeom prst="rect">
            <a:avLst/>
          </a:prstGeom>
        </p:spPr>
        <p:txBody>
          <a:bodyPr wrap="square" lIns="0" tIns="140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LASTVT(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LASTVT(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LASTVT(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{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1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97813" y="4083558"/>
            <a:ext cx="3312160" cy="0"/>
          </a:xfrm>
          <a:custGeom>
            <a:avLst/>
            <a:gdLst/>
            <a:ahLst/>
            <a:cxnLst/>
            <a:rect l="l" t="t" r="r" b="b"/>
            <a:pathLst>
              <a:path w="3312160" h="0">
                <a:moveTo>
                  <a:pt x="0" y="0"/>
                </a:moveTo>
                <a:lnTo>
                  <a:pt x="3311652" y="0"/>
                </a:lnTo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501902" y="3550158"/>
            <a:ext cx="0" cy="2417445"/>
          </a:xfrm>
          <a:custGeom>
            <a:avLst/>
            <a:gdLst/>
            <a:ahLst/>
            <a:cxnLst/>
            <a:rect l="l" t="t" r="r" b="b"/>
            <a:pathLst>
              <a:path w="0" h="2417445">
                <a:moveTo>
                  <a:pt x="0" y="0"/>
                </a:moveTo>
                <a:lnTo>
                  <a:pt x="0" y="2417064"/>
                </a:lnTo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977900" y="4011937"/>
            <a:ext cx="229235" cy="19278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30000"/>
              </a:lnSpc>
              <a:spcBef>
                <a:spcPts val="95"/>
              </a:spcBef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 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995671" y="4732020"/>
            <a:ext cx="2078989" cy="1120140"/>
          </a:xfrm>
          <a:prstGeom prst="rect">
            <a:avLst/>
          </a:prstGeom>
          <a:solidFill>
            <a:srgbClr val="F3B4FB"/>
          </a:solidFill>
        </p:spPr>
        <p:txBody>
          <a:bodyPr wrap="square" lIns="0" tIns="0" rIns="0" bIns="0" rtlCol="0" vert="horz">
            <a:spAutoFit/>
          </a:bodyPr>
          <a:lstStyle/>
          <a:p>
            <a:pPr marL="92075">
              <a:lnSpc>
                <a:spcPts val="3670"/>
              </a:lnSpc>
            </a:pPr>
            <a:r>
              <a:rPr dirty="0" sz="3200" b="1">
                <a:latin typeface="宋体"/>
                <a:cs typeface="宋体"/>
              </a:rPr>
              <a:t>文法</a:t>
            </a:r>
            <a:r>
              <a:rPr dirty="0" sz="3200" b="1" i="1">
                <a:latin typeface="Times New Roman"/>
                <a:cs typeface="Times New Roman"/>
              </a:rPr>
              <a:t>G</a:t>
            </a:r>
            <a:r>
              <a:rPr dirty="0" sz="3200" b="1">
                <a:latin typeface="Times New Roman"/>
                <a:cs typeface="Times New Roman"/>
              </a:rPr>
              <a:t>(</a:t>
            </a:r>
            <a:r>
              <a:rPr dirty="0" sz="3200" b="1" i="1">
                <a:latin typeface="Times New Roman"/>
                <a:cs typeface="Times New Roman"/>
              </a:rPr>
              <a:t>P</a:t>
            </a:r>
            <a:r>
              <a:rPr dirty="0" sz="3200" b="1"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  <a:spcBef>
                <a:spcPts val="1150"/>
              </a:spcBef>
            </a:pPr>
            <a:r>
              <a:rPr dirty="0" sz="3200" b="1">
                <a:latin typeface="宋体"/>
                <a:cs typeface="宋体"/>
              </a:rPr>
              <a:t>是非</a:t>
            </a:r>
            <a:r>
              <a:rPr dirty="0" sz="3200" b="1">
                <a:latin typeface="Times New Roman"/>
                <a:cs typeface="Times New Roman"/>
              </a:rPr>
              <a:t>OPG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45429" y="2539570"/>
            <a:ext cx="3194050" cy="166941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just" marL="12700" marR="5080">
              <a:lnSpc>
                <a:spcPct val="124500"/>
              </a:lnSpc>
              <a:spcBef>
                <a:spcPts val="9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FIRSTVT(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P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＝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{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}  </a:t>
            </a:r>
            <a:r>
              <a:rPr dirty="0" sz="2800" spc="-20" b="1">
                <a:solidFill>
                  <a:srgbClr val="FFFF00"/>
                </a:solidFill>
                <a:latin typeface="Times New Roman"/>
                <a:cs typeface="Times New Roman"/>
              </a:rPr>
              <a:t>FIRSTVT(</a:t>
            </a:r>
            <a:r>
              <a:rPr dirty="0" sz="2950" spc="-20" b="1" i="1">
                <a:solidFill>
                  <a:srgbClr val="FFFF00"/>
                </a:solidFill>
                <a:latin typeface="宋体"/>
                <a:cs typeface="宋体"/>
              </a:rPr>
              <a:t>Ｑ</a:t>
            </a:r>
            <a:r>
              <a:rPr dirty="0" sz="2800" spc="-20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r>
              <a:rPr dirty="0" sz="2800" spc="-20" b="1">
                <a:solidFill>
                  <a:srgbClr val="FFFF00"/>
                </a:solidFill>
                <a:latin typeface="宋体"/>
                <a:cs typeface="宋体"/>
              </a:rPr>
              <a:t>＝</a:t>
            </a:r>
            <a:r>
              <a:rPr dirty="0" sz="2800" spc="-20" b="1">
                <a:solidFill>
                  <a:srgbClr val="FFFF00"/>
                </a:solidFill>
                <a:latin typeface="Times New Roman"/>
                <a:cs typeface="Times New Roman"/>
              </a:rPr>
              <a:t>{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b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}  </a:t>
            </a:r>
            <a:r>
              <a:rPr dirty="0" sz="2800" spc="-20" b="1">
                <a:solidFill>
                  <a:srgbClr val="FFFF00"/>
                </a:solidFill>
                <a:latin typeface="Times New Roman"/>
                <a:cs typeface="Times New Roman"/>
              </a:rPr>
              <a:t>FIRSTVT(</a:t>
            </a:r>
            <a:r>
              <a:rPr dirty="0" sz="2950" spc="-20" b="1" i="1">
                <a:solidFill>
                  <a:srgbClr val="FFFF00"/>
                </a:solidFill>
                <a:latin typeface="宋体"/>
                <a:cs typeface="宋体"/>
              </a:rPr>
              <a:t>Ｒ</a:t>
            </a:r>
            <a:r>
              <a:rPr dirty="0" sz="2800" spc="-20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r>
              <a:rPr dirty="0" sz="2800" spc="-20" b="1">
                <a:solidFill>
                  <a:srgbClr val="FFFF00"/>
                </a:solidFill>
                <a:latin typeface="宋体"/>
                <a:cs typeface="宋体"/>
              </a:rPr>
              <a:t>＝</a:t>
            </a:r>
            <a:r>
              <a:rPr dirty="0" sz="2800" spc="-20" b="1">
                <a:solidFill>
                  <a:srgbClr val="FFFF00"/>
                </a:solidFill>
                <a:latin typeface="Times New Roman"/>
                <a:cs typeface="Times New Roman"/>
              </a:rPr>
              <a:t>{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800" spc="1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6814" y="495426"/>
            <a:ext cx="117094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5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.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8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'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'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69185" y="411962"/>
            <a:ext cx="2569210" cy="36112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95580" marR="5080" indent="-182880">
              <a:lnSpc>
                <a:spcPct val="117200"/>
              </a:lnSpc>
              <a:spcBef>
                <a:spcPts val="10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设文法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spc="-1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：  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P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’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→#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P</a:t>
            </a:r>
            <a:r>
              <a:rPr dirty="0" sz="3200" spc="-40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  <a:p>
            <a:pPr algn="just" marL="94615" marR="1015365" indent="93980">
              <a:lnSpc>
                <a:spcPct val="114999"/>
              </a:lnSpc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P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spc="-9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Qa 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Q 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→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bR 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R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spc="-4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  <a:p>
            <a:pPr algn="just" marL="54610">
              <a:lnSpc>
                <a:spcPct val="100000"/>
              </a:lnSpc>
              <a:spcBef>
                <a:spcPts val="2135"/>
              </a:spcBef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 b</a:t>
            </a:r>
            <a:r>
              <a:rPr dirty="0" sz="3200" spc="73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521202" y="5385612"/>
            <a:ext cx="34925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 i="1">
                <a:solidFill>
                  <a:srgbClr val="FFFF00"/>
                </a:solidFill>
                <a:latin typeface="Lucida Sans Unicode"/>
                <a:cs typeface="Lucida Sans Unicode"/>
              </a:rPr>
              <a:t>≐</a:t>
            </a:r>
            <a:endParaRPr sz="3200"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55394" y="4088673"/>
            <a:ext cx="1153160" cy="1799589"/>
          </a:xfrm>
          <a:prstGeom prst="rect">
            <a:avLst/>
          </a:prstGeom>
        </p:spPr>
        <p:txBody>
          <a:bodyPr wrap="square" lIns="0" tIns="96520" rIns="0" bIns="0" rtlCol="0" vert="horz">
            <a:spAutoFit/>
          </a:bodyPr>
          <a:lstStyle/>
          <a:p>
            <a:pPr marL="142875">
              <a:lnSpc>
                <a:spcPct val="100000"/>
              </a:lnSpc>
              <a:spcBef>
                <a:spcPts val="760"/>
              </a:spcBef>
            </a:pPr>
            <a:r>
              <a:rPr dirty="0" sz="2800" spc="-5" b="1" i="1">
                <a:solidFill>
                  <a:srgbClr val="FFFFFF"/>
                </a:solidFill>
                <a:latin typeface="Lucida Sans Unicode"/>
                <a:cs typeface="Lucida Sans Unicode"/>
              </a:rPr>
              <a:t>⋗</a:t>
            </a:r>
            <a:endParaRPr sz="28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dirty="0" baseline="-3968" sz="4200" spc="-7" b="1" i="1">
                <a:solidFill>
                  <a:srgbClr val="FFFFFF"/>
                </a:solidFill>
                <a:latin typeface="Lucida Sans Unicode"/>
                <a:cs typeface="Lucida Sans Unicode"/>
              </a:rPr>
              <a:t>⋗</a:t>
            </a:r>
            <a:r>
              <a:rPr dirty="0" baseline="-3968" sz="4200" spc="-359" b="1" i="1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45" b="1">
                <a:solidFill>
                  <a:srgbClr val="FFFFFF"/>
                </a:solidFill>
                <a:latin typeface="Cambria Math"/>
                <a:cs typeface="Cambria Math"/>
              </a:rPr>
              <a:t>⋖</a:t>
            </a:r>
            <a:endParaRPr sz="3200">
              <a:latin typeface="Cambria Math"/>
              <a:cs typeface="Cambria Math"/>
            </a:endParaRPr>
          </a:p>
          <a:p>
            <a:pPr marL="106680">
              <a:lnSpc>
                <a:spcPct val="100000"/>
              </a:lnSpc>
              <a:spcBef>
                <a:spcPts val="1505"/>
              </a:spcBef>
              <a:tabLst>
                <a:tab pos="815975" algn="l"/>
              </a:tabLst>
            </a:pPr>
            <a:r>
              <a:rPr dirty="0" sz="3200" b="1" i="1">
                <a:solidFill>
                  <a:srgbClr val="FFFF00"/>
                </a:solidFill>
                <a:latin typeface="Lucida Sans Unicode"/>
                <a:cs typeface="Lucida Sans Unicode"/>
              </a:rPr>
              <a:t>⋖</a:t>
            </a:r>
            <a:r>
              <a:rPr dirty="0" sz="3200" b="1" i="1">
                <a:solidFill>
                  <a:srgbClr val="FFFF00"/>
                </a:solidFill>
                <a:latin typeface="Lucida Sans Unicode"/>
                <a:cs typeface="Lucida Sans Unicode"/>
              </a:rPr>
              <a:t>	</a:t>
            </a:r>
            <a:r>
              <a:rPr dirty="0" sz="3200" b="1" i="1">
                <a:solidFill>
                  <a:srgbClr val="FFFF00"/>
                </a:solidFill>
                <a:latin typeface="Lucida Sans Unicode"/>
                <a:cs typeface="Lucida Sans Unicode"/>
              </a:rPr>
              <a:t>⋖</a:t>
            </a:r>
            <a:endParaRPr sz="320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432175" y="4128008"/>
            <a:ext cx="34925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 i="1">
                <a:solidFill>
                  <a:srgbClr val="FFFF00"/>
                </a:solidFill>
                <a:latin typeface="Lucida Sans Unicode"/>
                <a:cs typeface="Lucida Sans Unicode"/>
              </a:rPr>
              <a:t>⋗</a:t>
            </a:r>
            <a:endParaRPr sz="32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39366" y="2040763"/>
            <a:ext cx="6963409" cy="27698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lvl="2" marL="1236345" indent="-1224280">
              <a:lnSpc>
                <a:spcPct val="100000"/>
              </a:lnSpc>
              <a:spcBef>
                <a:spcPts val="105"/>
              </a:spcBef>
              <a:buFont typeface="Times New Roman"/>
              <a:buAutoNum type="arabicPeriod"/>
              <a:tabLst>
                <a:tab pos="1236345" algn="l"/>
                <a:tab pos="1236980" algn="l"/>
              </a:tabLst>
            </a:pPr>
            <a:r>
              <a:rPr dirty="0" sz="3200" b="1">
                <a:solidFill>
                  <a:srgbClr val="FFFF69"/>
                </a:solidFill>
                <a:latin typeface="宋体"/>
                <a:cs typeface="宋体"/>
              </a:rPr>
              <a:t>直观的算符优先分</a:t>
            </a:r>
            <a:r>
              <a:rPr dirty="0" sz="3200" spc="-15" b="1">
                <a:solidFill>
                  <a:srgbClr val="FFFF69"/>
                </a:solidFill>
                <a:latin typeface="宋体"/>
                <a:cs typeface="宋体"/>
              </a:rPr>
              <a:t>析</a:t>
            </a:r>
            <a:r>
              <a:rPr dirty="0" sz="3200" spc="-10" b="1">
                <a:solidFill>
                  <a:srgbClr val="FFFF69"/>
                </a:solidFill>
                <a:latin typeface="宋体"/>
                <a:cs typeface="宋体"/>
              </a:rPr>
              <a:t>法</a:t>
            </a:r>
            <a:endParaRPr sz="3200">
              <a:latin typeface="宋体"/>
              <a:cs typeface="宋体"/>
            </a:endParaRPr>
          </a:p>
          <a:p>
            <a:pPr lvl="2" marL="1236345" indent="-1224280">
              <a:lnSpc>
                <a:spcPct val="100000"/>
              </a:lnSpc>
              <a:spcBef>
                <a:spcPts val="2300"/>
              </a:spcBef>
              <a:buFont typeface="Times New Roman"/>
              <a:buAutoNum type="arabicPeriod"/>
              <a:tabLst>
                <a:tab pos="1236345" algn="l"/>
                <a:tab pos="1236980" algn="l"/>
              </a:tabLst>
            </a:pPr>
            <a:r>
              <a:rPr dirty="0" sz="3200" spc="-5" b="1">
                <a:solidFill>
                  <a:srgbClr val="FFFF69"/>
                </a:solidFill>
                <a:latin typeface="宋体"/>
                <a:cs typeface="宋体"/>
              </a:rPr>
              <a:t>算符优先分析与算</a:t>
            </a:r>
            <a:r>
              <a:rPr dirty="0" sz="3200" spc="-15" b="1">
                <a:solidFill>
                  <a:srgbClr val="FFFF69"/>
                </a:solidFill>
                <a:latin typeface="宋体"/>
                <a:cs typeface="宋体"/>
              </a:rPr>
              <a:t>符</a:t>
            </a:r>
            <a:r>
              <a:rPr dirty="0" sz="3200" spc="-5" b="1">
                <a:solidFill>
                  <a:srgbClr val="FFFF69"/>
                </a:solidFill>
                <a:latin typeface="宋体"/>
                <a:cs typeface="宋体"/>
              </a:rPr>
              <a:t>优先分</a:t>
            </a:r>
            <a:r>
              <a:rPr dirty="0" sz="3200" spc="-15" b="1">
                <a:solidFill>
                  <a:srgbClr val="FFFF69"/>
                </a:solidFill>
                <a:latin typeface="宋体"/>
                <a:cs typeface="宋体"/>
              </a:rPr>
              <a:t>析</a:t>
            </a:r>
            <a:r>
              <a:rPr dirty="0" sz="3200" spc="-10" b="1">
                <a:solidFill>
                  <a:srgbClr val="FFFF69"/>
                </a:solidFill>
                <a:latin typeface="宋体"/>
                <a:cs typeface="宋体"/>
              </a:rPr>
              <a:t>器</a:t>
            </a:r>
            <a:endParaRPr sz="3200">
              <a:latin typeface="宋体"/>
              <a:cs typeface="宋体"/>
            </a:endParaRPr>
          </a:p>
          <a:p>
            <a:pPr lvl="2" marL="1236345" indent="-1224280">
              <a:lnSpc>
                <a:spcPct val="100000"/>
              </a:lnSpc>
              <a:spcBef>
                <a:spcPts val="2020"/>
              </a:spcBef>
              <a:buClr>
                <a:srgbClr val="FFFF00"/>
              </a:buClr>
              <a:buFont typeface="Times New Roman"/>
              <a:buAutoNum type="arabicPeriod"/>
              <a:tabLst>
                <a:tab pos="1236345" algn="l"/>
                <a:tab pos="1236980" algn="l"/>
              </a:tabLst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算符优先分析法实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现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的理论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探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讨</a:t>
            </a:r>
            <a:endParaRPr sz="3200">
              <a:latin typeface="宋体"/>
              <a:cs typeface="宋体"/>
            </a:endParaRPr>
          </a:p>
          <a:p>
            <a:pPr lvl="2" marL="1236345" indent="-1224280">
              <a:lnSpc>
                <a:spcPct val="100000"/>
              </a:lnSpc>
              <a:spcBef>
                <a:spcPts val="1920"/>
              </a:spcBef>
              <a:buClr>
                <a:srgbClr val="FFFF00"/>
              </a:buClr>
              <a:buFont typeface="Times New Roman"/>
              <a:buAutoNum type="arabicPeriod"/>
              <a:tabLst>
                <a:tab pos="1236345" algn="l"/>
                <a:tab pos="1236980" algn="l"/>
              </a:tabLst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优先函数表的构造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577464" y="26923"/>
            <a:ext cx="16294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09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87315" y="26923"/>
            <a:ext cx="232537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0065" algn="l"/>
              </a:tabLst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算符优先分析法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15290" y="3632453"/>
            <a:ext cx="1045463" cy="5593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15290" y="3632453"/>
            <a:ext cx="1045844" cy="559435"/>
          </a:xfrm>
          <a:custGeom>
            <a:avLst/>
            <a:gdLst/>
            <a:ahLst/>
            <a:cxnLst/>
            <a:rect l="l" t="t" r="r" b="b"/>
            <a:pathLst>
              <a:path w="1045844" h="559435">
                <a:moveTo>
                  <a:pt x="0" y="139827"/>
                </a:moveTo>
                <a:lnTo>
                  <a:pt x="737095" y="139827"/>
                </a:lnTo>
                <a:lnTo>
                  <a:pt x="737095" y="0"/>
                </a:lnTo>
                <a:lnTo>
                  <a:pt x="1045463" y="279654"/>
                </a:lnTo>
                <a:lnTo>
                  <a:pt x="737095" y="559308"/>
                </a:lnTo>
                <a:lnTo>
                  <a:pt x="737095" y="419481"/>
                </a:lnTo>
                <a:lnTo>
                  <a:pt x="0" y="419481"/>
                </a:lnTo>
                <a:lnTo>
                  <a:pt x="0" y="139827"/>
                </a:lnTo>
                <a:close/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69240" y="26923"/>
            <a:ext cx="832929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2059305" algn="l"/>
                <a:tab pos="2567305" algn="l"/>
                <a:tab pos="4801870" algn="l"/>
                <a:tab pos="5499735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算符优先分析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法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算符优先分析法理论探讨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55142" y="772795"/>
            <a:ext cx="1770380" cy="587375"/>
          </a:xfrm>
          <a:prstGeom prst="rect"/>
        </p:spPr>
        <p:txBody>
          <a:bodyPr wrap="square" lIns="0" tIns="74295" rIns="0" bIns="0" rtlCol="0" vert="horz">
            <a:spAutoFit/>
          </a:bodyPr>
          <a:lstStyle/>
          <a:p>
            <a:pPr marL="429895" indent="-417830">
              <a:lnSpc>
                <a:spcPct val="100000"/>
              </a:lnSpc>
              <a:spcBef>
                <a:spcPts val="585"/>
              </a:spcBef>
              <a:buClr>
                <a:srgbClr val="99FF99"/>
              </a:buClr>
              <a:buSzPct val="114062"/>
              <a:buFont typeface="Wingdings"/>
              <a:buChar char=""/>
              <a:tabLst>
                <a:tab pos="429895" algn="l"/>
                <a:tab pos="430530" algn="l"/>
              </a:tabLst>
            </a:pPr>
            <a:r>
              <a:rPr dirty="0" sz="3200">
                <a:solidFill>
                  <a:srgbClr val="FFFF15"/>
                </a:solidFill>
              </a:rPr>
              <a:t>定义</a:t>
            </a:r>
            <a:r>
              <a:rPr dirty="0" sz="3200" spc="5">
                <a:solidFill>
                  <a:srgbClr val="FFFF15"/>
                </a:solidFill>
                <a:latin typeface="Times New Roman"/>
                <a:cs typeface="Times New Roman"/>
              </a:rPr>
              <a:t>5</a:t>
            </a:r>
            <a:r>
              <a:rPr dirty="0" sz="3200">
                <a:solidFill>
                  <a:srgbClr val="FFFF15"/>
                </a:solidFill>
                <a:latin typeface="Times New Roman"/>
                <a:cs typeface="Times New Roman"/>
              </a:rPr>
              <a:t>.7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5142" y="1336568"/>
            <a:ext cx="7787640" cy="4521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94945">
              <a:lnSpc>
                <a:spcPct val="109900"/>
              </a:lnSpc>
              <a:spcBef>
                <a:spcPts val="95"/>
              </a:spcBef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设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是一个算符文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3200" spc="-4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350" spc="-45" b="1" i="1">
                <a:solidFill>
                  <a:srgbClr val="FFFFFF"/>
                </a:solidFill>
                <a:latin typeface="Symbol"/>
                <a:cs typeface="Symbol"/>
              </a:rPr>
              <a:t>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是句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型</a:t>
            </a:r>
            <a:r>
              <a:rPr dirty="0" sz="3350" spc="-85" b="1" i="1">
                <a:solidFill>
                  <a:srgbClr val="FFFFFF"/>
                </a:solidFill>
                <a:latin typeface="Symbol"/>
                <a:cs typeface="Symbol"/>
              </a:rPr>
              <a:t>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关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于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 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短语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且</a:t>
            </a:r>
            <a:r>
              <a:rPr dirty="0" sz="3350" spc="-70" b="1" i="1">
                <a:solidFill>
                  <a:srgbClr val="FFFFFF"/>
                </a:solidFill>
                <a:latin typeface="Symbol"/>
                <a:cs typeface="Symbol"/>
              </a:rPr>
              <a:t>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含有至少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一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个终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结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符</a:t>
            </a:r>
            <a:r>
              <a:rPr dirty="0" sz="3200" spc="20" b="1">
                <a:solidFill>
                  <a:srgbClr val="FFFF00"/>
                </a:solidFill>
                <a:latin typeface="宋体"/>
                <a:cs typeface="宋体"/>
              </a:rPr>
              <a:t>号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并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且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除</a:t>
            </a:r>
            <a:endParaRPr sz="3200">
              <a:latin typeface="宋体"/>
              <a:cs typeface="宋体"/>
            </a:endParaRPr>
          </a:p>
          <a:p>
            <a:pPr marL="12700" marR="5080">
              <a:lnSpc>
                <a:spcPct val="111100"/>
              </a:lnSpc>
              <a:spcBef>
                <a:spcPts val="12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自身外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不再含有任何更小的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带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终结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符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号的短 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语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，则</a:t>
            </a:r>
            <a:r>
              <a:rPr dirty="0" sz="3350" spc="-70" b="1" i="1">
                <a:solidFill>
                  <a:srgbClr val="FFFFFF"/>
                </a:solidFill>
                <a:latin typeface="Symbol"/>
                <a:cs typeface="Symbol"/>
              </a:rPr>
              <a:t>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是句型</a:t>
            </a:r>
            <a:r>
              <a:rPr dirty="0" sz="3350" spc="-80" b="1" i="1">
                <a:solidFill>
                  <a:srgbClr val="FFFFFF"/>
                </a:solidFill>
                <a:latin typeface="Symbol"/>
                <a:cs typeface="Symbol"/>
              </a:rPr>
              <a:t>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关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于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的素短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语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900">
              <a:latin typeface="宋体"/>
              <a:cs typeface="宋体"/>
            </a:endParaRPr>
          </a:p>
          <a:p>
            <a:pPr marL="429895" indent="-417830">
              <a:lnSpc>
                <a:spcPct val="100000"/>
              </a:lnSpc>
              <a:buClr>
                <a:srgbClr val="99FF99"/>
              </a:buClr>
              <a:buSzPct val="114062"/>
              <a:buFont typeface="Wingdings"/>
              <a:buChar char=""/>
              <a:tabLst>
                <a:tab pos="429895" algn="l"/>
                <a:tab pos="430530" algn="l"/>
              </a:tabLst>
            </a:pPr>
            <a:r>
              <a:rPr dirty="0" sz="3200" b="1">
                <a:solidFill>
                  <a:srgbClr val="FFFF15"/>
                </a:solidFill>
                <a:latin typeface="宋体"/>
                <a:cs typeface="宋体"/>
              </a:rPr>
              <a:t>定义</a:t>
            </a:r>
            <a:r>
              <a:rPr dirty="0" sz="3200" b="1">
                <a:solidFill>
                  <a:srgbClr val="FFFF15"/>
                </a:solidFill>
                <a:latin typeface="Times New Roman"/>
                <a:cs typeface="Times New Roman"/>
              </a:rPr>
              <a:t>5.8</a:t>
            </a:r>
            <a:endParaRPr sz="3200">
              <a:latin typeface="Times New Roman"/>
              <a:cs typeface="Times New Roman"/>
            </a:endParaRPr>
          </a:p>
          <a:p>
            <a:pPr marL="12700" marR="277495" indent="408305">
              <a:lnSpc>
                <a:spcPts val="5160"/>
              </a:lnSpc>
              <a:spcBef>
                <a:spcPts val="22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文法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的句型</a:t>
            </a:r>
            <a:r>
              <a:rPr dirty="0" sz="3350" spc="-9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的最左边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素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短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语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最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左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素短语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69240" y="26923"/>
            <a:ext cx="832929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2059305" algn="l"/>
                <a:tab pos="2567305" algn="l"/>
                <a:tab pos="4801870" algn="l"/>
                <a:tab pos="5499735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算符优先分析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法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算符优先分析法理论探讨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26817" y="4943094"/>
            <a:ext cx="2425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98619" y="2113533"/>
            <a:ext cx="26225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DDDDDD"/>
                </a:solidFill>
                <a:latin typeface="Times New Roman"/>
                <a:cs typeface="Times New Roman"/>
              </a:rPr>
              <a:t>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34815" y="2988005"/>
            <a:ext cx="26289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DDDDDD"/>
                </a:solidFill>
                <a:latin typeface="Times New Roman"/>
                <a:cs typeface="Times New Roman"/>
              </a:rPr>
              <a:t>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98619" y="2988005"/>
            <a:ext cx="22796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64200" y="2988005"/>
            <a:ext cx="2425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DDDDDD"/>
                </a:solidFill>
                <a:latin typeface="Times New Roman"/>
                <a:cs typeface="Times New Roman"/>
              </a:rPr>
              <a:t>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115561" y="2684526"/>
            <a:ext cx="577850" cy="292735"/>
          </a:xfrm>
          <a:custGeom>
            <a:avLst/>
            <a:gdLst/>
            <a:ahLst/>
            <a:cxnLst/>
            <a:rect l="l" t="t" r="r" b="b"/>
            <a:pathLst>
              <a:path w="577850" h="292735">
                <a:moveTo>
                  <a:pt x="577596" y="0"/>
                </a:moveTo>
                <a:lnTo>
                  <a:pt x="0" y="292608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886705" y="2684526"/>
            <a:ext cx="0" cy="292735"/>
          </a:xfrm>
          <a:custGeom>
            <a:avLst/>
            <a:gdLst/>
            <a:ahLst/>
            <a:cxnLst/>
            <a:rect l="l" t="t" r="r" b="b"/>
            <a:pathLst>
              <a:path w="0" h="292735">
                <a:moveTo>
                  <a:pt x="0" y="0"/>
                </a:moveTo>
                <a:lnTo>
                  <a:pt x="0" y="292608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078729" y="2684526"/>
            <a:ext cx="581025" cy="292735"/>
          </a:xfrm>
          <a:custGeom>
            <a:avLst/>
            <a:gdLst/>
            <a:ahLst/>
            <a:cxnLst/>
            <a:rect l="l" t="t" r="r" b="b"/>
            <a:pathLst>
              <a:path w="581025" h="292735">
                <a:moveTo>
                  <a:pt x="0" y="0"/>
                </a:moveTo>
                <a:lnTo>
                  <a:pt x="580644" y="292608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2777489" y="4010914"/>
            <a:ext cx="207772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39165" algn="l"/>
                <a:tab pos="1847850" algn="l"/>
              </a:tabLst>
            </a:pPr>
            <a:r>
              <a:rPr dirty="0" sz="2800" spc="-5" b="1" i="1">
                <a:solidFill>
                  <a:srgbClr val="DDDDDD"/>
                </a:solidFill>
                <a:latin typeface="Times New Roman"/>
                <a:cs typeface="Times New Roman"/>
              </a:rPr>
              <a:t>E</a:t>
            </a:r>
            <a:r>
              <a:rPr dirty="0" sz="2800" spc="-5" b="1" i="1">
                <a:solidFill>
                  <a:srgbClr val="DDDDDD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 i="1">
                <a:solidFill>
                  <a:srgbClr val="DDDDDD"/>
                </a:solidFill>
                <a:latin typeface="Times New Roman"/>
                <a:cs typeface="Times New Roman"/>
              </a:rPr>
              <a:t>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064001" y="3559302"/>
            <a:ext cx="579120" cy="440690"/>
          </a:xfrm>
          <a:custGeom>
            <a:avLst/>
            <a:gdLst/>
            <a:ahLst/>
            <a:cxnLst/>
            <a:rect l="l" t="t" r="r" b="b"/>
            <a:pathLst>
              <a:path w="579120" h="440689">
                <a:moveTo>
                  <a:pt x="579120" y="0"/>
                </a:moveTo>
                <a:lnTo>
                  <a:pt x="0" y="440436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836670" y="3559302"/>
            <a:ext cx="0" cy="440690"/>
          </a:xfrm>
          <a:custGeom>
            <a:avLst/>
            <a:gdLst/>
            <a:ahLst/>
            <a:cxnLst/>
            <a:rect l="l" t="t" r="r" b="b"/>
            <a:pathLst>
              <a:path w="0" h="440689">
                <a:moveTo>
                  <a:pt x="0" y="0"/>
                </a:moveTo>
                <a:lnTo>
                  <a:pt x="0" y="440436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028694" y="3559302"/>
            <a:ext cx="579120" cy="440690"/>
          </a:xfrm>
          <a:custGeom>
            <a:avLst/>
            <a:gdLst/>
            <a:ahLst/>
            <a:cxnLst/>
            <a:rect l="l" t="t" r="r" b="b"/>
            <a:pathLst>
              <a:path w="579120" h="440689">
                <a:moveTo>
                  <a:pt x="0" y="0"/>
                </a:moveTo>
                <a:lnTo>
                  <a:pt x="579119" y="440436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4011167" y="5055870"/>
            <a:ext cx="135509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691515" algn="l"/>
                <a:tab pos="1104900" algn="l"/>
              </a:tabLst>
            </a:pP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T</a:t>
            </a: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*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F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214621" y="4548378"/>
            <a:ext cx="361315" cy="518159"/>
          </a:xfrm>
          <a:custGeom>
            <a:avLst/>
            <a:gdLst/>
            <a:ahLst/>
            <a:cxnLst/>
            <a:rect l="l" t="t" r="r" b="b"/>
            <a:pathLst>
              <a:path w="361314" h="518160">
                <a:moveTo>
                  <a:pt x="361188" y="0"/>
                </a:moveTo>
                <a:lnTo>
                  <a:pt x="0" y="51816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767834" y="4548378"/>
            <a:ext cx="0" cy="475615"/>
          </a:xfrm>
          <a:custGeom>
            <a:avLst/>
            <a:gdLst/>
            <a:ahLst/>
            <a:cxnLst/>
            <a:rect l="l" t="t" r="r" b="b"/>
            <a:pathLst>
              <a:path w="0" h="475614">
                <a:moveTo>
                  <a:pt x="0" y="0"/>
                </a:moveTo>
                <a:lnTo>
                  <a:pt x="0" y="475488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961382" y="4548378"/>
            <a:ext cx="154305" cy="551815"/>
          </a:xfrm>
          <a:custGeom>
            <a:avLst/>
            <a:gdLst/>
            <a:ahLst/>
            <a:cxnLst/>
            <a:rect l="l" t="t" r="r" b="b"/>
            <a:pathLst>
              <a:path w="154304" h="551814">
                <a:moveTo>
                  <a:pt x="0" y="0"/>
                </a:moveTo>
                <a:lnTo>
                  <a:pt x="153923" y="551688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879598" y="4612385"/>
            <a:ext cx="0" cy="292735"/>
          </a:xfrm>
          <a:custGeom>
            <a:avLst/>
            <a:gdLst/>
            <a:ahLst/>
            <a:cxnLst/>
            <a:rect l="l" t="t" r="r" b="b"/>
            <a:pathLst>
              <a:path w="0" h="292735">
                <a:moveTo>
                  <a:pt x="0" y="0"/>
                </a:moveTo>
                <a:lnTo>
                  <a:pt x="0" y="292607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5664200" y="3863466"/>
            <a:ext cx="26225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DDDDDD"/>
                </a:solidFill>
                <a:latin typeface="Times New Roman"/>
                <a:cs typeface="Times New Roman"/>
              </a:rPr>
              <a:t>F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795009" y="3559302"/>
            <a:ext cx="0" cy="292735"/>
          </a:xfrm>
          <a:custGeom>
            <a:avLst/>
            <a:gdLst/>
            <a:ahLst/>
            <a:cxnLst/>
            <a:rect l="l" t="t" r="r" b="b"/>
            <a:pathLst>
              <a:path w="0" h="292735">
                <a:moveTo>
                  <a:pt x="0" y="0"/>
                </a:moveTo>
                <a:lnTo>
                  <a:pt x="0" y="292608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5702300" y="4738242"/>
            <a:ext cx="12446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i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764529" y="4453890"/>
            <a:ext cx="0" cy="292735"/>
          </a:xfrm>
          <a:custGeom>
            <a:avLst/>
            <a:gdLst/>
            <a:ahLst/>
            <a:cxnLst/>
            <a:rect l="l" t="t" r="r" b="b"/>
            <a:pathLst>
              <a:path w="0" h="292735">
                <a:moveTo>
                  <a:pt x="0" y="0"/>
                </a:moveTo>
                <a:lnTo>
                  <a:pt x="0" y="292608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643121" y="5025390"/>
            <a:ext cx="1915795" cy="574675"/>
          </a:xfrm>
          <a:custGeom>
            <a:avLst/>
            <a:gdLst/>
            <a:ahLst/>
            <a:cxnLst/>
            <a:rect l="l" t="t" r="r" b="b"/>
            <a:pathLst>
              <a:path w="1915795" h="574675">
                <a:moveTo>
                  <a:pt x="0" y="574548"/>
                </a:moveTo>
                <a:lnTo>
                  <a:pt x="1915668" y="574548"/>
                </a:lnTo>
                <a:lnTo>
                  <a:pt x="1915668" y="0"/>
                </a:lnTo>
                <a:lnTo>
                  <a:pt x="0" y="0"/>
                </a:lnTo>
                <a:lnTo>
                  <a:pt x="0" y="574548"/>
                </a:lnTo>
                <a:close/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596890" y="4726685"/>
            <a:ext cx="525780" cy="615950"/>
          </a:xfrm>
          <a:custGeom>
            <a:avLst/>
            <a:gdLst/>
            <a:ahLst/>
            <a:cxnLst/>
            <a:rect l="l" t="t" r="r" b="b"/>
            <a:pathLst>
              <a:path w="525779" h="615950">
                <a:moveTo>
                  <a:pt x="0" y="615695"/>
                </a:moveTo>
                <a:lnTo>
                  <a:pt x="525779" y="615695"/>
                </a:lnTo>
                <a:lnTo>
                  <a:pt x="525779" y="0"/>
                </a:lnTo>
                <a:lnTo>
                  <a:pt x="0" y="0"/>
                </a:lnTo>
                <a:lnTo>
                  <a:pt x="0" y="615695"/>
                </a:lnTo>
                <a:close/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114541" y="4451222"/>
            <a:ext cx="1014094" cy="497205"/>
          </a:xfrm>
          <a:custGeom>
            <a:avLst/>
            <a:gdLst/>
            <a:ahLst/>
            <a:cxnLst/>
            <a:rect l="l" t="t" r="r" b="b"/>
            <a:pathLst>
              <a:path w="1014095" h="497204">
                <a:moveTo>
                  <a:pt x="902555" y="34434"/>
                </a:moveTo>
                <a:lnTo>
                  <a:pt x="0" y="462406"/>
                </a:lnTo>
                <a:lnTo>
                  <a:pt x="16256" y="496950"/>
                </a:lnTo>
                <a:lnTo>
                  <a:pt x="918904" y="68869"/>
                </a:lnTo>
                <a:lnTo>
                  <a:pt x="902555" y="34434"/>
                </a:lnTo>
                <a:close/>
              </a:path>
              <a:path w="1014095" h="497204">
                <a:moveTo>
                  <a:pt x="995476" y="26288"/>
                </a:moveTo>
                <a:lnTo>
                  <a:pt x="919734" y="26288"/>
                </a:lnTo>
                <a:lnTo>
                  <a:pt x="936116" y="60706"/>
                </a:lnTo>
                <a:lnTo>
                  <a:pt x="918904" y="68869"/>
                </a:lnTo>
                <a:lnTo>
                  <a:pt x="935228" y="103250"/>
                </a:lnTo>
                <a:lnTo>
                  <a:pt x="995476" y="26288"/>
                </a:lnTo>
                <a:close/>
              </a:path>
              <a:path w="1014095" h="497204">
                <a:moveTo>
                  <a:pt x="919734" y="26288"/>
                </a:moveTo>
                <a:lnTo>
                  <a:pt x="902555" y="34434"/>
                </a:lnTo>
                <a:lnTo>
                  <a:pt x="918904" y="68869"/>
                </a:lnTo>
                <a:lnTo>
                  <a:pt x="936116" y="60706"/>
                </a:lnTo>
                <a:lnTo>
                  <a:pt x="919734" y="26288"/>
                </a:lnTo>
                <a:close/>
              </a:path>
              <a:path w="1014095" h="497204">
                <a:moveTo>
                  <a:pt x="886206" y="0"/>
                </a:moveTo>
                <a:lnTo>
                  <a:pt x="902555" y="34434"/>
                </a:lnTo>
                <a:lnTo>
                  <a:pt x="919734" y="26288"/>
                </a:lnTo>
                <a:lnTo>
                  <a:pt x="995476" y="26288"/>
                </a:lnTo>
                <a:lnTo>
                  <a:pt x="1013967" y="2666"/>
                </a:lnTo>
                <a:lnTo>
                  <a:pt x="886206" y="0"/>
                </a:lnTo>
                <a:close/>
              </a:path>
            </a:pathLst>
          </a:custGeom>
          <a:solidFill>
            <a:srgbClr val="CC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549010" y="4548378"/>
            <a:ext cx="1579880" cy="953769"/>
          </a:xfrm>
          <a:custGeom>
            <a:avLst/>
            <a:gdLst/>
            <a:ahLst/>
            <a:cxnLst/>
            <a:rect l="l" t="t" r="r" b="b"/>
            <a:pathLst>
              <a:path w="1579879" h="953770">
                <a:moveTo>
                  <a:pt x="1471631" y="42244"/>
                </a:moveTo>
                <a:lnTo>
                  <a:pt x="0" y="920877"/>
                </a:lnTo>
                <a:lnTo>
                  <a:pt x="19558" y="953643"/>
                </a:lnTo>
                <a:lnTo>
                  <a:pt x="1491121" y="74925"/>
                </a:lnTo>
                <a:lnTo>
                  <a:pt x="1471631" y="42244"/>
                </a:lnTo>
                <a:close/>
              </a:path>
              <a:path w="1579879" h="953770">
                <a:moveTo>
                  <a:pt x="1558718" y="32512"/>
                </a:moveTo>
                <a:lnTo>
                  <a:pt x="1487932" y="32512"/>
                </a:lnTo>
                <a:lnTo>
                  <a:pt x="1507489" y="65151"/>
                </a:lnTo>
                <a:lnTo>
                  <a:pt x="1491121" y="74925"/>
                </a:lnTo>
                <a:lnTo>
                  <a:pt x="1510664" y="107696"/>
                </a:lnTo>
                <a:lnTo>
                  <a:pt x="1558718" y="32512"/>
                </a:lnTo>
                <a:close/>
              </a:path>
              <a:path w="1579879" h="953770">
                <a:moveTo>
                  <a:pt x="1487932" y="32512"/>
                </a:moveTo>
                <a:lnTo>
                  <a:pt x="1471631" y="42244"/>
                </a:lnTo>
                <a:lnTo>
                  <a:pt x="1491121" y="74925"/>
                </a:lnTo>
                <a:lnTo>
                  <a:pt x="1507489" y="65151"/>
                </a:lnTo>
                <a:lnTo>
                  <a:pt x="1487932" y="32512"/>
                </a:lnTo>
                <a:close/>
              </a:path>
              <a:path w="1579879" h="953770">
                <a:moveTo>
                  <a:pt x="1579498" y="0"/>
                </a:moveTo>
                <a:lnTo>
                  <a:pt x="1452117" y="9525"/>
                </a:lnTo>
                <a:lnTo>
                  <a:pt x="1471631" y="42244"/>
                </a:lnTo>
                <a:lnTo>
                  <a:pt x="1487932" y="32512"/>
                </a:lnTo>
                <a:lnTo>
                  <a:pt x="1558718" y="32512"/>
                </a:lnTo>
                <a:lnTo>
                  <a:pt x="1579498" y="0"/>
                </a:lnTo>
                <a:close/>
              </a:path>
            </a:pathLst>
          </a:custGeom>
          <a:solidFill>
            <a:srgbClr val="CC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7207757" y="4192015"/>
            <a:ext cx="125095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3200" b="1">
                <a:solidFill>
                  <a:srgbClr val="CCFF99"/>
                </a:solidFill>
                <a:uFill>
                  <a:solidFill>
                    <a:srgbClr val="CCFF99"/>
                  </a:solidFill>
                </a:uFill>
                <a:latin typeface="宋体"/>
                <a:cs typeface="宋体"/>
              </a:rPr>
              <a:t>素短语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575809" y="5599938"/>
            <a:ext cx="0" cy="370840"/>
          </a:xfrm>
          <a:custGeom>
            <a:avLst/>
            <a:gdLst/>
            <a:ahLst/>
            <a:cxnLst/>
            <a:rect l="l" t="t" r="r" b="b"/>
            <a:pathLst>
              <a:path w="0" h="370839">
                <a:moveTo>
                  <a:pt x="0" y="0"/>
                </a:moveTo>
                <a:lnTo>
                  <a:pt x="0" y="370331"/>
                </a:lnTo>
              </a:path>
            </a:pathLst>
          </a:custGeom>
          <a:ln w="38100">
            <a:solidFill>
              <a:srgbClr val="CC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549902" y="5893308"/>
            <a:ext cx="2235835" cy="114300"/>
          </a:xfrm>
          <a:custGeom>
            <a:avLst/>
            <a:gdLst/>
            <a:ahLst/>
            <a:cxnLst/>
            <a:rect l="l" t="t" r="r" b="b"/>
            <a:pathLst>
              <a:path w="2235834" h="114300">
                <a:moveTo>
                  <a:pt x="2121407" y="0"/>
                </a:moveTo>
                <a:lnTo>
                  <a:pt x="2121407" y="114299"/>
                </a:lnTo>
                <a:lnTo>
                  <a:pt x="2197607" y="76199"/>
                </a:lnTo>
                <a:lnTo>
                  <a:pt x="2140457" y="76199"/>
                </a:lnTo>
                <a:lnTo>
                  <a:pt x="2140457" y="38099"/>
                </a:lnTo>
                <a:lnTo>
                  <a:pt x="2197607" y="38099"/>
                </a:lnTo>
                <a:lnTo>
                  <a:pt x="2121407" y="0"/>
                </a:lnTo>
                <a:close/>
              </a:path>
              <a:path w="2235834" h="114300">
                <a:moveTo>
                  <a:pt x="2121407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2121407" y="76199"/>
                </a:lnTo>
                <a:lnTo>
                  <a:pt x="2121407" y="38099"/>
                </a:lnTo>
                <a:close/>
              </a:path>
              <a:path w="2235834" h="114300">
                <a:moveTo>
                  <a:pt x="2197607" y="38099"/>
                </a:moveTo>
                <a:lnTo>
                  <a:pt x="2140457" y="38099"/>
                </a:lnTo>
                <a:lnTo>
                  <a:pt x="2140457" y="76199"/>
                </a:lnTo>
                <a:lnTo>
                  <a:pt x="2197607" y="76199"/>
                </a:lnTo>
                <a:lnTo>
                  <a:pt x="2235707" y="57149"/>
                </a:lnTo>
                <a:lnTo>
                  <a:pt x="2197607" y="38099"/>
                </a:lnTo>
                <a:close/>
              </a:path>
            </a:pathLst>
          </a:custGeom>
          <a:solidFill>
            <a:srgbClr val="CC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2921000" y="5676696"/>
            <a:ext cx="6011545" cy="102425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 indent="3943350">
              <a:lnSpc>
                <a:spcPts val="4020"/>
              </a:lnSpc>
              <a:spcBef>
                <a:spcPts val="85"/>
              </a:spcBef>
            </a:pPr>
            <a:r>
              <a:rPr dirty="0" u="heavy" sz="3200" b="1">
                <a:solidFill>
                  <a:srgbClr val="CCFF99"/>
                </a:solidFill>
                <a:uFill>
                  <a:solidFill>
                    <a:srgbClr val="CCFF99"/>
                  </a:solidFill>
                </a:uFill>
                <a:latin typeface="宋体"/>
                <a:cs typeface="宋体"/>
              </a:rPr>
              <a:t>最左素短语</a:t>
            </a:r>
            <a:r>
              <a:rPr dirty="0" u="heavy" sz="3200" spc="-3240" b="1">
                <a:solidFill>
                  <a:srgbClr val="FFFF69"/>
                </a:solidFill>
                <a:uFill>
                  <a:solidFill>
                    <a:srgbClr val="CCFF99"/>
                  </a:solidFill>
                </a:uFill>
                <a:latin typeface="宋体"/>
                <a:cs typeface="宋体"/>
              </a:rPr>
              <a:t>句 </a:t>
            </a:r>
            <a:r>
              <a:rPr dirty="0" u="heavy" sz="3200" spc="-10" b="1">
                <a:solidFill>
                  <a:srgbClr val="FFFF69"/>
                </a:solidFill>
                <a:uFill>
                  <a:solidFill>
                    <a:srgbClr val="CCFF99"/>
                  </a:solidFill>
                </a:uFill>
                <a:latin typeface="宋体"/>
                <a:cs typeface="宋体"/>
              </a:rPr>
              <a:t>型</a:t>
            </a:r>
            <a:r>
              <a:rPr dirty="0" sz="3200" spc="-830" b="1">
                <a:solidFill>
                  <a:srgbClr val="FFFF69"/>
                </a:solidFill>
                <a:latin typeface="宋体"/>
                <a:cs typeface="宋体"/>
              </a:rPr>
              <a:t> </a:t>
            </a:r>
            <a:r>
              <a:rPr dirty="0" u="heavy" sz="3200" b="1" i="1">
                <a:solidFill>
                  <a:srgbClr val="F3B4FB"/>
                </a:solidFill>
                <a:uFill>
                  <a:solidFill>
                    <a:srgbClr val="F3B4FB"/>
                  </a:solidFill>
                </a:uFill>
                <a:latin typeface="Times New Roman"/>
                <a:cs typeface="Times New Roman"/>
              </a:rPr>
              <a:t>T</a:t>
            </a:r>
            <a:r>
              <a:rPr dirty="0" u="heavy" sz="3200" b="1">
                <a:solidFill>
                  <a:srgbClr val="F3B4FB"/>
                </a:solidFill>
                <a:uFill>
                  <a:solidFill>
                    <a:srgbClr val="F3B4FB"/>
                  </a:solidFill>
                </a:uFill>
                <a:latin typeface="Times New Roman"/>
                <a:cs typeface="Times New Roman"/>
              </a:rPr>
              <a:t>+</a:t>
            </a:r>
            <a:r>
              <a:rPr dirty="0" u="heavy" sz="3200" b="1" i="1">
                <a:solidFill>
                  <a:srgbClr val="F3B4FB"/>
                </a:solidFill>
                <a:uFill>
                  <a:solidFill>
                    <a:srgbClr val="F3B4FB"/>
                  </a:solidFill>
                </a:uFill>
                <a:latin typeface="Times New Roman"/>
                <a:cs typeface="Times New Roman"/>
              </a:rPr>
              <a:t>T</a:t>
            </a:r>
            <a:r>
              <a:rPr dirty="0" u="heavy" sz="3200" b="1">
                <a:solidFill>
                  <a:srgbClr val="F3B4FB"/>
                </a:solidFill>
                <a:uFill>
                  <a:solidFill>
                    <a:srgbClr val="F3B4FB"/>
                  </a:solidFill>
                </a:uFill>
                <a:latin typeface="Times New Roman"/>
                <a:cs typeface="Times New Roman"/>
              </a:rPr>
              <a:t>*</a:t>
            </a:r>
            <a:r>
              <a:rPr dirty="0" u="heavy" sz="3200" b="1" i="1">
                <a:solidFill>
                  <a:srgbClr val="F3B4FB"/>
                </a:solidFill>
                <a:uFill>
                  <a:solidFill>
                    <a:srgbClr val="F3B4FB"/>
                  </a:solidFill>
                </a:uFill>
                <a:latin typeface="Times New Roman"/>
                <a:cs typeface="Times New Roman"/>
              </a:rPr>
              <a:t>F</a:t>
            </a:r>
            <a:r>
              <a:rPr dirty="0" u="heavy" sz="3200" b="1">
                <a:solidFill>
                  <a:srgbClr val="F3B4FB"/>
                </a:solidFill>
                <a:uFill>
                  <a:solidFill>
                    <a:srgbClr val="F3B4FB"/>
                  </a:solidFill>
                </a:uFill>
                <a:latin typeface="Times New Roman"/>
                <a:cs typeface="Times New Roman"/>
              </a:rPr>
              <a:t>+</a:t>
            </a:r>
            <a:r>
              <a:rPr dirty="0" u="heavy" sz="3200" b="1" i="1">
                <a:solidFill>
                  <a:srgbClr val="F3B4FB"/>
                </a:solidFill>
                <a:uFill>
                  <a:solidFill>
                    <a:srgbClr val="F3B4FB"/>
                  </a:solidFill>
                </a:uFill>
                <a:latin typeface="Times New Roman"/>
                <a:cs typeface="Times New Roman"/>
              </a:rPr>
              <a:t>i</a:t>
            </a:r>
            <a:r>
              <a:rPr dirty="0" sz="3200" spc="-30" b="1" i="1">
                <a:solidFill>
                  <a:srgbClr val="F3B4FB"/>
                </a:solidFill>
                <a:latin typeface="Times New Roman"/>
                <a:cs typeface="Times New Roman"/>
              </a:rPr>
              <a:t> </a:t>
            </a:r>
            <a:r>
              <a:rPr dirty="0" u="heavy" sz="3200" b="1">
                <a:solidFill>
                  <a:srgbClr val="FFFF69"/>
                </a:solidFill>
                <a:uFill>
                  <a:solidFill>
                    <a:srgbClr val="FFFF69"/>
                  </a:solidFill>
                </a:uFill>
                <a:latin typeface="宋体"/>
                <a:cs typeface="宋体"/>
              </a:rPr>
              <a:t>的分析树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title"/>
          </p:nvPr>
        </p:nvSpPr>
        <p:spPr>
          <a:xfrm>
            <a:off x="188468" y="225438"/>
            <a:ext cx="3242945" cy="1797050"/>
          </a:xfrm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727075" marR="5080" indent="-715010">
              <a:lnSpc>
                <a:spcPct val="127200"/>
              </a:lnSpc>
              <a:spcBef>
                <a:spcPts val="220"/>
              </a:spcBef>
            </a:pPr>
            <a:r>
              <a:rPr dirty="0" sz="3200" spc="-5">
                <a:solidFill>
                  <a:srgbClr val="FFFF15"/>
                </a:solidFill>
              </a:rPr>
              <a:t>例</a:t>
            </a:r>
            <a:r>
              <a:rPr dirty="0" sz="3200">
                <a:solidFill>
                  <a:srgbClr val="FFFF15"/>
                </a:solidFill>
                <a:latin typeface="Times New Roman"/>
                <a:cs typeface="Times New Roman"/>
              </a:rPr>
              <a:t>5.9</a:t>
            </a:r>
            <a:r>
              <a:rPr dirty="0" sz="3200" spc="-80">
                <a:solidFill>
                  <a:srgbClr val="FFFF15"/>
                </a:solidFill>
                <a:latin typeface="Times New Roman"/>
                <a:cs typeface="Times New Roman"/>
              </a:rPr>
              <a:t> </a:t>
            </a:r>
            <a:r>
              <a:rPr dirty="0" sz="3200" spc="-5">
                <a:solidFill>
                  <a:srgbClr val="FFFFFF"/>
                </a:solidFill>
              </a:rPr>
              <a:t>设文</a:t>
            </a:r>
            <a:r>
              <a:rPr dirty="0" sz="3200">
                <a:solidFill>
                  <a:srgbClr val="FFFFFF"/>
                </a:solidFill>
              </a:rPr>
              <a:t>法</a:t>
            </a:r>
            <a:r>
              <a:rPr dirty="0" sz="3200" spc="-40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spc="-4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350" spc="-40" i="1">
                <a:solidFill>
                  <a:srgbClr val="FFFFFF"/>
                </a:solidFill>
                <a:latin typeface="宋体"/>
                <a:cs typeface="宋体"/>
              </a:rPr>
              <a:t>Ｅ</a:t>
            </a:r>
            <a:r>
              <a:rPr dirty="0" sz="3200" spc="-40">
                <a:solidFill>
                  <a:srgbClr val="FFFFFF"/>
                </a:solidFill>
                <a:latin typeface="Times New Roman"/>
                <a:cs typeface="Times New Roman"/>
              </a:rPr>
              <a:t>)  </a:t>
            </a:r>
            <a:r>
              <a:rPr dirty="0" spc="-10" i="1">
                <a:solidFill>
                  <a:srgbClr val="FFFF15"/>
                </a:solidFill>
                <a:latin typeface="Times New Roman"/>
                <a:cs typeface="Times New Roman"/>
              </a:rPr>
              <a:t>E</a:t>
            </a:r>
            <a:r>
              <a:rPr dirty="0" spc="-10">
                <a:solidFill>
                  <a:srgbClr val="FFFF15"/>
                </a:solidFill>
                <a:latin typeface="Times New Roman"/>
                <a:cs typeface="Times New Roman"/>
              </a:rPr>
              <a:t>→ </a:t>
            </a:r>
            <a:r>
              <a:rPr dirty="0" spc="-10" i="1">
                <a:solidFill>
                  <a:srgbClr val="FFFF15"/>
                </a:solidFill>
                <a:latin typeface="Times New Roman"/>
                <a:cs typeface="Times New Roman"/>
              </a:rPr>
              <a:t>E</a:t>
            </a:r>
            <a:r>
              <a:rPr dirty="0" spc="-10">
                <a:solidFill>
                  <a:srgbClr val="FFFF15"/>
                </a:solidFill>
              </a:rPr>
              <a:t>＋</a:t>
            </a:r>
            <a:r>
              <a:rPr dirty="0" spc="-10" i="1">
                <a:solidFill>
                  <a:srgbClr val="FFFF15"/>
                </a:solidFill>
                <a:latin typeface="Times New Roman"/>
                <a:cs typeface="Times New Roman"/>
              </a:rPr>
              <a:t>T</a:t>
            </a:r>
            <a:r>
              <a:rPr dirty="0" spc="-10">
                <a:solidFill>
                  <a:srgbClr val="FFFF15"/>
                </a:solidFill>
                <a:latin typeface="Times New Roman"/>
                <a:cs typeface="Times New Roman"/>
              </a:rPr>
              <a:t>│</a:t>
            </a:r>
            <a:r>
              <a:rPr dirty="0" spc="-10" i="1">
                <a:solidFill>
                  <a:srgbClr val="FFFF15"/>
                </a:solidFill>
                <a:latin typeface="Times New Roman"/>
                <a:cs typeface="Times New Roman"/>
              </a:rPr>
              <a:t>T  </a:t>
            </a:r>
            <a:r>
              <a:rPr dirty="0" spc="-10" i="1">
                <a:solidFill>
                  <a:srgbClr val="FFFF15"/>
                </a:solidFill>
                <a:latin typeface="Times New Roman"/>
                <a:cs typeface="Times New Roman"/>
              </a:rPr>
              <a:t>T</a:t>
            </a:r>
            <a:r>
              <a:rPr dirty="0" spc="-10">
                <a:solidFill>
                  <a:srgbClr val="FFFF15"/>
                </a:solidFill>
                <a:latin typeface="Times New Roman"/>
                <a:cs typeface="Times New Roman"/>
              </a:rPr>
              <a:t>→</a:t>
            </a:r>
            <a:r>
              <a:rPr dirty="0" spc="-5">
                <a:solidFill>
                  <a:srgbClr val="FFFF15"/>
                </a:solidFill>
                <a:latin typeface="Times New Roman"/>
                <a:cs typeface="Times New Roman"/>
              </a:rPr>
              <a:t> </a:t>
            </a:r>
            <a:r>
              <a:rPr dirty="0" spc="-5" i="1">
                <a:solidFill>
                  <a:srgbClr val="FFFF15"/>
                </a:solidFill>
                <a:latin typeface="Times New Roman"/>
                <a:cs typeface="Times New Roman"/>
              </a:rPr>
              <a:t>T</a:t>
            </a:r>
            <a:r>
              <a:rPr dirty="0" spc="-5">
                <a:solidFill>
                  <a:srgbClr val="FFFF15"/>
                </a:solidFill>
                <a:latin typeface="Times New Roman"/>
                <a:cs typeface="Times New Roman"/>
              </a:rPr>
              <a:t>*</a:t>
            </a:r>
            <a:r>
              <a:rPr dirty="0" spc="-5" i="1">
                <a:solidFill>
                  <a:srgbClr val="FFFF15"/>
                </a:solidFill>
                <a:latin typeface="Times New Roman"/>
                <a:cs typeface="Times New Roman"/>
              </a:rPr>
              <a:t>F</a:t>
            </a:r>
            <a:r>
              <a:rPr dirty="0" spc="-5">
                <a:solidFill>
                  <a:srgbClr val="FFFF15"/>
                </a:solidFill>
                <a:latin typeface="Times New Roman"/>
                <a:cs typeface="Times New Roman"/>
              </a:rPr>
              <a:t>│</a:t>
            </a:r>
            <a:r>
              <a:rPr dirty="0" spc="-5" i="1">
                <a:solidFill>
                  <a:srgbClr val="FFFF15"/>
                </a:solidFill>
                <a:latin typeface="Times New Roman"/>
                <a:cs typeface="Times New Roman"/>
              </a:rPr>
              <a:t>F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03224" y="2125725"/>
            <a:ext cx="153098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 i="1">
                <a:solidFill>
                  <a:srgbClr val="FFFF15"/>
                </a:solidFill>
                <a:latin typeface="Times New Roman"/>
                <a:cs typeface="Times New Roman"/>
              </a:rPr>
              <a:t>F</a:t>
            </a:r>
            <a:r>
              <a:rPr dirty="0" sz="2800" spc="-10" b="1">
                <a:solidFill>
                  <a:srgbClr val="FFFF15"/>
                </a:solidFill>
                <a:latin typeface="Times New Roman"/>
                <a:cs typeface="Times New Roman"/>
              </a:rPr>
              <a:t>→</a:t>
            </a:r>
            <a:r>
              <a:rPr dirty="0" sz="2800" spc="-65" b="1">
                <a:solidFill>
                  <a:srgbClr val="FFFF15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15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15"/>
                </a:solidFill>
                <a:latin typeface="Times New Roman"/>
                <a:cs typeface="Times New Roman"/>
              </a:rPr>
              <a:t>E</a:t>
            </a:r>
            <a:r>
              <a:rPr dirty="0" sz="2800" spc="-5" b="1">
                <a:solidFill>
                  <a:srgbClr val="FFFF15"/>
                </a:solidFill>
                <a:latin typeface="Times New Roman"/>
                <a:cs typeface="Times New Roman"/>
              </a:rPr>
              <a:t>)│</a:t>
            </a:r>
            <a:r>
              <a:rPr dirty="0" sz="2800" spc="-5" b="1" i="1">
                <a:solidFill>
                  <a:srgbClr val="FFFF15"/>
                </a:solidFill>
                <a:latin typeface="Times New Roman"/>
                <a:cs typeface="Times New Roman"/>
              </a:rPr>
              <a:t>i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106926" y="424821"/>
            <a:ext cx="4926965" cy="12934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0000"/>
              </a:lnSpc>
              <a:spcBef>
                <a:spcPts val="9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考察句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型</a:t>
            </a:r>
            <a:r>
              <a:rPr dirty="0" sz="3200" spc="-87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＋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＋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，给出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它的素短语及最左素短语。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1400" y="1512188"/>
            <a:ext cx="247650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但不是素短语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69240" y="26923"/>
            <a:ext cx="16319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16226" y="26923"/>
            <a:ext cx="232600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0065" algn="l"/>
              </a:tabLst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算符优先分析法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58536" y="26923"/>
            <a:ext cx="354012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05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算符优先分析法理论探讨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97023" y="6132372"/>
            <a:ext cx="393192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heavy" sz="3200" spc="-5" b="1">
                <a:solidFill>
                  <a:srgbClr val="FFFF69"/>
                </a:solidFill>
                <a:uFill>
                  <a:solidFill>
                    <a:srgbClr val="FFFF69"/>
                  </a:solidFill>
                </a:uFill>
                <a:latin typeface="宋体"/>
                <a:cs typeface="宋体"/>
              </a:rPr>
              <a:t>句</a:t>
            </a:r>
            <a:r>
              <a:rPr dirty="0" u="heavy" sz="3200" spc="-10" b="1">
                <a:solidFill>
                  <a:srgbClr val="FFFF69"/>
                </a:solidFill>
                <a:uFill>
                  <a:solidFill>
                    <a:srgbClr val="FFFF69"/>
                  </a:solidFill>
                </a:uFill>
                <a:latin typeface="宋体"/>
                <a:cs typeface="宋体"/>
              </a:rPr>
              <a:t>型</a:t>
            </a:r>
            <a:r>
              <a:rPr dirty="0" sz="3200" spc="-850" b="1">
                <a:solidFill>
                  <a:srgbClr val="FFFF69"/>
                </a:solidFill>
                <a:latin typeface="宋体"/>
                <a:cs typeface="宋体"/>
              </a:rPr>
              <a:t> </a:t>
            </a:r>
            <a:r>
              <a:rPr dirty="0" u="heavy" sz="3200" spc="-5" b="1" i="1">
                <a:solidFill>
                  <a:srgbClr val="F3B4FB"/>
                </a:solidFill>
                <a:uFill>
                  <a:solidFill>
                    <a:srgbClr val="F3B4FB"/>
                  </a:solidFill>
                </a:uFill>
                <a:latin typeface="Times New Roman"/>
                <a:cs typeface="Times New Roman"/>
              </a:rPr>
              <a:t>T</a:t>
            </a:r>
            <a:r>
              <a:rPr dirty="0" u="heavy" sz="3200" spc="-5" b="1">
                <a:solidFill>
                  <a:srgbClr val="F3B4FB"/>
                </a:solidFill>
                <a:uFill>
                  <a:solidFill>
                    <a:srgbClr val="F3B4FB"/>
                  </a:solidFill>
                </a:uFill>
                <a:latin typeface="Times New Roman"/>
                <a:cs typeface="Times New Roman"/>
              </a:rPr>
              <a:t>+</a:t>
            </a:r>
            <a:r>
              <a:rPr dirty="0" u="heavy" sz="3200" spc="-5" b="1" i="1">
                <a:solidFill>
                  <a:srgbClr val="F3B4FB"/>
                </a:solidFill>
                <a:uFill>
                  <a:solidFill>
                    <a:srgbClr val="F3B4FB"/>
                  </a:solidFill>
                </a:uFill>
                <a:latin typeface="Times New Roman"/>
                <a:cs typeface="Times New Roman"/>
              </a:rPr>
              <a:t>i</a:t>
            </a:r>
            <a:r>
              <a:rPr dirty="0" u="heavy" sz="3200" spc="-5" b="1">
                <a:solidFill>
                  <a:srgbClr val="F3B4FB"/>
                </a:solidFill>
                <a:uFill>
                  <a:solidFill>
                    <a:srgbClr val="F3B4FB"/>
                  </a:solidFill>
                </a:uFill>
                <a:latin typeface="Times New Roman"/>
                <a:cs typeface="Times New Roman"/>
              </a:rPr>
              <a:t>*</a:t>
            </a:r>
            <a:r>
              <a:rPr dirty="0" u="heavy" sz="3200" spc="-5" b="1" i="1">
                <a:solidFill>
                  <a:srgbClr val="F3B4FB"/>
                </a:solidFill>
                <a:uFill>
                  <a:solidFill>
                    <a:srgbClr val="F3B4FB"/>
                  </a:solidFill>
                </a:uFill>
                <a:latin typeface="Times New Roman"/>
                <a:cs typeface="Times New Roman"/>
              </a:rPr>
              <a:t>i</a:t>
            </a:r>
            <a:r>
              <a:rPr dirty="0" u="heavy" sz="3200" spc="-5" b="1">
                <a:solidFill>
                  <a:srgbClr val="F3B4FB"/>
                </a:solidFill>
                <a:uFill>
                  <a:solidFill>
                    <a:srgbClr val="F3B4FB"/>
                  </a:solidFill>
                </a:uFill>
                <a:latin typeface="Times New Roman"/>
                <a:cs typeface="Times New Roman"/>
              </a:rPr>
              <a:t>+</a:t>
            </a:r>
            <a:r>
              <a:rPr dirty="0" u="heavy" sz="3200" spc="-5" b="1" i="1">
                <a:solidFill>
                  <a:srgbClr val="F3B4FB"/>
                </a:solidFill>
                <a:uFill>
                  <a:solidFill>
                    <a:srgbClr val="F3B4FB"/>
                  </a:solidFill>
                </a:uFill>
                <a:latin typeface="Times New Roman"/>
                <a:cs typeface="Times New Roman"/>
              </a:rPr>
              <a:t>i</a:t>
            </a:r>
            <a:r>
              <a:rPr dirty="0" sz="3200" spc="-35" b="1" i="1">
                <a:solidFill>
                  <a:srgbClr val="F3B4FB"/>
                </a:solidFill>
                <a:latin typeface="Times New Roman"/>
                <a:cs typeface="Times New Roman"/>
              </a:rPr>
              <a:t> </a:t>
            </a:r>
            <a:r>
              <a:rPr dirty="0" u="heavy" sz="3200" spc="-5" b="1">
                <a:solidFill>
                  <a:srgbClr val="FFFF69"/>
                </a:solidFill>
                <a:uFill>
                  <a:solidFill>
                    <a:srgbClr val="FFFF69"/>
                  </a:solidFill>
                </a:uFill>
                <a:latin typeface="宋体"/>
                <a:cs typeface="宋体"/>
              </a:rPr>
              <a:t>的分析树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434078" y="3252978"/>
            <a:ext cx="525780" cy="617220"/>
          </a:xfrm>
          <a:custGeom>
            <a:avLst/>
            <a:gdLst/>
            <a:ahLst/>
            <a:cxnLst/>
            <a:rect l="l" t="t" r="r" b="b"/>
            <a:pathLst>
              <a:path w="525779" h="617220">
                <a:moveTo>
                  <a:pt x="0" y="617220"/>
                </a:moveTo>
                <a:lnTo>
                  <a:pt x="525779" y="617220"/>
                </a:lnTo>
                <a:lnTo>
                  <a:pt x="525779" y="0"/>
                </a:lnTo>
                <a:lnTo>
                  <a:pt x="0" y="0"/>
                </a:lnTo>
                <a:lnTo>
                  <a:pt x="0" y="617220"/>
                </a:lnTo>
                <a:close/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356609" y="5539740"/>
            <a:ext cx="2235835" cy="114300"/>
          </a:xfrm>
          <a:custGeom>
            <a:avLst/>
            <a:gdLst/>
            <a:ahLst/>
            <a:cxnLst/>
            <a:rect l="l" t="t" r="r" b="b"/>
            <a:pathLst>
              <a:path w="2235835" h="114300">
                <a:moveTo>
                  <a:pt x="2121407" y="0"/>
                </a:moveTo>
                <a:lnTo>
                  <a:pt x="2121407" y="114300"/>
                </a:lnTo>
                <a:lnTo>
                  <a:pt x="2197607" y="76200"/>
                </a:lnTo>
                <a:lnTo>
                  <a:pt x="2140457" y="76200"/>
                </a:lnTo>
                <a:lnTo>
                  <a:pt x="2140457" y="38100"/>
                </a:lnTo>
                <a:lnTo>
                  <a:pt x="2197607" y="38100"/>
                </a:lnTo>
                <a:lnTo>
                  <a:pt x="2121407" y="0"/>
                </a:lnTo>
                <a:close/>
              </a:path>
              <a:path w="2235835" h="114300">
                <a:moveTo>
                  <a:pt x="2121407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2121407" y="76200"/>
                </a:lnTo>
                <a:lnTo>
                  <a:pt x="2121407" y="38100"/>
                </a:lnTo>
                <a:close/>
              </a:path>
              <a:path w="2235835" h="114300">
                <a:moveTo>
                  <a:pt x="2197607" y="38100"/>
                </a:moveTo>
                <a:lnTo>
                  <a:pt x="2140457" y="38100"/>
                </a:lnTo>
                <a:lnTo>
                  <a:pt x="2140457" y="76200"/>
                </a:lnTo>
                <a:lnTo>
                  <a:pt x="2197607" y="76200"/>
                </a:lnTo>
                <a:lnTo>
                  <a:pt x="2235707" y="57150"/>
                </a:lnTo>
                <a:lnTo>
                  <a:pt x="2197607" y="38100"/>
                </a:lnTo>
                <a:close/>
              </a:path>
            </a:pathLst>
          </a:custGeom>
          <a:solidFill>
            <a:srgbClr val="CC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5670930" y="5322519"/>
            <a:ext cx="206756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3200" b="1">
                <a:solidFill>
                  <a:srgbClr val="CCFF99"/>
                </a:solidFill>
                <a:uFill>
                  <a:solidFill>
                    <a:srgbClr val="CCFF99"/>
                  </a:solidFill>
                </a:uFill>
                <a:latin typeface="宋体"/>
                <a:cs typeface="宋体"/>
              </a:rPr>
              <a:t>最左素短语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09594" y="601421"/>
            <a:ext cx="26289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45791" y="1476883"/>
            <a:ext cx="26225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609594" y="1476883"/>
            <a:ext cx="22796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574794" y="1476883"/>
            <a:ext cx="2425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025901" y="1174241"/>
            <a:ext cx="579120" cy="291465"/>
          </a:xfrm>
          <a:custGeom>
            <a:avLst/>
            <a:gdLst/>
            <a:ahLst/>
            <a:cxnLst/>
            <a:rect l="l" t="t" r="r" b="b"/>
            <a:pathLst>
              <a:path w="579120" h="291465">
                <a:moveTo>
                  <a:pt x="579120" y="0"/>
                </a:moveTo>
                <a:lnTo>
                  <a:pt x="0" y="291084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798570" y="1174241"/>
            <a:ext cx="0" cy="291465"/>
          </a:xfrm>
          <a:custGeom>
            <a:avLst/>
            <a:gdLst/>
            <a:ahLst/>
            <a:cxnLst/>
            <a:rect l="l" t="t" r="r" b="b"/>
            <a:pathLst>
              <a:path w="0" h="291465">
                <a:moveTo>
                  <a:pt x="0" y="0"/>
                </a:moveTo>
                <a:lnTo>
                  <a:pt x="0" y="291084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990594" y="1174241"/>
            <a:ext cx="579120" cy="291465"/>
          </a:xfrm>
          <a:custGeom>
            <a:avLst/>
            <a:gdLst/>
            <a:ahLst/>
            <a:cxnLst/>
            <a:rect l="l" t="t" r="r" b="b"/>
            <a:pathLst>
              <a:path w="579120" h="291465">
                <a:moveTo>
                  <a:pt x="0" y="0"/>
                </a:moveTo>
                <a:lnTo>
                  <a:pt x="579119" y="291084"/>
                </a:lnTo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688338" y="2499486"/>
            <a:ext cx="207835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39800" algn="l"/>
                <a:tab pos="1847850" algn="l"/>
              </a:tabLst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975866" y="2049017"/>
            <a:ext cx="577850" cy="439420"/>
          </a:xfrm>
          <a:custGeom>
            <a:avLst/>
            <a:gdLst/>
            <a:ahLst/>
            <a:cxnLst/>
            <a:rect l="l" t="t" r="r" b="b"/>
            <a:pathLst>
              <a:path w="577850" h="439419">
                <a:moveTo>
                  <a:pt x="577595" y="0"/>
                </a:moveTo>
                <a:lnTo>
                  <a:pt x="0" y="438912"/>
                </a:lnTo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747010" y="2049017"/>
            <a:ext cx="0" cy="439420"/>
          </a:xfrm>
          <a:custGeom>
            <a:avLst/>
            <a:gdLst/>
            <a:ahLst/>
            <a:cxnLst/>
            <a:rect l="l" t="t" r="r" b="b"/>
            <a:pathLst>
              <a:path w="0" h="439419">
                <a:moveTo>
                  <a:pt x="0" y="0"/>
                </a:moveTo>
                <a:lnTo>
                  <a:pt x="0" y="438912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939033" y="2049017"/>
            <a:ext cx="579120" cy="439420"/>
          </a:xfrm>
          <a:custGeom>
            <a:avLst/>
            <a:gdLst/>
            <a:ahLst/>
            <a:cxnLst/>
            <a:rect l="l" t="t" r="r" b="b"/>
            <a:pathLst>
              <a:path w="579120" h="439419">
                <a:moveTo>
                  <a:pt x="0" y="0"/>
                </a:moveTo>
                <a:lnTo>
                  <a:pt x="579119" y="438912"/>
                </a:lnTo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2963417" y="4374641"/>
            <a:ext cx="2425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124961" y="3038094"/>
            <a:ext cx="363220" cy="516890"/>
          </a:xfrm>
          <a:custGeom>
            <a:avLst/>
            <a:gdLst/>
            <a:ahLst/>
            <a:cxnLst/>
            <a:rect l="l" t="t" r="r" b="b"/>
            <a:pathLst>
              <a:path w="363220" h="516889">
                <a:moveTo>
                  <a:pt x="362712" y="0"/>
                </a:moveTo>
                <a:lnTo>
                  <a:pt x="0" y="516635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679697" y="3038094"/>
            <a:ext cx="0" cy="475615"/>
          </a:xfrm>
          <a:custGeom>
            <a:avLst/>
            <a:gdLst/>
            <a:ahLst/>
            <a:cxnLst/>
            <a:rect l="l" t="t" r="r" b="b"/>
            <a:pathLst>
              <a:path w="0" h="475614">
                <a:moveTo>
                  <a:pt x="0" y="0"/>
                </a:moveTo>
                <a:lnTo>
                  <a:pt x="0" y="475488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873246" y="3038094"/>
            <a:ext cx="154305" cy="550545"/>
          </a:xfrm>
          <a:custGeom>
            <a:avLst/>
            <a:gdLst/>
            <a:ahLst/>
            <a:cxnLst/>
            <a:rect l="l" t="t" r="r" b="b"/>
            <a:pathLst>
              <a:path w="154304" h="550545">
                <a:moveTo>
                  <a:pt x="0" y="0"/>
                </a:moveTo>
                <a:lnTo>
                  <a:pt x="153924" y="550163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1637538" y="3431540"/>
            <a:ext cx="2425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789938" y="3100577"/>
            <a:ext cx="0" cy="292735"/>
          </a:xfrm>
          <a:custGeom>
            <a:avLst/>
            <a:gdLst/>
            <a:ahLst/>
            <a:cxnLst/>
            <a:rect l="l" t="t" r="r" b="b"/>
            <a:pathLst>
              <a:path w="0" h="292735">
                <a:moveTo>
                  <a:pt x="0" y="0"/>
                </a:moveTo>
                <a:lnTo>
                  <a:pt x="0" y="292608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4574794" y="2351658"/>
            <a:ext cx="26225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706873" y="2049017"/>
            <a:ext cx="0" cy="291465"/>
          </a:xfrm>
          <a:custGeom>
            <a:avLst/>
            <a:gdLst/>
            <a:ahLst/>
            <a:cxnLst/>
            <a:rect l="l" t="t" r="r" b="b"/>
            <a:pathLst>
              <a:path w="0" h="291464">
                <a:moveTo>
                  <a:pt x="0" y="0"/>
                </a:moveTo>
                <a:lnTo>
                  <a:pt x="0" y="291084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4612894" y="3226688"/>
            <a:ext cx="12446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i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4676394" y="2942082"/>
            <a:ext cx="0" cy="292735"/>
          </a:xfrm>
          <a:custGeom>
            <a:avLst/>
            <a:gdLst/>
            <a:ahLst/>
            <a:cxnLst/>
            <a:rect l="l" t="t" r="r" b="b"/>
            <a:pathLst>
              <a:path w="0" h="292735">
                <a:moveTo>
                  <a:pt x="0" y="0"/>
                </a:moveTo>
                <a:lnTo>
                  <a:pt x="0" y="292607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073145" y="4900421"/>
            <a:ext cx="0" cy="368935"/>
          </a:xfrm>
          <a:custGeom>
            <a:avLst/>
            <a:gdLst/>
            <a:ahLst/>
            <a:cxnLst/>
            <a:rect l="l" t="t" r="r" b="b"/>
            <a:pathLst>
              <a:path w="0" h="368935">
                <a:moveTo>
                  <a:pt x="0" y="0"/>
                </a:moveTo>
                <a:lnTo>
                  <a:pt x="0" y="368807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3017647" y="5210047"/>
            <a:ext cx="13906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 i="1">
                <a:solidFill>
                  <a:srgbClr val="66FFFF"/>
                </a:solidFill>
                <a:latin typeface="Times New Roman"/>
                <a:cs typeface="Times New Roman"/>
              </a:rPr>
              <a:t>i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3025901" y="4051553"/>
            <a:ext cx="0" cy="370840"/>
          </a:xfrm>
          <a:custGeom>
            <a:avLst/>
            <a:gdLst/>
            <a:ahLst/>
            <a:cxnLst/>
            <a:rect l="l" t="t" r="r" b="b"/>
            <a:pathLst>
              <a:path w="0" h="370839">
                <a:moveTo>
                  <a:pt x="0" y="0"/>
                </a:moveTo>
                <a:lnTo>
                  <a:pt x="0" y="370332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2909442" y="3544315"/>
            <a:ext cx="132651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04215" algn="l"/>
                <a:tab pos="1076325" algn="l"/>
              </a:tabLst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baseline="-4960" sz="4200" spc="-7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endParaRPr baseline="-4960" sz="42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4082034" y="4101846"/>
            <a:ext cx="0" cy="368935"/>
          </a:xfrm>
          <a:custGeom>
            <a:avLst/>
            <a:gdLst/>
            <a:ahLst/>
            <a:cxnLst/>
            <a:rect l="l" t="t" r="r" b="b"/>
            <a:pathLst>
              <a:path w="0" h="368935">
                <a:moveTo>
                  <a:pt x="0" y="0"/>
                </a:moveTo>
                <a:lnTo>
                  <a:pt x="0" y="368807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4027423" y="4410913"/>
            <a:ext cx="13906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66FFFF"/>
                </a:solidFill>
                <a:latin typeface="Times New Roman"/>
                <a:cs typeface="Times New Roman"/>
              </a:rPr>
              <a:t>i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3803141" y="4508753"/>
            <a:ext cx="525780" cy="617220"/>
          </a:xfrm>
          <a:custGeom>
            <a:avLst/>
            <a:gdLst/>
            <a:ahLst/>
            <a:cxnLst/>
            <a:rect l="l" t="t" r="r" b="b"/>
            <a:pathLst>
              <a:path w="525779" h="617220">
                <a:moveTo>
                  <a:pt x="0" y="617220"/>
                </a:moveTo>
                <a:lnTo>
                  <a:pt x="525779" y="617220"/>
                </a:lnTo>
                <a:lnTo>
                  <a:pt x="525779" y="0"/>
                </a:lnTo>
                <a:lnTo>
                  <a:pt x="0" y="0"/>
                </a:lnTo>
                <a:lnTo>
                  <a:pt x="0" y="617220"/>
                </a:lnTo>
                <a:close/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830829" y="5278373"/>
            <a:ext cx="525780" cy="615950"/>
          </a:xfrm>
          <a:custGeom>
            <a:avLst/>
            <a:gdLst/>
            <a:ahLst/>
            <a:cxnLst/>
            <a:rect l="l" t="t" r="r" b="b"/>
            <a:pathLst>
              <a:path w="525779" h="615950">
                <a:moveTo>
                  <a:pt x="0" y="615695"/>
                </a:moveTo>
                <a:lnTo>
                  <a:pt x="525780" y="615695"/>
                </a:lnTo>
                <a:lnTo>
                  <a:pt x="525780" y="0"/>
                </a:lnTo>
                <a:lnTo>
                  <a:pt x="0" y="0"/>
                </a:lnTo>
                <a:lnTo>
                  <a:pt x="0" y="615695"/>
                </a:lnTo>
                <a:close/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4953508" y="3509390"/>
            <a:ext cx="1026160" cy="114300"/>
          </a:xfrm>
          <a:custGeom>
            <a:avLst/>
            <a:gdLst/>
            <a:ahLst/>
            <a:cxnLst/>
            <a:rect l="l" t="t" r="r" b="b"/>
            <a:pathLst>
              <a:path w="1026160" h="114300">
                <a:moveTo>
                  <a:pt x="152400" y="46100"/>
                </a:moveTo>
                <a:lnTo>
                  <a:pt x="0" y="47625"/>
                </a:lnTo>
                <a:lnTo>
                  <a:pt x="507" y="85725"/>
                </a:lnTo>
                <a:lnTo>
                  <a:pt x="152780" y="84200"/>
                </a:lnTo>
                <a:lnTo>
                  <a:pt x="152400" y="46100"/>
                </a:lnTo>
                <a:close/>
              </a:path>
              <a:path w="1026160" h="114300">
                <a:moveTo>
                  <a:pt x="419100" y="43307"/>
                </a:moveTo>
                <a:lnTo>
                  <a:pt x="266700" y="44831"/>
                </a:lnTo>
                <a:lnTo>
                  <a:pt x="267080" y="82931"/>
                </a:lnTo>
                <a:lnTo>
                  <a:pt x="419480" y="81407"/>
                </a:lnTo>
                <a:lnTo>
                  <a:pt x="419100" y="43307"/>
                </a:lnTo>
                <a:close/>
              </a:path>
              <a:path w="1026160" h="114300">
                <a:moveTo>
                  <a:pt x="685800" y="40512"/>
                </a:moveTo>
                <a:lnTo>
                  <a:pt x="533400" y="42037"/>
                </a:lnTo>
                <a:lnTo>
                  <a:pt x="533780" y="80137"/>
                </a:lnTo>
                <a:lnTo>
                  <a:pt x="686180" y="78612"/>
                </a:lnTo>
                <a:lnTo>
                  <a:pt x="685800" y="40512"/>
                </a:lnTo>
                <a:close/>
              </a:path>
              <a:path w="1026160" h="114300">
                <a:moveTo>
                  <a:pt x="988897" y="37973"/>
                </a:moveTo>
                <a:lnTo>
                  <a:pt x="930401" y="37973"/>
                </a:lnTo>
                <a:lnTo>
                  <a:pt x="930909" y="76073"/>
                </a:lnTo>
                <a:lnTo>
                  <a:pt x="911818" y="76258"/>
                </a:lnTo>
                <a:lnTo>
                  <a:pt x="912240" y="114300"/>
                </a:lnTo>
                <a:lnTo>
                  <a:pt x="1025905" y="56007"/>
                </a:lnTo>
                <a:lnTo>
                  <a:pt x="988897" y="37973"/>
                </a:lnTo>
                <a:close/>
              </a:path>
              <a:path w="1026160" h="114300">
                <a:moveTo>
                  <a:pt x="911394" y="38158"/>
                </a:moveTo>
                <a:lnTo>
                  <a:pt x="800100" y="39243"/>
                </a:lnTo>
                <a:lnTo>
                  <a:pt x="800480" y="77343"/>
                </a:lnTo>
                <a:lnTo>
                  <a:pt x="911818" y="76258"/>
                </a:lnTo>
                <a:lnTo>
                  <a:pt x="911394" y="38158"/>
                </a:lnTo>
                <a:close/>
              </a:path>
              <a:path w="1026160" h="114300">
                <a:moveTo>
                  <a:pt x="930401" y="37973"/>
                </a:moveTo>
                <a:lnTo>
                  <a:pt x="911394" y="38158"/>
                </a:lnTo>
                <a:lnTo>
                  <a:pt x="911818" y="76258"/>
                </a:lnTo>
                <a:lnTo>
                  <a:pt x="930909" y="76073"/>
                </a:lnTo>
                <a:lnTo>
                  <a:pt x="930401" y="37973"/>
                </a:lnTo>
                <a:close/>
              </a:path>
              <a:path w="1026160" h="114300">
                <a:moveTo>
                  <a:pt x="910970" y="0"/>
                </a:moveTo>
                <a:lnTo>
                  <a:pt x="911394" y="38158"/>
                </a:lnTo>
                <a:lnTo>
                  <a:pt x="988897" y="37973"/>
                </a:lnTo>
                <a:lnTo>
                  <a:pt x="910970" y="0"/>
                </a:lnTo>
                <a:close/>
              </a:path>
            </a:pathLst>
          </a:custGeom>
          <a:solidFill>
            <a:srgbClr val="CC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4318000" y="3737609"/>
            <a:ext cx="1661795" cy="1167765"/>
          </a:xfrm>
          <a:custGeom>
            <a:avLst/>
            <a:gdLst/>
            <a:ahLst/>
            <a:cxnLst/>
            <a:rect l="l" t="t" r="r" b="b"/>
            <a:pathLst>
              <a:path w="1661795" h="1167764">
                <a:moveTo>
                  <a:pt x="124967" y="1049273"/>
                </a:moveTo>
                <a:lnTo>
                  <a:pt x="0" y="1136522"/>
                </a:lnTo>
                <a:lnTo>
                  <a:pt x="21844" y="1167764"/>
                </a:lnTo>
                <a:lnTo>
                  <a:pt x="146812" y="1080515"/>
                </a:lnTo>
                <a:lnTo>
                  <a:pt x="124967" y="1049273"/>
                </a:lnTo>
                <a:close/>
              </a:path>
              <a:path w="1661795" h="1167764">
                <a:moveTo>
                  <a:pt x="343662" y="896619"/>
                </a:moveTo>
                <a:lnTo>
                  <a:pt x="218694" y="983869"/>
                </a:lnTo>
                <a:lnTo>
                  <a:pt x="240537" y="1015110"/>
                </a:lnTo>
                <a:lnTo>
                  <a:pt x="365505" y="927862"/>
                </a:lnTo>
                <a:lnTo>
                  <a:pt x="343662" y="896619"/>
                </a:lnTo>
                <a:close/>
              </a:path>
              <a:path w="1661795" h="1167764">
                <a:moveTo>
                  <a:pt x="562355" y="743965"/>
                </a:moveTo>
                <a:lnTo>
                  <a:pt x="437388" y="831214"/>
                </a:lnTo>
                <a:lnTo>
                  <a:pt x="459232" y="862457"/>
                </a:lnTo>
                <a:lnTo>
                  <a:pt x="584200" y="775207"/>
                </a:lnTo>
                <a:lnTo>
                  <a:pt x="562355" y="743965"/>
                </a:lnTo>
                <a:close/>
              </a:path>
              <a:path w="1661795" h="1167764">
                <a:moveTo>
                  <a:pt x="781050" y="591312"/>
                </a:moveTo>
                <a:lnTo>
                  <a:pt x="656082" y="678560"/>
                </a:lnTo>
                <a:lnTo>
                  <a:pt x="677926" y="709802"/>
                </a:lnTo>
                <a:lnTo>
                  <a:pt x="802894" y="622553"/>
                </a:lnTo>
                <a:lnTo>
                  <a:pt x="781050" y="591312"/>
                </a:lnTo>
                <a:close/>
              </a:path>
              <a:path w="1661795" h="1167764">
                <a:moveTo>
                  <a:pt x="999744" y="438657"/>
                </a:moveTo>
                <a:lnTo>
                  <a:pt x="874776" y="525907"/>
                </a:lnTo>
                <a:lnTo>
                  <a:pt x="896620" y="557148"/>
                </a:lnTo>
                <a:lnTo>
                  <a:pt x="1021588" y="469900"/>
                </a:lnTo>
                <a:lnTo>
                  <a:pt x="999744" y="438657"/>
                </a:lnTo>
                <a:close/>
              </a:path>
              <a:path w="1661795" h="1167764">
                <a:moveTo>
                  <a:pt x="1218438" y="286003"/>
                </a:moveTo>
                <a:lnTo>
                  <a:pt x="1093470" y="373252"/>
                </a:lnTo>
                <a:lnTo>
                  <a:pt x="1115314" y="404494"/>
                </a:lnTo>
                <a:lnTo>
                  <a:pt x="1240282" y="317245"/>
                </a:lnTo>
                <a:lnTo>
                  <a:pt x="1218438" y="286003"/>
                </a:lnTo>
                <a:close/>
              </a:path>
              <a:path w="1661795" h="1167764">
                <a:moveTo>
                  <a:pt x="1437132" y="133350"/>
                </a:moveTo>
                <a:lnTo>
                  <a:pt x="1312164" y="220598"/>
                </a:lnTo>
                <a:lnTo>
                  <a:pt x="1334008" y="251840"/>
                </a:lnTo>
                <a:lnTo>
                  <a:pt x="1458976" y="164591"/>
                </a:lnTo>
                <a:lnTo>
                  <a:pt x="1437132" y="133350"/>
                </a:lnTo>
                <a:close/>
              </a:path>
              <a:path w="1661795" h="1167764">
                <a:moveTo>
                  <a:pt x="1640312" y="38862"/>
                </a:moveTo>
                <a:lnTo>
                  <a:pt x="1572387" y="38862"/>
                </a:lnTo>
                <a:lnTo>
                  <a:pt x="1594230" y="70103"/>
                </a:lnTo>
                <a:lnTo>
                  <a:pt x="1578618" y="81037"/>
                </a:lnTo>
                <a:lnTo>
                  <a:pt x="1600453" y="112267"/>
                </a:lnTo>
                <a:lnTo>
                  <a:pt x="1640312" y="38862"/>
                </a:lnTo>
                <a:close/>
              </a:path>
              <a:path w="1661795" h="1167764">
                <a:moveTo>
                  <a:pt x="1556774" y="49795"/>
                </a:moveTo>
                <a:lnTo>
                  <a:pt x="1530858" y="67944"/>
                </a:lnTo>
                <a:lnTo>
                  <a:pt x="1552702" y="99187"/>
                </a:lnTo>
                <a:lnTo>
                  <a:pt x="1578618" y="81037"/>
                </a:lnTo>
                <a:lnTo>
                  <a:pt x="1556774" y="49795"/>
                </a:lnTo>
                <a:close/>
              </a:path>
              <a:path w="1661795" h="1167764">
                <a:moveTo>
                  <a:pt x="1572387" y="38862"/>
                </a:moveTo>
                <a:lnTo>
                  <a:pt x="1556774" y="49795"/>
                </a:lnTo>
                <a:lnTo>
                  <a:pt x="1578618" y="81037"/>
                </a:lnTo>
                <a:lnTo>
                  <a:pt x="1594230" y="70103"/>
                </a:lnTo>
                <a:lnTo>
                  <a:pt x="1572387" y="38862"/>
                </a:lnTo>
                <a:close/>
              </a:path>
              <a:path w="1661795" h="1167764">
                <a:moveTo>
                  <a:pt x="1661414" y="0"/>
                </a:moveTo>
                <a:lnTo>
                  <a:pt x="1534922" y="18541"/>
                </a:lnTo>
                <a:lnTo>
                  <a:pt x="1556774" y="49795"/>
                </a:lnTo>
                <a:lnTo>
                  <a:pt x="1572387" y="38862"/>
                </a:lnTo>
                <a:lnTo>
                  <a:pt x="1640312" y="38862"/>
                </a:lnTo>
                <a:lnTo>
                  <a:pt x="1661414" y="0"/>
                </a:lnTo>
                <a:close/>
              </a:path>
            </a:pathLst>
          </a:custGeom>
          <a:solidFill>
            <a:srgbClr val="CC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6058280" y="3216605"/>
            <a:ext cx="125095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heavy" sz="3200" spc="-5" b="1">
                <a:solidFill>
                  <a:srgbClr val="CCFF99"/>
                </a:solidFill>
                <a:uFill>
                  <a:solidFill>
                    <a:srgbClr val="CCFF99"/>
                  </a:solidFill>
                </a:uFill>
                <a:latin typeface="宋体"/>
                <a:cs typeface="宋体"/>
              </a:rPr>
              <a:t>素短语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3345815" y="3623309"/>
            <a:ext cx="2493645" cy="1715135"/>
          </a:xfrm>
          <a:custGeom>
            <a:avLst/>
            <a:gdLst/>
            <a:ahLst/>
            <a:cxnLst/>
            <a:rect l="l" t="t" r="r" b="b"/>
            <a:pathLst>
              <a:path w="2493645" h="1715135">
                <a:moveTo>
                  <a:pt x="125857" y="1597406"/>
                </a:moveTo>
                <a:lnTo>
                  <a:pt x="0" y="1683512"/>
                </a:lnTo>
                <a:lnTo>
                  <a:pt x="21589" y="1715008"/>
                </a:lnTo>
                <a:lnTo>
                  <a:pt x="147320" y="1628902"/>
                </a:lnTo>
                <a:lnTo>
                  <a:pt x="125857" y="1597406"/>
                </a:lnTo>
                <a:close/>
              </a:path>
              <a:path w="2493645" h="1715135">
                <a:moveTo>
                  <a:pt x="345821" y="1446783"/>
                </a:moveTo>
                <a:lnTo>
                  <a:pt x="220090" y="1532889"/>
                </a:lnTo>
                <a:lnTo>
                  <a:pt x="241681" y="1564385"/>
                </a:lnTo>
                <a:lnTo>
                  <a:pt x="367411" y="1478279"/>
                </a:lnTo>
                <a:lnTo>
                  <a:pt x="345821" y="1446783"/>
                </a:lnTo>
                <a:close/>
              </a:path>
              <a:path w="2493645" h="1715135">
                <a:moveTo>
                  <a:pt x="565912" y="1296162"/>
                </a:moveTo>
                <a:lnTo>
                  <a:pt x="440182" y="1382267"/>
                </a:lnTo>
                <a:lnTo>
                  <a:pt x="461772" y="1413764"/>
                </a:lnTo>
                <a:lnTo>
                  <a:pt x="587501" y="1327658"/>
                </a:lnTo>
                <a:lnTo>
                  <a:pt x="565912" y="1296162"/>
                </a:lnTo>
                <a:close/>
              </a:path>
              <a:path w="2493645" h="1715135">
                <a:moveTo>
                  <a:pt x="786002" y="1145539"/>
                </a:moveTo>
                <a:lnTo>
                  <a:pt x="660273" y="1231645"/>
                </a:lnTo>
                <a:lnTo>
                  <a:pt x="681863" y="1263014"/>
                </a:lnTo>
                <a:lnTo>
                  <a:pt x="807593" y="1177035"/>
                </a:lnTo>
                <a:lnTo>
                  <a:pt x="786002" y="1145539"/>
                </a:lnTo>
                <a:close/>
              </a:path>
              <a:path w="2493645" h="1715135">
                <a:moveTo>
                  <a:pt x="1006094" y="994917"/>
                </a:moveTo>
                <a:lnTo>
                  <a:pt x="880363" y="1081023"/>
                </a:lnTo>
                <a:lnTo>
                  <a:pt x="901826" y="1112392"/>
                </a:lnTo>
                <a:lnTo>
                  <a:pt x="1027684" y="1026287"/>
                </a:lnTo>
                <a:lnTo>
                  <a:pt x="1006094" y="994917"/>
                </a:lnTo>
                <a:close/>
              </a:path>
              <a:path w="2493645" h="1715135">
                <a:moveTo>
                  <a:pt x="1226185" y="844295"/>
                </a:moveTo>
                <a:lnTo>
                  <a:pt x="1100455" y="930401"/>
                </a:lnTo>
                <a:lnTo>
                  <a:pt x="1121918" y="961770"/>
                </a:lnTo>
                <a:lnTo>
                  <a:pt x="1247775" y="875664"/>
                </a:lnTo>
                <a:lnTo>
                  <a:pt x="1226185" y="844295"/>
                </a:lnTo>
                <a:close/>
              </a:path>
              <a:path w="2493645" h="1715135">
                <a:moveTo>
                  <a:pt x="1446276" y="693673"/>
                </a:moveTo>
                <a:lnTo>
                  <a:pt x="1320546" y="779652"/>
                </a:lnTo>
                <a:lnTo>
                  <a:pt x="1342009" y="811148"/>
                </a:lnTo>
                <a:lnTo>
                  <a:pt x="1467865" y="725042"/>
                </a:lnTo>
                <a:lnTo>
                  <a:pt x="1446276" y="693673"/>
                </a:lnTo>
                <a:close/>
              </a:path>
              <a:path w="2493645" h="1715135">
                <a:moveTo>
                  <a:pt x="1666367" y="542925"/>
                </a:moveTo>
                <a:lnTo>
                  <a:pt x="1540637" y="629031"/>
                </a:lnTo>
                <a:lnTo>
                  <a:pt x="1562100" y="660526"/>
                </a:lnTo>
                <a:lnTo>
                  <a:pt x="1687957" y="574420"/>
                </a:lnTo>
                <a:lnTo>
                  <a:pt x="1666367" y="542925"/>
                </a:lnTo>
                <a:close/>
              </a:path>
              <a:path w="2493645" h="1715135">
                <a:moveTo>
                  <a:pt x="1886458" y="392302"/>
                </a:moveTo>
                <a:lnTo>
                  <a:pt x="1760727" y="478408"/>
                </a:lnTo>
                <a:lnTo>
                  <a:pt x="1782190" y="509904"/>
                </a:lnTo>
                <a:lnTo>
                  <a:pt x="1907921" y="423798"/>
                </a:lnTo>
                <a:lnTo>
                  <a:pt x="1886458" y="392302"/>
                </a:lnTo>
                <a:close/>
              </a:path>
              <a:path w="2493645" h="1715135">
                <a:moveTo>
                  <a:pt x="2106549" y="241681"/>
                </a:moveTo>
                <a:lnTo>
                  <a:pt x="1980819" y="327787"/>
                </a:lnTo>
                <a:lnTo>
                  <a:pt x="2002282" y="359282"/>
                </a:lnTo>
                <a:lnTo>
                  <a:pt x="2128012" y="273176"/>
                </a:lnTo>
                <a:lnTo>
                  <a:pt x="2106549" y="241681"/>
                </a:lnTo>
                <a:close/>
              </a:path>
              <a:path w="2493645" h="1715135">
                <a:moveTo>
                  <a:pt x="2326640" y="91058"/>
                </a:moveTo>
                <a:lnTo>
                  <a:pt x="2200910" y="177164"/>
                </a:lnTo>
                <a:lnTo>
                  <a:pt x="2222373" y="208533"/>
                </a:lnTo>
                <a:lnTo>
                  <a:pt x="2348103" y="122554"/>
                </a:lnTo>
                <a:lnTo>
                  <a:pt x="2326640" y="91058"/>
                </a:lnTo>
                <a:close/>
              </a:path>
              <a:path w="2493645" h="1715135">
                <a:moveTo>
                  <a:pt x="2493391" y="0"/>
                </a:moveTo>
                <a:lnTo>
                  <a:pt x="2366772" y="17398"/>
                </a:lnTo>
                <a:lnTo>
                  <a:pt x="2431288" y="111759"/>
                </a:lnTo>
                <a:lnTo>
                  <a:pt x="2493391" y="0"/>
                </a:lnTo>
                <a:close/>
              </a:path>
            </a:pathLst>
          </a:custGeom>
          <a:solidFill>
            <a:srgbClr val="CC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5543803" y="892556"/>
            <a:ext cx="861694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44525" algn="l"/>
              </a:tabLst>
            </a:pPr>
            <a:r>
              <a:rPr dirty="0" sz="3200" spc="-5" b="1" i="1">
                <a:solidFill>
                  <a:srgbClr val="66FFFF"/>
                </a:solidFill>
                <a:latin typeface="Times New Roman"/>
                <a:cs typeface="Times New Roman"/>
              </a:rPr>
              <a:t>i</a:t>
            </a:r>
            <a:r>
              <a:rPr dirty="0" sz="3200" spc="5" b="1">
                <a:solidFill>
                  <a:srgbClr val="66FFFF"/>
                </a:solidFill>
                <a:latin typeface="Times New Roman"/>
                <a:cs typeface="Times New Roman"/>
              </a:rPr>
              <a:t>*</a:t>
            </a:r>
            <a:r>
              <a:rPr dirty="0" sz="3200" b="1" i="1">
                <a:solidFill>
                  <a:srgbClr val="66FFFF"/>
                </a:solidFill>
                <a:latin typeface="Times New Roman"/>
                <a:cs typeface="Times New Roman"/>
              </a:rPr>
              <a:t>i</a:t>
            </a:r>
            <a:r>
              <a:rPr dirty="0" sz="3200" b="1" i="1">
                <a:solidFill>
                  <a:srgbClr val="66FFFF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69"/>
                </a:solidFill>
                <a:latin typeface="Times New Roman"/>
                <a:cs typeface="Times New Roman"/>
              </a:rPr>
              <a:t>?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6684009" y="878205"/>
            <a:ext cx="1907539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baseline="-1736" sz="4800" b="1" i="1">
                <a:solidFill>
                  <a:srgbClr val="66FFFF"/>
                </a:solidFill>
                <a:latin typeface="Times New Roman"/>
                <a:cs typeface="Times New Roman"/>
              </a:rPr>
              <a:t>T</a:t>
            </a:r>
            <a:r>
              <a:rPr dirty="0" baseline="-1736" sz="4800" spc="-82" b="1" i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baseline="-1736" sz="4800" b="1">
                <a:solidFill>
                  <a:srgbClr val="FFFF69"/>
                </a:solidFill>
                <a:latin typeface="Times New Roman"/>
                <a:cs typeface="Times New Roman"/>
              </a:rPr>
              <a:t>?</a:t>
            </a:r>
            <a:r>
              <a:rPr dirty="0" baseline="-1736" sz="4800" spc="-37" b="1">
                <a:solidFill>
                  <a:srgbClr val="FFFF69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是短语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21640" y="473786"/>
            <a:ext cx="1873885" cy="587375"/>
          </a:xfrm>
          <a:prstGeom prst="rect"/>
        </p:spPr>
        <p:txBody>
          <a:bodyPr wrap="square" lIns="0" tIns="74295" rIns="0" bIns="0" rtlCol="0" vert="horz">
            <a:spAutoFit/>
          </a:bodyPr>
          <a:lstStyle/>
          <a:p>
            <a:pPr marL="429895" indent="-417830">
              <a:lnSpc>
                <a:spcPct val="100000"/>
              </a:lnSpc>
              <a:spcBef>
                <a:spcPts val="585"/>
              </a:spcBef>
              <a:buClr>
                <a:srgbClr val="99FF99"/>
              </a:buClr>
              <a:buSzPct val="114062"/>
              <a:buFont typeface="Wingdings"/>
              <a:buChar char=""/>
              <a:tabLst>
                <a:tab pos="429895" algn="l"/>
                <a:tab pos="430530" algn="l"/>
              </a:tabLst>
            </a:pPr>
            <a:r>
              <a:rPr dirty="0" sz="3200">
                <a:solidFill>
                  <a:srgbClr val="FFFF15"/>
                </a:solidFill>
              </a:rPr>
              <a:t>定</a:t>
            </a:r>
            <a:r>
              <a:rPr dirty="0" sz="3200" spc="-5">
                <a:solidFill>
                  <a:srgbClr val="FFFF15"/>
                </a:solidFill>
              </a:rPr>
              <a:t>理</a:t>
            </a:r>
            <a:r>
              <a:rPr dirty="0" sz="3200" spc="-5">
                <a:solidFill>
                  <a:srgbClr val="FFFF15"/>
                </a:solidFill>
                <a:latin typeface="Times New Roman"/>
                <a:cs typeface="Times New Roman"/>
              </a:rPr>
              <a:t>5</a:t>
            </a:r>
            <a:r>
              <a:rPr dirty="0" sz="3200" spc="-5">
                <a:solidFill>
                  <a:srgbClr val="FFFF15"/>
                </a:solidFill>
              </a:rPr>
              <a:t>.1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0840" y="1029080"/>
            <a:ext cx="8695055" cy="3498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3500" marR="55880">
              <a:lnSpc>
                <a:spcPct val="100000"/>
              </a:lnSpc>
              <a:spcBef>
                <a:spcPts val="100"/>
              </a:spcBef>
            </a:pP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一个算符优先文</a:t>
            </a:r>
            <a:r>
              <a:rPr dirty="0" sz="3000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30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0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它的任何句型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N</a:t>
            </a:r>
            <a:r>
              <a:rPr dirty="0" baseline="-25525" sz="2775" b="1">
                <a:solidFill>
                  <a:srgbClr val="FFFF00"/>
                </a:solidFill>
                <a:latin typeface="Times New Roman"/>
                <a:cs typeface="Times New Roman"/>
              </a:rPr>
              <a:t>0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baseline="-25525" sz="2775" b="1">
                <a:solidFill>
                  <a:srgbClr val="FFFF00"/>
                </a:solidFill>
                <a:latin typeface="Times New Roman"/>
                <a:cs typeface="Times New Roman"/>
              </a:rPr>
              <a:t>0</a:t>
            </a:r>
            <a:r>
              <a:rPr dirty="0" sz="2800" b="1" i="1">
                <a:solidFill>
                  <a:srgbClr val="FFFF00"/>
                </a:solidFill>
                <a:latin typeface="Courier New"/>
                <a:cs typeface="Courier New"/>
              </a:rPr>
              <a:t>…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N</a:t>
            </a:r>
            <a:r>
              <a:rPr dirty="0" baseline="-25525" sz="2775" b="1" i="1">
                <a:solidFill>
                  <a:srgbClr val="FFFF00"/>
                </a:solidFill>
                <a:latin typeface="Times New Roman"/>
                <a:cs typeface="Times New Roman"/>
              </a:rPr>
              <a:t>n-</a:t>
            </a:r>
            <a:r>
              <a:rPr dirty="0" baseline="-25525" sz="2775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baseline="-25525" sz="2775" b="1" i="1">
                <a:solidFill>
                  <a:srgbClr val="FFFF00"/>
                </a:solidFill>
                <a:latin typeface="Times New Roman"/>
                <a:cs typeface="Times New Roman"/>
              </a:rPr>
              <a:t>n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N</a:t>
            </a:r>
            <a:r>
              <a:rPr dirty="0" baseline="-25525" sz="2775" b="1" i="1">
                <a:solidFill>
                  <a:srgbClr val="FFFF00"/>
                </a:solidFill>
                <a:latin typeface="Times New Roman"/>
                <a:cs typeface="Times New Roman"/>
              </a:rPr>
              <a:t>n</a:t>
            </a:r>
            <a:r>
              <a:rPr dirty="0" sz="3000" spc="-15" b="1">
                <a:solidFill>
                  <a:srgbClr val="FFFFFF"/>
                </a:solidFill>
                <a:latin typeface="宋体"/>
                <a:cs typeface="宋体"/>
              </a:rPr>
              <a:t>的 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最左素短语是满足下列条件的最左子串</a:t>
            </a:r>
            <a:endParaRPr sz="3000">
              <a:latin typeface="宋体"/>
              <a:cs typeface="宋体"/>
            </a:endParaRPr>
          </a:p>
          <a:p>
            <a:pPr marL="1080135">
              <a:lnSpc>
                <a:spcPts val="3365"/>
              </a:lnSpc>
              <a:spcBef>
                <a:spcPts val="940"/>
              </a:spcBef>
            </a:pPr>
            <a:r>
              <a:rPr dirty="0" baseline="16493" sz="4800" b="1" i="1">
                <a:solidFill>
                  <a:srgbClr val="FFFF00"/>
                </a:solidFill>
                <a:latin typeface="Times New Roman"/>
                <a:cs typeface="Times New Roman"/>
              </a:rPr>
              <a:t>N</a:t>
            </a:r>
            <a:r>
              <a:rPr dirty="0" sz="2100" b="1" i="1">
                <a:solidFill>
                  <a:srgbClr val="FFFF00"/>
                </a:solidFill>
                <a:latin typeface="Times New Roman"/>
                <a:cs typeface="Times New Roman"/>
              </a:rPr>
              <a:t>j</a:t>
            </a:r>
            <a:r>
              <a:rPr dirty="0" baseline="16493" sz="48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100" b="1" i="1">
                <a:solidFill>
                  <a:srgbClr val="FFFF00"/>
                </a:solidFill>
                <a:latin typeface="Times New Roman"/>
                <a:cs typeface="Times New Roman"/>
              </a:rPr>
              <a:t>j</a:t>
            </a:r>
            <a:r>
              <a:rPr dirty="0" baseline="16493" sz="4800" b="1" i="1">
                <a:solidFill>
                  <a:srgbClr val="FFFF00"/>
                </a:solidFill>
                <a:latin typeface="Courier New"/>
                <a:cs typeface="Courier New"/>
              </a:rPr>
              <a:t>…</a:t>
            </a:r>
            <a:r>
              <a:rPr dirty="0" baseline="16493" sz="4800" b="1" i="1">
                <a:solidFill>
                  <a:srgbClr val="FFFF00"/>
                </a:solidFill>
                <a:latin typeface="Times New Roman"/>
                <a:cs typeface="Times New Roman"/>
              </a:rPr>
              <a:t>N</a:t>
            </a:r>
            <a:r>
              <a:rPr dirty="0" sz="2100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baseline="16493" sz="48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100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baseline="16493" sz="4800" b="1" i="1">
                <a:solidFill>
                  <a:srgbClr val="FFFF00"/>
                </a:solidFill>
                <a:latin typeface="Times New Roman"/>
                <a:cs typeface="Times New Roman"/>
              </a:rPr>
              <a:t>N</a:t>
            </a:r>
            <a:r>
              <a:rPr dirty="0" sz="2100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sz="2100" b="1">
                <a:solidFill>
                  <a:srgbClr val="FFFF00"/>
                </a:solidFill>
                <a:latin typeface="Times New Roman"/>
                <a:cs typeface="Times New Roman"/>
              </a:rPr>
              <a:t>+1</a:t>
            </a:r>
            <a:endParaRPr sz="2100">
              <a:latin typeface="Times New Roman"/>
              <a:cs typeface="Times New Roman"/>
            </a:endParaRPr>
          </a:p>
          <a:p>
            <a:pPr marL="775335">
              <a:lnSpc>
                <a:spcPts val="3365"/>
              </a:lnSpc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其中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-25525" sz="2775" b="1" i="1">
                <a:solidFill>
                  <a:srgbClr val="FFFFFF"/>
                </a:solidFill>
                <a:latin typeface="Times New Roman"/>
                <a:cs typeface="Times New Roman"/>
              </a:rPr>
              <a:t>k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∈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-25525" sz="2775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 ≤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k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≤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2800" spc="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40" b="1">
                <a:solidFill>
                  <a:srgbClr val="FFFFFF"/>
                </a:solidFill>
                <a:latin typeface="Times New Roman"/>
                <a:cs typeface="Times New Roman"/>
              </a:rPr>
              <a:t>),</a:t>
            </a:r>
            <a:r>
              <a:rPr dirty="0" sz="2950" spc="-40" b="1" i="1">
                <a:solidFill>
                  <a:srgbClr val="FFFFFF"/>
                </a:solidFill>
                <a:latin typeface="宋体"/>
                <a:cs typeface="宋体"/>
              </a:rPr>
              <a:t>Ｎ</a:t>
            </a:r>
            <a:r>
              <a:rPr dirty="0" baseline="-21021" sz="2775" spc="-60" b="1" i="1">
                <a:solidFill>
                  <a:srgbClr val="FFFFFF"/>
                </a:solidFill>
                <a:latin typeface="Times New Roman"/>
                <a:cs typeface="Times New Roman"/>
              </a:rPr>
              <a:t>k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是可有可无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950" spc="-70" b="1" i="1">
                <a:solidFill>
                  <a:srgbClr val="FFFFFF"/>
                </a:solidFill>
                <a:latin typeface="宋体"/>
                <a:cs typeface="宋体"/>
              </a:rPr>
              <a:t>Ｖ</a:t>
            </a:r>
            <a:r>
              <a:rPr dirty="0" baseline="-25525" sz="2775" spc="-104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baseline="-25525" sz="2775" spc="37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endParaRPr sz="3200">
              <a:latin typeface="宋体"/>
              <a:cs typeface="宋体"/>
            </a:endParaRPr>
          </a:p>
          <a:p>
            <a:pPr marL="1694180">
              <a:lnSpc>
                <a:spcPts val="3815"/>
              </a:lnSpc>
            </a:pP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-25132" sz="3150" spc="7" b="1" i="1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dirty="0" baseline="-25132" sz="3150" spc="7" b="1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dirty="0" baseline="-25132" sz="3150" spc="7" b="1" i="1">
                <a:solidFill>
                  <a:srgbClr val="FFFFFF"/>
                </a:solidFill>
                <a:latin typeface="Times New Roman"/>
                <a:cs typeface="Times New Roman"/>
              </a:rPr>
              <a:t>k </a:t>
            </a:r>
            <a:r>
              <a:rPr dirty="0" sz="3200" spc="45" b="1">
                <a:solidFill>
                  <a:srgbClr val="FFFF69"/>
                </a:solidFill>
                <a:latin typeface="Cambria Math"/>
                <a:cs typeface="Cambria Math"/>
              </a:rPr>
              <a:t>⋖ </a:t>
            </a:r>
            <a:r>
              <a:rPr dirty="0" sz="3200" spc="10" b="1" i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dirty="0" baseline="-25132" sz="3150" spc="15" b="1" i="1">
                <a:solidFill>
                  <a:srgbClr val="66FFFF"/>
                </a:solidFill>
                <a:latin typeface="Times New Roman"/>
                <a:cs typeface="Times New Roman"/>
              </a:rPr>
              <a:t>j</a:t>
            </a:r>
            <a:r>
              <a:rPr dirty="0" baseline="-25132" sz="3150" spc="15" b="1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dirty="0" baseline="-25132" sz="3150" spc="15" b="1" i="1">
                <a:solidFill>
                  <a:srgbClr val="FFFFFF"/>
                </a:solidFill>
                <a:latin typeface="Times New Roman"/>
                <a:cs typeface="Times New Roman"/>
              </a:rPr>
              <a:t>k+</a:t>
            </a:r>
            <a:r>
              <a:rPr dirty="0" baseline="-25132" sz="3150" spc="15" b="1">
                <a:solidFill>
                  <a:srgbClr val="FFFFFF"/>
                </a:solidFill>
                <a:latin typeface="Times New Roman"/>
                <a:cs typeface="Times New Roman"/>
              </a:rPr>
              <a:t>1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(1≤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k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≤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dirty="0" sz="3200" spc="-55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  <a:p>
            <a:pPr marL="1689735">
              <a:lnSpc>
                <a:spcPts val="3815"/>
              </a:lnSpc>
            </a:pPr>
            <a:r>
              <a:rPr dirty="0" sz="3200" spc="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baseline="-25132" sz="3150" spc="7" b="1" i="1">
                <a:solidFill>
                  <a:srgbClr val="FFFF00"/>
                </a:solidFill>
                <a:latin typeface="Times New Roman"/>
                <a:cs typeface="Times New Roman"/>
              </a:rPr>
              <a:t>j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= </a:t>
            </a:r>
            <a:r>
              <a:rPr dirty="0" sz="3200" spc="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baseline="-25132" sz="3150" spc="7" b="1" i="1">
                <a:solidFill>
                  <a:srgbClr val="FFFF00"/>
                </a:solidFill>
                <a:latin typeface="Times New Roman"/>
                <a:cs typeface="Times New Roman"/>
              </a:rPr>
              <a:t>j</a:t>
            </a:r>
            <a:r>
              <a:rPr dirty="0" baseline="-25132" sz="3150" spc="7" b="1">
                <a:solidFill>
                  <a:srgbClr val="FFFF00"/>
                </a:solidFill>
                <a:latin typeface="Times New Roman"/>
                <a:cs typeface="Times New Roman"/>
              </a:rPr>
              <a:t>+1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, </a:t>
            </a:r>
            <a:r>
              <a:rPr dirty="0" sz="3200" b="1">
                <a:solidFill>
                  <a:srgbClr val="FFFF00"/>
                </a:solidFill>
                <a:latin typeface="Courier New"/>
                <a:cs typeface="Courier New"/>
              </a:rPr>
              <a:t>…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, </a:t>
            </a:r>
            <a:r>
              <a:rPr dirty="0" sz="3200" spc="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baseline="-25132" sz="3150" spc="7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baseline="-25132" sz="3150" spc="7" b="1">
                <a:solidFill>
                  <a:srgbClr val="FFFF00"/>
                </a:solidFill>
                <a:latin typeface="Times New Roman"/>
                <a:cs typeface="Times New Roman"/>
              </a:rPr>
              <a:t>-1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=</a:t>
            </a:r>
            <a:r>
              <a:rPr dirty="0" sz="3200" spc="-47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baseline="-25132" sz="3150" spc="7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endParaRPr baseline="-25132" sz="3150">
              <a:latin typeface="Times New Roman"/>
              <a:cs typeface="Times New Roman"/>
            </a:endParaRPr>
          </a:p>
          <a:p>
            <a:pPr marL="1689735">
              <a:lnSpc>
                <a:spcPct val="100000"/>
              </a:lnSpc>
              <a:spcBef>
                <a:spcPts val="994"/>
              </a:spcBef>
            </a:pPr>
            <a:r>
              <a:rPr dirty="0" baseline="16493" sz="4800" spc="7" b="1" i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dirty="0" sz="2100" spc="5" b="1" i="1">
                <a:solidFill>
                  <a:srgbClr val="66FFFF"/>
                </a:solidFill>
                <a:latin typeface="Times New Roman"/>
                <a:cs typeface="Times New Roman"/>
              </a:rPr>
              <a:t>i</a:t>
            </a:r>
            <a:r>
              <a:rPr dirty="0" sz="2100" spc="-10" b="1" i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baseline="16493" sz="4800" spc="7" b="1">
                <a:solidFill>
                  <a:srgbClr val="FFFF00"/>
                </a:solidFill>
                <a:latin typeface="Cambria Math"/>
                <a:cs typeface="Cambria Math"/>
              </a:rPr>
              <a:t>⋗</a:t>
            </a:r>
            <a:r>
              <a:rPr dirty="0" baseline="16493" sz="4800" spc="7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100" spc="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100" spc="5" b="1">
                <a:solidFill>
                  <a:srgbClr val="FFFFFF"/>
                </a:solidFill>
                <a:latin typeface="Times New Roman"/>
                <a:cs typeface="Times New Roman"/>
              </a:rPr>
              <a:t>+1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49174" y="4706873"/>
            <a:ext cx="8734044" cy="18928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49174" y="4706873"/>
            <a:ext cx="8734425" cy="1892935"/>
          </a:xfrm>
          <a:prstGeom prst="rect">
            <a:avLst/>
          </a:prstGeom>
          <a:ln w="38100">
            <a:solidFill>
              <a:srgbClr val="FFD4FF"/>
            </a:solidFill>
          </a:ln>
        </p:spPr>
        <p:txBody>
          <a:bodyPr wrap="square" lIns="0" tIns="31750" rIns="0" bIns="0" rtlCol="0" vert="horz">
            <a:spAutoFit/>
          </a:bodyPr>
          <a:lstStyle/>
          <a:p>
            <a:pPr algn="just" marL="89535" marR="213360">
              <a:lnSpc>
                <a:spcPct val="120000"/>
              </a:lnSpc>
              <a:spcBef>
                <a:spcPts val="250"/>
              </a:spcBef>
            </a:pPr>
            <a:r>
              <a:rPr dirty="0" sz="3200" b="1">
                <a:latin typeface="宋体"/>
                <a:cs typeface="宋体"/>
              </a:rPr>
              <a:t>出现在</a:t>
            </a:r>
            <a:r>
              <a:rPr dirty="0" sz="3200" spc="5" b="1" i="1">
                <a:latin typeface="Times New Roman"/>
                <a:cs typeface="Times New Roman"/>
              </a:rPr>
              <a:t>a</a:t>
            </a:r>
            <a:r>
              <a:rPr dirty="0" baseline="-25132" sz="3150" spc="7" b="1" i="1">
                <a:latin typeface="Times New Roman"/>
                <a:cs typeface="Times New Roman"/>
              </a:rPr>
              <a:t>i</a:t>
            </a:r>
            <a:r>
              <a:rPr dirty="0" sz="3200" b="1">
                <a:latin typeface="宋体"/>
                <a:cs typeface="宋体"/>
              </a:rPr>
              <a:t>左端和</a:t>
            </a:r>
            <a:r>
              <a:rPr dirty="0" sz="3200" b="1" i="1">
                <a:latin typeface="Times New Roman"/>
                <a:cs typeface="Times New Roman"/>
              </a:rPr>
              <a:t>a</a:t>
            </a:r>
            <a:r>
              <a:rPr dirty="0" baseline="-25132" sz="3150" b="1" i="1">
                <a:latin typeface="Times New Roman"/>
                <a:cs typeface="Times New Roman"/>
              </a:rPr>
              <a:t>j</a:t>
            </a:r>
            <a:r>
              <a:rPr dirty="0" sz="3200" spc="-5" b="1">
                <a:latin typeface="宋体"/>
                <a:cs typeface="宋体"/>
              </a:rPr>
              <a:t>右</a:t>
            </a:r>
            <a:r>
              <a:rPr dirty="0" sz="3200" spc="-10" b="1">
                <a:latin typeface="宋体"/>
                <a:cs typeface="宋体"/>
              </a:rPr>
              <a:t>端</a:t>
            </a:r>
            <a:r>
              <a:rPr dirty="0" sz="3200" spc="5" b="1">
                <a:latin typeface="宋体"/>
                <a:cs typeface="宋体"/>
              </a:rPr>
              <a:t>的</a:t>
            </a:r>
            <a:r>
              <a:rPr dirty="0" sz="3200" b="1">
                <a:latin typeface="宋体"/>
                <a:cs typeface="宋体"/>
              </a:rPr>
              <a:t>文</a:t>
            </a:r>
            <a:r>
              <a:rPr dirty="0" sz="3200" spc="-10" b="1">
                <a:latin typeface="宋体"/>
                <a:cs typeface="宋体"/>
              </a:rPr>
              <a:t>法</a:t>
            </a:r>
            <a:r>
              <a:rPr dirty="0" sz="3200" b="1">
                <a:latin typeface="宋体"/>
                <a:cs typeface="宋体"/>
              </a:rPr>
              <a:t>符号</a:t>
            </a:r>
            <a:r>
              <a:rPr dirty="0" sz="3200" spc="-5" b="1">
                <a:latin typeface="宋体"/>
                <a:cs typeface="宋体"/>
              </a:rPr>
              <a:t>一</a:t>
            </a:r>
            <a:r>
              <a:rPr dirty="0" sz="3200" spc="-10" b="1">
                <a:latin typeface="宋体"/>
                <a:cs typeface="宋体"/>
              </a:rPr>
              <a:t>定</a:t>
            </a:r>
            <a:r>
              <a:rPr dirty="0" sz="3200" spc="-5" b="1">
                <a:latin typeface="宋体"/>
                <a:cs typeface="宋体"/>
              </a:rPr>
              <a:t>属于</a:t>
            </a:r>
            <a:r>
              <a:rPr dirty="0" sz="3200" spc="-10" b="1">
                <a:latin typeface="宋体"/>
                <a:cs typeface="宋体"/>
              </a:rPr>
              <a:t>该素 </a:t>
            </a:r>
            <a:r>
              <a:rPr dirty="0" sz="3200" b="1">
                <a:latin typeface="宋体"/>
                <a:cs typeface="宋体"/>
              </a:rPr>
              <a:t>短</a:t>
            </a:r>
            <a:r>
              <a:rPr dirty="0" sz="3200" spc="-10" b="1">
                <a:latin typeface="宋体"/>
                <a:cs typeface="宋体"/>
              </a:rPr>
              <a:t>语</a:t>
            </a:r>
            <a:r>
              <a:rPr dirty="0" sz="3200" spc="-860" b="1">
                <a:latin typeface="宋体"/>
                <a:cs typeface="宋体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(</a:t>
            </a:r>
            <a:r>
              <a:rPr dirty="0" sz="3200" b="1">
                <a:latin typeface="宋体"/>
                <a:cs typeface="宋体"/>
              </a:rPr>
              <a:t>含</a:t>
            </a:r>
            <a:r>
              <a:rPr dirty="0" sz="3200" b="1" i="1">
                <a:latin typeface="Times New Roman"/>
                <a:cs typeface="Times New Roman"/>
              </a:rPr>
              <a:t>a</a:t>
            </a:r>
            <a:r>
              <a:rPr dirty="0" baseline="-25132" sz="3150" b="1" i="1">
                <a:latin typeface="Times New Roman"/>
                <a:cs typeface="Times New Roman"/>
              </a:rPr>
              <a:t>i</a:t>
            </a:r>
            <a:r>
              <a:rPr dirty="0" sz="3200" b="1">
                <a:latin typeface="宋体"/>
                <a:cs typeface="宋体"/>
              </a:rPr>
              <a:t>和</a:t>
            </a:r>
            <a:r>
              <a:rPr dirty="0" sz="3200" b="1" i="1">
                <a:latin typeface="Times New Roman"/>
                <a:cs typeface="Times New Roman"/>
              </a:rPr>
              <a:t>a</a:t>
            </a:r>
            <a:r>
              <a:rPr dirty="0" baseline="-25132" sz="3150" b="1" i="1">
                <a:latin typeface="Times New Roman"/>
                <a:cs typeface="Times New Roman"/>
              </a:rPr>
              <a:t>j</a:t>
            </a:r>
            <a:r>
              <a:rPr dirty="0" sz="3200" b="1">
                <a:latin typeface="Times New Roman"/>
                <a:cs typeface="Times New Roman"/>
              </a:rPr>
              <a:t>)</a:t>
            </a:r>
            <a:r>
              <a:rPr dirty="0" sz="3200" b="1">
                <a:latin typeface="宋体"/>
                <a:cs typeface="宋体"/>
              </a:rPr>
              <a:t>，且</a:t>
            </a:r>
            <a:r>
              <a:rPr dirty="0" sz="3200" spc="-10" b="1">
                <a:latin typeface="宋体"/>
                <a:cs typeface="宋体"/>
              </a:rPr>
              <a:t>出</a:t>
            </a:r>
            <a:r>
              <a:rPr dirty="0" sz="3200" spc="-5" b="1">
                <a:latin typeface="宋体"/>
                <a:cs typeface="宋体"/>
              </a:rPr>
              <a:t>现</a:t>
            </a:r>
            <a:r>
              <a:rPr dirty="0" sz="3200" b="1">
                <a:latin typeface="宋体"/>
                <a:cs typeface="宋体"/>
              </a:rPr>
              <a:t>在</a:t>
            </a:r>
            <a:r>
              <a:rPr dirty="0" sz="3200" spc="-5" b="1" i="1">
                <a:latin typeface="Times New Roman"/>
                <a:cs typeface="Times New Roman"/>
              </a:rPr>
              <a:t>a</a:t>
            </a:r>
            <a:r>
              <a:rPr dirty="0" baseline="-25132" sz="3150" spc="-7" b="1" i="1">
                <a:latin typeface="Times New Roman"/>
                <a:cs typeface="Times New Roman"/>
              </a:rPr>
              <a:t>i</a:t>
            </a:r>
            <a:r>
              <a:rPr dirty="0" sz="3200" spc="-5" b="1">
                <a:latin typeface="宋体"/>
                <a:cs typeface="宋体"/>
              </a:rPr>
              <a:t>右</a:t>
            </a:r>
            <a:r>
              <a:rPr dirty="0" sz="3200" spc="-10" b="1">
                <a:latin typeface="宋体"/>
                <a:cs typeface="宋体"/>
              </a:rPr>
              <a:t>端</a:t>
            </a:r>
            <a:r>
              <a:rPr dirty="0" sz="3200" spc="5" b="1">
                <a:latin typeface="宋体"/>
                <a:cs typeface="宋体"/>
              </a:rPr>
              <a:t>和</a:t>
            </a:r>
            <a:r>
              <a:rPr dirty="0" sz="3200" spc="-5" b="1" i="1">
                <a:latin typeface="Times New Roman"/>
                <a:cs typeface="Times New Roman"/>
              </a:rPr>
              <a:t>a</a:t>
            </a:r>
            <a:r>
              <a:rPr dirty="0" baseline="-25132" sz="3150" spc="-7" b="1" i="1">
                <a:latin typeface="Times New Roman"/>
                <a:cs typeface="Times New Roman"/>
              </a:rPr>
              <a:t>j</a:t>
            </a:r>
            <a:r>
              <a:rPr dirty="0" sz="3200" b="1">
                <a:latin typeface="宋体"/>
                <a:cs typeface="宋体"/>
              </a:rPr>
              <a:t>左端</a:t>
            </a:r>
            <a:r>
              <a:rPr dirty="0" sz="3200" spc="5" b="1">
                <a:latin typeface="宋体"/>
                <a:cs typeface="宋体"/>
              </a:rPr>
              <a:t>的</a:t>
            </a:r>
            <a:r>
              <a:rPr dirty="0" sz="3200" spc="-10" b="1">
                <a:latin typeface="宋体"/>
                <a:cs typeface="宋体"/>
              </a:rPr>
              <a:t>一个 </a:t>
            </a:r>
            <a:r>
              <a:rPr dirty="0" sz="3200" b="1">
                <a:latin typeface="宋体"/>
                <a:cs typeface="宋体"/>
              </a:rPr>
              <a:t>非终结符（若有</a:t>
            </a:r>
            <a:r>
              <a:rPr dirty="0" sz="3200" b="1" i="1">
                <a:latin typeface="Times New Roman"/>
                <a:cs typeface="Times New Roman"/>
              </a:rPr>
              <a:t>N</a:t>
            </a:r>
            <a:r>
              <a:rPr dirty="0" baseline="-21164" sz="3150" b="1" i="1">
                <a:latin typeface="Times New Roman"/>
                <a:cs typeface="Times New Roman"/>
              </a:rPr>
              <a:t>j</a:t>
            </a:r>
            <a:r>
              <a:rPr dirty="0" sz="3200" b="1">
                <a:latin typeface="宋体"/>
                <a:cs typeface="宋体"/>
              </a:rPr>
              <a:t>，</a:t>
            </a:r>
            <a:r>
              <a:rPr dirty="0" sz="3200" b="1" i="1">
                <a:latin typeface="Times New Roman"/>
                <a:cs typeface="Times New Roman"/>
              </a:rPr>
              <a:t>N</a:t>
            </a:r>
            <a:r>
              <a:rPr dirty="0" baseline="-21164" sz="3150" b="1" i="1">
                <a:latin typeface="Times New Roman"/>
                <a:cs typeface="Times New Roman"/>
              </a:rPr>
              <a:t>i</a:t>
            </a:r>
            <a:r>
              <a:rPr dirty="0" baseline="-25132" sz="3150" b="1">
                <a:latin typeface="Times New Roman"/>
                <a:cs typeface="Times New Roman"/>
              </a:rPr>
              <a:t>+1</a:t>
            </a:r>
            <a:r>
              <a:rPr dirty="0" sz="3200" b="1">
                <a:latin typeface="宋体"/>
                <a:cs typeface="宋体"/>
              </a:rPr>
              <a:t>）</a:t>
            </a:r>
            <a:r>
              <a:rPr dirty="0" sz="3200" spc="-5" b="1">
                <a:latin typeface="宋体"/>
                <a:cs typeface="宋体"/>
              </a:rPr>
              <a:t>一定</a:t>
            </a:r>
            <a:r>
              <a:rPr dirty="0" sz="3200" spc="-10" b="1">
                <a:latin typeface="宋体"/>
                <a:cs typeface="宋体"/>
              </a:rPr>
              <a:t>属</a:t>
            </a:r>
            <a:r>
              <a:rPr dirty="0" sz="3200" spc="-5" b="1">
                <a:latin typeface="宋体"/>
                <a:cs typeface="宋体"/>
              </a:rPr>
              <a:t>于该素</a:t>
            </a:r>
            <a:r>
              <a:rPr dirty="0" sz="3200" spc="-10" b="1">
                <a:latin typeface="宋体"/>
                <a:cs typeface="宋体"/>
              </a:rPr>
              <a:t>短</a:t>
            </a:r>
            <a:r>
              <a:rPr dirty="0" sz="3200" spc="15" b="1">
                <a:latin typeface="宋体"/>
                <a:cs typeface="宋体"/>
              </a:rPr>
              <a:t>语</a:t>
            </a:r>
            <a:r>
              <a:rPr dirty="0" sz="3200" spc="-10" b="1"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887473" y="3620261"/>
            <a:ext cx="3904615" cy="431800"/>
          </a:xfrm>
          <a:custGeom>
            <a:avLst/>
            <a:gdLst/>
            <a:ahLst/>
            <a:cxnLst/>
            <a:rect l="l" t="t" r="r" b="b"/>
            <a:pathLst>
              <a:path w="3904615" h="431800">
                <a:moveTo>
                  <a:pt x="0" y="431292"/>
                </a:moveTo>
                <a:lnTo>
                  <a:pt x="3904488" y="431292"/>
                </a:lnTo>
                <a:lnTo>
                  <a:pt x="3904488" y="0"/>
                </a:lnTo>
                <a:lnTo>
                  <a:pt x="0" y="0"/>
                </a:lnTo>
                <a:lnTo>
                  <a:pt x="0" y="431292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005483" y="438285"/>
            <a:ext cx="6138545" cy="734060"/>
          </a:xfrm>
          <a:custGeom>
            <a:avLst/>
            <a:gdLst/>
            <a:ahLst/>
            <a:cxnLst/>
            <a:rect l="l" t="t" r="r" b="b"/>
            <a:pathLst>
              <a:path w="6138545" h="734060">
                <a:moveTo>
                  <a:pt x="3938172" y="665480"/>
                </a:moveTo>
                <a:lnTo>
                  <a:pt x="2345280" y="665480"/>
                </a:lnTo>
                <a:lnTo>
                  <a:pt x="2384050" y="674370"/>
                </a:lnTo>
                <a:lnTo>
                  <a:pt x="2426243" y="681989"/>
                </a:lnTo>
                <a:lnTo>
                  <a:pt x="2471672" y="689610"/>
                </a:lnTo>
                <a:lnTo>
                  <a:pt x="2520148" y="697230"/>
                </a:lnTo>
                <a:lnTo>
                  <a:pt x="2625489" y="709930"/>
                </a:lnTo>
                <a:lnTo>
                  <a:pt x="2740760" y="720089"/>
                </a:lnTo>
                <a:lnTo>
                  <a:pt x="2864456" y="727710"/>
                </a:lnTo>
                <a:lnTo>
                  <a:pt x="2991523" y="732789"/>
                </a:lnTo>
                <a:lnTo>
                  <a:pt x="3055054" y="734060"/>
                </a:lnTo>
                <a:lnTo>
                  <a:pt x="3243502" y="734060"/>
                </a:lnTo>
                <a:lnTo>
                  <a:pt x="3305009" y="732789"/>
                </a:lnTo>
                <a:lnTo>
                  <a:pt x="3424993" y="727710"/>
                </a:lnTo>
                <a:lnTo>
                  <a:pt x="3594722" y="716280"/>
                </a:lnTo>
                <a:lnTo>
                  <a:pt x="3698967" y="706120"/>
                </a:lnTo>
                <a:lnTo>
                  <a:pt x="3794426" y="693420"/>
                </a:lnTo>
                <a:lnTo>
                  <a:pt x="3838414" y="685800"/>
                </a:lnTo>
                <a:lnTo>
                  <a:pt x="3879672" y="678180"/>
                </a:lnTo>
                <a:lnTo>
                  <a:pt x="3918022" y="670560"/>
                </a:lnTo>
                <a:lnTo>
                  <a:pt x="3938172" y="665480"/>
                </a:lnTo>
                <a:close/>
              </a:path>
              <a:path w="6138545" h="734060">
                <a:moveTo>
                  <a:pt x="1592363" y="64770"/>
                </a:moveTo>
                <a:lnTo>
                  <a:pt x="1433032" y="64770"/>
                </a:lnTo>
                <a:lnTo>
                  <a:pt x="1227396" y="71120"/>
                </a:lnTo>
                <a:lnTo>
                  <a:pt x="1155246" y="74930"/>
                </a:lnTo>
                <a:lnTo>
                  <a:pt x="1086088" y="80010"/>
                </a:lnTo>
                <a:lnTo>
                  <a:pt x="957595" y="92710"/>
                </a:lnTo>
                <a:lnTo>
                  <a:pt x="843606" y="107950"/>
                </a:lnTo>
                <a:lnTo>
                  <a:pt x="792578" y="116839"/>
                </a:lnTo>
                <a:lnTo>
                  <a:pt x="745811" y="125730"/>
                </a:lnTo>
                <a:lnTo>
                  <a:pt x="703514" y="135889"/>
                </a:lnTo>
                <a:lnTo>
                  <a:pt x="665899" y="146050"/>
                </a:lnTo>
                <a:lnTo>
                  <a:pt x="605562" y="168910"/>
                </a:lnTo>
                <a:lnTo>
                  <a:pt x="566490" y="191770"/>
                </a:lnTo>
                <a:lnTo>
                  <a:pt x="550372" y="215900"/>
                </a:lnTo>
                <a:lnTo>
                  <a:pt x="551449" y="228600"/>
                </a:lnTo>
                <a:lnTo>
                  <a:pt x="558898" y="241300"/>
                </a:lnTo>
                <a:lnTo>
                  <a:pt x="553818" y="243839"/>
                </a:lnTo>
                <a:lnTo>
                  <a:pt x="489489" y="245110"/>
                </a:lnTo>
                <a:lnTo>
                  <a:pt x="310394" y="256539"/>
                </a:lnTo>
                <a:lnTo>
                  <a:pt x="206986" y="269239"/>
                </a:lnTo>
                <a:lnTo>
                  <a:pt x="161402" y="276860"/>
                </a:lnTo>
                <a:lnTo>
                  <a:pt x="120487" y="284480"/>
                </a:lnTo>
                <a:lnTo>
                  <a:pt x="47230" y="306070"/>
                </a:lnTo>
                <a:lnTo>
                  <a:pt x="5152" y="331470"/>
                </a:lnTo>
                <a:lnTo>
                  <a:pt x="0" y="344170"/>
                </a:lnTo>
                <a:lnTo>
                  <a:pt x="5086" y="358139"/>
                </a:lnTo>
                <a:lnTo>
                  <a:pt x="44924" y="382270"/>
                </a:lnTo>
                <a:lnTo>
                  <a:pt x="122560" y="405130"/>
                </a:lnTo>
                <a:lnTo>
                  <a:pt x="174894" y="415289"/>
                </a:lnTo>
                <a:lnTo>
                  <a:pt x="235889" y="424180"/>
                </a:lnTo>
                <a:lnTo>
                  <a:pt x="305279" y="431800"/>
                </a:lnTo>
                <a:lnTo>
                  <a:pt x="238457" y="445770"/>
                </a:lnTo>
                <a:lnTo>
                  <a:pt x="188002" y="461010"/>
                </a:lnTo>
                <a:lnTo>
                  <a:pt x="154678" y="477520"/>
                </a:lnTo>
                <a:lnTo>
                  <a:pt x="139245" y="495300"/>
                </a:lnTo>
                <a:lnTo>
                  <a:pt x="142465" y="511810"/>
                </a:lnTo>
                <a:lnTo>
                  <a:pt x="175212" y="534670"/>
                </a:lnTo>
                <a:lnTo>
                  <a:pt x="236631" y="554989"/>
                </a:lnTo>
                <a:lnTo>
                  <a:pt x="276803" y="563880"/>
                </a:lnTo>
                <a:lnTo>
                  <a:pt x="322596" y="572770"/>
                </a:lnTo>
                <a:lnTo>
                  <a:pt x="373494" y="579120"/>
                </a:lnTo>
                <a:lnTo>
                  <a:pt x="488543" y="591820"/>
                </a:lnTo>
                <a:lnTo>
                  <a:pt x="551663" y="595630"/>
                </a:lnTo>
                <a:lnTo>
                  <a:pt x="686513" y="600710"/>
                </a:lnTo>
                <a:lnTo>
                  <a:pt x="829408" y="600710"/>
                </a:lnTo>
                <a:lnTo>
                  <a:pt x="833218" y="601980"/>
                </a:lnTo>
                <a:lnTo>
                  <a:pt x="837155" y="603250"/>
                </a:lnTo>
                <a:lnTo>
                  <a:pt x="840965" y="603250"/>
                </a:lnTo>
                <a:lnTo>
                  <a:pt x="873343" y="612139"/>
                </a:lnTo>
                <a:lnTo>
                  <a:pt x="944870" y="627380"/>
                </a:lnTo>
                <a:lnTo>
                  <a:pt x="983790" y="635000"/>
                </a:lnTo>
                <a:lnTo>
                  <a:pt x="1111803" y="654050"/>
                </a:lnTo>
                <a:lnTo>
                  <a:pt x="1254284" y="669289"/>
                </a:lnTo>
                <a:lnTo>
                  <a:pt x="1408137" y="680720"/>
                </a:lnTo>
                <a:lnTo>
                  <a:pt x="1515494" y="685800"/>
                </a:lnTo>
                <a:lnTo>
                  <a:pt x="1737570" y="690880"/>
                </a:lnTo>
                <a:lnTo>
                  <a:pt x="1850455" y="690880"/>
                </a:lnTo>
                <a:lnTo>
                  <a:pt x="2019509" y="687070"/>
                </a:lnTo>
                <a:lnTo>
                  <a:pt x="2130692" y="681989"/>
                </a:lnTo>
                <a:lnTo>
                  <a:pt x="2292892" y="670560"/>
                </a:lnTo>
                <a:lnTo>
                  <a:pt x="2345280" y="665480"/>
                </a:lnTo>
                <a:lnTo>
                  <a:pt x="3938172" y="665480"/>
                </a:lnTo>
                <a:lnTo>
                  <a:pt x="3985282" y="652780"/>
                </a:lnTo>
                <a:lnTo>
                  <a:pt x="4038772" y="633730"/>
                </a:lnTo>
                <a:lnTo>
                  <a:pt x="4059907" y="623570"/>
                </a:lnTo>
                <a:lnTo>
                  <a:pt x="4927622" y="623570"/>
                </a:lnTo>
                <a:lnTo>
                  <a:pt x="5019125" y="613410"/>
                </a:lnTo>
                <a:lnTo>
                  <a:pt x="5071097" y="605789"/>
                </a:lnTo>
                <a:lnTo>
                  <a:pt x="5118903" y="596900"/>
                </a:lnTo>
                <a:lnTo>
                  <a:pt x="5162250" y="588010"/>
                </a:lnTo>
                <a:lnTo>
                  <a:pt x="5200847" y="577850"/>
                </a:lnTo>
                <a:lnTo>
                  <a:pt x="5262622" y="557530"/>
                </a:lnTo>
                <a:lnTo>
                  <a:pt x="5301891" y="534670"/>
                </a:lnTo>
                <a:lnTo>
                  <a:pt x="5316318" y="510539"/>
                </a:lnTo>
                <a:lnTo>
                  <a:pt x="5423991" y="508000"/>
                </a:lnTo>
                <a:lnTo>
                  <a:pt x="5476545" y="505460"/>
                </a:lnTo>
                <a:lnTo>
                  <a:pt x="5528080" y="501650"/>
                </a:lnTo>
                <a:lnTo>
                  <a:pt x="5578473" y="499110"/>
                </a:lnTo>
                <a:lnTo>
                  <a:pt x="5627600" y="494030"/>
                </a:lnTo>
                <a:lnTo>
                  <a:pt x="5675338" y="490220"/>
                </a:lnTo>
                <a:lnTo>
                  <a:pt x="5766152" y="480060"/>
                </a:lnTo>
                <a:lnTo>
                  <a:pt x="5836951" y="469900"/>
                </a:lnTo>
                <a:lnTo>
                  <a:pt x="5900571" y="459739"/>
                </a:lnTo>
                <a:lnTo>
                  <a:pt x="5956940" y="448310"/>
                </a:lnTo>
                <a:lnTo>
                  <a:pt x="6005983" y="436880"/>
                </a:lnTo>
                <a:lnTo>
                  <a:pt x="6047626" y="424180"/>
                </a:lnTo>
                <a:lnTo>
                  <a:pt x="6108412" y="397510"/>
                </a:lnTo>
                <a:lnTo>
                  <a:pt x="6138516" y="369570"/>
                </a:lnTo>
                <a:lnTo>
                  <a:pt x="6138516" y="342900"/>
                </a:lnTo>
                <a:lnTo>
                  <a:pt x="6105437" y="312420"/>
                </a:lnTo>
                <a:lnTo>
                  <a:pt x="6040685" y="285750"/>
                </a:lnTo>
                <a:lnTo>
                  <a:pt x="5996020" y="273050"/>
                </a:lnTo>
                <a:lnTo>
                  <a:pt x="5943063" y="260350"/>
                </a:lnTo>
                <a:lnTo>
                  <a:pt x="5953035" y="256539"/>
                </a:lnTo>
                <a:lnTo>
                  <a:pt x="5962161" y="252730"/>
                </a:lnTo>
                <a:lnTo>
                  <a:pt x="5970406" y="247650"/>
                </a:lnTo>
                <a:lnTo>
                  <a:pt x="5977734" y="243839"/>
                </a:lnTo>
                <a:lnTo>
                  <a:pt x="5995143" y="231139"/>
                </a:lnTo>
                <a:lnTo>
                  <a:pt x="6003595" y="217170"/>
                </a:lnTo>
                <a:lnTo>
                  <a:pt x="6003413" y="204470"/>
                </a:lnTo>
                <a:lnTo>
                  <a:pt x="5954318" y="167639"/>
                </a:lnTo>
                <a:lnTo>
                  <a:pt x="5884378" y="144780"/>
                </a:lnTo>
                <a:lnTo>
                  <a:pt x="5839221" y="134620"/>
                </a:lnTo>
                <a:lnTo>
                  <a:pt x="5787705" y="124460"/>
                </a:lnTo>
                <a:lnTo>
                  <a:pt x="5730154" y="116839"/>
                </a:lnTo>
                <a:lnTo>
                  <a:pt x="5598252" y="101600"/>
                </a:lnTo>
                <a:lnTo>
                  <a:pt x="5524549" y="96520"/>
                </a:lnTo>
                <a:lnTo>
                  <a:pt x="5446112" y="92710"/>
                </a:lnTo>
                <a:lnTo>
                  <a:pt x="5436355" y="86360"/>
                </a:lnTo>
                <a:lnTo>
                  <a:pt x="1993871" y="86360"/>
                </a:lnTo>
                <a:lnTo>
                  <a:pt x="1946952" y="81280"/>
                </a:lnTo>
                <a:lnTo>
                  <a:pt x="1898856" y="77470"/>
                </a:lnTo>
                <a:lnTo>
                  <a:pt x="1697136" y="67310"/>
                </a:lnTo>
                <a:lnTo>
                  <a:pt x="1592363" y="64770"/>
                </a:lnTo>
                <a:close/>
              </a:path>
              <a:path w="6138545" h="734060">
                <a:moveTo>
                  <a:pt x="4927622" y="623570"/>
                </a:moveTo>
                <a:lnTo>
                  <a:pt x="4059907" y="623570"/>
                </a:lnTo>
                <a:lnTo>
                  <a:pt x="4109037" y="628650"/>
                </a:lnTo>
                <a:lnTo>
                  <a:pt x="4159811" y="632460"/>
                </a:lnTo>
                <a:lnTo>
                  <a:pt x="4212040" y="635000"/>
                </a:lnTo>
                <a:lnTo>
                  <a:pt x="4265536" y="638810"/>
                </a:lnTo>
                <a:lnTo>
                  <a:pt x="4320110" y="640080"/>
                </a:lnTo>
                <a:lnTo>
                  <a:pt x="4375572" y="642620"/>
                </a:lnTo>
                <a:lnTo>
                  <a:pt x="4431733" y="643889"/>
                </a:lnTo>
                <a:lnTo>
                  <a:pt x="4563195" y="643889"/>
                </a:lnTo>
                <a:lnTo>
                  <a:pt x="4775415" y="636270"/>
                </a:lnTo>
                <a:lnTo>
                  <a:pt x="4903851" y="626110"/>
                </a:lnTo>
                <a:lnTo>
                  <a:pt x="4927622" y="623570"/>
                </a:lnTo>
                <a:close/>
              </a:path>
              <a:path w="6138545" h="734060">
                <a:moveTo>
                  <a:pt x="2729535" y="20320"/>
                </a:moveTo>
                <a:lnTo>
                  <a:pt x="2612271" y="20320"/>
                </a:lnTo>
                <a:lnTo>
                  <a:pt x="2497041" y="22860"/>
                </a:lnTo>
                <a:lnTo>
                  <a:pt x="2440848" y="25400"/>
                </a:lnTo>
                <a:lnTo>
                  <a:pt x="2281117" y="36830"/>
                </a:lnTo>
                <a:lnTo>
                  <a:pt x="2231702" y="41910"/>
                </a:lnTo>
                <a:lnTo>
                  <a:pt x="2184641" y="48260"/>
                </a:lnTo>
                <a:lnTo>
                  <a:pt x="2098635" y="60960"/>
                </a:lnTo>
                <a:lnTo>
                  <a:pt x="2060218" y="68580"/>
                </a:lnTo>
                <a:lnTo>
                  <a:pt x="1993871" y="86360"/>
                </a:lnTo>
                <a:lnTo>
                  <a:pt x="5436355" y="86360"/>
                </a:lnTo>
                <a:lnTo>
                  <a:pt x="5422694" y="77470"/>
                </a:lnTo>
                <a:lnTo>
                  <a:pt x="5387030" y="63500"/>
                </a:lnTo>
                <a:lnTo>
                  <a:pt x="5361265" y="55880"/>
                </a:lnTo>
                <a:lnTo>
                  <a:pt x="3193767" y="55880"/>
                </a:lnTo>
                <a:lnTo>
                  <a:pt x="3153387" y="49530"/>
                </a:lnTo>
                <a:lnTo>
                  <a:pt x="3017745" y="34289"/>
                </a:lnTo>
                <a:lnTo>
                  <a:pt x="2904627" y="26670"/>
                </a:lnTo>
                <a:lnTo>
                  <a:pt x="2788269" y="21589"/>
                </a:lnTo>
                <a:lnTo>
                  <a:pt x="2729535" y="20320"/>
                </a:lnTo>
                <a:close/>
              </a:path>
              <a:path w="6138545" h="734060">
                <a:moveTo>
                  <a:pt x="3801650" y="0"/>
                </a:moveTo>
                <a:lnTo>
                  <a:pt x="3688681" y="0"/>
                </a:lnTo>
                <a:lnTo>
                  <a:pt x="3633105" y="1270"/>
                </a:lnTo>
                <a:lnTo>
                  <a:pt x="3525517" y="6350"/>
                </a:lnTo>
                <a:lnTo>
                  <a:pt x="3474200" y="10160"/>
                </a:lnTo>
                <a:lnTo>
                  <a:pt x="3334345" y="25400"/>
                </a:lnTo>
                <a:lnTo>
                  <a:pt x="3293586" y="31750"/>
                </a:lnTo>
                <a:lnTo>
                  <a:pt x="3222949" y="46989"/>
                </a:lnTo>
                <a:lnTo>
                  <a:pt x="3193767" y="55880"/>
                </a:lnTo>
                <a:lnTo>
                  <a:pt x="5361265" y="55880"/>
                </a:lnTo>
                <a:lnTo>
                  <a:pt x="5339795" y="49530"/>
                </a:lnTo>
                <a:lnTo>
                  <a:pt x="5293292" y="39370"/>
                </a:lnTo>
                <a:lnTo>
                  <a:pt x="4241263" y="39370"/>
                </a:lnTo>
                <a:lnTo>
                  <a:pt x="4195184" y="30480"/>
                </a:lnTo>
                <a:lnTo>
                  <a:pt x="4143426" y="22860"/>
                </a:lnTo>
                <a:lnTo>
                  <a:pt x="4025109" y="10160"/>
                </a:lnTo>
                <a:lnTo>
                  <a:pt x="3970426" y="6350"/>
                </a:lnTo>
                <a:lnTo>
                  <a:pt x="3858348" y="1270"/>
                </a:lnTo>
                <a:lnTo>
                  <a:pt x="3801650" y="0"/>
                </a:lnTo>
                <a:close/>
              </a:path>
              <a:path w="6138545" h="734060">
                <a:moveTo>
                  <a:pt x="4794248" y="0"/>
                </a:moveTo>
                <a:lnTo>
                  <a:pt x="4738487" y="0"/>
                </a:lnTo>
                <a:lnTo>
                  <a:pt x="4627923" y="2539"/>
                </a:lnTo>
                <a:lnTo>
                  <a:pt x="4520585" y="7620"/>
                </a:lnTo>
                <a:lnTo>
                  <a:pt x="4418805" y="15239"/>
                </a:lnTo>
                <a:lnTo>
                  <a:pt x="4370730" y="20320"/>
                </a:lnTo>
                <a:lnTo>
                  <a:pt x="4281667" y="33020"/>
                </a:lnTo>
                <a:lnTo>
                  <a:pt x="4241263" y="39370"/>
                </a:lnTo>
                <a:lnTo>
                  <a:pt x="5293292" y="39370"/>
                </a:lnTo>
                <a:lnTo>
                  <a:pt x="5213321" y="26670"/>
                </a:lnTo>
                <a:lnTo>
                  <a:pt x="5166287" y="20320"/>
                </a:lnTo>
                <a:lnTo>
                  <a:pt x="5117141" y="15239"/>
                </a:lnTo>
                <a:lnTo>
                  <a:pt x="5013679" y="7620"/>
                </a:lnTo>
                <a:lnTo>
                  <a:pt x="4905270" y="2539"/>
                </a:lnTo>
                <a:lnTo>
                  <a:pt x="4794248" y="0"/>
                </a:lnTo>
                <a:close/>
              </a:path>
            </a:pathLst>
          </a:custGeom>
          <a:solidFill>
            <a:srgbClr val="F3B4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271267" y="894841"/>
            <a:ext cx="41275" cy="41275"/>
          </a:xfrm>
          <a:custGeom>
            <a:avLst/>
            <a:gdLst/>
            <a:ahLst/>
            <a:cxnLst/>
            <a:rect l="l" t="t" r="r" b="b"/>
            <a:pathLst>
              <a:path w="41275" h="41275">
                <a:moveTo>
                  <a:pt x="20319" y="0"/>
                </a:moveTo>
                <a:lnTo>
                  <a:pt x="12430" y="1605"/>
                </a:lnTo>
                <a:lnTo>
                  <a:pt x="5968" y="5984"/>
                </a:lnTo>
                <a:lnTo>
                  <a:pt x="1603" y="12483"/>
                </a:lnTo>
                <a:lnTo>
                  <a:pt x="0" y="20447"/>
                </a:lnTo>
                <a:lnTo>
                  <a:pt x="1603" y="28390"/>
                </a:lnTo>
                <a:lnTo>
                  <a:pt x="5968" y="34845"/>
                </a:lnTo>
                <a:lnTo>
                  <a:pt x="12430" y="39181"/>
                </a:lnTo>
                <a:lnTo>
                  <a:pt x="20319" y="40767"/>
                </a:lnTo>
                <a:lnTo>
                  <a:pt x="28283" y="39181"/>
                </a:lnTo>
                <a:lnTo>
                  <a:pt x="34782" y="34845"/>
                </a:lnTo>
                <a:lnTo>
                  <a:pt x="39161" y="28390"/>
                </a:lnTo>
                <a:lnTo>
                  <a:pt x="40767" y="20447"/>
                </a:lnTo>
                <a:lnTo>
                  <a:pt x="39161" y="12483"/>
                </a:lnTo>
                <a:lnTo>
                  <a:pt x="34782" y="5984"/>
                </a:lnTo>
                <a:lnTo>
                  <a:pt x="28283" y="1605"/>
                </a:lnTo>
                <a:lnTo>
                  <a:pt x="20319" y="0"/>
                </a:lnTo>
                <a:close/>
              </a:path>
            </a:pathLst>
          </a:custGeom>
          <a:solidFill>
            <a:srgbClr val="F3B4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507233" y="866775"/>
            <a:ext cx="81534" cy="8166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783967" y="837564"/>
            <a:ext cx="122427" cy="12242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555855" y="437476"/>
            <a:ext cx="5588635" cy="343535"/>
          </a:xfrm>
          <a:custGeom>
            <a:avLst/>
            <a:gdLst/>
            <a:ahLst/>
            <a:cxnLst/>
            <a:rect l="l" t="t" r="r" b="b"/>
            <a:pathLst>
              <a:path w="5588634" h="343534">
                <a:moveTo>
                  <a:pt x="8526" y="241973"/>
                </a:moveTo>
                <a:lnTo>
                  <a:pt x="1077" y="229211"/>
                </a:lnTo>
                <a:lnTo>
                  <a:pt x="0" y="216594"/>
                </a:lnTo>
                <a:lnTo>
                  <a:pt x="5084" y="204169"/>
                </a:lnTo>
                <a:lnTo>
                  <a:pt x="55190" y="168496"/>
                </a:lnTo>
                <a:lnTo>
                  <a:pt x="115527" y="146500"/>
                </a:lnTo>
                <a:lnTo>
                  <a:pt x="153142" y="136174"/>
                </a:lnTo>
                <a:lnTo>
                  <a:pt x="195438" y="126356"/>
                </a:lnTo>
                <a:lnTo>
                  <a:pt x="242206" y="117091"/>
                </a:lnTo>
                <a:lnTo>
                  <a:pt x="293234" y="108425"/>
                </a:lnTo>
                <a:lnTo>
                  <a:pt x="348310" y="100403"/>
                </a:lnTo>
                <a:lnTo>
                  <a:pt x="407223" y="93070"/>
                </a:lnTo>
                <a:lnTo>
                  <a:pt x="469762" y="86472"/>
                </a:lnTo>
                <a:lnTo>
                  <a:pt x="535716" y="80653"/>
                </a:lnTo>
                <a:lnTo>
                  <a:pt x="604874" y="75659"/>
                </a:lnTo>
                <a:lnTo>
                  <a:pt x="677023" y="71535"/>
                </a:lnTo>
                <a:lnTo>
                  <a:pt x="751954" y="68326"/>
                </a:lnTo>
                <a:lnTo>
                  <a:pt x="829454" y="66078"/>
                </a:lnTo>
                <a:lnTo>
                  <a:pt x="882660" y="65146"/>
                </a:lnTo>
                <a:lnTo>
                  <a:pt x="935899" y="64698"/>
                </a:lnTo>
                <a:lnTo>
                  <a:pt x="989049" y="64729"/>
                </a:lnTo>
                <a:lnTo>
                  <a:pt x="1041991" y="65236"/>
                </a:lnTo>
                <a:lnTo>
                  <a:pt x="1094603" y="66217"/>
                </a:lnTo>
                <a:lnTo>
                  <a:pt x="1146764" y="67666"/>
                </a:lnTo>
                <a:lnTo>
                  <a:pt x="1198353" y="69581"/>
                </a:lnTo>
                <a:lnTo>
                  <a:pt x="1249250" y="71958"/>
                </a:lnTo>
                <a:lnTo>
                  <a:pt x="1299334" y="74794"/>
                </a:lnTo>
                <a:lnTo>
                  <a:pt x="1348484" y="78085"/>
                </a:lnTo>
                <a:lnTo>
                  <a:pt x="1396579" y="81827"/>
                </a:lnTo>
                <a:lnTo>
                  <a:pt x="1443499" y="86017"/>
                </a:lnTo>
                <a:lnTo>
                  <a:pt x="1474836" y="77270"/>
                </a:lnTo>
                <a:lnTo>
                  <a:pt x="1548263" y="61508"/>
                </a:lnTo>
                <a:lnTo>
                  <a:pt x="1589825" y="54519"/>
                </a:lnTo>
                <a:lnTo>
                  <a:pt x="1634269" y="48144"/>
                </a:lnTo>
                <a:lnTo>
                  <a:pt x="1681330" y="42394"/>
                </a:lnTo>
                <a:lnTo>
                  <a:pt x="1730745" y="37283"/>
                </a:lnTo>
                <a:lnTo>
                  <a:pt x="1782250" y="32824"/>
                </a:lnTo>
                <a:lnTo>
                  <a:pt x="1835581" y="29030"/>
                </a:lnTo>
                <a:lnTo>
                  <a:pt x="1890476" y="25915"/>
                </a:lnTo>
                <a:lnTo>
                  <a:pt x="1946669" y="23491"/>
                </a:lnTo>
                <a:lnTo>
                  <a:pt x="2003898" y="21772"/>
                </a:lnTo>
                <a:lnTo>
                  <a:pt x="2061899" y="20770"/>
                </a:lnTo>
                <a:lnTo>
                  <a:pt x="2120409" y="20500"/>
                </a:lnTo>
                <a:lnTo>
                  <a:pt x="2179162" y="20974"/>
                </a:lnTo>
                <a:lnTo>
                  <a:pt x="2237897" y="22204"/>
                </a:lnTo>
                <a:lnTo>
                  <a:pt x="2296349" y="24206"/>
                </a:lnTo>
                <a:lnTo>
                  <a:pt x="2354255" y="26991"/>
                </a:lnTo>
                <a:lnTo>
                  <a:pt x="2411351" y="30572"/>
                </a:lnTo>
                <a:lnTo>
                  <a:pt x="2467373" y="34963"/>
                </a:lnTo>
                <a:lnTo>
                  <a:pt x="2514825" y="39436"/>
                </a:lnTo>
                <a:lnTo>
                  <a:pt x="2560099" y="44457"/>
                </a:lnTo>
                <a:lnTo>
                  <a:pt x="2603015" y="50001"/>
                </a:lnTo>
                <a:lnTo>
                  <a:pt x="2643395" y="56045"/>
                </a:lnTo>
                <a:lnTo>
                  <a:pt x="2672576" y="47527"/>
                </a:lnTo>
                <a:lnTo>
                  <a:pt x="2743214" y="32417"/>
                </a:lnTo>
                <a:lnTo>
                  <a:pt x="2783972" y="25864"/>
                </a:lnTo>
                <a:lnTo>
                  <a:pt x="2827893" y="20004"/>
                </a:lnTo>
                <a:lnTo>
                  <a:pt x="2874628" y="14856"/>
                </a:lnTo>
                <a:lnTo>
                  <a:pt x="2923828" y="10440"/>
                </a:lnTo>
                <a:lnTo>
                  <a:pt x="2975144" y="6775"/>
                </a:lnTo>
                <a:lnTo>
                  <a:pt x="3028229" y="3879"/>
                </a:lnTo>
                <a:lnTo>
                  <a:pt x="3082733" y="1772"/>
                </a:lnTo>
                <a:lnTo>
                  <a:pt x="3138308" y="472"/>
                </a:lnTo>
                <a:lnTo>
                  <a:pt x="3194606" y="0"/>
                </a:lnTo>
                <a:lnTo>
                  <a:pt x="3251278" y="373"/>
                </a:lnTo>
                <a:lnTo>
                  <a:pt x="3307976" y="1611"/>
                </a:lnTo>
                <a:lnTo>
                  <a:pt x="3364350" y="3733"/>
                </a:lnTo>
                <a:lnTo>
                  <a:pt x="3420054" y="6759"/>
                </a:lnTo>
                <a:lnTo>
                  <a:pt x="3474737" y="10706"/>
                </a:lnTo>
                <a:lnTo>
                  <a:pt x="3536175" y="16411"/>
                </a:lnTo>
                <a:lnTo>
                  <a:pt x="3593053" y="23200"/>
                </a:lnTo>
                <a:lnTo>
                  <a:pt x="3644812" y="31012"/>
                </a:lnTo>
                <a:lnTo>
                  <a:pt x="3690891" y="39789"/>
                </a:lnTo>
                <a:lnTo>
                  <a:pt x="3731295" y="32675"/>
                </a:lnTo>
                <a:lnTo>
                  <a:pt x="3774548" y="26252"/>
                </a:lnTo>
                <a:lnTo>
                  <a:pt x="3820358" y="20525"/>
                </a:lnTo>
                <a:lnTo>
                  <a:pt x="3868433" y="15499"/>
                </a:lnTo>
                <a:lnTo>
                  <a:pt x="3918482" y="11176"/>
                </a:lnTo>
                <a:lnTo>
                  <a:pt x="3970213" y="7562"/>
                </a:lnTo>
                <a:lnTo>
                  <a:pt x="4023333" y="4660"/>
                </a:lnTo>
                <a:lnTo>
                  <a:pt x="4077551" y="2474"/>
                </a:lnTo>
                <a:lnTo>
                  <a:pt x="4132576" y="1008"/>
                </a:lnTo>
                <a:lnTo>
                  <a:pt x="4188114" y="266"/>
                </a:lnTo>
                <a:lnTo>
                  <a:pt x="4243875" y="253"/>
                </a:lnTo>
                <a:lnTo>
                  <a:pt x="4299567" y="971"/>
                </a:lnTo>
                <a:lnTo>
                  <a:pt x="4354897" y="2426"/>
                </a:lnTo>
                <a:lnTo>
                  <a:pt x="4409574" y="4620"/>
                </a:lnTo>
                <a:lnTo>
                  <a:pt x="4463307" y="7559"/>
                </a:lnTo>
                <a:lnTo>
                  <a:pt x="4515802" y="11246"/>
                </a:lnTo>
                <a:lnTo>
                  <a:pt x="4566769" y="15685"/>
                </a:lnTo>
                <a:lnTo>
                  <a:pt x="4615915" y="20880"/>
                </a:lnTo>
                <a:lnTo>
                  <a:pt x="4662949" y="26835"/>
                </a:lnTo>
                <a:lnTo>
                  <a:pt x="4731294" y="37638"/>
                </a:lnTo>
                <a:lnTo>
                  <a:pt x="4789423" y="49801"/>
                </a:lnTo>
                <a:lnTo>
                  <a:pt x="4836658" y="63128"/>
                </a:lnTo>
                <a:lnTo>
                  <a:pt x="4872322" y="77424"/>
                </a:lnTo>
                <a:lnTo>
                  <a:pt x="4895740" y="92494"/>
                </a:lnTo>
                <a:lnTo>
                  <a:pt x="4974177" y="96727"/>
                </a:lnTo>
                <a:lnTo>
                  <a:pt x="5047880" y="102202"/>
                </a:lnTo>
                <a:lnTo>
                  <a:pt x="5116523" y="108827"/>
                </a:lnTo>
                <a:lnTo>
                  <a:pt x="5179782" y="116507"/>
                </a:lnTo>
                <a:lnTo>
                  <a:pt x="5237332" y="125152"/>
                </a:lnTo>
                <a:lnTo>
                  <a:pt x="5288849" y="134669"/>
                </a:lnTo>
                <a:lnTo>
                  <a:pt x="5334006" y="144964"/>
                </a:lnTo>
                <a:lnTo>
                  <a:pt x="5372480" y="155945"/>
                </a:lnTo>
                <a:lnTo>
                  <a:pt x="5428077" y="179598"/>
                </a:lnTo>
                <a:lnTo>
                  <a:pt x="5453222" y="217909"/>
                </a:lnTo>
                <a:lnTo>
                  <a:pt x="5444771" y="231065"/>
                </a:lnTo>
                <a:lnTo>
                  <a:pt x="5411789" y="252483"/>
                </a:lnTo>
                <a:lnTo>
                  <a:pt x="5392691" y="260515"/>
                </a:lnTo>
                <a:lnTo>
                  <a:pt x="5445648" y="272933"/>
                </a:lnTo>
                <a:lnTo>
                  <a:pt x="5490313" y="285876"/>
                </a:lnTo>
                <a:lnTo>
                  <a:pt x="5526760" y="299251"/>
                </a:lnTo>
                <a:lnTo>
                  <a:pt x="5575299" y="326932"/>
                </a:lnTo>
                <a:lnTo>
                  <a:pt x="5587540" y="341053"/>
                </a:lnTo>
                <a:lnTo>
                  <a:pt x="5588144" y="343037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005483" y="679450"/>
            <a:ext cx="6138545" cy="493395"/>
          </a:xfrm>
          <a:custGeom>
            <a:avLst/>
            <a:gdLst/>
            <a:ahLst/>
            <a:cxnLst/>
            <a:rect l="l" t="t" r="r" b="b"/>
            <a:pathLst>
              <a:path w="6138545" h="493394">
                <a:moveTo>
                  <a:pt x="6138516" y="127657"/>
                </a:moveTo>
                <a:lnTo>
                  <a:pt x="6108412" y="155284"/>
                </a:lnTo>
                <a:lnTo>
                  <a:pt x="6047626" y="181928"/>
                </a:lnTo>
                <a:lnTo>
                  <a:pt x="6005983" y="194564"/>
                </a:lnTo>
                <a:lnTo>
                  <a:pt x="5956940" y="206619"/>
                </a:lnTo>
                <a:lnTo>
                  <a:pt x="5900571" y="218001"/>
                </a:lnTo>
                <a:lnTo>
                  <a:pt x="5836951" y="228618"/>
                </a:lnTo>
                <a:lnTo>
                  <a:pt x="5766152" y="238378"/>
                </a:lnTo>
                <a:lnTo>
                  <a:pt x="5721563" y="243626"/>
                </a:lnTo>
                <a:lnTo>
                  <a:pt x="5675338" y="248441"/>
                </a:lnTo>
                <a:lnTo>
                  <a:pt x="5627600" y="252814"/>
                </a:lnTo>
                <a:lnTo>
                  <a:pt x="5578473" y="256735"/>
                </a:lnTo>
                <a:lnTo>
                  <a:pt x="5528080" y="260196"/>
                </a:lnTo>
                <a:lnTo>
                  <a:pt x="5476545" y="263186"/>
                </a:lnTo>
                <a:lnTo>
                  <a:pt x="5423991" y="265696"/>
                </a:lnTo>
                <a:lnTo>
                  <a:pt x="5370541" y="267717"/>
                </a:lnTo>
                <a:lnTo>
                  <a:pt x="5316318" y="269239"/>
                </a:lnTo>
                <a:lnTo>
                  <a:pt x="5312356" y="281416"/>
                </a:lnTo>
                <a:lnTo>
                  <a:pt x="5262622" y="315856"/>
                </a:lnTo>
                <a:lnTo>
                  <a:pt x="5200847" y="336611"/>
                </a:lnTo>
                <a:lnTo>
                  <a:pt x="5162250" y="346187"/>
                </a:lnTo>
                <a:lnTo>
                  <a:pt x="5118903" y="355167"/>
                </a:lnTo>
                <a:lnTo>
                  <a:pt x="5071097" y="363505"/>
                </a:lnTo>
                <a:lnTo>
                  <a:pt x="5019125" y="371154"/>
                </a:lnTo>
                <a:lnTo>
                  <a:pt x="4963279" y="378067"/>
                </a:lnTo>
                <a:lnTo>
                  <a:pt x="4903851" y="384198"/>
                </a:lnTo>
                <a:lnTo>
                  <a:pt x="4841132" y="389500"/>
                </a:lnTo>
                <a:lnTo>
                  <a:pt x="4775415" y="393928"/>
                </a:lnTo>
                <a:lnTo>
                  <a:pt x="4706992" y="397433"/>
                </a:lnTo>
                <a:lnTo>
                  <a:pt x="4636154" y="399970"/>
                </a:lnTo>
                <a:lnTo>
                  <a:pt x="4563195" y="401493"/>
                </a:lnTo>
                <a:lnTo>
                  <a:pt x="4488405" y="401954"/>
                </a:lnTo>
                <a:lnTo>
                  <a:pt x="4431733" y="401545"/>
                </a:lnTo>
                <a:lnTo>
                  <a:pt x="4375572" y="400512"/>
                </a:lnTo>
                <a:lnTo>
                  <a:pt x="4320110" y="398863"/>
                </a:lnTo>
                <a:lnTo>
                  <a:pt x="4265536" y="396605"/>
                </a:lnTo>
                <a:lnTo>
                  <a:pt x="4212040" y="393745"/>
                </a:lnTo>
                <a:lnTo>
                  <a:pt x="4159811" y="390292"/>
                </a:lnTo>
                <a:lnTo>
                  <a:pt x="4109037" y="386253"/>
                </a:lnTo>
                <a:lnTo>
                  <a:pt x="4059907" y="381635"/>
                </a:lnTo>
                <a:lnTo>
                  <a:pt x="4038772" y="391795"/>
                </a:lnTo>
                <a:lnTo>
                  <a:pt x="3985282" y="410931"/>
                </a:lnTo>
                <a:lnTo>
                  <a:pt x="3918022" y="428381"/>
                </a:lnTo>
                <a:lnTo>
                  <a:pt x="3879672" y="436435"/>
                </a:lnTo>
                <a:lnTo>
                  <a:pt x="3838414" y="444021"/>
                </a:lnTo>
                <a:lnTo>
                  <a:pt x="3794426" y="451122"/>
                </a:lnTo>
                <a:lnTo>
                  <a:pt x="3747884" y="457724"/>
                </a:lnTo>
                <a:lnTo>
                  <a:pt x="3698967" y="463811"/>
                </a:lnTo>
                <a:lnTo>
                  <a:pt x="3647854" y="469367"/>
                </a:lnTo>
                <a:lnTo>
                  <a:pt x="3594722" y="474376"/>
                </a:lnTo>
                <a:lnTo>
                  <a:pt x="3539749" y="478823"/>
                </a:lnTo>
                <a:lnTo>
                  <a:pt x="3483113" y="482692"/>
                </a:lnTo>
                <a:lnTo>
                  <a:pt x="3424993" y="485968"/>
                </a:lnTo>
                <a:lnTo>
                  <a:pt x="3365565" y="488634"/>
                </a:lnTo>
                <a:lnTo>
                  <a:pt x="3305009" y="490676"/>
                </a:lnTo>
                <a:lnTo>
                  <a:pt x="3243502" y="492077"/>
                </a:lnTo>
                <a:lnTo>
                  <a:pt x="3181221" y="492822"/>
                </a:lnTo>
                <a:lnTo>
                  <a:pt x="3118346" y="492895"/>
                </a:lnTo>
                <a:lnTo>
                  <a:pt x="3055054" y="492280"/>
                </a:lnTo>
                <a:lnTo>
                  <a:pt x="2991523" y="490963"/>
                </a:lnTo>
                <a:lnTo>
                  <a:pt x="2927931" y="488926"/>
                </a:lnTo>
                <a:lnTo>
                  <a:pt x="2864456" y="486155"/>
                </a:lnTo>
                <a:lnTo>
                  <a:pt x="2801649" y="482646"/>
                </a:lnTo>
                <a:lnTo>
                  <a:pt x="2740760" y="478459"/>
                </a:lnTo>
                <a:lnTo>
                  <a:pt x="2681977" y="473617"/>
                </a:lnTo>
                <a:lnTo>
                  <a:pt x="2625489" y="468142"/>
                </a:lnTo>
                <a:lnTo>
                  <a:pt x="2571483" y="462057"/>
                </a:lnTo>
                <a:lnTo>
                  <a:pt x="2520148" y="455386"/>
                </a:lnTo>
                <a:lnTo>
                  <a:pt x="2471672" y="448151"/>
                </a:lnTo>
                <a:lnTo>
                  <a:pt x="2426243" y="440375"/>
                </a:lnTo>
                <a:lnTo>
                  <a:pt x="2384050" y="432080"/>
                </a:lnTo>
                <a:lnTo>
                  <a:pt x="2345280" y="423290"/>
                </a:lnTo>
                <a:lnTo>
                  <a:pt x="2292892" y="428135"/>
                </a:lnTo>
                <a:lnTo>
                  <a:pt x="2239588" y="432461"/>
                </a:lnTo>
                <a:lnTo>
                  <a:pt x="2185483" y="436273"/>
                </a:lnTo>
                <a:lnTo>
                  <a:pt x="2130692" y="439576"/>
                </a:lnTo>
                <a:lnTo>
                  <a:pt x="2075329" y="442374"/>
                </a:lnTo>
                <a:lnTo>
                  <a:pt x="2019509" y="444672"/>
                </a:lnTo>
                <a:lnTo>
                  <a:pt x="1963347" y="446475"/>
                </a:lnTo>
                <a:lnTo>
                  <a:pt x="1906957" y="447787"/>
                </a:lnTo>
                <a:lnTo>
                  <a:pt x="1850455" y="448614"/>
                </a:lnTo>
                <a:lnTo>
                  <a:pt x="1793954" y="448959"/>
                </a:lnTo>
                <a:lnTo>
                  <a:pt x="1737570" y="448827"/>
                </a:lnTo>
                <a:lnTo>
                  <a:pt x="1681418" y="448223"/>
                </a:lnTo>
                <a:lnTo>
                  <a:pt x="1625611" y="447152"/>
                </a:lnTo>
                <a:lnTo>
                  <a:pt x="1570265" y="445618"/>
                </a:lnTo>
                <a:lnTo>
                  <a:pt x="1515494" y="443626"/>
                </a:lnTo>
                <a:lnTo>
                  <a:pt x="1461413" y="441181"/>
                </a:lnTo>
                <a:lnTo>
                  <a:pt x="1408137" y="438287"/>
                </a:lnTo>
                <a:lnTo>
                  <a:pt x="1355781" y="434949"/>
                </a:lnTo>
                <a:lnTo>
                  <a:pt x="1304458" y="431172"/>
                </a:lnTo>
                <a:lnTo>
                  <a:pt x="1254284" y="426959"/>
                </a:lnTo>
                <a:lnTo>
                  <a:pt x="1205374" y="422317"/>
                </a:lnTo>
                <a:lnTo>
                  <a:pt x="1157842" y="417249"/>
                </a:lnTo>
                <a:lnTo>
                  <a:pt x="1111803" y="411761"/>
                </a:lnTo>
                <a:lnTo>
                  <a:pt x="1067372" y="405856"/>
                </a:lnTo>
                <a:lnTo>
                  <a:pt x="1024663" y="399540"/>
                </a:lnTo>
                <a:lnTo>
                  <a:pt x="983790" y="392817"/>
                </a:lnTo>
                <a:lnTo>
                  <a:pt x="944870" y="385692"/>
                </a:lnTo>
                <a:lnTo>
                  <a:pt x="873343" y="370253"/>
                </a:lnTo>
                <a:lnTo>
                  <a:pt x="837155" y="360934"/>
                </a:lnTo>
                <a:lnTo>
                  <a:pt x="833218" y="359917"/>
                </a:lnTo>
                <a:lnTo>
                  <a:pt x="829408" y="358775"/>
                </a:lnTo>
                <a:lnTo>
                  <a:pt x="757213" y="359470"/>
                </a:lnTo>
                <a:lnTo>
                  <a:pt x="686513" y="358824"/>
                </a:lnTo>
                <a:lnTo>
                  <a:pt x="617825" y="356903"/>
                </a:lnTo>
                <a:lnTo>
                  <a:pt x="551663" y="353772"/>
                </a:lnTo>
                <a:lnTo>
                  <a:pt x="488543" y="349499"/>
                </a:lnTo>
                <a:lnTo>
                  <a:pt x="428982" y="344149"/>
                </a:lnTo>
                <a:lnTo>
                  <a:pt x="373494" y="337788"/>
                </a:lnTo>
                <a:lnTo>
                  <a:pt x="322596" y="330482"/>
                </a:lnTo>
                <a:lnTo>
                  <a:pt x="276803" y="322298"/>
                </a:lnTo>
                <a:lnTo>
                  <a:pt x="236631" y="313301"/>
                </a:lnTo>
                <a:lnTo>
                  <a:pt x="175212" y="293134"/>
                </a:lnTo>
                <a:lnTo>
                  <a:pt x="142465" y="270510"/>
                </a:lnTo>
                <a:lnTo>
                  <a:pt x="139245" y="252956"/>
                </a:lnTo>
                <a:lnTo>
                  <a:pt x="154678" y="235756"/>
                </a:lnTo>
                <a:lnTo>
                  <a:pt x="188002" y="219294"/>
                </a:lnTo>
                <a:lnTo>
                  <a:pt x="238457" y="203953"/>
                </a:lnTo>
                <a:lnTo>
                  <a:pt x="305279" y="190119"/>
                </a:lnTo>
                <a:lnTo>
                  <a:pt x="235889" y="182367"/>
                </a:lnTo>
                <a:lnTo>
                  <a:pt x="174894" y="173383"/>
                </a:lnTo>
                <a:lnTo>
                  <a:pt x="122560" y="163329"/>
                </a:lnTo>
                <a:lnTo>
                  <a:pt x="79149" y="152371"/>
                </a:lnTo>
                <a:lnTo>
                  <a:pt x="20148" y="128397"/>
                </a:lnTo>
                <a:lnTo>
                  <a:pt x="0" y="102771"/>
                </a:lnTo>
                <a:lnTo>
                  <a:pt x="5152" y="89749"/>
                </a:lnTo>
                <a:lnTo>
                  <a:pt x="47230" y="64107"/>
                </a:lnTo>
                <a:lnTo>
                  <a:pt x="84680" y="51815"/>
                </a:lnTo>
                <a:lnTo>
                  <a:pt x="161402" y="34729"/>
                </a:lnTo>
                <a:lnTo>
                  <a:pt x="206986" y="27347"/>
                </a:lnTo>
                <a:lnTo>
                  <a:pt x="256797" y="20802"/>
                </a:lnTo>
                <a:lnTo>
                  <a:pt x="310394" y="15142"/>
                </a:lnTo>
                <a:lnTo>
                  <a:pt x="367335" y="10413"/>
                </a:lnTo>
                <a:lnTo>
                  <a:pt x="427181" y="6663"/>
                </a:lnTo>
                <a:lnTo>
                  <a:pt x="489489" y="3938"/>
                </a:lnTo>
                <a:lnTo>
                  <a:pt x="553818" y="2286"/>
                </a:lnTo>
                <a:lnTo>
                  <a:pt x="558898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252217" y="875791"/>
            <a:ext cx="78867" cy="7886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488183" y="847725"/>
            <a:ext cx="119634" cy="11976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764917" y="818514"/>
            <a:ext cx="160527" cy="16052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317366" y="866647"/>
            <a:ext cx="360045" cy="13970"/>
          </a:xfrm>
          <a:custGeom>
            <a:avLst/>
            <a:gdLst/>
            <a:ahLst/>
            <a:cxnLst/>
            <a:rect l="l" t="t" r="r" b="b"/>
            <a:pathLst>
              <a:path w="360045" h="13969">
                <a:moveTo>
                  <a:pt x="359663" y="13588"/>
                </a:moveTo>
                <a:lnTo>
                  <a:pt x="305930" y="13862"/>
                </a:lnTo>
                <a:lnTo>
                  <a:pt x="252481" y="13383"/>
                </a:lnTo>
                <a:lnTo>
                  <a:pt x="199617" y="12159"/>
                </a:lnTo>
                <a:lnTo>
                  <a:pt x="147636" y="10200"/>
                </a:lnTo>
                <a:lnTo>
                  <a:pt x="96840" y="7514"/>
                </a:lnTo>
                <a:lnTo>
                  <a:pt x="47528" y="4111"/>
                </a:lnTo>
                <a:lnTo>
                  <a:pt x="0" y="0"/>
                </a:lnTo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837051" y="1028572"/>
            <a:ext cx="157480" cy="6985"/>
          </a:xfrm>
          <a:custGeom>
            <a:avLst/>
            <a:gdLst/>
            <a:ahLst/>
            <a:cxnLst/>
            <a:rect l="l" t="t" r="r" b="b"/>
            <a:pathLst>
              <a:path w="157479" h="6984">
                <a:moveTo>
                  <a:pt x="157352" y="0"/>
                </a:moveTo>
                <a:lnTo>
                  <a:pt x="119032" y="2208"/>
                </a:lnTo>
                <a:lnTo>
                  <a:pt x="79962" y="4048"/>
                </a:lnTo>
                <a:lnTo>
                  <a:pt x="40249" y="5482"/>
                </a:lnTo>
                <a:lnTo>
                  <a:pt x="0" y="6476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255640" y="1070228"/>
            <a:ext cx="95250" cy="29845"/>
          </a:xfrm>
          <a:custGeom>
            <a:avLst/>
            <a:gdLst/>
            <a:ahLst/>
            <a:cxnLst/>
            <a:rect l="l" t="t" r="r" b="b"/>
            <a:pathLst>
              <a:path w="95250" h="29844">
                <a:moveTo>
                  <a:pt x="94742" y="29591"/>
                </a:moveTo>
                <a:lnTo>
                  <a:pt x="67437" y="22520"/>
                </a:lnTo>
                <a:lnTo>
                  <a:pt x="42513" y="15224"/>
                </a:lnTo>
                <a:lnTo>
                  <a:pt x="20018" y="7713"/>
                </a:lnTo>
                <a:lnTo>
                  <a:pt x="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066026" y="1026033"/>
            <a:ext cx="38100" cy="32384"/>
          </a:xfrm>
          <a:custGeom>
            <a:avLst/>
            <a:gdLst/>
            <a:ahLst/>
            <a:cxnLst/>
            <a:rect l="l" t="t" r="r" b="b"/>
            <a:pathLst>
              <a:path w="38100" h="32384">
                <a:moveTo>
                  <a:pt x="37846" y="0"/>
                </a:moveTo>
                <a:lnTo>
                  <a:pt x="32325" y="8185"/>
                </a:lnTo>
                <a:lnTo>
                  <a:pt x="24161" y="16335"/>
                </a:lnTo>
                <a:lnTo>
                  <a:pt x="13378" y="24413"/>
                </a:lnTo>
                <a:lnTo>
                  <a:pt x="0" y="32384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856728" y="825372"/>
            <a:ext cx="461645" cy="121920"/>
          </a:xfrm>
          <a:custGeom>
            <a:avLst/>
            <a:gdLst/>
            <a:ahLst/>
            <a:cxnLst/>
            <a:rect l="l" t="t" r="r" b="b"/>
            <a:pathLst>
              <a:path w="461645" h="121919">
                <a:moveTo>
                  <a:pt x="0" y="0"/>
                </a:moveTo>
                <a:lnTo>
                  <a:pt x="82154" y="7500"/>
                </a:lnTo>
                <a:lnTo>
                  <a:pt x="157544" y="16357"/>
                </a:lnTo>
                <a:lnTo>
                  <a:pt x="225707" y="26449"/>
                </a:lnTo>
                <a:lnTo>
                  <a:pt x="286180" y="37652"/>
                </a:lnTo>
                <a:lnTo>
                  <a:pt x="338502" y="49847"/>
                </a:lnTo>
                <a:lnTo>
                  <a:pt x="382210" y="62910"/>
                </a:lnTo>
                <a:lnTo>
                  <a:pt x="441931" y="91155"/>
                </a:lnTo>
                <a:lnTo>
                  <a:pt x="457020" y="106093"/>
                </a:lnTo>
                <a:lnTo>
                  <a:pt x="461645" y="121412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8740140" y="696213"/>
            <a:ext cx="205740" cy="45720"/>
          </a:xfrm>
          <a:custGeom>
            <a:avLst/>
            <a:gdLst/>
            <a:ahLst/>
            <a:cxnLst/>
            <a:rect l="l" t="t" r="r" b="b"/>
            <a:pathLst>
              <a:path w="205740" h="45720">
                <a:moveTo>
                  <a:pt x="205485" y="0"/>
                </a:moveTo>
                <a:lnTo>
                  <a:pt x="166520" y="12765"/>
                </a:lnTo>
                <a:lnTo>
                  <a:pt x="118935" y="24685"/>
                </a:lnTo>
                <a:lnTo>
                  <a:pt x="63253" y="35629"/>
                </a:lnTo>
                <a:lnTo>
                  <a:pt x="0" y="45465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8452357" y="527304"/>
            <a:ext cx="12065" cy="21590"/>
          </a:xfrm>
          <a:custGeom>
            <a:avLst/>
            <a:gdLst/>
            <a:ahLst/>
            <a:cxnLst/>
            <a:rect l="l" t="t" r="r" b="b"/>
            <a:pathLst>
              <a:path w="12065" h="21590">
                <a:moveTo>
                  <a:pt x="0" y="0"/>
                </a:moveTo>
                <a:lnTo>
                  <a:pt x="7874" y="7112"/>
                </a:lnTo>
                <a:lnTo>
                  <a:pt x="11557" y="14350"/>
                </a:lnTo>
                <a:lnTo>
                  <a:pt x="10922" y="2159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139558" y="474852"/>
            <a:ext cx="105410" cy="27940"/>
          </a:xfrm>
          <a:custGeom>
            <a:avLst/>
            <a:gdLst/>
            <a:ahLst/>
            <a:cxnLst/>
            <a:rect l="l" t="t" r="r" b="b"/>
            <a:pathLst>
              <a:path w="105409" h="27940">
                <a:moveTo>
                  <a:pt x="0" y="27432"/>
                </a:moveTo>
                <a:lnTo>
                  <a:pt x="21701" y="20127"/>
                </a:lnTo>
                <a:lnTo>
                  <a:pt x="46545" y="13096"/>
                </a:lnTo>
                <a:lnTo>
                  <a:pt x="74437" y="6375"/>
                </a:lnTo>
                <a:lnTo>
                  <a:pt x="105283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154546" y="491744"/>
            <a:ext cx="51435" cy="24130"/>
          </a:xfrm>
          <a:custGeom>
            <a:avLst/>
            <a:gdLst/>
            <a:ahLst/>
            <a:cxnLst/>
            <a:rect l="l" t="t" r="r" b="b"/>
            <a:pathLst>
              <a:path w="51435" h="24129">
                <a:moveTo>
                  <a:pt x="0" y="23621"/>
                </a:moveTo>
                <a:lnTo>
                  <a:pt x="9350" y="17502"/>
                </a:lnTo>
                <a:lnTo>
                  <a:pt x="20986" y="11525"/>
                </a:lnTo>
                <a:lnTo>
                  <a:pt x="34861" y="5691"/>
                </a:lnTo>
                <a:lnTo>
                  <a:pt x="50926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998592" y="523366"/>
            <a:ext cx="184785" cy="23495"/>
          </a:xfrm>
          <a:custGeom>
            <a:avLst/>
            <a:gdLst/>
            <a:ahLst/>
            <a:cxnLst/>
            <a:rect l="l" t="t" r="r" b="b"/>
            <a:pathLst>
              <a:path w="184785" h="23495">
                <a:moveTo>
                  <a:pt x="0" y="0"/>
                </a:moveTo>
                <a:lnTo>
                  <a:pt x="49246" y="5074"/>
                </a:lnTo>
                <a:lnTo>
                  <a:pt x="96504" y="10588"/>
                </a:lnTo>
                <a:lnTo>
                  <a:pt x="141642" y="16555"/>
                </a:lnTo>
                <a:lnTo>
                  <a:pt x="184531" y="22987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564509" y="679450"/>
            <a:ext cx="32384" cy="24130"/>
          </a:xfrm>
          <a:custGeom>
            <a:avLst/>
            <a:gdLst/>
            <a:ahLst/>
            <a:cxnLst/>
            <a:rect l="l" t="t" r="r" b="b"/>
            <a:pathLst>
              <a:path w="32385" h="24129">
                <a:moveTo>
                  <a:pt x="32130" y="24129"/>
                </a:moveTo>
                <a:lnTo>
                  <a:pt x="21895" y="18180"/>
                </a:lnTo>
                <a:lnTo>
                  <a:pt x="13112" y="12160"/>
                </a:lnTo>
                <a:lnTo>
                  <a:pt x="5806" y="6092"/>
                </a:lnTo>
                <a:lnTo>
                  <a:pt x="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269240" y="0"/>
            <a:ext cx="8329295" cy="1107440"/>
          </a:xfrm>
          <a:prstGeom prst="rect">
            <a:avLst/>
          </a:prstGeom>
        </p:spPr>
        <p:txBody>
          <a:bodyPr wrap="square" lIns="0" tIns="1238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75"/>
              </a:spcBef>
              <a:tabLst>
                <a:tab pos="593090" algn="l"/>
                <a:tab pos="2059305" algn="l"/>
                <a:tab pos="2567305" algn="l"/>
                <a:tab pos="4801870" algn="l"/>
                <a:tab pos="5499735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算符优先分析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法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算符优先分析法理论探讨</a:t>
            </a:r>
            <a:endParaRPr sz="2000">
              <a:latin typeface="宋体"/>
              <a:cs typeface="宋体"/>
            </a:endParaRPr>
          </a:p>
          <a:p>
            <a:pPr marL="3751579">
              <a:lnSpc>
                <a:spcPct val="100000"/>
              </a:lnSpc>
              <a:spcBef>
                <a:spcPts val="1400"/>
              </a:spcBef>
            </a:pPr>
            <a:r>
              <a:rPr dirty="0" sz="3200" b="1">
                <a:latin typeface="宋体"/>
                <a:cs typeface="宋体"/>
              </a:rPr>
              <a:t>思考题（自己证明）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211057" y="6678574"/>
            <a:ext cx="73787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44</a:t>
            </a:r>
            <a:r>
              <a:rPr dirty="0" sz="1400" spc="25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774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8491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69240" y="26923"/>
            <a:ext cx="832929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2059305" algn="l"/>
                <a:tab pos="2567305" algn="l"/>
                <a:tab pos="4801870" algn="l"/>
                <a:tab pos="5499735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算符优先分析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法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算符优先分析法理论探讨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2450" y="534746"/>
            <a:ext cx="944244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b="1">
                <a:solidFill>
                  <a:srgbClr val="FFFF15"/>
                </a:solidFill>
                <a:latin typeface="宋体"/>
                <a:cs typeface="宋体"/>
              </a:rPr>
              <a:t>例</a:t>
            </a:r>
            <a:r>
              <a:rPr dirty="0" sz="3200" b="1">
                <a:solidFill>
                  <a:srgbClr val="FFFF15"/>
                </a:solidFill>
                <a:latin typeface="Times New Roman"/>
                <a:cs typeface="Times New Roman"/>
              </a:rPr>
              <a:t>5.9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675257" y="361963"/>
            <a:ext cx="2225675" cy="2352040"/>
          </a:xfrm>
          <a:prstGeom prst="rect"/>
        </p:spPr>
        <p:txBody>
          <a:bodyPr wrap="square" lIns="0" tIns="22860" rIns="0" bIns="0" rtlCol="0" vert="horz">
            <a:spAutoFit/>
          </a:bodyPr>
          <a:lstStyle/>
          <a:p>
            <a:pPr marL="156210" marR="5080" indent="-144145">
              <a:lnSpc>
                <a:spcPct val="128200"/>
              </a:lnSpc>
              <a:spcBef>
                <a:spcPts val="180"/>
              </a:spcBef>
            </a:pPr>
            <a:r>
              <a:rPr dirty="0" sz="3200">
                <a:solidFill>
                  <a:srgbClr val="FFFFFF"/>
                </a:solidFill>
              </a:rPr>
              <a:t>设文</a:t>
            </a:r>
            <a:r>
              <a:rPr dirty="0" sz="3200" spc="-5">
                <a:solidFill>
                  <a:srgbClr val="FFFFFF"/>
                </a:solidFill>
              </a:rPr>
              <a:t>法</a:t>
            </a:r>
            <a:r>
              <a:rPr dirty="0" sz="3200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350" spc="-150" i="1">
                <a:solidFill>
                  <a:srgbClr val="FFFFFF"/>
                </a:solidFill>
                <a:latin typeface="宋体"/>
                <a:cs typeface="宋体"/>
              </a:rPr>
              <a:t>Ｅ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)  </a:t>
            </a:r>
            <a:r>
              <a:rPr dirty="0" spc="-10" i="1">
                <a:solidFill>
                  <a:srgbClr val="FFFF15"/>
                </a:solidFill>
                <a:latin typeface="Times New Roman"/>
                <a:cs typeface="Times New Roman"/>
              </a:rPr>
              <a:t>E</a:t>
            </a:r>
            <a:r>
              <a:rPr dirty="0" spc="-10">
                <a:solidFill>
                  <a:srgbClr val="FFFF15"/>
                </a:solidFill>
                <a:latin typeface="Times New Roman"/>
                <a:cs typeface="Times New Roman"/>
              </a:rPr>
              <a:t>→ </a:t>
            </a:r>
            <a:r>
              <a:rPr dirty="0" spc="-10" i="1">
                <a:solidFill>
                  <a:srgbClr val="FFFF15"/>
                </a:solidFill>
                <a:latin typeface="Times New Roman"/>
                <a:cs typeface="Times New Roman"/>
              </a:rPr>
              <a:t>E</a:t>
            </a:r>
            <a:r>
              <a:rPr dirty="0" spc="-10">
                <a:solidFill>
                  <a:srgbClr val="FFFF15"/>
                </a:solidFill>
              </a:rPr>
              <a:t>＋</a:t>
            </a:r>
            <a:r>
              <a:rPr dirty="0" spc="-10" i="1">
                <a:solidFill>
                  <a:srgbClr val="FFFF15"/>
                </a:solidFill>
                <a:latin typeface="Times New Roman"/>
                <a:cs typeface="Times New Roman"/>
              </a:rPr>
              <a:t>T</a:t>
            </a:r>
            <a:r>
              <a:rPr dirty="0" spc="-10">
                <a:solidFill>
                  <a:srgbClr val="FFFF15"/>
                </a:solidFill>
                <a:latin typeface="Times New Roman"/>
                <a:cs typeface="Times New Roman"/>
              </a:rPr>
              <a:t>│</a:t>
            </a:r>
            <a:r>
              <a:rPr dirty="0" spc="-10" i="1">
                <a:solidFill>
                  <a:srgbClr val="FFFF15"/>
                </a:solidFill>
                <a:latin typeface="Times New Roman"/>
                <a:cs typeface="Times New Roman"/>
              </a:rPr>
              <a:t>T  </a:t>
            </a:r>
            <a:r>
              <a:rPr dirty="0" spc="-10" i="1">
                <a:solidFill>
                  <a:srgbClr val="FFFF15"/>
                </a:solidFill>
                <a:latin typeface="Times New Roman"/>
                <a:cs typeface="Times New Roman"/>
              </a:rPr>
              <a:t>T</a:t>
            </a:r>
            <a:r>
              <a:rPr dirty="0" spc="-10">
                <a:solidFill>
                  <a:srgbClr val="FFFF15"/>
                </a:solidFill>
                <a:latin typeface="Times New Roman"/>
                <a:cs typeface="Times New Roman"/>
              </a:rPr>
              <a:t>→ </a:t>
            </a:r>
            <a:r>
              <a:rPr dirty="0" spc="-5" i="1">
                <a:solidFill>
                  <a:srgbClr val="FFFF15"/>
                </a:solidFill>
                <a:latin typeface="Times New Roman"/>
                <a:cs typeface="Times New Roman"/>
              </a:rPr>
              <a:t>T</a:t>
            </a:r>
            <a:r>
              <a:rPr dirty="0" spc="-5">
                <a:solidFill>
                  <a:srgbClr val="FFFF15"/>
                </a:solidFill>
                <a:latin typeface="Times New Roman"/>
                <a:cs typeface="Times New Roman"/>
              </a:rPr>
              <a:t>*</a:t>
            </a:r>
            <a:r>
              <a:rPr dirty="0" spc="-5" i="1">
                <a:solidFill>
                  <a:srgbClr val="FFFF15"/>
                </a:solidFill>
                <a:latin typeface="Times New Roman"/>
                <a:cs typeface="Times New Roman"/>
              </a:rPr>
              <a:t>F</a:t>
            </a:r>
            <a:r>
              <a:rPr dirty="0" spc="-5">
                <a:solidFill>
                  <a:srgbClr val="FFFF15"/>
                </a:solidFill>
                <a:latin typeface="Times New Roman"/>
                <a:cs typeface="Times New Roman"/>
              </a:rPr>
              <a:t>│ </a:t>
            </a:r>
            <a:r>
              <a:rPr dirty="0" spc="-5" i="1">
                <a:solidFill>
                  <a:srgbClr val="FFFF15"/>
                </a:solidFill>
                <a:latin typeface="Times New Roman"/>
                <a:cs typeface="Times New Roman"/>
              </a:rPr>
              <a:t>F  </a:t>
            </a:r>
            <a:r>
              <a:rPr dirty="0" spc="-5" i="1">
                <a:solidFill>
                  <a:srgbClr val="FFFF15"/>
                </a:solidFill>
                <a:latin typeface="Times New Roman"/>
                <a:cs typeface="Times New Roman"/>
              </a:rPr>
              <a:t>F</a:t>
            </a:r>
            <a:r>
              <a:rPr dirty="0" spc="-5">
                <a:solidFill>
                  <a:srgbClr val="FFFF15"/>
                </a:solidFill>
                <a:latin typeface="Times New Roman"/>
                <a:cs typeface="Times New Roman"/>
              </a:rPr>
              <a:t>→(</a:t>
            </a:r>
            <a:r>
              <a:rPr dirty="0" spc="-5" i="1">
                <a:solidFill>
                  <a:srgbClr val="FFFF15"/>
                </a:solidFill>
                <a:latin typeface="Times New Roman"/>
                <a:cs typeface="Times New Roman"/>
              </a:rPr>
              <a:t>E</a:t>
            </a:r>
            <a:r>
              <a:rPr dirty="0" spc="-5">
                <a:solidFill>
                  <a:srgbClr val="FFFF15"/>
                </a:solidFill>
                <a:latin typeface="Times New Roman"/>
                <a:cs typeface="Times New Roman"/>
              </a:rPr>
              <a:t>)│</a:t>
            </a:r>
            <a:r>
              <a:rPr dirty="0" spc="-5" i="1">
                <a:solidFill>
                  <a:srgbClr val="FFFF15"/>
                </a:solidFill>
                <a:latin typeface="Times New Roman"/>
                <a:cs typeface="Times New Roman"/>
              </a:rPr>
              <a:t>i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257800" y="6573011"/>
            <a:ext cx="533400" cy="285115"/>
          </a:xfrm>
          <a:custGeom>
            <a:avLst/>
            <a:gdLst/>
            <a:ahLst/>
            <a:cxnLst/>
            <a:rect l="l" t="t" r="r" b="b"/>
            <a:pathLst>
              <a:path w="533400" h="285115">
                <a:moveTo>
                  <a:pt x="533400" y="0"/>
                </a:moveTo>
                <a:lnTo>
                  <a:pt x="0" y="0"/>
                </a:lnTo>
                <a:lnTo>
                  <a:pt x="0" y="284985"/>
                </a:lnTo>
                <a:lnTo>
                  <a:pt x="533400" y="284985"/>
                </a:lnTo>
                <a:lnTo>
                  <a:pt x="533400" y="282701"/>
                </a:lnTo>
                <a:lnTo>
                  <a:pt x="145541" y="282701"/>
                </a:lnTo>
                <a:lnTo>
                  <a:pt x="145541" y="40386"/>
                </a:lnTo>
                <a:lnTo>
                  <a:pt x="533400" y="40386"/>
                </a:lnTo>
                <a:lnTo>
                  <a:pt x="533400" y="0"/>
                </a:lnTo>
                <a:close/>
              </a:path>
              <a:path w="533400" h="285115">
                <a:moveTo>
                  <a:pt x="533400" y="40386"/>
                </a:moveTo>
                <a:lnTo>
                  <a:pt x="145541" y="40386"/>
                </a:lnTo>
                <a:lnTo>
                  <a:pt x="387858" y="161544"/>
                </a:lnTo>
                <a:lnTo>
                  <a:pt x="145541" y="282701"/>
                </a:lnTo>
                <a:lnTo>
                  <a:pt x="533400" y="282701"/>
                </a:lnTo>
                <a:lnTo>
                  <a:pt x="533400" y="40386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403341" y="6613397"/>
            <a:ext cx="242570" cy="242570"/>
          </a:xfrm>
          <a:custGeom>
            <a:avLst/>
            <a:gdLst/>
            <a:ahLst/>
            <a:cxnLst/>
            <a:rect l="l" t="t" r="r" b="b"/>
            <a:pathLst>
              <a:path w="242570" h="242570">
                <a:moveTo>
                  <a:pt x="0" y="0"/>
                </a:moveTo>
                <a:lnTo>
                  <a:pt x="0" y="242315"/>
                </a:lnTo>
                <a:lnTo>
                  <a:pt x="242316" y="121157"/>
                </a:lnTo>
                <a:lnTo>
                  <a:pt x="0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5333491" y="6626453"/>
            <a:ext cx="38544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5" b="1">
                <a:solidFill>
                  <a:srgbClr val="CC3300"/>
                </a:solidFill>
                <a:latin typeface="宋体"/>
                <a:cs typeface="宋体"/>
                <a:hlinkClick r:id="rId4" action="ppaction://hlinksldjump"/>
              </a:rPr>
              <a:t>分析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059173" y="3086861"/>
            <a:ext cx="5085080" cy="0"/>
          </a:xfrm>
          <a:custGeom>
            <a:avLst/>
            <a:gdLst/>
            <a:ahLst/>
            <a:cxnLst/>
            <a:rect l="l" t="t" r="r" b="b"/>
            <a:pathLst>
              <a:path w="5085080" h="0">
                <a:moveTo>
                  <a:pt x="0" y="0"/>
                </a:moveTo>
                <a:lnTo>
                  <a:pt x="5084825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4039361" y="2573273"/>
          <a:ext cx="5105400" cy="38665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0100"/>
                <a:gridCol w="1409700"/>
                <a:gridCol w="746125"/>
                <a:gridCol w="715010"/>
                <a:gridCol w="579754"/>
                <a:gridCol w="855344"/>
              </a:tblGrid>
              <a:tr h="103649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3800">
                        <a:latin typeface="Times New Roman"/>
                        <a:cs typeface="Times New Roman"/>
                      </a:endParaRPr>
                    </a:p>
                    <a:p>
                      <a:pPr marL="212090">
                        <a:lnSpc>
                          <a:spcPct val="100000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+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94005">
                        <a:lnSpc>
                          <a:spcPct val="100000"/>
                        </a:lnSpc>
                        <a:spcBef>
                          <a:spcPts val="170"/>
                        </a:spcBef>
                        <a:tabLst>
                          <a:tab pos="941705" algn="l"/>
                        </a:tabLst>
                      </a:pPr>
                      <a:r>
                        <a:rPr dirty="0" sz="28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+	*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219075">
                        <a:lnSpc>
                          <a:spcPct val="100000"/>
                        </a:lnSpc>
                        <a:spcBef>
                          <a:spcPts val="275"/>
                        </a:spcBef>
                        <a:tabLst>
                          <a:tab pos="801370" algn="l"/>
                        </a:tabLst>
                      </a:pPr>
                      <a:r>
                        <a:rPr dirty="0" sz="3200" b="1" i="1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⋗	⋖</a:t>
                      </a:r>
                      <a:endParaRPr sz="32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21590">
                    <a:lnL w="38100">
                      <a:solidFill>
                        <a:srgbClr val="FFFF00"/>
                      </a:solidFill>
                      <a:prstDash val="solid"/>
                    </a:lnL>
                    <a:lnT w="38100">
                      <a:solidFill>
                        <a:srgbClr val="FFFF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557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（</a:t>
                      </a:r>
                      <a:endParaRPr sz="2800">
                        <a:latin typeface="宋体"/>
                        <a:cs typeface="宋体"/>
                      </a:endParaRPr>
                    </a:p>
                    <a:p>
                      <a:pPr marL="22987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3200" b="1" i="1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⋖</a:t>
                      </a:r>
                      <a:endParaRPr sz="32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21590">
                    <a:lnT w="38100">
                      <a:solidFill>
                        <a:srgbClr val="FFFF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9972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）</a:t>
                      </a:r>
                      <a:endParaRPr sz="2800">
                        <a:latin typeface="宋体"/>
                        <a:cs typeface="宋体"/>
                      </a:endParaRPr>
                    </a:p>
                    <a:p>
                      <a:pPr marL="19240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3200" b="1" i="1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⋗</a:t>
                      </a:r>
                      <a:endParaRPr sz="32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21590">
                    <a:lnT w="38100">
                      <a:solidFill>
                        <a:srgbClr val="FFFF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9781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590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3200" b="1" i="1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⋖</a:t>
                      </a:r>
                      <a:endParaRPr sz="32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21590">
                    <a:lnT w="38100">
                      <a:solidFill>
                        <a:srgbClr val="FFFF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6098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18859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3200" b="1" i="1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⋗</a:t>
                      </a:r>
                      <a:endParaRPr sz="32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21590">
                    <a:lnT w="38100">
                      <a:solidFill>
                        <a:srgbClr val="FFFF00"/>
                      </a:solidFill>
                      <a:prstDash val="solid"/>
                    </a:lnT>
                  </a:tcPr>
                </a:tc>
              </a:tr>
              <a:tr h="643696">
                <a:tc>
                  <a:txBody>
                    <a:bodyPr/>
                    <a:lstStyle/>
                    <a:p>
                      <a:pPr marL="198755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*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4455">
                    <a:lnR w="38100">
                      <a:solidFill>
                        <a:srgbClr val="FFFF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19075">
                        <a:lnSpc>
                          <a:spcPct val="100000"/>
                        </a:lnSpc>
                        <a:spcBef>
                          <a:spcPts val="55"/>
                        </a:spcBef>
                        <a:tabLst>
                          <a:tab pos="801370" algn="l"/>
                        </a:tabLst>
                      </a:pPr>
                      <a:r>
                        <a:rPr dirty="0" sz="3200" b="1" i="1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⋗	⋗</a:t>
                      </a:r>
                      <a:endParaRPr sz="32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6985">
                    <a:lnL w="38100">
                      <a:solidFill>
                        <a:srgbClr val="FFFF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r" marR="18478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3200" b="1" i="1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⋖</a:t>
                      </a:r>
                      <a:endParaRPr sz="32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6985"/>
                </a:tc>
                <a:tc>
                  <a:txBody>
                    <a:bodyPr/>
                    <a:lstStyle/>
                    <a:p>
                      <a:pPr marL="19240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3200" b="1" i="1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⋗</a:t>
                      </a:r>
                      <a:endParaRPr sz="32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6985"/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3200" b="1" i="1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⋖</a:t>
                      </a:r>
                      <a:endParaRPr sz="32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6985"/>
                </a:tc>
                <a:tc>
                  <a:txBody>
                    <a:bodyPr/>
                    <a:lstStyle/>
                    <a:p>
                      <a:pPr marL="18859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3200" b="1" i="1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⋗</a:t>
                      </a:r>
                      <a:endParaRPr sz="32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6985"/>
                </a:tc>
              </a:tr>
              <a:tr h="436604">
                <a:tc>
                  <a:txBody>
                    <a:bodyPr/>
                    <a:lstStyle/>
                    <a:p>
                      <a:pPr marL="109855">
                        <a:lnSpc>
                          <a:spcPts val="333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（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B="0" marT="0">
                    <a:lnR w="38100">
                      <a:solidFill>
                        <a:srgbClr val="FFFF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19075">
                        <a:lnSpc>
                          <a:spcPts val="2645"/>
                        </a:lnSpc>
                        <a:tabLst>
                          <a:tab pos="929640" algn="l"/>
                        </a:tabLst>
                      </a:pPr>
                      <a:r>
                        <a:rPr dirty="0" sz="3200" b="1" i="1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⋖	⋖</a:t>
                      </a:r>
                      <a:endParaRPr sz="32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r" marR="184785">
                        <a:lnSpc>
                          <a:spcPts val="2645"/>
                        </a:lnSpc>
                      </a:pPr>
                      <a:r>
                        <a:rPr dirty="0" sz="3200" b="1" i="1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⋖</a:t>
                      </a:r>
                      <a:endParaRPr sz="32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92405">
                        <a:lnSpc>
                          <a:spcPts val="2645"/>
                        </a:lnSpc>
                      </a:pPr>
                      <a:r>
                        <a:rPr dirty="0" sz="3200" b="1" i="1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≐</a:t>
                      </a:r>
                      <a:endParaRPr sz="32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ts val="2645"/>
                        </a:lnSpc>
                      </a:pPr>
                      <a:r>
                        <a:rPr dirty="0" sz="3200" b="1" i="1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⋖</a:t>
                      </a:r>
                      <a:endParaRPr sz="32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711488">
                <a:tc>
                  <a:txBody>
                    <a:bodyPr/>
                    <a:lstStyle/>
                    <a:p>
                      <a:pPr algn="ctr" marR="39370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）</a:t>
                      </a:r>
                      <a:endParaRPr sz="2800">
                        <a:latin typeface="宋体"/>
                        <a:cs typeface="宋体"/>
                      </a:endParaRPr>
                    </a:p>
                    <a:p>
                      <a:pPr algn="ctr" marR="115570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algn="ctr" marR="36830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18110">
                    <a:lnR w="38100">
                      <a:solidFill>
                        <a:srgbClr val="FFFF00"/>
                      </a:solidFill>
                      <a:prstDash val="solid"/>
                    </a:lnR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075">
                        <a:lnSpc>
                          <a:spcPct val="100000"/>
                        </a:lnSpc>
                        <a:spcBef>
                          <a:spcPts val="555"/>
                        </a:spcBef>
                        <a:tabLst>
                          <a:tab pos="929640" algn="l"/>
                        </a:tabLst>
                      </a:pPr>
                      <a:r>
                        <a:rPr dirty="0" sz="3200" b="1" i="1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⋗	⋗</a:t>
                      </a:r>
                      <a:endParaRPr sz="3200">
                        <a:latin typeface="Lucida Sans Unicode"/>
                        <a:cs typeface="Lucida Sans Unicode"/>
                      </a:endParaRPr>
                    </a:p>
                    <a:p>
                      <a:pPr marL="219075">
                        <a:lnSpc>
                          <a:spcPts val="3825"/>
                        </a:lnSpc>
                        <a:spcBef>
                          <a:spcPts val="720"/>
                        </a:spcBef>
                        <a:tabLst>
                          <a:tab pos="801370" algn="l"/>
                        </a:tabLst>
                      </a:pPr>
                      <a:r>
                        <a:rPr dirty="0" sz="3200" b="1" i="1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⋗	⋗</a:t>
                      </a:r>
                      <a:endParaRPr sz="3200">
                        <a:latin typeface="Lucida Sans Unicode"/>
                        <a:cs typeface="Lucida Sans Unicode"/>
                      </a:endParaRPr>
                    </a:p>
                    <a:p>
                      <a:pPr marL="219075">
                        <a:lnSpc>
                          <a:spcPts val="3825"/>
                        </a:lnSpc>
                        <a:tabLst>
                          <a:tab pos="929640" algn="l"/>
                        </a:tabLst>
                      </a:pPr>
                      <a:r>
                        <a:rPr dirty="0" sz="3200" b="1" i="1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⋖	⋖</a:t>
                      </a:r>
                      <a:endParaRPr sz="32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0485">
                    <a:lnL w="38100">
                      <a:solidFill>
                        <a:srgbClr val="FFFF00"/>
                      </a:solidFill>
                      <a:prstDash val="solid"/>
                    </a:lnL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900">
                        <a:latin typeface="Times New Roman"/>
                        <a:cs typeface="Times New Roman"/>
                      </a:endParaRPr>
                    </a:p>
                    <a:p>
                      <a:pPr algn="r" marR="184785">
                        <a:lnSpc>
                          <a:spcPct val="100000"/>
                        </a:lnSpc>
                        <a:spcBef>
                          <a:spcPts val="3295"/>
                        </a:spcBef>
                      </a:pPr>
                      <a:r>
                        <a:rPr dirty="0" sz="3200" b="1" i="1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⋖</a:t>
                      </a:r>
                      <a:endParaRPr sz="32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63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3200" b="1" i="1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⋗</a:t>
                      </a:r>
                      <a:endParaRPr sz="3200">
                        <a:latin typeface="Lucida Sans Unicode"/>
                        <a:cs typeface="Lucida Sans Unicode"/>
                      </a:endParaRPr>
                    </a:p>
                    <a:p>
                      <a:pPr marL="25654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dirty="0" sz="3200" b="1" i="1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⋗</a:t>
                      </a:r>
                      <a:endParaRPr sz="32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0485"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900">
                        <a:latin typeface="Times New Roman"/>
                        <a:cs typeface="Times New Roman"/>
                      </a:endParaRPr>
                    </a:p>
                    <a:p>
                      <a:pPr marL="121285">
                        <a:lnSpc>
                          <a:spcPct val="100000"/>
                        </a:lnSpc>
                        <a:spcBef>
                          <a:spcPts val="3295"/>
                        </a:spcBef>
                      </a:pPr>
                      <a:r>
                        <a:rPr dirty="0" sz="3200" b="1" i="1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⋖</a:t>
                      </a:r>
                      <a:endParaRPr sz="32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3200" b="1" i="1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⋗</a:t>
                      </a:r>
                      <a:endParaRPr sz="3200">
                        <a:latin typeface="Lucida Sans Unicode"/>
                        <a:cs typeface="Lucida Sans Unicode"/>
                      </a:endParaRPr>
                    </a:p>
                    <a:p>
                      <a:pPr marL="183515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dirty="0" sz="3200" b="1" i="1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⋗</a:t>
                      </a:r>
                      <a:endParaRPr sz="3200">
                        <a:latin typeface="Lucida Sans Unicode"/>
                        <a:cs typeface="Lucida Sans Unicode"/>
                      </a:endParaRPr>
                    </a:p>
                    <a:p>
                      <a:pPr marL="20383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3200" b="1" i="1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≐</a:t>
                      </a:r>
                      <a:endParaRPr sz="32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0485"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69240" y="26923"/>
            <a:ext cx="832929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2059305" algn="l"/>
                <a:tab pos="2567305" algn="l"/>
                <a:tab pos="4801870" algn="l"/>
                <a:tab pos="5499735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算符优先分析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法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算符优先分析法理论探讨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594358" y="798398"/>
            <a:ext cx="616585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heavy" spc="-705" b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pc="-1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微软雅黑"/>
                <a:cs typeface="微软雅黑"/>
              </a:rPr>
              <a:t>文</a:t>
            </a:r>
            <a:r>
              <a:rPr dirty="0" u="heavy" spc="-5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微软雅黑"/>
                <a:cs typeface="微软雅黑"/>
              </a:rPr>
              <a:t>法</a:t>
            </a:r>
            <a:r>
              <a:rPr dirty="0" u="heavy" spc="-5" i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G</a:t>
            </a:r>
            <a:r>
              <a:rPr dirty="0" u="heavy" spc="-5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(</a:t>
            </a:r>
            <a:r>
              <a:rPr dirty="0" u="heavy" spc="-5" i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E</a:t>
            </a:r>
            <a:r>
              <a:rPr dirty="0" u="heavy" spc="-5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heavy" spc="-1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微软雅黑"/>
                <a:cs typeface="微软雅黑"/>
              </a:rPr>
              <a:t>的句</a:t>
            </a:r>
            <a:r>
              <a:rPr dirty="0" u="heavy" spc="-5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微软雅黑"/>
                <a:cs typeface="微软雅黑"/>
              </a:rPr>
              <a:t>型</a:t>
            </a:r>
            <a:r>
              <a:rPr dirty="0" u="heavy" spc="1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微软雅黑"/>
                <a:cs typeface="微软雅黑"/>
              </a:rPr>
              <a:t> </a:t>
            </a:r>
            <a:r>
              <a:rPr dirty="0" u="heavy" spc="-10" i="1">
                <a:solidFill>
                  <a:srgbClr val="FF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T</a:t>
            </a:r>
            <a:r>
              <a:rPr dirty="0" u="heavy" spc="-10">
                <a:solidFill>
                  <a:srgbClr val="FFFFFF"/>
                </a:solidFill>
                <a:uFill>
                  <a:solidFill>
                    <a:srgbClr val="66FFFF"/>
                  </a:solidFill>
                </a:uFill>
                <a:latin typeface="微软雅黑"/>
                <a:cs typeface="微软雅黑"/>
              </a:rPr>
              <a:t>＋</a:t>
            </a:r>
            <a:r>
              <a:rPr dirty="0" u="heavy" spc="-10" i="1">
                <a:solidFill>
                  <a:srgbClr val="FF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T</a:t>
            </a:r>
            <a:r>
              <a:rPr dirty="0" u="heavy" spc="-10">
                <a:solidFill>
                  <a:srgbClr val="FF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*</a:t>
            </a:r>
            <a:r>
              <a:rPr dirty="0" u="heavy" spc="-10" i="1">
                <a:solidFill>
                  <a:srgbClr val="FF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F</a:t>
            </a:r>
            <a:r>
              <a:rPr dirty="0" u="heavy" spc="-10">
                <a:solidFill>
                  <a:srgbClr val="FFFFFF"/>
                </a:solidFill>
                <a:uFill>
                  <a:solidFill>
                    <a:srgbClr val="66FFFF"/>
                  </a:solidFill>
                </a:uFill>
                <a:latin typeface="微软雅黑"/>
                <a:cs typeface="微软雅黑"/>
              </a:rPr>
              <a:t>＋</a:t>
            </a:r>
            <a:r>
              <a:rPr dirty="0" u="heavy" spc="-10" i="1">
                <a:solidFill>
                  <a:srgbClr val="FF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i</a:t>
            </a:r>
            <a:r>
              <a:rPr dirty="0" u="heavy" spc="5" i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pc="-1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微软雅黑"/>
                <a:cs typeface="微软雅黑"/>
              </a:rPr>
              <a:t>的分析过</a:t>
            </a:r>
            <a:r>
              <a:rPr dirty="0" u="heavy" spc="-2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微软雅黑"/>
                <a:cs typeface="微软雅黑"/>
              </a:rPr>
              <a:t>程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56691" y="1993773"/>
            <a:ext cx="53784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5" b="1">
                <a:solidFill>
                  <a:srgbClr val="FFFFFF"/>
                </a:solidFill>
                <a:latin typeface="宋体"/>
                <a:cs typeface="宋体"/>
              </a:rPr>
              <a:t>步骤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06041" y="1993773"/>
            <a:ext cx="66421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" b="1">
                <a:solidFill>
                  <a:srgbClr val="FFFFFF"/>
                </a:solidFill>
                <a:latin typeface="宋体"/>
                <a:cs typeface="宋体"/>
              </a:rPr>
              <a:t>句</a:t>
            </a:r>
            <a:r>
              <a:rPr dirty="0" sz="2000" spc="-8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000" spc="-5" b="1">
                <a:solidFill>
                  <a:srgbClr val="FFFFFF"/>
                </a:solidFill>
                <a:latin typeface="宋体"/>
                <a:cs typeface="宋体"/>
              </a:rPr>
              <a:t>型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83051" y="1993773"/>
            <a:ext cx="79248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24510" algn="l"/>
              </a:tabLst>
            </a:pPr>
            <a:r>
              <a:rPr dirty="0" sz="2000" spc="-5" b="1">
                <a:solidFill>
                  <a:srgbClr val="FFFFFF"/>
                </a:solidFill>
                <a:latin typeface="宋体"/>
                <a:cs typeface="宋体"/>
              </a:rPr>
              <a:t>关</a:t>
            </a:r>
            <a:r>
              <a:rPr dirty="0" sz="2000" spc="-5" b="1">
                <a:solidFill>
                  <a:srgbClr val="FFFFFF"/>
                </a:solidFill>
                <a:latin typeface="宋体"/>
                <a:cs typeface="宋体"/>
              </a:rPr>
              <a:t>	</a:t>
            </a:r>
            <a:r>
              <a:rPr dirty="0" sz="2000" spc="-5" b="1">
                <a:solidFill>
                  <a:srgbClr val="FFFFFF"/>
                </a:solidFill>
                <a:latin typeface="宋体"/>
                <a:cs typeface="宋体"/>
              </a:rPr>
              <a:t>系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59933" y="1993773"/>
            <a:ext cx="130556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5" b="1">
                <a:solidFill>
                  <a:srgbClr val="FFFFFF"/>
                </a:solidFill>
                <a:latin typeface="宋体"/>
                <a:cs typeface="宋体"/>
              </a:rPr>
              <a:t>最左素短语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68006" y="1993773"/>
            <a:ext cx="104965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5" b="1">
                <a:solidFill>
                  <a:srgbClr val="FFFFFF"/>
                </a:solidFill>
                <a:latin typeface="宋体"/>
                <a:cs typeface="宋体"/>
              </a:rPr>
              <a:t>归约符号</a:t>
            </a:r>
            <a:endParaRPr sz="2000">
              <a:latin typeface="宋体"/>
              <a:cs typeface="宋体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539750" y="3045882"/>
          <a:ext cx="7720965" cy="2095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3220"/>
                <a:gridCol w="1884045"/>
                <a:gridCol w="2653030"/>
                <a:gridCol w="1587500"/>
                <a:gridCol w="1232534"/>
              </a:tblGrid>
              <a:tr h="462272">
                <a:tc>
                  <a:txBody>
                    <a:bodyPr/>
                    <a:lstStyle/>
                    <a:p>
                      <a:pPr marL="57150">
                        <a:lnSpc>
                          <a:spcPts val="2620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53035">
                        <a:lnSpc>
                          <a:spcPts val="2620"/>
                        </a:lnSpc>
                      </a:pP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dirty="0" sz="2400" spc="-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dirty="0" sz="24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*</a:t>
                      </a:r>
                      <a:r>
                        <a:rPr dirty="0" sz="2400" spc="-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9075">
                        <a:lnSpc>
                          <a:spcPts val="2620"/>
                        </a:lnSpc>
                      </a:pPr>
                      <a:r>
                        <a:rPr dirty="0" sz="24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r>
                        <a:rPr dirty="0" sz="2400" spc="5" b="1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⋖</a:t>
                      </a:r>
                      <a:r>
                        <a:rPr dirty="0" sz="24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dirty="0" sz="2400" spc="5" b="1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⋖</a:t>
                      </a:r>
                      <a:r>
                        <a:rPr dirty="0" sz="24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*</a:t>
                      </a:r>
                      <a:r>
                        <a:rPr dirty="0" sz="2400" spc="5" b="1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⋗ </a:t>
                      </a:r>
                      <a:r>
                        <a:rPr dirty="0" sz="2400" spc="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dirty="0" sz="2400" spc="10" b="1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⋗</a:t>
                      </a:r>
                      <a:r>
                        <a:rPr dirty="0" sz="2400" spc="1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2400" spc="10" b="1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⋗</a:t>
                      </a:r>
                      <a:r>
                        <a:rPr dirty="0" sz="2400" spc="-55" b="1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61645">
                        <a:lnSpc>
                          <a:spcPts val="2620"/>
                        </a:lnSpc>
                      </a:pP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*</a:t>
                      </a: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93115">
                        <a:lnSpc>
                          <a:spcPts val="2620"/>
                        </a:lnSpc>
                      </a:pPr>
                      <a:r>
                        <a:rPr dirty="0" sz="24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55372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9535"/>
                </a:tc>
                <a:tc>
                  <a:txBody>
                    <a:bodyPr/>
                    <a:lstStyle/>
                    <a:p>
                      <a:pPr marL="431800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r>
                        <a:rPr dirty="0" sz="2400" spc="-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dirty="0" sz="24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dirty="0" sz="2400" spc="-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9535"/>
                </a:tc>
                <a:tc>
                  <a:txBody>
                    <a:bodyPr/>
                    <a:lstStyle/>
                    <a:p>
                      <a:pPr algn="r" marR="213995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⋖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⋗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+ </a:t>
                      </a:r>
                      <a:r>
                        <a:rPr dirty="0" sz="2400" spc="10" b="1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⋖</a:t>
                      </a:r>
                      <a:r>
                        <a:rPr dirty="0" sz="2400" spc="1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2400" spc="-15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10" b="1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⋗</a:t>
                      </a:r>
                      <a:r>
                        <a:rPr dirty="0" sz="2400" spc="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9535"/>
                </a:tc>
                <a:tc>
                  <a:txBody>
                    <a:bodyPr/>
                    <a:lstStyle/>
                    <a:p>
                      <a:pPr marL="386715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dirty="0" sz="2400" spc="-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9535"/>
                </a:tc>
                <a:tc>
                  <a:txBody>
                    <a:bodyPr/>
                    <a:lstStyle/>
                    <a:p>
                      <a:pPr marL="715010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dirty="0" sz="24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9535"/>
                </a:tc>
              </a:tr>
              <a:tr h="65009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1285"/>
                </a:tc>
                <a:tc>
                  <a:txBody>
                    <a:bodyPr/>
                    <a:lstStyle/>
                    <a:p>
                      <a:pPr marL="736600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dirty="0" sz="2400" spc="-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1285"/>
                </a:tc>
                <a:tc>
                  <a:txBody>
                    <a:bodyPr/>
                    <a:lstStyle/>
                    <a:p>
                      <a:pPr marL="992505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dirty="0" sz="24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r>
                        <a:rPr dirty="0" sz="2400" spc="5" b="1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⋖</a:t>
                      </a:r>
                      <a:r>
                        <a:rPr dirty="0" sz="24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dirty="0" sz="2400" spc="5" b="1" i="1">
                          <a:solidFill>
                            <a:srgbClr val="66FFFF"/>
                          </a:solidFill>
                          <a:latin typeface="Lucida Sans Unicode"/>
                          <a:cs typeface="Lucida Sans Unicode"/>
                        </a:rPr>
                        <a:t>⋖</a:t>
                      </a:r>
                      <a:r>
                        <a:rPr dirty="0" sz="2400" spc="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2400" spc="-6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10" b="1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⋗</a:t>
                      </a:r>
                      <a:r>
                        <a:rPr dirty="0" sz="2400" spc="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1285"/>
                </a:tc>
                <a:tc>
                  <a:txBody>
                    <a:bodyPr/>
                    <a:lstStyle/>
                    <a:p>
                      <a:pPr marL="278765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dirty="0" sz="24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1285"/>
                </a:tc>
                <a:tc>
                  <a:txBody>
                    <a:bodyPr/>
                    <a:lstStyle/>
                    <a:p>
                      <a:pPr marL="608330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dirty="0" sz="2400" spc="-5" b="1" i="1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1285"/>
                </a:tc>
              </a:tr>
              <a:tr h="429143">
                <a:tc>
                  <a:txBody>
                    <a:bodyPr/>
                    <a:lstStyle/>
                    <a:p>
                      <a:pPr marL="31750">
                        <a:lnSpc>
                          <a:spcPts val="2835"/>
                        </a:lnSpc>
                        <a:spcBef>
                          <a:spcPts val="445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6515"/>
                </a:tc>
                <a:tc>
                  <a:txBody>
                    <a:bodyPr/>
                    <a:lstStyle/>
                    <a:p>
                      <a:pPr marL="660400">
                        <a:lnSpc>
                          <a:spcPts val="2835"/>
                        </a:lnSpc>
                        <a:spcBef>
                          <a:spcPts val="445"/>
                        </a:spcBef>
                      </a:pP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r>
                        <a:rPr dirty="0" sz="2400" spc="-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24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dirty="0" sz="2400" spc="-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6515"/>
                </a:tc>
                <a:tc>
                  <a:txBody>
                    <a:bodyPr/>
                    <a:lstStyle/>
                    <a:p>
                      <a:pPr marL="1337310">
                        <a:lnSpc>
                          <a:spcPts val="2835"/>
                        </a:lnSpc>
                        <a:spcBef>
                          <a:spcPts val="445"/>
                        </a:spcBef>
                      </a:pPr>
                      <a:r>
                        <a:rPr dirty="0" sz="24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r>
                        <a:rPr dirty="0" sz="2400" spc="5" b="1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⋖</a:t>
                      </a:r>
                      <a:r>
                        <a:rPr dirty="0" sz="24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dirty="0" sz="2400" spc="5" b="1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⋗</a:t>
                      </a:r>
                      <a:r>
                        <a:rPr dirty="0" sz="24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6515"/>
                </a:tc>
                <a:tc>
                  <a:txBody>
                    <a:bodyPr/>
                    <a:lstStyle/>
                    <a:p>
                      <a:pPr marL="220345">
                        <a:lnSpc>
                          <a:spcPts val="2835"/>
                        </a:lnSpc>
                        <a:spcBef>
                          <a:spcPts val="445"/>
                        </a:spcBef>
                      </a:pP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dirty="0" sz="2400" spc="-5" b="1" i="1">
                          <a:solidFill>
                            <a:srgbClr val="FFFF69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6515"/>
                </a:tc>
                <a:tc>
                  <a:txBody>
                    <a:bodyPr/>
                    <a:lstStyle/>
                    <a:p>
                      <a:pPr marL="584200">
                        <a:lnSpc>
                          <a:spcPts val="2835"/>
                        </a:lnSpc>
                        <a:spcBef>
                          <a:spcPts val="445"/>
                        </a:spcBef>
                      </a:pPr>
                      <a:r>
                        <a:rPr dirty="0" sz="24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6515"/>
                </a:tc>
              </a:tr>
            </a:tbl>
          </a:graphicData>
        </a:graphic>
      </p:graphicFrame>
      <p:sp>
        <p:nvSpPr>
          <p:cNvPr id="12" name="object 12"/>
          <p:cNvSpPr/>
          <p:nvPr/>
        </p:nvSpPr>
        <p:spPr>
          <a:xfrm>
            <a:off x="343661" y="1811273"/>
            <a:ext cx="8458200" cy="0"/>
          </a:xfrm>
          <a:custGeom>
            <a:avLst/>
            <a:gdLst/>
            <a:ahLst/>
            <a:cxnLst/>
            <a:rect l="l" t="t" r="r" b="b"/>
            <a:pathLst>
              <a:path w="8458200" h="0">
                <a:moveTo>
                  <a:pt x="0" y="0"/>
                </a:moveTo>
                <a:lnTo>
                  <a:pt x="845820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96062" y="5334761"/>
            <a:ext cx="8458200" cy="0"/>
          </a:xfrm>
          <a:custGeom>
            <a:avLst/>
            <a:gdLst/>
            <a:ahLst/>
            <a:cxnLst/>
            <a:rect l="l" t="t" r="r" b="b"/>
            <a:pathLst>
              <a:path w="8458200" h="0">
                <a:moveTo>
                  <a:pt x="0" y="0"/>
                </a:moveTo>
                <a:lnTo>
                  <a:pt x="845820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43661" y="2439161"/>
            <a:ext cx="8458200" cy="0"/>
          </a:xfrm>
          <a:custGeom>
            <a:avLst/>
            <a:gdLst/>
            <a:ahLst/>
            <a:cxnLst/>
            <a:rect l="l" t="t" r="r" b="b"/>
            <a:pathLst>
              <a:path w="8458200" h="0">
                <a:moveTo>
                  <a:pt x="0" y="0"/>
                </a:moveTo>
                <a:lnTo>
                  <a:pt x="845820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421640" y="5453607"/>
            <a:ext cx="8170545" cy="10991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100"/>
              </a:lnSpc>
              <a:spcBef>
                <a:spcPts val="100"/>
              </a:spcBef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最左的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“</a:t>
            </a:r>
            <a:r>
              <a:rPr dirty="0" sz="3200" b="1">
                <a:solidFill>
                  <a:srgbClr val="FFFFFF"/>
                </a:solidFill>
                <a:latin typeface="Cambria Math"/>
                <a:cs typeface="Cambria Math"/>
              </a:rPr>
              <a:t>⋖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”“</a:t>
            </a:r>
            <a:r>
              <a:rPr dirty="0" sz="3200" b="1">
                <a:solidFill>
                  <a:srgbClr val="FFFFFF"/>
                </a:solidFill>
                <a:latin typeface="Cambria Math"/>
                <a:cs typeface="Cambria Math"/>
              </a:rPr>
              <a:t>⋗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”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括起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来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的为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要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归约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短语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即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最左素短语。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47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69240" y="26923"/>
            <a:ext cx="16319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16226" y="26923"/>
            <a:ext cx="232600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0065" algn="l"/>
              </a:tabLst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算符优先分析法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58536" y="26923"/>
            <a:ext cx="354012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05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算符优先分析法理论探讨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76471" y="1268424"/>
            <a:ext cx="26289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DDDDDD"/>
                </a:solidFill>
                <a:latin typeface="Times New Roman"/>
                <a:cs typeface="Times New Roman"/>
              </a:rPr>
              <a:t>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25367" y="2143760"/>
            <a:ext cx="249554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DDDDDD"/>
                </a:solidFill>
                <a:latin typeface="Times New Roman"/>
                <a:cs typeface="Times New Roman"/>
              </a:rPr>
              <a:t>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89171" y="2143760"/>
            <a:ext cx="21526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54497" y="2143760"/>
            <a:ext cx="2298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DDDDDD"/>
                </a:solidFill>
                <a:latin typeface="Times New Roman"/>
                <a:cs typeface="Times New Roman"/>
              </a:rPr>
              <a:t>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693414" y="1840229"/>
            <a:ext cx="577850" cy="292735"/>
          </a:xfrm>
          <a:custGeom>
            <a:avLst/>
            <a:gdLst/>
            <a:ahLst/>
            <a:cxnLst/>
            <a:rect l="l" t="t" r="r" b="b"/>
            <a:pathLst>
              <a:path w="577850" h="292735">
                <a:moveTo>
                  <a:pt x="577596" y="0"/>
                </a:moveTo>
                <a:lnTo>
                  <a:pt x="0" y="292608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464558" y="1840229"/>
            <a:ext cx="0" cy="292735"/>
          </a:xfrm>
          <a:custGeom>
            <a:avLst/>
            <a:gdLst/>
            <a:ahLst/>
            <a:cxnLst/>
            <a:rect l="l" t="t" r="r" b="b"/>
            <a:pathLst>
              <a:path w="0" h="292735">
                <a:moveTo>
                  <a:pt x="0" y="0"/>
                </a:moveTo>
                <a:lnTo>
                  <a:pt x="0" y="292608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656582" y="1840229"/>
            <a:ext cx="579120" cy="292735"/>
          </a:xfrm>
          <a:custGeom>
            <a:avLst/>
            <a:gdLst/>
            <a:ahLst/>
            <a:cxnLst/>
            <a:rect l="l" t="t" r="r" b="b"/>
            <a:pathLst>
              <a:path w="579120" h="292735">
                <a:moveTo>
                  <a:pt x="0" y="0"/>
                </a:moveTo>
                <a:lnTo>
                  <a:pt x="579119" y="292608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2368042" y="3166363"/>
            <a:ext cx="206502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926465" algn="l"/>
                <a:tab pos="1834514" algn="l"/>
              </a:tabLst>
            </a:pPr>
            <a:r>
              <a:rPr dirty="0" sz="2800" spc="-5" b="1" i="1">
                <a:solidFill>
                  <a:srgbClr val="DDDDDD"/>
                </a:solidFill>
                <a:latin typeface="Times New Roman"/>
                <a:cs typeface="Times New Roman"/>
              </a:rPr>
              <a:t>E</a:t>
            </a:r>
            <a:r>
              <a:rPr dirty="0" sz="2800" spc="-5" b="1" i="1">
                <a:solidFill>
                  <a:srgbClr val="DDDDDD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 i="1">
                <a:solidFill>
                  <a:srgbClr val="DDDDDD"/>
                </a:solidFill>
                <a:latin typeface="Times New Roman"/>
                <a:cs typeface="Times New Roman"/>
              </a:rPr>
              <a:t>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641854" y="2715005"/>
            <a:ext cx="579120" cy="440690"/>
          </a:xfrm>
          <a:custGeom>
            <a:avLst/>
            <a:gdLst/>
            <a:ahLst/>
            <a:cxnLst/>
            <a:rect l="l" t="t" r="r" b="b"/>
            <a:pathLst>
              <a:path w="579119" h="440689">
                <a:moveTo>
                  <a:pt x="579119" y="0"/>
                </a:moveTo>
                <a:lnTo>
                  <a:pt x="0" y="440436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414521" y="2715005"/>
            <a:ext cx="0" cy="440690"/>
          </a:xfrm>
          <a:custGeom>
            <a:avLst/>
            <a:gdLst/>
            <a:ahLst/>
            <a:cxnLst/>
            <a:rect l="l" t="t" r="r" b="b"/>
            <a:pathLst>
              <a:path w="0" h="440689">
                <a:moveTo>
                  <a:pt x="0" y="0"/>
                </a:moveTo>
                <a:lnTo>
                  <a:pt x="0" y="440436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606546" y="2715005"/>
            <a:ext cx="579120" cy="440690"/>
          </a:xfrm>
          <a:custGeom>
            <a:avLst/>
            <a:gdLst/>
            <a:ahLst/>
            <a:cxnLst/>
            <a:rect l="l" t="t" r="r" b="b"/>
            <a:pathLst>
              <a:path w="579120" h="440689">
                <a:moveTo>
                  <a:pt x="0" y="0"/>
                </a:moveTo>
                <a:lnTo>
                  <a:pt x="579119" y="440436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3589020" y="4211192"/>
            <a:ext cx="135445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691515" algn="l"/>
                <a:tab pos="1104265" algn="l"/>
              </a:tabLst>
            </a:pP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T</a:t>
            </a: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*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F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792473" y="3704082"/>
            <a:ext cx="361315" cy="518159"/>
          </a:xfrm>
          <a:custGeom>
            <a:avLst/>
            <a:gdLst/>
            <a:ahLst/>
            <a:cxnLst/>
            <a:rect l="l" t="t" r="r" b="b"/>
            <a:pathLst>
              <a:path w="361314" h="518160">
                <a:moveTo>
                  <a:pt x="361188" y="0"/>
                </a:moveTo>
                <a:lnTo>
                  <a:pt x="0" y="51816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345685" y="3704082"/>
            <a:ext cx="0" cy="475615"/>
          </a:xfrm>
          <a:custGeom>
            <a:avLst/>
            <a:gdLst/>
            <a:ahLst/>
            <a:cxnLst/>
            <a:rect l="l" t="t" r="r" b="b"/>
            <a:pathLst>
              <a:path w="0" h="475614">
                <a:moveTo>
                  <a:pt x="0" y="0"/>
                </a:moveTo>
                <a:lnTo>
                  <a:pt x="0" y="475488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539234" y="3704082"/>
            <a:ext cx="154305" cy="551815"/>
          </a:xfrm>
          <a:custGeom>
            <a:avLst/>
            <a:gdLst/>
            <a:ahLst/>
            <a:cxnLst/>
            <a:rect l="l" t="t" r="r" b="b"/>
            <a:pathLst>
              <a:path w="154304" h="551814">
                <a:moveTo>
                  <a:pt x="0" y="0"/>
                </a:moveTo>
                <a:lnTo>
                  <a:pt x="153924" y="551688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2304414" y="4098416"/>
            <a:ext cx="2425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455926" y="3768090"/>
            <a:ext cx="0" cy="292735"/>
          </a:xfrm>
          <a:custGeom>
            <a:avLst/>
            <a:gdLst/>
            <a:ahLst/>
            <a:cxnLst/>
            <a:rect l="l" t="t" r="r" b="b"/>
            <a:pathLst>
              <a:path w="0" h="292735">
                <a:moveTo>
                  <a:pt x="0" y="0"/>
                </a:moveTo>
                <a:lnTo>
                  <a:pt x="0" y="292608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5241797" y="3018536"/>
            <a:ext cx="26225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DDDDDD"/>
                </a:solidFill>
                <a:latin typeface="Times New Roman"/>
                <a:cs typeface="Times New Roman"/>
              </a:rPr>
              <a:t>F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372861" y="2715005"/>
            <a:ext cx="0" cy="292735"/>
          </a:xfrm>
          <a:custGeom>
            <a:avLst/>
            <a:gdLst/>
            <a:ahLst/>
            <a:cxnLst/>
            <a:rect l="l" t="t" r="r" b="b"/>
            <a:pathLst>
              <a:path w="0" h="292735">
                <a:moveTo>
                  <a:pt x="0" y="0"/>
                </a:moveTo>
                <a:lnTo>
                  <a:pt x="0" y="292608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5193791" y="3893565"/>
            <a:ext cx="50609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8425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i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342382" y="3609594"/>
            <a:ext cx="0" cy="291465"/>
          </a:xfrm>
          <a:custGeom>
            <a:avLst/>
            <a:gdLst/>
            <a:ahLst/>
            <a:cxnLst/>
            <a:rect l="l" t="t" r="r" b="b"/>
            <a:pathLst>
              <a:path w="0" h="291464">
                <a:moveTo>
                  <a:pt x="0" y="0"/>
                </a:moveTo>
                <a:lnTo>
                  <a:pt x="0" y="291083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2374138" y="5713577"/>
            <a:ext cx="422465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3200" b="1">
                <a:solidFill>
                  <a:srgbClr val="FFFF69"/>
                </a:solidFill>
                <a:uFill>
                  <a:solidFill>
                    <a:srgbClr val="FFFF69"/>
                  </a:solidFill>
                </a:uFill>
                <a:latin typeface="宋体"/>
                <a:cs typeface="宋体"/>
              </a:rPr>
              <a:t>句</a:t>
            </a:r>
            <a:r>
              <a:rPr dirty="0" u="heavy" sz="3200" spc="-10" b="1">
                <a:solidFill>
                  <a:srgbClr val="FFFF69"/>
                </a:solidFill>
                <a:uFill>
                  <a:solidFill>
                    <a:srgbClr val="FFFF69"/>
                  </a:solidFill>
                </a:uFill>
                <a:latin typeface="宋体"/>
                <a:cs typeface="宋体"/>
              </a:rPr>
              <a:t>型</a:t>
            </a:r>
            <a:r>
              <a:rPr dirty="0" sz="3200" spc="-865" b="1">
                <a:solidFill>
                  <a:srgbClr val="FFFF69"/>
                </a:solidFill>
                <a:latin typeface="宋体"/>
                <a:cs typeface="宋体"/>
              </a:rPr>
              <a:t> </a:t>
            </a:r>
            <a:r>
              <a:rPr dirty="0" u="heavy" sz="3200" b="1" i="1">
                <a:solidFill>
                  <a:srgbClr val="F3B4FB"/>
                </a:solidFill>
                <a:uFill>
                  <a:solidFill>
                    <a:srgbClr val="F3B4FB"/>
                  </a:solidFill>
                </a:uFill>
                <a:latin typeface="Times New Roman"/>
                <a:cs typeface="Times New Roman"/>
              </a:rPr>
              <a:t>T</a:t>
            </a:r>
            <a:r>
              <a:rPr dirty="0" u="heavy" sz="3200" b="1">
                <a:solidFill>
                  <a:srgbClr val="F3B4FB"/>
                </a:solidFill>
                <a:uFill>
                  <a:solidFill>
                    <a:srgbClr val="F3B4FB"/>
                  </a:solidFill>
                </a:uFill>
                <a:latin typeface="Times New Roman"/>
                <a:cs typeface="Times New Roman"/>
              </a:rPr>
              <a:t>+</a:t>
            </a:r>
            <a:r>
              <a:rPr dirty="0" u="heavy" sz="3200" b="1" i="1">
                <a:solidFill>
                  <a:srgbClr val="F3B4FB"/>
                </a:solidFill>
                <a:uFill>
                  <a:solidFill>
                    <a:srgbClr val="F3B4FB"/>
                  </a:solidFill>
                </a:uFill>
                <a:latin typeface="Times New Roman"/>
                <a:cs typeface="Times New Roman"/>
              </a:rPr>
              <a:t>T</a:t>
            </a:r>
            <a:r>
              <a:rPr dirty="0" u="heavy" sz="3200" b="1">
                <a:solidFill>
                  <a:srgbClr val="F3B4FB"/>
                </a:solidFill>
                <a:uFill>
                  <a:solidFill>
                    <a:srgbClr val="F3B4FB"/>
                  </a:solidFill>
                </a:uFill>
                <a:latin typeface="Times New Roman"/>
                <a:cs typeface="Times New Roman"/>
              </a:rPr>
              <a:t>*</a:t>
            </a:r>
            <a:r>
              <a:rPr dirty="0" u="heavy" sz="3200" b="1" i="1">
                <a:solidFill>
                  <a:srgbClr val="F3B4FB"/>
                </a:solidFill>
                <a:uFill>
                  <a:solidFill>
                    <a:srgbClr val="F3B4FB"/>
                  </a:solidFill>
                </a:uFill>
                <a:latin typeface="Times New Roman"/>
                <a:cs typeface="Times New Roman"/>
              </a:rPr>
              <a:t>F</a:t>
            </a:r>
            <a:r>
              <a:rPr dirty="0" u="heavy" sz="3200" b="1">
                <a:solidFill>
                  <a:srgbClr val="F3B4FB"/>
                </a:solidFill>
                <a:uFill>
                  <a:solidFill>
                    <a:srgbClr val="F3B4FB"/>
                  </a:solidFill>
                </a:uFill>
                <a:latin typeface="Times New Roman"/>
                <a:cs typeface="Times New Roman"/>
              </a:rPr>
              <a:t>+</a:t>
            </a:r>
            <a:r>
              <a:rPr dirty="0" u="heavy" sz="3200" b="1" i="1">
                <a:solidFill>
                  <a:srgbClr val="F3B4FB"/>
                </a:solidFill>
                <a:uFill>
                  <a:solidFill>
                    <a:srgbClr val="F3B4FB"/>
                  </a:solidFill>
                </a:uFill>
                <a:latin typeface="Times New Roman"/>
                <a:cs typeface="Times New Roman"/>
              </a:rPr>
              <a:t>i</a:t>
            </a:r>
            <a:r>
              <a:rPr dirty="0" sz="3200" spc="-65" b="1" i="1">
                <a:solidFill>
                  <a:srgbClr val="F3B4FB"/>
                </a:solidFill>
                <a:latin typeface="Times New Roman"/>
                <a:cs typeface="Times New Roman"/>
              </a:rPr>
              <a:t> </a:t>
            </a:r>
            <a:r>
              <a:rPr dirty="0" u="heavy" sz="3200" b="1">
                <a:solidFill>
                  <a:srgbClr val="FFFF69"/>
                </a:solidFill>
                <a:uFill>
                  <a:solidFill>
                    <a:srgbClr val="FFFF69"/>
                  </a:solidFill>
                </a:uFill>
                <a:latin typeface="宋体"/>
                <a:cs typeface="宋体"/>
              </a:rPr>
              <a:t>的分析树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220973" y="4181094"/>
            <a:ext cx="1915795" cy="574675"/>
          </a:xfrm>
          <a:custGeom>
            <a:avLst/>
            <a:gdLst/>
            <a:ahLst/>
            <a:cxnLst/>
            <a:rect l="l" t="t" r="r" b="b"/>
            <a:pathLst>
              <a:path w="1915795" h="574675">
                <a:moveTo>
                  <a:pt x="0" y="574547"/>
                </a:moveTo>
                <a:lnTo>
                  <a:pt x="1915668" y="574547"/>
                </a:lnTo>
                <a:lnTo>
                  <a:pt x="1915668" y="0"/>
                </a:lnTo>
                <a:lnTo>
                  <a:pt x="0" y="0"/>
                </a:lnTo>
                <a:lnTo>
                  <a:pt x="0" y="574547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5174741" y="3882390"/>
            <a:ext cx="525780" cy="615950"/>
          </a:xfrm>
          <a:custGeom>
            <a:avLst/>
            <a:gdLst/>
            <a:ahLst/>
            <a:cxnLst/>
            <a:rect l="l" t="t" r="r" b="b"/>
            <a:pathLst>
              <a:path w="525779" h="615950">
                <a:moveTo>
                  <a:pt x="0" y="615695"/>
                </a:moveTo>
                <a:lnTo>
                  <a:pt x="525779" y="615695"/>
                </a:lnTo>
                <a:lnTo>
                  <a:pt x="525779" y="0"/>
                </a:lnTo>
                <a:lnTo>
                  <a:pt x="0" y="0"/>
                </a:lnTo>
                <a:lnTo>
                  <a:pt x="0" y="615695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237994" y="3155442"/>
            <a:ext cx="2407920" cy="574675"/>
          </a:xfrm>
          <a:custGeom>
            <a:avLst/>
            <a:gdLst/>
            <a:ahLst/>
            <a:cxnLst/>
            <a:rect l="l" t="t" r="r" b="b"/>
            <a:pathLst>
              <a:path w="2407920" h="574675">
                <a:moveTo>
                  <a:pt x="0" y="574548"/>
                </a:moveTo>
                <a:lnTo>
                  <a:pt x="2407920" y="574548"/>
                </a:lnTo>
                <a:lnTo>
                  <a:pt x="2407920" y="0"/>
                </a:lnTo>
                <a:lnTo>
                  <a:pt x="0" y="0"/>
                </a:lnTo>
                <a:lnTo>
                  <a:pt x="0" y="574548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948177" y="2140457"/>
            <a:ext cx="2788920" cy="574675"/>
          </a:xfrm>
          <a:custGeom>
            <a:avLst/>
            <a:gdLst/>
            <a:ahLst/>
            <a:cxnLst/>
            <a:rect l="l" t="t" r="r" b="b"/>
            <a:pathLst>
              <a:path w="2788920" h="574675">
                <a:moveTo>
                  <a:pt x="0" y="574548"/>
                </a:moveTo>
                <a:lnTo>
                  <a:pt x="2788920" y="574548"/>
                </a:lnTo>
                <a:lnTo>
                  <a:pt x="2788920" y="0"/>
                </a:lnTo>
                <a:lnTo>
                  <a:pt x="0" y="0"/>
                </a:lnTo>
                <a:lnTo>
                  <a:pt x="0" y="574548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962911" y="2802635"/>
            <a:ext cx="848994" cy="1952625"/>
          </a:xfrm>
          <a:custGeom>
            <a:avLst/>
            <a:gdLst/>
            <a:ahLst/>
            <a:cxnLst/>
            <a:rect l="l" t="t" r="r" b="b"/>
            <a:pathLst>
              <a:path w="848994" h="1952625">
                <a:moveTo>
                  <a:pt x="0" y="976121"/>
                </a:moveTo>
                <a:lnTo>
                  <a:pt x="902" y="911939"/>
                </a:lnTo>
                <a:lnTo>
                  <a:pt x="3573" y="848866"/>
                </a:lnTo>
                <a:lnTo>
                  <a:pt x="7956" y="787030"/>
                </a:lnTo>
                <a:lnTo>
                  <a:pt x="13995" y="726560"/>
                </a:lnTo>
                <a:lnTo>
                  <a:pt x="21634" y="667585"/>
                </a:lnTo>
                <a:lnTo>
                  <a:pt x="30818" y="610233"/>
                </a:lnTo>
                <a:lnTo>
                  <a:pt x="41491" y="554632"/>
                </a:lnTo>
                <a:lnTo>
                  <a:pt x="53596" y="500913"/>
                </a:lnTo>
                <a:lnTo>
                  <a:pt x="67078" y="449202"/>
                </a:lnTo>
                <a:lnTo>
                  <a:pt x="81881" y="399629"/>
                </a:lnTo>
                <a:lnTo>
                  <a:pt x="97949" y="352322"/>
                </a:lnTo>
                <a:lnTo>
                  <a:pt x="115226" y="307410"/>
                </a:lnTo>
                <a:lnTo>
                  <a:pt x="133657" y="265022"/>
                </a:lnTo>
                <a:lnTo>
                  <a:pt x="153184" y="225285"/>
                </a:lnTo>
                <a:lnTo>
                  <a:pt x="173754" y="188329"/>
                </a:lnTo>
                <a:lnTo>
                  <a:pt x="195309" y="154283"/>
                </a:lnTo>
                <a:lnTo>
                  <a:pt x="217793" y="123274"/>
                </a:lnTo>
                <a:lnTo>
                  <a:pt x="265328" y="70885"/>
                </a:lnTo>
                <a:lnTo>
                  <a:pt x="315911" y="32190"/>
                </a:lnTo>
                <a:lnTo>
                  <a:pt x="369095" y="8219"/>
                </a:lnTo>
                <a:lnTo>
                  <a:pt x="424433" y="0"/>
                </a:lnTo>
                <a:lnTo>
                  <a:pt x="452344" y="2076"/>
                </a:lnTo>
                <a:lnTo>
                  <a:pt x="506661" y="18299"/>
                </a:lnTo>
                <a:lnTo>
                  <a:pt x="558600" y="49761"/>
                </a:lnTo>
                <a:lnTo>
                  <a:pt x="607715" y="95432"/>
                </a:lnTo>
                <a:lnTo>
                  <a:pt x="653558" y="154283"/>
                </a:lnTo>
                <a:lnTo>
                  <a:pt x="675113" y="188329"/>
                </a:lnTo>
                <a:lnTo>
                  <a:pt x="695683" y="225285"/>
                </a:lnTo>
                <a:lnTo>
                  <a:pt x="715210" y="265022"/>
                </a:lnTo>
                <a:lnTo>
                  <a:pt x="733641" y="307410"/>
                </a:lnTo>
                <a:lnTo>
                  <a:pt x="750918" y="352322"/>
                </a:lnTo>
                <a:lnTo>
                  <a:pt x="766986" y="399629"/>
                </a:lnTo>
                <a:lnTo>
                  <a:pt x="781789" y="449202"/>
                </a:lnTo>
                <a:lnTo>
                  <a:pt x="795271" y="500913"/>
                </a:lnTo>
                <a:lnTo>
                  <a:pt x="807376" y="554632"/>
                </a:lnTo>
                <a:lnTo>
                  <a:pt x="818049" y="610233"/>
                </a:lnTo>
                <a:lnTo>
                  <a:pt x="827233" y="667585"/>
                </a:lnTo>
                <a:lnTo>
                  <a:pt x="834872" y="726560"/>
                </a:lnTo>
                <a:lnTo>
                  <a:pt x="840911" y="787030"/>
                </a:lnTo>
                <a:lnTo>
                  <a:pt x="845294" y="848866"/>
                </a:lnTo>
                <a:lnTo>
                  <a:pt x="847965" y="911939"/>
                </a:lnTo>
                <a:lnTo>
                  <a:pt x="848868" y="976121"/>
                </a:lnTo>
                <a:lnTo>
                  <a:pt x="847965" y="1040304"/>
                </a:lnTo>
                <a:lnTo>
                  <a:pt x="845294" y="1103377"/>
                </a:lnTo>
                <a:lnTo>
                  <a:pt x="840911" y="1165213"/>
                </a:lnTo>
                <a:lnTo>
                  <a:pt x="834872" y="1225683"/>
                </a:lnTo>
                <a:lnTo>
                  <a:pt x="827233" y="1284658"/>
                </a:lnTo>
                <a:lnTo>
                  <a:pt x="818049" y="1342010"/>
                </a:lnTo>
                <a:lnTo>
                  <a:pt x="807376" y="1397611"/>
                </a:lnTo>
                <a:lnTo>
                  <a:pt x="795271" y="1451330"/>
                </a:lnTo>
                <a:lnTo>
                  <a:pt x="781789" y="1503041"/>
                </a:lnTo>
                <a:lnTo>
                  <a:pt x="766986" y="1552614"/>
                </a:lnTo>
                <a:lnTo>
                  <a:pt x="750918" y="1599921"/>
                </a:lnTo>
                <a:lnTo>
                  <a:pt x="733641" y="1644833"/>
                </a:lnTo>
                <a:lnTo>
                  <a:pt x="715210" y="1687221"/>
                </a:lnTo>
                <a:lnTo>
                  <a:pt x="695683" y="1726958"/>
                </a:lnTo>
                <a:lnTo>
                  <a:pt x="675113" y="1763914"/>
                </a:lnTo>
                <a:lnTo>
                  <a:pt x="653558" y="1797960"/>
                </a:lnTo>
                <a:lnTo>
                  <a:pt x="631074" y="1828969"/>
                </a:lnTo>
                <a:lnTo>
                  <a:pt x="583539" y="1881358"/>
                </a:lnTo>
                <a:lnTo>
                  <a:pt x="532956" y="1920053"/>
                </a:lnTo>
                <a:lnTo>
                  <a:pt x="479772" y="1944024"/>
                </a:lnTo>
                <a:lnTo>
                  <a:pt x="424433" y="1952244"/>
                </a:lnTo>
                <a:lnTo>
                  <a:pt x="396523" y="1950167"/>
                </a:lnTo>
                <a:lnTo>
                  <a:pt x="342206" y="1933944"/>
                </a:lnTo>
                <a:lnTo>
                  <a:pt x="290267" y="1902482"/>
                </a:lnTo>
                <a:lnTo>
                  <a:pt x="241152" y="1856811"/>
                </a:lnTo>
                <a:lnTo>
                  <a:pt x="195309" y="1797960"/>
                </a:lnTo>
                <a:lnTo>
                  <a:pt x="173754" y="1763914"/>
                </a:lnTo>
                <a:lnTo>
                  <a:pt x="153184" y="1726958"/>
                </a:lnTo>
                <a:lnTo>
                  <a:pt x="133657" y="1687221"/>
                </a:lnTo>
                <a:lnTo>
                  <a:pt x="115226" y="1644833"/>
                </a:lnTo>
                <a:lnTo>
                  <a:pt x="97949" y="1599921"/>
                </a:lnTo>
                <a:lnTo>
                  <a:pt x="81881" y="1552614"/>
                </a:lnTo>
                <a:lnTo>
                  <a:pt x="67078" y="1503041"/>
                </a:lnTo>
                <a:lnTo>
                  <a:pt x="53596" y="1451330"/>
                </a:lnTo>
                <a:lnTo>
                  <a:pt x="41491" y="1397611"/>
                </a:lnTo>
                <a:lnTo>
                  <a:pt x="30818" y="1342010"/>
                </a:lnTo>
                <a:lnTo>
                  <a:pt x="21634" y="1284658"/>
                </a:lnTo>
                <a:lnTo>
                  <a:pt x="13995" y="1225683"/>
                </a:lnTo>
                <a:lnTo>
                  <a:pt x="7956" y="1165213"/>
                </a:lnTo>
                <a:lnTo>
                  <a:pt x="3573" y="1103377"/>
                </a:lnTo>
                <a:lnTo>
                  <a:pt x="902" y="1040304"/>
                </a:lnTo>
                <a:lnTo>
                  <a:pt x="0" y="976121"/>
                </a:lnTo>
                <a:close/>
              </a:path>
            </a:pathLst>
          </a:custGeom>
          <a:ln w="5715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5059679" y="1946148"/>
            <a:ext cx="638810" cy="1681480"/>
          </a:xfrm>
          <a:custGeom>
            <a:avLst/>
            <a:gdLst/>
            <a:ahLst/>
            <a:cxnLst/>
            <a:rect l="l" t="t" r="r" b="b"/>
            <a:pathLst>
              <a:path w="638810" h="1681479">
                <a:moveTo>
                  <a:pt x="0" y="840486"/>
                </a:moveTo>
                <a:lnTo>
                  <a:pt x="960" y="774802"/>
                </a:lnTo>
                <a:lnTo>
                  <a:pt x="3796" y="710502"/>
                </a:lnTo>
                <a:lnTo>
                  <a:pt x="8435" y="647771"/>
                </a:lnTo>
                <a:lnTo>
                  <a:pt x="14806" y="586796"/>
                </a:lnTo>
                <a:lnTo>
                  <a:pt x="22839" y="527764"/>
                </a:lnTo>
                <a:lnTo>
                  <a:pt x="32461" y="470862"/>
                </a:lnTo>
                <a:lnTo>
                  <a:pt x="43603" y="416277"/>
                </a:lnTo>
                <a:lnTo>
                  <a:pt x="56192" y="364196"/>
                </a:lnTo>
                <a:lnTo>
                  <a:pt x="70159" y="314805"/>
                </a:lnTo>
                <a:lnTo>
                  <a:pt x="85431" y="268292"/>
                </a:lnTo>
                <a:lnTo>
                  <a:pt x="101938" y="224843"/>
                </a:lnTo>
                <a:lnTo>
                  <a:pt x="119609" y="184646"/>
                </a:lnTo>
                <a:lnTo>
                  <a:pt x="138372" y="147886"/>
                </a:lnTo>
                <a:lnTo>
                  <a:pt x="158157" y="114751"/>
                </a:lnTo>
                <a:lnTo>
                  <a:pt x="200506" y="60103"/>
                </a:lnTo>
                <a:lnTo>
                  <a:pt x="246088" y="22197"/>
                </a:lnTo>
                <a:lnTo>
                  <a:pt x="294333" y="2528"/>
                </a:lnTo>
                <a:lnTo>
                  <a:pt x="319278" y="0"/>
                </a:lnTo>
                <a:lnTo>
                  <a:pt x="344222" y="2528"/>
                </a:lnTo>
                <a:lnTo>
                  <a:pt x="392467" y="22197"/>
                </a:lnTo>
                <a:lnTo>
                  <a:pt x="438049" y="60103"/>
                </a:lnTo>
                <a:lnTo>
                  <a:pt x="480398" y="114751"/>
                </a:lnTo>
                <a:lnTo>
                  <a:pt x="500183" y="147886"/>
                </a:lnTo>
                <a:lnTo>
                  <a:pt x="518946" y="184646"/>
                </a:lnTo>
                <a:lnTo>
                  <a:pt x="536617" y="224843"/>
                </a:lnTo>
                <a:lnTo>
                  <a:pt x="553124" y="268292"/>
                </a:lnTo>
                <a:lnTo>
                  <a:pt x="568396" y="314805"/>
                </a:lnTo>
                <a:lnTo>
                  <a:pt x="582363" y="364196"/>
                </a:lnTo>
                <a:lnTo>
                  <a:pt x="594952" y="416277"/>
                </a:lnTo>
                <a:lnTo>
                  <a:pt x="606094" y="470862"/>
                </a:lnTo>
                <a:lnTo>
                  <a:pt x="615716" y="527764"/>
                </a:lnTo>
                <a:lnTo>
                  <a:pt x="623749" y="586796"/>
                </a:lnTo>
                <a:lnTo>
                  <a:pt x="630120" y="647771"/>
                </a:lnTo>
                <a:lnTo>
                  <a:pt x="634759" y="710502"/>
                </a:lnTo>
                <a:lnTo>
                  <a:pt x="637595" y="774802"/>
                </a:lnTo>
                <a:lnTo>
                  <a:pt x="638556" y="840486"/>
                </a:lnTo>
                <a:lnTo>
                  <a:pt x="637595" y="906169"/>
                </a:lnTo>
                <a:lnTo>
                  <a:pt x="634759" y="970469"/>
                </a:lnTo>
                <a:lnTo>
                  <a:pt x="630120" y="1033200"/>
                </a:lnTo>
                <a:lnTo>
                  <a:pt x="623749" y="1094175"/>
                </a:lnTo>
                <a:lnTo>
                  <a:pt x="615716" y="1153207"/>
                </a:lnTo>
                <a:lnTo>
                  <a:pt x="606094" y="1210109"/>
                </a:lnTo>
                <a:lnTo>
                  <a:pt x="594952" y="1264694"/>
                </a:lnTo>
                <a:lnTo>
                  <a:pt x="582363" y="1316775"/>
                </a:lnTo>
                <a:lnTo>
                  <a:pt x="568396" y="1366166"/>
                </a:lnTo>
                <a:lnTo>
                  <a:pt x="553124" y="1412679"/>
                </a:lnTo>
                <a:lnTo>
                  <a:pt x="536617" y="1456128"/>
                </a:lnTo>
                <a:lnTo>
                  <a:pt x="518946" y="1496325"/>
                </a:lnTo>
                <a:lnTo>
                  <a:pt x="500183" y="1533085"/>
                </a:lnTo>
                <a:lnTo>
                  <a:pt x="480398" y="1566220"/>
                </a:lnTo>
                <a:lnTo>
                  <a:pt x="438049" y="1620868"/>
                </a:lnTo>
                <a:lnTo>
                  <a:pt x="392467" y="1658774"/>
                </a:lnTo>
                <a:lnTo>
                  <a:pt x="344222" y="1678443"/>
                </a:lnTo>
                <a:lnTo>
                  <a:pt x="319278" y="1680971"/>
                </a:lnTo>
                <a:lnTo>
                  <a:pt x="294333" y="1678443"/>
                </a:lnTo>
                <a:lnTo>
                  <a:pt x="246088" y="1658774"/>
                </a:lnTo>
                <a:lnTo>
                  <a:pt x="200506" y="1620868"/>
                </a:lnTo>
                <a:lnTo>
                  <a:pt x="158157" y="1566220"/>
                </a:lnTo>
                <a:lnTo>
                  <a:pt x="138372" y="1533085"/>
                </a:lnTo>
                <a:lnTo>
                  <a:pt x="119609" y="1496325"/>
                </a:lnTo>
                <a:lnTo>
                  <a:pt x="101938" y="1456128"/>
                </a:lnTo>
                <a:lnTo>
                  <a:pt x="85431" y="1412679"/>
                </a:lnTo>
                <a:lnTo>
                  <a:pt x="70159" y="1366166"/>
                </a:lnTo>
                <a:lnTo>
                  <a:pt x="56192" y="1316775"/>
                </a:lnTo>
                <a:lnTo>
                  <a:pt x="43603" y="1264694"/>
                </a:lnTo>
                <a:lnTo>
                  <a:pt x="32461" y="1210109"/>
                </a:lnTo>
                <a:lnTo>
                  <a:pt x="22839" y="1153207"/>
                </a:lnTo>
                <a:lnTo>
                  <a:pt x="14806" y="1094175"/>
                </a:lnTo>
                <a:lnTo>
                  <a:pt x="8435" y="1033200"/>
                </a:lnTo>
                <a:lnTo>
                  <a:pt x="3796" y="970469"/>
                </a:lnTo>
                <a:lnTo>
                  <a:pt x="960" y="906169"/>
                </a:lnTo>
                <a:lnTo>
                  <a:pt x="0" y="840486"/>
                </a:lnTo>
                <a:close/>
              </a:path>
            </a:pathLst>
          </a:custGeom>
          <a:ln w="5715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5700647" y="588947"/>
            <a:ext cx="3443989" cy="24241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5700647" y="588947"/>
            <a:ext cx="3444240" cy="2424430"/>
          </a:xfrm>
          <a:custGeom>
            <a:avLst/>
            <a:gdLst/>
            <a:ahLst/>
            <a:cxnLst/>
            <a:rect l="l" t="t" r="r" b="b"/>
            <a:pathLst>
              <a:path w="3444240" h="2424430">
                <a:moveTo>
                  <a:pt x="20448" y="2424127"/>
                </a:moveTo>
                <a:lnTo>
                  <a:pt x="389002" y="1808304"/>
                </a:lnTo>
                <a:lnTo>
                  <a:pt x="349905" y="1776422"/>
                </a:lnTo>
                <a:lnTo>
                  <a:pt x="312910" y="1743911"/>
                </a:lnTo>
                <a:lnTo>
                  <a:pt x="278010" y="1710806"/>
                </a:lnTo>
                <a:lnTo>
                  <a:pt x="245200" y="1677142"/>
                </a:lnTo>
                <a:lnTo>
                  <a:pt x="214474" y="1642954"/>
                </a:lnTo>
                <a:lnTo>
                  <a:pt x="185828" y="1608278"/>
                </a:lnTo>
                <a:lnTo>
                  <a:pt x="159255" y="1573149"/>
                </a:lnTo>
                <a:lnTo>
                  <a:pt x="134750" y="1537601"/>
                </a:lnTo>
                <a:lnTo>
                  <a:pt x="112308" y="1501671"/>
                </a:lnTo>
                <a:lnTo>
                  <a:pt x="91922" y="1465393"/>
                </a:lnTo>
                <a:lnTo>
                  <a:pt x="73589" y="1428802"/>
                </a:lnTo>
                <a:lnTo>
                  <a:pt x="57301" y="1391935"/>
                </a:lnTo>
                <a:lnTo>
                  <a:pt x="43054" y="1354825"/>
                </a:lnTo>
                <a:lnTo>
                  <a:pt x="30842" y="1317509"/>
                </a:lnTo>
                <a:lnTo>
                  <a:pt x="20660" y="1280021"/>
                </a:lnTo>
                <a:lnTo>
                  <a:pt x="12501" y="1242397"/>
                </a:lnTo>
                <a:lnTo>
                  <a:pt x="6362" y="1204672"/>
                </a:lnTo>
                <a:lnTo>
                  <a:pt x="116" y="1129058"/>
                </a:lnTo>
                <a:lnTo>
                  <a:pt x="0" y="1091241"/>
                </a:lnTo>
                <a:lnTo>
                  <a:pt x="1879" y="1053463"/>
                </a:lnTo>
                <a:lnTo>
                  <a:pt x="11607" y="978168"/>
                </a:lnTo>
                <a:lnTo>
                  <a:pt x="19444" y="940721"/>
                </a:lnTo>
                <a:lnTo>
                  <a:pt x="29255" y="903454"/>
                </a:lnTo>
                <a:lnTo>
                  <a:pt x="41036" y="866403"/>
                </a:lnTo>
                <a:lnTo>
                  <a:pt x="54780" y="829603"/>
                </a:lnTo>
                <a:lnTo>
                  <a:pt x="70482" y="793089"/>
                </a:lnTo>
                <a:lnTo>
                  <a:pt x="88137" y="756897"/>
                </a:lnTo>
                <a:lnTo>
                  <a:pt x="107739" y="721061"/>
                </a:lnTo>
                <a:lnTo>
                  <a:pt x="129283" y="685617"/>
                </a:lnTo>
                <a:lnTo>
                  <a:pt x="152763" y="650601"/>
                </a:lnTo>
                <a:lnTo>
                  <a:pt x="178174" y="616046"/>
                </a:lnTo>
                <a:lnTo>
                  <a:pt x="205510" y="581989"/>
                </a:lnTo>
                <a:lnTo>
                  <a:pt x="234766" y="548465"/>
                </a:lnTo>
                <a:lnTo>
                  <a:pt x="265936" y="515509"/>
                </a:lnTo>
                <a:lnTo>
                  <a:pt x="299015" y="483155"/>
                </a:lnTo>
                <a:lnTo>
                  <a:pt x="333997" y="451440"/>
                </a:lnTo>
                <a:lnTo>
                  <a:pt x="370876" y="420399"/>
                </a:lnTo>
                <a:lnTo>
                  <a:pt x="409648" y="390067"/>
                </a:lnTo>
                <a:lnTo>
                  <a:pt x="450307" y="360478"/>
                </a:lnTo>
                <a:lnTo>
                  <a:pt x="492847" y="331669"/>
                </a:lnTo>
                <a:lnTo>
                  <a:pt x="537262" y="303674"/>
                </a:lnTo>
                <a:lnTo>
                  <a:pt x="583548" y="276528"/>
                </a:lnTo>
                <a:lnTo>
                  <a:pt x="631699" y="250268"/>
                </a:lnTo>
                <a:lnTo>
                  <a:pt x="673732" y="228837"/>
                </a:lnTo>
                <a:lnTo>
                  <a:pt x="716476" y="208381"/>
                </a:lnTo>
                <a:lnTo>
                  <a:pt x="759898" y="188896"/>
                </a:lnTo>
                <a:lnTo>
                  <a:pt x="803965" y="170382"/>
                </a:lnTo>
                <a:lnTo>
                  <a:pt x="848644" y="152835"/>
                </a:lnTo>
                <a:lnTo>
                  <a:pt x="893899" y="136254"/>
                </a:lnTo>
                <a:lnTo>
                  <a:pt x="939699" y="120636"/>
                </a:lnTo>
                <a:lnTo>
                  <a:pt x="986010" y="105979"/>
                </a:lnTo>
                <a:lnTo>
                  <a:pt x="1032797" y="92281"/>
                </a:lnTo>
                <a:lnTo>
                  <a:pt x="1080028" y="79540"/>
                </a:lnTo>
                <a:lnTo>
                  <a:pt x="1127669" y="67754"/>
                </a:lnTo>
                <a:lnTo>
                  <a:pt x="1175687" y="56920"/>
                </a:lnTo>
                <a:lnTo>
                  <a:pt x="1224047" y="47037"/>
                </a:lnTo>
                <a:lnTo>
                  <a:pt x="1272718" y="38102"/>
                </a:lnTo>
                <a:lnTo>
                  <a:pt x="1321664" y="30113"/>
                </a:lnTo>
                <a:lnTo>
                  <a:pt x="1370852" y="23067"/>
                </a:lnTo>
                <a:lnTo>
                  <a:pt x="1420250" y="16964"/>
                </a:lnTo>
                <a:lnTo>
                  <a:pt x="1469823" y="11800"/>
                </a:lnTo>
                <a:lnTo>
                  <a:pt x="1519537" y="7574"/>
                </a:lnTo>
                <a:lnTo>
                  <a:pt x="1569361" y="4283"/>
                </a:lnTo>
                <a:lnTo>
                  <a:pt x="1619259" y="1925"/>
                </a:lnTo>
                <a:lnTo>
                  <a:pt x="1669198" y="498"/>
                </a:lnTo>
                <a:lnTo>
                  <a:pt x="1719146" y="0"/>
                </a:lnTo>
                <a:lnTo>
                  <a:pt x="1769067" y="428"/>
                </a:lnTo>
                <a:lnTo>
                  <a:pt x="1818930" y="1781"/>
                </a:lnTo>
                <a:lnTo>
                  <a:pt x="1868700" y="4056"/>
                </a:lnTo>
                <a:lnTo>
                  <a:pt x="1918343" y="7251"/>
                </a:lnTo>
                <a:lnTo>
                  <a:pt x="1967827" y="11364"/>
                </a:lnTo>
                <a:lnTo>
                  <a:pt x="2017118" y="16393"/>
                </a:lnTo>
                <a:lnTo>
                  <a:pt x="2066182" y="22336"/>
                </a:lnTo>
                <a:lnTo>
                  <a:pt x="2114985" y="29190"/>
                </a:lnTo>
                <a:lnTo>
                  <a:pt x="2163495" y="36954"/>
                </a:lnTo>
                <a:lnTo>
                  <a:pt x="2211678" y="45625"/>
                </a:lnTo>
                <a:lnTo>
                  <a:pt x="2259500" y="55201"/>
                </a:lnTo>
                <a:lnTo>
                  <a:pt x="2306927" y="65679"/>
                </a:lnTo>
                <a:lnTo>
                  <a:pt x="2353927" y="77059"/>
                </a:lnTo>
                <a:lnTo>
                  <a:pt x="2400465" y="89337"/>
                </a:lnTo>
                <a:lnTo>
                  <a:pt x="2446509" y="102511"/>
                </a:lnTo>
                <a:lnTo>
                  <a:pt x="2492024" y="116580"/>
                </a:lnTo>
                <a:lnTo>
                  <a:pt x="2536977" y="131540"/>
                </a:lnTo>
                <a:lnTo>
                  <a:pt x="2581334" y="147391"/>
                </a:lnTo>
                <a:lnTo>
                  <a:pt x="2625063" y="164129"/>
                </a:lnTo>
                <a:lnTo>
                  <a:pt x="2668130" y="181753"/>
                </a:lnTo>
                <a:lnTo>
                  <a:pt x="2710500" y="200260"/>
                </a:lnTo>
                <a:lnTo>
                  <a:pt x="2752141" y="219649"/>
                </a:lnTo>
                <a:lnTo>
                  <a:pt x="2793019" y="239916"/>
                </a:lnTo>
                <a:lnTo>
                  <a:pt x="2833100" y="261061"/>
                </a:lnTo>
                <a:lnTo>
                  <a:pt x="2872352" y="283080"/>
                </a:lnTo>
                <a:lnTo>
                  <a:pt x="2910740" y="305972"/>
                </a:lnTo>
                <a:lnTo>
                  <a:pt x="2948231" y="329735"/>
                </a:lnTo>
                <a:lnTo>
                  <a:pt x="2984791" y="354366"/>
                </a:lnTo>
                <a:lnTo>
                  <a:pt x="3020387" y="379863"/>
                </a:lnTo>
                <a:lnTo>
                  <a:pt x="3054986" y="406224"/>
                </a:lnTo>
                <a:lnTo>
                  <a:pt x="3094083" y="438105"/>
                </a:lnTo>
                <a:lnTo>
                  <a:pt x="3131078" y="470616"/>
                </a:lnTo>
                <a:lnTo>
                  <a:pt x="3165978" y="503721"/>
                </a:lnTo>
                <a:lnTo>
                  <a:pt x="3198788" y="537385"/>
                </a:lnTo>
                <a:lnTo>
                  <a:pt x="3229514" y="571573"/>
                </a:lnTo>
                <a:lnTo>
                  <a:pt x="3258160" y="606249"/>
                </a:lnTo>
                <a:lnTo>
                  <a:pt x="3284733" y="641379"/>
                </a:lnTo>
                <a:lnTo>
                  <a:pt x="3309238" y="676926"/>
                </a:lnTo>
                <a:lnTo>
                  <a:pt x="3331680" y="712856"/>
                </a:lnTo>
                <a:lnTo>
                  <a:pt x="3352066" y="749134"/>
                </a:lnTo>
                <a:lnTo>
                  <a:pt x="3370399" y="785725"/>
                </a:lnTo>
                <a:lnTo>
                  <a:pt x="3386687" y="822592"/>
                </a:lnTo>
                <a:lnTo>
                  <a:pt x="3400934" y="859702"/>
                </a:lnTo>
                <a:lnTo>
                  <a:pt x="3413146" y="897018"/>
                </a:lnTo>
                <a:lnTo>
                  <a:pt x="3423328" y="934506"/>
                </a:lnTo>
                <a:lnTo>
                  <a:pt x="3431487" y="972130"/>
                </a:lnTo>
                <a:lnTo>
                  <a:pt x="3437626" y="1009855"/>
                </a:lnTo>
                <a:lnTo>
                  <a:pt x="3443872" y="1085469"/>
                </a:lnTo>
                <a:lnTo>
                  <a:pt x="3443989" y="1123286"/>
                </a:lnTo>
                <a:lnTo>
                  <a:pt x="3442109" y="1161064"/>
                </a:lnTo>
                <a:lnTo>
                  <a:pt x="3432381" y="1236359"/>
                </a:lnTo>
                <a:lnTo>
                  <a:pt x="3424545" y="1273807"/>
                </a:lnTo>
                <a:lnTo>
                  <a:pt x="3414733" y="1311073"/>
                </a:lnTo>
                <a:lnTo>
                  <a:pt x="3402953" y="1348124"/>
                </a:lnTo>
                <a:lnTo>
                  <a:pt x="3389208" y="1384924"/>
                </a:lnTo>
                <a:lnTo>
                  <a:pt x="3373506" y="1421438"/>
                </a:lnTo>
                <a:lnTo>
                  <a:pt x="3355851" y="1457630"/>
                </a:lnTo>
                <a:lnTo>
                  <a:pt x="3336249" y="1493466"/>
                </a:lnTo>
                <a:lnTo>
                  <a:pt x="3314705" y="1528910"/>
                </a:lnTo>
                <a:lnTo>
                  <a:pt x="3291225" y="1563926"/>
                </a:lnTo>
                <a:lnTo>
                  <a:pt x="3265814" y="1598481"/>
                </a:lnTo>
                <a:lnTo>
                  <a:pt x="3238478" y="1632538"/>
                </a:lnTo>
                <a:lnTo>
                  <a:pt x="3209222" y="1666062"/>
                </a:lnTo>
                <a:lnTo>
                  <a:pt x="3178052" y="1699019"/>
                </a:lnTo>
                <a:lnTo>
                  <a:pt x="3144973" y="1731372"/>
                </a:lnTo>
                <a:lnTo>
                  <a:pt x="3109992" y="1763087"/>
                </a:lnTo>
                <a:lnTo>
                  <a:pt x="3073112" y="1794128"/>
                </a:lnTo>
                <a:lnTo>
                  <a:pt x="3034340" y="1824461"/>
                </a:lnTo>
                <a:lnTo>
                  <a:pt x="2993681" y="1854049"/>
                </a:lnTo>
                <a:lnTo>
                  <a:pt x="2951141" y="1882859"/>
                </a:lnTo>
                <a:lnTo>
                  <a:pt x="2906726" y="1910854"/>
                </a:lnTo>
                <a:lnTo>
                  <a:pt x="2860440" y="1937999"/>
                </a:lnTo>
                <a:lnTo>
                  <a:pt x="2812289" y="1964260"/>
                </a:lnTo>
                <a:lnTo>
                  <a:pt x="2771143" y="1985239"/>
                </a:lnTo>
                <a:lnTo>
                  <a:pt x="2729222" y="2005314"/>
                </a:lnTo>
                <a:lnTo>
                  <a:pt x="2686560" y="2024483"/>
                </a:lnTo>
                <a:lnTo>
                  <a:pt x="2643190" y="2042743"/>
                </a:lnTo>
                <a:lnTo>
                  <a:pt x="2599147" y="2060093"/>
                </a:lnTo>
                <a:lnTo>
                  <a:pt x="2554464" y="2076531"/>
                </a:lnTo>
                <a:lnTo>
                  <a:pt x="2509175" y="2092054"/>
                </a:lnTo>
                <a:lnTo>
                  <a:pt x="2463312" y="2106660"/>
                </a:lnTo>
                <a:lnTo>
                  <a:pt x="2416911" y="2120348"/>
                </a:lnTo>
                <a:lnTo>
                  <a:pt x="2370004" y="2133116"/>
                </a:lnTo>
                <a:lnTo>
                  <a:pt x="2322625" y="2144961"/>
                </a:lnTo>
                <a:lnTo>
                  <a:pt x="2274807" y="2155882"/>
                </a:lnTo>
                <a:lnTo>
                  <a:pt x="2226585" y="2165877"/>
                </a:lnTo>
                <a:lnTo>
                  <a:pt x="2177992" y="2174943"/>
                </a:lnTo>
                <a:lnTo>
                  <a:pt x="2129061" y="2183079"/>
                </a:lnTo>
                <a:lnTo>
                  <a:pt x="2079826" y="2190283"/>
                </a:lnTo>
                <a:lnTo>
                  <a:pt x="2030321" y="2196552"/>
                </a:lnTo>
                <a:lnTo>
                  <a:pt x="1980580" y="2201885"/>
                </a:lnTo>
                <a:lnTo>
                  <a:pt x="1930636" y="2206280"/>
                </a:lnTo>
                <a:lnTo>
                  <a:pt x="1880522" y="2209735"/>
                </a:lnTo>
                <a:lnTo>
                  <a:pt x="1830272" y="2212247"/>
                </a:lnTo>
                <a:lnTo>
                  <a:pt x="1779921" y="2213815"/>
                </a:lnTo>
                <a:lnTo>
                  <a:pt x="1729501" y="2214437"/>
                </a:lnTo>
                <a:lnTo>
                  <a:pt x="1679046" y="2214110"/>
                </a:lnTo>
                <a:lnTo>
                  <a:pt x="1628590" y="2212834"/>
                </a:lnTo>
                <a:lnTo>
                  <a:pt x="1578166" y="2210605"/>
                </a:lnTo>
                <a:lnTo>
                  <a:pt x="1527808" y="2207422"/>
                </a:lnTo>
                <a:lnTo>
                  <a:pt x="1477550" y="2203282"/>
                </a:lnTo>
                <a:lnTo>
                  <a:pt x="1427425" y="2198185"/>
                </a:lnTo>
                <a:lnTo>
                  <a:pt x="1377467" y="2192127"/>
                </a:lnTo>
                <a:lnTo>
                  <a:pt x="1327709" y="2185108"/>
                </a:lnTo>
                <a:lnTo>
                  <a:pt x="1278186" y="2177124"/>
                </a:lnTo>
                <a:lnTo>
                  <a:pt x="1228930" y="2168174"/>
                </a:lnTo>
                <a:lnTo>
                  <a:pt x="1179976" y="2158256"/>
                </a:lnTo>
                <a:lnTo>
                  <a:pt x="1131357" y="2147368"/>
                </a:lnTo>
                <a:lnTo>
                  <a:pt x="1083106" y="2135507"/>
                </a:lnTo>
                <a:lnTo>
                  <a:pt x="1035258" y="2122673"/>
                </a:lnTo>
                <a:lnTo>
                  <a:pt x="987845" y="2108863"/>
                </a:lnTo>
                <a:lnTo>
                  <a:pt x="940902" y="2094074"/>
                </a:lnTo>
                <a:lnTo>
                  <a:pt x="894462" y="2078306"/>
                </a:lnTo>
                <a:lnTo>
                  <a:pt x="20448" y="2424127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6388734" y="929969"/>
            <a:ext cx="2067560" cy="1636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5080">
              <a:lnSpc>
                <a:spcPct val="110000"/>
              </a:lnSpc>
              <a:spcBef>
                <a:spcPts val="105"/>
              </a:spcBef>
            </a:pPr>
            <a:r>
              <a:rPr dirty="0" sz="3200" spc="-5" b="1">
                <a:latin typeface="宋体"/>
                <a:cs typeface="宋体"/>
              </a:rPr>
              <a:t>省略了非终 </a:t>
            </a:r>
            <a:r>
              <a:rPr dirty="0" sz="3200" b="1">
                <a:latin typeface="宋体"/>
                <a:cs typeface="宋体"/>
              </a:rPr>
              <a:t>结符到非终 结符的归约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47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69240" y="26923"/>
            <a:ext cx="16319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47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74142" y="0"/>
            <a:ext cx="8424545" cy="1245870"/>
          </a:xfrm>
          <a:prstGeom prst="rect">
            <a:avLst/>
          </a:prstGeom>
        </p:spPr>
        <p:txBody>
          <a:bodyPr wrap="square" lIns="0" tIns="187960" rIns="0" bIns="0" rtlCol="0" vert="horz">
            <a:spAutoFit/>
          </a:bodyPr>
          <a:lstStyle/>
          <a:p>
            <a:pPr marL="2154555">
              <a:lnSpc>
                <a:spcPct val="100000"/>
              </a:lnSpc>
              <a:spcBef>
                <a:spcPts val="1480"/>
              </a:spcBef>
              <a:tabLst>
                <a:tab pos="2662555" algn="l"/>
                <a:tab pos="4896485" algn="l"/>
                <a:tab pos="5594985" algn="l"/>
              </a:tabLst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算符优先分析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法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算符优先分析法理论探讨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50">
              <a:latin typeface="宋体"/>
              <a:cs typeface="宋体"/>
            </a:endParaRPr>
          </a:p>
          <a:p>
            <a:pPr marL="370840" indent="-358140">
              <a:lnSpc>
                <a:spcPct val="100000"/>
              </a:lnSpc>
              <a:buClr>
                <a:srgbClr val="99FF99"/>
              </a:buClr>
              <a:buSzPct val="108928"/>
              <a:buFont typeface="Wingdings"/>
              <a:buChar char=""/>
              <a:tabLst>
                <a:tab pos="370205" algn="l"/>
                <a:tab pos="370840" algn="l"/>
                <a:tab pos="1974214" algn="l"/>
              </a:tabLst>
            </a:pPr>
            <a:r>
              <a:rPr dirty="0" sz="2800" spc="-10" b="1">
                <a:solidFill>
                  <a:srgbClr val="FFFF15"/>
                </a:solidFill>
                <a:latin typeface="宋体"/>
                <a:cs typeface="宋体"/>
              </a:rPr>
              <a:t>算法</a:t>
            </a:r>
            <a:r>
              <a:rPr dirty="0" sz="2800" spc="-5" b="1">
                <a:solidFill>
                  <a:srgbClr val="FFFF15"/>
                </a:solidFill>
                <a:latin typeface="Times New Roman"/>
                <a:cs typeface="Times New Roman"/>
              </a:rPr>
              <a:t>5.3	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算符优先分析器的总控程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序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9958" y="1065047"/>
            <a:ext cx="8303259" cy="5732780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770"/>
              </a:spcBef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①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初始化。将“＃”压入栈，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栈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顶指</a:t>
            </a:r>
            <a:r>
              <a:rPr dirty="0" sz="2800" spc="10" b="1">
                <a:solidFill>
                  <a:srgbClr val="FFFFFF"/>
                </a:solidFill>
                <a:latin typeface="宋体"/>
                <a:cs typeface="宋体"/>
              </a:rPr>
              <a:t>针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marL="63500">
              <a:lnSpc>
                <a:spcPct val="100000"/>
              </a:lnSpc>
              <a:spcBef>
                <a:spcPts val="675"/>
              </a:spcBef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②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当前输入符号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=&gt;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marL="63500">
              <a:lnSpc>
                <a:spcPct val="100000"/>
              </a:lnSpc>
              <a:spcBef>
                <a:spcPts val="675"/>
              </a:spcBef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③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比较</a:t>
            </a: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栈顶</a:t>
            </a:r>
            <a:r>
              <a:rPr dirty="0" sz="2800" spc="-15" b="1">
                <a:solidFill>
                  <a:srgbClr val="66FFFF"/>
                </a:solidFill>
                <a:latin typeface="宋体"/>
                <a:cs typeface="宋体"/>
              </a:rPr>
              <a:t>项</a:t>
            </a:r>
            <a:r>
              <a:rPr dirty="0" sz="2800" spc="-675" b="1">
                <a:solidFill>
                  <a:srgbClr val="66FFFF"/>
                </a:solidFill>
                <a:latin typeface="宋体"/>
                <a:cs typeface="宋体"/>
              </a:rPr>
              <a:t> </a:t>
            </a: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∈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-25525" sz="2775" spc="-7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与</a:t>
            </a:r>
            <a:r>
              <a:rPr dirty="0" sz="2800" b="1" i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的优先级；</a:t>
            </a:r>
            <a:endParaRPr sz="2800">
              <a:latin typeface="宋体"/>
              <a:cs typeface="宋体"/>
            </a:endParaRPr>
          </a:p>
          <a:p>
            <a:pPr marL="1403350">
              <a:lnSpc>
                <a:spcPct val="100000"/>
              </a:lnSpc>
              <a:spcBef>
                <a:spcPts val="715"/>
              </a:spcBef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若</a:t>
            </a:r>
            <a:r>
              <a:rPr dirty="0" sz="2800" spc="-71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>
                <a:solidFill>
                  <a:srgbClr val="FFFFFF"/>
                </a:solidFill>
                <a:latin typeface="Cambria Math"/>
                <a:cs typeface="Cambria Math"/>
              </a:rPr>
              <a:t>⋖</a:t>
            </a:r>
            <a:r>
              <a:rPr dirty="0" sz="2800" spc="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或</a:t>
            </a:r>
            <a:r>
              <a:rPr dirty="0" sz="2800" spc="-72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800" spc="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转</a:t>
            </a:r>
            <a:r>
              <a:rPr dirty="0" sz="2800" spc="-15" b="1">
                <a:solidFill>
                  <a:srgbClr val="FFFF69"/>
                </a:solidFill>
                <a:latin typeface="宋体"/>
                <a:cs typeface="宋体"/>
              </a:rPr>
              <a:t>④</a:t>
            </a:r>
            <a:r>
              <a:rPr dirty="0" sz="2800" spc="-700" b="1">
                <a:solidFill>
                  <a:srgbClr val="FFFF69"/>
                </a:solidFill>
                <a:latin typeface="宋体"/>
                <a:cs typeface="宋体"/>
              </a:rPr>
              <a:t>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marL="1400175">
              <a:lnSpc>
                <a:spcPct val="100000"/>
              </a:lnSpc>
              <a:spcBef>
                <a:spcPts val="725"/>
              </a:spcBef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若</a:t>
            </a:r>
            <a:r>
              <a:rPr dirty="0" sz="2800" spc="-70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5" b="1">
                <a:solidFill>
                  <a:srgbClr val="FFFFFF"/>
                </a:solidFill>
                <a:latin typeface="Cambria Math"/>
                <a:cs typeface="Cambria Math"/>
              </a:rPr>
              <a:t>⋗</a:t>
            </a:r>
            <a:r>
              <a:rPr dirty="0" sz="2800" spc="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转</a:t>
            </a:r>
            <a:r>
              <a:rPr dirty="0" sz="2800" spc="-15" b="1">
                <a:solidFill>
                  <a:srgbClr val="FF99FF"/>
                </a:solidFill>
                <a:latin typeface="宋体"/>
                <a:cs typeface="宋体"/>
              </a:rPr>
              <a:t>⑤</a:t>
            </a:r>
            <a:r>
              <a:rPr dirty="0" sz="2800" spc="-710" b="1">
                <a:solidFill>
                  <a:srgbClr val="FF99FF"/>
                </a:solidFill>
                <a:latin typeface="宋体"/>
                <a:cs typeface="宋体"/>
              </a:rPr>
              <a:t>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r>
              <a:rPr dirty="0" sz="2800" spc="69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否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dirty="0" sz="2800" spc="-69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error;</a:t>
            </a:r>
            <a:endParaRPr sz="28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670"/>
              </a:spcBef>
            </a:pPr>
            <a:r>
              <a:rPr dirty="0" sz="2800" spc="-15" b="1">
                <a:solidFill>
                  <a:srgbClr val="FFFF69"/>
                </a:solidFill>
                <a:latin typeface="宋体"/>
                <a:cs typeface="宋体"/>
              </a:rPr>
              <a:t>④</a:t>
            </a:r>
            <a:r>
              <a:rPr dirty="0" sz="2800" spc="-20" b="1">
                <a:solidFill>
                  <a:srgbClr val="FFFF69"/>
                </a:solidFill>
                <a:latin typeface="宋体"/>
                <a:cs typeface="宋体"/>
              </a:rPr>
              <a:t>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入栈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p++)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转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②</a:t>
            </a:r>
            <a:r>
              <a:rPr dirty="0" sz="2800" spc="-69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r>
              <a:rPr dirty="0" sz="2800" spc="-2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99FF"/>
                </a:solidFill>
                <a:latin typeface="Times New Roman"/>
                <a:cs typeface="Times New Roman"/>
              </a:rPr>
              <a:t>//</a:t>
            </a:r>
            <a:r>
              <a:rPr dirty="0" sz="2800" spc="-5" b="1">
                <a:solidFill>
                  <a:srgbClr val="FF99FF"/>
                </a:solidFill>
                <a:latin typeface="宋体"/>
                <a:cs typeface="宋体"/>
              </a:rPr>
              <a:t>还没形成最左素短</a:t>
            </a:r>
            <a:r>
              <a:rPr dirty="0" sz="2800" b="1">
                <a:solidFill>
                  <a:srgbClr val="FF99FF"/>
                </a:solidFill>
                <a:latin typeface="宋体"/>
                <a:cs typeface="宋体"/>
              </a:rPr>
              <a:t>语</a:t>
            </a:r>
            <a:r>
              <a:rPr dirty="0" sz="2800" spc="-5" b="1">
                <a:solidFill>
                  <a:srgbClr val="FF99FF"/>
                </a:solidFill>
                <a:latin typeface="宋体"/>
                <a:cs typeface="宋体"/>
              </a:rPr>
              <a:t>，移进</a:t>
            </a:r>
            <a:endParaRPr sz="2800">
              <a:latin typeface="宋体"/>
              <a:cs typeface="宋体"/>
            </a:endParaRPr>
          </a:p>
          <a:p>
            <a:pPr marL="594995" marR="734060" indent="-532130">
              <a:lnSpc>
                <a:spcPts val="4029"/>
              </a:lnSpc>
              <a:spcBef>
                <a:spcPts val="250"/>
              </a:spcBef>
            </a:pPr>
            <a:r>
              <a:rPr dirty="0" sz="2800" spc="-15" b="1">
                <a:solidFill>
                  <a:srgbClr val="FF99FF"/>
                </a:solidFill>
                <a:latin typeface="宋体"/>
                <a:cs typeface="宋体"/>
              </a:rPr>
              <a:t>⑤</a:t>
            </a:r>
            <a:r>
              <a:rPr dirty="0" sz="2800" spc="-5" b="1">
                <a:solidFill>
                  <a:srgbClr val="FF99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在栈中寻找满足</a:t>
            </a:r>
            <a:r>
              <a:rPr dirty="0" sz="2800" spc="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baseline="-15015" sz="2775" spc="7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baseline="-15015" sz="2775" spc="7" b="1">
                <a:solidFill>
                  <a:srgbClr val="FFFFFF"/>
                </a:solidFill>
                <a:latin typeface="Times New Roman"/>
                <a:cs typeface="Times New Roman"/>
              </a:rPr>
              <a:t>+1</a:t>
            </a:r>
            <a:r>
              <a:rPr dirty="0" baseline="-15015" sz="2775" spc="37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35" b="1">
                <a:solidFill>
                  <a:srgbClr val="FFFFFF"/>
                </a:solidFill>
                <a:latin typeface="Cambria Math"/>
                <a:cs typeface="Cambria Math"/>
              </a:rPr>
              <a:t>⋖</a:t>
            </a:r>
            <a:r>
              <a:rPr dirty="0" sz="2800" spc="245" b="1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baseline="-15015" sz="2775" b="1" i="1">
                <a:solidFill>
                  <a:srgbClr val="FFFF00"/>
                </a:solidFill>
                <a:latin typeface="Times New Roman"/>
                <a:cs typeface="Times New Roman"/>
              </a:rPr>
              <a:t>n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＝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baseline="-15015" sz="2775" b="1" i="1">
                <a:solidFill>
                  <a:srgbClr val="FFFF00"/>
                </a:solidFill>
                <a:latin typeface="Times New Roman"/>
                <a:cs typeface="Times New Roman"/>
              </a:rPr>
              <a:t>n</a:t>
            </a:r>
            <a:r>
              <a:rPr dirty="0" baseline="-15015" sz="2775" b="1">
                <a:solidFill>
                  <a:srgbClr val="FFFF00"/>
                </a:solidFill>
                <a:latin typeface="Times New Roman"/>
                <a:cs typeface="Times New Roman"/>
              </a:rPr>
              <a:t>-1</a:t>
            </a:r>
            <a:r>
              <a:rPr dirty="0" sz="2800" b="1">
                <a:solidFill>
                  <a:srgbClr val="FFFF00"/>
                </a:solidFill>
                <a:latin typeface="Courier New"/>
                <a:cs typeface="Courier New"/>
              </a:rPr>
              <a:t>…</a:t>
            </a:r>
            <a:r>
              <a:rPr dirty="0" sz="2800" b="1" i="1">
                <a:solidFill>
                  <a:srgbClr val="FFFF00"/>
                </a:solidFill>
                <a:latin typeface="Lucida Sans Unicode"/>
                <a:cs typeface="Lucida Sans Unicode"/>
              </a:rPr>
              <a:t>≐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baseline="-15015" sz="2775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r>
              <a:rPr dirty="0" sz="2800" b="1">
                <a:solidFill>
                  <a:srgbClr val="FFFF00"/>
                </a:solidFill>
                <a:latin typeface="Cambria Math"/>
                <a:cs typeface="Cambria Math"/>
              </a:rPr>
              <a:t>⋗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baseline="-15015" sz="2775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， 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即寻找最左素短语的头；</a:t>
            </a:r>
            <a:endParaRPr sz="2800">
              <a:latin typeface="宋体"/>
              <a:cs typeface="宋体"/>
            </a:endParaRPr>
          </a:p>
          <a:p>
            <a:pPr marL="418465" marR="100965" indent="-355600">
              <a:lnSpc>
                <a:spcPts val="4029"/>
              </a:lnSpc>
              <a:spcBef>
                <a:spcPts val="5"/>
              </a:spcBef>
            </a:pPr>
            <a:r>
              <a:rPr dirty="0" sz="2800" spc="-15" b="1">
                <a:solidFill>
                  <a:srgbClr val="FF99FF"/>
                </a:solidFill>
                <a:latin typeface="宋体"/>
                <a:cs typeface="宋体"/>
              </a:rPr>
              <a:t>⑥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将</a:t>
            </a:r>
            <a:r>
              <a:rPr dirty="0" sz="2800" spc="-70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baseline="-15015" sz="2775" spc="7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baseline="-15015" sz="2775" spc="-1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baseline="-15015" sz="2775" spc="7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baseline="-15015" sz="2775" spc="7" b="1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dirty="0" baseline="-21021" sz="2775" spc="7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spc="5" b="1">
                <a:solidFill>
                  <a:srgbClr val="FFFFFF"/>
                </a:solidFill>
                <a:latin typeface="Courier New"/>
                <a:cs typeface="Courier New"/>
              </a:rPr>
              <a:t>…</a:t>
            </a:r>
            <a:r>
              <a:rPr dirty="0" sz="2800" spc="-100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2800" spc="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baseline="-15015" sz="2775" spc="7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及有关的非终结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符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归约到</a:t>
            </a:r>
            <a:r>
              <a:rPr dirty="0" sz="2950" spc="-80" b="1" i="1">
                <a:solidFill>
                  <a:srgbClr val="FFFF00"/>
                </a:solidFill>
                <a:latin typeface="宋体"/>
                <a:cs typeface="宋体"/>
              </a:rPr>
              <a:t>Ｑ</a:t>
            </a:r>
            <a:r>
              <a:rPr dirty="0" sz="2800" spc="-80" b="1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不能 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归约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error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r>
              <a:rPr dirty="0" sz="2800" spc="-72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9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950" spc="-90" b="1" i="1">
                <a:solidFill>
                  <a:srgbClr val="FFFFFF"/>
                </a:solidFill>
                <a:latin typeface="宋体"/>
                <a:cs typeface="宋体"/>
              </a:rPr>
              <a:t>Ｑ</a:t>
            </a:r>
            <a:r>
              <a:rPr dirty="0" sz="2950" spc="-795" b="1" i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入栈；若栈中为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＃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与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“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＃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”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endParaRPr sz="2800">
              <a:latin typeface="宋体"/>
              <a:cs typeface="宋体"/>
            </a:endParaRPr>
          </a:p>
          <a:p>
            <a:pPr marL="418465">
              <a:lnSpc>
                <a:spcPct val="100000"/>
              </a:lnSpc>
              <a:spcBef>
                <a:spcPts val="43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end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，否则转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③</a:t>
            </a:r>
            <a:r>
              <a:rPr dirty="0" sz="2800" spc="-67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69240" y="26923"/>
            <a:ext cx="16319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47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316226" y="26923"/>
            <a:ext cx="628205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0065" algn="l"/>
                <a:tab pos="2754630" algn="l"/>
                <a:tab pos="3452495" algn="l"/>
              </a:tabLst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算符优先分析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法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算符优先分析法理论探讨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81836" y="493902"/>
            <a:ext cx="114871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15"/>
                </a:solidFill>
                <a:latin typeface="宋体"/>
                <a:cs typeface="宋体"/>
              </a:rPr>
              <a:t>例</a:t>
            </a:r>
            <a:r>
              <a:rPr dirty="0" sz="3200" spc="5" b="1">
                <a:solidFill>
                  <a:srgbClr val="FFFF15"/>
                </a:solidFill>
                <a:latin typeface="Times New Roman"/>
                <a:cs typeface="Times New Roman"/>
              </a:rPr>
              <a:t>5</a:t>
            </a:r>
            <a:r>
              <a:rPr dirty="0" sz="3200" b="1">
                <a:solidFill>
                  <a:srgbClr val="FFFF15"/>
                </a:solidFill>
                <a:latin typeface="Times New Roman"/>
                <a:cs typeface="Times New Roman"/>
              </a:rPr>
              <a:t>.</a:t>
            </a:r>
            <a:r>
              <a:rPr dirty="0" sz="3200" spc="5" b="1">
                <a:solidFill>
                  <a:srgbClr val="FFFF15"/>
                </a:solidFill>
                <a:latin typeface="Times New Roman"/>
                <a:cs typeface="Times New Roman"/>
              </a:rPr>
              <a:t>10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305557" y="421360"/>
            <a:ext cx="5695315" cy="226949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11760" marR="5080" indent="203835">
              <a:lnSpc>
                <a:spcPct val="114999"/>
              </a:lnSpc>
              <a:spcBef>
                <a:spcPts val="100"/>
              </a:spcBef>
            </a:pPr>
            <a:r>
              <a:rPr dirty="0" sz="3200">
                <a:solidFill>
                  <a:srgbClr val="FFFFFF"/>
                </a:solidFill>
              </a:rPr>
              <a:t>设有文</a:t>
            </a:r>
            <a:r>
              <a:rPr dirty="0" sz="3200" spc="-5">
                <a:solidFill>
                  <a:srgbClr val="FFFFFF"/>
                </a:solidFill>
              </a:rPr>
              <a:t>法</a:t>
            </a:r>
            <a:r>
              <a:rPr dirty="0" sz="3200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i="1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FFFFFF"/>
                </a:solidFill>
              </a:rPr>
              <a:t>和输入</a:t>
            </a:r>
            <a:r>
              <a:rPr dirty="0" sz="3200" spc="5">
                <a:solidFill>
                  <a:srgbClr val="FFFFFF"/>
                </a:solidFill>
              </a:rPr>
              <a:t>串</a:t>
            </a:r>
            <a:r>
              <a:rPr dirty="0" sz="3200" i="1">
                <a:solidFill>
                  <a:srgbClr val="66FFFF"/>
                </a:solidFill>
                <a:latin typeface="Times New Roman"/>
                <a:cs typeface="Times New Roman"/>
              </a:rPr>
              <a:t>b</a:t>
            </a:r>
            <a:r>
              <a:rPr dirty="0" sz="3200" spc="-45" i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66FFFF"/>
                </a:solidFill>
                <a:latin typeface="Times New Roman"/>
                <a:cs typeface="Times New Roman"/>
              </a:rPr>
              <a:t>(</a:t>
            </a:r>
            <a:r>
              <a:rPr dirty="0" sz="3200" i="1">
                <a:solidFill>
                  <a:srgbClr val="66FFFF"/>
                </a:solidFill>
                <a:latin typeface="Times New Roman"/>
                <a:cs typeface="Times New Roman"/>
              </a:rPr>
              <a:t>aa</a:t>
            </a:r>
            <a:r>
              <a:rPr dirty="0" sz="3200">
                <a:solidFill>
                  <a:srgbClr val="66FFFF"/>
                </a:solidFill>
                <a:latin typeface="Times New Roman"/>
                <a:cs typeface="Times New Roman"/>
              </a:rPr>
              <a:t>)</a:t>
            </a:r>
            <a:r>
              <a:rPr dirty="0" sz="3200" i="1">
                <a:solidFill>
                  <a:srgbClr val="66FFFF"/>
                </a:solidFill>
                <a:latin typeface="Times New Roman"/>
                <a:cs typeface="Times New Roman"/>
              </a:rPr>
              <a:t>b  </a:t>
            </a:r>
            <a:r>
              <a:rPr dirty="0" sz="3200" i="1">
                <a:solidFill>
                  <a:srgbClr val="FFFF15"/>
                </a:solidFill>
                <a:latin typeface="Times New Roman"/>
                <a:cs typeface="Times New Roman"/>
              </a:rPr>
              <a:t>Z </a:t>
            </a:r>
            <a:r>
              <a:rPr dirty="0" sz="3200">
                <a:solidFill>
                  <a:srgbClr val="FFFF15"/>
                </a:solidFill>
                <a:latin typeface="Times New Roman"/>
                <a:cs typeface="Times New Roman"/>
              </a:rPr>
              <a:t>→</a:t>
            </a:r>
            <a:r>
              <a:rPr dirty="0" sz="3200" spc="-10">
                <a:solidFill>
                  <a:srgbClr val="FFFF15"/>
                </a:solidFill>
                <a:latin typeface="Times New Roman"/>
                <a:cs typeface="Times New Roman"/>
              </a:rPr>
              <a:t> </a:t>
            </a:r>
            <a:r>
              <a:rPr dirty="0" sz="3200" i="1">
                <a:solidFill>
                  <a:srgbClr val="FFFF15"/>
                </a:solidFill>
                <a:latin typeface="Times New Roman"/>
                <a:cs typeface="Times New Roman"/>
              </a:rPr>
              <a:t>bMb</a:t>
            </a:r>
            <a:endParaRPr sz="3200">
              <a:latin typeface="Times New Roman"/>
              <a:cs typeface="Times New Roman"/>
            </a:endParaRPr>
          </a:p>
          <a:p>
            <a:pPr marL="12700" marR="3928110">
              <a:lnSpc>
                <a:spcPct val="114999"/>
              </a:lnSpc>
            </a:pPr>
            <a:r>
              <a:rPr dirty="0" sz="3200" i="1">
                <a:solidFill>
                  <a:srgbClr val="FFFF15"/>
                </a:solidFill>
                <a:latin typeface="Times New Roman"/>
                <a:cs typeface="Times New Roman"/>
              </a:rPr>
              <a:t>M</a:t>
            </a:r>
            <a:r>
              <a:rPr dirty="0" sz="3200">
                <a:solidFill>
                  <a:srgbClr val="FFFF15"/>
                </a:solidFill>
                <a:latin typeface="Times New Roman"/>
                <a:cs typeface="Times New Roman"/>
              </a:rPr>
              <a:t>→</a:t>
            </a:r>
            <a:r>
              <a:rPr dirty="0" sz="3200" spc="-75">
                <a:solidFill>
                  <a:srgbClr val="FFFF15"/>
                </a:solidFill>
                <a:latin typeface="Times New Roman"/>
                <a:cs typeface="Times New Roman"/>
              </a:rPr>
              <a:t> </a:t>
            </a:r>
            <a:r>
              <a:rPr dirty="0" sz="3200" spc="-5">
                <a:solidFill>
                  <a:srgbClr val="FFFF15"/>
                </a:solidFill>
                <a:latin typeface="Times New Roman"/>
                <a:cs typeface="Times New Roman"/>
              </a:rPr>
              <a:t>(</a:t>
            </a:r>
            <a:r>
              <a:rPr dirty="0" sz="3200" spc="-5" i="1">
                <a:solidFill>
                  <a:srgbClr val="FFFF15"/>
                </a:solidFill>
                <a:latin typeface="Times New Roman"/>
                <a:cs typeface="Times New Roman"/>
              </a:rPr>
              <a:t>L</a:t>
            </a:r>
            <a:r>
              <a:rPr dirty="0" sz="3200" spc="-5">
                <a:solidFill>
                  <a:srgbClr val="FFFF15"/>
                </a:solidFill>
                <a:latin typeface="Times New Roman"/>
                <a:cs typeface="Times New Roman"/>
              </a:rPr>
              <a:t>│</a:t>
            </a:r>
            <a:r>
              <a:rPr dirty="0" sz="3200" spc="-5" i="1">
                <a:solidFill>
                  <a:srgbClr val="FFFF15"/>
                </a:solidFill>
                <a:latin typeface="Times New Roman"/>
                <a:cs typeface="Times New Roman"/>
              </a:rPr>
              <a:t>a  </a:t>
            </a:r>
            <a:r>
              <a:rPr dirty="0" sz="3200" i="1">
                <a:solidFill>
                  <a:srgbClr val="FFFF15"/>
                </a:solidFill>
                <a:latin typeface="Times New Roman"/>
                <a:cs typeface="Times New Roman"/>
              </a:rPr>
              <a:t>L </a:t>
            </a:r>
            <a:r>
              <a:rPr dirty="0" sz="3200">
                <a:solidFill>
                  <a:srgbClr val="FFFF15"/>
                </a:solidFill>
                <a:latin typeface="Times New Roman"/>
                <a:cs typeface="Times New Roman"/>
              </a:rPr>
              <a:t>→</a:t>
            </a:r>
            <a:r>
              <a:rPr dirty="0" sz="3200" spc="-55">
                <a:solidFill>
                  <a:srgbClr val="FFFF15"/>
                </a:solidFill>
                <a:latin typeface="Times New Roman"/>
                <a:cs typeface="Times New Roman"/>
              </a:rPr>
              <a:t> </a:t>
            </a:r>
            <a:r>
              <a:rPr dirty="0" sz="3200" i="1">
                <a:solidFill>
                  <a:srgbClr val="FFFF15"/>
                </a:solidFill>
                <a:latin typeface="Times New Roman"/>
                <a:cs typeface="Times New Roman"/>
              </a:rPr>
              <a:t>Ma</a:t>
            </a:r>
            <a:r>
              <a:rPr dirty="0" sz="3200">
                <a:solidFill>
                  <a:srgbClr val="FFFF15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38222" y="2741422"/>
            <a:ext cx="43053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heavy" sz="2800" spc="-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宋体"/>
                <a:cs typeface="宋体"/>
              </a:rPr>
              <a:t>文法</a:t>
            </a:r>
            <a:r>
              <a:rPr dirty="0" u="heavy" sz="2800" spc="-10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G</a:t>
            </a:r>
            <a:r>
              <a:rPr dirty="0" u="heavy" sz="2800" spc="-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(</a:t>
            </a:r>
            <a:r>
              <a:rPr dirty="0" u="heavy" sz="2800" spc="-10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Z</a:t>
            </a:r>
            <a:r>
              <a:rPr dirty="0" u="heavy" sz="2800" spc="-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heavy" sz="2800" spc="-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宋体"/>
                <a:cs typeface="宋体"/>
              </a:rPr>
              <a:t>的优先关系表</a:t>
            </a:r>
            <a:r>
              <a:rPr dirty="0" u="heavy" sz="2800" spc="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宋体"/>
                <a:cs typeface="宋体"/>
              </a:rPr>
              <a:t>子集</a:t>
            </a:r>
            <a:endParaRPr sz="2800">
              <a:latin typeface="宋体"/>
              <a:cs typeface="宋体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677923" y="3442715"/>
          <a:ext cx="6457950" cy="3200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0915"/>
                <a:gridCol w="937260"/>
                <a:gridCol w="1047750"/>
                <a:gridCol w="1047750"/>
                <a:gridCol w="889000"/>
                <a:gridCol w="1507489"/>
              </a:tblGrid>
              <a:tr h="5135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845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145">
                    <a:lnL w="38100">
                      <a:solidFill>
                        <a:srgbClr val="FFFF00"/>
                      </a:solidFill>
                      <a:prstDash val="solid"/>
                    </a:lnL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57834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145"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894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145"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746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145"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9259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145"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55992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3845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≐</a:t>
                      </a:r>
                      <a:endParaRPr sz="28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64769">
                    <a:lnL w="38100">
                      <a:solidFill>
                        <a:srgbClr val="FFFF00"/>
                      </a:solidFill>
                      <a:prstDash val="solid"/>
                    </a:lnL>
                    <a:lnT w="38100">
                      <a:solidFill>
                        <a:srgbClr val="FFFF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44132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⋖</a:t>
                      </a:r>
                      <a:endParaRPr sz="28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64769">
                    <a:lnT w="38100">
                      <a:solidFill>
                        <a:srgbClr val="FFFF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4894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⋖</a:t>
                      </a:r>
                      <a:endParaRPr sz="28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64769">
                    <a:lnT w="38100">
                      <a:solidFill>
                        <a:srgbClr val="FFFF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38100">
                      <a:solidFill>
                        <a:srgbClr val="FFFF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0513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⋗</a:t>
                      </a:r>
                      <a:endParaRPr sz="28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64769">
                    <a:lnT w="38100">
                      <a:solidFill>
                        <a:srgbClr val="FFFF00"/>
                      </a:solidFill>
                      <a:prstDash val="solid"/>
                    </a:lnT>
                  </a:tcPr>
                </a:tc>
              </a:tr>
              <a:tr h="5545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145">
                    <a:lnR w="38100">
                      <a:solidFill>
                        <a:srgbClr val="FFFF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3845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⋗</a:t>
                      </a:r>
                      <a:endParaRPr sz="28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17145">
                    <a:lnL w="38100">
                      <a:solidFill>
                        <a:srgbClr val="FFFF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r" marR="44132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⋗</a:t>
                      </a:r>
                      <a:endParaRPr sz="28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1714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476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≐</a:t>
                      </a:r>
                      <a:endParaRPr sz="28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1714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597781">
                <a:tc>
                  <a:txBody>
                    <a:bodyPr/>
                    <a:lstStyle/>
                    <a:p>
                      <a:pPr algn="ctr" marR="539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9690">
                    <a:lnR w="38100">
                      <a:solidFill>
                        <a:srgbClr val="FFFF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3845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⋗</a:t>
                      </a:r>
                      <a:endParaRPr sz="28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59690">
                    <a:lnL w="38100">
                      <a:solidFill>
                        <a:srgbClr val="FFFF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r" marR="44132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⋖</a:t>
                      </a:r>
                      <a:endParaRPr sz="28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59690"/>
                </a:tc>
                <a:tc>
                  <a:txBody>
                    <a:bodyPr/>
                    <a:lstStyle/>
                    <a:p>
                      <a:pPr marL="44894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⋖</a:t>
                      </a:r>
                      <a:endParaRPr sz="28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596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554641">
                <a:tc>
                  <a:txBody>
                    <a:bodyPr/>
                    <a:lstStyle/>
                    <a:p>
                      <a:pPr algn="ctr" marR="539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9690">
                    <a:lnR w="38100">
                      <a:solidFill>
                        <a:srgbClr val="FFFF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3845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⋗</a:t>
                      </a:r>
                      <a:endParaRPr sz="28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59690">
                    <a:lnL w="38100">
                      <a:solidFill>
                        <a:srgbClr val="FFFF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r" marR="44132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⋗</a:t>
                      </a:r>
                      <a:endParaRPr sz="28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59690"/>
                </a:tc>
                <a:tc>
                  <a:txBody>
                    <a:bodyPr/>
                    <a:lstStyle/>
                    <a:p>
                      <a:pPr marL="44894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⋗</a:t>
                      </a:r>
                      <a:endParaRPr sz="28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596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81791">
                <a:tc>
                  <a:txBody>
                    <a:bodyPr/>
                    <a:lstStyle/>
                    <a:p>
                      <a:pPr algn="ctr">
                        <a:lnSpc>
                          <a:spcPts val="2770"/>
                        </a:lnSpc>
                        <a:spcBef>
                          <a:spcPts val="13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145">
                    <a:lnR w="38100">
                      <a:solidFill>
                        <a:srgbClr val="FFFF00"/>
                      </a:solidFill>
                      <a:prstDash val="solid"/>
                    </a:lnR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8455">
                        <a:lnSpc>
                          <a:spcPts val="2770"/>
                        </a:lnSpc>
                        <a:spcBef>
                          <a:spcPts val="135"/>
                        </a:spcBef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⋖</a:t>
                      </a:r>
                      <a:endParaRPr sz="28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17145">
                    <a:lnL w="38100">
                      <a:solidFill>
                        <a:srgbClr val="FFFF00"/>
                      </a:solidFill>
                      <a:prstDash val="solid"/>
                    </a:lnL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0830">
                        <a:lnSpc>
                          <a:spcPts val="2770"/>
                        </a:lnSpc>
                        <a:spcBef>
                          <a:spcPts val="135"/>
                        </a:spcBef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≐</a:t>
                      </a:r>
                      <a:endParaRPr sz="28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17145"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69240" y="26923"/>
            <a:ext cx="16319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16226" y="26923"/>
            <a:ext cx="232600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0065" algn="l"/>
              </a:tabLst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算符优先分析法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58536" y="26923"/>
            <a:ext cx="354012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05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算符优先分析法理论探讨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5440" y="657859"/>
            <a:ext cx="18637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31544" algn="l"/>
              </a:tabLst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步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骤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	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符号栈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66161" y="657859"/>
            <a:ext cx="18357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优先关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系</a:t>
            </a:r>
            <a:r>
              <a:rPr dirty="0" sz="2400" spc="50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12233" y="657859"/>
            <a:ext cx="15570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输入字符串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33081" y="657859"/>
            <a:ext cx="7131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动</a:t>
            </a:r>
            <a:r>
              <a:rPr dirty="0" sz="2400" spc="-68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作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13075" y="1609090"/>
            <a:ext cx="1993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&lt;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18483" y="1609090"/>
            <a:ext cx="1524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013075" y="2084578"/>
            <a:ext cx="1993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&lt;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18483" y="2084578"/>
            <a:ext cx="101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025775" y="2559761"/>
            <a:ext cx="17399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&lt;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980054" y="3035934"/>
            <a:ext cx="1739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&gt;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069715" y="2449602"/>
            <a:ext cx="201930" cy="1453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indent="48260">
              <a:lnSpc>
                <a:spcPct val="1301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a </a:t>
            </a: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a  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022726" y="3402109"/>
            <a:ext cx="173990" cy="976630"/>
          </a:xfrm>
          <a:prstGeom prst="rect">
            <a:avLst/>
          </a:prstGeom>
        </p:spPr>
        <p:txBody>
          <a:bodyPr wrap="square" lIns="0" tIns="1219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6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&lt;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65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91634" y="3986606"/>
            <a:ext cx="10160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000882" y="4938141"/>
            <a:ext cx="1993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&gt;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995295" y="5413349"/>
            <a:ext cx="17399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978530" y="5889447"/>
            <a:ext cx="1739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&gt;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21640" y="1023011"/>
            <a:ext cx="330835" cy="5733415"/>
          </a:xfrm>
          <a:prstGeom prst="rect">
            <a:avLst/>
          </a:prstGeom>
        </p:spPr>
        <p:txBody>
          <a:bodyPr wrap="square" lIns="0" tIns="122555" rIns="0" bIns="0" rtlCol="0" vert="horz">
            <a:spAutoFit/>
          </a:bodyPr>
          <a:lstStyle/>
          <a:p>
            <a:pPr marL="165100">
              <a:lnSpc>
                <a:spcPct val="100000"/>
              </a:lnSpc>
              <a:spcBef>
                <a:spcPts val="965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  <a:p>
            <a:pPr marL="165100">
              <a:lnSpc>
                <a:spcPct val="100000"/>
              </a:lnSpc>
              <a:spcBef>
                <a:spcPts val="87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  <a:p>
            <a:pPr marL="165100">
              <a:lnSpc>
                <a:spcPct val="100000"/>
              </a:lnSpc>
              <a:spcBef>
                <a:spcPts val="86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  <a:p>
            <a:pPr marL="165100">
              <a:lnSpc>
                <a:spcPct val="100000"/>
              </a:lnSpc>
              <a:spcBef>
                <a:spcPts val="865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  <a:p>
            <a:pPr marL="165100">
              <a:lnSpc>
                <a:spcPct val="100000"/>
              </a:lnSpc>
              <a:spcBef>
                <a:spcPts val="87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  <a:p>
            <a:pPr marL="165100">
              <a:lnSpc>
                <a:spcPct val="100000"/>
              </a:lnSpc>
              <a:spcBef>
                <a:spcPts val="86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endParaRPr sz="2400">
              <a:latin typeface="Times New Roman"/>
              <a:cs typeface="Times New Roman"/>
            </a:endParaRPr>
          </a:p>
          <a:p>
            <a:pPr marL="165100">
              <a:lnSpc>
                <a:spcPct val="100000"/>
              </a:lnSpc>
              <a:spcBef>
                <a:spcPts val="865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7</a:t>
            </a:r>
            <a:endParaRPr sz="2400">
              <a:latin typeface="Times New Roman"/>
              <a:cs typeface="Times New Roman"/>
            </a:endParaRPr>
          </a:p>
          <a:p>
            <a:pPr marL="165100">
              <a:lnSpc>
                <a:spcPct val="100000"/>
              </a:lnSpc>
              <a:spcBef>
                <a:spcPts val="865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8</a:t>
            </a:r>
            <a:endParaRPr sz="2400">
              <a:latin typeface="Times New Roman"/>
              <a:cs typeface="Times New Roman"/>
            </a:endParaRPr>
          </a:p>
          <a:p>
            <a:pPr marL="165100">
              <a:lnSpc>
                <a:spcPct val="100000"/>
              </a:lnSpc>
              <a:spcBef>
                <a:spcPts val="865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9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2400" spc="-135" b="1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12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97253" y="1023011"/>
            <a:ext cx="1747520" cy="5733415"/>
          </a:xfrm>
          <a:prstGeom prst="rect">
            <a:avLst/>
          </a:prstGeom>
        </p:spPr>
        <p:txBody>
          <a:bodyPr wrap="square" lIns="0" tIns="122555" rIns="0" bIns="0" rtlCol="0" vert="horz">
            <a:spAutoFit/>
          </a:bodyPr>
          <a:lstStyle/>
          <a:p>
            <a:pPr marL="30480">
              <a:lnSpc>
                <a:spcPct val="100000"/>
              </a:lnSpc>
              <a:spcBef>
                <a:spcPts val="965"/>
              </a:spcBef>
            </a:pP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＃</a:t>
            </a:r>
            <a:endParaRPr sz="2400">
              <a:latin typeface="宋体"/>
              <a:cs typeface="宋体"/>
            </a:endParaRPr>
          </a:p>
          <a:p>
            <a:pPr marL="30480">
              <a:lnSpc>
                <a:spcPct val="100000"/>
              </a:lnSpc>
              <a:spcBef>
                <a:spcPts val="870"/>
              </a:spcBef>
            </a:pPr>
            <a:r>
              <a:rPr dirty="0" sz="2400" spc="-10" b="1">
                <a:solidFill>
                  <a:srgbClr val="FFFF00"/>
                </a:solidFill>
                <a:latin typeface="宋体"/>
                <a:cs typeface="宋体"/>
              </a:rPr>
              <a:t>＃</a:t>
            </a:r>
            <a:endParaRPr sz="2400">
              <a:latin typeface="宋体"/>
              <a:cs typeface="宋体"/>
            </a:endParaRPr>
          </a:p>
          <a:p>
            <a:pPr marL="30480">
              <a:lnSpc>
                <a:spcPct val="100000"/>
              </a:lnSpc>
              <a:spcBef>
                <a:spcPts val="860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＃</a:t>
            </a: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  <a:p>
            <a:pPr marL="30480">
              <a:lnSpc>
                <a:spcPct val="100000"/>
              </a:lnSpc>
              <a:spcBef>
                <a:spcPts val="865"/>
              </a:spcBef>
            </a:pP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＃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endParaRPr sz="2400">
              <a:latin typeface="Times New Roman"/>
              <a:cs typeface="Times New Roman"/>
            </a:endParaRPr>
          </a:p>
          <a:p>
            <a:pPr marL="30480">
              <a:lnSpc>
                <a:spcPct val="100000"/>
              </a:lnSpc>
              <a:spcBef>
                <a:spcPts val="870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＃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  <a:p>
            <a:pPr marL="30480">
              <a:lnSpc>
                <a:spcPct val="100000"/>
              </a:lnSpc>
              <a:spcBef>
                <a:spcPts val="860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＃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endParaRPr sz="2400">
              <a:latin typeface="Times New Roman"/>
              <a:cs typeface="Times New Roman"/>
            </a:endParaRPr>
          </a:p>
          <a:p>
            <a:pPr marL="30480">
              <a:lnSpc>
                <a:spcPct val="100000"/>
              </a:lnSpc>
              <a:spcBef>
                <a:spcPts val="865"/>
              </a:spcBef>
            </a:pP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＃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  <a:p>
            <a:pPr marL="29209">
              <a:lnSpc>
                <a:spcPct val="100000"/>
              </a:lnSpc>
              <a:spcBef>
                <a:spcPts val="865"/>
              </a:spcBef>
              <a:tabLst>
                <a:tab pos="1573530" algn="l"/>
              </a:tabLst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＃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Ma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&gt;</a:t>
            </a:r>
            <a:endParaRPr sz="2400">
              <a:latin typeface="Times New Roman"/>
              <a:cs typeface="Times New Roman"/>
            </a:endParaRPr>
          </a:p>
          <a:p>
            <a:pPr marL="30480">
              <a:lnSpc>
                <a:spcPct val="100000"/>
              </a:lnSpc>
              <a:spcBef>
                <a:spcPts val="865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＃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2400">
              <a:latin typeface="Times New Roman"/>
              <a:cs typeface="Times New Roman"/>
            </a:endParaRPr>
          </a:p>
          <a:p>
            <a:pPr marL="29209">
              <a:lnSpc>
                <a:spcPct val="100000"/>
              </a:lnSpc>
              <a:spcBef>
                <a:spcPts val="865"/>
              </a:spcBef>
            </a:pP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＃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bM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＃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bM</a:t>
            </a: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  <a:p>
            <a:pPr marL="30480">
              <a:lnSpc>
                <a:spcPct val="100000"/>
              </a:lnSpc>
              <a:spcBef>
                <a:spcPts val="865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＃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062095" y="4352925"/>
            <a:ext cx="335280" cy="2403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5400" marR="132080" indent="-26034">
              <a:lnSpc>
                <a:spcPct val="13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b  </a:t>
            </a: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b  b</a:t>
            </a:r>
            <a:endParaRPr sz="2400">
              <a:latin typeface="Times New Roman"/>
              <a:cs typeface="Times New Roman"/>
            </a:endParaRPr>
          </a:p>
          <a:p>
            <a:pPr marL="29845">
              <a:lnSpc>
                <a:spcPct val="100000"/>
              </a:lnSpc>
              <a:spcBef>
                <a:spcPts val="865"/>
              </a:spcBef>
            </a:pPr>
            <a:r>
              <a:rPr dirty="0" sz="2400" spc="-10" b="1">
                <a:solidFill>
                  <a:srgbClr val="FFFF00"/>
                </a:solidFill>
                <a:latin typeface="宋体"/>
                <a:cs typeface="宋体"/>
              </a:rPr>
              <a:t>＃</a:t>
            </a:r>
            <a:endParaRPr sz="2400">
              <a:latin typeface="宋体"/>
              <a:cs typeface="宋体"/>
            </a:endParaRPr>
          </a:p>
          <a:p>
            <a:pPr marL="2540">
              <a:lnSpc>
                <a:spcPct val="100000"/>
              </a:lnSpc>
              <a:spcBef>
                <a:spcPts val="865"/>
              </a:spcBef>
            </a:pP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＃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070728" y="1023011"/>
            <a:ext cx="3595370" cy="5733415"/>
          </a:xfrm>
          <a:prstGeom prst="rect">
            <a:avLst/>
          </a:prstGeom>
        </p:spPr>
        <p:txBody>
          <a:bodyPr wrap="square" lIns="0" tIns="122555" rIns="0" bIns="0" rtlCol="0" vert="horz">
            <a:spAutoFit/>
          </a:bodyPr>
          <a:lstStyle/>
          <a:p>
            <a:pPr algn="r" marR="771525">
              <a:lnSpc>
                <a:spcPct val="100000"/>
              </a:lnSpc>
              <a:spcBef>
                <a:spcPts val="965"/>
              </a:spcBef>
              <a:tabLst>
                <a:tab pos="1883410" algn="l"/>
              </a:tabLst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aa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＃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	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初始化</a:t>
            </a:r>
            <a:endParaRPr sz="2400">
              <a:latin typeface="宋体"/>
              <a:cs typeface="宋体"/>
            </a:endParaRPr>
          </a:p>
          <a:p>
            <a:pPr algn="r" marR="748665">
              <a:lnSpc>
                <a:spcPct val="100000"/>
              </a:lnSpc>
              <a:spcBef>
                <a:spcPts val="870"/>
              </a:spcBef>
              <a:tabLst>
                <a:tab pos="1805939" algn="l"/>
              </a:tabLst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aa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＃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	</a:t>
            </a:r>
            <a:r>
              <a:rPr dirty="0" sz="2400" spc="-1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进栈</a:t>
            </a:r>
            <a:endParaRPr sz="2400">
              <a:latin typeface="宋体"/>
              <a:cs typeface="宋体"/>
            </a:endParaRPr>
          </a:p>
          <a:p>
            <a:pPr algn="r" marR="646430">
              <a:lnSpc>
                <a:spcPct val="100000"/>
              </a:lnSpc>
              <a:spcBef>
                <a:spcPts val="860"/>
              </a:spcBef>
              <a:tabLst>
                <a:tab pos="1781810" algn="l"/>
                <a:tab pos="2035810" algn="l"/>
              </a:tabLst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aa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＃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	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(	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进栈</a:t>
            </a:r>
            <a:endParaRPr sz="2400">
              <a:latin typeface="宋体"/>
              <a:cs typeface="宋体"/>
            </a:endParaRPr>
          </a:p>
          <a:p>
            <a:pPr algn="r" marR="699135">
              <a:lnSpc>
                <a:spcPct val="100000"/>
              </a:lnSpc>
              <a:spcBef>
                <a:spcPts val="865"/>
              </a:spcBef>
              <a:tabLst>
                <a:tab pos="1551305" algn="l"/>
              </a:tabLst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＃	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400" spc="-10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进栈</a:t>
            </a:r>
            <a:endParaRPr sz="2400">
              <a:latin typeface="宋体"/>
              <a:cs typeface="宋体"/>
            </a:endParaRPr>
          </a:p>
          <a:p>
            <a:pPr marL="523240">
              <a:lnSpc>
                <a:spcPct val="100000"/>
              </a:lnSpc>
              <a:spcBef>
                <a:spcPts val="870"/>
              </a:spcBef>
              <a:tabLst>
                <a:tab pos="1772920" algn="l"/>
              </a:tabLst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＃	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用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M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归约</a:t>
            </a:r>
            <a:endParaRPr sz="2400">
              <a:latin typeface="宋体"/>
              <a:cs typeface="宋体"/>
            </a:endParaRPr>
          </a:p>
          <a:p>
            <a:pPr marL="568960">
              <a:lnSpc>
                <a:spcPct val="100000"/>
              </a:lnSpc>
              <a:spcBef>
                <a:spcPts val="860"/>
              </a:spcBef>
              <a:tabLst>
                <a:tab pos="2045970" algn="l"/>
              </a:tabLst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＃	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400" spc="-1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进栈</a:t>
            </a:r>
            <a:endParaRPr sz="2400">
              <a:latin typeface="宋体"/>
              <a:cs typeface="宋体"/>
            </a:endParaRPr>
          </a:p>
          <a:p>
            <a:pPr marL="669290">
              <a:lnSpc>
                <a:spcPct val="100000"/>
              </a:lnSpc>
              <a:spcBef>
                <a:spcPts val="865"/>
              </a:spcBef>
              <a:tabLst>
                <a:tab pos="2042795" algn="l"/>
              </a:tabLst>
            </a:pPr>
            <a:r>
              <a:rPr dirty="0" sz="2400" spc="-1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＃	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进栈</a:t>
            </a:r>
            <a:endParaRPr sz="2400">
              <a:latin typeface="宋体"/>
              <a:cs typeface="宋体"/>
            </a:endParaRPr>
          </a:p>
          <a:p>
            <a:pPr marL="668020">
              <a:lnSpc>
                <a:spcPct val="100000"/>
              </a:lnSpc>
              <a:spcBef>
                <a:spcPts val="865"/>
              </a:spcBef>
              <a:tabLst>
                <a:tab pos="1509395" algn="l"/>
              </a:tabLst>
            </a:pP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＃	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用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Ma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归约</a:t>
            </a:r>
            <a:endParaRPr sz="2400">
              <a:latin typeface="宋体"/>
              <a:cs typeface="宋体"/>
            </a:endParaRPr>
          </a:p>
          <a:p>
            <a:pPr marL="634365">
              <a:lnSpc>
                <a:spcPct val="100000"/>
              </a:lnSpc>
              <a:spcBef>
                <a:spcPts val="865"/>
              </a:spcBef>
              <a:tabLst>
                <a:tab pos="1629410" algn="l"/>
              </a:tabLst>
            </a:pP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＃	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用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M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→(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归约</a:t>
            </a:r>
            <a:endParaRPr sz="2400">
              <a:latin typeface="宋体"/>
              <a:cs typeface="宋体"/>
            </a:endParaRPr>
          </a:p>
          <a:p>
            <a:pPr marL="617220">
              <a:lnSpc>
                <a:spcPct val="100000"/>
              </a:lnSpc>
              <a:spcBef>
                <a:spcPts val="865"/>
              </a:spcBef>
              <a:tabLst>
                <a:tab pos="1765300" algn="l"/>
              </a:tabLst>
            </a:pP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＃	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进栈</a:t>
            </a:r>
            <a:endParaRPr sz="2400">
              <a:latin typeface="宋体"/>
              <a:cs typeface="宋体"/>
            </a:endParaRPr>
          </a:p>
          <a:p>
            <a:pPr marL="1437640" marR="5080" indent="102235">
              <a:lnSpc>
                <a:spcPct val="130000"/>
              </a:lnSpc>
              <a:spcBef>
                <a:spcPts val="5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用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Z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bMb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归约 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分析成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功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，结束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67461" y="610362"/>
            <a:ext cx="8554720" cy="0"/>
          </a:xfrm>
          <a:custGeom>
            <a:avLst/>
            <a:gdLst/>
            <a:ahLst/>
            <a:cxnLst/>
            <a:rect l="l" t="t" r="r" b="b"/>
            <a:pathLst>
              <a:path w="8554720" h="0">
                <a:moveTo>
                  <a:pt x="0" y="0"/>
                </a:moveTo>
                <a:lnTo>
                  <a:pt x="8554212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67461" y="6802372"/>
            <a:ext cx="8554720" cy="0"/>
          </a:xfrm>
          <a:custGeom>
            <a:avLst/>
            <a:gdLst/>
            <a:ahLst/>
            <a:cxnLst/>
            <a:rect l="l" t="t" r="r" b="b"/>
            <a:pathLst>
              <a:path w="8554720" h="0">
                <a:moveTo>
                  <a:pt x="0" y="0"/>
                </a:moveTo>
                <a:lnTo>
                  <a:pt x="8554212" y="1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67461" y="1163574"/>
            <a:ext cx="8554720" cy="0"/>
          </a:xfrm>
          <a:custGeom>
            <a:avLst/>
            <a:gdLst/>
            <a:ahLst/>
            <a:cxnLst/>
            <a:rect l="l" t="t" r="r" b="b"/>
            <a:pathLst>
              <a:path w="8554720" h="0">
                <a:moveTo>
                  <a:pt x="0" y="0"/>
                </a:moveTo>
                <a:lnTo>
                  <a:pt x="8554212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858261" y="2515361"/>
            <a:ext cx="515620" cy="952500"/>
          </a:xfrm>
          <a:custGeom>
            <a:avLst/>
            <a:gdLst/>
            <a:ahLst/>
            <a:cxnLst/>
            <a:rect l="l" t="t" r="r" b="b"/>
            <a:pathLst>
              <a:path w="515620" h="952500">
                <a:moveTo>
                  <a:pt x="0" y="952500"/>
                </a:moveTo>
                <a:lnTo>
                  <a:pt x="515112" y="952500"/>
                </a:lnTo>
                <a:lnTo>
                  <a:pt x="515112" y="0"/>
                </a:lnTo>
                <a:lnTo>
                  <a:pt x="0" y="0"/>
                </a:lnTo>
                <a:lnTo>
                  <a:pt x="0" y="952500"/>
                </a:lnTo>
                <a:close/>
              </a:path>
            </a:pathLst>
          </a:custGeom>
          <a:ln w="38100">
            <a:solidFill>
              <a:srgbClr val="66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849117" y="3563873"/>
            <a:ext cx="513715" cy="1290955"/>
          </a:xfrm>
          <a:custGeom>
            <a:avLst/>
            <a:gdLst/>
            <a:ahLst/>
            <a:cxnLst/>
            <a:rect l="l" t="t" r="r" b="b"/>
            <a:pathLst>
              <a:path w="513714" h="1290954">
                <a:moveTo>
                  <a:pt x="0" y="1290827"/>
                </a:moveTo>
                <a:lnTo>
                  <a:pt x="513587" y="1290827"/>
                </a:lnTo>
                <a:lnTo>
                  <a:pt x="513587" y="0"/>
                </a:lnTo>
                <a:lnTo>
                  <a:pt x="0" y="0"/>
                </a:lnTo>
                <a:lnTo>
                  <a:pt x="0" y="1290827"/>
                </a:lnTo>
                <a:close/>
              </a:path>
            </a:pathLst>
          </a:custGeom>
          <a:ln w="38100">
            <a:solidFill>
              <a:srgbClr val="66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687573" y="2058161"/>
            <a:ext cx="856615" cy="3276600"/>
          </a:xfrm>
          <a:custGeom>
            <a:avLst/>
            <a:gdLst/>
            <a:ahLst/>
            <a:cxnLst/>
            <a:rect l="l" t="t" r="r" b="b"/>
            <a:pathLst>
              <a:path w="856614" h="3276600">
                <a:moveTo>
                  <a:pt x="0" y="3276600"/>
                </a:moveTo>
                <a:lnTo>
                  <a:pt x="856488" y="3276600"/>
                </a:lnTo>
                <a:lnTo>
                  <a:pt x="856488" y="0"/>
                </a:lnTo>
                <a:lnTo>
                  <a:pt x="0" y="0"/>
                </a:lnTo>
                <a:lnTo>
                  <a:pt x="0" y="3276600"/>
                </a:lnTo>
                <a:close/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2687573" y="1562861"/>
            <a:ext cx="856615" cy="457200"/>
          </a:xfrm>
          <a:custGeom>
            <a:avLst/>
            <a:gdLst/>
            <a:ahLst/>
            <a:cxnLst/>
            <a:rect l="l" t="t" r="r" b="b"/>
            <a:pathLst>
              <a:path w="856614" h="457200">
                <a:moveTo>
                  <a:pt x="0" y="228600"/>
                </a:moveTo>
                <a:lnTo>
                  <a:pt x="18134" y="162582"/>
                </a:lnTo>
                <a:lnTo>
                  <a:pt x="69002" y="104131"/>
                </a:lnTo>
                <a:lnTo>
                  <a:pt x="105054" y="78627"/>
                </a:lnTo>
                <a:lnTo>
                  <a:pt x="147300" y="56076"/>
                </a:lnTo>
                <a:lnTo>
                  <a:pt x="195077" y="36832"/>
                </a:lnTo>
                <a:lnTo>
                  <a:pt x="247723" y="21248"/>
                </a:lnTo>
                <a:lnTo>
                  <a:pt x="304575" y="9679"/>
                </a:lnTo>
                <a:lnTo>
                  <a:pt x="364969" y="2478"/>
                </a:lnTo>
                <a:lnTo>
                  <a:pt x="428244" y="0"/>
                </a:lnTo>
                <a:lnTo>
                  <a:pt x="491518" y="2478"/>
                </a:lnTo>
                <a:lnTo>
                  <a:pt x="551912" y="9679"/>
                </a:lnTo>
                <a:lnTo>
                  <a:pt x="608764" y="21248"/>
                </a:lnTo>
                <a:lnTo>
                  <a:pt x="661410" y="36832"/>
                </a:lnTo>
                <a:lnTo>
                  <a:pt x="709187" y="56076"/>
                </a:lnTo>
                <a:lnTo>
                  <a:pt x="751433" y="78627"/>
                </a:lnTo>
                <a:lnTo>
                  <a:pt x="787485" y="104131"/>
                </a:lnTo>
                <a:lnTo>
                  <a:pt x="816679" y="132234"/>
                </a:lnTo>
                <a:lnTo>
                  <a:pt x="851843" y="194822"/>
                </a:lnTo>
                <a:lnTo>
                  <a:pt x="856488" y="228600"/>
                </a:lnTo>
                <a:lnTo>
                  <a:pt x="851843" y="262377"/>
                </a:lnTo>
                <a:lnTo>
                  <a:pt x="816679" y="324965"/>
                </a:lnTo>
                <a:lnTo>
                  <a:pt x="787485" y="353068"/>
                </a:lnTo>
                <a:lnTo>
                  <a:pt x="751433" y="378572"/>
                </a:lnTo>
                <a:lnTo>
                  <a:pt x="709187" y="401123"/>
                </a:lnTo>
                <a:lnTo>
                  <a:pt x="661410" y="420367"/>
                </a:lnTo>
                <a:lnTo>
                  <a:pt x="608764" y="435951"/>
                </a:lnTo>
                <a:lnTo>
                  <a:pt x="551912" y="447520"/>
                </a:lnTo>
                <a:lnTo>
                  <a:pt x="491518" y="454721"/>
                </a:lnTo>
                <a:lnTo>
                  <a:pt x="428244" y="457200"/>
                </a:lnTo>
                <a:lnTo>
                  <a:pt x="364969" y="454721"/>
                </a:lnTo>
                <a:lnTo>
                  <a:pt x="304575" y="447520"/>
                </a:lnTo>
                <a:lnTo>
                  <a:pt x="247723" y="435951"/>
                </a:lnTo>
                <a:lnTo>
                  <a:pt x="195077" y="420367"/>
                </a:lnTo>
                <a:lnTo>
                  <a:pt x="147300" y="401123"/>
                </a:lnTo>
                <a:lnTo>
                  <a:pt x="105054" y="378572"/>
                </a:lnTo>
                <a:lnTo>
                  <a:pt x="69002" y="353068"/>
                </a:lnTo>
                <a:lnTo>
                  <a:pt x="39808" y="324965"/>
                </a:lnTo>
                <a:lnTo>
                  <a:pt x="4644" y="262377"/>
                </a:lnTo>
                <a:lnTo>
                  <a:pt x="0" y="228600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2705861" y="5887973"/>
            <a:ext cx="858519" cy="457200"/>
          </a:xfrm>
          <a:custGeom>
            <a:avLst/>
            <a:gdLst/>
            <a:ahLst/>
            <a:cxnLst/>
            <a:rect l="l" t="t" r="r" b="b"/>
            <a:pathLst>
              <a:path w="858520" h="457200">
                <a:moveTo>
                  <a:pt x="0" y="228599"/>
                </a:moveTo>
                <a:lnTo>
                  <a:pt x="18159" y="162577"/>
                </a:lnTo>
                <a:lnTo>
                  <a:pt x="69103" y="104125"/>
                </a:lnTo>
                <a:lnTo>
                  <a:pt x="105211" y="78622"/>
                </a:lnTo>
                <a:lnTo>
                  <a:pt x="147526" y="56072"/>
                </a:lnTo>
                <a:lnTo>
                  <a:pt x="195386" y="36829"/>
                </a:lnTo>
                <a:lnTo>
                  <a:pt x="248126" y="21246"/>
                </a:lnTo>
                <a:lnTo>
                  <a:pt x="305085" y="9678"/>
                </a:lnTo>
                <a:lnTo>
                  <a:pt x="365599" y="2478"/>
                </a:lnTo>
                <a:lnTo>
                  <a:pt x="429006" y="0"/>
                </a:lnTo>
                <a:lnTo>
                  <a:pt x="492412" y="2478"/>
                </a:lnTo>
                <a:lnTo>
                  <a:pt x="552926" y="9678"/>
                </a:lnTo>
                <a:lnTo>
                  <a:pt x="609885" y="21246"/>
                </a:lnTo>
                <a:lnTo>
                  <a:pt x="662625" y="36829"/>
                </a:lnTo>
                <a:lnTo>
                  <a:pt x="710485" y="56072"/>
                </a:lnTo>
                <a:lnTo>
                  <a:pt x="752800" y="78622"/>
                </a:lnTo>
                <a:lnTo>
                  <a:pt x="788908" y="104125"/>
                </a:lnTo>
                <a:lnTo>
                  <a:pt x="818146" y="132228"/>
                </a:lnTo>
                <a:lnTo>
                  <a:pt x="853361" y="194819"/>
                </a:lnTo>
                <a:lnTo>
                  <a:pt x="858012" y="228599"/>
                </a:lnTo>
                <a:lnTo>
                  <a:pt x="853361" y="262380"/>
                </a:lnTo>
                <a:lnTo>
                  <a:pt x="818146" y="324971"/>
                </a:lnTo>
                <a:lnTo>
                  <a:pt x="788908" y="353074"/>
                </a:lnTo>
                <a:lnTo>
                  <a:pt x="752800" y="378577"/>
                </a:lnTo>
                <a:lnTo>
                  <a:pt x="710485" y="401127"/>
                </a:lnTo>
                <a:lnTo>
                  <a:pt x="662625" y="420370"/>
                </a:lnTo>
                <a:lnTo>
                  <a:pt x="609885" y="435953"/>
                </a:lnTo>
                <a:lnTo>
                  <a:pt x="552926" y="447521"/>
                </a:lnTo>
                <a:lnTo>
                  <a:pt x="492412" y="454721"/>
                </a:lnTo>
                <a:lnTo>
                  <a:pt x="429006" y="457199"/>
                </a:lnTo>
                <a:lnTo>
                  <a:pt x="365599" y="454721"/>
                </a:lnTo>
                <a:lnTo>
                  <a:pt x="305085" y="447521"/>
                </a:lnTo>
                <a:lnTo>
                  <a:pt x="248126" y="435953"/>
                </a:lnTo>
                <a:lnTo>
                  <a:pt x="195386" y="420370"/>
                </a:lnTo>
                <a:lnTo>
                  <a:pt x="147526" y="401127"/>
                </a:lnTo>
                <a:lnTo>
                  <a:pt x="105211" y="378577"/>
                </a:lnTo>
                <a:lnTo>
                  <a:pt x="69103" y="353074"/>
                </a:lnTo>
                <a:lnTo>
                  <a:pt x="39865" y="324971"/>
                </a:lnTo>
                <a:lnTo>
                  <a:pt x="4650" y="262380"/>
                </a:lnTo>
                <a:lnTo>
                  <a:pt x="0" y="228599"/>
                </a:lnTo>
                <a:close/>
              </a:path>
            </a:pathLst>
          </a:custGeom>
          <a:ln w="38099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47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39366" y="2040763"/>
            <a:ext cx="6963409" cy="27698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lvl="2" marL="1236345" indent="-1224280">
              <a:lnSpc>
                <a:spcPct val="100000"/>
              </a:lnSpc>
              <a:spcBef>
                <a:spcPts val="105"/>
              </a:spcBef>
              <a:buFont typeface="Times New Roman"/>
              <a:buAutoNum type="arabicPeriod"/>
              <a:tabLst>
                <a:tab pos="1236345" algn="l"/>
                <a:tab pos="1236980" algn="l"/>
              </a:tabLst>
            </a:pPr>
            <a:r>
              <a:rPr dirty="0" sz="3200" b="1">
                <a:solidFill>
                  <a:srgbClr val="FFFF69"/>
                </a:solidFill>
                <a:latin typeface="宋体"/>
                <a:cs typeface="宋体"/>
              </a:rPr>
              <a:t>直观的算符优先分</a:t>
            </a:r>
            <a:r>
              <a:rPr dirty="0" sz="3200" spc="-15" b="1">
                <a:solidFill>
                  <a:srgbClr val="FFFF69"/>
                </a:solidFill>
                <a:latin typeface="宋体"/>
                <a:cs typeface="宋体"/>
              </a:rPr>
              <a:t>析</a:t>
            </a:r>
            <a:r>
              <a:rPr dirty="0" sz="3200" spc="-10" b="1">
                <a:solidFill>
                  <a:srgbClr val="FFFF69"/>
                </a:solidFill>
                <a:latin typeface="宋体"/>
                <a:cs typeface="宋体"/>
              </a:rPr>
              <a:t>法</a:t>
            </a:r>
            <a:endParaRPr sz="3200">
              <a:latin typeface="宋体"/>
              <a:cs typeface="宋体"/>
            </a:endParaRPr>
          </a:p>
          <a:p>
            <a:pPr lvl="2" marL="1236345" indent="-1224280">
              <a:lnSpc>
                <a:spcPct val="100000"/>
              </a:lnSpc>
              <a:spcBef>
                <a:spcPts val="2300"/>
              </a:spcBef>
              <a:buFont typeface="Times New Roman"/>
              <a:buAutoNum type="arabicPeriod"/>
              <a:tabLst>
                <a:tab pos="1236345" algn="l"/>
                <a:tab pos="1236980" algn="l"/>
              </a:tabLst>
            </a:pPr>
            <a:r>
              <a:rPr dirty="0" sz="3200" spc="-5" b="1">
                <a:solidFill>
                  <a:srgbClr val="FFFF69"/>
                </a:solidFill>
                <a:latin typeface="宋体"/>
                <a:cs typeface="宋体"/>
              </a:rPr>
              <a:t>算符优先分析与算</a:t>
            </a:r>
            <a:r>
              <a:rPr dirty="0" sz="3200" spc="-15" b="1">
                <a:solidFill>
                  <a:srgbClr val="FFFF69"/>
                </a:solidFill>
                <a:latin typeface="宋体"/>
                <a:cs typeface="宋体"/>
              </a:rPr>
              <a:t>符</a:t>
            </a:r>
            <a:r>
              <a:rPr dirty="0" sz="3200" spc="-5" b="1">
                <a:solidFill>
                  <a:srgbClr val="FFFF69"/>
                </a:solidFill>
                <a:latin typeface="宋体"/>
                <a:cs typeface="宋体"/>
              </a:rPr>
              <a:t>优先分</a:t>
            </a:r>
            <a:r>
              <a:rPr dirty="0" sz="3200" spc="-15" b="1">
                <a:solidFill>
                  <a:srgbClr val="FFFF69"/>
                </a:solidFill>
                <a:latin typeface="宋体"/>
                <a:cs typeface="宋体"/>
              </a:rPr>
              <a:t>析</a:t>
            </a:r>
            <a:r>
              <a:rPr dirty="0" sz="3200" spc="-10" b="1">
                <a:solidFill>
                  <a:srgbClr val="FFFF69"/>
                </a:solidFill>
                <a:latin typeface="宋体"/>
                <a:cs typeface="宋体"/>
              </a:rPr>
              <a:t>器</a:t>
            </a:r>
            <a:endParaRPr sz="3200">
              <a:latin typeface="宋体"/>
              <a:cs typeface="宋体"/>
            </a:endParaRPr>
          </a:p>
          <a:p>
            <a:pPr lvl="2" marL="1236345" indent="-1224280">
              <a:lnSpc>
                <a:spcPct val="100000"/>
              </a:lnSpc>
              <a:spcBef>
                <a:spcPts val="2020"/>
              </a:spcBef>
              <a:buFont typeface="Times New Roman"/>
              <a:buAutoNum type="arabicPeriod"/>
              <a:tabLst>
                <a:tab pos="1236345" algn="l"/>
                <a:tab pos="1236980" algn="l"/>
              </a:tabLst>
            </a:pPr>
            <a:r>
              <a:rPr dirty="0" sz="3200" b="1">
                <a:solidFill>
                  <a:srgbClr val="FFFF69"/>
                </a:solidFill>
                <a:latin typeface="宋体"/>
                <a:cs typeface="宋体"/>
              </a:rPr>
              <a:t>算符优先分析法实</a:t>
            </a:r>
            <a:r>
              <a:rPr dirty="0" sz="3200" spc="-15" b="1">
                <a:solidFill>
                  <a:srgbClr val="FFFF69"/>
                </a:solidFill>
                <a:latin typeface="宋体"/>
                <a:cs typeface="宋体"/>
              </a:rPr>
              <a:t>现</a:t>
            </a:r>
            <a:r>
              <a:rPr dirty="0" sz="3200" b="1">
                <a:solidFill>
                  <a:srgbClr val="FFFF69"/>
                </a:solidFill>
                <a:latin typeface="宋体"/>
                <a:cs typeface="宋体"/>
              </a:rPr>
              <a:t>的理论</a:t>
            </a:r>
            <a:r>
              <a:rPr dirty="0" sz="3200" spc="-15" b="1">
                <a:solidFill>
                  <a:srgbClr val="FFFF69"/>
                </a:solidFill>
                <a:latin typeface="宋体"/>
                <a:cs typeface="宋体"/>
              </a:rPr>
              <a:t>探</a:t>
            </a:r>
            <a:r>
              <a:rPr dirty="0" sz="3200" spc="-10" b="1">
                <a:solidFill>
                  <a:srgbClr val="FFFF69"/>
                </a:solidFill>
                <a:latin typeface="宋体"/>
                <a:cs typeface="宋体"/>
              </a:rPr>
              <a:t>讨</a:t>
            </a:r>
            <a:endParaRPr sz="3200">
              <a:latin typeface="宋体"/>
              <a:cs typeface="宋体"/>
            </a:endParaRPr>
          </a:p>
          <a:p>
            <a:pPr lvl="2" marL="1236345" indent="-1224280">
              <a:lnSpc>
                <a:spcPct val="100000"/>
              </a:lnSpc>
              <a:spcBef>
                <a:spcPts val="1920"/>
              </a:spcBef>
              <a:buClr>
                <a:srgbClr val="FFFF00"/>
              </a:buClr>
              <a:buFont typeface="Times New Roman"/>
              <a:buAutoNum type="arabicPeriod"/>
              <a:tabLst>
                <a:tab pos="1236345" algn="l"/>
                <a:tab pos="1236980" algn="l"/>
              </a:tabLst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优先函数表的构造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577464" y="26923"/>
            <a:ext cx="16294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09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87315" y="26923"/>
            <a:ext cx="232537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0065" algn="l"/>
              </a:tabLst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算符优先分析法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9361" y="4382261"/>
            <a:ext cx="1231392" cy="5593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29361" y="4382261"/>
            <a:ext cx="1231900" cy="559435"/>
          </a:xfrm>
          <a:custGeom>
            <a:avLst/>
            <a:gdLst/>
            <a:ahLst/>
            <a:cxnLst/>
            <a:rect l="l" t="t" r="r" b="b"/>
            <a:pathLst>
              <a:path w="1231900" h="559435">
                <a:moveTo>
                  <a:pt x="0" y="139826"/>
                </a:moveTo>
                <a:lnTo>
                  <a:pt x="923137" y="139826"/>
                </a:lnTo>
                <a:lnTo>
                  <a:pt x="923137" y="0"/>
                </a:lnTo>
                <a:lnTo>
                  <a:pt x="1231392" y="279654"/>
                </a:lnTo>
                <a:lnTo>
                  <a:pt x="923137" y="559307"/>
                </a:lnTo>
                <a:lnTo>
                  <a:pt x="923137" y="419481"/>
                </a:lnTo>
                <a:lnTo>
                  <a:pt x="0" y="419481"/>
                </a:lnTo>
                <a:lnTo>
                  <a:pt x="0" y="139826"/>
                </a:lnTo>
                <a:close/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47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45440" y="26923"/>
            <a:ext cx="8362950" cy="5140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0">
              <a:lnSpc>
                <a:spcPct val="100000"/>
              </a:lnSpc>
              <a:spcBef>
                <a:spcPts val="100"/>
              </a:spcBef>
              <a:tabLst>
                <a:tab pos="2426970" algn="l"/>
                <a:tab pos="2936240" algn="l"/>
                <a:tab pos="5168900" algn="l"/>
                <a:tab pos="586867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算符优先分析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法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5.2.4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优先函数表的构造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100">
              <a:latin typeface="宋体"/>
              <a:cs typeface="宋体"/>
            </a:endParaRPr>
          </a:p>
          <a:p>
            <a:pPr marL="467995" indent="-417830">
              <a:lnSpc>
                <a:spcPct val="100000"/>
              </a:lnSpc>
              <a:buClr>
                <a:srgbClr val="99FF99"/>
              </a:buClr>
              <a:buSzPct val="114062"/>
              <a:buFont typeface="Wingdings"/>
              <a:buChar char=""/>
              <a:tabLst>
                <a:tab pos="467995" algn="l"/>
                <a:tab pos="46863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为什么引</a:t>
            </a:r>
            <a:r>
              <a:rPr dirty="0" sz="3200" spc="680" b="1">
                <a:solidFill>
                  <a:srgbClr val="FFFF00"/>
                </a:solidFill>
                <a:latin typeface="宋体"/>
                <a:cs typeface="宋体"/>
              </a:rPr>
              <a:t>入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优先函数表</a:t>
            </a:r>
            <a:endParaRPr sz="3200">
              <a:latin typeface="宋体"/>
              <a:cs typeface="宋体"/>
            </a:endParaRPr>
          </a:p>
          <a:p>
            <a:pPr marL="50800" marR="334010" indent="800100">
              <a:lnSpc>
                <a:spcPts val="5000"/>
              </a:lnSpc>
              <a:spcBef>
                <a:spcPts val="350"/>
              </a:spcBef>
              <a:tabLst>
                <a:tab pos="5394325" algn="l"/>
              </a:tabLst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对给定文法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若其终结符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个</a:t>
            </a:r>
            <a:r>
              <a:rPr dirty="0" sz="3200" spc="15" b="1">
                <a:solidFill>
                  <a:srgbClr val="FFFFFF"/>
                </a:solidFill>
                <a:latin typeface="宋体"/>
                <a:cs typeface="宋体"/>
              </a:rPr>
              <a:t>数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3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的优先关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系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表的大</a:t>
            </a:r>
            <a:r>
              <a:rPr dirty="0" sz="3200" spc="765" b="1">
                <a:solidFill>
                  <a:srgbClr val="FFFFFF"/>
                </a:solidFill>
                <a:latin typeface="宋体"/>
                <a:cs typeface="宋体"/>
              </a:rPr>
              <a:t>小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3200" spc="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(</a:t>
            </a:r>
            <a:r>
              <a:rPr dirty="0" sz="3200" b="1" i="1">
                <a:solidFill>
                  <a:srgbClr val="00FFFF"/>
                </a:solidFill>
                <a:latin typeface="Times New Roman"/>
                <a:cs typeface="Times New Roman"/>
              </a:rPr>
              <a:t>n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+1)</a:t>
            </a:r>
            <a:r>
              <a:rPr dirty="0" baseline="25132" sz="3150" b="1">
                <a:solidFill>
                  <a:srgbClr val="00FFFF"/>
                </a:solidFill>
                <a:latin typeface="Times New Roman"/>
                <a:cs typeface="Times New Roman"/>
              </a:rPr>
              <a:t>2	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;</a:t>
            </a:r>
            <a:endParaRPr sz="3200">
              <a:latin typeface="Times New Roman"/>
              <a:cs typeface="Times New Roman"/>
            </a:endParaRPr>
          </a:p>
          <a:p>
            <a:pPr algn="r" marR="43180">
              <a:lnSpc>
                <a:spcPct val="100000"/>
              </a:lnSpc>
              <a:spcBef>
                <a:spcPts val="79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引入优先函数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表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使每个终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结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符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仅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对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应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两</a:t>
            </a:r>
            <a:endParaRPr sz="3200">
              <a:latin typeface="宋体"/>
              <a:cs typeface="宋体"/>
            </a:endParaRPr>
          </a:p>
          <a:p>
            <a:pPr algn="r" marR="139700">
              <a:lnSpc>
                <a:spcPct val="100000"/>
              </a:lnSpc>
              <a:spcBef>
                <a:spcPts val="115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个优先函数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值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即栈内和栈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外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优先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函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数</a:t>
            </a:r>
            <a:r>
              <a:rPr dirty="0" sz="3200" spc="25" b="1">
                <a:solidFill>
                  <a:srgbClr val="FFFFFF"/>
                </a:solidFill>
                <a:latin typeface="宋体"/>
                <a:cs typeface="宋体"/>
              </a:rPr>
              <a:t>值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，则</a:t>
            </a:r>
            <a:endParaRPr sz="3200">
              <a:latin typeface="宋体"/>
              <a:cs typeface="宋体"/>
            </a:endParaRPr>
          </a:p>
          <a:p>
            <a:pPr marL="50800" marR="317500">
              <a:lnSpc>
                <a:spcPts val="5060"/>
              </a:lnSpc>
              <a:spcBef>
                <a:spcPts val="3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的优先关系表的大</a:t>
            </a:r>
            <a:r>
              <a:rPr dirty="0" sz="3200" spc="765" b="1">
                <a:solidFill>
                  <a:srgbClr val="FFFFFF"/>
                </a:solidFill>
                <a:latin typeface="宋体"/>
                <a:cs typeface="宋体"/>
              </a:rPr>
              <a:t>小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3200" spc="-6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2(</a:t>
            </a:r>
            <a:r>
              <a:rPr dirty="0" sz="3200" b="1" i="1">
                <a:solidFill>
                  <a:srgbClr val="00FFFF"/>
                </a:solidFill>
                <a:latin typeface="Times New Roman"/>
                <a:cs typeface="Times New Roman"/>
              </a:rPr>
              <a:t>n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+1)</a:t>
            </a:r>
            <a:r>
              <a:rPr dirty="0" sz="3200" b="1">
                <a:solidFill>
                  <a:srgbClr val="00FFFF"/>
                </a:solidFill>
                <a:latin typeface="宋体"/>
                <a:cs typeface="宋体"/>
              </a:rPr>
              <a:t>，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且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分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析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中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便于进行终结符之间的比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较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47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56717" y="26923"/>
            <a:ext cx="8454390" cy="5839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0205">
              <a:lnSpc>
                <a:spcPct val="100000"/>
              </a:lnSpc>
              <a:spcBef>
                <a:spcPts val="100"/>
              </a:spcBef>
              <a:tabLst>
                <a:tab pos="2415540" algn="l"/>
                <a:tab pos="2924810" algn="l"/>
                <a:tab pos="5157470" algn="l"/>
                <a:tab pos="585724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算符优先分析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法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5.2.4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优先函数表的构造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100">
              <a:latin typeface="宋体"/>
              <a:cs typeface="宋体"/>
            </a:endParaRPr>
          </a:p>
          <a:p>
            <a:pPr marL="467995" indent="-417830">
              <a:lnSpc>
                <a:spcPct val="100000"/>
              </a:lnSpc>
              <a:buClr>
                <a:srgbClr val="99FF99"/>
              </a:buClr>
              <a:buSzPct val="114062"/>
              <a:buFont typeface="Wingdings"/>
              <a:buChar char=""/>
              <a:tabLst>
                <a:tab pos="467995" algn="l"/>
                <a:tab pos="46863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优先函数表</a:t>
            </a:r>
            <a:endParaRPr sz="3200">
              <a:latin typeface="宋体"/>
              <a:cs typeface="宋体"/>
            </a:endParaRPr>
          </a:p>
          <a:p>
            <a:pPr marL="50800" marR="751840" indent="711200">
              <a:lnSpc>
                <a:spcPct val="127400"/>
              </a:lnSpc>
              <a:spcBef>
                <a:spcPts val="6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引入两个优先函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数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1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。其中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，称为栈内 优先函数，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称为比较优先函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数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栈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外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优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先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函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数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50800" marR="751840">
              <a:lnSpc>
                <a:spcPct val="130000"/>
              </a:lnSpc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将每个终结符号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与两个优先函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数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值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dirty="0" sz="2800" spc="-73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相 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对应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endParaRPr sz="2800">
              <a:latin typeface="宋体"/>
              <a:cs typeface="宋体"/>
            </a:endParaRPr>
          </a:p>
          <a:p>
            <a:pPr marL="1209040" marR="43180" indent="-1069975">
              <a:lnSpc>
                <a:spcPct val="128600"/>
              </a:lnSpc>
              <a:spcBef>
                <a:spcPts val="50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f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∈｛自然数｝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，其与优先关</a:t>
            </a:r>
            <a:r>
              <a:rPr dirty="0" sz="2800" spc="10" b="1">
                <a:solidFill>
                  <a:srgbClr val="FFFFFF"/>
                </a:solidFill>
                <a:latin typeface="宋体"/>
                <a:cs typeface="宋体"/>
              </a:rPr>
              <a:t>系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的对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应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关</a:t>
            </a:r>
            <a:r>
              <a:rPr dirty="0" sz="2800" spc="10" b="1">
                <a:solidFill>
                  <a:srgbClr val="FFFFFF"/>
                </a:solidFill>
                <a:latin typeface="宋体"/>
                <a:cs typeface="宋体"/>
              </a:rPr>
              <a:t>系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：  若</a:t>
            </a:r>
            <a:r>
              <a:rPr dirty="0" sz="2800" spc="-69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-25525" sz="2775" spc="7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baseline="-25525" sz="2775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00FFFF"/>
                </a:solidFill>
                <a:latin typeface="Lucida Sans Unicode"/>
                <a:cs typeface="Lucida Sans Unicode"/>
              </a:rPr>
              <a:t>⋖</a:t>
            </a:r>
            <a:r>
              <a:rPr dirty="0" sz="2800" spc="5" b="1" i="1">
                <a:solidFill>
                  <a:srgbClr val="00FFFF"/>
                </a:solidFill>
                <a:latin typeface="Lucida Sans Unicode"/>
                <a:cs typeface="Lucida Sans Unicode"/>
              </a:rPr>
              <a:t>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-25525" sz="277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dirty="0" sz="2800" spc="-69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-25525" sz="277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) </a:t>
            </a:r>
            <a:r>
              <a:rPr dirty="0" sz="2800" spc="-15" b="1">
                <a:solidFill>
                  <a:srgbClr val="00FFFF"/>
                </a:solidFill>
                <a:latin typeface="宋体"/>
                <a:cs typeface="宋体"/>
              </a:rPr>
              <a:t>＜</a:t>
            </a:r>
            <a:r>
              <a:rPr dirty="0" sz="2800" spc="-700" b="1">
                <a:solidFill>
                  <a:srgbClr val="00FFFF"/>
                </a:solidFill>
                <a:latin typeface="宋体"/>
                <a:cs typeface="宋体"/>
              </a:rPr>
              <a:t>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-25525" sz="277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marL="1209040" marR="2680970">
              <a:lnSpc>
                <a:spcPct val="130000"/>
              </a:lnSpc>
              <a:spcBef>
                <a:spcPts val="5"/>
              </a:spcBef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若</a:t>
            </a:r>
            <a:r>
              <a:rPr dirty="0" sz="2800" spc="-70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-25525" sz="2775" spc="7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baseline="-25525" sz="2775" spc="-22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00FFFF"/>
                </a:solidFill>
                <a:latin typeface="Lucida Sans Unicode"/>
                <a:cs typeface="Lucida Sans Unicode"/>
              </a:rPr>
              <a:t>≐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-25525" sz="277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dirty="0" sz="2800" spc="-70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-25525" sz="277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00FFFF"/>
                </a:solidFill>
                <a:latin typeface="宋体"/>
                <a:cs typeface="宋体"/>
              </a:rPr>
              <a:t>＝</a:t>
            </a:r>
            <a:r>
              <a:rPr dirty="0" sz="2800" spc="-710" b="1">
                <a:solidFill>
                  <a:srgbClr val="00FFFF"/>
                </a:solidFill>
                <a:latin typeface="宋体"/>
                <a:cs typeface="宋体"/>
              </a:rPr>
              <a:t>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-25525" sz="277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； 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若</a:t>
            </a:r>
            <a:r>
              <a:rPr dirty="0" sz="2800" spc="-70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-25525" sz="2775" spc="7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baseline="-25525" sz="2775" spc="-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00FFFF"/>
                </a:solidFill>
                <a:latin typeface="Lucida Sans Unicode"/>
                <a:cs typeface="Lucida Sans Unicode"/>
              </a:rPr>
              <a:t>⋗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-25525" sz="277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dirty="0" sz="2800" spc="-70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-25525" sz="277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00FFFF"/>
                </a:solidFill>
                <a:latin typeface="宋体"/>
                <a:cs typeface="宋体"/>
              </a:rPr>
              <a:t>＞</a:t>
            </a:r>
            <a:r>
              <a:rPr dirty="0" sz="2800" spc="-710" b="1">
                <a:solidFill>
                  <a:srgbClr val="00FFFF"/>
                </a:solidFill>
                <a:latin typeface="宋体"/>
                <a:cs typeface="宋体"/>
              </a:rPr>
              <a:t>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-25525" sz="277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47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714248" y="26923"/>
            <a:ext cx="75609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58035" algn="l"/>
                <a:tab pos="2567305" algn="l"/>
                <a:tab pos="4799965" algn="l"/>
                <a:tab pos="5499735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算符优先分析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法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优先函数表的构造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47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69240" y="428955"/>
            <a:ext cx="1462405" cy="516255"/>
          </a:xfrm>
          <a:prstGeom prst="rect"/>
        </p:spPr>
        <p:txBody>
          <a:bodyPr wrap="square" lIns="0" tIns="65405" rIns="0" bIns="0" rtlCol="0" vert="horz">
            <a:spAutoFit/>
          </a:bodyPr>
          <a:lstStyle/>
          <a:p>
            <a:pPr marL="291465" indent="-279400">
              <a:lnSpc>
                <a:spcPct val="100000"/>
              </a:lnSpc>
              <a:spcBef>
                <a:spcPts val="515"/>
              </a:spcBef>
              <a:buClr>
                <a:srgbClr val="99FF99"/>
              </a:buClr>
              <a:buSzPct val="114285"/>
              <a:buFont typeface="Wingdings"/>
              <a:buChar char=""/>
              <a:tabLst>
                <a:tab pos="292100" algn="l"/>
              </a:tabLst>
            </a:pPr>
            <a:r>
              <a:rPr dirty="0" spc="-5">
                <a:solidFill>
                  <a:srgbClr val="FFFF15"/>
                </a:solidFill>
              </a:rPr>
              <a:t>算</a:t>
            </a:r>
            <a:r>
              <a:rPr dirty="0" spc="-10">
                <a:solidFill>
                  <a:srgbClr val="FFFF15"/>
                </a:solidFill>
              </a:rPr>
              <a:t>法</a:t>
            </a:r>
            <a:r>
              <a:rPr dirty="0" spc="-5">
                <a:solidFill>
                  <a:srgbClr val="FFFF15"/>
                </a:solidFill>
                <a:latin typeface="Times New Roman"/>
                <a:cs typeface="Times New Roman"/>
              </a:rPr>
              <a:t>5</a:t>
            </a:r>
            <a:r>
              <a:rPr dirty="0" spc="-10">
                <a:solidFill>
                  <a:srgbClr val="FFFF15"/>
                </a:solidFill>
                <a:latin typeface="Times New Roman"/>
                <a:cs typeface="Times New Roman"/>
              </a:rPr>
              <a:t>.</a:t>
            </a:r>
            <a:r>
              <a:rPr dirty="0" spc="-5">
                <a:solidFill>
                  <a:srgbClr val="FFFF15"/>
                </a:solidFill>
                <a:latin typeface="Times New Roman"/>
                <a:cs typeface="Times New Roman"/>
              </a:rPr>
              <a:t>4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974850" y="482295"/>
            <a:ext cx="287845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优先函数表的构造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3840" y="908964"/>
            <a:ext cx="8593455" cy="469900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228600">
              <a:lnSpc>
                <a:spcPct val="100000"/>
              </a:lnSpc>
              <a:spcBef>
                <a:spcPts val="434"/>
              </a:spcBef>
            </a:pPr>
            <a:r>
              <a:rPr dirty="0" sz="2800" spc="-5" b="1">
                <a:solidFill>
                  <a:srgbClr val="FFFF15"/>
                </a:solidFill>
                <a:latin typeface="宋体"/>
                <a:cs typeface="宋体"/>
              </a:rPr>
              <a:t>输入：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文法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的优先关系表</a:t>
            </a:r>
            <a:endParaRPr sz="2800">
              <a:latin typeface="宋体"/>
              <a:cs typeface="宋体"/>
            </a:endParaRPr>
          </a:p>
          <a:p>
            <a:pPr marL="1295400" marR="248920" indent="-1067435">
              <a:lnSpc>
                <a:spcPts val="3700"/>
              </a:lnSpc>
              <a:spcBef>
                <a:spcPts val="175"/>
              </a:spcBef>
            </a:pPr>
            <a:r>
              <a:rPr dirty="0" sz="2800" spc="-5" b="1">
                <a:solidFill>
                  <a:srgbClr val="FFFF15"/>
                </a:solidFill>
                <a:latin typeface="宋体"/>
                <a:cs typeface="宋体"/>
              </a:rPr>
              <a:t>输出：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与文法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的优先关系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表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等价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优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先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函数</a:t>
            </a:r>
            <a:r>
              <a:rPr dirty="0" sz="2800" spc="55" b="1">
                <a:solidFill>
                  <a:srgbClr val="FFFFFF"/>
                </a:solidFill>
                <a:latin typeface="宋体"/>
                <a:cs typeface="宋体"/>
              </a:rPr>
              <a:t>表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或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不存在优先函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数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endParaRPr sz="2800">
              <a:latin typeface="宋体"/>
              <a:cs typeface="宋体"/>
            </a:endParaRPr>
          </a:p>
          <a:p>
            <a:pPr marL="228600">
              <a:lnSpc>
                <a:spcPct val="100000"/>
              </a:lnSpc>
              <a:spcBef>
                <a:spcPts val="155"/>
              </a:spcBef>
            </a:pPr>
            <a:r>
              <a:rPr dirty="0" sz="2800" spc="-5" b="1">
                <a:solidFill>
                  <a:srgbClr val="FFFF15"/>
                </a:solidFill>
                <a:latin typeface="宋体"/>
                <a:cs typeface="宋体"/>
              </a:rPr>
              <a:t>方法：</a:t>
            </a:r>
            <a:endParaRPr sz="2800">
              <a:latin typeface="宋体"/>
              <a:cs typeface="宋体"/>
            </a:endParaRPr>
          </a:p>
          <a:p>
            <a:pPr marL="228600" marR="199390" indent="266700">
              <a:lnSpc>
                <a:spcPts val="3700"/>
              </a:lnSpc>
              <a:spcBef>
                <a:spcPts val="175"/>
              </a:spcBef>
              <a:buClr>
                <a:srgbClr val="66FFFF"/>
              </a:buClr>
              <a:buFont typeface="Times New Roman"/>
              <a:buAutoNum type="arabicParenBoth"/>
              <a:tabLst>
                <a:tab pos="1089660" algn="l"/>
                <a:tab pos="1090295" algn="l"/>
              </a:tabLst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对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的每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个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∈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-25525" sz="2775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baseline="-25525" sz="2775" spc="292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及“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”，使之对应两个结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点</a:t>
            </a:r>
            <a:r>
              <a:rPr dirty="0" sz="2800" spc="-69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baseline="-12012" sz="277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-12012" sz="2775" spc="352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baseline="-12012" sz="2775" spc="-7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marL="1089660" indent="-594995">
              <a:lnSpc>
                <a:spcPct val="100000"/>
              </a:lnSpc>
              <a:spcBef>
                <a:spcPts val="155"/>
              </a:spcBef>
              <a:buClr>
                <a:srgbClr val="66FFFF"/>
              </a:buClr>
              <a:buFont typeface="Times New Roman"/>
              <a:buAutoNum type="arabicParenBoth"/>
              <a:tabLst>
                <a:tab pos="1089660" algn="l"/>
                <a:tab pos="1090295" algn="l"/>
              </a:tabLst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将所有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的集合分为若干组，即若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4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35" b="1">
                <a:solidFill>
                  <a:srgbClr val="FFFFFF"/>
                </a:solidFill>
                <a:latin typeface="Cambria Math"/>
                <a:cs typeface="Cambria Math"/>
              </a:rPr>
              <a:t>≐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endParaRPr sz="2800">
              <a:latin typeface="宋体"/>
              <a:cs typeface="宋体"/>
            </a:endParaRPr>
          </a:p>
          <a:p>
            <a:pPr marL="228600">
              <a:lnSpc>
                <a:spcPct val="100000"/>
              </a:lnSpc>
              <a:spcBef>
                <a:spcPts val="335"/>
              </a:spcBef>
            </a:pP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baseline="-21021" sz="277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baseline="-21021" sz="277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在同一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组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38100" marR="30480" indent="457200">
              <a:lnSpc>
                <a:spcPct val="105000"/>
              </a:lnSpc>
              <a:spcBef>
                <a:spcPts val="175"/>
              </a:spcBef>
              <a:buClr>
                <a:srgbClr val="66FFFF"/>
              </a:buClr>
              <a:buFont typeface="Times New Roman"/>
              <a:buAutoNum type="arabicParenBoth" startAt="3"/>
              <a:tabLst>
                <a:tab pos="1000125" algn="l"/>
              </a:tabLst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设在第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2)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步中建立的每个组为一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个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结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点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，画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一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张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能包含所有结点的有向图。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即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对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任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何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5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∈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-25525" sz="2775" spc="-7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或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9240" y="5604154"/>
            <a:ext cx="103568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“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”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46401" y="5560591"/>
            <a:ext cx="5556250" cy="965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 indent="19685">
              <a:lnSpc>
                <a:spcPct val="110100"/>
              </a:lnSpc>
              <a:spcBef>
                <a:spcPts val="100"/>
              </a:spcBef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若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 i="1">
                <a:solidFill>
                  <a:srgbClr val="FFFFFF"/>
                </a:solidFill>
                <a:latin typeface="Lucida Sans Unicode"/>
                <a:cs typeface="Lucida Sans Unicode"/>
              </a:rPr>
              <a:t>⋖</a:t>
            </a:r>
            <a:r>
              <a:rPr dirty="0" sz="2800" spc="-10" b="1" i="1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，则从</a:t>
            </a:r>
            <a:r>
              <a:rPr dirty="0" sz="2800" spc="5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baseline="-12012" sz="2775" spc="7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画一有向弧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到</a:t>
            </a:r>
            <a:r>
              <a:rPr dirty="0" sz="2800" spc="5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baseline="-12012" sz="2775" spc="7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-12012" sz="2775" spc="37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； 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若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 i="1">
                <a:solidFill>
                  <a:srgbClr val="FFFFFF"/>
                </a:solidFill>
                <a:latin typeface="Lucida Sans Unicode"/>
                <a:cs typeface="Lucida Sans Unicode"/>
              </a:rPr>
              <a:t>⋗</a:t>
            </a:r>
            <a:r>
              <a:rPr dirty="0" sz="2800" spc="-25" b="1" i="1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，则从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baseline="-12012" sz="277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-12012" sz="2775" spc="359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画一有向弧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到</a:t>
            </a:r>
            <a:r>
              <a:rPr dirty="0" sz="2800" spc="5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baseline="-12012" sz="2775" spc="7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baseline="-12012" sz="2775" spc="359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714248" y="26923"/>
            <a:ext cx="16294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09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60091" y="26923"/>
            <a:ext cx="23266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</a:tabLst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算符优先分析法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02021" y="26923"/>
            <a:ext cx="27736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183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优先函数表的构造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48615" y="1457197"/>
            <a:ext cx="5468620" cy="0"/>
          </a:xfrm>
          <a:custGeom>
            <a:avLst/>
            <a:gdLst/>
            <a:ahLst/>
            <a:cxnLst/>
            <a:rect l="l" t="t" r="r" b="b"/>
            <a:pathLst>
              <a:path w="5468620" h="0">
                <a:moveTo>
                  <a:pt x="0" y="0"/>
                </a:moveTo>
                <a:lnTo>
                  <a:pt x="5468112" y="0"/>
                </a:lnTo>
              </a:path>
            </a:pathLst>
          </a:custGeom>
          <a:ln w="19812">
            <a:solidFill>
              <a:srgbClr val="FFFF1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35991" y="992581"/>
            <a:ext cx="8070850" cy="47148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641475" algn="l"/>
              </a:tabLst>
            </a:pPr>
            <a:r>
              <a:rPr dirty="0" sz="3200" spc="-5" b="1">
                <a:solidFill>
                  <a:srgbClr val="FFFF15"/>
                </a:solidFill>
                <a:latin typeface="宋体"/>
                <a:cs typeface="宋体"/>
              </a:rPr>
              <a:t>算法</a:t>
            </a:r>
            <a:r>
              <a:rPr dirty="0" sz="3200" b="1">
                <a:solidFill>
                  <a:srgbClr val="FFFF15"/>
                </a:solidFill>
                <a:latin typeface="Times New Roman"/>
                <a:cs typeface="Times New Roman"/>
              </a:rPr>
              <a:t>5.4	</a:t>
            </a:r>
            <a:r>
              <a:rPr dirty="0" sz="3200" spc="-5" b="1">
                <a:solidFill>
                  <a:srgbClr val="FFFF15"/>
                </a:solidFill>
                <a:latin typeface="宋体"/>
                <a:cs typeface="宋体"/>
              </a:rPr>
              <a:t>构造优先函数</a:t>
            </a:r>
            <a:r>
              <a:rPr dirty="0" sz="3200" spc="765" b="1">
                <a:solidFill>
                  <a:srgbClr val="FFFF15"/>
                </a:solidFill>
                <a:latin typeface="宋体"/>
                <a:cs typeface="宋体"/>
              </a:rPr>
              <a:t>表</a:t>
            </a:r>
            <a:r>
              <a:rPr dirty="0" sz="3200" b="1">
                <a:solidFill>
                  <a:srgbClr val="FFFF15"/>
                </a:solidFill>
                <a:latin typeface="Times New Roman"/>
                <a:cs typeface="Times New Roman"/>
              </a:rPr>
              <a:t>( </a:t>
            </a:r>
            <a:r>
              <a:rPr dirty="0" sz="3200" spc="-10" b="1">
                <a:solidFill>
                  <a:srgbClr val="FFFF15"/>
                </a:solidFill>
                <a:latin typeface="宋体"/>
                <a:cs typeface="宋体"/>
              </a:rPr>
              <a:t>续</a:t>
            </a:r>
            <a:r>
              <a:rPr dirty="0" sz="3200" spc="-815" b="1">
                <a:solidFill>
                  <a:srgbClr val="FFFF15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15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750">
              <a:latin typeface="Times New Roman"/>
              <a:cs typeface="Times New Roman"/>
            </a:endParaRPr>
          </a:p>
          <a:p>
            <a:pPr algn="just" marL="12700" marR="5080" indent="444500">
              <a:lnSpc>
                <a:spcPct val="131100"/>
              </a:lnSpc>
              <a:buClr>
                <a:srgbClr val="66FFFF"/>
              </a:buClr>
              <a:buSzPct val="93333"/>
              <a:buFont typeface="Times New Roman"/>
              <a:buAutoNum type="arabicParenBoth" startAt="4"/>
              <a:tabLst>
                <a:tab pos="1084580" algn="l"/>
              </a:tabLst>
            </a:pP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对图中每个结点赋一个整</a:t>
            </a:r>
            <a:r>
              <a:rPr dirty="0" sz="3000" b="1">
                <a:solidFill>
                  <a:srgbClr val="FFFFFF"/>
                </a:solidFill>
                <a:latin typeface="宋体"/>
                <a:cs typeface="宋体"/>
              </a:rPr>
              <a:t>数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，该整数是从 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该结点出发沿有向弧能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到达的不同结点个</a:t>
            </a:r>
            <a:r>
              <a:rPr dirty="0" sz="3200" spc="5" b="1">
                <a:solidFill>
                  <a:srgbClr val="FFFF00"/>
                </a:solidFill>
                <a:latin typeface="宋体"/>
                <a:cs typeface="宋体"/>
              </a:rPr>
              <a:t>数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包 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括该结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点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，即优先函</a:t>
            </a:r>
            <a:r>
              <a:rPr dirty="0" sz="3000" b="1">
                <a:solidFill>
                  <a:srgbClr val="FFFFFF"/>
                </a:solidFill>
                <a:latin typeface="宋体"/>
                <a:cs typeface="宋体"/>
              </a:rPr>
              <a:t>数</a:t>
            </a:r>
            <a:r>
              <a:rPr dirty="0" sz="3000" spc="-10" b="1">
                <a:solidFill>
                  <a:srgbClr val="FFFFFF"/>
                </a:solidFill>
                <a:latin typeface="宋体"/>
                <a:cs typeface="宋体"/>
              </a:rPr>
              <a:t>值</a:t>
            </a:r>
            <a:r>
              <a:rPr dirty="0" sz="3000" spc="-78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000" spc="-5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30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0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0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或</a:t>
            </a:r>
            <a:r>
              <a:rPr dirty="0" sz="3000" spc="-5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0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0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000" spc="-5" b="1">
                <a:solidFill>
                  <a:srgbClr val="FFFFFF"/>
                </a:solidFill>
                <a:latin typeface="Times New Roman"/>
                <a:cs typeface="Times New Roman"/>
              </a:rPr>
              <a:t>))</a:t>
            </a:r>
            <a:r>
              <a:rPr dirty="0" sz="30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000">
              <a:latin typeface="宋体"/>
              <a:cs typeface="宋体"/>
            </a:endParaRPr>
          </a:p>
          <a:p>
            <a:pPr marL="12700" marR="17145" indent="381000">
              <a:lnSpc>
                <a:spcPct val="130000"/>
              </a:lnSpc>
              <a:buClr>
                <a:srgbClr val="66FFFF"/>
              </a:buClr>
              <a:buFont typeface="Times New Roman"/>
              <a:buAutoNum type="arabicParenBoth" startAt="4"/>
              <a:tabLst>
                <a:tab pos="1029335" algn="l"/>
                <a:tab pos="1029969" algn="l"/>
              </a:tabLst>
            </a:pP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检查构造的优先函数</a:t>
            </a:r>
            <a:r>
              <a:rPr dirty="0" sz="30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是否与原优先关系 表有矛盾，若无矛盾则构造的优先函数表成</a:t>
            </a:r>
            <a:r>
              <a:rPr dirty="0" sz="3000" b="1">
                <a:solidFill>
                  <a:srgbClr val="FFFFFF"/>
                </a:solidFill>
                <a:latin typeface="宋体"/>
                <a:cs typeface="宋体"/>
              </a:rPr>
              <a:t>立</a:t>
            </a:r>
            <a:r>
              <a:rPr dirty="0" sz="3000" spc="-15" b="1">
                <a:solidFill>
                  <a:srgbClr val="FFFFFF"/>
                </a:solidFill>
                <a:latin typeface="宋体"/>
                <a:cs typeface="宋体"/>
              </a:rPr>
              <a:t>，  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否则优先函数不存</a:t>
            </a:r>
            <a:r>
              <a:rPr dirty="0" sz="3000" b="1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dirty="0" sz="30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47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132070" y="5653278"/>
            <a:ext cx="787907" cy="8260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132070" y="5653278"/>
            <a:ext cx="788035" cy="826135"/>
          </a:xfrm>
          <a:custGeom>
            <a:avLst/>
            <a:gdLst/>
            <a:ahLst/>
            <a:cxnLst/>
            <a:rect l="l" t="t" r="r" b="b"/>
            <a:pathLst>
              <a:path w="788035" h="826135">
                <a:moveTo>
                  <a:pt x="0" y="413004"/>
                </a:moveTo>
                <a:lnTo>
                  <a:pt x="2650" y="364839"/>
                </a:lnTo>
                <a:lnTo>
                  <a:pt x="10405" y="318307"/>
                </a:lnTo>
                <a:lnTo>
                  <a:pt x="22969" y="273716"/>
                </a:lnTo>
                <a:lnTo>
                  <a:pt x="40046" y="231376"/>
                </a:lnTo>
                <a:lnTo>
                  <a:pt x="61339" y="191599"/>
                </a:lnTo>
                <a:lnTo>
                  <a:pt x="86554" y="154692"/>
                </a:lnTo>
                <a:lnTo>
                  <a:pt x="115395" y="120967"/>
                </a:lnTo>
                <a:lnTo>
                  <a:pt x="147565" y="90733"/>
                </a:lnTo>
                <a:lnTo>
                  <a:pt x="182770" y="64300"/>
                </a:lnTo>
                <a:lnTo>
                  <a:pt x="220713" y="41978"/>
                </a:lnTo>
                <a:lnTo>
                  <a:pt x="261098" y="24077"/>
                </a:lnTo>
                <a:lnTo>
                  <a:pt x="303631" y="10907"/>
                </a:lnTo>
                <a:lnTo>
                  <a:pt x="348015" y="2778"/>
                </a:lnTo>
                <a:lnTo>
                  <a:pt x="393953" y="0"/>
                </a:lnTo>
                <a:lnTo>
                  <a:pt x="439892" y="2778"/>
                </a:lnTo>
                <a:lnTo>
                  <a:pt x="484276" y="10907"/>
                </a:lnTo>
                <a:lnTo>
                  <a:pt x="526809" y="24077"/>
                </a:lnTo>
                <a:lnTo>
                  <a:pt x="567194" y="41978"/>
                </a:lnTo>
                <a:lnTo>
                  <a:pt x="605137" y="64300"/>
                </a:lnTo>
                <a:lnTo>
                  <a:pt x="640342" y="90733"/>
                </a:lnTo>
                <a:lnTo>
                  <a:pt x="672512" y="120967"/>
                </a:lnTo>
                <a:lnTo>
                  <a:pt x="701353" y="154692"/>
                </a:lnTo>
                <a:lnTo>
                  <a:pt x="726568" y="191599"/>
                </a:lnTo>
                <a:lnTo>
                  <a:pt x="747861" y="231376"/>
                </a:lnTo>
                <a:lnTo>
                  <a:pt x="764938" y="273716"/>
                </a:lnTo>
                <a:lnTo>
                  <a:pt x="777502" y="318307"/>
                </a:lnTo>
                <a:lnTo>
                  <a:pt x="785257" y="364839"/>
                </a:lnTo>
                <a:lnTo>
                  <a:pt x="787907" y="413004"/>
                </a:lnTo>
                <a:lnTo>
                  <a:pt x="785257" y="461168"/>
                </a:lnTo>
                <a:lnTo>
                  <a:pt x="777502" y="507700"/>
                </a:lnTo>
                <a:lnTo>
                  <a:pt x="764938" y="552291"/>
                </a:lnTo>
                <a:lnTo>
                  <a:pt x="747861" y="594631"/>
                </a:lnTo>
                <a:lnTo>
                  <a:pt x="726568" y="634408"/>
                </a:lnTo>
                <a:lnTo>
                  <a:pt x="701353" y="671315"/>
                </a:lnTo>
                <a:lnTo>
                  <a:pt x="672512" y="705040"/>
                </a:lnTo>
                <a:lnTo>
                  <a:pt x="640342" y="735274"/>
                </a:lnTo>
                <a:lnTo>
                  <a:pt x="605137" y="761707"/>
                </a:lnTo>
                <a:lnTo>
                  <a:pt x="567194" y="784029"/>
                </a:lnTo>
                <a:lnTo>
                  <a:pt x="526809" y="801930"/>
                </a:lnTo>
                <a:lnTo>
                  <a:pt x="484276" y="815100"/>
                </a:lnTo>
                <a:lnTo>
                  <a:pt x="439892" y="823229"/>
                </a:lnTo>
                <a:lnTo>
                  <a:pt x="393953" y="826008"/>
                </a:lnTo>
                <a:lnTo>
                  <a:pt x="348015" y="823229"/>
                </a:lnTo>
                <a:lnTo>
                  <a:pt x="303631" y="815100"/>
                </a:lnTo>
                <a:lnTo>
                  <a:pt x="261098" y="801930"/>
                </a:lnTo>
                <a:lnTo>
                  <a:pt x="220713" y="784029"/>
                </a:lnTo>
                <a:lnTo>
                  <a:pt x="182770" y="761707"/>
                </a:lnTo>
                <a:lnTo>
                  <a:pt x="147565" y="735274"/>
                </a:lnTo>
                <a:lnTo>
                  <a:pt x="115395" y="705040"/>
                </a:lnTo>
                <a:lnTo>
                  <a:pt x="86554" y="671315"/>
                </a:lnTo>
                <a:lnTo>
                  <a:pt x="61339" y="634408"/>
                </a:lnTo>
                <a:lnTo>
                  <a:pt x="40046" y="594631"/>
                </a:lnTo>
                <a:lnTo>
                  <a:pt x="22969" y="552291"/>
                </a:lnTo>
                <a:lnTo>
                  <a:pt x="10405" y="507700"/>
                </a:lnTo>
                <a:lnTo>
                  <a:pt x="2650" y="461168"/>
                </a:lnTo>
                <a:lnTo>
                  <a:pt x="0" y="413004"/>
                </a:lnTo>
                <a:close/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714248" y="26923"/>
            <a:ext cx="75609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58035" algn="l"/>
                <a:tab pos="2567305" algn="l"/>
                <a:tab pos="4799965" algn="l"/>
                <a:tab pos="5499735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算符优先分析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法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优先函数表的构造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07542" y="706627"/>
            <a:ext cx="1112520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FFFF15"/>
                </a:solidFill>
              </a:rPr>
              <a:t>例</a:t>
            </a:r>
            <a:r>
              <a:rPr dirty="0" sz="3200" spc="-85">
                <a:solidFill>
                  <a:srgbClr val="FFFF15"/>
                </a:solidFill>
                <a:latin typeface="Times New Roman"/>
                <a:cs typeface="Times New Roman"/>
              </a:rPr>
              <a:t>5.11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10561" y="565915"/>
            <a:ext cx="2450465" cy="1283970"/>
          </a:xfrm>
          <a:prstGeom prst="rect">
            <a:avLst/>
          </a:prstGeom>
        </p:spPr>
        <p:txBody>
          <a:bodyPr wrap="square" lIns="0" tIns="15367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21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设有文法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  <a:p>
            <a:pPr algn="r" marR="36830">
              <a:lnSpc>
                <a:spcPct val="100000"/>
              </a:lnSpc>
              <a:spcBef>
                <a:spcPts val="1115"/>
              </a:spcBef>
            </a:pPr>
            <a:r>
              <a:rPr dirty="0" sz="3200" b="1" i="1">
                <a:solidFill>
                  <a:srgbClr val="FFFF15"/>
                </a:solidFill>
                <a:latin typeface="Times New Roman"/>
                <a:cs typeface="Times New Roman"/>
              </a:rPr>
              <a:t>S </a:t>
            </a:r>
            <a:r>
              <a:rPr dirty="0" sz="3200" b="1">
                <a:solidFill>
                  <a:srgbClr val="FFFF15"/>
                </a:solidFill>
                <a:latin typeface="Times New Roman"/>
                <a:cs typeface="Times New Roman"/>
              </a:rPr>
              <a:t>→</a:t>
            </a:r>
            <a:r>
              <a:rPr dirty="0" sz="3200" b="1" i="1">
                <a:solidFill>
                  <a:srgbClr val="FFFF15"/>
                </a:solidFill>
                <a:latin typeface="Times New Roman"/>
                <a:cs typeface="Times New Roman"/>
              </a:rPr>
              <a:t>aSb</a:t>
            </a:r>
            <a:r>
              <a:rPr dirty="0" sz="3200" b="1">
                <a:solidFill>
                  <a:srgbClr val="FFFF15"/>
                </a:solidFill>
                <a:latin typeface="Times New Roman"/>
                <a:cs typeface="Times New Roman"/>
              </a:rPr>
              <a:t>|</a:t>
            </a:r>
            <a:r>
              <a:rPr dirty="0" sz="3200" spc="-114" b="1">
                <a:solidFill>
                  <a:srgbClr val="FFFF15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15"/>
                </a:solidFill>
                <a:latin typeface="Times New Roman"/>
                <a:cs typeface="Times New Roman"/>
              </a:rPr>
              <a:t>ab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7542" y="1974850"/>
            <a:ext cx="571436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试构造文法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的优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先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函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数表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560831" y="3240023"/>
          <a:ext cx="3582670" cy="2598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2030"/>
                <a:gridCol w="774700"/>
                <a:gridCol w="713740"/>
                <a:gridCol w="1017904"/>
              </a:tblGrid>
              <a:tr h="91897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1630">
                        <a:lnSpc>
                          <a:spcPct val="100000"/>
                        </a:lnSpc>
                        <a:spcBef>
                          <a:spcPts val="1720"/>
                        </a:spcBef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18440">
                    <a:lnL w="38100">
                      <a:solidFill>
                        <a:srgbClr val="FFFF00"/>
                      </a:solidFill>
                      <a:prstDash val="solid"/>
                    </a:lnL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2860">
                        <a:lnSpc>
                          <a:spcPct val="100000"/>
                        </a:lnSpc>
                        <a:spcBef>
                          <a:spcPts val="1720"/>
                        </a:spcBef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18440"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7495">
                        <a:lnSpc>
                          <a:spcPct val="100000"/>
                        </a:lnSpc>
                        <a:spcBef>
                          <a:spcPts val="1720"/>
                        </a:spcBef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18440"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1641348">
                <a:tc>
                  <a:txBody>
                    <a:bodyPr/>
                    <a:lstStyle/>
                    <a:p>
                      <a:pPr algn="just" marL="495300" marR="320675">
                        <a:lnSpc>
                          <a:spcPct val="114999"/>
                        </a:lnSpc>
                        <a:spcBef>
                          <a:spcPts val="250"/>
                        </a:spcBef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dirty="0" sz="28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8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  #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0">
                    <a:lnL w="53975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7495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⋖</a:t>
                      </a:r>
                      <a:endParaRPr sz="2800">
                        <a:latin typeface="Lucida Sans Unicode"/>
                        <a:cs typeface="Lucida Sans Unicode"/>
                      </a:endParaRPr>
                    </a:p>
                    <a:p>
                      <a:pPr marL="277495">
                        <a:lnSpc>
                          <a:spcPct val="100000"/>
                        </a:lnSpc>
                        <a:spcBef>
                          <a:spcPts val="3784"/>
                        </a:spcBef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⋖</a:t>
                      </a:r>
                      <a:endParaRPr sz="28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67945">
                    <a:lnL w="38100">
                      <a:solidFill>
                        <a:srgbClr val="FFFF00"/>
                      </a:solidFill>
                      <a:prstDash val="solid"/>
                    </a:lnL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9870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≐</a:t>
                      </a:r>
                      <a:endParaRPr sz="2800">
                        <a:latin typeface="Lucida Sans Unicode"/>
                        <a:cs typeface="Lucida Sans Unicode"/>
                      </a:endParaRPr>
                    </a:p>
                    <a:p>
                      <a:pPr marL="214629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⋗</a:t>
                      </a:r>
                      <a:endParaRPr sz="28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67945"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3650">
                        <a:latin typeface="Times New Roman"/>
                        <a:cs typeface="Times New Roman"/>
                      </a:endParaRPr>
                    </a:p>
                    <a:p>
                      <a:pPr marL="236220">
                        <a:lnSpc>
                          <a:spcPct val="100000"/>
                        </a:lnSpc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⋗</a:t>
                      </a:r>
                      <a:endParaRPr sz="2800">
                        <a:latin typeface="Lucida Sans Unicode"/>
                        <a:cs typeface="Lucida Sans Unicode"/>
                      </a:endParaRPr>
                    </a:p>
                    <a:p>
                      <a:pPr marL="20066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≐</a:t>
                      </a:r>
                      <a:endParaRPr sz="28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4445">
                    <a:lnR w="539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object 11"/>
          <p:cNvSpPr/>
          <p:nvPr/>
        </p:nvSpPr>
        <p:spPr>
          <a:xfrm>
            <a:off x="5014721" y="2736342"/>
            <a:ext cx="633983" cy="6461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014721" y="2736342"/>
            <a:ext cx="634365" cy="646430"/>
          </a:xfrm>
          <a:custGeom>
            <a:avLst/>
            <a:gdLst/>
            <a:ahLst/>
            <a:cxnLst/>
            <a:rect l="l" t="t" r="r" b="b"/>
            <a:pathLst>
              <a:path w="634364" h="646429">
                <a:moveTo>
                  <a:pt x="0" y="323088"/>
                </a:moveTo>
                <a:lnTo>
                  <a:pt x="3435" y="275344"/>
                </a:lnTo>
                <a:lnTo>
                  <a:pt x="13416" y="229776"/>
                </a:lnTo>
                <a:lnTo>
                  <a:pt x="29451" y="186882"/>
                </a:lnTo>
                <a:lnTo>
                  <a:pt x="51053" y="147163"/>
                </a:lnTo>
                <a:lnTo>
                  <a:pt x="77731" y="111119"/>
                </a:lnTo>
                <a:lnTo>
                  <a:pt x="108996" y="79248"/>
                </a:lnTo>
                <a:lnTo>
                  <a:pt x="144358" y="52051"/>
                </a:lnTo>
                <a:lnTo>
                  <a:pt x="183328" y="30028"/>
                </a:lnTo>
                <a:lnTo>
                  <a:pt x="225417" y="13679"/>
                </a:lnTo>
                <a:lnTo>
                  <a:pt x="270135" y="3503"/>
                </a:lnTo>
                <a:lnTo>
                  <a:pt x="316991" y="0"/>
                </a:lnTo>
                <a:lnTo>
                  <a:pt x="363848" y="3503"/>
                </a:lnTo>
                <a:lnTo>
                  <a:pt x="408566" y="13679"/>
                </a:lnTo>
                <a:lnTo>
                  <a:pt x="450655" y="30028"/>
                </a:lnTo>
                <a:lnTo>
                  <a:pt x="489625" y="52051"/>
                </a:lnTo>
                <a:lnTo>
                  <a:pt x="524987" y="79248"/>
                </a:lnTo>
                <a:lnTo>
                  <a:pt x="556252" y="111119"/>
                </a:lnTo>
                <a:lnTo>
                  <a:pt x="582930" y="147163"/>
                </a:lnTo>
                <a:lnTo>
                  <a:pt x="604532" y="186882"/>
                </a:lnTo>
                <a:lnTo>
                  <a:pt x="620567" y="229776"/>
                </a:lnTo>
                <a:lnTo>
                  <a:pt x="630548" y="275344"/>
                </a:lnTo>
                <a:lnTo>
                  <a:pt x="633983" y="323088"/>
                </a:lnTo>
                <a:lnTo>
                  <a:pt x="630548" y="370831"/>
                </a:lnTo>
                <a:lnTo>
                  <a:pt x="620567" y="416399"/>
                </a:lnTo>
                <a:lnTo>
                  <a:pt x="604532" y="459293"/>
                </a:lnTo>
                <a:lnTo>
                  <a:pt x="582930" y="499012"/>
                </a:lnTo>
                <a:lnTo>
                  <a:pt x="556252" y="535056"/>
                </a:lnTo>
                <a:lnTo>
                  <a:pt x="524987" y="566927"/>
                </a:lnTo>
                <a:lnTo>
                  <a:pt x="489625" y="594124"/>
                </a:lnTo>
                <a:lnTo>
                  <a:pt x="450655" y="616147"/>
                </a:lnTo>
                <a:lnTo>
                  <a:pt x="408566" y="632496"/>
                </a:lnTo>
                <a:lnTo>
                  <a:pt x="363848" y="642672"/>
                </a:lnTo>
                <a:lnTo>
                  <a:pt x="316991" y="646176"/>
                </a:lnTo>
                <a:lnTo>
                  <a:pt x="270135" y="642672"/>
                </a:lnTo>
                <a:lnTo>
                  <a:pt x="225417" y="632496"/>
                </a:lnTo>
                <a:lnTo>
                  <a:pt x="183328" y="616147"/>
                </a:lnTo>
                <a:lnTo>
                  <a:pt x="144358" y="594124"/>
                </a:lnTo>
                <a:lnTo>
                  <a:pt x="108996" y="566927"/>
                </a:lnTo>
                <a:lnTo>
                  <a:pt x="77731" y="535056"/>
                </a:lnTo>
                <a:lnTo>
                  <a:pt x="51053" y="499012"/>
                </a:lnTo>
                <a:lnTo>
                  <a:pt x="29451" y="459293"/>
                </a:lnTo>
                <a:lnTo>
                  <a:pt x="13416" y="416399"/>
                </a:lnTo>
                <a:lnTo>
                  <a:pt x="3435" y="370831"/>
                </a:lnTo>
                <a:lnTo>
                  <a:pt x="0" y="323088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014721" y="4220717"/>
            <a:ext cx="888491" cy="80619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014721" y="4220717"/>
            <a:ext cx="889000" cy="806450"/>
          </a:xfrm>
          <a:custGeom>
            <a:avLst/>
            <a:gdLst/>
            <a:ahLst/>
            <a:cxnLst/>
            <a:rect l="l" t="t" r="r" b="b"/>
            <a:pathLst>
              <a:path w="889000" h="806450">
                <a:moveTo>
                  <a:pt x="0" y="403097"/>
                </a:moveTo>
                <a:lnTo>
                  <a:pt x="2988" y="356087"/>
                </a:lnTo>
                <a:lnTo>
                  <a:pt x="11732" y="310669"/>
                </a:lnTo>
                <a:lnTo>
                  <a:pt x="25897" y="267147"/>
                </a:lnTo>
                <a:lnTo>
                  <a:pt x="45151" y="225823"/>
                </a:lnTo>
                <a:lnTo>
                  <a:pt x="69160" y="186999"/>
                </a:lnTo>
                <a:lnTo>
                  <a:pt x="97591" y="150978"/>
                </a:lnTo>
                <a:lnTo>
                  <a:pt x="130111" y="118062"/>
                </a:lnTo>
                <a:lnTo>
                  <a:pt x="166387" y="88554"/>
                </a:lnTo>
                <a:lnTo>
                  <a:pt x="206084" y="62756"/>
                </a:lnTo>
                <a:lnTo>
                  <a:pt x="248871" y="40970"/>
                </a:lnTo>
                <a:lnTo>
                  <a:pt x="294414" y="23499"/>
                </a:lnTo>
                <a:lnTo>
                  <a:pt x="342380" y="10645"/>
                </a:lnTo>
                <a:lnTo>
                  <a:pt x="392434" y="2711"/>
                </a:lnTo>
                <a:lnTo>
                  <a:pt x="444245" y="0"/>
                </a:lnTo>
                <a:lnTo>
                  <a:pt x="496057" y="2711"/>
                </a:lnTo>
                <a:lnTo>
                  <a:pt x="546111" y="10645"/>
                </a:lnTo>
                <a:lnTo>
                  <a:pt x="594077" y="23499"/>
                </a:lnTo>
                <a:lnTo>
                  <a:pt x="639620" y="40970"/>
                </a:lnTo>
                <a:lnTo>
                  <a:pt x="682407" y="62756"/>
                </a:lnTo>
                <a:lnTo>
                  <a:pt x="722104" y="88554"/>
                </a:lnTo>
                <a:lnTo>
                  <a:pt x="758380" y="118062"/>
                </a:lnTo>
                <a:lnTo>
                  <a:pt x="790900" y="150978"/>
                </a:lnTo>
                <a:lnTo>
                  <a:pt x="819331" y="186999"/>
                </a:lnTo>
                <a:lnTo>
                  <a:pt x="843340" y="225823"/>
                </a:lnTo>
                <a:lnTo>
                  <a:pt x="862594" y="267147"/>
                </a:lnTo>
                <a:lnTo>
                  <a:pt x="876759" y="310669"/>
                </a:lnTo>
                <a:lnTo>
                  <a:pt x="885503" y="356087"/>
                </a:lnTo>
                <a:lnTo>
                  <a:pt x="888491" y="403097"/>
                </a:lnTo>
                <a:lnTo>
                  <a:pt x="885503" y="450108"/>
                </a:lnTo>
                <a:lnTo>
                  <a:pt x="876759" y="495526"/>
                </a:lnTo>
                <a:lnTo>
                  <a:pt x="862594" y="539048"/>
                </a:lnTo>
                <a:lnTo>
                  <a:pt x="843340" y="580372"/>
                </a:lnTo>
                <a:lnTo>
                  <a:pt x="819331" y="619196"/>
                </a:lnTo>
                <a:lnTo>
                  <a:pt x="790900" y="655217"/>
                </a:lnTo>
                <a:lnTo>
                  <a:pt x="758380" y="688133"/>
                </a:lnTo>
                <a:lnTo>
                  <a:pt x="722104" y="717641"/>
                </a:lnTo>
                <a:lnTo>
                  <a:pt x="682407" y="743439"/>
                </a:lnTo>
                <a:lnTo>
                  <a:pt x="639620" y="765225"/>
                </a:lnTo>
                <a:lnTo>
                  <a:pt x="594077" y="782696"/>
                </a:lnTo>
                <a:lnTo>
                  <a:pt x="546111" y="795550"/>
                </a:lnTo>
                <a:lnTo>
                  <a:pt x="496057" y="803484"/>
                </a:lnTo>
                <a:lnTo>
                  <a:pt x="444245" y="806195"/>
                </a:lnTo>
                <a:lnTo>
                  <a:pt x="392434" y="803484"/>
                </a:lnTo>
                <a:lnTo>
                  <a:pt x="342380" y="795550"/>
                </a:lnTo>
                <a:lnTo>
                  <a:pt x="294414" y="782696"/>
                </a:lnTo>
                <a:lnTo>
                  <a:pt x="248871" y="765225"/>
                </a:lnTo>
                <a:lnTo>
                  <a:pt x="206084" y="743439"/>
                </a:lnTo>
                <a:lnTo>
                  <a:pt x="166387" y="717641"/>
                </a:lnTo>
                <a:lnTo>
                  <a:pt x="130111" y="688133"/>
                </a:lnTo>
                <a:lnTo>
                  <a:pt x="97591" y="655217"/>
                </a:lnTo>
                <a:lnTo>
                  <a:pt x="69160" y="619196"/>
                </a:lnTo>
                <a:lnTo>
                  <a:pt x="45151" y="580372"/>
                </a:lnTo>
                <a:lnTo>
                  <a:pt x="25897" y="539048"/>
                </a:lnTo>
                <a:lnTo>
                  <a:pt x="11732" y="495526"/>
                </a:lnTo>
                <a:lnTo>
                  <a:pt x="2988" y="450108"/>
                </a:lnTo>
                <a:lnTo>
                  <a:pt x="0" y="403097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5285232" y="4340428"/>
            <a:ext cx="34798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3200" spc="10" b="1" i="1">
                <a:latin typeface="Times New Roman"/>
                <a:cs typeface="Times New Roman"/>
              </a:rPr>
              <a:t>f</a:t>
            </a:r>
            <a:r>
              <a:rPr dirty="0" baseline="-21164" sz="3150" spc="15" b="1" i="1">
                <a:latin typeface="Times New Roman"/>
                <a:cs typeface="Times New Roman"/>
              </a:rPr>
              <a:t>b</a:t>
            </a:r>
            <a:endParaRPr baseline="-21164" sz="31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078218" y="2628138"/>
            <a:ext cx="920496" cy="79400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078218" y="2628138"/>
            <a:ext cx="920750" cy="794385"/>
          </a:xfrm>
          <a:custGeom>
            <a:avLst/>
            <a:gdLst/>
            <a:ahLst/>
            <a:cxnLst/>
            <a:rect l="l" t="t" r="r" b="b"/>
            <a:pathLst>
              <a:path w="920750" h="794385">
                <a:moveTo>
                  <a:pt x="0" y="397001"/>
                </a:moveTo>
                <a:lnTo>
                  <a:pt x="2701" y="353754"/>
                </a:lnTo>
                <a:lnTo>
                  <a:pt x="10618" y="311852"/>
                </a:lnTo>
                <a:lnTo>
                  <a:pt x="23469" y="271540"/>
                </a:lnTo>
                <a:lnTo>
                  <a:pt x="40974" y="233059"/>
                </a:lnTo>
                <a:lnTo>
                  <a:pt x="62850" y="196652"/>
                </a:lnTo>
                <a:lnTo>
                  <a:pt x="88818" y="162562"/>
                </a:lnTo>
                <a:lnTo>
                  <a:pt x="118596" y="131030"/>
                </a:lnTo>
                <a:lnTo>
                  <a:pt x="151903" y="102300"/>
                </a:lnTo>
                <a:lnTo>
                  <a:pt x="188457" y="76614"/>
                </a:lnTo>
                <a:lnTo>
                  <a:pt x="227979" y="54214"/>
                </a:lnTo>
                <a:lnTo>
                  <a:pt x="270186" y="35344"/>
                </a:lnTo>
                <a:lnTo>
                  <a:pt x="314797" y="20244"/>
                </a:lnTo>
                <a:lnTo>
                  <a:pt x="361532" y="9159"/>
                </a:lnTo>
                <a:lnTo>
                  <a:pt x="410109" y="2330"/>
                </a:lnTo>
                <a:lnTo>
                  <a:pt x="460248" y="0"/>
                </a:lnTo>
                <a:lnTo>
                  <a:pt x="510386" y="2330"/>
                </a:lnTo>
                <a:lnTo>
                  <a:pt x="558963" y="9159"/>
                </a:lnTo>
                <a:lnTo>
                  <a:pt x="605698" y="20244"/>
                </a:lnTo>
                <a:lnTo>
                  <a:pt x="650309" y="35344"/>
                </a:lnTo>
                <a:lnTo>
                  <a:pt x="692516" y="54214"/>
                </a:lnTo>
                <a:lnTo>
                  <a:pt x="732038" y="76614"/>
                </a:lnTo>
                <a:lnTo>
                  <a:pt x="768592" y="102300"/>
                </a:lnTo>
                <a:lnTo>
                  <a:pt x="801899" y="131030"/>
                </a:lnTo>
                <a:lnTo>
                  <a:pt x="831677" y="162562"/>
                </a:lnTo>
                <a:lnTo>
                  <a:pt x="857645" y="196652"/>
                </a:lnTo>
                <a:lnTo>
                  <a:pt x="879521" y="233059"/>
                </a:lnTo>
                <a:lnTo>
                  <a:pt x="897026" y="271540"/>
                </a:lnTo>
                <a:lnTo>
                  <a:pt x="909877" y="311852"/>
                </a:lnTo>
                <a:lnTo>
                  <a:pt x="917794" y="353754"/>
                </a:lnTo>
                <a:lnTo>
                  <a:pt x="920496" y="397001"/>
                </a:lnTo>
                <a:lnTo>
                  <a:pt x="917794" y="440249"/>
                </a:lnTo>
                <a:lnTo>
                  <a:pt x="909877" y="482151"/>
                </a:lnTo>
                <a:lnTo>
                  <a:pt x="897026" y="522463"/>
                </a:lnTo>
                <a:lnTo>
                  <a:pt x="879521" y="560944"/>
                </a:lnTo>
                <a:lnTo>
                  <a:pt x="857645" y="597351"/>
                </a:lnTo>
                <a:lnTo>
                  <a:pt x="831677" y="631441"/>
                </a:lnTo>
                <a:lnTo>
                  <a:pt x="801899" y="662973"/>
                </a:lnTo>
                <a:lnTo>
                  <a:pt x="768592" y="691703"/>
                </a:lnTo>
                <a:lnTo>
                  <a:pt x="732038" y="717389"/>
                </a:lnTo>
                <a:lnTo>
                  <a:pt x="692516" y="739789"/>
                </a:lnTo>
                <a:lnTo>
                  <a:pt x="650309" y="758659"/>
                </a:lnTo>
                <a:lnTo>
                  <a:pt x="605698" y="773759"/>
                </a:lnTo>
                <a:lnTo>
                  <a:pt x="558963" y="784844"/>
                </a:lnTo>
                <a:lnTo>
                  <a:pt x="510386" y="791673"/>
                </a:lnTo>
                <a:lnTo>
                  <a:pt x="460248" y="794003"/>
                </a:lnTo>
                <a:lnTo>
                  <a:pt x="410109" y="791673"/>
                </a:lnTo>
                <a:lnTo>
                  <a:pt x="361532" y="784844"/>
                </a:lnTo>
                <a:lnTo>
                  <a:pt x="314797" y="773759"/>
                </a:lnTo>
                <a:lnTo>
                  <a:pt x="270186" y="758659"/>
                </a:lnTo>
                <a:lnTo>
                  <a:pt x="227979" y="739789"/>
                </a:lnTo>
                <a:lnTo>
                  <a:pt x="188457" y="717389"/>
                </a:lnTo>
                <a:lnTo>
                  <a:pt x="151903" y="691703"/>
                </a:lnTo>
                <a:lnTo>
                  <a:pt x="118596" y="662973"/>
                </a:lnTo>
                <a:lnTo>
                  <a:pt x="88818" y="631441"/>
                </a:lnTo>
                <a:lnTo>
                  <a:pt x="62850" y="597351"/>
                </a:lnTo>
                <a:lnTo>
                  <a:pt x="40974" y="560944"/>
                </a:lnTo>
                <a:lnTo>
                  <a:pt x="23469" y="522463"/>
                </a:lnTo>
                <a:lnTo>
                  <a:pt x="10618" y="482151"/>
                </a:lnTo>
                <a:lnTo>
                  <a:pt x="2701" y="440249"/>
                </a:lnTo>
                <a:lnTo>
                  <a:pt x="0" y="39700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7329805" y="2741498"/>
            <a:ext cx="416559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3200" spc="10" b="1" i="1">
                <a:latin typeface="Times New Roman"/>
                <a:cs typeface="Times New Roman"/>
              </a:rPr>
              <a:t>g</a:t>
            </a:r>
            <a:r>
              <a:rPr dirty="0" baseline="-21164" sz="3150" spc="15" b="1" i="1">
                <a:latin typeface="Times New Roman"/>
                <a:cs typeface="Times New Roman"/>
              </a:rPr>
              <a:t>a</a:t>
            </a:r>
            <a:endParaRPr baseline="-21164" sz="31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209281" y="4200905"/>
            <a:ext cx="789432" cy="82600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209281" y="4200905"/>
            <a:ext cx="789940" cy="826135"/>
          </a:xfrm>
          <a:custGeom>
            <a:avLst/>
            <a:gdLst/>
            <a:ahLst/>
            <a:cxnLst/>
            <a:rect l="l" t="t" r="r" b="b"/>
            <a:pathLst>
              <a:path w="789940" h="826135">
                <a:moveTo>
                  <a:pt x="0" y="413004"/>
                </a:moveTo>
                <a:lnTo>
                  <a:pt x="2654" y="364839"/>
                </a:lnTo>
                <a:lnTo>
                  <a:pt x="10421" y="318307"/>
                </a:lnTo>
                <a:lnTo>
                  <a:pt x="23004" y="273716"/>
                </a:lnTo>
                <a:lnTo>
                  <a:pt x="40108" y="231376"/>
                </a:lnTo>
                <a:lnTo>
                  <a:pt x="61436" y="191599"/>
                </a:lnTo>
                <a:lnTo>
                  <a:pt x="86694" y="154692"/>
                </a:lnTo>
                <a:lnTo>
                  <a:pt x="115585" y="120967"/>
                </a:lnTo>
                <a:lnTo>
                  <a:pt x="147814" y="90733"/>
                </a:lnTo>
                <a:lnTo>
                  <a:pt x="183085" y="64300"/>
                </a:lnTo>
                <a:lnTo>
                  <a:pt x="221102" y="41978"/>
                </a:lnTo>
                <a:lnTo>
                  <a:pt x="261569" y="24077"/>
                </a:lnTo>
                <a:lnTo>
                  <a:pt x="304191" y="10907"/>
                </a:lnTo>
                <a:lnTo>
                  <a:pt x="348672" y="2778"/>
                </a:lnTo>
                <a:lnTo>
                  <a:pt x="394716" y="0"/>
                </a:lnTo>
                <a:lnTo>
                  <a:pt x="440736" y="2778"/>
                </a:lnTo>
                <a:lnTo>
                  <a:pt x="485200" y="10907"/>
                </a:lnTo>
                <a:lnTo>
                  <a:pt x="527812" y="24077"/>
                </a:lnTo>
                <a:lnTo>
                  <a:pt x="568274" y="41978"/>
                </a:lnTo>
                <a:lnTo>
                  <a:pt x="606290" y="64300"/>
                </a:lnTo>
                <a:lnTo>
                  <a:pt x="641564" y="90733"/>
                </a:lnTo>
                <a:lnTo>
                  <a:pt x="673798" y="120967"/>
                </a:lnTo>
                <a:lnTo>
                  <a:pt x="702697" y="154692"/>
                </a:lnTo>
                <a:lnTo>
                  <a:pt x="727963" y="191599"/>
                </a:lnTo>
                <a:lnTo>
                  <a:pt x="749301" y="231376"/>
                </a:lnTo>
                <a:lnTo>
                  <a:pt x="766413" y="273716"/>
                </a:lnTo>
                <a:lnTo>
                  <a:pt x="779003" y="318307"/>
                </a:lnTo>
                <a:lnTo>
                  <a:pt x="786775" y="364839"/>
                </a:lnTo>
                <a:lnTo>
                  <a:pt x="789432" y="413004"/>
                </a:lnTo>
                <a:lnTo>
                  <a:pt x="786775" y="461168"/>
                </a:lnTo>
                <a:lnTo>
                  <a:pt x="779003" y="507700"/>
                </a:lnTo>
                <a:lnTo>
                  <a:pt x="766413" y="552291"/>
                </a:lnTo>
                <a:lnTo>
                  <a:pt x="749301" y="594631"/>
                </a:lnTo>
                <a:lnTo>
                  <a:pt x="727963" y="634408"/>
                </a:lnTo>
                <a:lnTo>
                  <a:pt x="702697" y="671315"/>
                </a:lnTo>
                <a:lnTo>
                  <a:pt x="673798" y="705040"/>
                </a:lnTo>
                <a:lnTo>
                  <a:pt x="641564" y="735274"/>
                </a:lnTo>
                <a:lnTo>
                  <a:pt x="606290" y="761707"/>
                </a:lnTo>
                <a:lnTo>
                  <a:pt x="568274" y="784029"/>
                </a:lnTo>
                <a:lnTo>
                  <a:pt x="527812" y="801930"/>
                </a:lnTo>
                <a:lnTo>
                  <a:pt x="485200" y="815100"/>
                </a:lnTo>
                <a:lnTo>
                  <a:pt x="440736" y="823229"/>
                </a:lnTo>
                <a:lnTo>
                  <a:pt x="394716" y="826008"/>
                </a:lnTo>
                <a:lnTo>
                  <a:pt x="348672" y="823229"/>
                </a:lnTo>
                <a:lnTo>
                  <a:pt x="304191" y="815100"/>
                </a:lnTo>
                <a:lnTo>
                  <a:pt x="261569" y="801930"/>
                </a:lnTo>
                <a:lnTo>
                  <a:pt x="221102" y="784029"/>
                </a:lnTo>
                <a:lnTo>
                  <a:pt x="183085" y="761707"/>
                </a:lnTo>
                <a:lnTo>
                  <a:pt x="147814" y="735274"/>
                </a:lnTo>
                <a:lnTo>
                  <a:pt x="115585" y="705040"/>
                </a:lnTo>
                <a:lnTo>
                  <a:pt x="86694" y="671315"/>
                </a:lnTo>
                <a:lnTo>
                  <a:pt x="61436" y="634408"/>
                </a:lnTo>
                <a:lnTo>
                  <a:pt x="40108" y="594631"/>
                </a:lnTo>
                <a:lnTo>
                  <a:pt x="23004" y="552291"/>
                </a:lnTo>
                <a:lnTo>
                  <a:pt x="10421" y="507700"/>
                </a:lnTo>
                <a:lnTo>
                  <a:pt x="2654" y="461168"/>
                </a:lnTo>
                <a:lnTo>
                  <a:pt x="0" y="41300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7421371" y="4331334"/>
            <a:ext cx="22923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 i="1">
                <a:latin typeface="Times New Roman"/>
                <a:cs typeface="Times New Roman"/>
              </a:rPr>
              <a:t>g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625588" y="4567554"/>
            <a:ext cx="161290" cy="3511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00" spc="15" b="1" i="1">
                <a:latin typeface="Times New Roman"/>
                <a:cs typeface="Times New Roman"/>
              </a:rPr>
              <a:t>b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885182" y="2689098"/>
            <a:ext cx="1453895" cy="73304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885182" y="2689098"/>
            <a:ext cx="1454150" cy="733425"/>
          </a:xfrm>
          <a:custGeom>
            <a:avLst/>
            <a:gdLst/>
            <a:ahLst/>
            <a:cxnLst/>
            <a:rect l="l" t="t" r="r" b="b"/>
            <a:pathLst>
              <a:path w="1454150" h="733425">
                <a:moveTo>
                  <a:pt x="0" y="366522"/>
                </a:moveTo>
                <a:lnTo>
                  <a:pt x="10528" y="304015"/>
                </a:lnTo>
                <a:lnTo>
                  <a:pt x="40951" y="244939"/>
                </a:lnTo>
                <a:lnTo>
                  <a:pt x="89520" y="190172"/>
                </a:lnTo>
                <a:lnTo>
                  <a:pt x="120065" y="164679"/>
                </a:lnTo>
                <a:lnTo>
                  <a:pt x="154491" y="140594"/>
                </a:lnTo>
                <a:lnTo>
                  <a:pt x="192580" y="118027"/>
                </a:lnTo>
                <a:lnTo>
                  <a:pt x="234115" y="97086"/>
                </a:lnTo>
                <a:lnTo>
                  <a:pt x="278877" y="77883"/>
                </a:lnTo>
                <a:lnTo>
                  <a:pt x="326648" y="60527"/>
                </a:lnTo>
                <a:lnTo>
                  <a:pt x="377209" y="45129"/>
                </a:lnTo>
                <a:lnTo>
                  <a:pt x="430342" y="31798"/>
                </a:lnTo>
                <a:lnTo>
                  <a:pt x="485829" y="20644"/>
                </a:lnTo>
                <a:lnTo>
                  <a:pt x="543451" y="11777"/>
                </a:lnTo>
                <a:lnTo>
                  <a:pt x="602990" y="5307"/>
                </a:lnTo>
                <a:lnTo>
                  <a:pt x="664229" y="1345"/>
                </a:lnTo>
                <a:lnTo>
                  <a:pt x="726947" y="0"/>
                </a:lnTo>
                <a:lnTo>
                  <a:pt x="789666" y="1345"/>
                </a:lnTo>
                <a:lnTo>
                  <a:pt x="850905" y="5307"/>
                </a:lnTo>
                <a:lnTo>
                  <a:pt x="910444" y="11777"/>
                </a:lnTo>
                <a:lnTo>
                  <a:pt x="968066" y="20644"/>
                </a:lnTo>
                <a:lnTo>
                  <a:pt x="1023553" y="31798"/>
                </a:lnTo>
                <a:lnTo>
                  <a:pt x="1076686" y="45129"/>
                </a:lnTo>
                <a:lnTo>
                  <a:pt x="1127247" y="60527"/>
                </a:lnTo>
                <a:lnTo>
                  <a:pt x="1175018" y="77883"/>
                </a:lnTo>
                <a:lnTo>
                  <a:pt x="1219780" y="97086"/>
                </a:lnTo>
                <a:lnTo>
                  <a:pt x="1261315" y="118027"/>
                </a:lnTo>
                <a:lnTo>
                  <a:pt x="1299404" y="140594"/>
                </a:lnTo>
                <a:lnTo>
                  <a:pt x="1333830" y="164679"/>
                </a:lnTo>
                <a:lnTo>
                  <a:pt x="1364375" y="190172"/>
                </a:lnTo>
                <a:lnTo>
                  <a:pt x="1412944" y="244939"/>
                </a:lnTo>
                <a:lnTo>
                  <a:pt x="1443367" y="304015"/>
                </a:lnTo>
                <a:lnTo>
                  <a:pt x="1453895" y="366522"/>
                </a:lnTo>
                <a:lnTo>
                  <a:pt x="1451227" y="398148"/>
                </a:lnTo>
                <a:lnTo>
                  <a:pt x="1430533" y="459050"/>
                </a:lnTo>
                <a:lnTo>
                  <a:pt x="1390819" y="516081"/>
                </a:lnTo>
                <a:lnTo>
                  <a:pt x="1333830" y="568364"/>
                </a:lnTo>
                <a:lnTo>
                  <a:pt x="1299404" y="592449"/>
                </a:lnTo>
                <a:lnTo>
                  <a:pt x="1261315" y="615016"/>
                </a:lnTo>
                <a:lnTo>
                  <a:pt x="1219780" y="635957"/>
                </a:lnTo>
                <a:lnTo>
                  <a:pt x="1175018" y="655160"/>
                </a:lnTo>
                <a:lnTo>
                  <a:pt x="1127247" y="672516"/>
                </a:lnTo>
                <a:lnTo>
                  <a:pt x="1076686" y="687914"/>
                </a:lnTo>
                <a:lnTo>
                  <a:pt x="1023553" y="701245"/>
                </a:lnTo>
                <a:lnTo>
                  <a:pt x="968066" y="712399"/>
                </a:lnTo>
                <a:lnTo>
                  <a:pt x="910444" y="721266"/>
                </a:lnTo>
                <a:lnTo>
                  <a:pt x="850905" y="727736"/>
                </a:lnTo>
                <a:lnTo>
                  <a:pt x="789666" y="731698"/>
                </a:lnTo>
                <a:lnTo>
                  <a:pt x="726947" y="733043"/>
                </a:lnTo>
                <a:lnTo>
                  <a:pt x="664229" y="731698"/>
                </a:lnTo>
                <a:lnTo>
                  <a:pt x="602990" y="727736"/>
                </a:lnTo>
                <a:lnTo>
                  <a:pt x="543451" y="721266"/>
                </a:lnTo>
                <a:lnTo>
                  <a:pt x="485829" y="712399"/>
                </a:lnTo>
                <a:lnTo>
                  <a:pt x="430342" y="701245"/>
                </a:lnTo>
                <a:lnTo>
                  <a:pt x="377209" y="687914"/>
                </a:lnTo>
                <a:lnTo>
                  <a:pt x="326648" y="672516"/>
                </a:lnTo>
                <a:lnTo>
                  <a:pt x="278877" y="655160"/>
                </a:lnTo>
                <a:lnTo>
                  <a:pt x="234115" y="635957"/>
                </a:lnTo>
                <a:lnTo>
                  <a:pt x="192580" y="615016"/>
                </a:lnTo>
                <a:lnTo>
                  <a:pt x="154491" y="592449"/>
                </a:lnTo>
                <a:lnTo>
                  <a:pt x="120065" y="568364"/>
                </a:lnTo>
                <a:lnTo>
                  <a:pt x="89520" y="542871"/>
                </a:lnTo>
                <a:lnTo>
                  <a:pt x="40951" y="488104"/>
                </a:lnTo>
                <a:lnTo>
                  <a:pt x="10528" y="429028"/>
                </a:lnTo>
                <a:lnTo>
                  <a:pt x="0" y="36652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5065521" y="2776169"/>
            <a:ext cx="109601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3200" spc="-300" b="1" i="1">
                <a:latin typeface="Times New Roman"/>
                <a:cs typeface="Times New Roman"/>
              </a:rPr>
              <a:t>ff</a:t>
            </a:r>
            <a:r>
              <a:rPr dirty="0" baseline="-21164" sz="3150" spc="-450" b="1" i="1">
                <a:latin typeface="Times New Roman"/>
                <a:cs typeface="Times New Roman"/>
              </a:rPr>
              <a:t>aa</a:t>
            </a:r>
            <a:r>
              <a:rPr dirty="0" sz="3200" spc="-300" b="1">
                <a:latin typeface="宋体"/>
                <a:cs typeface="宋体"/>
              </a:rPr>
              <a:t>，</a:t>
            </a:r>
            <a:r>
              <a:rPr dirty="0" sz="3200" spc="-300" b="1" i="1">
                <a:latin typeface="Times New Roman"/>
                <a:cs typeface="Times New Roman"/>
              </a:rPr>
              <a:t>g</a:t>
            </a:r>
            <a:r>
              <a:rPr dirty="0" baseline="-21164" sz="3150" spc="-450" b="1" i="1">
                <a:latin typeface="Times New Roman"/>
                <a:cs typeface="Times New Roman"/>
              </a:rPr>
              <a:t>b</a:t>
            </a:r>
            <a:endParaRPr baseline="-21164" sz="31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338315" y="2968370"/>
            <a:ext cx="739140" cy="171450"/>
          </a:xfrm>
          <a:custGeom>
            <a:avLst/>
            <a:gdLst/>
            <a:ahLst/>
            <a:cxnLst/>
            <a:rect l="l" t="t" r="r" b="b"/>
            <a:pathLst>
              <a:path w="739140" h="171450">
                <a:moveTo>
                  <a:pt x="171450" y="0"/>
                </a:moveTo>
                <a:lnTo>
                  <a:pt x="0" y="85725"/>
                </a:lnTo>
                <a:lnTo>
                  <a:pt x="171450" y="171450"/>
                </a:lnTo>
                <a:lnTo>
                  <a:pt x="171450" y="114300"/>
                </a:lnTo>
                <a:lnTo>
                  <a:pt x="142875" y="114300"/>
                </a:lnTo>
                <a:lnTo>
                  <a:pt x="142875" y="57150"/>
                </a:lnTo>
                <a:lnTo>
                  <a:pt x="171450" y="57150"/>
                </a:lnTo>
                <a:lnTo>
                  <a:pt x="171450" y="0"/>
                </a:lnTo>
                <a:close/>
              </a:path>
              <a:path w="739140" h="171450">
                <a:moveTo>
                  <a:pt x="171450" y="57150"/>
                </a:moveTo>
                <a:lnTo>
                  <a:pt x="142875" y="57150"/>
                </a:lnTo>
                <a:lnTo>
                  <a:pt x="142875" y="114300"/>
                </a:lnTo>
                <a:lnTo>
                  <a:pt x="171450" y="114300"/>
                </a:lnTo>
                <a:lnTo>
                  <a:pt x="171450" y="57150"/>
                </a:lnTo>
                <a:close/>
              </a:path>
              <a:path w="739140" h="171450">
                <a:moveTo>
                  <a:pt x="739139" y="57150"/>
                </a:moveTo>
                <a:lnTo>
                  <a:pt x="171450" y="57150"/>
                </a:lnTo>
                <a:lnTo>
                  <a:pt x="171450" y="114300"/>
                </a:lnTo>
                <a:lnTo>
                  <a:pt x="739139" y="114300"/>
                </a:lnTo>
                <a:lnTo>
                  <a:pt x="739139" y="5715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257419" y="3381755"/>
            <a:ext cx="171450" cy="838200"/>
          </a:xfrm>
          <a:custGeom>
            <a:avLst/>
            <a:gdLst/>
            <a:ahLst/>
            <a:cxnLst/>
            <a:rect l="l" t="t" r="r" b="b"/>
            <a:pathLst>
              <a:path w="171450" h="838200">
                <a:moveTo>
                  <a:pt x="114300" y="142875"/>
                </a:moveTo>
                <a:lnTo>
                  <a:pt x="57150" y="142875"/>
                </a:lnTo>
                <a:lnTo>
                  <a:pt x="57150" y="838200"/>
                </a:lnTo>
                <a:lnTo>
                  <a:pt x="114300" y="838200"/>
                </a:lnTo>
                <a:lnTo>
                  <a:pt x="114300" y="142875"/>
                </a:lnTo>
                <a:close/>
              </a:path>
              <a:path w="171450" h="838200">
                <a:moveTo>
                  <a:pt x="85725" y="0"/>
                </a:moveTo>
                <a:lnTo>
                  <a:pt x="0" y="171450"/>
                </a:lnTo>
                <a:lnTo>
                  <a:pt x="57150" y="171450"/>
                </a:lnTo>
                <a:lnTo>
                  <a:pt x="57150" y="142875"/>
                </a:lnTo>
                <a:lnTo>
                  <a:pt x="157162" y="142875"/>
                </a:lnTo>
                <a:lnTo>
                  <a:pt x="85725" y="0"/>
                </a:lnTo>
                <a:close/>
              </a:path>
              <a:path w="171450" h="838200">
                <a:moveTo>
                  <a:pt x="157162" y="142875"/>
                </a:moveTo>
                <a:lnTo>
                  <a:pt x="114300" y="142875"/>
                </a:lnTo>
                <a:lnTo>
                  <a:pt x="114300" y="171450"/>
                </a:lnTo>
                <a:lnTo>
                  <a:pt x="171450" y="171450"/>
                </a:lnTo>
                <a:lnTo>
                  <a:pt x="157162" y="14287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5292978" y="2597912"/>
            <a:ext cx="50038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006600"/>
                </a:solidFill>
                <a:latin typeface="Times New Roman"/>
                <a:cs typeface="Times New Roman"/>
              </a:rPr>
              <a:t>(1)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301610" y="2502788"/>
            <a:ext cx="50038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006600"/>
                </a:solidFill>
                <a:latin typeface="Times New Roman"/>
                <a:cs typeface="Times New Roman"/>
              </a:rPr>
              <a:t>(3)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219827" y="4050919"/>
            <a:ext cx="50038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006600"/>
                </a:solidFill>
                <a:latin typeface="Times New Roman"/>
                <a:cs typeface="Times New Roman"/>
              </a:rPr>
              <a:t>(3)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222997" y="5606034"/>
            <a:ext cx="787907" cy="82600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222997" y="5606034"/>
            <a:ext cx="788035" cy="826135"/>
          </a:xfrm>
          <a:custGeom>
            <a:avLst/>
            <a:gdLst/>
            <a:ahLst/>
            <a:cxnLst/>
            <a:rect l="l" t="t" r="r" b="b"/>
            <a:pathLst>
              <a:path w="788034" h="826135">
                <a:moveTo>
                  <a:pt x="0" y="413003"/>
                </a:moveTo>
                <a:lnTo>
                  <a:pt x="2650" y="364839"/>
                </a:lnTo>
                <a:lnTo>
                  <a:pt x="10405" y="318307"/>
                </a:lnTo>
                <a:lnTo>
                  <a:pt x="22969" y="273716"/>
                </a:lnTo>
                <a:lnTo>
                  <a:pt x="40046" y="231376"/>
                </a:lnTo>
                <a:lnTo>
                  <a:pt x="61339" y="191599"/>
                </a:lnTo>
                <a:lnTo>
                  <a:pt x="86554" y="154692"/>
                </a:lnTo>
                <a:lnTo>
                  <a:pt x="115395" y="120967"/>
                </a:lnTo>
                <a:lnTo>
                  <a:pt x="147565" y="90733"/>
                </a:lnTo>
                <a:lnTo>
                  <a:pt x="182770" y="64300"/>
                </a:lnTo>
                <a:lnTo>
                  <a:pt x="220713" y="41978"/>
                </a:lnTo>
                <a:lnTo>
                  <a:pt x="261098" y="24077"/>
                </a:lnTo>
                <a:lnTo>
                  <a:pt x="303631" y="10907"/>
                </a:lnTo>
                <a:lnTo>
                  <a:pt x="348015" y="2778"/>
                </a:lnTo>
                <a:lnTo>
                  <a:pt x="393953" y="0"/>
                </a:lnTo>
                <a:lnTo>
                  <a:pt x="439892" y="2778"/>
                </a:lnTo>
                <a:lnTo>
                  <a:pt x="484276" y="10907"/>
                </a:lnTo>
                <a:lnTo>
                  <a:pt x="526809" y="24077"/>
                </a:lnTo>
                <a:lnTo>
                  <a:pt x="567194" y="41978"/>
                </a:lnTo>
                <a:lnTo>
                  <a:pt x="605137" y="64300"/>
                </a:lnTo>
                <a:lnTo>
                  <a:pt x="640342" y="90733"/>
                </a:lnTo>
                <a:lnTo>
                  <a:pt x="672512" y="120967"/>
                </a:lnTo>
                <a:lnTo>
                  <a:pt x="701353" y="154692"/>
                </a:lnTo>
                <a:lnTo>
                  <a:pt x="726568" y="191599"/>
                </a:lnTo>
                <a:lnTo>
                  <a:pt x="747861" y="231376"/>
                </a:lnTo>
                <a:lnTo>
                  <a:pt x="764938" y="273716"/>
                </a:lnTo>
                <a:lnTo>
                  <a:pt x="777502" y="318307"/>
                </a:lnTo>
                <a:lnTo>
                  <a:pt x="785257" y="364839"/>
                </a:lnTo>
                <a:lnTo>
                  <a:pt x="787907" y="413003"/>
                </a:lnTo>
                <a:lnTo>
                  <a:pt x="785257" y="461168"/>
                </a:lnTo>
                <a:lnTo>
                  <a:pt x="777502" y="507700"/>
                </a:lnTo>
                <a:lnTo>
                  <a:pt x="764938" y="552291"/>
                </a:lnTo>
                <a:lnTo>
                  <a:pt x="747861" y="594631"/>
                </a:lnTo>
                <a:lnTo>
                  <a:pt x="726568" y="634408"/>
                </a:lnTo>
                <a:lnTo>
                  <a:pt x="701353" y="671315"/>
                </a:lnTo>
                <a:lnTo>
                  <a:pt x="672512" y="705040"/>
                </a:lnTo>
                <a:lnTo>
                  <a:pt x="640342" y="735274"/>
                </a:lnTo>
                <a:lnTo>
                  <a:pt x="605137" y="761707"/>
                </a:lnTo>
                <a:lnTo>
                  <a:pt x="567194" y="784029"/>
                </a:lnTo>
                <a:lnTo>
                  <a:pt x="526809" y="801930"/>
                </a:lnTo>
                <a:lnTo>
                  <a:pt x="484276" y="815100"/>
                </a:lnTo>
                <a:lnTo>
                  <a:pt x="439892" y="823229"/>
                </a:lnTo>
                <a:lnTo>
                  <a:pt x="393953" y="826007"/>
                </a:lnTo>
                <a:lnTo>
                  <a:pt x="348015" y="823229"/>
                </a:lnTo>
                <a:lnTo>
                  <a:pt x="303631" y="815100"/>
                </a:lnTo>
                <a:lnTo>
                  <a:pt x="261098" y="801930"/>
                </a:lnTo>
                <a:lnTo>
                  <a:pt x="220713" y="784029"/>
                </a:lnTo>
                <a:lnTo>
                  <a:pt x="182770" y="761707"/>
                </a:lnTo>
                <a:lnTo>
                  <a:pt x="147565" y="735274"/>
                </a:lnTo>
                <a:lnTo>
                  <a:pt x="115395" y="705040"/>
                </a:lnTo>
                <a:lnTo>
                  <a:pt x="86554" y="671315"/>
                </a:lnTo>
                <a:lnTo>
                  <a:pt x="61339" y="634408"/>
                </a:lnTo>
                <a:lnTo>
                  <a:pt x="40046" y="594631"/>
                </a:lnTo>
                <a:lnTo>
                  <a:pt x="22969" y="552291"/>
                </a:lnTo>
                <a:lnTo>
                  <a:pt x="10405" y="507700"/>
                </a:lnTo>
                <a:lnTo>
                  <a:pt x="2650" y="461168"/>
                </a:lnTo>
                <a:lnTo>
                  <a:pt x="0" y="413003"/>
                </a:lnTo>
                <a:close/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7433818" y="5736742"/>
            <a:ext cx="22923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 i="1">
                <a:latin typeface="Times New Roman"/>
                <a:cs typeface="Times New Roman"/>
              </a:rPr>
              <a:t>g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638415" y="5972962"/>
            <a:ext cx="161290" cy="3511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00" spc="15" b="1" i="1">
                <a:latin typeface="Times New Roman"/>
                <a:cs typeface="Times New Roman"/>
              </a:rPr>
              <a:t>#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4872990" y="5606034"/>
            <a:ext cx="1453896" cy="82600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872990" y="5606034"/>
            <a:ext cx="1454150" cy="826135"/>
          </a:xfrm>
          <a:custGeom>
            <a:avLst/>
            <a:gdLst/>
            <a:ahLst/>
            <a:cxnLst/>
            <a:rect l="l" t="t" r="r" b="b"/>
            <a:pathLst>
              <a:path w="1454150" h="826135">
                <a:moveTo>
                  <a:pt x="0" y="413003"/>
                </a:moveTo>
                <a:lnTo>
                  <a:pt x="9515" y="346013"/>
                </a:lnTo>
                <a:lnTo>
                  <a:pt x="37063" y="282464"/>
                </a:lnTo>
                <a:lnTo>
                  <a:pt x="81147" y="223206"/>
                </a:lnTo>
                <a:lnTo>
                  <a:pt x="108921" y="195452"/>
                </a:lnTo>
                <a:lnTo>
                  <a:pt x="140268" y="169090"/>
                </a:lnTo>
                <a:lnTo>
                  <a:pt x="175001" y="144226"/>
                </a:lnTo>
                <a:lnTo>
                  <a:pt x="212931" y="120967"/>
                </a:lnTo>
                <a:lnTo>
                  <a:pt x="253872" y="99418"/>
                </a:lnTo>
                <a:lnTo>
                  <a:pt x="297637" y="79686"/>
                </a:lnTo>
                <a:lnTo>
                  <a:pt x="344038" y="61878"/>
                </a:lnTo>
                <a:lnTo>
                  <a:pt x="392889" y="46099"/>
                </a:lnTo>
                <a:lnTo>
                  <a:pt x="444001" y="32456"/>
                </a:lnTo>
                <a:lnTo>
                  <a:pt x="497189" y="21055"/>
                </a:lnTo>
                <a:lnTo>
                  <a:pt x="552265" y="12003"/>
                </a:lnTo>
                <a:lnTo>
                  <a:pt x="609041" y="5405"/>
                </a:lnTo>
                <a:lnTo>
                  <a:pt x="667331" y="1369"/>
                </a:lnTo>
                <a:lnTo>
                  <a:pt x="726948" y="0"/>
                </a:lnTo>
                <a:lnTo>
                  <a:pt x="786564" y="1369"/>
                </a:lnTo>
                <a:lnTo>
                  <a:pt x="844854" y="5405"/>
                </a:lnTo>
                <a:lnTo>
                  <a:pt x="901630" y="12003"/>
                </a:lnTo>
                <a:lnTo>
                  <a:pt x="956706" y="21055"/>
                </a:lnTo>
                <a:lnTo>
                  <a:pt x="1009894" y="32456"/>
                </a:lnTo>
                <a:lnTo>
                  <a:pt x="1061006" y="46099"/>
                </a:lnTo>
                <a:lnTo>
                  <a:pt x="1109857" y="61878"/>
                </a:lnTo>
                <a:lnTo>
                  <a:pt x="1156258" y="79686"/>
                </a:lnTo>
                <a:lnTo>
                  <a:pt x="1200023" y="99418"/>
                </a:lnTo>
                <a:lnTo>
                  <a:pt x="1240964" y="120967"/>
                </a:lnTo>
                <a:lnTo>
                  <a:pt x="1278894" y="144226"/>
                </a:lnTo>
                <a:lnTo>
                  <a:pt x="1313627" y="169090"/>
                </a:lnTo>
                <a:lnTo>
                  <a:pt x="1344974" y="195452"/>
                </a:lnTo>
                <a:lnTo>
                  <a:pt x="1372748" y="223206"/>
                </a:lnTo>
                <a:lnTo>
                  <a:pt x="1416832" y="282464"/>
                </a:lnTo>
                <a:lnTo>
                  <a:pt x="1444380" y="346013"/>
                </a:lnTo>
                <a:lnTo>
                  <a:pt x="1453896" y="413003"/>
                </a:lnTo>
                <a:lnTo>
                  <a:pt x="1451485" y="446876"/>
                </a:lnTo>
                <a:lnTo>
                  <a:pt x="1432766" y="512252"/>
                </a:lnTo>
                <a:lnTo>
                  <a:pt x="1396763" y="573762"/>
                </a:lnTo>
                <a:lnTo>
                  <a:pt x="1344974" y="630555"/>
                </a:lnTo>
                <a:lnTo>
                  <a:pt x="1313627" y="656917"/>
                </a:lnTo>
                <a:lnTo>
                  <a:pt x="1278894" y="681781"/>
                </a:lnTo>
                <a:lnTo>
                  <a:pt x="1240964" y="705040"/>
                </a:lnTo>
                <a:lnTo>
                  <a:pt x="1200023" y="726589"/>
                </a:lnTo>
                <a:lnTo>
                  <a:pt x="1156258" y="746321"/>
                </a:lnTo>
                <a:lnTo>
                  <a:pt x="1109857" y="764129"/>
                </a:lnTo>
                <a:lnTo>
                  <a:pt x="1061006" y="779908"/>
                </a:lnTo>
                <a:lnTo>
                  <a:pt x="1009894" y="793551"/>
                </a:lnTo>
                <a:lnTo>
                  <a:pt x="956706" y="804952"/>
                </a:lnTo>
                <a:lnTo>
                  <a:pt x="901630" y="814004"/>
                </a:lnTo>
                <a:lnTo>
                  <a:pt x="844854" y="820602"/>
                </a:lnTo>
                <a:lnTo>
                  <a:pt x="786564" y="824638"/>
                </a:lnTo>
                <a:lnTo>
                  <a:pt x="726948" y="826007"/>
                </a:lnTo>
                <a:lnTo>
                  <a:pt x="667331" y="824638"/>
                </a:lnTo>
                <a:lnTo>
                  <a:pt x="609041" y="820602"/>
                </a:lnTo>
                <a:lnTo>
                  <a:pt x="552265" y="814004"/>
                </a:lnTo>
                <a:lnTo>
                  <a:pt x="497189" y="804952"/>
                </a:lnTo>
                <a:lnTo>
                  <a:pt x="444001" y="793551"/>
                </a:lnTo>
                <a:lnTo>
                  <a:pt x="392889" y="779908"/>
                </a:lnTo>
                <a:lnTo>
                  <a:pt x="344038" y="764129"/>
                </a:lnTo>
                <a:lnTo>
                  <a:pt x="297637" y="746321"/>
                </a:lnTo>
                <a:lnTo>
                  <a:pt x="253872" y="726589"/>
                </a:lnTo>
                <a:lnTo>
                  <a:pt x="212931" y="705040"/>
                </a:lnTo>
                <a:lnTo>
                  <a:pt x="175001" y="681781"/>
                </a:lnTo>
                <a:lnTo>
                  <a:pt x="140268" y="656917"/>
                </a:lnTo>
                <a:lnTo>
                  <a:pt x="108921" y="630555"/>
                </a:lnTo>
                <a:lnTo>
                  <a:pt x="81147" y="602801"/>
                </a:lnTo>
                <a:lnTo>
                  <a:pt x="37063" y="543543"/>
                </a:lnTo>
                <a:lnTo>
                  <a:pt x="9515" y="479994"/>
                </a:lnTo>
                <a:lnTo>
                  <a:pt x="0" y="413003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5188330" y="5741314"/>
            <a:ext cx="96075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1164" sz="3150" spc="-1110" b="1">
                <a:latin typeface="Times New Roman"/>
                <a:cs typeface="Times New Roman"/>
              </a:rPr>
              <a:t>#</a:t>
            </a:r>
            <a:r>
              <a:rPr dirty="0" sz="3200" spc="-740" b="1">
                <a:latin typeface="宋体"/>
                <a:cs typeface="宋体"/>
              </a:rPr>
              <a:t>，</a:t>
            </a:r>
            <a:r>
              <a:rPr dirty="0" baseline="-6076" sz="4800" spc="-1110" b="1" i="1">
                <a:latin typeface="Times New Roman"/>
                <a:cs typeface="Times New Roman"/>
              </a:rPr>
              <a:t>f</a:t>
            </a:r>
            <a:r>
              <a:rPr dirty="0" baseline="-30423" sz="3150" spc="-1110" b="1" i="1">
                <a:latin typeface="Times New Roman"/>
                <a:cs typeface="Times New Roman"/>
              </a:rPr>
              <a:t>#</a:t>
            </a:r>
            <a:r>
              <a:rPr dirty="0" baseline="-30423" sz="3150" spc="397" b="1" i="1">
                <a:latin typeface="Times New Roman"/>
                <a:cs typeface="Times New Roman"/>
              </a:rPr>
              <a:t> </a:t>
            </a:r>
            <a:r>
              <a:rPr dirty="0" sz="3200" spc="10" b="1" i="1">
                <a:latin typeface="Times New Roman"/>
                <a:cs typeface="Times New Roman"/>
              </a:rPr>
              <a:t>g</a:t>
            </a:r>
            <a:r>
              <a:rPr dirty="0" baseline="-21164" sz="3150" spc="15" b="1">
                <a:latin typeface="Times New Roman"/>
                <a:cs typeface="Times New Roman"/>
              </a:rPr>
              <a:t>#</a:t>
            </a:r>
            <a:endParaRPr baseline="-21164" sz="315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5271896" y="5026152"/>
            <a:ext cx="285750" cy="579120"/>
          </a:xfrm>
          <a:custGeom>
            <a:avLst/>
            <a:gdLst/>
            <a:ahLst/>
            <a:cxnLst/>
            <a:rect l="l" t="t" r="r" b="b"/>
            <a:pathLst>
              <a:path w="285750" h="579120">
                <a:moveTo>
                  <a:pt x="114300" y="407670"/>
                </a:moveTo>
                <a:lnTo>
                  <a:pt x="0" y="407670"/>
                </a:lnTo>
                <a:lnTo>
                  <a:pt x="142875" y="579120"/>
                </a:lnTo>
                <a:lnTo>
                  <a:pt x="261937" y="436245"/>
                </a:lnTo>
                <a:lnTo>
                  <a:pt x="114300" y="436245"/>
                </a:lnTo>
                <a:lnTo>
                  <a:pt x="114300" y="407670"/>
                </a:lnTo>
                <a:close/>
              </a:path>
              <a:path w="285750" h="579120">
                <a:moveTo>
                  <a:pt x="171450" y="0"/>
                </a:moveTo>
                <a:lnTo>
                  <a:pt x="114300" y="0"/>
                </a:lnTo>
                <a:lnTo>
                  <a:pt x="114300" y="436245"/>
                </a:lnTo>
                <a:lnTo>
                  <a:pt x="171450" y="436245"/>
                </a:lnTo>
                <a:lnTo>
                  <a:pt x="171450" y="0"/>
                </a:lnTo>
                <a:close/>
              </a:path>
              <a:path w="285750" h="579120">
                <a:moveTo>
                  <a:pt x="285750" y="407670"/>
                </a:moveTo>
                <a:lnTo>
                  <a:pt x="171450" y="407670"/>
                </a:lnTo>
                <a:lnTo>
                  <a:pt x="171450" y="436245"/>
                </a:lnTo>
                <a:lnTo>
                  <a:pt x="261937" y="436245"/>
                </a:lnTo>
                <a:lnTo>
                  <a:pt x="285750" y="40767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6087490" y="3293745"/>
            <a:ext cx="1149985" cy="2433320"/>
          </a:xfrm>
          <a:custGeom>
            <a:avLst/>
            <a:gdLst/>
            <a:ahLst/>
            <a:cxnLst/>
            <a:rect l="l" t="t" r="r" b="b"/>
            <a:pathLst>
              <a:path w="1149984" h="2433320">
                <a:moveTo>
                  <a:pt x="25526" y="2155316"/>
                </a:moveTo>
                <a:lnTo>
                  <a:pt x="14662" y="2158700"/>
                </a:lnTo>
                <a:lnTo>
                  <a:pt x="6238" y="2165715"/>
                </a:lnTo>
                <a:lnTo>
                  <a:pt x="1077" y="2175373"/>
                </a:lnTo>
                <a:lnTo>
                  <a:pt x="0" y="2186685"/>
                </a:lnTo>
                <a:lnTo>
                  <a:pt x="25273" y="2432862"/>
                </a:lnTo>
                <a:lnTo>
                  <a:pt x="81406" y="2393035"/>
                </a:lnTo>
                <a:lnTo>
                  <a:pt x="74675" y="2393035"/>
                </a:lnTo>
                <a:lnTo>
                  <a:pt x="22606" y="2369413"/>
                </a:lnTo>
                <a:lnTo>
                  <a:pt x="66326" y="2273065"/>
                </a:lnTo>
                <a:lnTo>
                  <a:pt x="56896" y="2180843"/>
                </a:lnTo>
                <a:lnTo>
                  <a:pt x="53512" y="2169997"/>
                </a:lnTo>
                <a:lnTo>
                  <a:pt x="46497" y="2161603"/>
                </a:lnTo>
                <a:lnTo>
                  <a:pt x="36839" y="2156448"/>
                </a:lnTo>
                <a:lnTo>
                  <a:pt x="25526" y="2155316"/>
                </a:lnTo>
                <a:close/>
              </a:path>
              <a:path w="1149984" h="2433320">
                <a:moveTo>
                  <a:pt x="66326" y="2273065"/>
                </a:moveTo>
                <a:lnTo>
                  <a:pt x="22606" y="2369413"/>
                </a:lnTo>
                <a:lnTo>
                  <a:pt x="74675" y="2393035"/>
                </a:lnTo>
                <a:lnTo>
                  <a:pt x="81355" y="2378316"/>
                </a:lnTo>
                <a:lnTo>
                  <a:pt x="77088" y="2378316"/>
                </a:lnTo>
                <a:lnTo>
                  <a:pt x="32131" y="2357920"/>
                </a:lnTo>
                <a:lnTo>
                  <a:pt x="72104" y="2329568"/>
                </a:lnTo>
                <a:lnTo>
                  <a:pt x="66326" y="2273065"/>
                </a:lnTo>
                <a:close/>
              </a:path>
              <a:path w="1149984" h="2433320">
                <a:moveTo>
                  <a:pt x="215376" y="2238216"/>
                </a:moveTo>
                <a:lnTo>
                  <a:pt x="204412" y="2238466"/>
                </a:lnTo>
                <a:lnTo>
                  <a:pt x="194056" y="2243073"/>
                </a:lnTo>
                <a:lnTo>
                  <a:pt x="118364" y="2296758"/>
                </a:lnTo>
                <a:lnTo>
                  <a:pt x="74675" y="2393035"/>
                </a:lnTo>
                <a:lnTo>
                  <a:pt x="81406" y="2393035"/>
                </a:lnTo>
                <a:lnTo>
                  <a:pt x="227075" y="2289682"/>
                </a:lnTo>
                <a:lnTo>
                  <a:pt x="234880" y="2281471"/>
                </a:lnTo>
                <a:lnTo>
                  <a:pt x="238744" y="2271236"/>
                </a:lnTo>
                <a:lnTo>
                  <a:pt x="238488" y="2260286"/>
                </a:lnTo>
                <a:lnTo>
                  <a:pt x="233934" y="2249931"/>
                </a:lnTo>
                <a:lnTo>
                  <a:pt x="225649" y="2242109"/>
                </a:lnTo>
                <a:lnTo>
                  <a:pt x="215376" y="2238216"/>
                </a:lnTo>
                <a:close/>
              </a:path>
              <a:path w="1149984" h="2433320">
                <a:moveTo>
                  <a:pt x="72104" y="2329568"/>
                </a:moveTo>
                <a:lnTo>
                  <a:pt x="32131" y="2357920"/>
                </a:lnTo>
                <a:lnTo>
                  <a:pt x="77088" y="2378316"/>
                </a:lnTo>
                <a:lnTo>
                  <a:pt x="72104" y="2329568"/>
                </a:lnTo>
                <a:close/>
              </a:path>
              <a:path w="1149984" h="2433320">
                <a:moveTo>
                  <a:pt x="118364" y="2296758"/>
                </a:moveTo>
                <a:lnTo>
                  <a:pt x="72104" y="2329568"/>
                </a:lnTo>
                <a:lnTo>
                  <a:pt x="77088" y="2378316"/>
                </a:lnTo>
                <a:lnTo>
                  <a:pt x="81355" y="2378316"/>
                </a:lnTo>
                <a:lnTo>
                  <a:pt x="118364" y="2296758"/>
                </a:lnTo>
                <a:close/>
              </a:path>
              <a:path w="1149984" h="2433320">
                <a:moveTo>
                  <a:pt x="1097788" y="0"/>
                </a:moveTo>
                <a:lnTo>
                  <a:pt x="66326" y="2273065"/>
                </a:lnTo>
                <a:lnTo>
                  <a:pt x="72104" y="2329568"/>
                </a:lnTo>
                <a:lnTo>
                  <a:pt x="118364" y="2296758"/>
                </a:lnTo>
                <a:lnTo>
                  <a:pt x="1149858" y="23621"/>
                </a:lnTo>
                <a:lnTo>
                  <a:pt x="1097788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5052695" y="5505399"/>
            <a:ext cx="79756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32118" sz="4800" b="1" i="1">
                <a:latin typeface="Times New Roman"/>
                <a:cs typeface="Times New Roman"/>
              </a:rPr>
              <a:t>f </a:t>
            </a:r>
            <a:r>
              <a:rPr dirty="0" sz="3200" b="1">
                <a:solidFill>
                  <a:srgbClr val="006600"/>
                </a:solidFill>
                <a:latin typeface="Times New Roman"/>
                <a:cs typeface="Times New Roman"/>
              </a:rPr>
              <a:t>(1)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47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269107" y="26923"/>
            <a:ext cx="181800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算符优先分析法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02021" y="26923"/>
            <a:ext cx="27736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183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优先函数表的构造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68451" y="3051046"/>
            <a:ext cx="8243316" cy="36896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47191" y="2877413"/>
            <a:ext cx="6168390" cy="3822700"/>
          </a:xfrm>
          <a:prstGeom prst="rect">
            <a:avLst/>
          </a:prstGeom>
        </p:spPr>
        <p:txBody>
          <a:bodyPr wrap="square" lIns="0" tIns="151130" rIns="0" bIns="0" rtlCol="0" vert="horz">
            <a:spAutoFit/>
          </a:bodyPr>
          <a:lstStyle/>
          <a:p>
            <a:pPr marL="114300">
              <a:lnSpc>
                <a:spcPct val="100000"/>
              </a:lnSpc>
              <a:spcBef>
                <a:spcPts val="1190"/>
              </a:spcBef>
            </a:pPr>
            <a:r>
              <a:rPr dirty="0" sz="3200" b="1">
                <a:latin typeface="宋体"/>
                <a:cs typeface="宋体"/>
              </a:rPr>
              <a:t>检查构造的优先函数：</a:t>
            </a:r>
            <a:endParaRPr sz="3200">
              <a:latin typeface="宋体"/>
              <a:cs typeface="宋体"/>
            </a:endParaRPr>
          </a:p>
          <a:p>
            <a:pPr marL="927100">
              <a:lnSpc>
                <a:spcPct val="100000"/>
              </a:lnSpc>
              <a:spcBef>
                <a:spcPts val="1090"/>
              </a:spcBef>
            </a:pPr>
            <a:r>
              <a:rPr dirty="0" sz="3200" b="1">
                <a:latin typeface="宋体"/>
                <a:cs typeface="宋体"/>
              </a:rPr>
              <a:t>对</a:t>
            </a:r>
            <a:r>
              <a:rPr dirty="0" sz="3200" b="1" i="1">
                <a:latin typeface="Times New Roman"/>
                <a:cs typeface="Times New Roman"/>
              </a:rPr>
              <a:t>a</a:t>
            </a:r>
            <a:r>
              <a:rPr dirty="0" sz="3200" b="1" i="1">
                <a:latin typeface="Lucida Sans Unicode"/>
                <a:cs typeface="Lucida Sans Unicode"/>
              </a:rPr>
              <a:t>⋖</a:t>
            </a:r>
            <a:r>
              <a:rPr dirty="0" sz="3200" b="1" i="1">
                <a:latin typeface="Times New Roman"/>
                <a:cs typeface="Times New Roman"/>
              </a:rPr>
              <a:t>a</a:t>
            </a:r>
            <a:r>
              <a:rPr dirty="0" sz="3200" b="1">
                <a:latin typeface="宋体"/>
                <a:cs typeface="宋体"/>
              </a:rPr>
              <a:t>，</a:t>
            </a:r>
            <a:r>
              <a:rPr dirty="0" sz="3200" b="1" i="1">
                <a:latin typeface="Times New Roman"/>
                <a:cs typeface="Times New Roman"/>
              </a:rPr>
              <a:t>f</a:t>
            </a:r>
            <a:r>
              <a:rPr dirty="0" sz="3200" spc="-50" b="1" i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(</a:t>
            </a:r>
            <a:r>
              <a:rPr dirty="0" sz="3200" b="1" i="1">
                <a:latin typeface="Times New Roman"/>
                <a:cs typeface="Times New Roman"/>
              </a:rPr>
              <a:t>a</a:t>
            </a:r>
            <a:r>
              <a:rPr dirty="0" sz="3200" b="1">
                <a:latin typeface="Times New Roman"/>
                <a:cs typeface="Times New Roman"/>
              </a:rPr>
              <a:t>)</a:t>
            </a:r>
            <a:r>
              <a:rPr dirty="0" sz="3200" b="1">
                <a:latin typeface="宋体"/>
                <a:cs typeface="宋体"/>
              </a:rPr>
              <a:t>＜</a:t>
            </a:r>
            <a:r>
              <a:rPr dirty="0" sz="3200" b="1" i="1">
                <a:latin typeface="Times New Roman"/>
                <a:cs typeface="Times New Roman"/>
              </a:rPr>
              <a:t>g</a:t>
            </a:r>
            <a:r>
              <a:rPr dirty="0" sz="3200" spc="-40" b="1" i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(</a:t>
            </a:r>
            <a:r>
              <a:rPr dirty="0" sz="3200" b="1" i="1">
                <a:latin typeface="Times New Roman"/>
                <a:cs typeface="Times New Roman"/>
              </a:rPr>
              <a:t>a</a:t>
            </a:r>
            <a:r>
              <a:rPr dirty="0" sz="3200" b="1">
                <a:latin typeface="Times New Roman"/>
                <a:cs typeface="Times New Roman"/>
              </a:rPr>
              <a:t>)</a:t>
            </a:r>
            <a:r>
              <a:rPr dirty="0" sz="3200" b="1">
                <a:latin typeface="宋体"/>
                <a:cs typeface="宋体"/>
              </a:rPr>
              <a:t>有</a:t>
            </a:r>
            <a:r>
              <a:rPr dirty="0" sz="3200" spc="-5" b="1">
                <a:latin typeface="Times New Roman"/>
                <a:cs typeface="Times New Roman"/>
              </a:rPr>
              <a:t>1</a:t>
            </a:r>
            <a:r>
              <a:rPr dirty="0" sz="3200" spc="-5" b="1">
                <a:latin typeface="宋体"/>
                <a:cs typeface="宋体"/>
              </a:rPr>
              <a:t>＜</a:t>
            </a:r>
            <a:r>
              <a:rPr dirty="0" sz="3200" spc="-5" b="1">
                <a:latin typeface="Times New Roman"/>
                <a:cs typeface="Times New Roman"/>
              </a:rPr>
              <a:t>3</a:t>
            </a:r>
            <a:r>
              <a:rPr dirty="0" sz="3200" spc="-5" b="1">
                <a:latin typeface="宋体"/>
                <a:cs typeface="宋体"/>
              </a:rPr>
              <a:t>；</a:t>
            </a:r>
            <a:endParaRPr sz="3200">
              <a:latin typeface="宋体"/>
              <a:cs typeface="宋体"/>
            </a:endParaRPr>
          </a:p>
          <a:p>
            <a:pPr marL="927100" marR="5080">
              <a:lnSpc>
                <a:spcPct val="130000"/>
              </a:lnSpc>
              <a:spcBef>
                <a:spcPts val="5"/>
              </a:spcBef>
            </a:pPr>
            <a:r>
              <a:rPr dirty="0" sz="3200" b="1">
                <a:latin typeface="宋体"/>
                <a:cs typeface="宋体"/>
              </a:rPr>
              <a:t>对</a:t>
            </a:r>
            <a:r>
              <a:rPr dirty="0" sz="3200" b="1" i="1">
                <a:latin typeface="Times New Roman"/>
                <a:cs typeface="Times New Roman"/>
              </a:rPr>
              <a:t>b</a:t>
            </a:r>
            <a:r>
              <a:rPr dirty="0" sz="3200" b="1" i="1">
                <a:latin typeface="Lucida Sans Unicode"/>
                <a:cs typeface="Lucida Sans Unicode"/>
              </a:rPr>
              <a:t>⋗</a:t>
            </a:r>
            <a:r>
              <a:rPr dirty="0" sz="3200" b="1" i="1">
                <a:latin typeface="Times New Roman"/>
                <a:cs typeface="Times New Roman"/>
              </a:rPr>
              <a:t>b</a:t>
            </a:r>
            <a:r>
              <a:rPr dirty="0" sz="3200" b="1">
                <a:latin typeface="宋体"/>
                <a:cs typeface="宋体"/>
              </a:rPr>
              <a:t>，</a:t>
            </a:r>
            <a:r>
              <a:rPr dirty="0" sz="3200" b="1" i="1">
                <a:latin typeface="Times New Roman"/>
                <a:cs typeface="Times New Roman"/>
              </a:rPr>
              <a:t>f</a:t>
            </a:r>
            <a:r>
              <a:rPr dirty="0" sz="3200" spc="-50" b="1" i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(</a:t>
            </a:r>
            <a:r>
              <a:rPr dirty="0" sz="3200" b="1" i="1">
                <a:latin typeface="Times New Roman"/>
                <a:cs typeface="Times New Roman"/>
              </a:rPr>
              <a:t>b</a:t>
            </a:r>
            <a:r>
              <a:rPr dirty="0" sz="3200" b="1">
                <a:latin typeface="Times New Roman"/>
                <a:cs typeface="Times New Roman"/>
              </a:rPr>
              <a:t>)</a:t>
            </a:r>
            <a:r>
              <a:rPr dirty="0" sz="3200" b="1">
                <a:latin typeface="宋体"/>
                <a:cs typeface="宋体"/>
              </a:rPr>
              <a:t>＞</a:t>
            </a:r>
            <a:r>
              <a:rPr dirty="0" sz="3200" b="1" i="1">
                <a:latin typeface="Times New Roman"/>
                <a:cs typeface="Times New Roman"/>
              </a:rPr>
              <a:t>g</a:t>
            </a:r>
            <a:r>
              <a:rPr dirty="0" sz="3200" spc="-40" b="1" i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(</a:t>
            </a:r>
            <a:r>
              <a:rPr dirty="0" sz="3200" b="1" i="1">
                <a:latin typeface="Times New Roman"/>
                <a:cs typeface="Times New Roman"/>
              </a:rPr>
              <a:t>b</a:t>
            </a:r>
            <a:r>
              <a:rPr dirty="0" sz="3200" b="1">
                <a:latin typeface="Times New Roman"/>
                <a:cs typeface="Times New Roman"/>
              </a:rPr>
              <a:t>)</a:t>
            </a:r>
            <a:r>
              <a:rPr dirty="0" sz="3200" b="1">
                <a:latin typeface="宋体"/>
                <a:cs typeface="宋体"/>
              </a:rPr>
              <a:t>有</a:t>
            </a:r>
            <a:r>
              <a:rPr dirty="0" sz="3200" spc="-5" b="1">
                <a:latin typeface="Times New Roman"/>
                <a:cs typeface="Times New Roman"/>
              </a:rPr>
              <a:t>3</a:t>
            </a:r>
            <a:r>
              <a:rPr dirty="0" sz="3200" spc="-5" b="1">
                <a:latin typeface="宋体"/>
                <a:cs typeface="宋体"/>
              </a:rPr>
              <a:t>＞</a:t>
            </a:r>
            <a:r>
              <a:rPr dirty="0" sz="3200" spc="-5" b="1">
                <a:latin typeface="Times New Roman"/>
                <a:cs typeface="Times New Roman"/>
              </a:rPr>
              <a:t>1</a:t>
            </a:r>
            <a:r>
              <a:rPr dirty="0" sz="3200" spc="-5" b="1">
                <a:latin typeface="宋体"/>
                <a:cs typeface="宋体"/>
              </a:rPr>
              <a:t>；  </a:t>
            </a:r>
            <a:r>
              <a:rPr dirty="0" sz="3200" b="1">
                <a:latin typeface="宋体"/>
                <a:cs typeface="宋体"/>
              </a:rPr>
              <a:t>对</a:t>
            </a:r>
            <a:r>
              <a:rPr dirty="0" sz="3200" spc="5" b="1" i="1">
                <a:latin typeface="Times New Roman"/>
                <a:cs typeface="Times New Roman"/>
              </a:rPr>
              <a:t>b</a:t>
            </a:r>
            <a:r>
              <a:rPr dirty="0" sz="3200" spc="5" b="1" i="1">
                <a:latin typeface="Lucida Sans Unicode"/>
                <a:cs typeface="Lucida Sans Unicode"/>
              </a:rPr>
              <a:t>⋗#</a:t>
            </a:r>
            <a:r>
              <a:rPr dirty="0" sz="3200" spc="5" b="1">
                <a:latin typeface="宋体"/>
                <a:cs typeface="宋体"/>
              </a:rPr>
              <a:t>，</a:t>
            </a:r>
            <a:r>
              <a:rPr dirty="0" sz="3200" spc="5" b="1" i="1">
                <a:latin typeface="Times New Roman"/>
                <a:cs typeface="Times New Roman"/>
              </a:rPr>
              <a:t>f</a:t>
            </a:r>
            <a:r>
              <a:rPr dirty="0" sz="3200" spc="-65" b="1" i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(</a:t>
            </a:r>
            <a:r>
              <a:rPr dirty="0" sz="3200" b="1" i="1">
                <a:latin typeface="Times New Roman"/>
                <a:cs typeface="Times New Roman"/>
              </a:rPr>
              <a:t>b</a:t>
            </a:r>
            <a:r>
              <a:rPr dirty="0" sz="3200" b="1">
                <a:latin typeface="Times New Roman"/>
                <a:cs typeface="Times New Roman"/>
              </a:rPr>
              <a:t>)</a:t>
            </a:r>
            <a:r>
              <a:rPr dirty="0" sz="3200" b="1">
                <a:latin typeface="宋体"/>
                <a:cs typeface="宋体"/>
              </a:rPr>
              <a:t>＞</a:t>
            </a:r>
            <a:r>
              <a:rPr dirty="0" sz="3200" b="1" i="1">
                <a:latin typeface="Times New Roman"/>
                <a:cs typeface="Times New Roman"/>
              </a:rPr>
              <a:t>g</a:t>
            </a:r>
            <a:r>
              <a:rPr dirty="0" sz="3200" spc="-50" b="1" i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(</a:t>
            </a:r>
            <a:r>
              <a:rPr dirty="0" sz="3200" b="1" i="1">
                <a:latin typeface="Times New Roman"/>
                <a:cs typeface="Times New Roman"/>
              </a:rPr>
              <a:t>#</a:t>
            </a:r>
            <a:r>
              <a:rPr dirty="0" sz="3200" b="1">
                <a:latin typeface="Times New Roman"/>
                <a:cs typeface="Times New Roman"/>
              </a:rPr>
              <a:t>)</a:t>
            </a:r>
            <a:r>
              <a:rPr dirty="0" sz="3200" b="1">
                <a:latin typeface="宋体"/>
                <a:cs typeface="宋体"/>
              </a:rPr>
              <a:t>有</a:t>
            </a:r>
            <a:r>
              <a:rPr dirty="0" sz="3200" b="1">
                <a:latin typeface="Times New Roman"/>
                <a:cs typeface="Times New Roman"/>
              </a:rPr>
              <a:t>3</a:t>
            </a:r>
            <a:r>
              <a:rPr dirty="0" sz="3200" b="1">
                <a:latin typeface="宋体"/>
                <a:cs typeface="宋体"/>
              </a:rPr>
              <a:t>＞</a:t>
            </a:r>
            <a:r>
              <a:rPr dirty="0" sz="3200" b="1">
                <a:latin typeface="Times New Roman"/>
                <a:cs typeface="Times New Roman"/>
              </a:rPr>
              <a:t>1</a:t>
            </a:r>
            <a:r>
              <a:rPr dirty="0" sz="3200" spc="-50" b="1">
                <a:latin typeface="Times New Roman"/>
                <a:cs typeface="Times New Roman"/>
              </a:rPr>
              <a:t> </a:t>
            </a:r>
            <a:r>
              <a:rPr dirty="0" sz="3200" spc="-10" b="1">
                <a:latin typeface="宋体"/>
                <a:cs typeface="宋体"/>
              </a:rPr>
              <a:t>；  </a:t>
            </a:r>
            <a:r>
              <a:rPr dirty="0" sz="3200" b="1">
                <a:latin typeface="宋体"/>
                <a:cs typeface="宋体"/>
              </a:rPr>
              <a:t>对</a:t>
            </a:r>
            <a:r>
              <a:rPr dirty="0" sz="3200" spc="5" b="1" i="1">
                <a:latin typeface="Lucida Sans Unicode"/>
                <a:cs typeface="Lucida Sans Unicode"/>
              </a:rPr>
              <a:t>#⋖</a:t>
            </a:r>
            <a:r>
              <a:rPr dirty="0" sz="3200" spc="5" b="1" i="1">
                <a:latin typeface="Times New Roman"/>
                <a:cs typeface="Times New Roman"/>
              </a:rPr>
              <a:t>a</a:t>
            </a:r>
            <a:r>
              <a:rPr dirty="0" sz="3200" spc="5" b="1">
                <a:latin typeface="宋体"/>
                <a:cs typeface="宋体"/>
              </a:rPr>
              <a:t>，</a:t>
            </a:r>
            <a:r>
              <a:rPr dirty="0" sz="3200" spc="5" b="1" i="1">
                <a:latin typeface="Times New Roman"/>
                <a:cs typeface="Times New Roman"/>
              </a:rPr>
              <a:t>f</a:t>
            </a:r>
            <a:r>
              <a:rPr dirty="0" sz="3200" spc="-70" b="1" i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(#</a:t>
            </a:r>
            <a:r>
              <a:rPr dirty="0" sz="3200">
                <a:latin typeface="Times New Roman"/>
                <a:cs typeface="Times New Roman"/>
              </a:rPr>
              <a:t>)</a:t>
            </a:r>
            <a:r>
              <a:rPr dirty="0" sz="3200" b="1">
                <a:latin typeface="宋体"/>
                <a:cs typeface="宋体"/>
              </a:rPr>
              <a:t>＜</a:t>
            </a:r>
            <a:r>
              <a:rPr dirty="0" sz="3200" b="1" i="1">
                <a:latin typeface="Times New Roman"/>
                <a:cs typeface="Times New Roman"/>
              </a:rPr>
              <a:t>g</a:t>
            </a:r>
            <a:r>
              <a:rPr dirty="0" sz="3200" spc="-50" b="1" i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(</a:t>
            </a:r>
            <a:r>
              <a:rPr dirty="0" sz="3200" b="1" i="1">
                <a:latin typeface="Times New Roman"/>
                <a:cs typeface="Times New Roman"/>
              </a:rPr>
              <a:t>a</a:t>
            </a:r>
            <a:r>
              <a:rPr dirty="0" sz="3200" b="1">
                <a:latin typeface="Times New Roman"/>
                <a:cs typeface="Times New Roman"/>
              </a:rPr>
              <a:t>)</a:t>
            </a:r>
            <a:r>
              <a:rPr dirty="0" sz="3200" b="1">
                <a:latin typeface="宋体"/>
                <a:cs typeface="宋体"/>
              </a:rPr>
              <a:t>有</a:t>
            </a:r>
            <a:r>
              <a:rPr dirty="0" sz="3200" b="1">
                <a:latin typeface="Times New Roman"/>
                <a:cs typeface="Times New Roman"/>
              </a:rPr>
              <a:t>1</a:t>
            </a:r>
            <a:r>
              <a:rPr dirty="0" sz="3200" b="1">
                <a:latin typeface="宋体"/>
                <a:cs typeface="宋体"/>
              </a:rPr>
              <a:t>＜</a:t>
            </a:r>
            <a:r>
              <a:rPr dirty="0" sz="3200" b="1">
                <a:latin typeface="Times New Roman"/>
                <a:cs typeface="Times New Roman"/>
              </a:rPr>
              <a:t>3</a:t>
            </a:r>
            <a:r>
              <a:rPr dirty="0" sz="3200" b="1">
                <a:latin typeface="宋体"/>
                <a:cs typeface="宋体"/>
              </a:rPr>
              <a:t>；</a:t>
            </a:r>
            <a:endParaRPr sz="32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210"/>
              </a:spcBef>
            </a:pPr>
            <a:r>
              <a:rPr dirty="0" sz="3200" b="1">
                <a:latin typeface="宋体"/>
                <a:cs typeface="宋体"/>
              </a:rPr>
              <a:t>因此，优先函数存</a:t>
            </a:r>
            <a:r>
              <a:rPr dirty="0" sz="3200" spc="5" b="1">
                <a:latin typeface="宋体"/>
                <a:cs typeface="宋体"/>
              </a:rPr>
              <a:t>在</a:t>
            </a:r>
            <a:r>
              <a:rPr dirty="0" sz="3200" spc="-10" b="1"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254372" y="1779270"/>
            <a:ext cx="643255" cy="521334"/>
          </a:xfrm>
          <a:custGeom>
            <a:avLst/>
            <a:gdLst/>
            <a:ahLst/>
            <a:cxnLst/>
            <a:rect l="l" t="t" r="r" b="b"/>
            <a:pathLst>
              <a:path w="643254" h="521335">
                <a:moveTo>
                  <a:pt x="452500" y="0"/>
                </a:moveTo>
                <a:lnTo>
                  <a:pt x="452500" y="130301"/>
                </a:lnTo>
                <a:lnTo>
                  <a:pt x="0" y="130301"/>
                </a:lnTo>
                <a:lnTo>
                  <a:pt x="0" y="390905"/>
                </a:lnTo>
                <a:lnTo>
                  <a:pt x="452500" y="390905"/>
                </a:lnTo>
                <a:lnTo>
                  <a:pt x="452500" y="521207"/>
                </a:lnTo>
                <a:lnTo>
                  <a:pt x="643001" y="260603"/>
                </a:lnTo>
                <a:lnTo>
                  <a:pt x="452500" y="0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254372" y="1779270"/>
            <a:ext cx="643255" cy="521334"/>
          </a:xfrm>
          <a:custGeom>
            <a:avLst/>
            <a:gdLst/>
            <a:ahLst/>
            <a:cxnLst/>
            <a:rect l="l" t="t" r="r" b="b"/>
            <a:pathLst>
              <a:path w="643254" h="521335">
                <a:moveTo>
                  <a:pt x="452500" y="0"/>
                </a:moveTo>
                <a:lnTo>
                  <a:pt x="452500" y="130301"/>
                </a:lnTo>
                <a:lnTo>
                  <a:pt x="0" y="130301"/>
                </a:lnTo>
                <a:lnTo>
                  <a:pt x="0" y="390905"/>
                </a:lnTo>
                <a:lnTo>
                  <a:pt x="452500" y="390905"/>
                </a:lnTo>
                <a:lnTo>
                  <a:pt x="452500" y="521207"/>
                </a:lnTo>
                <a:lnTo>
                  <a:pt x="643001" y="260603"/>
                </a:lnTo>
                <a:lnTo>
                  <a:pt x="452500" y="0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178236" y="1890522"/>
            <a:ext cx="71755" cy="299085"/>
          </a:xfrm>
          <a:custGeom>
            <a:avLst/>
            <a:gdLst/>
            <a:ahLst/>
            <a:cxnLst/>
            <a:rect l="l" t="t" r="r" b="b"/>
            <a:pathLst>
              <a:path w="71754" h="299085">
                <a:moveTo>
                  <a:pt x="0" y="298703"/>
                </a:moveTo>
                <a:lnTo>
                  <a:pt x="71437" y="298703"/>
                </a:lnTo>
                <a:lnTo>
                  <a:pt x="71437" y="0"/>
                </a:lnTo>
                <a:lnTo>
                  <a:pt x="0" y="0"/>
                </a:lnTo>
                <a:lnTo>
                  <a:pt x="0" y="298703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116323" y="1890522"/>
            <a:ext cx="62230" cy="299085"/>
          </a:xfrm>
          <a:custGeom>
            <a:avLst/>
            <a:gdLst/>
            <a:ahLst/>
            <a:cxnLst/>
            <a:rect l="l" t="t" r="r" b="b"/>
            <a:pathLst>
              <a:path w="62229" h="299085">
                <a:moveTo>
                  <a:pt x="0" y="298703"/>
                </a:moveTo>
                <a:lnTo>
                  <a:pt x="61912" y="298703"/>
                </a:lnTo>
                <a:lnTo>
                  <a:pt x="61912" y="0"/>
                </a:lnTo>
                <a:lnTo>
                  <a:pt x="0" y="0"/>
                </a:lnTo>
                <a:lnTo>
                  <a:pt x="0" y="298703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14248" y="0"/>
            <a:ext cx="2390140" cy="927100"/>
          </a:xfrm>
          <a:prstGeom prst="rect">
            <a:avLst/>
          </a:prstGeom>
        </p:spPr>
        <p:txBody>
          <a:bodyPr wrap="square" lIns="0" tIns="1181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30"/>
              </a:spcBef>
              <a:tabLst>
                <a:tab pos="2058035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  <a:p>
            <a:pPr marL="729615">
              <a:lnSpc>
                <a:spcPct val="100000"/>
              </a:lnSpc>
              <a:spcBef>
                <a:spcPts val="990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优先关系表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47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5101590" y="854963"/>
          <a:ext cx="3710940" cy="19310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8369"/>
                <a:gridCol w="901065"/>
                <a:gridCol w="814705"/>
                <a:gridCol w="847725"/>
                <a:gridCol w="196850"/>
              </a:tblGrid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53975">
                      <a:solidFill>
                        <a:srgbClr val="FFFF00"/>
                      </a:solidFill>
                      <a:prstDash val="solid"/>
                    </a:lnR>
                    <a:lnT w="539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1432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dirty="0" sz="32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9055">
                    <a:lnL w="53975">
                      <a:solidFill>
                        <a:srgbClr val="FFFF00"/>
                      </a:solidFill>
                      <a:prstDash val="solid"/>
                    </a:lnL>
                    <a:lnT w="539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2984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dirty="0" sz="32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9055">
                    <a:lnT w="539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dirty="0" sz="32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9055">
                    <a:lnT w="539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577043">
                <a:tc rowSpan="2">
                  <a:txBody>
                    <a:bodyPr/>
                    <a:lstStyle/>
                    <a:p>
                      <a:pPr marL="26416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32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 marL="26416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32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g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445">
                    <a:lnR w="539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78130">
                        <a:lnSpc>
                          <a:spcPts val="3760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T w="38100">
                      <a:solidFill>
                        <a:srgbClr val="FFFF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38100">
                        <a:lnSpc>
                          <a:spcPts val="3760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38100">
                      <a:solidFill>
                        <a:srgbClr val="FFFF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22580">
                        <a:lnSpc>
                          <a:spcPts val="3760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38100">
                      <a:solidFill>
                        <a:srgbClr val="FFFF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6513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4445">
                    <a:lnR w="539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9083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8895">
                    <a:lnL w="53975">
                      <a:solidFill>
                        <a:srgbClr val="FFFF00"/>
                      </a:solidFill>
                      <a:prstDash val="solid"/>
                    </a:lnL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079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8895"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8895"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5699505" y="470408"/>
            <a:ext cx="15570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优先函数表</a:t>
            </a:r>
            <a:endParaRPr sz="2400">
              <a:latin typeface="宋体"/>
              <a:cs typeface="宋体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555498" y="826008"/>
          <a:ext cx="3383279" cy="2138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7419"/>
                <a:gridCol w="764540"/>
                <a:gridCol w="713739"/>
                <a:gridCol w="892175"/>
              </a:tblGrid>
              <a:tr h="62179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2740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8585">
                    <a:lnL w="38100">
                      <a:solidFill>
                        <a:srgbClr val="FFFF00"/>
                      </a:solidFill>
                      <a:prstDash val="solid"/>
                    </a:lnL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4765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8585"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8765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8585"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1472184">
                <a:tc>
                  <a:txBody>
                    <a:bodyPr/>
                    <a:lstStyle/>
                    <a:p>
                      <a:pPr marL="46291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462915" marR="298450">
                        <a:lnSpc>
                          <a:spcPct val="114999"/>
                        </a:lnSpc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 </a:t>
                      </a:r>
                      <a:r>
                        <a:rPr dirty="0" sz="28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8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765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539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⋖</a:t>
                      </a:r>
                      <a:endParaRPr sz="2800">
                        <a:latin typeface="Lucida Sans Unicode"/>
                        <a:cs typeface="Lucida Sans Unicode"/>
                      </a:endParaRPr>
                    </a:p>
                    <a:p>
                      <a:pPr marL="266700">
                        <a:lnSpc>
                          <a:spcPct val="100000"/>
                        </a:lnSpc>
                        <a:spcBef>
                          <a:spcPts val="3785"/>
                        </a:spcBef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⋖</a:t>
                      </a:r>
                      <a:endParaRPr sz="28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56515">
                    <a:lnL w="38100">
                      <a:solidFill>
                        <a:srgbClr val="FFFF00"/>
                      </a:solidFill>
                      <a:prstDash val="solid"/>
                    </a:lnL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9870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≐</a:t>
                      </a:r>
                      <a:endParaRPr sz="2800">
                        <a:latin typeface="Lucida Sans Unicode"/>
                        <a:cs typeface="Lucida Sans Unicode"/>
                      </a:endParaRPr>
                    </a:p>
                    <a:p>
                      <a:pPr marL="214629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⋗</a:t>
                      </a:r>
                      <a:endParaRPr sz="28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56515"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3600">
                        <a:latin typeface="Times New Roman"/>
                        <a:cs typeface="Times New Roman"/>
                      </a:endParaRPr>
                    </a:p>
                    <a:p>
                      <a:pPr marL="235585">
                        <a:lnSpc>
                          <a:spcPct val="100000"/>
                        </a:lnSpc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⋗</a:t>
                      </a:r>
                      <a:endParaRPr sz="2800">
                        <a:latin typeface="Lucida Sans Unicode"/>
                        <a:cs typeface="Lucida Sans Unicode"/>
                      </a:endParaRPr>
                    </a:p>
                    <a:p>
                      <a:pPr marL="20066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≐</a:t>
                      </a:r>
                      <a:endParaRPr sz="28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635">
                    <a:lnR w="539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5642" y="700862"/>
            <a:ext cx="501777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>
                <a:solidFill>
                  <a:srgbClr val="FFFFFF"/>
                </a:solidFill>
              </a:rPr>
              <a:t>优先函数</a:t>
            </a:r>
            <a:r>
              <a:rPr dirty="0" spc="-5">
                <a:solidFill>
                  <a:srgbClr val="FFFFFF"/>
                </a:solidFill>
              </a:rPr>
              <a:t>表</a:t>
            </a:r>
            <a:r>
              <a:rPr dirty="0" spc="-10">
                <a:solidFill>
                  <a:srgbClr val="FFFFFF"/>
                </a:solidFill>
              </a:rPr>
              <a:t>并不一定一定存</a:t>
            </a:r>
            <a:r>
              <a:rPr dirty="0" spc="-5">
                <a:solidFill>
                  <a:srgbClr val="FFFFFF"/>
                </a:solidFill>
              </a:rPr>
              <a:t>在</a:t>
            </a:r>
            <a:r>
              <a:rPr dirty="0" spc="-15">
                <a:solidFill>
                  <a:srgbClr val="FFFFFF"/>
                </a:solidFill>
              </a:rPr>
              <a:t>。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220724" y="1505711"/>
          <a:ext cx="2704465" cy="18110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0415"/>
                <a:gridCol w="829310"/>
                <a:gridCol w="1038225"/>
              </a:tblGrid>
              <a:tr h="7056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28600">
                        <a:lnSpc>
                          <a:spcPct val="100000"/>
                        </a:lnSpc>
                        <a:spcBef>
                          <a:spcPts val="1675"/>
                        </a:spcBef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12725">
                    <a:lnL w="38100">
                      <a:solidFill>
                        <a:srgbClr val="FFFF00"/>
                      </a:solidFill>
                      <a:prstDash val="solid"/>
                    </a:lnL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7645">
                        <a:lnSpc>
                          <a:spcPct val="100000"/>
                        </a:lnSpc>
                        <a:spcBef>
                          <a:spcPts val="1675"/>
                        </a:spcBef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12725"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493506">
                <a:tc>
                  <a:txBody>
                    <a:bodyPr/>
                    <a:lstStyle/>
                    <a:p>
                      <a:pPr algn="r" marR="276225">
                        <a:lnSpc>
                          <a:spcPts val="3350"/>
                        </a:lnSpc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00025">
                        <a:lnSpc>
                          <a:spcPts val="3350"/>
                        </a:lnSpc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≐</a:t>
                      </a:r>
                      <a:endParaRPr sz="28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T w="38100">
                      <a:solidFill>
                        <a:srgbClr val="FFFF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36220">
                        <a:lnSpc>
                          <a:spcPts val="3350"/>
                        </a:lnSpc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⋗</a:t>
                      </a:r>
                      <a:endParaRPr sz="28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</a:tcPr>
                </a:tc>
              </a:tr>
              <a:tr h="573293">
                <a:tc>
                  <a:txBody>
                    <a:bodyPr/>
                    <a:lstStyle/>
                    <a:p>
                      <a:pPr algn="r" marR="27622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145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0002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≐</a:t>
                      </a:r>
                      <a:endParaRPr sz="28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17145">
                    <a:lnL w="38100">
                      <a:solidFill>
                        <a:srgbClr val="FFFF00"/>
                      </a:solidFill>
                      <a:prstDash val="solid"/>
                    </a:lnL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622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≐</a:t>
                      </a:r>
                      <a:endParaRPr sz="28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17145">
                    <a:lnR w="38100">
                      <a:solidFill>
                        <a:srgbClr val="FFFF00"/>
                      </a:solidFill>
                      <a:prstDash val="solid"/>
                    </a:lnR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714248" y="26923"/>
            <a:ext cx="75609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58035" algn="l"/>
                <a:tab pos="2567305" algn="l"/>
                <a:tab pos="4799965" algn="l"/>
                <a:tab pos="5499735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算符优先分析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法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优先函数表的构造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1342" y="3561029"/>
            <a:ext cx="531622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如果假定存在函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数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则应有：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70679" y="3988240"/>
            <a:ext cx="1601470" cy="1134745"/>
          </a:xfrm>
          <a:prstGeom prst="rect">
            <a:avLst/>
          </a:prstGeom>
        </p:spPr>
        <p:txBody>
          <a:bodyPr wrap="square" lIns="0" tIns="140335" rIns="0" bIns="0" rtlCol="0" vert="horz">
            <a:spAutoFit/>
          </a:bodyPr>
          <a:lstStyle/>
          <a:p>
            <a:pPr marL="102235">
              <a:lnSpc>
                <a:spcPct val="100000"/>
              </a:lnSpc>
              <a:spcBef>
                <a:spcPts val="1105"/>
              </a:spcBef>
            </a:pP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f(a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＞</a:t>
            </a: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f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＝</a:t>
            </a: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8340" y="3988240"/>
            <a:ext cx="2881630" cy="1836420"/>
          </a:xfrm>
          <a:prstGeom prst="rect">
            <a:avLst/>
          </a:prstGeom>
        </p:spPr>
        <p:txBody>
          <a:bodyPr wrap="square" lIns="0" tIns="140335" rIns="0" bIns="0" rtlCol="0" vert="horz">
            <a:spAutoFit/>
          </a:bodyPr>
          <a:lstStyle/>
          <a:p>
            <a:pPr marL="1026794">
              <a:lnSpc>
                <a:spcPct val="100000"/>
              </a:lnSpc>
              <a:spcBef>
                <a:spcPts val="1105"/>
              </a:spcBef>
            </a:pP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f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＝</a:t>
            </a: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，</a:t>
            </a:r>
            <a:endParaRPr sz="2800">
              <a:latin typeface="宋体"/>
              <a:cs typeface="宋体"/>
            </a:endParaRPr>
          </a:p>
          <a:p>
            <a:pPr marL="1026794">
              <a:lnSpc>
                <a:spcPct val="100000"/>
              </a:lnSpc>
              <a:spcBef>
                <a:spcPts val="1005"/>
              </a:spcBef>
            </a:pP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f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＝</a:t>
            </a: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，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216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按此假设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55344" y="5927242"/>
            <a:ext cx="6880859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heavy" sz="2800" spc="-5" b="1" i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f</a:t>
            </a:r>
            <a:r>
              <a:rPr dirty="0" u="heavy" sz="2800" b="1" i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800" spc="-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(</a:t>
            </a:r>
            <a:r>
              <a:rPr dirty="0" u="heavy" sz="2800" spc="-5" b="1" i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a</a:t>
            </a:r>
            <a:r>
              <a:rPr dirty="0" u="heavy" sz="2800" spc="-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heavy" sz="2800" spc="-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＞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g</a:t>
            </a:r>
            <a:r>
              <a:rPr dirty="0" sz="2800" spc="1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＝</a:t>
            </a:r>
            <a:r>
              <a:rPr dirty="0" sz="2800" spc="-70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f</a:t>
            </a:r>
            <a:r>
              <a:rPr dirty="0" sz="2800" spc="1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＝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＝</a:t>
            </a:r>
            <a:r>
              <a:rPr dirty="0" sz="2800" spc="-70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u="heavy" sz="2800" spc="-5" b="1" i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f</a:t>
            </a:r>
            <a:r>
              <a:rPr dirty="0" u="heavy" sz="2800" spc="10" b="1" i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800" spc="-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(</a:t>
            </a:r>
            <a:r>
              <a:rPr dirty="0" u="heavy" sz="2800" spc="-5" b="1" i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a</a:t>
            </a:r>
            <a:r>
              <a:rPr dirty="0" u="heavy" sz="2800" spc="-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=&gt;</a:t>
            </a:r>
            <a:r>
              <a:rPr dirty="0" sz="2800" spc="5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f</a:t>
            </a:r>
            <a:r>
              <a:rPr dirty="0" sz="2800" spc="5" b="1" i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＞</a:t>
            </a: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f</a:t>
            </a:r>
            <a:r>
              <a:rPr dirty="0" sz="2800" spc="10" b="1" i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395209" y="4732985"/>
            <a:ext cx="125095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b="1">
                <a:solidFill>
                  <a:srgbClr val="FFFF69"/>
                </a:solidFill>
                <a:latin typeface="宋体"/>
                <a:cs typeface="宋体"/>
              </a:rPr>
              <a:t>矛盾！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678673" y="5357621"/>
            <a:ext cx="437387" cy="4160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678673" y="5357621"/>
            <a:ext cx="437515" cy="416559"/>
          </a:xfrm>
          <a:custGeom>
            <a:avLst/>
            <a:gdLst/>
            <a:ahLst/>
            <a:cxnLst/>
            <a:rect l="l" t="t" r="r" b="b"/>
            <a:pathLst>
              <a:path w="437515" h="416560">
                <a:moveTo>
                  <a:pt x="0" y="104012"/>
                </a:moveTo>
                <a:lnTo>
                  <a:pt x="218694" y="0"/>
                </a:lnTo>
                <a:lnTo>
                  <a:pt x="437387" y="104012"/>
                </a:lnTo>
                <a:lnTo>
                  <a:pt x="328041" y="104012"/>
                </a:lnTo>
                <a:lnTo>
                  <a:pt x="328041" y="416051"/>
                </a:lnTo>
                <a:lnTo>
                  <a:pt x="109347" y="416051"/>
                </a:lnTo>
                <a:lnTo>
                  <a:pt x="109347" y="104012"/>
                </a:lnTo>
                <a:lnTo>
                  <a:pt x="0" y="10401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5045964" y="1458467"/>
          <a:ext cx="2803525" cy="1905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3765"/>
                <a:gridCol w="912495"/>
                <a:gridCol w="920114"/>
              </a:tblGrid>
              <a:tr h="5593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539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02260">
                        <a:lnSpc>
                          <a:spcPts val="3615"/>
                        </a:lnSpc>
                      </a:pPr>
                      <a:r>
                        <a:rPr dirty="0" sz="32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7815">
                        <a:lnSpc>
                          <a:spcPts val="3615"/>
                        </a:lnSpc>
                      </a:pPr>
                      <a:r>
                        <a:rPr dirty="0" sz="32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636265">
                <a:tc rowSpan="2">
                  <a:txBody>
                    <a:bodyPr/>
                    <a:lstStyle/>
                    <a:p>
                      <a:pPr algn="ctr" marR="952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32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 algn="ctr" marL="5016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32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g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3020">
                    <a:lnR w="539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90195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8894">
                    <a:lnL w="53975">
                      <a:solidFill>
                        <a:srgbClr val="FFFF00"/>
                      </a:solidFill>
                      <a:prstDash val="solid"/>
                    </a:lnL>
                    <a:lnT w="38100">
                      <a:solidFill>
                        <a:srgbClr val="FFFF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11785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8894">
                    <a:lnT w="38100">
                      <a:solidFill>
                        <a:srgbClr val="FFFF00"/>
                      </a:solidFill>
                      <a:prstDash val="solid"/>
                    </a:lnT>
                  </a:tcPr>
                </a:tc>
              </a:tr>
              <a:tr h="671326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3020">
                    <a:lnR w="539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0226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8895">
                    <a:lnL w="53975">
                      <a:solidFill>
                        <a:srgbClr val="FFFF00"/>
                      </a:solidFill>
                      <a:prstDash val="solid"/>
                    </a:lnL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781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8895"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47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714248" y="26923"/>
            <a:ext cx="75609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58035" algn="l"/>
                <a:tab pos="2567305" algn="l"/>
                <a:tab pos="4799965" algn="l"/>
                <a:tab pos="5499735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算符优先分析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法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优先函数表的构造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40842" y="802005"/>
            <a:ext cx="2884805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heavy" sz="320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</a:rPr>
              <a:t>算符优先分析器</a:t>
            </a:r>
            <a:endParaRPr sz="3200"/>
          </a:p>
        </p:txBody>
      </p:sp>
      <p:sp>
        <p:nvSpPr>
          <p:cNvPr id="6" name="object 6"/>
          <p:cNvSpPr/>
          <p:nvPr/>
        </p:nvSpPr>
        <p:spPr>
          <a:xfrm>
            <a:off x="2315717" y="3191255"/>
            <a:ext cx="498475" cy="114300"/>
          </a:xfrm>
          <a:custGeom>
            <a:avLst/>
            <a:gdLst/>
            <a:ahLst/>
            <a:cxnLst/>
            <a:rect l="l" t="t" r="r" b="b"/>
            <a:pathLst>
              <a:path w="498475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498475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498475" h="114300">
                <a:moveTo>
                  <a:pt x="498348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498348" y="76200"/>
                </a:lnTo>
                <a:lnTo>
                  <a:pt x="498348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58800" y="1579829"/>
            <a:ext cx="194754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3B4FB"/>
                </a:solidFill>
                <a:latin typeface="宋体"/>
                <a:cs typeface="宋体"/>
              </a:rPr>
              <a:t>输入字符</a:t>
            </a:r>
            <a:r>
              <a:rPr dirty="0" sz="2800" spc="-15" b="1">
                <a:solidFill>
                  <a:srgbClr val="F3B4FB"/>
                </a:solidFill>
                <a:latin typeface="宋体"/>
                <a:cs typeface="宋体"/>
              </a:rPr>
              <a:t>串</a:t>
            </a:r>
            <a:r>
              <a:rPr dirty="0" sz="2800" spc="-5" b="1" i="1">
                <a:solidFill>
                  <a:srgbClr val="F3B4FB"/>
                </a:solidFill>
                <a:latin typeface="Times New Roman"/>
                <a:cs typeface="Times New Roman"/>
              </a:rPr>
              <a:t>r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2657855" y="1601724"/>
          <a:ext cx="4928235" cy="4603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3085"/>
                <a:gridCol w="553085"/>
                <a:gridCol w="885190"/>
                <a:gridCol w="553085"/>
                <a:gridCol w="995045"/>
                <a:gridCol w="553085"/>
                <a:gridCol w="777239"/>
              </a:tblGrid>
              <a:tr h="422148">
                <a:tc>
                  <a:txBody>
                    <a:bodyPr/>
                    <a:lstStyle/>
                    <a:p>
                      <a:pPr marL="152400">
                        <a:lnSpc>
                          <a:spcPts val="2790"/>
                        </a:lnSpc>
                      </a:pP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baseline="-20833" sz="2400" spc="-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baseline="-20833"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790"/>
                        </a:lnSpc>
                      </a:pP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baseline="-20833" sz="2400" spc="-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20833"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ts val="2790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……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6205">
                        <a:lnSpc>
                          <a:spcPts val="2790"/>
                        </a:lnSpc>
                      </a:pP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baseline="-20833" sz="2400" spc="-7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endParaRPr baseline="-20833"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9705">
                        <a:lnSpc>
                          <a:spcPts val="2790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……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ts val="2790"/>
                        </a:lnSpc>
                      </a:pP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baseline="-20833" sz="2400" spc="-7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endParaRPr baseline="-20833"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ts val="2790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7421880" y="1467611"/>
            <a:ext cx="220979" cy="843280"/>
          </a:xfrm>
          <a:custGeom>
            <a:avLst/>
            <a:gdLst/>
            <a:ahLst/>
            <a:cxnLst/>
            <a:rect l="l" t="t" r="r" b="b"/>
            <a:pathLst>
              <a:path w="220979" h="843280">
                <a:moveTo>
                  <a:pt x="0" y="842772"/>
                </a:moveTo>
                <a:lnTo>
                  <a:pt x="220979" y="842772"/>
                </a:lnTo>
                <a:lnTo>
                  <a:pt x="220979" y="0"/>
                </a:lnTo>
                <a:lnTo>
                  <a:pt x="0" y="0"/>
                </a:lnTo>
                <a:lnTo>
                  <a:pt x="0" y="842772"/>
                </a:lnTo>
                <a:close/>
              </a:path>
            </a:pathLst>
          </a:custGeom>
          <a:solidFill>
            <a:srgbClr val="1E2D5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814066" y="2847594"/>
            <a:ext cx="2036445" cy="125476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29209" rIns="0" bIns="0" rtlCol="0" vert="horz">
            <a:spAutoFit/>
          </a:bodyPr>
          <a:lstStyle/>
          <a:p>
            <a:pPr marL="404495">
              <a:lnSpc>
                <a:spcPct val="100000"/>
              </a:lnSpc>
              <a:spcBef>
                <a:spcPts val="229"/>
              </a:spcBef>
            </a:pPr>
            <a:r>
              <a:rPr dirty="0" sz="2400" b="1">
                <a:solidFill>
                  <a:srgbClr val="00FFFF"/>
                </a:solidFill>
                <a:latin typeface="宋体"/>
                <a:cs typeface="宋体"/>
              </a:rPr>
              <a:t>总控程序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956553" y="2641854"/>
            <a:ext cx="346075" cy="2197735"/>
          </a:xfrm>
          <a:custGeom>
            <a:avLst/>
            <a:gdLst/>
            <a:ahLst/>
            <a:cxnLst/>
            <a:rect l="l" t="t" r="r" b="b"/>
            <a:pathLst>
              <a:path w="346075" h="2197735">
                <a:moveTo>
                  <a:pt x="0" y="2197608"/>
                </a:moveTo>
                <a:lnTo>
                  <a:pt x="345948" y="2197608"/>
                </a:lnTo>
                <a:lnTo>
                  <a:pt x="345948" y="0"/>
                </a:lnTo>
                <a:lnTo>
                  <a:pt x="0" y="0"/>
                </a:lnTo>
                <a:lnTo>
                  <a:pt x="0" y="2197608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975350" y="3020390"/>
            <a:ext cx="30861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56553" y="4365497"/>
            <a:ext cx="346075" cy="474345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130810" rIns="0" bIns="0" rtlCol="0" vert="horz">
            <a:spAutoFit/>
          </a:bodyPr>
          <a:lstStyle/>
          <a:p>
            <a:pPr marL="94615">
              <a:lnSpc>
                <a:spcPts val="2700"/>
              </a:lnSpc>
              <a:spcBef>
                <a:spcPts val="103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967221" y="3509009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5" h="0">
                <a:moveTo>
                  <a:pt x="0" y="0"/>
                </a:moveTo>
                <a:lnTo>
                  <a:pt x="330707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956553" y="3027426"/>
            <a:ext cx="346075" cy="3175"/>
          </a:xfrm>
          <a:custGeom>
            <a:avLst/>
            <a:gdLst/>
            <a:ahLst/>
            <a:cxnLst/>
            <a:rect l="l" t="t" r="r" b="b"/>
            <a:pathLst>
              <a:path w="346075" h="3175">
                <a:moveTo>
                  <a:pt x="-19050" y="1524"/>
                </a:moveTo>
                <a:lnTo>
                  <a:pt x="364998" y="1524"/>
                </a:lnTo>
              </a:path>
            </a:pathLst>
          </a:custGeom>
          <a:ln w="41148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917691" y="2462783"/>
            <a:ext cx="454659" cy="340360"/>
          </a:xfrm>
          <a:custGeom>
            <a:avLst/>
            <a:gdLst/>
            <a:ahLst/>
            <a:cxnLst/>
            <a:rect l="l" t="t" r="r" b="b"/>
            <a:pathLst>
              <a:path w="454660" h="340360">
                <a:moveTo>
                  <a:pt x="0" y="339851"/>
                </a:moveTo>
                <a:lnTo>
                  <a:pt x="454151" y="339851"/>
                </a:lnTo>
                <a:lnTo>
                  <a:pt x="454151" y="0"/>
                </a:lnTo>
                <a:lnTo>
                  <a:pt x="0" y="0"/>
                </a:lnTo>
                <a:lnTo>
                  <a:pt x="0" y="339851"/>
                </a:lnTo>
                <a:close/>
              </a:path>
            </a:pathLst>
          </a:custGeom>
          <a:solidFill>
            <a:srgbClr val="1E2D5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950208" y="2023110"/>
            <a:ext cx="114300" cy="805180"/>
          </a:xfrm>
          <a:custGeom>
            <a:avLst/>
            <a:gdLst/>
            <a:ahLst/>
            <a:cxnLst/>
            <a:rect l="l" t="t" r="r" b="b"/>
            <a:pathLst>
              <a:path w="114300" h="805180">
                <a:moveTo>
                  <a:pt x="76200" y="171450"/>
                </a:moveTo>
                <a:lnTo>
                  <a:pt x="38100" y="171450"/>
                </a:lnTo>
                <a:lnTo>
                  <a:pt x="38100" y="804672"/>
                </a:lnTo>
                <a:lnTo>
                  <a:pt x="76200" y="804672"/>
                </a:lnTo>
                <a:lnTo>
                  <a:pt x="76200" y="171450"/>
                </a:lnTo>
                <a:close/>
              </a:path>
              <a:path w="114300" h="805180">
                <a:moveTo>
                  <a:pt x="57150" y="0"/>
                </a:moveTo>
                <a:lnTo>
                  <a:pt x="0" y="190500"/>
                </a:lnTo>
                <a:lnTo>
                  <a:pt x="38100" y="190500"/>
                </a:lnTo>
                <a:lnTo>
                  <a:pt x="38100" y="171450"/>
                </a:lnTo>
                <a:lnTo>
                  <a:pt x="108585" y="171450"/>
                </a:lnTo>
                <a:lnTo>
                  <a:pt x="57150" y="0"/>
                </a:lnTo>
                <a:close/>
              </a:path>
              <a:path w="114300" h="805180">
                <a:moveTo>
                  <a:pt x="108585" y="171450"/>
                </a:moveTo>
                <a:lnTo>
                  <a:pt x="76200" y="171450"/>
                </a:lnTo>
                <a:lnTo>
                  <a:pt x="76200" y="190500"/>
                </a:lnTo>
                <a:lnTo>
                  <a:pt x="114300" y="190500"/>
                </a:lnTo>
                <a:lnTo>
                  <a:pt x="108585" y="17145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850129" y="3191255"/>
            <a:ext cx="1106805" cy="114300"/>
          </a:xfrm>
          <a:custGeom>
            <a:avLst/>
            <a:gdLst/>
            <a:ahLst/>
            <a:cxnLst/>
            <a:rect l="l" t="t" r="r" b="b"/>
            <a:pathLst>
              <a:path w="1106804" h="114300">
                <a:moveTo>
                  <a:pt x="915924" y="0"/>
                </a:moveTo>
                <a:lnTo>
                  <a:pt x="915924" y="114300"/>
                </a:lnTo>
                <a:lnTo>
                  <a:pt x="1042924" y="76200"/>
                </a:lnTo>
                <a:lnTo>
                  <a:pt x="934974" y="76200"/>
                </a:lnTo>
                <a:lnTo>
                  <a:pt x="934974" y="38100"/>
                </a:lnTo>
                <a:lnTo>
                  <a:pt x="1042924" y="38100"/>
                </a:lnTo>
                <a:lnTo>
                  <a:pt x="915924" y="0"/>
                </a:lnTo>
                <a:close/>
              </a:path>
              <a:path w="1106804" h="114300">
                <a:moveTo>
                  <a:pt x="91592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915924" y="76200"/>
                </a:lnTo>
                <a:lnTo>
                  <a:pt x="915924" y="38100"/>
                </a:lnTo>
                <a:close/>
              </a:path>
              <a:path w="1106804" h="114300">
                <a:moveTo>
                  <a:pt x="1042924" y="38100"/>
                </a:moveTo>
                <a:lnTo>
                  <a:pt x="934974" y="38100"/>
                </a:lnTo>
                <a:lnTo>
                  <a:pt x="934974" y="76200"/>
                </a:lnTo>
                <a:lnTo>
                  <a:pt x="1042924" y="76200"/>
                </a:lnTo>
                <a:lnTo>
                  <a:pt x="1106424" y="57150"/>
                </a:lnTo>
                <a:lnTo>
                  <a:pt x="1042924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6577330" y="4082237"/>
            <a:ext cx="94488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00FFFF"/>
                </a:solidFill>
                <a:latin typeface="宋体"/>
                <a:cs typeface="宋体"/>
              </a:rPr>
              <a:t>分析栈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999788" y="3761994"/>
            <a:ext cx="476884" cy="43307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3595"/>
              </a:lnSpc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431416" y="2949701"/>
            <a:ext cx="73914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3B4FB"/>
                </a:solidFill>
                <a:latin typeface="宋体"/>
                <a:cs typeface="宋体"/>
              </a:rPr>
              <a:t>输出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908554" y="3419094"/>
            <a:ext cx="1854835" cy="424180"/>
          </a:xfrm>
          <a:prstGeom prst="rect">
            <a:avLst/>
          </a:prstGeom>
          <a:ln w="38100">
            <a:solidFill>
              <a:srgbClr val="66FFFF"/>
            </a:solidFill>
          </a:ln>
        </p:spPr>
        <p:txBody>
          <a:bodyPr wrap="square" lIns="0" tIns="317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5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优先函数表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546095" y="4468672"/>
            <a:ext cx="2067560" cy="1927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413384">
              <a:lnSpc>
                <a:spcPct val="130000"/>
              </a:lnSpc>
              <a:spcBef>
                <a:spcPts val="100"/>
              </a:spcBef>
            </a:pPr>
            <a:r>
              <a:rPr dirty="0" sz="3200" b="1">
                <a:solidFill>
                  <a:srgbClr val="00FFFF"/>
                </a:solidFill>
                <a:latin typeface="宋体"/>
                <a:cs typeface="宋体"/>
              </a:rPr>
              <a:t>总控程序 </a:t>
            </a:r>
            <a:r>
              <a:rPr dirty="0" sz="3200" b="1">
                <a:solidFill>
                  <a:srgbClr val="00FFFF"/>
                </a:solidFill>
                <a:latin typeface="宋体"/>
                <a:cs typeface="宋体"/>
              </a:rPr>
              <a:t>分析栈</a:t>
            </a:r>
            <a:endParaRPr sz="32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dirty="0" sz="3200" b="1">
                <a:solidFill>
                  <a:srgbClr val="00FFFF"/>
                </a:solidFill>
                <a:latin typeface="宋体"/>
                <a:cs typeface="宋体"/>
              </a:rPr>
              <a:t>优先函数表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981961" y="4837938"/>
            <a:ext cx="352425" cy="1414780"/>
          </a:xfrm>
          <a:custGeom>
            <a:avLst/>
            <a:gdLst/>
            <a:ahLst/>
            <a:cxnLst/>
            <a:rect l="l" t="t" r="r" b="b"/>
            <a:pathLst>
              <a:path w="352425" h="1414779">
                <a:moveTo>
                  <a:pt x="352044" y="1414272"/>
                </a:moveTo>
                <a:lnTo>
                  <a:pt x="296430" y="1408269"/>
                </a:lnTo>
                <a:lnTo>
                  <a:pt x="248113" y="1391553"/>
                </a:lnTo>
                <a:lnTo>
                  <a:pt x="210001" y="1366065"/>
                </a:lnTo>
                <a:lnTo>
                  <a:pt x="185001" y="1333744"/>
                </a:lnTo>
                <a:lnTo>
                  <a:pt x="176021" y="1296530"/>
                </a:lnTo>
                <a:lnTo>
                  <a:pt x="176021" y="824877"/>
                </a:lnTo>
                <a:lnTo>
                  <a:pt x="167042" y="787663"/>
                </a:lnTo>
                <a:lnTo>
                  <a:pt x="142042" y="755342"/>
                </a:lnTo>
                <a:lnTo>
                  <a:pt x="103930" y="729854"/>
                </a:lnTo>
                <a:lnTo>
                  <a:pt x="55613" y="713138"/>
                </a:lnTo>
                <a:lnTo>
                  <a:pt x="0" y="707136"/>
                </a:lnTo>
                <a:lnTo>
                  <a:pt x="55613" y="701134"/>
                </a:lnTo>
                <a:lnTo>
                  <a:pt x="103930" y="684422"/>
                </a:lnTo>
                <a:lnTo>
                  <a:pt x="142042" y="658937"/>
                </a:lnTo>
                <a:lnTo>
                  <a:pt x="167042" y="626620"/>
                </a:lnTo>
                <a:lnTo>
                  <a:pt x="176021" y="589407"/>
                </a:lnTo>
                <a:lnTo>
                  <a:pt x="176021" y="117729"/>
                </a:lnTo>
                <a:lnTo>
                  <a:pt x="185001" y="80515"/>
                </a:lnTo>
                <a:lnTo>
                  <a:pt x="210001" y="48198"/>
                </a:lnTo>
                <a:lnTo>
                  <a:pt x="248113" y="22713"/>
                </a:lnTo>
                <a:lnTo>
                  <a:pt x="296430" y="6001"/>
                </a:lnTo>
                <a:lnTo>
                  <a:pt x="352044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917244" y="5292344"/>
            <a:ext cx="842644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组成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47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714248" y="26923"/>
            <a:ext cx="75609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58035" algn="l"/>
                <a:tab pos="2567305" algn="l"/>
                <a:tab pos="4799965" algn="l"/>
                <a:tab pos="5499735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算符优先分析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法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优先函数表的构造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69240" y="495427"/>
            <a:ext cx="1462405" cy="495934"/>
          </a:xfrm>
          <a:prstGeom prst="rect"/>
        </p:spPr>
        <p:txBody>
          <a:bodyPr wrap="square" lIns="0" tIns="48260" rIns="0" bIns="0" rtlCol="0" vert="horz">
            <a:spAutoFit/>
          </a:bodyPr>
          <a:lstStyle/>
          <a:p>
            <a:pPr marL="291465" indent="-279400">
              <a:lnSpc>
                <a:spcPct val="100000"/>
              </a:lnSpc>
              <a:spcBef>
                <a:spcPts val="380"/>
              </a:spcBef>
              <a:buClr>
                <a:srgbClr val="66FFFF"/>
              </a:buClr>
              <a:buSzPct val="108928"/>
              <a:buFont typeface="Wingdings"/>
              <a:buChar char=""/>
              <a:tabLst>
                <a:tab pos="292100" algn="l"/>
              </a:tabLst>
            </a:pPr>
            <a:r>
              <a:rPr dirty="0" spc="-5">
                <a:solidFill>
                  <a:srgbClr val="FFFF15"/>
                </a:solidFill>
              </a:rPr>
              <a:t>算法</a:t>
            </a:r>
            <a:r>
              <a:rPr dirty="0">
                <a:solidFill>
                  <a:srgbClr val="FFFF15"/>
                </a:solidFill>
                <a:latin typeface="Times New Roman"/>
                <a:cs typeface="Times New Roman"/>
              </a:rPr>
              <a:t>5</a:t>
            </a:r>
            <a:r>
              <a:rPr dirty="0" spc="-10">
                <a:solidFill>
                  <a:srgbClr val="FFFF15"/>
                </a:solidFill>
                <a:latin typeface="Times New Roman"/>
                <a:cs typeface="Times New Roman"/>
              </a:rPr>
              <a:t>.</a:t>
            </a:r>
            <a:r>
              <a:rPr dirty="0" spc="-5">
                <a:solidFill>
                  <a:srgbClr val="FFFF15"/>
                </a:solidFill>
                <a:latin typeface="Times New Roman"/>
                <a:cs typeface="Times New Roman"/>
              </a:rPr>
              <a:t>5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974850" y="532003"/>
            <a:ext cx="680339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基于优先函数表的算符优先分析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器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总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控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程序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9740" y="957859"/>
            <a:ext cx="5771515" cy="16903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0100"/>
              </a:lnSpc>
              <a:spcBef>
                <a:spcPts val="100"/>
              </a:spcBef>
            </a:pPr>
            <a:r>
              <a:rPr dirty="0" sz="2800" spc="-5" b="1">
                <a:solidFill>
                  <a:srgbClr val="FFFF15"/>
                </a:solidFill>
                <a:latin typeface="宋体"/>
                <a:cs typeface="宋体"/>
              </a:rPr>
              <a:t>输入：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文法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的优先函数表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输入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串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r </a:t>
            </a:r>
            <a:r>
              <a:rPr dirty="0" sz="2800" spc="-5" b="1">
                <a:solidFill>
                  <a:srgbClr val="FFFF15"/>
                </a:solidFill>
                <a:latin typeface="宋体"/>
                <a:cs typeface="宋体"/>
              </a:rPr>
              <a:t>输出：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输入串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的分析结果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dirty="0" sz="2800" spc="-5" b="1">
                <a:solidFill>
                  <a:srgbClr val="FFFF15"/>
                </a:solidFill>
                <a:latin typeface="宋体"/>
                <a:cs typeface="宋体"/>
              </a:rPr>
              <a:t>方法</a:t>
            </a:r>
            <a:r>
              <a:rPr dirty="0" sz="2800" spc="-15" b="1">
                <a:solidFill>
                  <a:srgbClr val="FFFF15"/>
                </a:solidFill>
                <a:latin typeface="宋体"/>
                <a:cs typeface="宋体"/>
              </a:rPr>
              <a:t>：</a:t>
            </a:r>
            <a:r>
              <a:rPr dirty="0" sz="2800" spc="-695" b="1">
                <a:solidFill>
                  <a:srgbClr val="FFFF15"/>
                </a:solidFill>
                <a:latin typeface="宋体"/>
                <a:cs typeface="宋体"/>
              </a:rPr>
              <a:t> </a:t>
            </a:r>
            <a:r>
              <a:rPr dirty="0" sz="2800" spc="-10" b="1">
                <a:solidFill>
                  <a:srgbClr val="66FFFF"/>
                </a:solidFill>
                <a:latin typeface="宋体"/>
                <a:cs typeface="宋体"/>
              </a:rPr>
              <a:t>（</a:t>
            </a:r>
            <a:r>
              <a:rPr dirty="0" sz="2800" spc="-10" b="1">
                <a:solidFill>
                  <a:srgbClr val="66FFFF"/>
                </a:solidFill>
                <a:latin typeface="Times New Roman"/>
                <a:cs typeface="Times New Roman"/>
              </a:rPr>
              <a:t>OP</a:t>
            </a:r>
            <a:r>
              <a:rPr dirty="0" sz="2800" spc="-10" b="1">
                <a:solidFill>
                  <a:srgbClr val="66FFFF"/>
                </a:solidFill>
                <a:latin typeface="宋体"/>
                <a:cs typeface="宋体"/>
              </a:rPr>
              <a:t>）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29183" y="2695701"/>
            <a:ext cx="216535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初始化工作：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38955" y="3070098"/>
            <a:ext cx="114300" cy="533400"/>
          </a:xfrm>
          <a:custGeom>
            <a:avLst/>
            <a:gdLst/>
            <a:ahLst/>
            <a:cxnLst/>
            <a:rect l="l" t="t" r="r" b="b"/>
            <a:pathLst>
              <a:path w="114300" h="533400">
                <a:moveTo>
                  <a:pt x="38100" y="419100"/>
                </a:moveTo>
                <a:lnTo>
                  <a:pt x="0" y="419100"/>
                </a:lnTo>
                <a:lnTo>
                  <a:pt x="57150" y="533400"/>
                </a:lnTo>
                <a:lnTo>
                  <a:pt x="104775" y="438150"/>
                </a:lnTo>
                <a:lnTo>
                  <a:pt x="38100" y="438150"/>
                </a:lnTo>
                <a:lnTo>
                  <a:pt x="38100" y="419100"/>
                </a:lnTo>
                <a:close/>
              </a:path>
              <a:path w="114300" h="533400">
                <a:moveTo>
                  <a:pt x="76200" y="0"/>
                </a:moveTo>
                <a:lnTo>
                  <a:pt x="38100" y="0"/>
                </a:lnTo>
                <a:lnTo>
                  <a:pt x="38100" y="438150"/>
                </a:lnTo>
                <a:lnTo>
                  <a:pt x="76200" y="438150"/>
                </a:lnTo>
                <a:lnTo>
                  <a:pt x="76200" y="0"/>
                </a:lnTo>
                <a:close/>
              </a:path>
              <a:path w="114300" h="533400">
                <a:moveTo>
                  <a:pt x="114300" y="419100"/>
                </a:moveTo>
                <a:lnTo>
                  <a:pt x="76200" y="419100"/>
                </a:lnTo>
                <a:lnTo>
                  <a:pt x="76200" y="438150"/>
                </a:lnTo>
                <a:lnTo>
                  <a:pt x="104775" y="438150"/>
                </a:lnTo>
                <a:lnTo>
                  <a:pt x="114300" y="419100"/>
                </a:lnTo>
                <a:close/>
              </a:path>
            </a:pathLst>
          </a:custGeom>
          <a:solidFill>
            <a:srgbClr val="FF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591305" y="3641597"/>
            <a:ext cx="1485900" cy="0"/>
          </a:xfrm>
          <a:custGeom>
            <a:avLst/>
            <a:gdLst/>
            <a:ahLst/>
            <a:cxnLst/>
            <a:rect l="l" t="t" r="r" b="b"/>
            <a:pathLst>
              <a:path w="1485900" h="0">
                <a:moveTo>
                  <a:pt x="0" y="0"/>
                </a:moveTo>
                <a:lnTo>
                  <a:pt x="148590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591305" y="4117085"/>
            <a:ext cx="1485900" cy="0"/>
          </a:xfrm>
          <a:custGeom>
            <a:avLst/>
            <a:gdLst/>
            <a:ahLst/>
            <a:cxnLst/>
            <a:rect l="l" t="t" r="r" b="b"/>
            <a:pathLst>
              <a:path w="1485900" h="0">
                <a:moveTo>
                  <a:pt x="0" y="0"/>
                </a:moveTo>
                <a:lnTo>
                  <a:pt x="148590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124705" y="3641597"/>
            <a:ext cx="0" cy="475615"/>
          </a:xfrm>
          <a:custGeom>
            <a:avLst/>
            <a:gdLst/>
            <a:ahLst/>
            <a:cxnLst/>
            <a:rect l="l" t="t" r="r" b="b"/>
            <a:pathLst>
              <a:path w="0" h="475614">
                <a:moveTo>
                  <a:pt x="0" y="0"/>
                </a:moveTo>
                <a:lnTo>
                  <a:pt x="0" y="475488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658105" y="3629405"/>
            <a:ext cx="0" cy="477520"/>
          </a:xfrm>
          <a:custGeom>
            <a:avLst/>
            <a:gdLst/>
            <a:ahLst/>
            <a:cxnLst/>
            <a:rect l="l" t="t" r="r" b="b"/>
            <a:pathLst>
              <a:path w="0" h="477520">
                <a:moveTo>
                  <a:pt x="0" y="0"/>
                </a:moveTo>
                <a:lnTo>
                  <a:pt x="0" y="477012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3591305" y="3641597"/>
            <a:ext cx="533400" cy="475615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48590">
              <a:lnSpc>
                <a:spcPts val="3110"/>
              </a:lnSpc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297167" y="3126485"/>
            <a:ext cx="114300" cy="533400"/>
          </a:xfrm>
          <a:custGeom>
            <a:avLst/>
            <a:gdLst/>
            <a:ahLst/>
            <a:cxnLst/>
            <a:rect l="l" t="t" r="r" b="b"/>
            <a:pathLst>
              <a:path w="114300" h="533400">
                <a:moveTo>
                  <a:pt x="38100" y="419100"/>
                </a:moveTo>
                <a:lnTo>
                  <a:pt x="0" y="419100"/>
                </a:lnTo>
                <a:lnTo>
                  <a:pt x="57150" y="533400"/>
                </a:lnTo>
                <a:lnTo>
                  <a:pt x="104775" y="438150"/>
                </a:lnTo>
                <a:lnTo>
                  <a:pt x="38100" y="438150"/>
                </a:lnTo>
                <a:lnTo>
                  <a:pt x="38100" y="419100"/>
                </a:lnTo>
                <a:close/>
              </a:path>
              <a:path w="114300" h="533400">
                <a:moveTo>
                  <a:pt x="76200" y="0"/>
                </a:moveTo>
                <a:lnTo>
                  <a:pt x="38100" y="0"/>
                </a:lnTo>
                <a:lnTo>
                  <a:pt x="38100" y="438150"/>
                </a:lnTo>
                <a:lnTo>
                  <a:pt x="76200" y="438150"/>
                </a:lnTo>
                <a:lnTo>
                  <a:pt x="76200" y="0"/>
                </a:lnTo>
                <a:close/>
              </a:path>
              <a:path w="114300" h="533400">
                <a:moveTo>
                  <a:pt x="114300" y="419100"/>
                </a:moveTo>
                <a:lnTo>
                  <a:pt x="76200" y="419100"/>
                </a:lnTo>
                <a:lnTo>
                  <a:pt x="76200" y="438150"/>
                </a:lnTo>
                <a:lnTo>
                  <a:pt x="104775" y="438150"/>
                </a:lnTo>
                <a:lnTo>
                  <a:pt x="114300" y="419100"/>
                </a:lnTo>
                <a:close/>
              </a:path>
            </a:pathLst>
          </a:custGeom>
          <a:solidFill>
            <a:srgbClr val="FF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3974972" y="2881629"/>
            <a:ext cx="22288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47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5969253" y="2881629"/>
            <a:ext cx="2075814" cy="11455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7625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endParaRPr sz="28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210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# </a:t>
            </a:r>
            <a:r>
              <a:rPr dirty="0" sz="2800" spc="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baseline="-21021" sz="2775" spc="7" b="1">
                <a:solidFill>
                  <a:srgbClr val="FFFF00"/>
                </a:solidFill>
                <a:latin typeface="Times New Roman"/>
                <a:cs typeface="Times New Roman"/>
              </a:rPr>
              <a:t>1 </a:t>
            </a:r>
            <a:r>
              <a:rPr dirty="0" sz="2800" spc="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baseline="-21021" sz="2775" spc="7" b="1">
                <a:solidFill>
                  <a:srgbClr val="FFFF00"/>
                </a:solidFill>
                <a:latin typeface="Times New Roman"/>
                <a:cs typeface="Times New Roman"/>
              </a:rPr>
              <a:t>2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… </a:t>
            </a:r>
            <a:r>
              <a:rPr dirty="0" sz="2800" spc="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baseline="-21021" sz="2775" spc="7" b="1" i="1">
                <a:solidFill>
                  <a:srgbClr val="FFFF00"/>
                </a:solidFill>
                <a:latin typeface="Times New Roman"/>
                <a:cs typeface="Times New Roman"/>
              </a:rPr>
              <a:t>n</a:t>
            </a:r>
            <a:r>
              <a:rPr dirty="0" baseline="-21021" sz="2775" spc="-487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#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0791" y="4524247"/>
            <a:ext cx="180086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47700" algn="l"/>
              </a:tabLst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(1)	n</a:t>
            </a:r>
            <a:r>
              <a:rPr dirty="0" sz="2800" b="1">
                <a:solidFill>
                  <a:srgbClr val="FFFFFF"/>
                </a:solidFill>
                <a:latin typeface="Wingdings 3"/>
                <a:cs typeface="Wingdings 3"/>
              </a:rPr>
              <a:t></a:t>
            </a:r>
            <a:r>
              <a:rPr dirty="0" sz="2800" b="1">
                <a:solidFill>
                  <a:srgbClr val="FFFFFF"/>
                </a:solidFill>
                <a:latin typeface="Symbol"/>
                <a:cs typeface="Symbol"/>
              </a:rPr>
              <a:t>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9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;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95317" y="4472432"/>
            <a:ext cx="240347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当前输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入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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7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15391" y="4957300"/>
            <a:ext cx="5499100" cy="1178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16635" marR="43180" indent="-979169">
              <a:lnSpc>
                <a:spcPct val="135100"/>
              </a:lnSpc>
              <a:spcBef>
                <a:spcPts val="100"/>
              </a:spcBef>
              <a:tabLst>
                <a:tab pos="673100" algn="l"/>
              </a:tabLst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(2)	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据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与栈顶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∈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-25525" sz="2775" spc="-7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baseline="-25525" sz="2775" spc="34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比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较</a:t>
            </a:r>
            <a:r>
              <a:rPr dirty="0" sz="2800" spc="-70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：  若</a:t>
            </a:r>
            <a:r>
              <a:rPr dirty="0" sz="2800" spc="66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=“#”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800" spc="-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“#”</a:t>
            </a:r>
            <a:r>
              <a:rPr dirty="0" sz="2800" spc="-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 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end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714248" y="26923"/>
            <a:ext cx="75609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58035" algn="l"/>
                <a:tab pos="2567305" algn="l"/>
                <a:tab pos="4799965" algn="l"/>
                <a:tab pos="5499735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算符优先分析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法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优先函数表的构造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66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69240" y="701497"/>
            <a:ext cx="3083560" cy="561975"/>
          </a:xfrm>
          <a:prstGeom prst="rect"/>
        </p:spPr>
        <p:txBody>
          <a:bodyPr wrap="square" lIns="0" tIns="52705" rIns="0" bIns="0" rtlCol="0" vert="horz">
            <a:spAutoFit/>
          </a:bodyPr>
          <a:lstStyle/>
          <a:p>
            <a:pPr marL="419100" indent="-407034">
              <a:lnSpc>
                <a:spcPct val="100000"/>
              </a:lnSpc>
              <a:spcBef>
                <a:spcPts val="415"/>
              </a:spcBef>
              <a:buClr>
                <a:srgbClr val="66FFFF"/>
              </a:buClr>
              <a:buSzPct val="109375"/>
              <a:buFont typeface="Wingdings"/>
              <a:buChar char=""/>
              <a:tabLst>
                <a:tab pos="419100" algn="l"/>
                <a:tab pos="419734" algn="l"/>
              </a:tabLst>
            </a:pPr>
            <a:r>
              <a:rPr dirty="0" sz="3200">
                <a:solidFill>
                  <a:srgbClr val="FFFF15"/>
                </a:solidFill>
              </a:rPr>
              <a:t>算</a:t>
            </a:r>
            <a:r>
              <a:rPr dirty="0" sz="3200" spc="-5">
                <a:solidFill>
                  <a:srgbClr val="FFFF15"/>
                </a:solidFill>
              </a:rPr>
              <a:t>法</a:t>
            </a:r>
            <a:r>
              <a:rPr dirty="0" sz="3200">
                <a:solidFill>
                  <a:srgbClr val="FFFF15"/>
                </a:solidFill>
                <a:latin typeface="Times New Roman"/>
                <a:cs typeface="Times New Roman"/>
              </a:rPr>
              <a:t>5.5</a:t>
            </a:r>
            <a:r>
              <a:rPr dirty="0" sz="3200" spc="-85">
                <a:solidFill>
                  <a:srgbClr val="FFFF15"/>
                </a:solidFill>
                <a:latin typeface="Times New Roman"/>
                <a:cs typeface="Times New Roman"/>
              </a:rPr>
              <a:t> </a:t>
            </a:r>
            <a:r>
              <a:rPr dirty="0" sz="3200" spc="-5">
                <a:solidFill>
                  <a:srgbClr val="FFFFFF"/>
                </a:solidFill>
              </a:rPr>
              <a:t>（</a:t>
            </a:r>
            <a:r>
              <a:rPr dirty="0" sz="3200">
                <a:solidFill>
                  <a:srgbClr val="FFFFFF"/>
                </a:solidFill>
              </a:rPr>
              <a:t>续</a:t>
            </a:r>
            <a:r>
              <a:rPr dirty="0" sz="3200" spc="-10">
                <a:solidFill>
                  <a:srgbClr val="FFFFFF"/>
                </a:solidFill>
              </a:rPr>
              <a:t>）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2470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45"/>
              </a:spcBef>
            </a:pPr>
            <a:r>
              <a:rPr dirty="0" spc="-5"/>
              <a:t>否则查优先函数表：</a:t>
            </a:r>
          </a:p>
          <a:p>
            <a:pPr marL="812800" marR="5080">
              <a:lnSpc>
                <a:spcPts val="5210"/>
              </a:lnSpc>
              <a:spcBef>
                <a:spcPts val="480"/>
              </a:spcBef>
              <a:tabLst>
                <a:tab pos="4813935" algn="l"/>
              </a:tabLst>
            </a:pPr>
            <a:r>
              <a:rPr dirty="0" spc="-15"/>
              <a:t>若</a:t>
            </a:r>
            <a:r>
              <a:rPr dirty="0" spc="-695"/>
              <a:t> </a:t>
            </a:r>
            <a:r>
              <a:rPr dirty="0" spc="-5" i="1">
                <a:latin typeface="Times New Roman"/>
                <a:cs typeface="Times New Roman"/>
              </a:rPr>
              <a:t>f</a:t>
            </a:r>
            <a:r>
              <a:rPr dirty="0" spc="-5">
                <a:latin typeface="Times New Roman"/>
                <a:cs typeface="Times New Roman"/>
              </a:rPr>
              <a:t>(</a:t>
            </a:r>
            <a:r>
              <a:rPr dirty="0" spc="-5" i="1">
                <a:latin typeface="Times New Roman"/>
                <a:cs typeface="Times New Roman"/>
              </a:rPr>
              <a:t>b</a:t>
            </a:r>
            <a:r>
              <a:rPr dirty="0" spc="-5">
                <a:latin typeface="Times New Roman"/>
                <a:cs typeface="Times New Roman"/>
              </a:rPr>
              <a:t>)</a:t>
            </a:r>
            <a:r>
              <a:rPr dirty="0" spc="-5">
                <a:solidFill>
                  <a:srgbClr val="FFFF00"/>
                </a:solidFill>
                <a:latin typeface="Times New Roman"/>
                <a:cs typeface="Times New Roman"/>
              </a:rPr>
              <a:t>&lt;</a:t>
            </a:r>
            <a:r>
              <a:rPr dirty="0" i="1">
                <a:latin typeface="Times New Roman"/>
                <a:cs typeface="Times New Roman"/>
              </a:rPr>
              <a:t>g</a:t>
            </a:r>
            <a:r>
              <a:rPr dirty="0" spc="-5">
                <a:latin typeface="Times New Roman"/>
                <a:cs typeface="Times New Roman"/>
              </a:rPr>
              <a:t>(</a:t>
            </a:r>
            <a:r>
              <a:rPr dirty="0" spc="-5" i="1">
                <a:latin typeface="Times New Roman"/>
                <a:cs typeface="Times New Roman"/>
              </a:rPr>
              <a:t>a</a:t>
            </a:r>
            <a:r>
              <a:rPr dirty="0" spc="-5">
                <a:latin typeface="Times New Roman"/>
                <a:cs typeface="Times New Roman"/>
              </a:rPr>
              <a:t>)</a:t>
            </a:r>
            <a:r>
              <a:rPr dirty="0">
                <a:latin typeface="Times New Roman"/>
                <a:cs typeface="Times New Roman"/>
              </a:rPr>
              <a:t> </a:t>
            </a:r>
            <a:r>
              <a:rPr dirty="0" spc="-15"/>
              <a:t>或</a:t>
            </a:r>
            <a:r>
              <a:rPr dirty="0" spc="-695"/>
              <a:t> </a:t>
            </a:r>
            <a:r>
              <a:rPr dirty="0" spc="-5" i="1">
                <a:latin typeface="Times New Roman"/>
                <a:cs typeface="Times New Roman"/>
              </a:rPr>
              <a:t>f</a:t>
            </a:r>
            <a:r>
              <a:rPr dirty="0" spc="-5">
                <a:latin typeface="Times New Roman"/>
                <a:cs typeface="Times New Roman"/>
              </a:rPr>
              <a:t>(</a:t>
            </a:r>
            <a:r>
              <a:rPr dirty="0" spc="-5" i="1">
                <a:latin typeface="Times New Roman"/>
                <a:cs typeface="Times New Roman"/>
              </a:rPr>
              <a:t>b</a:t>
            </a:r>
            <a:r>
              <a:rPr dirty="0" spc="-5">
                <a:latin typeface="Times New Roman"/>
                <a:cs typeface="Times New Roman"/>
              </a:rPr>
              <a:t>)</a:t>
            </a:r>
            <a:r>
              <a:rPr dirty="0">
                <a:latin typeface="Times New Roman"/>
                <a:cs typeface="Times New Roman"/>
              </a:rPr>
              <a:t> </a:t>
            </a:r>
            <a:r>
              <a:rPr dirty="0" spc="-5">
                <a:latin typeface="Times New Roman"/>
                <a:cs typeface="Times New Roman"/>
              </a:rPr>
              <a:t>=</a:t>
            </a:r>
            <a:r>
              <a:rPr dirty="0" spc="10">
                <a:latin typeface="Times New Roman"/>
                <a:cs typeface="Times New Roman"/>
              </a:rPr>
              <a:t> </a:t>
            </a:r>
            <a:r>
              <a:rPr dirty="0" spc="-5" i="1">
                <a:latin typeface="Times New Roman"/>
                <a:cs typeface="Times New Roman"/>
              </a:rPr>
              <a:t>g</a:t>
            </a:r>
            <a:r>
              <a:rPr dirty="0" spc="-5">
                <a:latin typeface="Times New Roman"/>
                <a:cs typeface="Times New Roman"/>
              </a:rPr>
              <a:t>(</a:t>
            </a:r>
            <a:r>
              <a:rPr dirty="0" spc="-5" i="1">
                <a:latin typeface="Times New Roman"/>
                <a:cs typeface="Times New Roman"/>
              </a:rPr>
              <a:t>a</a:t>
            </a:r>
            <a:r>
              <a:rPr dirty="0" spc="-5">
                <a:latin typeface="Times New Roman"/>
                <a:cs typeface="Times New Roman"/>
              </a:rPr>
              <a:t>)</a:t>
            </a:r>
            <a:r>
              <a:rPr dirty="0">
                <a:latin typeface="Times New Roman"/>
                <a:cs typeface="Times New Roman"/>
              </a:rPr>
              <a:t>	</a:t>
            </a:r>
            <a:r>
              <a:rPr dirty="0" spc="-10"/>
              <a:t>转</a:t>
            </a:r>
            <a:r>
              <a:rPr dirty="0" spc="-5">
                <a:latin typeface="Times New Roman"/>
                <a:cs typeface="Times New Roman"/>
              </a:rPr>
              <a:t>(3); </a:t>
            </a:r>
            <a:r>
              <a:rPr dirty="0" spc="-15"/>
              <a:t>若</a:t>
            </a:r>
            <a:r>
              <a:rPr dirty="0" spc="-700"/>
              <a:t> </a:t>
            </a:r>
            <a:r>
              <a:rPr dirty="0" spc="-5" i="1">
                <a:latin typeface="Times New Roman"/>
                <a:cs typeface="Times New Roman"/>
              </a:rPr>
              <a:t>f</a:t>
            </a:r>
            <a:r>
              <a:rPr dirty="0" spc="-5">
                <a:latin typeface="Times New Roman"/>
                <a:cs typeface="Times New Roman"/>
              </a:rPr>
              <a:t>(</a:t>
            </a:r>
            <a:r>
              <a:rPr dirty="0" spc="-5" i="1">
                <a:latin typeface="Times New Roman"/>
                <a:cs typeface="Times New Roman"/>
              </a:rPr>
              <a:t>b</a:t>
            </a:r>
            <a:r>
              <a:rPr dirty="0" spc="-5">
                <a:latin typeface="Times New Roman"/>
                <a:cs typeface="Times New Roman"/>
              </a:rPr>
              <a:t>)</a:t>
            </a:r>
            <a:r>
              <a:rPr dirty="0">
                <a:latin typeface="Times New Roman"/>
                <a:cs typeface="Times New Roman"/>
              </a:rPr>
              <a:t> </a:t>
            </a:r>
            <a:r>
              <a:rPr dirty="0" spc="-5">
                <a:solidFill>
                  <a:srgbClr val="FFFF00"/>
                </a:solidFill>
                <a:latin typeface="Times New Roman"/>
                <a:cs typeface="Times New Roman"/>
              </a:rPr>
              <a:t>&gt;</a:t>
            </a:r>
            <a:r>
              <a:rPr dirty="0" spc="5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g</a:t>
            </a:r>
            <a:r>
              <a:rPr dirty="0">
                <a:latin typeface="Times New Roman"/>
                <a:cs typeface="Times New Roman"/>
              </a:rPr>
              <a:t>(</a:t>
            </a:r>
            <a:r>
              <a:rPr dirty="0" i="1">
                <a:latin typeface="Times New Roman"/>
                <a:cs typeface="Times New Roman"/>
              </a:rPr>
              <a:t>a</a:t>
            </a:r>
            <a:r>
              <a:rPr dirty="0">
                <a:latin typeface="Times New Roman"/>
                <a:cs typeface="Times New Roman"/>
              </a:rPr>
              <a:t>) </a:t>
            </a:r>
            <a:r>
              <a:rPr dirty="0" spc="-5"/>
              <a:t>转</a:t>
            </a:r>
            <a:r>
              <a:rPr dirty="0" spc="-5">
                <a:latin typeface="Times New Roman"/>
                <a:cs typeface="Times New Roman"/>
              </a:rPr>
              <a:t>(4);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864857" y="1848318"/>
            <a:ext cx="1778000" cy="1349375"/>
          </a:xfrm>
          <a:prstGeom prst="rect">
            <a:avLst/>
          </a:prstGeom>
        </p:spPr>
        <p:txBody>
          <a:bodyPr wrap="square" lIns="0" tIns="248285" rIns="0" bIns="0" rtlCol="0" vert="horz">
            <a:spAutoFit/>
          </a:bodyPr>
          <a:lstStyle/>
          <a:p>
            <a:pPr marL="100965">
              <a:lnSpc>
                <a:spcPct val="100000"/>
              </a:lnSpc>
              <a:spcBef>
                <a:spcPts val="1955"/>
              </a:spcBef>
              <a:tabLst>
                <a:tab pos="1316990" algn="l"/>
              </a:tabLst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/*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 shift	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*/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5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/* </a:t>
            </a:r>
            <a:r>
              <a:rPr dirty="0" sz="2800" spc="-15" b="1">
                <a:solidFill>
                  <a:srgbClr val="FFFF00"/>
                </a:solidFill>
                <a:latin typeface="Times New Roman"/>
                <a:cs typeface="Times New Roman"/>
              </a:rPr>
              <a:t>reduce</a:t>
            </a:r>
            <a:r>
              <a:rPr dirty="0" sz="2800" spc="-5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*/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2731" y="3171277"/>
            <a:ext cx="7865745" cy="2676525"/>
          </a:xfrm>
          <a:prstGeom prst="rect">
            <a:avLst/>
          </a:prstGeom>
        </p:spPr>
        <p:txBody>
          <a:bodyPr wrap="square" lIns="0" tIns="2482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955"/>
              </a:spcBef>
              <a:tabLst>
                <a:tab pos="720725" algn="l"/>
              </a:tabLst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(3)	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入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栈</a:t>
            </a:r>
            <a:r>
              <a:rPr dirty="0" sz="2800" spc="-70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＋＋，转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(1)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marL="661670" marR="43180" indent="-624205">
              <a:lnSpc>
                <a:spcPct val="148900"/>
              </a:lnSpc>
              <a:spcBef>
                <a:spcPts val="204"/>
              </a:spcBef>
              <a:tabLst>
                <a:tab pos="720725" algn="l"/>
              </a:tabLst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(4)		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在栈中寻找满足</a:t>
            </a:r>
            <a:r>
              <a:rPr dirty="0" sz="2800" spc="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baseline="-15015" sz="2775" spc="7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baseline="-15015" sz="2775" spc="7" b="1">
                <a:solidFill>
                  <a:srgbClr val="FFFFFF"/>
                </a:solidFill>
                <a:latin typeface="Times New Roman"/>
                <a:cs typeface="Times New Roman"/>
              </a:rPr>
              <a:t>+1</a:t>
            </a:r>
            <a:r>
              <a:rPr dirty="0" baseline="-15015" sz="2775" spc="367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&lt;</a:t>
            </a:r>
            <a:r>
              <a:rPr dirty="0" sz="2800" b="1" i="1">
                <a:solidFill>
                  <a:srgbClr val="66FFFF"/>
                </a:solidFill>
                <a:latin typeface="Times New Roman"/>
                <a:cs typeface="Times New Roman"/>
              </a:rPr>
              <a:t>b</a:t>
            </a:r>
            <a:r>
              <a:rPr dirty="0" baseline="-15015" sz="2775" b="1" i="1">
                <a:solidFill>
                  <a:srgbClr val="66FFFF"/>
                </a:solidFill>
                <a:latin typeface="Times New Roman"/>
                <a:cs typeface="Times New Roman"/>
              </a:rPr>
              <a:t>n</a:t>
            </a:r>
            <a:r>
              <a:rPr dirty="0" sz="2800" b="1">
                <a:solidFill>
                  <a:srgbClr val="66FFFF"/>
                </a:solidFill>
                <a:latin typeface="宋体"/>
                <a:cs typeface="宋体"/>
              </a:rPr>
              <a:t>＝</a:t>
            </a:r>
            <a:r>
              <a:rPr dirty="0" sz="2800" b="1" i="1">
                <a:solidFill>
                  <a:srgbClr val="66FFFF"/>
                </a:solidFill>
                <a:latin typeface="Times New Roman"/>
                <a:cs typeface="Times New Roman"/>
              </a:rPr>
              <a:t>b</a:t>
            </a:r>
            <a:r>
              <a:rPr dirty="0" baseline="-15015" sz="2775" b="1" i="1">
                <a:solidFill>
                  <a:srgbClr val="66FFFF"/>
                </a:solidFill>
                <a:latin typeface="Times New Roman"/>
                <a:cs typeface="Times New Roman"/>
              </a:rPr>
              <a:t>n</a:t>
            </a:r>
            <a:r>
              <a:rPr dirty="0" baseline="-15015" sz="2775" b="1">
                <a:solidFill>
                  <a:srgbClr val="66FFFF"/>
                </a:solidFill>
                <a:latin typeface="Times New Roman"/>
                <a:cs typeface="Times New Roman"/>
              </a:rPr>
              <a:t>-1</a:t>
            </a:r>
            <a:r>
              <a:rPr dirty="0" sz="2800" b="1">
                <a:solidFill>
                  <a:srgbClr val="66FFFF"/>
                </a:solidFill>
                <a:latin typeface="Courier New"/>
                <a:cs typeface="Courier New"/>
              </a:rPr>
              <a:t>…</a:t>
            </a:r>
            <a:r>
              <a:rPr dirty="0" sz="2800" spc="-1000" b="1">
                <a:solidFill>
                  <a:srgbClr val="66FFFF"/>
                </a:solidFill>
                <a:latin typeface="Courier New"/>
                <a:cs typeface="Courier New"/>
              </a:rPr>
              <a:t> </a:t>
            </a:r>
            <a:r>
              <a:rPr dirty="0" sz="2800" b="1">
                <a:solidFill>
                  <a:srgbClr val="66FFFF"/>
                </a:solidFill>
                <a:latin typeface="宋体"/>
                <a:cs typeface="宋体"/>
              </a:rPr>
              <a:t>＝</a:t>
            </a:r>
            <a:r>
              <a:rPr dirty="0" sz="2800" b="1" i="1">
                <a:solidFill>
                  <a:srgbClr val="66FFFF"/>
                </a:solidFill>
                <a:latin typeface="Times New Roman"/>
                <a:cs typeface="Times New Roman"/>
              </a:rPr>
              <a:t>b</a:t>
            </a:r>
            <a:r>
              <a:rPr dirty="0" baseline="-15015" sz="2775" b="1">
                <a:solidFill>
                  <a:srgbClr val="66FFFF"/>
                </a:solidFill>
                <a:latin typeface="Times New Roman"/>
                <a:cs typeface="Times New Roman"/>
              </a:rPr>
              <a:t>1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&gt;</a:t>
            </a:r>
            <a:r>
              <a:rPr dirty="0" sz="2800" spc="19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baseline="-15015" sz="2775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，  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将</a:t>
            </a:r>
            <a:r>
              <a:rPr dirty="0" sz="2800" spc="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baseline="-15015" sz="2775" spc="7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2800" spc="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baseline="-15015" sz="2775" spc="7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baseline="-15015" sz="2775" spc="7" b="1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dirty="0" baseline="-21021" sz="2775" spc="7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spc="5" b="1">
                <a:solidFill>
                  <a:srgbClr val="FFFFFF"/>
                </a:solidFill>
                <a:latin typeface="Courier New"/>
                <a:cs typeface="Courier New"/>
              </a:rPr>
              <a:t>…</a:t>
            </a:r>
            <a:r>
              <a:rPr dirty="0" sz="2800" spc="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baseline="-15015" sz="2775" spc="7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及有关的非终结符归约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到</a:t>
            </a:r>
            <a:r>
              <a:rPr dirty="0" sz="2950" spc="-85" b="1" i="1">
                <a:solidFill>
                  <a:srgbClr val="FFFFFF"/>
                </a:solidFill>
                <a:latin typeface="宋体"/>
                <a:cs typeface="宋体"/>
              </a:rPr>
              <a:t>Ｑ</a:t>
            </a:r>
            <a:r>
              <a:rPr dirty="0" sz="2800" spc="-85" b="1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不能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归约</a:t>
            </a:r>
            <a:r>
              <a:rPr dirty="0" sz="2800" spc="-30" b="1">
                <a:solidFill>
                  <a:srgbClr val="FFFFFF"/>
                </a:solidFill>
                <a:latin typeface="Times New Roman"/>
                <a:cs typeface="Times New Roman"/>
              </a:rPr>
              <a:t>error</a:t>
            </a:r>
            <a:r>
              <a:rPr dirty="0" sz="2800" spc="-30" b="1">
                <a:solidFill>
                  <a:srgbClr val="FFFFFF"/>
                </a:solidFill>
                <a:latin typeface="宋体"/>
                <a:cs typeface="宋体"/>
              </a:rPr>
              <a:t>），</a:t>
            </a:r>
            <a:r>
              <a:rPr dirty="0" sz="2950" spc="-30" b="1" i="1">
                <a:solidFill>
                  <a:srgbClr val="FFFFFF"/>
                </a:solidFill>
                <a:latin typeface="宋体"/>
                <a:cs typeface="宋体"/>
              </a:rPr>
              <a:t>Ｑ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入栈，转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(2)</a:t>
            </a:r>
            <a:r>
              <a:rPr dirty="0" sz="2800" spc="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449448" y="26923"/>
            <a:ext cx="16294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09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04308" y="26923"/>
            <a:ext cx="232537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0065" algn="l"/>
              </a:tabLst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算符优先分析法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40842" y="554227"/>
            <a:ext cx="2884805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heavy" sz="320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</a:rPr>
              <a:t>算符优先分析器</a:t>
            </a:r>
            <a:endParaRPr sz="3200"/>
          </a:p>
        </p:txBody>
      </p:sp>
      <p:sp>
        <p:nvSpPr>
          <p:cNvPr id="7" name="object 7"/>
          <p:cNvSpPr/>
          <p:nvPr/>
        </p:nvSpPr>
        <p:spPr>
          <a:xfrm>
            <a:off x="3505961" y="2134361"/>
            <a:ext cx="1485900" cy="523240"/>
          </a:xfrm>
          <a:custGeom>
            <a:avLst/>
            <a:gdLst/>
            <a:ahLst/>
            <a:cxnLst/>
            <a:rect l="l" t="t" r="r" b="b"/>
            <a:pathLst>
              <a:path w="1485900" h="523239">
                <a:moveTo>
                  <a:pt x="0" y="522731"/>
                </a:moveTo>
                <a:lnTo>
                  <a:pt x="1485900" y="522731"/>
                </a:lnTo>
                <a:lnTo>
                  <a:pt x="1485900" y="0"/>
                </a:lnTo>
                <a:lnTo>
                  <a:pt x="0" y="0"/>
                </a:lnTo>
                <a:lnTo>
                  <a:pt x="0" y="522731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902075" y="2093213"/>
            <a:ext cx="57912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OP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401061" y="3220973"/>
            <a:ext cx="1811020" cy="424180"/>
          </a:xfrm>
          <a:custGeom>
            <a:avLst/>
            <a:gdLst/>
            <a:ahLst/>
            <a:cxnLst/>
            <a:rect l="l" t="t" r="r" b="b"/>
            <a:pathLst>
              <a:path w="1811020" h="424179">
                <a:moveTo>
                  <a:pt x="0" y="423671"/>
                </a:moveTo>
                <a:lnTo>
                  <a:pt x="1810512" y="423671"/>
                </a:lnTo>
                <a:lnTo>
                  <a:pt x="1810512" y="0"/>
                </a:lnTo>
                <a:lnTo>
                  <a:pt x="0" y="0"/>
                </a:lnTo>
                <a:lnTo>
                  <a:pt x="0" y="423671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491994" y="3211195"/>
            <a:ext cx="15462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优先关系表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630673" y="3220973"/>
            <a:ext cx="2456815" cy="424180"/>
          </a:xfrm>
          <a:custGeom>
            <a:avLst/>
            <a:gdLst/>
            <a:ahLst/>
            <a:cxnLst/>
            <a:rect l="l" t="t" r="r" b="b"/>
            <a:pathLst>
              <a:path w="2456815" h="424179">
                <a:moveTo>
                  <a:pt x="0" y="423671"/>
                </a:moveTo>
                <a:lnTo>
                  <a:pt x="2456687" y="423671"/>
                </a:lnTo>
                <a:lnTo>
                  <a:pt x="2456687" y="0"/>
                </a:lnTo>
                <a:lnTo>
                  <a:pt x="0" y="0"/>
                </a:lnTo>
                <a:lnTo>
                  <a:pt x="0" y="423671"/>
                </a:lnTo>
                <a:close/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721352" y="3211195"/>
            <a:ext cx="21570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优先函数表构造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020061" y="4440173"/>
            <a:ext cx="1638300" cy="424180"/>
          </a:xfrm>
          <a:custGeom>
            <a:avLst/>
            <a:gdLst/>
            <a:ahLst/>
            <a:cxnLst/>
            <a:rect l="l" t="t" r="r" b="b"/>
            <a:pathLst>
              <a:path w="1638300" h="424179">
                <a:moveTo>
                  <a:pt x="0" y="423671"/>
                </a:moveTo>
                <a:lnTo>
                  <a:pt x="1638300" y="423671"/>
                </a:lnTo>
                <a:lnTo>
                  <a:pt x="1638300" y="0"/>
                </a:lnTo>
                <a:lnTo>
                  <a:pt x="0" y="0"/>
                </a:lnTo>
                <a:lnTo>
                  <a:pt x="0" y="423671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2110994" y="4426077"/>
            <a:ext cx="13328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FIRS</a:t>
            </a:r>
            <a:r>
              <a:rPr dirty="0" sz="2400" spc="-20" b="1">
                <a:solidFill>
                  <a:srgbClr val="FFFF00"/>
                </a:solidFill>
                <a:latin typeface="Times New Roman"/>
                <a:cs typeface="Times New Roman"/>
              </a:rPr>
              <a:t>T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VT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886961" y="4440173"/>
            <a:ext cx="1638300" cy="424180"/>
          </a:xfrm>
          <a:custGeom>
            <a:avLst/>
            <a:gdLst/>
            <a:ahLst/>
            <a:cxnLst/>
            <a:rect l="l" t="t" r="r" b="b"/>
            <a:pathLst>
              <a:path w="1638300" h="424179">
                <a:moveTo>
                  <a:pt x="0" y="423671"/>
                </a:moveTo>
                <a:lnTo>
                  <a:pt x="1638300" y="423671"/>
                </a:lnTo>
                <a:lnTo>
                  <a:pt x="1638300" y="0"/>
                </a:lnTo>
                <a:lnTo>
                  <a:pt x="0" y="0"/>
                </a:lnTo>
                <a:lnTo>
                  <a:pt x="0" y="423671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054475" y="4426077"/>
            <a:ext cx="12306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r>
              <a:rPr dirty="0" sz="2400" spc="-15" b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2400" spc="-15" b="1">
                <a:solidFill>
                  <a:srgbClr val="FFFF00"/>
                </a:solidFill>
                <a:latin typeface="Times New Roman"/>
                <a:cs typeface="Times New Roman"/>
              </a:rPr>
              <a:t>T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VT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401061" y="3731767"/>
            <a:ext cx="473075" cy="708660"/>
          </a:xfrm>
          <a:custGeom>
            <a:avLst/>
            <a:gdLst/>
            <a:ahLst/>
            <a:cxnLst/>
            <a:rect l="l" t="t" r="r" b="b"/>
            <a:pathLst>
              <a:path w="473075" h="708660">
                <a:moveTo>
                  <a:pt x="14858" y="581532"/>
                </a:moveTo>
                <a:lnTo>
                  <a:pt x="0" y="708405"/>
                </a:lnTo>
                <a:lnTo>
                  <a:pt x="110489" y="644143"/>
                </a:lnTo>
                <a:lnTo>
                  <a:pt x="102924" y="639190"/>
                </a:lnTo>
                <a:lnTo>
                  <a:pt x="68071" y="639190"/>
                </a:lnTo>
                <a:lnTo>
                  <a:pt x="36194" y="618235"/>
                </a:lnTo>
                <a:lnTo>
                  <a:pt x="46619" y="602327"/>
                </a:lnTo>
                <a:lnTo>
                  <a:pt x="14858" y="581532"/>
                </a:lnTo>
                <a:close/>
              </a:path>
              <a:path w="473075" h="708660">
                <a:moveTo>
                  <a:pt x="46619" y="602327"/>
                </a:moveTo>
                <a:lnTo>
                  <a:pt x="36194" y="618235"/>
                </a:lnTo>
                <a:lnTo>
                  <a:pt x="68071" y="639190"/>
                </a:lnTo>
                <a:lnTo>
                  <a:pt x="78531" y="623220"/>
                </a:lnTo>
                <a:lnTo>
                  <a:pt x="46619" y="602327"/>
                </a:lnTo>
                <a:close/>
              </a:path>
              <a:path w="473075" h="708660">
                <a:moveTo>
                  <a:pt x="78531" y="623220"/>
                </a:moveTo>
                <a:lnTo>
                  <a:pt x="68071" y="639190"/>
                </a:lnTo>
                <a:lnTo>
                  <a:pt x="102924" y="639190"/>
                </a:lnTo>
                <a:lnTo>
                  <a:pt x="78531" y="623220"/>
                </a:lnTo>
                <a:close/>
              </a:path>
              <a:path w="473075" h="708660">
                <a:moveTo>
                  <a:pt x="441325" y="0"/>
                </a:moveTo>
                <a:lnTo>
                  <a:pt x="46619" y="602327"/>
                </a:lnTo>
                <a:lnTo>
                  <a:pt x="78531" y="623220"/>
                </a:lnTo>
                <a:lnTo>
                  <a:pt x="473075" y="20827"/>
                </a:lnTo>
                <a:lnTo>
                  <a:pt x="441325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495928" y="3726053"/>
            <a:ext cx="1134745" cy="714375"/>
          </a:xfrm>
          <a:custGeom>
            <a:avLst/>
            <a:gdLst/>
            <a:ahLst/>
            <a:cxnLst/>
            <a:rect l="l" t="t" r="r" b="b"/>
            <a:pathLst>
              <a:path w="1134745" h="714375">
                <a:moveTo>
                  <a:pt x="1027612" y="670030"/>
                </a:moveTo>
                <a:lnTo>
                  <a:pt x="1007491" y="702437"/>
                </a:lnTo>
                <a:lnTo>
                  <a:pt x="1134745" y="714121"/>
                </a:lnTo>
                <a:lnTo>
                  <a:pt x="1113815" y="680085"/>
                </a:lnTo>
                <a:lnTo>
                  <a:pt x="1043813" y="680085"/>
                </a:lnTo>
                <a:lnTo>
                  <a:pt x="1027612" y="670030"/>
                </a:lnTo>
                <a:close/>
              </a:path>
              <a:path w="1134745" h="714375">
                <a:moveTo>
                  <a:pt x="1047708" y="637665"/>
                </a:moveTo>
                <a:lnTo>
                  <a:pt x="1027612" y="670030"/>
                </a:lnTo>
                <a:lnTo>
                  <a:pt x="1043813" y="680085"/>
                </a:lnTo>
                <a:lnTo>
                  <a:pt x="1063879" y="647700"/>
                </a:lnTo>
                <a:lnTo>
                  <a:pt x="1047708" y="637665"/>
                </a:lnTo>
                <a:close/>
              </a:path>
              <a:path w="1134745" h="714375">
                <a:moveTo>
                  <a:pt x="1067816" y="605282"/>
                </a:moveTo>
                <a:lnTo>
                  <a:pt x="1047708" y="637665"/>
                </a:lnTo>
                <a:lnTo>
                  <a:pt x="1063879" y="647700"/>
                </a:lnTo>
                <a:lnTo>
                  <a:pt x="1043813" y="680085"/>
                </a:lnTo>
                <a:lnTo>
                  <a:pt x="1113815" y="680085"/>
                </a:lnTo>
                <a:lnTo>
                  <a:pt x="1067816" y="605282"/>
                </a:lnTo>
                <a:close/>
              </a:path>
              <a:path w="1134745" h="714375">
                <a:moveTo>
                  <a:pt x="20066" y="0"/>
                </a:moveTo>
                <a:lnTo>
                  <a:pt x="0" y="32258"/>
                </a:lnTo>
                <a:lnTo>
                  <a:pt x="1027612" y="670030"/>
                </a:lnTo>
                <a:lnTo>
                  <a:pt x="1047708" y="637665"/>
                </a:lnTo>
                <a:lnTo>
                  <a:pt x="2006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144773" y="2641980"/>
            <a:ext cx="753745" cy="579120"/>
          </a:xfrm>
          <a:custGeom>
            <a:avLst/>
            <a:gdLst/>
            <a:ahLst/>
            <a:cxnLst/>
            <a:rect l="l" t="t" r="r" b="b"/>
            <a:pathLst>
              <a:path w="753745" h="579119">
                <a:moveTo>
                  <a:pt x="56387" y="464312"/>
                </a:moveTo>
                <a:lnTo>
                  <a:pt x="0" y="578993"/>
                </a:lnTo>
                <a:lnTo>
                  <a:pt x="125602" y="555371"/>
                </a:lnTo>
                <a:lnTo>
                  <a:pt x="111315" y="536575"/>
                </a:lnTo>
                <a:lnTo>
                  <a:pt x="87375" y="536575"/>
                </a:lnTo>
                <a:lnTo>
                  <a:pt x="64262" y="506222"/>
                </a:lnTo>
                <a:lnTo>
                  <a:pt x="79465" y="494672"/>
                </a:lnTo>
                <a:lnTo>
                  <a:pt x="56387" y="464312"/>
                </a:lnTo>
                <a:close/>
              </a:path>
              <a:path w="753745" h="579119">
                <a:moveTo>
                  <a:pt x="79465" y="494672"/>
                </a:moveTo>
                <a:lnTo>
                  <a:pt x="64262" y="506222"/>
                </a:lnTo>
                <a:lnTo>
                  <a:pt x="87375" y="536575"/>
                </a:lnTo>
                <a:lnTo>
                  <a:pt x="102551" y="525044"/>
                </a:lnTo>
                <a:lnTo>
                  <a:pt x="79465" y="494672"/>
                </a:lnTo>
                <a:close/>
              </a:path>
              <a:path w="753745" h="579119">
                <a:moveTo>
                  <a:pt x="102551" y="525044"/>
                </a:moveTo>
                <a:lnTo>
                  <a:pt x="87375" y="536575"/>
                </a:lnTo>
                <a:lnTo>
                  <a:pt x="111315" y="536575"/>
                </a:lnTo>
                <a:lnTo>
                  <a:pt x="102551" y="525044"/>
                </a:lnTo>
                <a:close/>
              </a:path>
              <a:path w="753745" h="579119">
                <a:moveTo>
                  <a:pt x="730630" y="0"/>
                </a:moveTo>
                <a:lnTo>
                  <a:pt x="79465" y="494672"/>
                </a:lnTo>
                <a:lnTo>
                  <a:pt x="102551" y="525044"/>
                </a:lnTo>
                <a:lnTo>
                  <a:pt x="753745" y="30226"/>
                </a:lnTo>
                <a:lnTo>
                  <a:pt x="73063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620514" y="2640964"/>
            <a:ext cx="904875" cy="580390"/>
          </a:xfrm>
          <a:custGeom>
            <a:avLst/>
            <a:gdLst/>
            <a:ahLst/>
            <a:cxnLst/>
            <a:rect l="l" t="t" r="r" b="b"/>
            <a:pathLst>
              <a:path w="904875" h="580389">
                <a:moveTo>
                  <a:pt x="797943" y="535174"/>
                </a:moveTo>
                <a:lnTo>
                  <a:pt x="777621" y="567436"/>
                </a:lnTo>
                <a:lnTo>
                  <a:pt x="904748" y="580009"/>
                </a:lnTo>
                <a:lnTo>
                  <a:pt x="883768" y="545338"/>
                </a:lnTo>
                <a:lnTo>
                  <a:pt x="814070" y="545338"/>
                </a:lnTo>
                <a:lnTo>
                  <a:pt x="797943" y="535174"/>
                </a:lnTo>
                <a:close/>
              </a:path>
              <a:path w="904875" h="580389">
                <a:moveTo>
                  <a:pt x="818228" y="502972"/>
                </a:moveTo>
                <a:lnTo>
                  <a:pt x="797943" y="535174"/>
                </a:lnTo>
                <a:lnTo>
                  <a:pt x="814070" y="545338"/>
                </a:lnTo>
                <a:lnTo>
                  <a:pt x="834263" y="513080"/>
                </a:lnTo>
                <a:lnTo>
                  <a:pt x="818228" y="502972"/>
                </a:lnTo>
                <a:close/>
              </a:path>
              <a:path w="904875" h="580389">
                <a:moveTo>
                  <a:pt x="838581" y="470662"/>
                </a:moveTo>
                <a:lnTo>
                  <a:pt x="818228" y="502972"/>
                </a:lnTo>
                <a:lnTo>
                  <a:pt x="834263" y="513080"/>
                </a:lnTo>
                <a:lnTo>
                  <a:pt x="814070" y="545338"/>
                </a:lnTo>
                <a:lnTo>
                  <a:pt x="883768" y="545338"/>
                </a:lnTo>
                <a:lnTo>
                  <a:pt x="838581" y="470662"/>
                </a:lnTo>
                <a:close/>
              </a:path>
              <a:path w="904875" h="580389">
                <a:moveTo>
                  <a:pt x="20320" y="0"/>
                </a:moveTo>
                <a:lnTo>
                  <a:pt x="0" y="32258"/>
                </a:lnTo>
                <a:lnTo>
                  <a:pt x="797943" y="535174"/>
                </a:lnTo>
                <a:lnTo>
                  <a:pt x="818228" y="502972"/>
                </a:lnTo>
                <a:lnTo>
                  <a:pt x="2032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696973" y="1715261"/>
            <a:ext cx="5771515" cy="3619500"/>
          </a:xfrm>
          <a:custGeom>
            <a:avLst/>
            <a:gdLst/>
            <a:ahLst/>
            <a:cxnLst/>
            <a:rect l="l" t="t" r="r" b="b"/>
            <a:pathLst>
              <a:path w="5771515" h="3619500">
                <a:moveTo>
                  <a:pt x="0" y="3619500"/>
                </a:moveTo>
                <a:lnTo>
                  <a:pt x="5771387" y="3619500"/>
                </a:lnTo>
                <a:lnTo>
                  <a:pt x="5771387" y="0"/>
                </a:lnTo>
                <a:lnTo>
                  <a:pt x="0" y="0"/>
                </a:lnTo>
                <a:lnTo>
                  <a:pt x="0" y="3619500"/>
                </a:lnTo>
                <a:close/>
              </a:path>
            </a:pathLst>
          </a:custGeom>
          <a:ln w="38100">
            <a:solidFill>
              <a:srgbClr val="FF66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63474" y="3587496"/>
            <a:ext cx="1333500" cy="114300"/>
          </a:xfrm>
          <a:custGeom>
            <a:avLst/>
            <a:gdLst/>
            <a:ahLst/>
            <a:cxnLst/>
            <a:rect l="l" t="t" r="r" b="b"/>
            <a:pathLst>
              <a:path w="1333500" h="114300">
                <a:moveTo>
                  <a:pt x="1219200" y="0"/>
                </a:moveTo>
                <a:lnTo>
                  <a:pt x="1219200" y="114299"/>
                </a:lnTo>
                <a:lnTo>
                  <a:pt x="1295400" y="76199"/>
                </a:lnTo>
                <a:lnTo>
                  <a:pt x="1238250" y="76199"/>
                </a:lnTo>
                <a:lnTo>
                  <a:pt x="1238250" y="38099"/>
                </a:lnTo>
                <a:lnTo>
                  <a:pt x="1295399" y="38099"/>
                </a:lnTo>
                <a:lnTo>
                  <a:pt x="1219200" y="0"/>
                </a:lnTo>
                <a:close/>
              </a:path>
              <a:path w="1333500" h="114300">
                <a:moveTo>
                  <a:pt x="1219200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1219200" y="76199"/>
                </a:lnTo>
                <a:lnTo>
                  <a:pt x="1219200" y="38099"/>
                </a:lnTo>
                <a:close/>
              </a:path>
              <a:path w="1333500" h="114300">
                <a:moveTo>
                  <a:pt x="1295399" y="38099"/>
                </a:moveTo>
                <a:lnTo>
                  <a:pt x="1238250" y="38099"/>
                </a:lnTo>
                <a:lnTo>
                  <a:pt x="1238250" y="76199"/>
                </a:lnTo>
                <a:lnTo>
                  <a:pt x="1295400" y="76199"/>
                </a:lnTo>
                <a:lnTo>
                  <a:pt x="1333500" y="57149"/>
                </a:lnTo>
                <a:lnTo>
                  <a:pt x="1295399" y="380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468361" y="3587496"/>
            <a:ext cx="1257300" cy="114300"/>
          </a:xfrm>
          <a:custGeom>
            <a:avLst/>
            <a:gdLst/>
            <a:ahLst/>
            <a:cxnLst/>
            <a:rect l="l" t="t" r="r" b="b"/>
            <a:pathLst>
              <a:path w="1257300" h="114300">
                <a:moveTo>
                  <a:pt x="1143000" y="0"/>
                </a:moveTo>
                <a:lnTo>
                  <a:pt x="1143000" y="114299"/>
                </a:lnTo>
                <a:lnTo>
                  <a:pt x="1219200" y="76199"/>
                </a:lnTo>
                <a:lnTo>
                  <a:pt x="1162050" y="76199"/>
                </a:lnTo>
                <a:lnTo>
                  <a:pt x="1162050" y="38099"/>
                </a:lnTo>
                <a:lnTo>
                  <a:pt x="1219200" y="38099"/>
                </a:lnTo>
                <a:lnTo>
                  <a:pt x="1143000" y="0"/>
                </a:lnTo>
                <a:close/>
              </a:path>
              <a:path w="1257300" h="114300">
                <a:moveTo>
                  <a:pt x="1143000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1143000" y="76199"/>
                </a:lnTo>
                <a:lnTo>
                  <a:pt x="1143000" y="38099"/>
                </a:lnTo>
                <a:close/>
              </a:path>
              <a:path w="1257300" h="114300">
                <a:moveTo>
                  <a:pt x="1219200" y="38099"/>
                </a:moveTo>
                <a:lnTo>
                  <a:pt x="1162050" y="38099"/>
                </a:lnTo>
                <a:lnTo>
                  <a:pt x="1162050" y="76199"/>
                </a:lnTo>
                <a:lnTo>
                  <a:pt x="1219200" y="76199"/>
                </a:lnTo>
                <a:lnTo>
                  <a:pt x="1257300" y="57149"/>
                </a:lnTo>
                <a:lnTo>
                  <a:pt x="1219200" y="380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472440" y="3097225"/>
            <a:ext cx="90551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baseline="-21021" sz="2775" spc="-7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655686" y="3032505"/>
            <a:ext cx="90487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baseline="-21021" sz="2775" spc="-7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211573" y="5358891"/>
            <a:ext cx="1046988" cy="38582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473321" y="5316092"/>
            <a:ext cx="523494" cy="2857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473321" y="5287454"/>
            <a:ext cx="523494" cy="1428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211573" y="5358891"/>
            <a:ext cx="1047115" cy="386080"/>
          </a:xfrm>
          <a:custGeom>
            <a:avLst/>
            <a:gdLst/>
            <a:ahLst/>
            <a:cxnLst/>
            <a:rect l="l" t="t" r="r" b="b"/>
            <a:pathLst>
              <a:path w="1047114" h="386079">
                <a:moveTo>
                  <a:pt x="1046988" y="271526"/>
                </a:moveTo>
                <a:lnTo>
                  <a:pt x="785240" y="271526"/>
                </a:lnTo>
                <a:lnTo>
                  <a:pt x="785240" y="0"/>
                </a:lnTo>
                <a:lnTo>
                  <a:pt x="261747" y="0"/>
                </a:lnTo>
                <a:lnTo>
                  <a:pt x="261747" y="271526"/>
                </a:lnTo>
                <a:lnTo>
                  <a:pt x="0" y="271526"/>
                </a:lnTo>
                <a:lnTo>
                  <a:pt x="523493" y="385826"/>
                </a:lnTo>
                <a:lnTo>
                  <a:pt x="1046988" y="271526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454271" y="5320791"/>
            <a:ext cx="561975" cy="43180"/>
          </a:xfrm>
          <a:custGeom>
            <a:avLst/>
            <a:gdLst/>
            <a:ahLst/>
            <a:cxnLst/>
            <a:rect l="l" t="t" r="r" b="b"/>
            <a:pathLst>
              <a:path w="561975" h="43179">
                <a:moveTo>
                  <a:pt x="0" y="42925"/>
                </a:moveTo>
                <a:lnTo>
                  <a:pt x="561594" y="42925"/>
                </a:lnTo>
                <a:lnTo>
                  <a:pt x="561594" y="0"/>
                </a:lnTo>
                <a:lnTo>
                  <a:pt x="0" y="0"/>
                </a:lnTo>
                <a:lnTo>
                  <a:pt x="0" y="4292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454271" y="5268404"/>
            <a:ext cx="561975" cy="52705"/>
          </a:xfrm>
          <a:custGeom>
            <a:avLst/>
            <a:gdLst/>
            <a:ahLst/>
            <a:cxnLst/>
            <a:rect l="l" t="t" r="r" b="b"/>
            <a:pathLst>
              <a:path w="561975" h="52704">
                <a:moveTo>
                  <a:pt x="0" y="52387"/>
                </a:moveTo>
                <a:lnTo>
                  <a:pt x="561594" y="52387"/>
                </a:lnTo>
                <a:lnTo>
                  <a:pt x="561594" y="0"/>
                </a:lnTo>
                <a:lnTo>
                  <a:pt x="0" y="0"/>
                </a:lnTo>
                <a:lnTo>
                  <a:pt x="0" y="5238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3279775" y="5822696"/>
            <a:ext cx="288480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32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宋体"/>
                <a:cs typeface="宋体"/>
              </a:rPr>
              <a:t>算符优先分析器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66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525773" y="1741932"/>
            <a:ext cx="628015" cy="114300"/>
          </a:xfrm>
          <a:custGeom>
            <a:avLst/>
            <a:gdLst/>
            <a:ahLst/>
            <a:cxnLst/>
            <a:rect l="l" t="t" r="r" b="b"/>
            <a:pathLst>
              <a:path w="628014" h="114300">
                <a:moveTo>
                  <a:pt x="513588" y="0"/>
                </a:moveTo>
                <a:lnTo>
                  <a:pt x="513588" y="114300"/>
                </a:lnTo>
                <a:lnTo>
                  <a:pt x="589788" y="76200"/>
                </a:lnTo>
                <a:lnTo>
                  <a:pt x="532638" y="76200"/>
                </a:lnTo>
                <a:lnTo>
                  <a:pt x="532638" y="38100"/>
                </a:lnTo>
                <a:lnTo>
                  <a:pt x="589788" y="38100"/>
                </a:lnTo>
                <a:lnTo>
                  <a:pt x="513588" y="0"/>
                </a:lnTo>
                <a:close/>
              </a:path>
              <a:path w="628014" h="114300">
                <a:moveTo>
                  <a:pt x="51358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13588" y="76200"/>
                </a:lnTo>
                <a:lnTo>
                  <a:pt x="513588" y="38100"/>
                </a:lnTo>
                <a:close/>
              </a:path>
              <a:path w="628014" h="114300">
                <a:moveTo>
                  <a:pt x="589788" y="38100"/>
                </a:moveTo>
                <a:lnTo>
                  <a:pt x="532638" y="38100"/>
                </a:lnTo>
                <a:lnTo>
                  <a:pt x="532638" y="76200"/>
                </a:lnTo>
                <a:lnTo>
                  <a:pt x="589788" y="76200"/>
                </a:lnTo>
                <a:lnTo>
                  <a:pt x="627888" y="57150"/>
                </a:lnTo>
                <a:lnTo>
                  <a:pt x="589788" y="38100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85063" y="4717237"/>
            <a:ext cx="451929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69"/>
                </a:solidFill>
                <a:latin typeface="宋体"/>
                <a:cs typeface="宋体"/>
              </a:rPr>
              <a:t>基本理论</a:t>
            </a:r>
            <a:r>
              <a:rPr dirty="0" sz="3200" spc="-5" b="1">
                <a:solidFill>
                  <a:srgbClr val="FFFF69"/>
                </a:solidFill>
                <a:latin typeface="宋体"/>
                <a:cs typeface="宋体"/>
              </a:rPr>
              <a:t>：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“可归约串”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03314" y="4717237"/>
            <a:ext cx="206756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最左素短语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679185" y="4934711"/>
            <a:ext cx="571500" cy="114300"/>
          </a:xfrm>
          <a:custGeom>
            <a:avLst/>
            <a:gdLst/>
            <a:ahLst/>
            <a:cxnLst/>
            <a:rect l="l" t="t" r="r" b="b"/>
            <a:pathLst>
              <a:path w="571500" h="114300">
                <a:moveTo>
                  <a:pt x="457200" y="0"/>
                </a:moveTo>
                <a:lnTo>
                  <a:pt x="457200" y="114300"/>
                </a:lnTo>
                <a:lnTo>
                  <a:pt x="533400" y="76200"/>
                </a:lnTo>
                <a:lnTo>
                  <a:pt x="476250" y="76200"/>
                </a:lnTo>
                <a:lnTo>
                  <a:pt x="476250" y="38100"/>
                </a:lnTo>
                <a:lnTo>
                  <a:pt x="533400" y="38100"/>
                </a:lnTo>
                <a:lnTo>
                  <a:pt x="457200" y="0"/>
                </a:lnTo>
                <a:close/>
              </a:path>
              <a:path w="571500" h="114300">
                <a:moveTo>
                  <a:pt x="4572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457200" y="76200"/>
                </a:lnTo>
                <a:lnTo>
                  <a:pt x="457200" y="38100"/>
                </a:lnTo>
                <a:close/>
              </a:path>
              <a:path w="571500" h="114300">
                <a:moveTo>
                  <a:pt x="533400" y="38100"/>
                </a:moveTo>
                <a:lnTo>
                  <a:pt x="476250" y="38100"/>
                </a:lnTo>
                <a:lnTo>
                  <a:pt x="476250" y="76200"/>
                </a:lnTo>
                <a:lnTo>
                  <a:pt x="533400" y="76200"/>
                </a:lnTo>
                <a:lnTo>
                  <a:pt x="571500" y="57150"/>
                </a:lnTo>
                <a:lnTo>
                  <a:pt x="533400" y="38100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878073" y="2885694"/>
            <a:ext cx="2971800" cy="0"/>
          </a:xfrm>
          <a:custGeom>
            <a:avLst/>
            <a:gdLst/>
            <a:ahLst/>
            <a:cxnLst/>
            <a:rect l="l" t="t" r="r" b="b"/>
            <a:pathLst>
              <a:path w="2971800" h="0">
                <a:moveTo>
                  <a:pt x="0" y="0"/>
                </a:moveTo>
                <a:lnTo>
                  <a:pt x="2971800" y="0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134361" y="2885694"/>
            <a:ext cx="1104900" cy="658495"/>
          </a:xfrm>
          <a:custGeom>
            <a:avLst/>
            <a:gdLst/>
            <a:ahLst/>
            <a:cxnLst/>
            <a:rect l="l" t="t" r="r" b="b"/>
            <a:pathLst>
              <a:path w="1104900" h="658495">
                <a:moveTo>
                  <a:pt x="1104900" y="0"/>
                </a:moveTo>
                <a:lnTo>
                  <a:pt x="0" y="658367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134361" y="3486911"/>
            <a:ext cx="1104900" cy="114300"/>
          </a:xfrm>
          <a:custGeom>
            <a:avLst/>
            <a:gdLst/>
            <a:ahLst/>
            <a:cxnLst/>
            <a:rect l="l" t="t" r="r" b="b"/>
            <a:pathLst>
              <a:path w="1104900" h="114300">
                <a:moveTo>
                  <a:pt x="914400" y="0"/>
                </a:moveTo>
                <a:lnTo>
                  <a:pt x="914400" y="114300"/>
                </a:lnTo>
                <a:lnTo>
                  <a:pt x="1041400" y="76200"/>
                </a:lnTo>
                <a:lnTo>
                  <a:pt x="933450" y="76200"/>
                </a:lnTo>
                <a:lnTo>
                  <a:pt x="933450" y="38100"/>
                </a:lnTo>
                <a:lnTo>
                  <a:pt x="1041400" y="38100"/>
                </a:lnTo>
                <a:lnTo>
                  <a:pt x="914400" y="0"/>
                </a:lnTo>
                <a:close/>
              </a:path>
              <a:path w="1104900" h="114300">
                <a:moveTo>
                  <a:pt x="9144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914400" y="76200"/>
                </a:lnTo>
                <a:lnTo>
                  <a:pt x="914400" y="38100"/>
                </a:lnTo>
                <a:close/>
              </a:path>
              <a:path w="1104900" h="114300">
                <a:moveTo>
                  <a:pt x="1041400" y="38100"/>
                </a:moveTo>
                <a:lnTo>
                  <a:pt x="933450" y="38100"/>
                </a:lnTo>
                <a:lnTo>
                  <a:pt x="933450" y="76200"/>
                </a:lnTo>
                <a:lnTo>
                  <a:pt x="1041400" y="76200"/>
                </a:lnTo>
                <a:lnTo>
                  <a:pt x="1104900" y="57150"/>
                </a:lnTo>
                <a:lnTo>
                  <a:pt x="1041400" y="38100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59740" y="0"/>
            <a:ext cx="8164195" cy="4653280"/>
          </a:xfrm>
          <a:prstGeom prst="rect">
            <a:avLst/>
          </a:prstGeom>
        </p:spPr>
        <p:txBody>
          <a:bodyPr wrap="square" lIns="0" tIns="193040" rIns="0" bIns="0" rtlCol="0" vert="horz">
            <a:spAutoFit/>
          </a:bodyPr>
          <a:lstStyle/>
          <a:p>
            <a:pPr marL="2225040">
              <a:lnSpc>
                <a:spcPct val="100000"/>
              </a:lnSpc>
              <a:spcBef>
                <a:spcPts val="1520"/>
              </a:spcBef>
              <a:tabLst>
                <a:tab pos="4334510" algn="l"/>
                <a:tab pos="4841875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算符优先分析法</a:t>
            </a:r>
            <a:endParaRPr sz="2000">
              <a:latin typeface="宋体"/>
              <a:cs typeface="宋体"/>
            </a:endParaRPr>
          </a:p>
          <a:p>
            <a:pPr marL="393700" marR="789305" indent="-381000">
              <a:lnSpc>
                <a:spcPct val="160200"/>
              </a:lnSpc>
              <a:spcBef>
                <a:spcPts val="490"/>
              </a:spcBef>
              <a:buClr>
                <a:srgbClr val="66FFFF"/>
              </a:buClr>
              <a:buSzPct val="109375"/>
              <a:buFont typeface="Wingdings"/>
              <a:buChar char=""/>
              <a:tabLst>
                <a:tab pos="419100" algn="l"/>
                <a:tab pos="419734" algn="l"/>
                <a:tab pos="3766185" algn="l"/>
              </a:tabLst>
            </a:pPr>
            <a:r>
              <a:rPr dirty="0"/>
              <a:t>	</a:t>
            </a:r>
            <a:r>
              <a:rPr dirty="0" sz="3200" b="1">
                <a:solidFill>
                  <a:srgbClr val="FFFF69"/>
                </a:solidFill>
                <a:latin typeface="宋体"/>
                <a:cs typeface="宋体"/>
              </a:rPr>
              <a:t>算符优先分析法与算符优先分</a:t>
            </a:r>
            <a:r>
              <a:rPr dirty="0" sz="3200" spc="-10" b="1">
                <a:solidFill>
                  <a:srgbClr val="FFFF69"/>
                </a:solidFill>
                <a:latin typeface="宋体"/>
                <a:cs typeface="宋体"/>
              </a:rPr>
              <a:t>析</a:t>
            </a:r>
            <a:r>
              <a:rPr dirty="0" sz="3200" b="1">
                <a:solidFill>
                  <a:srgbClr val="FFFF69"/>
                </a:solidFill>
                <a:latin typeface="宋体"/>
                <a:cs typeface="宋体"/>
              </a:rPr>
              <a:t>器小结 </a:t>
            </a:r>
            <a:r>
              <a:rPr dirty="0" sz="3200" b="1">
                <a:solidFill>
                  <a:srgbClr val="FFFF69"/>
                </a:solidFill>
                <a:latin typeface="宋体"/>
                <a:cs typeface="宋体"/>
              </a:rPr>
              <a:t>构造条件</a:t>
            </a:r>
            <a:r>
              <a:rPr dirty="0" sz="3200" spc="-10" b="1">
                <a:solidFill>
                  <a:srgbClr val="FFFF69"/>
                </a:solidFill>
                <a:latin typeface="宋体"/>
                <a:cs typeface="宋体"/>
              </a:rPr>
              <a:t>：</a:t>
            </a:r>
            <a:r>
              <a:rPr dirty="0" sz="3200" spc="-15" b="1">
                <a:solidFill>
                  <a:srgbClr val="FFFF69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G	OPG</a:t>
            </a:r>
            <a:endParaRPr sz="3200">
              <a:latin typeface="Times New Roman"/>
              <a:cs typeface="Times New Roman"/>
            </a:endParaRPr>
          </a:p>
          <a:p>
            <a:pPr marL="393700">
              <a:lnSpc>
                <a:spcPct val="100000"/>
              </a:lnSpc>
              <a:spcBef>
                <a:spcPts val="2760"/>
              </a:spcBef>
            </a:pPr>
            <a:r>
              <a:rPr dirty="0" sz="3200" b="1">
                <a:solidFill>
                  <a:srgbClr val="FFFF69"/>
                </a:solidFill>
                <a:latin typeface="宋体"/>
                <a:cs typeface="宋体"/>
              </a:rPr>
              <a:t>核心构件</a:t>
            </a:r>
            <a:r>
              <a:rPr dirty="0" sz="3200" spc="-5" b="1">
                <a:solidFill>
                  <a:srgbClr val="FFFF69"/>
                </a:solidFill>
                <a:latin typeface="宋体"/>
                <a:cs typeface="宋体"/>
              </a:rPr>
              <a:t>：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算符优先关系表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优先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函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数表）</a:t>
            </a:r>
            <a:endParaRPr sz="3200">
              <a:latin typeface="宋体"/>
              <a:cs typeface="宋体"/>
            </a:endParaRPr>
          </a:p>
          <a:p>
            <a:pPr marL="3035300">
              <a:lnSpc>
                <a:spcPct val="100000"/>
              </a:lnSpc>
              <a:spcBef>
                <a:spcPts val="1320"/>
              </a:spcBef>
            </a:pPr>
            <a:r>
              <a:rPr dirty="0" sz="3200" b="1" i="1">
                <a:solidFill>
                  <a:srgbClr val="66FFFF"/>
                </a:solidFill>
                <a:latin typeface="Lucida Sans Unicode"/>
                <a:cs typeface="Lucida Sans Unicode"/>
              </a:rPr>
              <a:t>≐</a:t>
            </a:r>
            <a:r>
              <a:rPr dirty="0" sz="3200" b="1">
                <a:solidFill>
                  <a:srgbClr val="66FFFF"/>
                </a:solidFill>
                <a:latin typeface="宋体"/>
                <a:cs typeface="宋体"/>
              </a:rPr>
              <a:t>：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产生式直观形式</a:t>
            </a:r>
            <a:endParaRPr sz="2800">
              <a:latin typeface="宋体"/>
              <a:cs typeface="宋体"/>
            </a:endParaRPr>
          </a:p>
          <a:p>
            <a:pPr marL="3074670">
              <a:lnSpc>
                <a:spcPct val="100000"/>
              </a:lnSpc>
              <a:spcBef>
                <a:spcPts val="190"/>
              </a:spcBef>
            </a:pPr>
            <a:r>
              <a:rPr dirty="0" sz="3200" b="1" i="1">
                <a:solidFill>
                  <a:srgbClr val="66FFFF"/>
                </a:solidFill>
                <a:latin typeface="Lucida Sans Unicode"/>
                <a:cs typeface="Lucida Sans Unicode"/>
              </a:rPr>
              <a:t>⋖</a:t>
            </a:r>
            <a:r>
              <a:rPr dirty="0" sz="3200" b="1">
                <a:solidFill>
                  <a:srgbClr val="66FFFF"/>
                </a:solidFill>
                <a:latin typeface="宋体"/>
                <a:cs typeface="宋体"/>
              </a:rPr>
              <a:t>：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FIRSTVT</a:t>
            </a:r>
            <a:endParaRPr sz="3200">
              <a:latin typeface="Times New Roman"/>
              <a:cs typeface="Times New Roman"/>
            </a:endParaRPr>
          </a:p>
          <a:p>
            <a:pPr marL="3074670">
              <a:lnSpc>
                <a:spcPct val="100000"/>
              </a:lnSpc>
              <a:spcBef>
                <a:spcPts val="195"/>
              </a:spcBef>
            </a:pPr>
            <a:r>
              <a:rPr dirty="0" sz="3200" b="1" i="1">
                <a:solidFill>
                  <a:srgbClr val="66FFFF"/>
                </a:solidFill>
                <a:latin typeface="Lucida Sans Unicode"/>
                <a:cs typeface="Lucida Sans Unicode"/>
              </a:rPr>
              <a:t>⋗</a:t>
            </a:r>
            <a:r>
              <a:rPr dirty="0" sz="3200" b="1">
                <a:solidFill>
                  <a:srgbClr val="66FFFF"/>
                </a:solidFill>
                <a:latin typeface="宋体"/>
                <a:cs typeface="宋体"/>
              </a:rPr>
              <a:t>：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LASTVT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227070" y="3144773"/>
            <a:ext cx="88900" cy="1343025"/>
          </a:xfrm>
          <a:custGeom>
            <a:avLst/>
            <a:gdLst/>
            <a:ahLst/>
            <a:cxnLst/>
            <a:rect l="l" t="t" r="r" b="b"/>
            <a:pathLst>
              <a:path w="88900" h="1343025">
                <a:moveTo>
                  <a:pt x="88392" y="1342644"/>
                </a:moveTo>
                <a:lnTo>
                  <a:pt x="71199" y="1333904"/>
                </a:lnTo>
                <a:lnTo>
                  <a:pt x="57150" y="1310068"/>
                </a:lnTo>
                <a:lnTo>
                  <a:pt x="47672" y="1274706"/>
                </a:lnTo>
                <a:lnTo>
                  <a:pt x="44195" y="1231392"/>
                </a:lnTo>
                <a:lnTo>
                  <a:pt x="44195" y="782574"/>
                </a:lnTo>
                <a:lnTo>
                  <a:pt x="40719" y="739259"/>
                </a:lnTo>
                <a:lnTo>
                  <a:pt x="31242" y="703897"/>
                </a:lnTo>
                <a:lnTo>
                  <a:pt x="17192" y="680061"/>
                </a:lnTo>
                <a:lnTo>
                  <a:pt x="0" y="671321"/>
                </a:lnTo>
                <a:lnTo>
                  <a:pt x="17192" y="662582"/>
                </a:lnTo>
                <a:lnTo>
                  <a:pt x="31242" y="638746"/>
                </a:lnTo>
                <a:lnTo>
                  <a:pt x="40719" y="603384"/>
                </a:lnTo>
                <a:lnTo>
                  <a:pt x="44195" y="560069"/>
                </a:lnTo>
                <a:lnTo>
                  <a:pt x="44195" y="111251"/>
                </a:lnTo>
                <a:lnTo>
                  <a:pt x="47672" y="67937"/>
                </a:lnTo>
                <a:lnTo>
                  <a:pt x="57149" y="32575"/>
                </a:lnTo>
                <a:lnTo>
                  <a:pt x="71199" y="8739"/>
                </a:lnTo>
                <a:lnTo>
                  <a:pt x="88392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523481" y="5275326"/>
            <a:ext cx="2420620" cy="0"/>
          </a:xfrm>
          <a:custGeom>
            <a:avLst/>
            <a:gdLst/>
            <a:ahLst/>
            <a:cxnLst/>
            <a:rect l="l" t="t" r="r" b="b"/>
            <a:pathLst>
              <a:path w="2420620" h="0">
                <a:moveTo>
                  <a:pt x="0" y="0"/>
                </a:moveTo>
                <a:lnTo>
                  <a:pt x="2420112" y="0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831073" y="5275326"/>
            <a:ext cx="0" cy="650875"/>
          </a:xfrm>
          <a:custGeom>
            <a:avLst/>
            <a:gdLst/>
            <a:ahLst/>
            <a:cxnLst/>
            <a:rect l="l" t="t" r="r" b="b"/>
            <a:pathLst>
              <a:path w="0" h="650875">
                <a:moveTo>
                  <a:pt x="0" y="0"/>
                </a:moveTo>
                <a:lnTo>
                  <a:pt x="0" y="650748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726173" y="5868923"/>
            <a:ext cx="1104900" cy="114300"/>
          </a:xfrm>
          <a:custGeom>
            <a:avLst/>
            <a:gdLst/>
            <a:ahLst/>
            <a:cxnLst/>
            <a:rect l="l" t="t" r="r" b="b"/>
            <a:pathLst>
              <a:path w="1104900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1104900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1104900" h="114300">
                <a:moveTo>
                  <a:pt x="1104900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1104900" y="76200"/>
                </a:lnTo>
                <a:lnTo>
                  <a:pt x="1104900" y="38100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3813175" y="5641340"/>
            <a:ext cx="257683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确认：定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理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5.1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66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87420" y="1632839"/>
            <a:ext cx="3837304" cy="30753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000" b="1" i="1">
                <a:solidFill>
                  <a:srgbClr val="FFFF66"/>
                </a:solidFill>
                <a:latin typeface="Times New Roman"/>
                <a:cs typeface="Times New Roman"/>
              </a:rPr>
              <a:t>end</a:t>
            </a:r>
            <a:endParaRPr sz="20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704338" y="26923"/>
            <a:ext cx="162877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09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66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749800" y="26923"/>
            <a:ext cx="23266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</a:tabLst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算符优先分析法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6166" y="627752"/>
            <a:ext cx="8658860" cy="1654175"/>
          </a:xfrm>
          <a:prstGeom prst="rect">
            <a:avLst/>
          </a:prstGeom>
        </p:spPr>
        <p:txBody>
          <a:bodyPr wrap="square" lIns="0" tIns="1206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填空题：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设有文法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G(S):</a:t>
            </a:r>
            <a:endParaRPr sz="2800">
              <a:latin typeface="Times New Roman"/>
              <a:cs typeface="Times New Roman"/>
            </a:endParaRPr>
          </a:p>
          <a:p>
            <a:pPr algn="ctr" marR="549275">
              <a:lnSpc>
                <a:spcPct val="100000"/>
              </a:lnSpc>
              <a:spcBef>
                <a:spcPts val="735"/>
              </a:spcBef>
              <a:tabLst>
                <a:tab pos="1943100" algn="l"/>
                <a:tab pos="3860165" algn="l"/>
              </a:tabLst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aAcBe	A</a:t>
            </a:r>
            <a:r>
              <a:rPr dirty="0" sz="2800" spc="-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b |</a:t>
            </a:r>
            <a:r>
              <a:rPr dirty="0" sz="2800" spc="-14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Ab	B</a:t>
            </a:r>
            <a:r>
              <a:rPr dirty="0" sz="2800" spc="-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  <a:tabLst>
                <a:tab pos="5793740" algn="l"/>
                <a:tab pos="8290559" algn="l"/>
              </a:tabLst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则句型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aA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cd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的短语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u="heavy" sz="2800" spc="-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8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，句柄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u="heavy" sz="2800" spc="-5" b="1">
                <a:solidFill>
                  <a:srgbClr val="FFFFFF"/>
                </a:solidFill>
                <a:uFill>
                  <a:solidFill>
                    <a:srgbClr val="FEFEFE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800" b="1">
                <a:solidFill>
                  <a:srgbClr val="FFFFFF"/>
                </a:solidFill>
                <a:uFill>
                  <a:solidFill>
                    <a:srgbClr val="FEFEFE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704338" y="26923"/>
            <a:ext cx="162877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09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66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749800" y="26923"/>
            <a:ext cx="23266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</a:tabLst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算符优先分析法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1691" y="2724353"/>
            <a:ext cx="606361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填空题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设有文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G(S)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800" spc="-70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S→Pab |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bP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95664" y="2776169"/>
            <a:ext cx="120459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P→b |</a:t>
            </a:r>
            <a:r>
              <a:rPr dirty="0" sz="2800" spc="-7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1691" y="3477895"/>
            <a:ext cx="7823834" cy="11347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648460" algn="l"/>
                <a:tab pos="2677795" algn="l"/>
                <a:tab pos="5215890" algn="l"/>
                <a:tab pos="6868159" algn="l"/>
              </a:tabLst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First(S)</a:t>
            </a:r>
            <a:r>
              <a:rPr dirty="0" sz="2800" spc="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	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u="heavy" sz="28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	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r>
              <a:rPr dirty="0" sz="2800" spc="-68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Follow(P)=	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u="heavy" sz="28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	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r>
              <a:rPr dirty="0" sz="2800" spc="-8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；并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2014"/>
              </a:spcBef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填写如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下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LL(1)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分析表的内容。</a:t>
            </a:r>
            <a:endParaRPr sz="2800">
              <a:latin typeface="宋体"/>
              <a:cs typeface="宋体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795337" y="5075237"/>
          <a:ext cx="7299959" cy="1244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3250"/>
                <a:gridCol w="2218055"/>
                <a:gridCol w="2218055"/>
                <a:gridCol w="2218055"/>
              </a:tblGrid>
              <a:tr h="6223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63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63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636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93725">
                <a:tc>
                  <a:txBody>
                    <a:bodyPr/>
                    <a:lstStyle/>
                    <a:p>
                      <a:pPr marL="19240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755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10661" y="2641854"/>
            <a:ext cx="635635" cy="635635"/>
          </a:xfrm>
          <a:custGeom>
            <a:avLst/>
            <a:gdLst/>
            <a:ahLst/>
            <a:cxnLst/>
            <a:rect l="l" t="t" r="r" b="b"/>
            <a:pathLst>
              <a:path w="635635" h="635635">
                <a:moveTo>
                  <a:pt x="0" y="317754"/>
                </a:moveTo>
                <a:lnTo>
                  <a:pt x="3444" y="270793"/>
                </a:lnTo>
                <a:lnTo>
                  <a:pt x="13451" y="225973"/>
                </a:lnTo>
                <a:lnTo>
                  <a:pt x="29529" y="183786"/>
                </a:lnTo>
                <a:lnTo>
                  <a:pt x="51186" y="144723"/>
                </a:lnTo>
                <a:lnTo>
                  <a:pt x="77931" y="109274"/>
                </a:lnTo>
                <a:lnTo>
                  <a:pt x="109274" y="77931"/>
                </a:lnTo>
                <a:lnTo>
                  <a:pt x="144723" y="51186"/>
                </a:lnTo>
                <a:lnTo>
                  <a:pt x="183786" y="29529"/>
                </a:lnTo>
                <a:lnTo>
                  <a:pt x="225973" y="13451"/>
                </a:lnTo>
                <a:lnTo>
                  <a:pt x="270793" y="3444"/>
                </a:lnTo>
                <a:lnTo>
                  <a:pt x="317753" y="0"/>
                </a:lnTo>
                <a:lnTo>
                  <a:pt x="364714" y="3444"/>
                </a:lnTo>
                <a:lnTo>
                  <a:pt x="409534" y="13451"/>
                </a:lnTo>
                <a:lnTo>
                  <a:pt x="451721" y="29529"/>
                </a:lnTo>
                <a:lnTo>
                  <a:pt x="490784" y="51186"/>
                </a:lnTo>
                <a:lnTo>
                  <a:pt x="526233" y="77931"/>
                </a:lnTo>
                <a:lnTo>
                  <a:pt x="557576" y="109274"/>
                </a:lnTo>
                <a:lnTo>
                  <a:pt x="584321" y="144723"/>
                </a:lnTo>
                <a:lnTo>
                  <a:pt x="605978" y="183786"/>
                </a:lnTo>
                <a:lnTo>
                  <a:pt x="622056" y="225973"/>
                </a:lnTo>
                <a:lnTo>
                  <a:pt x="632063" y="270793"/>
                </a:lnTo>
                <a:lnTo>
                  <a:pt x="635508" y="317754"/>
                </a:lnTo>
                <a:lnTo>
                  <a:pt x="632063" y="364714"/>
                </a:lnTo>
                <a:lnTo>
                  <a:pt x="622056" y="409534"/>
                </a:lnTo>
                <a:lnTo>
                  <a:pt x="605978" y="451721"/>
                </a:lnTo>
                <a:lnTo>
                  <a:pt x="584321" y="490784"/>
                </a:lnTo>
                <a:lnTo>
                  <a:pt x="557576" y="526233"/>
                </a:lnTo>
                <a:lnTo>
                  <a:pt x="526233" y="557576"/>
                </a:lnTo>
                <a:lnTo>
                  <a:pt x="490784" y="584321"/>
                </a:lnTo>
                <a:lnTo>
                  <a:pt x="451721" y="605978"/>
                </a:lnTo>
                <a:lnTo>
                  <a:pt x="409534" y="622056"/>
                </a:lnTo>
                <a:lnTo>
                  <a:pt x="364714" y="632063"/>
                </a:lnTo>
                <a:lnTo>
                  <a:pt x="317753" y="635508"/>
                </a:lnTo>
                <a:lnTo>
                  <a:pt x="270793" y="632063"/>
                </a:lnTo>
                <a:lnTo>
                  <a:pt x="225973" y="622056"/>
                </a:lnTo>
                <a:lnTo>
                  <a:pt x="183786" y="605978"/>
                </a:lnTo>
                <a:lnTo>
                  <a:pt x="144723" y="584321"/>
                </a:lnTo>
                <a:lnTo>
                  <a:pt x="109274" y="557576"/>
                </a:lnTo>
                <a:lnTo>
                  <a:pt x="77931" y="526233"/>
                </a:lnTo>
                <a:lnTo>
                  <a:pt x="51186" y="490784"/>
                </a:lnTo>
                <a:lnTo>
                  <a:pt x="29529" y="451721"/>
                </a:lnTo>
                <a:lnTo>
                  <a:pt x="13451" y="409534"/>
                </a:lnTo>
                <a:lnTo>
                  <a:pt x="3444" y="364714"/>
                </a:lnTo>
                <a:lnTo>
                  <a:pt x="0" y="317754"/>
                </a:lnTo>
                <a:close/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229101" y="2721610"/>
            <a:ext cx="21018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65453" y="3836670"/>
            <a:ext cx="635635" cy="634365"/>
          </a:xfrm>
          <a:custGeom>
            <a:avLst/>
            <a:gdLst/>
            <a:ahLst/>
            <a:cxnLst/>
            <a:rect l="l" t="t" r="r" b="b"/>
            <a:pathLst>
              <a:path w="635635" h="634364">
                <a:moveTo>
                  <a:pt x="0" y="316991"/>
                </a:moveTo>
                <a:lnTo>
                  <a:pt x="3445" y="270135"/>
                </a:lnTo>
                <a:lnTo>
                  <a:pt x="13453" y="225417"/>
                </a:lnTo>
                <a:lnTo>
                  <a:pt x="29533" y="183328"/>
                </a:lnTo>
                <a:lnTo>
                  <a:pt x="51192" y="144358"/>
                </a:lnTo>
                <a:lnTo>
                  <a:pt x="77940" y="108996"/>
                </a:lnTo>
                <a:lnTo>
                  <a:pt x="109284" y="77731"/>
                </a:lnTo>
                <a:lnTo>
                  <a:pt x="144734" y="51053"/>
                </a:lnTo>
                <a:lnTo>
                  <a:pt x="183797" y="29451"/>
                </a:lnTo>
                <a:lnTo>
                  <a:pt x="225983" y="13416"/>
                </a:lnTo>
                <a:lnTo>
                  <a:pt x="270799" y="3435"/>
                </a:lnTo>
                <a:lnTo>
                  <a:pt x="317754" y="0"/>
                </a:lnTo>
                <a:lnTo>
                  <a:pt x="364714" y="3435"/>
                </a:lnTo>
                <a:lnTo>
                  <a:pt x="409534" y="13416"/>
                </a:lnTo>
                <a:lnTo>
                  <a:pt x="451721" y="29451"/>
                </a:lnTo>
                <a:lnTo>
                  <a:pt x="490784" y="51053"/>
                </a:lnTo>
                <a:lnTo>
                  <a:pt x="526233" y="77731"/>
                </a:lnTo>
                <a:lnTo>
                  <a:pt x="557576" y="108996"/>
                </a:lnTo>
                <a:lnTo>
                  <a:pt x="584321" y="144358"/>
                </a:lnTo>
                <a:lnTo>
                  <a:pt x="605978" y="183328"/>
                </a:lnTo>
                <a:lnTo>
                  <a:pt x="622056" y="225417"/>
                </a:lnTo>
                <a:lnTo>
                  <a:pt x="632063" y="270135"/>
                </a:lnTo>
                <a:lnTo>
                  <a:pt x="635508" y="316991"/>
                </a:lnTo>
                <a:lnTo>
                  <a:pt x="632063" y="363820"/>
                </a:lnTo>
                <a:lnTo>
                  <a:pt x="622056" y="408520"/>
                </a:lnTo>
                <a:lnTo>
                  <a:pt x="605978" y="450600"/>
                </a:lnTo>
                <a:lnTo>
                  <a:pt x="584321" y="489569"/>
                </a:lnTo>
                <a:lnTo>
                  <a:pt x="557576" y="524936"/>
                </a:lnTo>
                <a:lnTo>
                  <a:pt x="526233" y="556209"/>
                </a:lnTo>
                <a:lnTo>
                  <a:pt x="490784" y="582898"/>
                </a:lnTo>
                <a:lnTo>
                  <a:pt x="451721" y="604511"/>
                </a:lnTo>
                <a:lnTo>
                  <a:pt x="409534" y="620557"/>
                </a:lnTo>
                <a:lnTo>
                  <a:pt x="364714" y="630545"/>
                </a:lnTo>
                <a:lnTo>
                  <a:pt x="317754" y="633983"/>
                </a:lnTo>
                <a:lnTo>
                  <a:pt x="270799" y="630545"/>
                </a:lnTo>
                <a:lnTo>
                  <a:pt x="225983" y="620557"/>
                </a:lnTo>
                <a:lnTo>
                  <a:pt x="183797" y="604511"/>
                </a:lnTo>
                <a:lnTo>
                  <a:pt x="144734" y="582898"/>
                </a:lnTo>
                <a:lnTo>
                  <a:pt x="109284" y="556209"/>
                </a:lnTo>
                <a:lnTo>
                  <a:pt x="77940" y="524936"/>
                </a:lnTo>
                <a:lnTo>
                  <a:pt x="51192" y="489569"/>
                </a:lnTo>
                <a:lnTo>
                  <a:pt x="29533" y="450600"/>
                </a:lnTo>
                <a:lnTo>
                  <a:pt x="13453" y="408520"/>
                </a:lnTo>
                <a:lnTo>
                  <a:pt x="3445" y="363820"/>
                </a:lnTo>
                <a:lnTo>
                  <a:pt x="0" y="316991"/>
                </a:lnTo>
                <a:close/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92987" y="3915536"/>
            <a:ext cx="1905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032254" y="3810761"/>
            <a:ext cx="635635" cy="635635"/>
          </a:xfrm>
          <a:custGeom>
            <a:avLst/>
            <a:gdLst/>
            <a:ahLst/>
            <a:cxnLst/>
            <a:rect l="l" t="t" r="r" b="b"/>
            <a:pathLst>
              <a:path w="635635" h="635635">
                <a:moveTo>
                  <a:pt x="0" y="317754"/>
                </a:moveTo>
                <a:lnTo>
                  <a:pt x="3444" y="270793"/>
                </a:lnTo>
                <a:lnTo>
                  <a:pt x="13451" y="225973"/>
                </a:lnTo>
                <a:lnTo>
                  <a:pt x="29529" y="183786"/>
                </a:lnTo>
                <a:lnTo>
                  <a:pt x="51186" y="144723"/>
                </a:lnTo>
                <a:lnTo>
                  <a:pt x="77931" y="109274"/>
                </a:lnTo>
                <a:lnTo>
                  <a:pt x="109274" y="77931"/>
                </a:lnTo>
                <a:lnTo>
                  <a:pt x="144723" y="51186"/>
                </a:lnTo>
                <a:lnTo>
                  <a:pt x="183786" y="29529"/>
                </a:lnTo>
                <a:lnTo>
                  <a:pt x="225973" y="13451"/>
                </a:lnTo>
                <a:lnTo>
                  <a:pt x="270793" y="3444"/>
                </a:lnTo>
                <a:lnTo>
                  <a:pt x="317753" y="0"/>
                </a:lnTo>
                <a:lnTo>
                  <a:pt x="364714" y="3444"/>
                </a:lnTo>
                <a:lnTo>
                  <a:pt x="409534" y="13451"/>
                </a:lnTo>
                <a:lnTo>
                  <a:pt x="451721" y="29529"/>
                </a:lnTo>
                <a:lnTo>
                  <a:pt x="490784" y="51186"/>
                </a:lnTo>
                <a:lnTo>
                  <a:pt x="526233" y="77931"/>
                </a:lnTo>
                <a:lnTo>
                  <a:pt x="557576" y="109274"/>
                </a:lnTo>
                <a:lnTo>
                  <a:pt x="584321" y="144723"/>
                </a:lnTo>
                <a:lnTo>
                  <a:pt x="605978" y="183786"/>
                </a:lnTo>
                <a:lnTo>
                  <a:pt x="622056" y="225973"/>
                </a:lnTo>
                <a:lnTo>
                  <a:pt x="632063" y="270793"/>
                </a:lnTo>
                <a:lnTo>
                  <a:pt x="635507" y="317754"/>
                </a:lnTo>
                <a:lnTo>
                  <a:pt x="632063" y="364714"/>
                </a:lnTo>
                <a:lnTo>
                  <a:pt x="622056" y="409534"/>
                </a:lnTo>
                <a:lnTo>
                  <a:pt x="605978" y="451721"/>
                </a:lnTo>
                <a:lnTo>
                  <a:pt x="584321" y="490784"/>
                </a:lnTo>
                <a:lnTo>
                  <a:pt x="557576" y="526233"/>
                </a:lnTo>
                <a:lnTo>
                  <a:pt x="526233" y="557576"/>
                </a:lnTo>
                <a:lnTo>
                  <a:pt x="490784" y="584321"/>
                </a:lnTo>
                <a:lnTo>
                  <a:pt x="451721" y="605978"/>
                </a:lnTo>
                <a:lnTo>
                  <a:pt x="409534" y="622056"/>
                </a:lnTo>
                <a:lnTo>
                  <a:pt x="364714" y="632063"/>
                </a:lnTo>
                <a:lnTo>
                  <a:pt x="317753" y="635507"/>
                </a:lnTo>
                <a:lnTo>
                  <a:pt x="270793" y="632063"/>
                </a:lnTo>
                <a:lnTo>
                  <a:pt x="225973" y="622056"/>
                </a:lnTo>
                <a:lnTo>
                  <a:pt x="183786" y="605978"/>
                </a:lnTo>
                <a:lnTo>
                  <a:pt x="144723" y="584321"/>
                </a:lnTo>
                <a:lnTo>
                  <a:pt x="109274" y="557576"/>
                </a:lnTo>
                <a:lnTo>
                  <a:pt x="77931" y="526233"/>
                </a:lnTo>
                <a:lnTo>
                  <a:pt x="51186" y="490784"/>
                </a:lnTo>
                <a:lnTo>
                  <a:pt x="29529" y="451721"/>
                </a:lnTo>
                <a:lnTo>
                  <a:pt x="13451" y="409534"/>
                </a:lnTo>
                <a:lnTo>
                  <a:pt x="3444" y="364714"/>
                </a:lnTo>
                <a:lnTo>
                  <a:pt x="0" y="317754"/>
                </a:lnTo>
                <a:close/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231135" y="3890264"/>
            <a:ext cx="249554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010661" y="3784853"/>
            <a:ext cx="635635" cy="635635"/>
          </a:xfrm>
          <a:custGeom>
            <a:avLst/>
            <a:gdLst/>
            <a:ahLst/>
            <a:cxnLst/>
            <a:rect l="l" t="t" r="r" b="b"/>
            <a:pathLst>
              <a:path w="635635" h="635635">
                <a:moveTo>
                  <a:pt x="0" y="317754"/>
                </a:moveTo>
                <a:lnTo>
                  <a:pt x="3444" y="270793"/>
                </a:lnTo>
                <a:lnTo>
                  <a:pt x="13451" y="225973"/>
                </a:lnTo>
                <a:lnTo>
                  <a:pt x="29529" y="183786"/>
                </a:lnTo>
                <a:lnTo>
                  <a:pt x="51186" y="144723"/>
                </a:lnTo>
                <a:lnTo>
                  <a:pt x="77931" y="109274"/>
                </a:lnTo>
                <a:lnTo>
                  <a:pt x="109274" y="77931"/>
                </a:lnTo>
                <a:lnTo>
                  <a:pt x="144723" y="51186"/>
                </a:lnTo>
                <a:lnTo>
                  <a:pt x="183786" y="29529"/>
                </a:lnTo>
                <a:lnTo>
                  <a:pt x="225973" y="13451"/>
                </a:lnTo>
                <a:lnTo>
                  <a:pt x="270793" y="3444"/>
                </a:lnTo>
                <a:lnTo>
                  <a:pt x="317753" y="0"/>
                </a:lnTo>
                <a:lnTo>
                  <a:pt x="364714" y="3444"/>
                </a:lnTo>
                <a:lnTo>
                  <a:pt x="409534" y="13451"/>
                </a:lnTo>
                <a:lnTo>
                  <a:pt x="451721" y="29529"/>
                </a:lnTo>
                <a:lnTo>
                  <a:pt x="490784" y="51186"/>
                </a:lnTo>
                <a:lnTo>
                  <a:pt x="526233" y="77931"/>
                </a:lnTo>
                <a:lnTo>
                  <a:pt x="557576" y="109274"/>
                </a:lnTo>
                <a:lnTo>
                  <a:pt x="584321" y="144723"/>
                </a:lnTo>
                <a:lnTo>
                  <a:pt x="605978" y="183786"/>
                </a:lnTo>
                <a:lnTo>
                  <a:pt x="622056" y="225973"/>
                </a:lnTo>
                <a:lnTo>
                  <a:pt x="632063" y="270793"/>
                </a:lnTo>
                <a:lnTo>
                  <a:pt x="635508" y="317754"/>
                </a:lnTo>
                <a:lnTo>
                  <a:pt x="632063" y="364714"/>
                </a:lnTo>
                <a:lnTo>
                  <a:pt x="622056" y="409534"/>
                </a:lnTo>
                <a:lnTo>
                  <a:pt x="605978" y="451721"/>
                </a:lnTo>
                <a:lnTo>
                  <a:pt x="584321" y="490784"/>
                </a:lnTo>
                <a:lnTo>
                  <a:pt x="557576" y="526233"/>
                </a:lnTo>
                <a:lnTo>
                  <a:pt x="526233" y="557576"/>
                </a:lnTo>
                <a:lnTo>
                  <a:pt x="490784" y="584321"/>
                </a:lnTo>
                <a:lnTo>
                  <a:pt x="451721" y="605978"/>
                </a:lnTo>
                <a:lnTo>
                  <a:pt x="409534" y="622056"/>
                </a:lnTo>
                <a:lnTo>
                  <a:pt x="364714" y="632063"/>
                </a:lnTo>
                <a:lnTo>
                  <a:pt x="317753" y="635508"/>
                </a:lnTo>
                <a:lnTo>
                  <a:pt x="270793" y="632063"/>
                </a:lnTo>
                <a:lnTo>
                  <a:pt x="225973" y="622056"/>
                </a:lnTo>
                <a:lnTo>
                  <a:pt x="183786" y="605978"/>
                </a:lnTo>
                <a:lnTo>
                  <a:pt x="144723" y="584321"/>
                </a:lnTo>
                <a:lnTo>
                  <a:pt x="109274" y="557576"/>
                </a:lnTo>
                <a:lnTo>
                  <a:pt x="77931" y="526233"/>
                </a:lnTo>
                <a:lnTo>
                  <a:pt x="51186" y="490784"/>
                </a:lnTo>
                <a:lnTo>
                  <a:pt x="29529" y="451721"/>
                </a:lnTo>
                <a:lnTo>
                  <a:pt x="13451" y="409534"/>
                </a:lnTo>
                <a:lnTo>
                  <a:pt x="3444" y="364714"/>
                </a:lnTo>
                <a:lnTo>
                  <a:pt x="0" y="317754"/>
                </a:lnTo>
                <a:close/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3248914" y="3864990"/>
            <a:ext cx="17081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039361" y="3760470"/>
            <a:ext cx="635635" cy="634365"/>
          </a:xfrm>
          <a:custGeom>
            <a:avLst/>
            <a:gdLst/>
            <a:ahLst/>
            <a:cxnLst/>
            <a:rect l="l" t="t" r="r" b="b"/>
            <a:pathLst>
              <a:path w="635635" h="634364">
                <a:moveTo>
                  <a:pt x="0" y="316991"/>
                </a:moveTo>
                <a:lnTo>
                  <a:pt x="3444" y="270135"/>
                </a:lnTo>
                <a:lnTo>
                  <a:pt x="13451" y="225417"/>
                </a:lnTo>
                <a:lnTo>
                  <a:pt x="29529" y="183328"/>
                </a:lnTo>
                <a:lnTo>
                  <a:pt x="51186" y="144358"/>
                </a:lnTo>
                <a:lnTo>
                  <a:pt x="77931" y="108996"/>
                </a:lnTo>
                <a:lnTo>
                  <a:pt x="109274" y="77731"/>
                </a:lnTo>
                <a:lnTo>
                  <a:pt x="144723" y="51053"/>
                </a:lnTo>
                <a:lnTo>
                  <a:pt x="183786" y="29451"/>
                </a:lnTo>
                <a:lnTo>
                  <a:pt x="225973" y="13416"/>
                </a:lnTo>
                <a:lnTo>
                  <a:pt x="270793" y="3435"/>
                </a:lnTo>
                <a:lnTo>
                  <a:pt x="317753" y="0"/>
                </a:lnTo>
                <a:lnTo>
                  <a:pt x="364714" y="3435"/>
                </a:lnTo>
                <a:lnTo>
                  <a:pt x="409534" y="13416"/>
                </a:lnTo>
                <a:lnTo>
                  <a:pt x="451721" y="29451"/>
                </a:lnTo>
                <a:lnTo>
                  <a:pt x="490784" y="51053"/>
                </a:lnTo>
                <a:lnTo>
                  <a:pt x="526233" y="77731"/>
                </a:lnTo>
                <a:lnTo>
                  <a:pt x="557576" y="108996"/>
                </a:lnTo>
                <a:lnTo>
                  <a:pt x="584321" y="144358"/>
                </a:lnTo>
                <a:lnTo>
                  <a:pt x="605978" y="183328"/>
                </a:lnTo>
                <a:lnTo>
                  <a:pt x="622056" y="225417"/>
                </a:lnTo>
                <a:lnTo>
                  <a:pt x="632063" y="270135"/>
                </a:lnTo>
                <a:lnTo>
                  <a:pt x="635508" y="316991"/>
                </a:lnTo>
                <a:lnTo>
                  <a:pt x="632063" y="363820"/>
                </a:lnTo>
                <a:lnTo>
                  <a:pt x="622056" y="408520"/>
                </a:lnTo>
                <a:lnTo>
                  <a:pt x="605978" y="450600"/>
                </a:lnTo>
                <a:lnTo>
                  <a:pt x="584321" y="489569"/>
                </a:lnTo>
                <a:lnTo>
                  <a:pt x="557576" y="524936"/>
                </a:lnTo>
                <a:lnTo>
                  <a:pt x="526233" y="556209"/>
                </a:lnTo>
                <a:lnTo>
                  <a:pt x="490784" y="582898"/>
                </a:lnTo>
                <a:lnTo>
                  <a:pt x="451721" y="604511"/>
                </a:lnTo>
                <a:lnTo>
                  <a:pt x="409534" y="620557"/>
                </a:lnTo>
                <a:lnTo>
                  <a:pt x="364714" y="630545"/>
                </a:lnTo>
                <a:lnTo>
                  <a:pt x="317753" y="633983"/>
                </a:lnTo>
                <a:lnTo>
                  <a:pt x="270793" y="630545"/>
                </a:lnTo>
                <a:lnTo>
                  <a:pt x="225973" y="620557"/>
                </a:lnTo>
                <a:lnTo>
                  <a:pt x="183786" y="604511"/>
                </a:lnTo>
                <a:lnTo>
                  <a:pt x="144723" y="582898"/>
                </a:lnTo>
                <a:lnTo>
                  <a:pt x="109274" y="556209"/>
                </a:lnTo>
                <a:lnTo>
                  <a:pt x="77931" y="524936"/>
                </a:lnTo>
                <a:lnTo>
                  <a:pt x="51186" y="489569"/>
                </a:lnTo>
                <a:lnTo>
                  <a:pt x="29529" y="450600"/>
                </a:lnTo>
                <a:lnTo>
                  <a:pt x="13451" y="408520"/>
                </a:lnTo>
                <a:lnTo>
                  <a:pt x="3444" y="363820"/>
                </a:lnTo>
                <a:lnTo>
                  <a:pt x="0" y="316991"/>
                </a:lnTo>
                <a:close/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017770" y="3760470"/>
            <a:ext cx="634365" cy="634365"/>
          </a:xfrm>
          <a:custGeom>
            <a:avLst/>
            <a:gdLst/>
            <a:ahLst/>
            <a:cxnLst/>
            <a:rect l="l" t="t" r="r" b="b"/>
            <a:pathLst>
              <a:path w="634364" h="634364">
                <a:moveTo>
                  <a:pt x="0" y="316991"/>
                </a:moveTo>
                <a:lnTo>
                  <a:pt x="3435" y="270135"/>
                </a:lnTo>
                <a:lnTo>
                  <a:pt x="13416" y="225417"/>
                </a:lnTo>
                <a:lnTo>
                  <a:pt x="29451" y="183328"/>
                </a:lnTo>
                <a:lnTo>
                  <a:pt x="51053" y="144358"/>
                </a:lnTo>
                <a:lnTo>
                  <a:pt x="77731" y="108996"/>
                </a:lnTo>
                <a:lnTo>
                  <a:pt x="108996" y="77731"/>
                </a:lnTo>
                <a:lnTo>
                  <a:pt x="144358" y="51053"/>
                </a:lnTo>
                <a:lnTo>
                  <a:pt x="183328" y="29451"/>
                </a:lnTo>
                <a:lnTo>
                  <a:pt x="225417" y="13416"/>
                </a:lnTo>
                <a:lnTo>
                  <a:pt x="270135" y="3435"/>
                </a:lnTo>
                <a:lnTo>
                  <a:pt x="316991" y="0"/>
                </a:lnTo>
                <a:lnTo>
                  <a:pt x="363848" y="3435"/>
                </a:lnTo>
                <a:lnTo>
                  <a:pt x="408566" y="13416"/>
                </a:lnTo>
                <a:lnTo>
                  <a:pt x="450655" y="29451"/>
                </a:lnTo>
                <a:lnTo>
                  <a:pt x="489625" y="51053"/>
                </a:lnTo>
                <a:lnTo>
                  <a:pt x="524987" y="77731"/>
                </a:lnTo>
                <a:lnTo>
                  <a:pt x="556252" y="108996"/>
                </a:lnTo>
                <a:lnTo>
                  <a:pt x="582930" y="144358"/>
                </a:lnTo>
                <a:lnTo>
                  <a:pt x="604532" y="183328"/>
                </a:lnTo>
                <a:lnTo>
                  <a:pt x="620567" y="225417"/>
                </a:lnTo>
                <a:lnTo>
                  <a:pt x="630548" y="270135"/>
                </a:lnTo>
                <a:lnTo>
                  <a:pt x="633983" y="316991"/>
                </a:lnTo>
                <a:lnTo>
                  <a:pt x="630548" y="363820"/>
                </a:lnTo>
                <a:lnTo>
                  <a:pt x="620567" y="408520"/>
                </a:lnTo>
                <a:lnTo>
                  <a:pt x="604532" y="450600"/>
                </a:lnTo>
                <a:lnTo>
                  <a:pt x="582930" y="489569"/>
                </a:lnTo>
                <a:lnTo>
                  <a:pt x="556252" y="524936"/>
                </a:lnTo>
                <a:lnTo>
                  <a:pt x="524987" y="556209"/>
                </a:lnTo>
                <a:lnTo>
                  <a:pt x="489625" y="582898"/>
                </a:lnTo>
                <a:lnTo>
                  <a:pt x="450655" y="604511"/>
                </a:lnTo>
                <a:lnTo>
                  <a:pt x="408566" y="620557"/>
                </a:lnTo>
                <a:lnTo>
                  <a:pt x="363848" y="630545"/>
                </a:lnTo>
                <a:lnTo>
                  <a:pt x="316991" y="633983"/>
                </a:lnTo>
                <a:lnTo>
                  <a:pt x="270135" y="630545"/>
                </a:lnTo>
                <a:lnTo>
                  <a:pt x="225417" y="620557"/>
                </a:lnTo>
                <a:lnTo>
                  <a:pt x="183328" y="604511"/>
                </a:lnTo>
                <a:lnTo>
                  <a:pt x="144358" y="582898"/>
                </a:lnTo>
                <a:lnTo>
                  <a:pt x="108996" y="556209"/>
                </a:lnTo>
                <a:lnTo>
                  <a:pt x="77731" y="524936"/>
                </a:lnTo>
                <a:lnTo>
                  <a:pt x="51053" y="489569"/>
                </a:lnTo>
                <a:lnTo>
                  <a:pt x="29451" y="450600"/>
                </a:lnTo>
                <a:lnTo>
                  <a:pt x="13416" y="408520"/>
                </a:lnTo>
                <a:lnTo>
                  <a:pt x="3435" y="363820"/>
                </a:lnTo>
                <a:lnTo>
                  <a:pt x="0" y="316991"/>
                </a:lnTo>
                <a:close/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255640" y="3839336"/>
            <a:ext cx="17081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283969" y="3297173"/>
            <a:ext cx="2044700" cy="520700"/>
          </a:xfrm>
          <a:custGeom>
            <a:avLst/>
            <a:gdLst/>
            <a:ahLst/>
            <a:cxnLst/>
            <a:rect l="l" t="t" r="r" b="b"/>
            <a:pathLst>
              <a:path w="2044700" h="520700">
                <a:moveTo>
                  <a:pt x="2044700" y="0"/>
                </a:moveTo>
                <a:lnTo>
                  <a:pt x="0" y="520700"/>
                </a:lnTo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350770" y="3297173"/>
            <a:ext cx="977900" cy="495300"/>
          </a:xfrm>
          <a:custGeom>
            <a:avLst/>
            <a:gdLst/>
            <a:ahLst/>
            <a:cxnLst/>
            <a:rect l="l" t="t" r="r" b="b"/>
            <a:pathLst>
              <a:path w="977900" h="495300">
                <a:moveTo>
                  <a:pt x="977900" y="0"/>
                </a:moveTo>
                <a:lnTo>
                  <a:pt x="0" y="495300"/>
                </a:lnTo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327653" y="3297173"/>
            <a:ext cx="0" cy="469900"/>
          </a:xfrm>
          <a:custGeom>
            <a:avLst/>
            <a:gdLst/>
            <a:ahLst/>
            <a:cxnLst/>
            <a:rect l="l" t="t" r="r" b="b"/>
            <a:pathLst>
              <a:path w="0" h="469900">
                <a:moveTo>
                  <a:pt x="0" y="0"/>
                </a:moveTo>
                <a:lnTo>
                  <a:pt x="0" y="469900"/>
                </a:lnTo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327653" y="3297173"/>
            <a:ext cx="1028700" cy="444500"/>
          </a:xfrm>
          <a:custGeom>
            <a:avLst/>
            <a:gdLst/>
            <a:ahLst/>
            <a:cxnLst/>
            <a:rect l="l" t="t" r="r" b="b"/>
            <a:pathLst>
              <a:path w="1028700" h="444500">
                <a:moveTo>
                  <a:pt x="0" y="0"/>
                </a:moveTo>
                <a:lnTo>
                  <a:pt x="1028700" y="444500"/>
                </a:lnTo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327653" y="3297173"/>
            <a:ext cx="2006600" cy="444500"/>
          </a:xfrm>
          <a:custGeom>
            <a:avLst/>
            <a:gdLst/>
            <a:ahLst/>
            <a:cxnLst/>
            <a:rect l="l" t="t" r="r" b="b"/>
            <a:pathLst>
              <a:path w="2006600" h="444500">
                <a:moveTo>
                  <a:pt x="0" y="0"/>
                </a:moveTo>
                <a:lnTo>
                  <a:pt x="2006600" y="444500"/>
                </a:lnTo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360169" y="4927853"/>
            <a:ext cx="634365" cy="635635"/>
          </a:xfrm>
          <a:custGeom>
            <a:avLst/>
            <a:gdLst/>
            <a:ahLst/>
            <a:cxnLst/>
            <a:rect l="l" t="t" r="r" b="b"/>
            <a:pathLst>
              <a:path w="634364" h="635635">
                <a:moveTo>
                  <a:pt x="0" y="317754"/>
                </a:moveTo>
                <a:lnTo>
                  <a:pt x="3435" y="270793"/>
                </a:lnTo>
                <a:lnTo>
                  <a:pt x="13416" y="225973"/>
                </a:lnTo>
                <a:lnTo>
                  <a:pt x="29451" y="183786"/>
                </a:lnTo>
                <a:lnTo>
                  <a:pt x="51053" y="144723"/>
                </a:lnTo>
                <a:lnTo>
                  <a:pt x="77731" y="109274"/>
                </a:lnTo>
                <a:lnTo>
                  <a:pt x="108996" y="77931"/>
                </a:lnTo>
                <a:lnTo>
                  <a:pt x="144358" y="51186"/>
                </a:lnTo>
                <a:lnTo>
                  <a:pt x="183328" y="29529"/>
                </a:lnTo>
                <a:lnTo>
                  <a:pt x="225417" y="13451"/>
                </a:lnTo>
                <a:lnTo>
                  <a:pt x="270135" y="3444"/>
                </a:lnTo>
                <a:lnTo>
                  <a:pt x="316992" y="0"/>
                </a:lnTo>
                <a:lnTo>
                  <a:pt x="363848" y="3444"/>
                </a:lnTo>
                <a:lnTo>
                  <a:pt x="408566" y="13451"/>
                </a:lnTo>
                <a:lnTo>
                  <a:pt x="450655" y="29529"/>
                </a:lnTo>
                <a:lnTo>
                  <a:pt x="489625" y="51186"/>
                </a:lnTo>
                <a:lnTo>
                  <a:pt x="524987" y="77931"/>
                </a:lnTo>
                <a:lnTo>
                  <a:pt x="556252" y="109274"/>
                </a:lnTo>
                <a:lnTo>
                  <a:pt x="582930" y="144723"/>
                </a:lnTo>
                <a:lnTo>
                  <a:pt x="604532" y="183786"/>
                </a:lnTo>
                <a:lnTo>
                  <a:pt x="620567" y="225973"/>
                </a:lnTo>
                <a:lnTo>
                  <a:pt x="630548" y="270793"/>
                </a:lnTo>
                <a:lnTo>
                  <a:pt x="633984" y="317754"/>
                </a:lnTo>
                <a:lnTo>
                  <a:pt x="630548" y="364714"/>
                </a:lnTo>
                <a:lnTo>
                  <a:pt x="620567" y="409534"/>
                </a:lnTo>
                <a:lnTo>
                  <a:pt x="604532" y="451721"/>
                </a:lnTo>
                <a:lnTo>
                  <a:pt x="582930" y="490784"/>
                </a:lnTo>
                <a:lnTo>
                  <a:pt x="556252" y="526233"/>
                </a:lnTo>
                <a:lnTo>
                  <a:pt x="524987" y="557576"/>
                </a:lnTo>
                <a:lnTo>
                  <a:pt x="489625" y="584321"/>
                </a:lnTo>
                <a:lnTo>
                  <a:pt x="450655" y="605978"/>
                </a:lnTo>
                <a:lnTo>
                  <a:pt x="408566" y="622056"/>
                </a:lnTo>
                <a:lnTo>
                  <a:pt x="363848" y="632063"/>
                </a:lnTo>
                <a:lnTo>
                  <a:pt x="316992" y="635508"/>
                </a:lnTo>
                <a:lnTo>
                  <a:pt x="270135" y="632063"/>
                </a:lnTo>
                <a:lnTo>
                  <a:pt x="225417" y="622056"/>
                </a:lnTo>
                <a:lnTo>
                  <a:pt x="183328" y="605978"/>
                </a:lnTo>
                <a:lnTo>
                  <a:pt x="144358" y="584321"/>
                </a:lnTo>
                <a:lnTo>
                  <a:pt x="108996" y="557576"/>
                </a:lnTo>
                <a:lnTo>
                  <a:pt x="77731" y="526233"/>
                </a:lnTo>
                <a:lnTo>
                  <a:pt x="51053" y="490784"/>
                </a:lnTo>
                <a:lnTo>
                  <a:pt x="29451" y="451721"/>
                </a:lnTo>
                <a:lnTo>
                  <a:pt x="13416" y="409534"/>
                </a:lnTo>
                <a:lnTo>
                  <a:pt x="3435" y="364714"/>
                </a:lnTo>
                <a:lnTo>
                  <a:pt x="0" y="317754"/>
                </a:lnTo>
                <a:close/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557782" y="5007686"/>
            <a:ext cx="25019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617470" y="4927853"/>
            <a:ext cx="634365" cy="635635"/>
          </a:xfrm>
          <a:custGeom>
            <a:avLst/>
            <a:gdLst/>
            <a:ahLst/>
            <a:cxnLst/>
            <a:rect l="l" t="t" r="r" b="b"/>
            <a:pathLst>
              <a:path w="634364" h="635635">
                <a:moveTo>
                  <a:pt x="0" y="317754"/>
                </a:moveTo>
                <a:lnTo>
                  <a:pt x="3435" y="270793"/>
                </a:lnTo>
                <a:lnTo>
                  <a:pt x="13416" y="225973"/>
                </a:lnTo>
                <a:lnTo>
                  <a:pt x="29451" y="183786"/>
                </a:lnTo>
                <a:lnTo>
                  <a:pt x="51053" y="144723"/>
                </a:lnTo>
                <a:lnTo>
                  <a:pt x="77731" y="109274"/>
                </a:lnTo>
                <a:lnTo>
                  <a:pt x="108996" y="77931"/>
                </a:lnTo>
                <a:lnTo>
                  <a:pt x="144358" y="51186"/>
                </a:lnTo>
                <a:lnTo>
                  <a:pt x="183328" y="29529"/>
                </a:lnTo>
                <a:lnTo>
                  <a:pt x="225417" y="13451"/>
                </a:lnTo>
                <a:lnTo>
                  <a:pt x="270135" y="3444"/>
                </a:lnTo>
                <a:lnTo>
                  <a:pt x="316992" y="0"/>
                </a:lnTo>
                <a:lnTo>
                  <a:pt x="363848" y="3444"/>
                </a:lnTo>
                <a:lnTo>
                  <a:pt x="408566" y="13451"/>
                </a:lnTo>
                <a:lnTo>
                  <a:pt x="450655" y="29529"/>
                </a:lnTo>
                <a:lnTo>
                  <a:pt x="489625" y="51186"/>
                </a:lnTo>
                <a:lnTo>
                  <a:pt x="524987" y="77931"/>
                </a:lnTo>
                <a:lnTo>
                  <a:pt x="556252" y="109274"/>
                </a:lnTo>
                <a:lnTo>
                  <a:pt x="582930" y="144723"/>
                </a:lnTo>
                <a:lnTo>
                  <a:pt x="604532" y="183786"/>
                </a:lnTo>
                <a:lnTo>
                  <a:pt x="620567" y="225973"/>
                </a:lnTo>
                <a:lnTo>
                  <a:pt x="630548" y="270793"/>
                </a:lnTo>
                <a:lnTo>
                  <a:pt x="633983" y="317754"/>
                </a:lnTo>
                <a:lnTo>
                  <a:pt x="630548" y="364714"/>
                </a:lnTo>
                <a:lnTo>
                  <a:pt x="620567" y="409534"/>
                </a:lnTo>
                <a:lnTo>
                  <a:pt x="604532" y="451721"/>
                </a:lnTo>
                <a:lnTo>
                  <a:pt x="582930" y="490784"/>
                </a:lnTo>
                <a:lnTo>
                  <a:pt x="556252" y="526233"/>
                </a:lnTo>
                <a:lnTo>
                  <a:pt x="524987" y="557576"/>
                </a:lnTo>
                <a:lnTo>
                  <a:pt x="489625" y="584321"/>
                </a:lnTo>
                <a:lnTo>
                  <a:pt x="450655" y="605978"/>
                </a:lnTo>
                <a:lnTo>
                  <a:pt x="408566" y="622056"/>
                </a:lnTo>
                <a:lnTo>
                  <a:pt x="363848" y="632063"/>
                </a:lnTo>
                <a:lnTo>
                  <a:pt x="316992" y="635508"/>
                </a:lnTo>
                <a:lnTo>
                  <a:pt x="270135" y="632063"/>
                </a:lnTo>
                <a:lnTo>
                  <a:pt x="225417" y="622056"/>
                </a:lnTo>
                <a:lnTo>
                  <a:pt x="183328" y="605978"/>
                </a:lnTo>
                <a:lnTo>
                  <a:pt x="144358" y="584321"/>
                </a:lnTo>
                <a:lnTo>
                  <a:pt x="108996" y="557576"/>
                </a:lnTo>
                <a:lnTo>
                  <a:pt x="77731" y="526233"/>
                </a:lnTo>
                <a:lnTo>
                  <a:pt x="51053" y="490784"/>
                </a:lnTo>
                <a:lnTo>
                  <a:pt x="29451" y="451721"/>
                </a:lnTo>
                <a:lnTo>
                  <a:pt x="13416" y="409534"/>
                </a:lnTo>
                <a:lnTo>
                  <a:pt x="3435" y="364714"/>
                </a:lnTo>
                <a:lnTo>
                  <a:pt x="0" y="317754"/>
                </a:lnTo>
                <a:close/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2844419" y="5007686"/>
            <a:ext cx="1905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677161" y="4464558"/>
            <a:ext cx="673100" cy="444500"/>
          </a:xfrm>
          <a:custGeom>
            <a:avLst/>
            <a:gdLst/>
            <a:ahLst/>
            <a:cxnLst/>
            <a:rect l="l" t="t" r="r" b="b"/>
            <a:pathLst>
              <a:path w="673100" h="444500">
                <a:moveTo>
                  <a:pt x="673100" y="0"/>
                </a:moveTo>
                <a:lnTo>
                  <a:pt x="0" y="444500"/>
                </a:lnTo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350770" y="4464558"/>
            <a:ext cx="584200" cy="444500"/>
          </a:xfrm>
          <a:custGeom>
            <a:avLst/>
            <a:gdLst/>
            <a:ahLst/>
            <a:cxnLst/>
            <a:rect l="l" t="t" r="r" b="b"/>
            <a:pathLst>
              <a:path w="584200" h="444500">
                <a:moveTo>
                  <a:pt x="0" y="0"/>
                </a:moveTo>
                <a:lnTo>
                  <a:pt x="584200" y="444500"/>
                </a:lnTo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039361" y="4909565"/>
            <a:ext cx="635635" cy="635635"/>
          </a:xfrm>
          <a:custGeom>
            <a:avLst/>
            <a:gdLst/>
            <a:ahLst/>
            <a:cxnLst/>
            <a:rect l="l" t="t" r="r" b="b"/>
            <a:pathLst>
              <a:path w="635635" h="635635">
                <a:moveTo>
                  <a:pt x="0" y="317753"/>
                </a:moveTo>
                <a:lnTo>
                  <a:pt x="3444" y="270793"/>
                </a:lnTo>
                <a:lnTo>
                  <a:pt x="13451" y="225973"/>
                </a:lnTo>
                <a:lnTo>
                  <a:pt x="29529" y="183786"/>
                </a:lnTo>
                <a:lnTo>
                  <a:pt x="51186" y="144723"/>
                </a:lnTo>
                <a:lnTo>
                  <a:pt x="77931" y="109274"/>
                </a:lnTo>
                <a:lnTo>
                  <a:pt x="109274" y="77931"/>
                </a:lnTo>
                <a:lnTo>
                  <a:pt x="144723" y="51186"/>
                </a:lnTo>
                <a:lnTo>
                  <a:pt x="183786" y="29529"/>
                </a:lnTo>
                <a:lnTo>
                  <a:pt x="225973" y="13451"/>
                </a:lnTo>
                <a:lnTo>
                  <a:pt x="270793" y="3444"/>
                </a:lnTo>
                <a:lnTo>
                  <a:pt x="317753" y="0"/>
                </a:lnTo>
                <a:lnTo>
                  <a:pt x="364714" y="3444"/>
                </a:lnTo>
                <a:lnTo>
                  <a:pt x="409534" y="13451"/>
                </a:lnTo>
                <a:lnTo>
                  <a:pt x="451721" y="29529"/>
                </a:lnTo>
                <a:lnTo>
                  <a:pt x="490784" y="51186"/>
                </a:lnTo>
                <a:lnTo>
                  <a:pt x="526233" y="77931"/>
                </a:lnTo>
                <a:lnTo>
                  <a:pt x="557576" y="109274"/>
                </a:lnTo>
                <a:lnTo>
                  <a:pt x="584321" y="144723"/>
                </a:lnTo>
                <a:lnTo>
                  <a:pt x="605978" y="183786"/>
                </a:lnTo>
                <a:lnTo>
                  <a:pt x="622056" y="225973"/>
                </a:lnTo>
                <a:lnTo>
                  <a:pt x="632063" y="270793"/>
                </a:lnTo>
                <a:lnTo>
                  <a:pt x="635508" y="317753"/>
                </a:lnTo>
                <a:lnTo>
                  <a:pt x="632063" y="364714"/>
                </a:lnTo>
                <a:lnTo>
                  <a:pt x="622056" y="409534"/>
                </a:lnTo>
                <a:lnTo>
                  <a:pt x="605978" y="451721"/>
                </a:lnTo>
                <a:lnTo>
                  <a:pt x="584321" y="490784"/>
                </a:lnTo>
                <a:lnTo>
                  <a:pt x="557576" y="526233"/>
                </a:lnTo>
                <a:lnTo>
                  <a:pt x="526233" y="557576"/>
                </a:lnTo>
                <a:lnTo>
                  <a:pt x="490784" y="584321"/>
                </a:lnTo>
                <a:lnTo>
                  <a:pt x="451721" y="605978"/>
                </a:lnTo>
                <a:lnTo>
                  <a:pt x="409534" y="622056"/>
                </a:lnTo>
                <a:lnTo>
                  <a:pt x="364714" y="632063"/>
                </a:lnTo>
                <a:lnTo>
                  <a:pt x="317753" y="635507"/>
                </a:lnTo>
                <a:lnTo>
                  <a:pt x="270793" y="632063"/>
                </a:lnTo>
                <a:lnTo>
                  <a:pt x="225973" y="622056"/>
                </a:lnTo>
                <a:lnTo>
                  <a:pt x="183786" y="605978"/>
                </a:lnTo>
                <a:lnTo>
                  <a:pt x="144723" y="584321"/>
                </a:lnTo>
                <a:lnTo>
                  <a:pt x="109274" y="557576"/>
                </a:lnTo>
                <a:lnTo>
                  <a:pt x="77931" y="526233"/>
                </a:lnTo>
                <a:lnTo>
                  <a:pt x="51186" y="490784"/>
                </a:lnTo>
                <a:lnTo>
                  <a:pt x="29529" y="451721"/>
                </a:lnTo>
                <a:lnTo>
                  <a:pt x="13451" y="409534"/>
                </a:lnTo>
                <a:lnTo>
                  <a:pt x="3444" y="364714"/>
                </a:lnTo>
                <a:lnTo>
                  <a:pt x="0" y="317753"/>
                </a:lnTo>
                <a:close/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3936491" y="3701796"/>
            <a:ext cx="864235" cy="1899285"/>
          </a:xfrm>
          <a:prstGeom prst="rect">
            <a:avLst/>
          </a:prstGeom>
          <a:ln w="76200">
            <a:solidFill>
              <a:srgbClr val="66FF66"/>
            </a:solidFill>
          </a:ln>
        </p:spPr>
        <p:txBody>
          <a:bodyPr wrap="square" lIns="0" tIns="149860" rIns="0" bIns="0" rtlCol="0" vert="horz">
            <a:spAutoFit/>
          </a:bodyPr>
          <a:lstStyle/>
          <a:p>
            <a:pPr algn="ctr" marR="16510">
              <a:lnSpc>
                <a:spcPct val="100000"/>
              </a:lnSpc>
              <a:spcBef>
                <a:spcPts val="1180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100">
              <a:latin typeface="Times New Roman"/>
              <a:cs typeface="Times New Roman"/>
            </a:endParaRPr>
          </a:p>
          <a:p>
            <a:pPr algn="ctr" marR="17780">
              <a:lnSpc>
                <a:spcPct val="100000"/>
              </a:lnSpc>
              <a:spcBef>
                <a:spcPts val="212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356353" y="4414265"/>
            <a:ext cx="0" cy="476250"/>
          </a:xfrm>
          <a:custGeom>
            <a:avLst/>
            <a:gdLst/>
            <a:ahLst/>
            <a:cxnLst/>
            <a:rect l="l" t="t" r="r" b="b"/>
            <a:pathLst>
              <a:path w="0" h="476250">
                <a:moveTo>
                  <a:pt x="0" y="0"/>
                </a:moveTo>
                <a:lnTo>
                  <a:pt x="0" y="476249"/>
                </a:lnTo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143000" y="3753611"/>
            <a:ext cx="2362200" cy="1809114"/>
          </a:xfrm>
          <a:custGeom>
            <a:avLst/>
            <a:gdLst/>
            <a:ahLst/>
            <a:cxnLst/>
            <a:rect l="l" t="t" r="r" b="b"/>
            <a:pathLst>
              <a:path w="2362200" h="1809114">
                <a:moveTo>
                  <a:pt x="2362200" y="1808988"/>
                </a:moveTo>
                <a:lnTo>
                  <a:pt x="1466850" y="0"/>
                </a:lnTo>
                <a:lnTo>
                  <a:pt x="895350" y="0"/>
                </a:lnTo>
                <a:lnTo>
                  <a:pt x="0" y="1808988"/>
                </a:lnTo>
                <a:lnTo>
                  <a:pt x="2362200" y="1808988"/>
                </a:lnTo>
                <a:close/>
              </a:path>
            </a:pathLst>
          </a:custGeom>
          <a:ln w="76200">
            <a:solidFill>
              <a:srgbClr val="FFFF00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366166" y="627752"/>
            <a:ext cx="8596630" cy="1654175"/>
          </a:xfrm>
          <a:prstGeom prst="rect">
            <a:avLst/>
          </a:prstGeom>
        </p:spPr>
        <p:txBody>
          <a:bodyPr wrap="square" lIns="0" tIns="1206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填空题：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设有文法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G(S):</a:t>
            </a:r>
            <a:endParaRPr sz="2800">
              <a:latin typeface="Times New Roman"/>
              <a:cs typeface="Times New Roman"/>
            </a:endParaRPr>
          </a:p>
          <a:p>
            <a:pPr algn="ctr" marR="506730">
              <a:lnSpc>
                <a:spcPct val="100000"/>
              </a:lnSpc>
              <a:spcBef>
                <a:spcPts val="735"/>
              </a:spcBef>
              <a:tabLst>
                <a:tab pos="1943100" algn="l"/>
                <a:tab pos="3860165" algn="l"/>
              </a:tabLst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aAcBe	A</a:t>
            </a:r>
            <a:r>
              <a:rPr dirty="0" sz="2800" spc="-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800" spc="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Ab	B</a:t>
            </a:r>
            <a:r>
              <a:rPr dirty="0" sz="2800" spc="-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  <a:tabLst>
                <a:tab pos="5730240" algn="l"/>
                <a:tab pos="7404734" algn="l"/>
                <a:tab pos="8227695" algn="l"/>
              </a:tabLst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则句型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aAbcde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的短语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u="heavy" baseline="-4960" sz="4200" spc="202" b="1" i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baseline="-4960" sz="4200" spc="-15" b="1" i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A</a:t>
            </a:r>
            <a:r>
              <a:rPr dirty="0" u="heavy" baseline="-4960" sz="4200" b="1" i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b</a:t>
            </a:r>
            <a:r>
              <a:rPr dirty="0" u="heavy" baseline="-4960" sz="4200" spc="-15" b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,</a:t>
            </a:r>
            <a:r>
              <a:rPr dirty="0" u="heavy" baseline="-4960" sz="4200" b="1" i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d</a:t>
            </a:r>
            <a:r>
              <a:rPr dirty="0" u="heavy" baseline="-4960" sz="4200" spc="-15" b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,</a:t>
            </a:r>
            <a:r>
              <a:rPr dirty="0" u="heavy" baseline="-4960" sz="4200" spc="-7" b="1" i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aAbcde</a:t>
            </a:r>
            <a:r>
              <a:rPr dirty="0" u="heavy" baseline="-4960" sz="4200" b="1" i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，句柄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u="heavy" baseline="-4960" sz="4200" spc="-7" b="1" i="1">
                <a:solidFill>
                  <a:srgbClr val="FFFF00"/>
                </a:solidFill>
                <a:uFill>
                  <a:solidFill>
                    <a:srgbClr val="FEFEFE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baseline="-4960" sz="4200" b="1" i="1">
                <a:solidFill>
                  <a:srgbClr val="FFFF00"/>
                </a:solidFill>
                <a:uFill>
                  <a:solidFill>
                    <a:srgbClr val="FEFEFE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heavy" baseline="-4960" sz="4200" spc="-15" b="1" i="1">
                <a:solidFill>
                  <a:srgbClr val="FFFF00"/>
                </a:solidFill>
                <a:uFill>
                  <a:solidFill>
                    <a:srgbClr val="FEFEFE"/>
                  </a:solidFill>
                </a:uFill>
                <a:latin typeface="Times New Roman"/>
                <a:cs typeface="Times New Roman"/>
              </a:rPr>
              <a:t>A</a:t>
            </a:r>
            <a:r>
              <a:rPr dirty="0" u="heavy" baseline="-4960" sz="4200" spc="-7" b="1" i="1">
                <a:solidFill>
                  <a:srgbClr val="FFFF00"/>
                </a:solidFill>
                <a:uFill>
                  <a:solidFill>
                    <a:srgbClr val="FEFEFE"/>
                  </a:solidFill>
                </a:uFill>
                <a:latin typeface="Times New Roman"/>
                <a:cs typeface="Times New Roman"/>
              </a:rPr>
              <a:t>b</a:t>
            </a:r>
            <a:r>
              <a:rPr dirty="0" u="heavy" baseline="-4960" sz="4200" b="1" i="1">
                <a:solidFill>
                  <a:srgbClr val="FFFF00"/>
                </a:solidFill>
                <a:uFill>
                  <a:solidFill>
                    <a:srgbClr val="FEFEFE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88036" y="2569464"/>
            <a:ext cx="5629910" cy="3209925"/>
          </a:xfrm>
          <a:custGeom>
            <a:avLst/>
            <a:gdLst/>
            <a:ahLst/>
            <a:cxnLst/>
            <a:rect l="l" t="t" r="r" b="b"/>
            <a:pathLst>
              <a:path w="5629910" h="3209925">
                <a:moveTo>
                  <a:pt x="0" y="3209544"/>
                </a:moveTo>
                <a:lnTo>
                  <a:pt x="5629656" y="3209544"/>
                </a:lnTo>
                <a:lnTo>
                  <a:pt x="5629656" y="0"/>
                </a:lnTo>
                <a:lnTo>
                  <a:pt x="0" y="0"/>
                </a:lnTo>
                <a:lnTo>
                  <a:pt x="0" y="3209544"/>
                </a:lnTo>
                <a:close/>
              </a:path>
            </a:pathLst>
          </a:custGeom>
          <a:ln w="76200">
            <a:solidFill>
              <a:srgbClr val="FF66FF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6452108" y="2770708"/>
            <a:ext cx="2067560" cy="146875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algn="just" marL="12700" marR="5080">
              <a:lnSpc>
                <a:spcPct val="97900"/>
              </a:lnSpc>
              <a:spcBef>
                <a:spcPts val="185"/>
              </a:spcBef>
            </a:pPr>
            <a:r>
              <a:rPr dirty="0" sz="3200" spc="-5" b="1">
                <a:solidFill>
                  <a:srgbClr val="66FF66"/>
                </a:solidFill>
                <a:latin typeface="宋体"/>
                <a:cs typeface="宋体"/>
              </a:rPr>
              <a:t>短语、直接 </a:t>
            </a:r>
            <a:r>
              <a:rPr dirty="0" sz="3200" b="1">
                <a:solidFill>
                  <a:srgbClr val="66FF66"/>
                </a:solidFill>
                <a:latin typeface="宋体"/>
                <a:cs typeface="宋体"/>
              </a:rPr>
              <a:t>短语、句柄 </a:t>
            </a:r>
            <a:r>
              <a:rPr dirty="0" sz="3200" b="1">
                <a:solidFill>
                  <a:srgbClr val="66FF66"/>
                </a:solidFill>
                <a:latin typeface="宋体"/>
                <a:cs typeface="宋体"/>
              </a:rPr>
              <a:t>的概念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2704338" y="26923"/>
            <a:ext cx="162877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09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66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4749800" y="26923"/>
            <a:ext cx="23266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</a:tabLst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算符优先分析法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1691" y="730376"/>
            <a:ext cx="6005195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FFFF00"/>
                </a:solidFill>
              </a:rPr>
              <a:t>填空题：</a:t>
            </a:r>
            <a:r>
              <a:rPr dirty="0" spc="-5">
                <a:solidFill>
                  <a:srgbClr val="FFFFFF"/>
                </a:solidFill>
              </a:rPr>
              <a:t>设有文法</a:t>
            </a:r>
            <a:r>
              <a:rPr dirty="0" spc="-5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pc="-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pc="-5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pc="-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pc="-5">
                <a:solidFill>
                  <a:srgbClr val="FFFFFF"/>
                </a:solidFill>
              </a:rPr>
              <a:t>：</a:t>
            </a:r>
            <a:r>
              <a:rPr dirty="0" spc="-705">
                <a:solidFill>
                  <a:srgbClr val="FFFFFF"/>
                </a:solidFill>
              </a:rPr>
              <a:t> </a:t>
            </a:r>
            <a:r>
              <a:rPr dirty="0" spc="-5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pc="-5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pc="-5" i="1">
                <a:solidFill>
                  <a:srgbClr val="FFFFFF"/>
                </a:solidFill>
                <a:latin typeface="Times New Roman"/>
                <a:cs typeface="Times New Roman"/>
              </a:rPr>
              <a:t>Pab </a:t>
            </a:r>
            <a:r>
              <a:rPr dirty="0" spc="-5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pc="-5" i="1">
                <a:solidFill>
                  <a:srgbClr val="FFFFFF"/>
                </a:solidFill>
                <a:latin typeface="Times New Roman"/>
                <a:cs typeface="Times New Roman"/>
              </a:rPr>
              <a:t>bP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44182" y="782192"/>
            <a:ext cx="117729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800" spc="-8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1691" y="2166366"/>
            <a:ext cx="483743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填写如下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LL(1)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分析表的内容。</a:t>
            </a:r>
            <a:endParaRPr sz="2800">
              <a:latin typeface="宋体"/>
              <a:cs typeface="宋体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795337" y="2954337"/>
          <a:ext cx="7299959" cy="12160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3250"/>
                <a:gridCol w="2218055"/>
                <a:gridCol w="2218055"/>
                <a:gridCol w="2218055"/>
              </a:tblGrid>
              <a:tr h="5937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93725">
                <a:tc>
                  <a:txBody>
                    <a:bodyPr/>
                    <a:lstStyle/>
                    <a:p>
                      <a:pPr marL="19240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9626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2800" spc="-2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dirty="0" sz="2800" spc="-25" b="1">
                          <a:solidFill>
                            <a:srgbClr val="FFFF00"/>
                          </a:solidFill>
                          <a:latin typeface="Symbol"/>
                          <a:cs typeface="Symbol"/>
                        </a:rPr>
                        <a:t></a:t>
                      </a:r>
                      <a:r>
                        <a:rPr dirty="0" sz="2950" spc="-25" b="1" i="1">
                          <a:solidFill>
                            <a:srgbClr val="FFFF00"/>
                          </a:solidFill>
                          <a:latin typeface="Symbol"/>
                          <a:cs typeface="Symbol"/>
                        </a:rPr>
                        <a:t></a:t>
                      </a:r>
                      <a:endParaRPr sz="2950">
                        <a:latin typeface="Symbol"/>
                        <a:cs typeface="Symbol"/>
                      </a:endParaRPr>
                    </a:p>
                  </a:txBody>
                  <a:tcPr marL="0" marR="0" marB="0" marT="273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9944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2800" spc="-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dirty="0" sz="2800" spc="-5" b="1">
                          <a:solidFill>
                            <a:srgbClr val="FFFF00"/>
                          </a:solidFill>
                          <a:latin typeface="Symbol"/>
                          <a:cs typeface="Symbol"/>
                        </a:rPr>
                        <a:t></a:t>
                      </a:r>
                      <a:r>
                        <a:rPr dirty="0" sz="2800" spc="-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752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2800" spc="-2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dirty="0" sz="2800" spc="-25" b="1">
                          <a:solidFill>
                            <a:srgbClr val="FFFF00"/>
                          </a:solidFill>
                          <a:latin typeface="Symbol"/>
                          <a:cs typeface="Symbol"/>
                        </a:rPr>
                        <a:t></a:t>
                      </a:r>
                      <a:r>
                        <a:rPr dirty="0" sz="2950" spc="-25" b="1" i="1">
                          <a:solidFill>
                            <a:srgbClr val="FFFF00"/>
                          </a:solidFill>
                          <a:latin typeface="Symbol"/>
                          <a:cs typeface="Symbol"/>
                        </a:rPr>
                        <a:t></a:t>
                      </a:r>
                      <a:endParaRPr sz="2950">
                        <a:latin typeface="Symbol"/>
                        <a:cs typeface="Symbol"/>
                      </a:endParaRPr>
                    </a:p>
                  </a:txBody>
                  <a:tcPr marL="0" marR="0" marB="0" marT="27305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320141" y="4093743"/>
            <a:ext cx="3494404" cy="2588895"/>
          </a:xfrm>
          <a:prstGeom prst="rect">
            <a:avLst/>
          </a:prstGeom>
        </p:spPr>
        <p:txBody>
          <a:bodyPr wrap="square" lIns="0" tIns="227965" rIns="0" bIns="0" rtlCol="0" vert="horz">
            <a:spAutoFit/>
          </a:bodyPr>
          <a:lstStyle/>
          <a:p>
            <a:pPr marL="190500">
              <a:lnSpc>
                <a:spcPct val="100000"/>
              </a:lnSpc>
              <a:spcBef>
                <a:spcPts val="179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First(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9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=First(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Pab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00"/>
                </a:solidFill>
                <a:latin typeface="Symbol"/>
                <a:cs typeface="Symbol"/>
              </a:rPr>
              <a:t>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First(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bP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={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}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00"/>
                </a:solidFill>
                <a:latin typeface="Symbol"/>
                <a:cs typeface="Symbol"/>
              </a:rPr>
              <a:t>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{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7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={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51628" y="4366920"/>
            <a:ext cx="3529329" cy="2083435"/>
          </a:xfrm>
          <a:prstGeom prst="rect">
            <a:avLst/>
          </a:prstGeom>
        </p:spPr>
        <p:txBody>
          <a:bodyPr wrap="square" lIns="0" tIns="1022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Follow(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P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＝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First(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ab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00"/>
                </a:solidFill>
                <a:latin typeface="Symbol"/>
                <a:cs typeface="Symbol"/>
              </a:rPr>
              <a:t></a:t>
            </a:r>
            <a:r>
              <a:rPr dirty="0" sz="2800" spc="-2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Follow(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＝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{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}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00"/>
                </a:solidFill>
                <a:latin typeface="Symbol"/>
                <a:cs typeface="Symbol"/>
              </a:rPr>
              <a:t>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{#}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＝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{#,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1691" y="1483309"/>
            <a:ext cx="8735060" cy="9531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650364" algn="l"/>
                <a:tab pos="2677795" algn="l"/>
                <a:tab pos="5216525" algn="l"/>
                <a:tab pos="5915660" algn="l"/>
                <a:tab pos="6866890" algn="l"/>
              </a:tabLst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First(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	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u="heavy" baseline="-3968" sz="4200" spc="-22" b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baseline="-3968" sz="4200" spc="457" b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baseline="-3968" sz="4200" spc="-7" b="1" i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b</a:t>
            </a:r>
            <a:r>
              <a:rPr dirty="0" u="heavy" baseline="-3968" sz="4200" spc="-7" b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,</a:t>
            </a:r>
            <a:r>
              <a:rPr dirty="0" u="heavy" baseline="-3968" sz="4200" spc="-7" b="1" i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a	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r>
              <a:rPr dirty="0" sz="2800" spc="-69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Follow(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)=	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u="heavy" baseline="-3968" sz="4200" b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	</a:t>
            </a:r>
            <a:r>
              <a:rPr dirty="0" u="heavy" baseline="-3968" sz="4200" spc="-7" b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#,</a:t>
            </a:r>
            <a:r>
              <a:rPr dirty="0" u="heavy" baseline="-3968" sz="4200" spc="-7" b="1" i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a	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；并</a:t>
            </a:r>
            <a:endParaRPr sz="2800">
              <a:latin typeface="宋体"/>
              <a:cs typeface="宋体"/>
            </a:endParaRPr>
          </a:p>
          <a:p>
            <a:pPr marL="5075555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66FF66"/>
                </a:solidFill>
                <a:latin typeface="Times New Roman"/>
                <a:cs typeface="Times New Roman"/>
              </a:rPr>
              <a:t>First</a:t>
            </a:r>
            <a:r>
              <a:rPr dirty="0" sz="3200" spc="-5" b="1">
                <a:solidFill>
                  <a:srgbClr val="66FF66"/>
                </a:solidFill>
                <a:latin typeface="宋体"/>
                <a:cs typeface="宋体"/>
              </a:rPr>
              <a:t>、</a:t>
            </a:r>
            <a:r>
              <a:rPr dirty="0" sz="3200" b="1">
                <a:solidFill>
                  <a:srgbClr val="66FF66"/>
                </a:solidFill>
                <a:latin typeface="Times New Roman"/>
                <a:cs typeface="Times New Roman"/>
              </a:rPr>
              <a:t>Follow</a:t>
            </a:r>
            <a:r>
              <a:rPr dirty="0" sz="3200" spc="-5" b="1">
                <a:solidFill>
                  <a:srgbClr val="66FF66"/>
                </a:solidFill>
                <a:latin typeface="宋体"/>
                <a:cs typeface="宋体"/>
              </a:rPr>
              <a:t>集合及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84978" y="2410460"/>
            <a:ext cx="3494404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66FF66"/>
                </a:solidFill>
                <a:latin typeface="Times New Roman"/>
                <a:cs typeface="Times New Roman"/>
              </a:rPr>
              <a:t>LL(1)</a:t>
            </a:r>
            <a:r>
              <a:rPr dirty="0" sz="3200" b="1">
                <a:solidFill>
                  <a:srgbClr val="66FF66"/>
                </a:solidFill>
                <a:latin typeface="宋体"/>
                <a:cs typeface="宋体"/>
              </a:rPr>
              <a:t>分析表的构造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704338" y="26923"/>
            <a:ext cx="43726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58035" algn="l"/>
                <a:tab pos="256667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算符优先分析法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66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wgz</dc:creator>
  <dc:title>5.1   移进—归约分析     5.2   算符优先分析法</dc:title>
  <dcterms:created xsi:type="dcterms:W3CDTF">2025-05-20T06:40:54Z</dcterms:created>
  <dcterms:modified xsi:type="dcterms:W3CDTF">2025-05-20T06:40:54Z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2025-04-28T00:00:00Z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2025-05-20T00:00:00Z</vt:filetime>
  </property>
</Properties>
</file>