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8471" y="859993"/>
            <a:ext cx="439420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831" y="1224369"/>
            <a:ext cx="754760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6.xml"/><Relationship Id="rId3" Type="http://schemas.openxmlformats.org/officeDocument/2006/relationships/image" Target="../media/image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slide" Target="slide26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slide" Target="slide22.xml"/><Relationship Id="rId4" Type="http://schemas.openxmlformats.org/officeDocument/2006/relationships/slide" Target="slide27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slide" Target="slide3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slide" Target="slide31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" Target="slide40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4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slide" Target="slide45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slide" Target="slide43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7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8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36.png"/><Relationship Id="rId4" Type="http://schemas.openxmlformats.org/officeDocument/2006/relationships/image" Target="../media/image4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42.png"/><Relationship Id="rId4" Type="http://schemas.openxmlformats.org/officeDocument/2006/relationships/image" Target="../media/image4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43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slide" Target="slide70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44.png"/><Relationship Id="rId4" Type="http://schemas.openxmlformats.org/officeDocument/2006/relationships/slide" Target="slide91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48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49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slide" Target="slide90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" Target="slide89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slide" Target="slide84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1.png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2.png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slide" Target="slide109.xml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" Target="slide108.xml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slide" Target="slide112.xml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" Target="slide111.xml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" Target="slide114.xml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" Target="slide113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471" y="859993"/>
            <a:ext cx="42144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5635" algn="l"/>
              </a:tabLst>
            </a:pPr>
            <a:r>
              <a:rPr dirty="0" spc="-5">
                <a:latin typeface="Times New Roman"/>
                <a:cs typeface="Times New Roman"/>
              </a:rPr>
              <a:t>5.1	</a:t>
            </a:r>
            <a:r>
              <a:rPr dirty="0" spc="-10"/>
              <a:t>“移近</a:t>
            </a:r>
            <a:r>
              <a:rPr dirty="0" spc="-10">
                <a:latin typeface="Times New Roman"/>
                <a:cs typeface="Times New Roman"/>
              </a:rPr>
              <a:t>—</a:t>
            </a:r>
            <a:r>
              <a:rPr dirty="0" spc="-5"/>
              <a:t>归</a:t>
            </a:r>
            <a:r>
              <a:rPr dirty="0" spc="-10"/>
              <a:t>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5654040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637540" indent="-624205">
              <a:lnSpc>
                <a:spcPct val="100000"/>
              </a:lnSpc>
              <a:spcBef>
                <a:spcPts val="1275"/>
              </a:spcBef>
              <a:buFont typeface="Times New Roman"/>
              <a:buAutoNum type="arabicPeriod" startAt="2"/>
              <a:tabLst>
                <a:tab pos="637540" algn="l"/>
                <a:tab pos="638175" algn="l"/>
              </a:tabLst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637540" indent="-624205">
              <a:lnSpc>
                <a:spcPct val="100000"/>
              </a:lnSpc>
              <a:spcBef>
                <a:spcPts val="1175"/>
              </a:spcBef>
              <a:buClr>
                <a:srgbClr val="FFFF00"/>
              </a:buClr>
              <a:buAutoNum type="arabicPeriod" startAt="2"/>
              <a:tabLst>
                <a:tab pos="637540" algn="l"/>
                <a:tab pos="638175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分析概述</a:t>
            </a:r>
            <a:endParaRPr sz="2800">
              <a:latin typeface="宋体"/>
              <a:cs typeface="宋体"/>
            </a:endParaRPr>
          </a:p>
          <a:p>
            <a:pPr lvl="1" marL="637540" indent="-624205">
              <a:lnSpc>
                <a:spcPct val="100000"/>
              </a:lnSpc>
              <a:spcBef>
                <a:spcPts val="1180"/>
              </a:spcBef>
              <a:buClr>
                <a:srgbClr val="FFFF00"/>
              </a:buClr>
              <a:buAutoNum type="arabicPeriod" startAt="2"/>
              <a:tabLst>
                <a:tab pos="637540" algn="l"/>
                <a:tab pos="638175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7540" indent="-624205">
              <a:lnSpc>
                <a:spcPct val="100000"/>
              </a:lnSpc>
              <a:spcBef>
                <a:spcPts val="1175"/>
              </a:spcBef>
              <a:buClr>
                <a:srgbClr val="FFFF00"/>
              </a:buClr>
              <a:buAutoNum type="arabicPeriod" startAt="2"/>
              <a:tabLst>
                <a:tab pos="637540" algn="l"/>
                <a:tab pos="63817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5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12953"/>
            <a:ext cx="9144000" cy="435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12953"/>
            <a:ext cx="9144000" cy="436245"/>
          </a:xfrm>
          <a:custGeom>
            <a:avLst/>
            <a:gdLst/>
            <a:ahLst/>
            <a:cxnLst/>
            <a:rect l="l" t="t" r="r" b="b"/>
            <a:pathLst>
              <a:path w="9144000" h="436245">
                <a:moveTo>
                  <a:pt x="0" y="435863"/>
                </a:moveTo>
                <a:lnTo>
                  <a:pt x="9144000" y="435863"/>
                </a:lnTo>
                <a:lnTo>
                  <a:pt x="914400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60470" y="27559"/>
            <a:ext cx="16230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Ch5</a:t>
            </a:r>
            <a:r>
              <a:rPr dirty="0" sz="2000" spc="4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法分析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54473" y="1949957"/>
            <a:ext cx="1562100" cy="536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54473" y="1949957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7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6070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0552" y="26923"/>
            <a:ext cx="1912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92061" y="2356866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92061" y="2356866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63166" y="2341575"/>
            <a:ext cx="6919595" cy="2221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029335" indent="-1017269">
              <a:lnSpc>
                <a:spcPct val="100000"/>
              </a:lnSpc>
              <a:spcBef>
                <a:spcPts val="105"/>
              </a:spcBef>
              <a:buClr>
                <a:srgbClr val="FFFF00"/>
              </a:buClr>
              <a:buAutoNum type="arabicPeriod"/>
              <a:tabLst>
                <a:tab pos="1029335" algn="l"/>
                <a:tab pos="1029969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分析器</a:t>
            </a:r>
            <a:endParaRPr sz="3200">
              <a:latin typeface="宋体"/>
              <a:cs typeface="宋体"/>
            </a:endParaRPr>
          </a:p>
          <a:p>
            <a:pPr lvl="2" marL="1029335" indent="-1017269">
              <a:lnSpc>
                <a:spcPct val="100000"/>
              </a:lnSpc>
              <a:spcBef>
                <a:spcPts val="2880"/>
              </a:spcBef>
              <a:buClr>
                <a:srgbClr val="FFFF00"/>
              </a:buClr>
              <a:buAutoNum type="arabicPeriod"/>
              <a:tabLst>
                <a:tab pos="1029335" algn="l"/>
                <a:tab pos="1029969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分析器结构、组成与工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原理</a:t>
            </a:r>
            <a:endParaRPr sz="3200">
              <a:latin typeface="宋体"/>
              <a:cs typeface="宋体"/>
            </a:endParaRPr>
          </a:p>
          <a:p>
            <a:pPr lvl="2" marL="1029335" indent="-1017269">
              <a:lnSpc>
                <a:spcPct val="100000"/>
              </a:lnSpc>
              <a:spcBef>
                <a:spcPts val="2880"/>
              </a:spcBef>
              <a:buClr>
                <a:srgbClr val="FFFF00"/>
              </a:buClr>
              <a:buAutoNum type="arabicPeriod"/>
              <a:tabLst>
                <a:tab pos="1029335" algn="l"/>
                <a:tab pos="1029969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分析实例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30272" y="820673"/>
            <a:ext cx="43859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9500" algn="l"/>
              </a:tabLst>
            </a:pPr>
            <a:r>
              <a:rPr dirty="0" sz="4800">
                <a:solidFill>
                  <a:srgbClr val="FFFF00"/>
                </a:solidFill>
                <a:latin typeface="Times New Roman"/>
                <a:cs typeface="Times New Roman"/>
              </a:rPr>
              <a:t>5.3	</a:t>
            </a:r>
            <a:r>
              <a:rPr dirty="0" sz="4800" spc="-5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4800" spc="-10">
                <a:solidFill>
                  <a:srgbClr val="FFFF00"/>
                </a:solidFill>
              </a:rPr>
              <a:t>分析概述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41070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0642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1591" y="26923"/>
            <a:ext cx="30314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5.3.1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990600"/>
            <a:ext cx="8401812" cy="1440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57200" y="1017498"/>
            <a:ext cx="8402320" cy="4109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005" marR="592455">
              <a:lnSpc>
                <a:spcPct val="114999"/>
              </a:lnSpc>
              <a:spcBef>
                <a:spcPts val="100"/>
              </a:spcBef>
            </a:pPr>
            <a:r>
              <a:rPr dirty="0" sz="3200" b="1">
                <a:solidFill>
                  <a:srgbClr val="A73737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A73737"/>
                </a:solidFill>
                <a:latin typeface="宋体"/>
                <a:cs typeface="宋体"/>
              </a:rPr>
              <a:t>分析技术是编译系统中语法</a:t>
            </a:r>
            <a:r>
              <a:rPr dirty="0" sz="3200" spc="-15" b="1">
                <a:solidFill>
                  <a:srgbClr val="A73737"/>
                </a:solidFill>
                <a:latin typeface="宋体"/>
                <a:cs typeface="宋体"/>
              </a:rPr>
              <a:t>分</a:t>
            </a:r>
            <a:r>
              <a:rPr dirty="0" sz="3200" b="1">
                <a:solidFill>
                  <a:srgbClr val="A73737"/>
                </a:solidFill>
                <a:latin typeface="宋体"/>
                <a:cs typeface="宋体"/>
              </a:rPr>
              <a:t>析器实现 </a:t>
            </a:r>
            <a:r>
              <a:rPr dirty="0" sz="3200" b="1">
                <a:solidFill>
                  <a:srgbClr val="A73737"/>
                </a:solidFill>
                <a:latin typeface="宋体"/>
                <a:cs typeface="宋体"/>
              </a:rPr>
              <a:t>最常用、最有效的一种分析方</a:t>
            </a:r>
            <a:r>
              <a:rPr dirty="0" sz="3200" spc="-10" b="1">
                <a:solidFill>
                  <a:srgbClr val="A73737"/>
                </a:solidFill>
                <a:latin typeface="宋体"/>
                <a:cs typeface="宋体"/>
              </a:rPr>
              <a:t>法。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650">
              <a:latin typeface="宋体"/>
              <a:cs typeface="宋体"/>
            </a:endParaRPr>
          </a:p>
          <a:p>
            <a:pPr marL="1516380" indent="-777875">
              <a:lnSpc>
                <a:spcPct val="100000"/>
              </a:lnSpc>
              <a:buFont typeface="Times New Roman"/>
              <a:buAutoNum type="arabicParenBoth"/>
              <a:tabLst>
                <a:tab pos="1516380" algn="l"/>
                <a:tab pos="1517015" algn="l"/>
              </a:tabLst>
            </a:pPr>
            <a:r>
              <a:rPr dirty="0" sz="3200" b="1">
                <a:solidFill>
                  <a:srgbClr val="FFFF15"/>
                </a:solidFill>
                <a:latin typeface="宋体"/>
                <a:cs typeface="宋体"/>
              </a:rPr>
              <a:t>理论上比较完善；</a:t>
            </a:r>
            <a:endParaRPr sz="3200">
              <a:latin typeface="宋体"/>
              <a:cs typeface="宋体"/>
            </a:endParaRPr>
          </a:p>
          <a:p>
            <a:pPr marL="1516380" indent="-777875">
              <a:lnSpc>
                <a:spcPct val="100000"/>
              </a:lnSpc>
              <a:spcBef>
                <a:spcPts val="2760"/>
              </a:spcBef>
              <a:buFont typeface="Times New Roman"/>
              <a:buAutoNum type="arabicParenBoth"/>
              <a:tabLst>
                <a:tab pos="1516380" algn="l"/>
                <a:tab pos="1517015" algn="l"/>
              </a:tabLst>
            </a:pPr>
            <a:r>
              <a:rPr dirty="0" sz="3200" b="1">
                <a:solidFill>
                  <a:srgbClr val="FFFF15"/>
                </a:solidFill>
                <a:latin typeface="宋体"/>
                <a:cs typeface="宋体"/>
              </a:rPr>
              <a:t>适用性</a:t>
            </a:r>
            <a:r>
              <a:rPr dirty="0" sz="3200" spc="-10" b="1">
                <a:solidFill>
                  <a:srgbClr val="FFFF15"/>
                </a:solidFill>
                <a:latin typeface="宋体"/>
                <a:cs typeface="宋体"/>
              </a:rPr>
              <a:t>强</a:t>
            </a:r>
            <a:r>
              <a:rPr dirty="0" sz="3200" spc="-815" b="1">
                <a:solidFill>
                  <a:srgbClr val="FFFF15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15"/>
                </a:solidFill>
                <a:latin typeface="宋体"/>
                <a:cs typeface="宋体"/>
              </a:rPr>
              <a:t>，对</a:t>
            </a:r>
            <a:r>
              <a:rPr dirty="0" sz="3200" b="1" i="1">
                <a:solidFill>
                  <a:srgbClr val="FFFF15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15"/>
                </a:solidFill>
                <a:latin typeface="宋体"/>
                <a:cs typeface="宋体"/>
              </a:rPr>
              <a:t>限定少；</a:t>
            </a:r>
            <a:endParaRPr sz="3200">
              <a:latin typeface="宋体"/>
              <a:cs typeface="宋体"/>
            </a:endParaRPr>
          </a:p>
          <a:p>
            <a:pPr marL="1516380" indent="-777875">
              <a:lnSpc>
                <a:spcPct val="100000"/>
              </a:lnSpc>
              <a:spcBef>
                <a:spcPts val="3060"/>
              </a:spcBef>
              <a:buFont typeface="Times New Roman"/>
              <a:buAutoNum type="arabicParenBoth"/>
              <a:tabLst>
                <a:tab pos="1516380" algn="l"/>
                <a:tab pos="1517015" algn="l"/>
              </a:tabLst>
            </a:pPr>
            <a:r>
              <a:rPr dirty="0" sz="3200" spc="-5" b="1">
                <a:solidFill>
                  <a:srgbClr val="FFFF15"/>
                </a:solidFill>
                <a:latin typeface="宋体"/>
                <a:cs typeface="宋体"/>
              </a:rPr>
              <a:t>便于自动生成。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0766" y="1970608"/>
            <a:ext cx="170307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Times New Roman"/>
                <a:cs typeface="Times New Roman"/>
              </a:rPr>
              <a:t>L R</a:t>
            </a:r>
            <a:r>
              <a:rPr dirty="0" sz="4400" spc="-3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44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4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31391" y="2683764"/>
            <a:ext cx="464820" cy="0"/>
          </a:xfrm>
          <a:custGeom>
            <a:avLst/>
            <a:gdLst/>
            <a:ahLst/>
            <a:cxnLst/>
            <a:rect l="l" t="t" r="r" b="b"/>
            <a:pathLst>
              <a:path w="464819" h="0">
                <a:moveTo>
                  <a:pt x="0" y="0"/>
                </a:moveTo>
                <a:lnTo>
                  <a:pt x="464820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42466" y="2684526"/>
            <a:ext cx="0" cy="3615054"/>
          </a:xfrm>
          <a:custGeom>
            <a:avLst/>
            <a:gdLst/>
            <a:ahLst/>
            <a:cxnLst/>
            <a:rect l="l" t="t" r="r" b="b"/>
            <a:pathLst>
              <a:path w="0" h="3615054">
                <a:moveTo>
                  <a:pt x="0" y="0"/>
                </a:moveTo>
                <a:lnTo>
                  <a:pt x="0" y="361492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42466" y="6242303"/>
            <a:ext cx="1237615" cy="114300"/>
          </a:xfrm>
          <a:custGeom>
            <a:avLst/>
            <a:gdLst/>
            <a:ahLst/>
            <a:cxnLst/>
            <a:rect l="l" t="t" r="r" b="b"/>
            <a:pathLst>
              <a:path w="1237614" h="114300">
                <a:moveTo>
                  <a:pt x="1123188" y="0"/>
                </a:moveTo>
                <a:lnTo>
                  <a:pt x="1123188" y="114300"/>
                </a:lnTo>
                <a:lnTo>
                  <a:pt x="1199388" y="76200"/>
                </a:lnTo>
                <a:lnTo>
                  <a:pt x="1142238" y="76200"/>
                </a:lnTo>
                <a:lnTo>
                  <a:pt x="1142238" y="38100"/>
                </a:lnTo>
                <a:lnTo>
                  <a:pt x="1199388" y="38100"/>
                </a:lnTo>
                <a:lnTo>
                  <a:pt x="1123188" y="0"/>
                </a:lnTo>
                <a:close/>
              </a:path>
              <a:path w="1237614" h="114300">
                <a:moveTo>
                  <a:pt x="11231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23188" y="76200"/>
                </a:lnTo>
                <a:lnTo>
                  <a:pt x="1123188" y="38100"/>
                </a:lnTo>
                <a:close/>
              </a:path>
              <a:path w="1237614" h="114300">
                <a:moveTo>
                  <a:pt x="1199388" y="38100"/>
                </a:moveTo>
                <a:lnTo>
                  <a:pt x="1142238" y="38100"/>
                </a:lnTo>
                <a:lnTo>
                  <a:pt x="1142238" y="76200"/>
                </a:lnTo>
                <a:lnTo>
                  <a:pt x="1199388" y="76200"/>
                </a:lnTo>
                <a:lnTo>
                  <a:pt x="1237488" y="57150"/>
                </a:lnTo>
                <a:lnTo>
                  <a:pt x="11993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48611" y="2683764"/>
            <a:ext cx="576580" cy="3175"/>
          </a:xfrm>
          <a:custGeom>
            <a:avLst/>
            <a:gdLst/>
            <a:ahLst/>
            <a:cxnLst/>
            <a:rect l="l" t="t" r="r" b="b"/>
            <a:pathLst>
              <a:path w="576580" h="3175">
                <a:moveTo>
                  <a:pt x="0" y="0"/>
                </a:moveTo>
                <a:lnTo>
                  <a:pt x="576071" y="3048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58161" y="2721101"/>
            <a:ext cx="1905" cy="2696210"/>
          </a:xfrm>
          <a:custGeom>
            <a:avLst/>
            <a:gdLst/>
            <a:ahLst/>
            <a:cxnLst/>
            <a:rect l="l" t="t" r="r" b="b"/>
            <a:pathLst>
              <a:path w="1905" h="2696210">
                <a:moveTo>
                  <a:pt x="0" y="0"/>
                </a:moveTo>
                <a:lnTo>
                  <a:pt x="1524" y="2695956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58161" y="5361178"/>
            <a:ext cx="774700" cy="114300"/>
          </a:xfrm>
          <a:custGeom>
            <a:avLst/>
            <a:gdLst/>
            <a:ahLst/>
            <a:cxnLst/>
            <a:rect l="l" t="t" r="r" b="b"/>
            <a:pathLst>
              <a:path w="774700" h="114300">
                <a:moveTo>
                  <a:pt x="659849" y="76287"/>
                </a:moveTo>
                <a:lnTo>
                  <a:pt x="659764" y="114300"/>
                </a:lnTo>
                <a:lnTo>
                  <a:pt x="736134" y="76327"/>
                </a:lnTo>
                <a:lnTo>
                  <a:pt x="678942" y="76327"/>
                </a:lnTo>
                <a:lnTo>
                  <a:pt x="659849" y="76287"/>
                </a:lnTo>
                <a:close/>
              </a:path>
              <a:path w="774700" h="114300">
                <a:moveTo>
                  <a:pt x="659934" y="38187"/>
                </a:moveTo>
                <a:lnTo>
                  <a:pt x="659849" y="76287"/>
                </a:lnTo>
                <a:lnTo>
                  <a:pt x="678942" y="76327"/>
                </a:lnTo>
                <a:lnTo>
                  <a:pt x="678942" y="38227"/>
                </a:lnTo>
                <a:lnTo>
                  <a:pt x="659934" y="38187"/>
                </a:lnTo>
                <a:close/>
              </a:path>
              <a:path w="774700" h="114300">
                <a:moveTo>
                  <a:pt x="660019" y="0"/>
                </a:moveTo>
                <a:lnTo>
                  <a:pt x="659934" y="38187"/>
                </a:lnTo>
                <a:lnTo>
                  <a:pt x="678942" y="38227"/>
                </a:lnTo>
                <a:lnTo>
                  <a:pt x="678942" y="76327"/>
                </a:lnTo>
                <a:lnTo>
                  <a:pt x="736134" y="76327"/>
                </a:lnTo>
                <a:lnTo>
                  <a:pt x="774192" y="57404"/>
                </a:lnTo>
                <a:lnTo>
                  <a:pt x="660019" y="0"/>
                </a:lnTo>
                <a:close/>
              </a:path>
              <a:path w="774700" h="114300">
                <a:moveTo>
                  <a:pt x="0" y="36830"/>
                </a:moveTo>
                <a:lnTo>
                  <a:pt x="0" y="74930"/>
                </a:lnTo>
                <a:lnTo>
                  <a:pt x="659849" y="76287"/>
                </a:lnTo>
                <a:lnTo>
                  <a:pt x="659934" y="38187"/>
                </a:lnTo>
                <a:lnTo>
                  <a:pt x="0" y="3683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08504" y="2721864"/>
            <a:ext cx="463550" cy="0"/>
          </a:xfrm>
          <a:custGeom>
            <a:avLst/>
            <a:gdLst/>
            <a:ahLst/>
            <a:cxnLst/>
            <a:rect l="l" t="t" r="r" b="b"/>
            <a:pathLst>
              <a:path w="463550" h="0">
                <a:moveTo>
                  <a:pt x="0" y="0"/>
                </a:moveTo>
                <a:lnTo>
                  <a:pt x="463295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18054" y="2742438"/>
            <a:ext cx="0" cy="1675130"/>
          </a:xfrm>
          <a:custGeom>
            <a:avLst/>
            <a:gdLst/>
            <a:ahLst/>
            <a:cxnLst/>
            <a:rect l="l" t="t" r="r" b="b"/>
            <a:pathLst>
              <a:path w="0" h="1675129">
                <a:moveTo>
                  <a:pt x="0" y="0"/>
                </a:moveTo>
                <a:lnTo>
                  <a:pt x="0" y="167487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19577" y="4360164"/>
            <a:ext cx="425450" cy="114300"/>
          </a:xfrm>
          <a:custGeom>
            <a:avLst/>
            <a:gdLst/>
            <a:ahLst/>
            <a:cxnLst/>
            <a:rect l="l" t="t" r="r" b="b"/>
            <a:pathLst>
              <a:path w="425450" h="114300">
                <a:moveTo>
                  <a:pt x="310896" y="0"/>
                </a:moveTo>
                <a:lnTo>
                  <a:pt x="310896" y="114300"/>
                </a:lnTo>
                <a:lnTo>
                  <a:pt x="387096" y="76200"/>
                </a:lnTo>
                <a:lnTo>
                  <a:pt x="329946" y="76200"/>
                </a:lnTo>
                <a:lnTo>
                  <a:pt x="329946" y="38100"/>
                </a:lnTo>
                <a:lnTo>
                  <a:pt x="387096" y="38100"/>
                </a:lnTo>
                <a:lnTo>
                  <a:pt x="310896" y="0"/>
                </a:lnTo>
                <a:close/>
              </a:path>
              <a:path w="425450" h="114300">
                <a:moveTo>
                  <a:pt x="3108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10896" y="76200"/>
                </a:lnTo>
                <a:lnTo>
                  <a:pt x="310896" y="38100"/>
                </a:lnTo>
                <a:close/>
              </a:path>
              <a:path w="425450" h="114300">
                <a:moveTo>
                  <a:pt x="387096" y="38100"/>
                </a:moveTo>
                <a:lnTo>
                  <a:pt x="329946" y="38100"/>
                </a:lnTo>
                <a:lnTo>
                  <a:pt x="329946" y="76200"/>
                </a:lnTo>
                <a:lnTo>
                  <a:pt x="387096" y="76200"/>
                </a:lnTo>
                <a:lnTo>
                  <a:pt x="425196" y="57150"/>
                </a:lnTo>
                <a:lnTo>
                  <a:pt x="387096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98445" y="2561434"/>
            <a:ext cx="6172835" cy="38728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550545" marR="5080">
              <a:lnSpc>
                <a:spcPct val="120300"/>
              </a:lnSpc>
              <a:spcBef>
                <a:spcPts val="85"/>
              </a:spcBef>
            </a:pP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分析的每一步，</a:t>
            </a:r>
            <a:r>
              <a:rPr dirty="0" sz="2600" spc="-15" b="1">
                <a:solidFill>
                  <a:srgbClr val="FFFFFF"/>
                </a:solidFill>
                <a:latin typeface="宋体"/>
                <a:cs typeface="宋体"/>
              </a:rPr>
              <a:t>仅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据分析</a:t>
            </a:r>
            <a:r>
              <a:rPr dirty="0" sz="2600" spc="-1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当前 已经移进和归约的全部语法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号并最 多再向前看</a:t>
            </a:r>
            <a:r>
              <a:rPr dirty="0" sz="2600" spc="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个输入字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600" spc="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就能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适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合于文法规则的句柄是否已</a:t>
            </a:r>
            <a:r>
              <a:rPr dirty="0" sz="2600" spc="-1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栈顶形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成，从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立即确定当前的分析动作。</a:t>
            </a:r>
            <a:endParaRPr sz="2800">
              <a:latin typeface="宋体"/>
              <a:cs typeface="宋体"/>
            </a:endParaRPr>
          </a:p>
          <a:p>
            <a:pPr marL="227329" marR="206375" indent="-214629">
              <a:lnSpc>
                <a:spcPts val="5940"/>
              </a:lnSpc>
              <a:spcBef>
                <a:spcPts val="45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分析模式：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最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右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推导的逆序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规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范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归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约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扫描模式：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左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向右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45440" y="503050"/>
            <a:ext cx="8349615" cy="129476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39264" marR="5080" indent="-1727200">
              <a:lnSpc>
                <a:spcPct val="130100"/>
              </a:lnSpc>
              <a:spcBef>
                <a:spcPts val="100"/>
              </a:spcBef>
            </a:pPr>
            <a:r>
              <a:rPr dirty="0" sz="3200">
                <a:solidFill>
                  <a:srgbClr val="F3B4FB"/>
                </a:solidFill>
                <a:latin typeface="Times New Roman"/>
                <a:cs typeface="Times New Roman"/>
              </a:rPr>
              <a:t>LR</a:t>
            </a:r>
            <a:r>
              <a:rPr dirty="0" sz="3200" spc="-5">
                <a:solidFill>
                  <a:srgbClr val="F3B4FB"/>
                </a:solidFill>
              </a:rPr>
              <a:t>分析：</a:t>
            </a:r>
            <a:r>
              <a:rPr dirty="0" sz="3200" spc="-5">
                <a:solidFill>
                  <a:srgbClr val="FFFF15"/>
                </a:solidFill>
              </a:rPr>
              <a:t>一类对源程序串进</a:t>
            </a:r>
            <a:r>
              <a:rPr dirty="0" sz="3200" spc="-10">
                <a:solidFill>
                  <a:srgbClr val="FFFF15"/>
                </a:solidFill>
              </a:rPr>
              <a:t>行</a:t>
            </a:r>
            <a:r>
              <a:rPr dirty="0" sz="3200" spc="-10">
                <a:solidFill>
                  <a:srgbClr val="66FFFF"/>
                </a:solidFill>
              </a:rPr>
              <a:t>自</a:t>
            </a:r>
            <a:r>
              <a:rPr dirty="0" sz="3200" spc="5">
                <a:solidFill>
                  <a:srgbClr val="66FFFF"/>
                </a:solidFill>
              </a:rPr>
              <a:t>左</a:t>
            </a:r>
            <a:r>
              <a:rPr dirty="0" sz="3200" spc="-10">
                <a:solidFill>
                  <a:srgbClr val="66FFFF"/>
                </a:solidFill>
              </a:rPr>
              <a:t>向</a:t>
            </a:r>
            <a:r>
              <a:rPr dirty="0" sz="3200">
                <a:solidFill>
                  <a:srgbClr val="66FFFF"/>
                </a:solidFill>
              </a:rPr>
              <a:t>右</a:t>
            </a:r>
            <a:r>
              <a:rPr dirty="0" sz="3200" spc="-5">
                <a:solidFill>
                  <a:srgbClr val="FFFF15"/>
                </a:solidFill>
              </a:rPr>
              <a:t>扫描并 </a:t>
            </a:r>
            <a:r>
              <a:rPr dirty="0" sz="3200">
                <a:solidFill>
                  <a:srgbClr val="FFFF15"/>
                </a:solidFill>
              </a:rPr>
              <a:t>进</a:t>
            </a:r>
            <a:r>
              <a:rPr dirty="0" sz="3200" spc="5">
                <a:solidFill>
                  <a:srgbClr val="FFFF15"/>
                </a:solidFill>
              </a:rPr>
              <a:t>行</a:t>
            </a:r>
            <a:r>
              <a:rPr dirty="0" sz="3200">
                <a:solidFill>
                  <a:srgbClr val="66FFFF"/>
                </a:solidFill>
              </a:rPr>
              <a:t>规范归约</a:t>
            </a:r>
            <a:r>
              <a:rPr dirty="0" sz="3200">
                <a:solidFill>
                  <a:srgbClr val="FFFF15"/>
                </a:solidFill>
              </a:rPr>
              <a:t>的语法分析方法。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41070" y="26923"/>
            <a:ext cx="766190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0805" algn="l"/>
                <a:tab pos="4643120" algn="l"/>
                <a:tab pos="54051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73737"/>
                </a:solid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6070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0552" y="26923"/>
            <a:ext cx="1912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16061" y="2719577"/>
            <a:ext cx="10287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16061" y="2719577"/>
            <a:ext cx="1028700" cy="536575"/>
          </a:xfrm>
          <a:custGeom>
            <a:avLst/>
            <a:gdLst/>
            <a:ahLst/>
            <a:cxnLst/>
            <a:rect l="l" t="t" r="r" b="b"/>
            <a:pathLst>
              <a:path w="1028700" h="536575">
                <a:moveTo>
                  <a:pt x="0" y="268224"/>
                </a:moveTo>
                <a:lnTo>
                  <a:pt x="257175" y="0"/>
                </a:lnTo>
                <a:lnTo>
                  <a:pt x="257175" y="134112"/>
                </a:lnTo>
                <a:lnTo>
                  <a:pt x="1028700" y="134112"/>
                </a:lnTo>
                <a:lnTo>
                  <a:pt x="1028700" y="402336"/>
                </a:lnTo>
                <a:lnTo>
                  <a:pt x="257175" y="402336"/>
                </a:lnTo>
                <a:lnTo>
                  <a:pt x="257175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63218" y="1820621"/>
            <a:ext cx="462407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8700" algn="l"/>
              </a:tabLst>
            </a:pPr>
            <a:r>
              <a:rPr dirty="0" sz="3200">
                <a:latin typeface="Times New Roman"/>
                <a:cs typeface="Times New Roman"/>
              </a:rPr>
              <a:t>5.3.1	LR</a:t>
            </a:r>
            <a:r>
              <a:rPr dirty="0" sz="3200" spc="-5"/>
              <a:t>分析与</a:t>
            </a:r>
            <a:r>
              <a:rPr dirty="0" sz="3200">
                <a:latin typeface="Times New Roman"/>
                <a:cs typeface="Times New Roman"/>
              </a:rPr>
              <a:t>LR</a:t>
            </a:r>
            <a:r>
              <a:rPr dirty="0" sz="3200" spc="-5"/>
              <a:t>分析器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63218" y="2674747"/>
            <a:ext cx="6915784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028700" indent="-1016635">
              <a:lnSpc>
                <a:spcPct val="100000"/>
              </a:lnSpc>
              <a:spcBef>
                <a:spcPts val="105"/>
              </a:spcBef>
              <a:buClr>
                <a:srgbClr val="FFFF00"/>
              </a:buClr>
              <a:buAutoNum type="arabicPeriod" startAt="2"/>
              <a:tabLst>
                <a:tab pos="1028700" algn="l"/>
                <a:tab pos="102933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分析器结构、组成与工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原理</a:t>
            </a:r>
            <a:endParaRPr sz="3200">
              <a:latin typeface="宋体"/>
              <a:cs typeface="宋体"/>
            </a:endParaRPr>
          </a:p>
          <a:p>
            <a:pPr lvl="2" marL="926465" indent="-914400">
              <a:lnSpc>
                <a:spcPct val="100000"/>
              </a:lnSpc>
              <a:spcBef>
                <a:spcPts val="2880"/>
              </a:spcBef>
              <a:buClr>
                <a:srgbClr val="FFFF00"/>
              </a:buClr>
              <a:buAutoNum type="arabicPeriod" startAt="2"/>
              <a:tabLst>
                <a:tab pos="92710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分析实例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602" y="1448561"/>
            <a:ext cx="1710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输入字符串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12364" y="1449324"/>
          <a:ext cx="5276850" cy="47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6905"/>
                <a:gridCol w="635634"/>
                <a:gridCol w="1017905"/>
                <a:gridCol w="636905"/>
                <a:gridCol w="1146175"/>
                <a:gridCol w="636904"/>
                <a:gridCol w="508635"/>
              </a:tblGrid>
              <a:tr h="434339">
                <a:tc>
                  <a:txBody>
                    <a:bodyPr/>
                    <a:lstStyle/>
                    <a:p>
                      <a:pPr marL="151765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069580" y="1395983"/>
            <a:ext cx="198120" cy="548640"/>
          </a:xfrm>
          <a:custGeom>
            <a:avLst/>
            <a:gdLst/>
            <a:ahLst/>
            <a:cxnLst/>
            <a:rect l="l" t="t" r="r" b="b"/>
            <a:pathLst>
              <a:path w="198120" h="548639">
                <a:moveTo>
                  <a:pt x="0" y="548639"/>
                </a:moveTo>
                <a:lnTo>
                  <a:pt x="198120" y="548639"/>
                </a:lnTo>
                <a:lnTo>
                  <a:pt x="198120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solidFill>
            <a:srgbClr val="2145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66338" y="2789682"/>
            <a:ext cx="2164080" cy="1592580"/>
          </a:xfrm>
          <a:prstGeom prst="rect">
            <a:avLst/>
          </a:prstGeom>
          <a:ln w="38100">
            <a:solidFill>
              <a:srgbClr val="FFFF15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467995">
              <a:lnSpc>
                <a:spcPct val="100000"/>
              </a:lnSpc>
              <a:spcBef>
                <a:spcPts val="805"/>
              </a:spcBef>
            </a:pPr>
            <a:r>
              <a:rPr dirty="0" u="heavy" sz="24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总控程序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05884" y="1902714"/>
            <a:ext cx="114300" cy="868680"/>
          </a:xfrm>
          <a:custGeom>
            <a:avLst/>
            <a:gdLst/>
            <a:ahLst/>
            <a:cxnLst/>
            <a:rect l="l" t="t" r="r" b="b"/>
            <a:pathLst>
              <a:path w="114300" h="868680">
                <a:moveTo>
                  <a:pt x="76200" y="171450"/>
                </a:moveTo>
                <a:lnTo>
                  <a:pt x="38100" y="171450"/>
                </a:lnTo>
                <a:lnTo>
                  <a:pt x="38100" y="868680"/>
                </a:lnTo>
                <a:lnTo>
                  <a:pt x="76200" y="868680"/>
                </a:lnTo>
                <a:lnTo>
                  <a:pt x="76200" y="171450"/>
                </a:lnTo>
                <a:close/>
              </a:path>
              <a:path w="114300" h="868680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5" y="171450"/>
                </a:lnTo>
                <a:lnTo>
                  <a:pt x="57150" y="0"/>
                </a:lnTo>
                <a:close/>
              </a:path>
              <a:path w="114300" h="868680">
                <a:moveTo>
                  <a:pt x="108585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5" y="171450"/>
                </a:lnTo>
                <a:close/>
              </a:path>
            </a:pathLst>
          </a:custGeom>
          <a:solidFill>
            <a:srgbClr val="FFFF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30417" y="3262884"/>
            <a:ext cx="993775" cy="114300"/>
          </a:xfrm>
          <a:custGeom>
            <a:avLst/>
            <a:gdLst/>
            <a:ahLst/>
            <a:cxnLst/>
            <a:rect l="l" t="t" r="r" b="b"/>
            <a:pathLst>
              <a:path w="993775" h="114300">
                <a:moveTo>
                  <a:pt x="803148" y="0"/>
                </a:moveTo>
                <a:lnTo>
                  <a:pt x="803148" y="114300"/>
                </a:lnTo>
                <a:lnTo>
                  <a:pt x="930148" y="76200"/>
                </a:lnTo>
                <a:lnTo>
                  <a:pt x="822198" y="76200"/>
                </a:lnTo>
                <a:lnTo>
                  <a:pt x="822198" y="38100"/>
                </a:lnTo>
                <a:lnTo>
                  <a:pt x="930148" y="38100"/>
                </a:lnTo>
                <a:lnTo>
                  <a:pt x="803148" y="0"/>
                </a:lnTo>
                <a:close/>
              </a:path>
              <a:path w="993775" h="114300">
                <a:moveTo>
                  <a:pt x="8031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3148" y="76200"/>
                </a:lnTo>
                <a:lnTo>
                  <a:pt x="803148" y="38100"/>
                </a:lnTo>
                <a:close/>
              </a:path>
              <a:path w="993775" h="114300">
                <a:moveTo>
                  <a:pt x="930148" y="38100"/>
                </a:moveTo>
                <a:lnTo>
                  <a:pt x="822198" y="38100"/>
                </a:lnTo>
                <a:lnTo>
                  <a:pt x="822198" y="76200"/>
                </a:lnTo>
                <a:lnTo>
                  <a:pt x="930148" y="76200"/>
                </a:lnTo>
                <a:lnTo>
                  <a:pt x="993648" y="57150"/>
                </a:lnTo>
                <a:lnTo>
                  <a:pt x="930148" y="38100"/>
                </a:lnTo>
                <a:close/>
              </a:path>
            </a:pathLst>
          </a:custGeom>
          <a:solidFill>
            <a:srgbClr val="FFFF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01034" y="3527297"/>
            <a:ext cx="1758950" cy="434340"/>
          </a:xfrm>
          <a:prstGeom prst="rect">
            <a:avLst/>
          </a:prstGeom>
          <a:ln w="38100">
            <a:solidFill>
              <a:srgbClr val="FFFF1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6675">
              <a:lnSpc>
                <a:spcPts val="2830"/>
              </a:lnSpc>
            </a:pPr>
            <a:r>
              <a:rPr dirty="0" u="heavy" sz="24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(LR</a:t>
            </a:r>
            <a:r>
              <a:rPr dirty="0" u="heavy" sz="2400" spc="-4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分析表</a:t>
            </a:r>
            <a:r>
              <a:rPr dirty="0" u="heavy" sz="24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8077" y="3347161"/>
            <a:ext cx="94488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语法分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析结果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36114" y="3578352"/>
            <a:ext cx="1018540" cy="114300"/>
          </a:xfrm>
          <a:custGeom>
            <a:avLst/>
            <a:gdLst/>
            <a:ahLst/>
            <a:cxnLst/>
            <a:rect l="l" t="t" r="r" b="b"/>
            <a:pathLst>
              <a:path w="1018539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018539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018539" h="114300">
                <a:moveTo>
                  <a:pt x="1018032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018032" y="76200"/>
                </a:lnTo>
                <a:lnTo>
                  <a:pt x="1018032" y="38100"/>
                </a:lnTo>
                <a:close/>
              </a:path>
            </a:pathLst>
          </a:custGeom>
          <a:solidFill>
            <a:srgbClr val="FFFF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80631" y="2275332"/>
            <a:ext cx="1617345" cy="475615"/>
          </a:xfrm>
          <a:custGeom>
            <a:avLst/>
            <a:gdLst/>
            <a:ahLst/>
            <a:cxnLst/>
            <a:rect l="l" t="t" r="r" b="b"/>
            <a:pathLst>
              <a:path w="1617345" h="475614">
                <a:moveTo>
                  <a:pt x="0" y="475488"/>
                </a:moveTo>
                <a:lnTo>
                  <a:pt x="1616964" y="475488"/>
                </a:lnTo>
                <a:lnTo>
                  <a:pt x="1616964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solidFill>
            <a:srgbClr val="214568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605016" y="2395727"/>
          <a:ext cx="1502410" cy="3206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/>
                <a:gridCol w="714375"/>
              </a:tblGrid>
              <a:tr h="6697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B w="53975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B w="53975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  <a:tr h="595284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spc="-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T w="53975">
                      <a:solidFill>
                        <a:srgbClr val="FFFF1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9385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53975">
                      <a:solidFill>
                        <a:srgbClr val="FFFF15"/>
                      </a:solidFill>
                      <a:prstDash val="solid"/>
                    </a:lnT>
                  </a:tcPr>
                </a:tc>
              </a:tr>
              <a:tr h="448574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13888" sz="3600" spc="-1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6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baseline="13888" sz="3600" spc="-1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6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</a:tr>
              <a:tr h="42367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┆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20955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278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┆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</a:tr>
              <a:tr h="504299"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955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</a:tr>
              <a:tr h="526760"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268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919341" y="5522772"/>
            <a:ext cx="9309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sta</a:t>
            </a:r>
            <a:r>
              <a:rPr dirty="0" u="heavy" sz="3200" spc="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05485" y="0"/>
            <a:ext cx="4144645" cy="119824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593090" algn="l"/>
                <a:tab pos="2122170" algn="l"/>
                <a:tab pos="26314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Times New Roman"/>
              <a:cs typeface="Times New Roman"/>
            </a:endParaRPr>
          </a:p>
          <a:p>
            <a:pPr marL="605790" indent="-444500">
              <a:lnSpc>
                <a:spcPct val="100000"/>
              </a:lnSpc>
              <a:buClr>
                <a:srgbClr val="99FF99"/>
              </a:buClr>
              <a:buSzPct val="129687"/>
              <a:buFont typeface="Wingdings"/>
              <a:buChar char=""/>
              <a:tabLst>
                <a:tab pos="605155" algn="l"/>
                <a:tab pos="60642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分析器逻辑结构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07995" y="4639362"/>
            <a:ext cx="1817370" cy="1928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总控程序 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分析栈 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43861" y="5008626"/>
            <a:ext cx="352425" cy="1416050"/>
          </a:xfrm>
          <a:custGeom>
            <a:avLst/>
            <a:gdLst/>
            <a:ahLst/>
            <a:cxnLst/>
            <a:rect l="l" t="t" r="r" b="b"/>
            <a:pathLst>
              <a:path w="352425" h="1416050">
                <a:moveTo>
                  <a:pt x="352044" y="1415796"/>
                </a:moveTo>
                <a:lnTo>
                  <a:pt x="296430" y="1409793"/>
                </a:lnTo>
                <a:lnTo>
                  <a:pt x="248113" y="1393077"/>
                </a:lnTo>
                <a:lnTo>
                  <a:pt x="210001" y="1367589"/>
                </a:lnTo>
                <a:lnTo>
                  <a:pt x="185001" y="1335268"/>
                </a:lnTo>
                <a:lnTo>
                  <a:pt x="176021" y="1298054"/>
                </a:lnTo>
                <a:lnTo>
                  <a:pt x="176021" y="825639"/>
                </a:lnTo>
                <a:lnTo>
                  <a:pt x="167042" y="788425"/>
                </a:lnTo>
                <a:lnTo>
                  <a:pt x="142042" y="756104"/>
                </a:lnTo>
                <a:lnTo>
                  <a:pt x="103930" y="730616"/>
                </a:lnTo>
                <a:lnTo>
                  <a:pt x="55613" y="713900"/>
                </a:lnTo>
                <a:lnTo>
                  <a:pt x="0" y="707898"/>
                </a:lnTo>
                <a:lnTo>
                  <a:pt x="55613" y="701895"/>
                </a:lnTo>
                <a:lnTo>
                  <a:pt x="103930" y="685179"/>
                </a:lnTo>
                <a:lnTo>
                  <a:pt x="142042" y="659691"/>
                </a:lnTo>
                <a:lnTo>
                  <a:pt x="167042" y="627370"/>
                </a:lnTo>
                <a:lnTo>
                  <a:pt x="176021" y="590156"/>
                </a:lnTo>
                <a:lnTo>
                  <a:pt x="176021" y="117729"/>
                </a:lnTo>
                <a:lnTo>
                  <a:pt x="185001" y="80515"/>
                </a:lnTo>
                <a:lnTo>
                  <a:pt x="210001" y="48198"/>
                </a:lnTo>
                <a:lnTo>
                  <a:pt x="248113" y="22713"/>
                </a:lnTo>
                <a:lnTo>
                  <a:pt x="296430" y="6001"/>
                </a:lnTo>
                <a:lnTo>
                  <a:pt x="35204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79144" y="5463946"/>
            <a:ext cx="84264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组成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8381" y="256793"/>
            <a:ext cx="727075" cy="3167380"/>
          </a:xfrm>
          <a:custGeom>
            <a:avLst/>
            <a:gdLst/>
            <a:ahLst/>
            <a:cxnLst/>
            <a:rect l="l" t="t" r="r" b="b"/>
            <a:pathLst>
              <a:path w="727075" h="3167379">
                <a:moveTo>
                  <a:pt x="0" y="3166871"/>
                </a:moveTo>
                <a:lnTo>
                  <a:pt x="726948" y="3166871"/>
                </a:lnTo>
                <a:lnTo>
                  <a:pt x="726948" y="0"/>
                </a:lnTo>
                <a:lnTo>
                  <a:pt x="0" y="0"/>
                </a:lnTo>
                <a:lnTo>
                  <a:pt x="0" y="3166871"/>
                </a:lnTo>
                <a:close/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06359" y="1026667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6069" y="1203452"/>
            <a:ext cx="1835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80959" y="1542119"/>
            <a:ext cx="621665" cy="826769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dirty="0" baseline="13888" sz="3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6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1600" spc="-10" b="1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8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82559" y="245338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2269" y="2630169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7159" y="2928873"/>
            <a:ext cx="3975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66481" y="924305"/>
            <a:ext cx="1339850" cy="1905"/>
          </a:xfrm>
          <a:custGeom>
            <a:avLst/>
            <a:gdLst/>
            <a:ahLst/>
            <a:cxnLst/>
            <a:rect l="l" t="t" r="r" b="b"/>
            <a:pathLst>
              <a:path w="1339850" h="1905">
                <a:moveTo>
                  <a:pt x="0" y="0"/>
                </a:moveTo>
                <a:lnTo>
                  <a:pt x="1339596" y="1524"/>
                </a:lnTo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364473" y="256793"/>
            <a:ext cx="708660" cy="3167380"/>
          </a:xfrm>
          <a:custGeom>
            <a:avLst/>
            <a:gdLst/>
            <a:ahLst/>
            <a:cxnLst/>
            <a:rect l="l" t="t" r="r" b="b"/>
            <a:pathLst>
              <a:path w="708659" h="3167379">
                <a:moveTo>
                  <a:pt x="0" y="3166871"/>
                </a:moveTo>
                <a:lnTo>
                  <a:pt x="708659" y="3166871"/>
                </a:lnTo>
                <a:lnTo>
                  <a:pt x="708659" y="0"/>
                </a:lnTo>
                <a:lnTo>
                  <a:pt x="0" y="0"/>
                </a:lnTo>
                <a:lnTo>
                  <a:pt x="0" y="3166871"/>
                </a:lnTo>
                <a:close/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441563" y="107213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44255" y="1248917"/>
            <a:ext cx="1835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16163" y="1561338"/>
            <a:ext cx="604520" cy="16884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16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1600" spc="-10" b="1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┆</a:t>
            </a:r>
            <a:endParaRPr sz="24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0833" sz="24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24928" y="115823"/>
            <a:ext cx="1719580" cy="477520"/>
          </a:xfrm>
          <a:custGeom>
            <a:avLst/>
            <a:gdLst/>
            <a:ahLst/>
            <a:cxnLst/>
            <a:rect l="l" t="t" r="r" b="b"/>
            <a:pathLst>
              <a:path w="1719579" h="477520">
                <a:moveTo>
                  <a:pt x="0" y="477012"/>
                </a:moveTo>
                <a:lnTo>
                  <a:pt x="1719071" y="477012"/>
                </a:lnTo>
                <a:lnTo>
                  <a:pt x="1719071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009381" y="925830"/>
            <a:ext cx="1047115" cy="0"/>
          </a:xfrm>
          <a:custGeom>
            <a:avLst/>
            <a:gdLst/>
            <a:ahLst/>
            <a:cxnLst/>
            <a:rect l="l" t="t" r="r" b="b"/>
            <a:pathLst>
              <a:path w="1047115" h="0">
                <a:moveTo>
                  <a:pt x="0" y="0"/>
                </a:moveTo>
                <a:lnTo>
                  <a:pt x="1046988" y="0"/>
                </a:lnTo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69240" y="642594"/>
            <a:ext cx="6308090" cy="1168400"/>
          </a:xfrm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algn="ctr" marR="4027804">
              <a:lnSpc>
                <a:spcPct val="100000"/>
              </a:lnSpc>
              <a:spcBef>
                <a:spcPts val="760"/>
              </a:spcBef>
            </a:pPr>
            <a:r>
              <a:rPr dirty="0" sz="3200">
                <a:solidFill>
                  <a:srgbClr val="FFFF15"/>
                </a:solidFill>
              </a:rPr>
              <a:t>（</a:t>
            </a:r>
            <a:r>
              <a:rPr dirty="0" sz="3200" spc="5">
                <a:solidFill>
                  <a:srgbClr val="FFFF15"/>
                </a:solidFill>
                <a:latin typeface="Times New Roman"/>
                <a:cs typeface="Times New Roman"/>
              </a:rPr>
              <a:t>1</a:t>
            </a:r>
            <a:r>
              <a:rPr dirty="0" sz="3200">
                <a:solidFill>
                  <a:srgbClr val="FFFF15"/>
                </a:solidFill>
              </a:rPr>
              <a:t>）分析栈</a:t>
            </a:r>
            <a:endParaRPr sz="3200">
              <a:latin typeface="Times New Roman"/>
              <a:cs typeface="Times New Roman"/>
            </a:endParaRPr>
          </a:p>
          <a:p>
            <a:pPr algn="ctr" marL="815340">
              <a:lnSpc>
                <a:spcPct val="100000"/>
              </a:lnSpc>
              <a:spcBef>
                <a:spcPts val="660"/>
              </a:spcBef>
            </a:pPr>
            <a:r>
              <a:rPr dirty="0" sz="3200">
                <a:solidFill>
                  <a:srgbClr val="FFFFFF"/>
                </a:solidFill>
              </a:rPr>
              <a:t>辅助完成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>
                <a:solidFill>
                  <a:srgbClr val="FFFFFF"/>
                </a:solidFill>
              </a:rPr>
              <a:t>分析的数据结构。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48122" y="321563"/>
            <a:ext cx="3676015" cy="0"/>
          </a:xfrm>
          <a:custGeom>
            <a:avLst/>
            <a:gdLst/>
            <a:ahLst/>
            <a:cxnLst/>
            <a:rect l="l" t="t" r="r" b="b"/>
            <a:pathLst>
              <a:path w="3676015" h="0">
                <a:moveTo>
                  <a:pt x="0" y="0"/>
                </a:moveTo>
                <a:lnTo>
                  <a:pt x="3675887" y="0"/>
                </a:lnTo>
              </a:path>
            </a:pathLst>
          </a:custGeom>
          <a:ln w="12191">
            <a:solidFill>
              <a:srgbClr val="A151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05485" y="26923"/>
            <a:ext cx="8335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  <a:tab pos="4643120" algn="l"/>
                <a:tab pos="54051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5.3.2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7094" y="2105253"/>
            <a:ext cx="6198235" cy="1294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50265" marR="30480" indent="-812800">
              <a:lnSpc>
                <a:spcPct val="130100"/>
              </a:lnSpc>
              <a:spcBef>
                <a:spcPts val="95"/>
              </a:spcBef>
            </a:pPr>
            <a:r>
              <a:rPr dirty="0" sz="3200" b="1">
                <a:solidFill>
                  <a:srgbClr val="99FF99"/>
                </a:solidFill>
                <a:latin typeface="宋体"/>
                <a:cs typeface="宋体"/>
              </a:rPr>
              <a:t>状态</a:t>
            </a:r>
            <a:r>
              <a:rPr dirty="0" sz="3200" b="1" i="1">
                <a:solidFill>
                  <a:srgbClr val="99FF99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 i="1">
                <a:solidFill>
                  <a:srgbClr val="99FF99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99FF99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记录分析过程中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一步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的“历史”和“展望”信息；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69669" y="2428494"/>
            <a:ext cx="165100" cy="1668780"/>
          </a:xfrm>
          <a:custGeom>
            <a:avLst/>
            <a:gdLst/>
            <a:ahLst/>
            <a:cxnLst/>
            <a:rect l="l" t="t" r="r" b="b"/>
            <a:pathLst>
              <a:path w="165100" h="1668779">
                <a:moveTo>
                  <a:pt x="164592" y="1668779"/>
                </a:moveTo>
                <a:lnTo>
                  <a:pt x="132552" y="1657881"/>
                </a:lnTo>
                <a:lnTo>
                  <a:pt x="106394" y="1628171"/>
                </a:lnTo>
                <a:lnTo>
                  <a:pt x="88761" y="1584126"/>
                </a:lnTo>
                <a:lnTo>
                  <a:pt x="82296" y="1530222"/>
                </a:lnTo>
                <a:lnTo>
                  <a:pt x="82296" y="972946"/>
                </a:lnTo>
                <a:lnTo>
                  <a:pt x="75829" y="919043"/>
                </a:lnTo>
                <a:lnTo>
                  <a:pt x="58192" y="874998"/>
                </a:lnTo>
                <a:lnTo>
                  <a:pt x="32034" y="845288"/>
                </a:lnTo>
                <a:lnTo>
                  <a:pt x="0" y="834389"/>
                </a:lnTo>
                <a:lnTo>
                  <a:pt x="32034" y="823491"/>
                </a:lnTo>
                <a:lnTo>
                  <a:pt x="58192" y="793781"/>
                </a:lnTo>
                <a:lnTo>
                  <a:pt x="75829" y="749736"/>
                </a:lnTo>
                <a:lnTo>
                  <a:pt x="82296" y="695832"/>
                </a:lnTo>
                <a:lnTo>
                  <a:pt x="82296" y="138556"/>
                </a:lnTo>
                <a:lnTo>
                  <a:pt x="88761" y="84653"/>
                </a:lnTo>
                <a:lnTo>
                  <a:pt x="106394" y="40608"/>
                </a:lnTo>
                <a:lnTo>
                  <a:pt x="132552" y="10898"/>
                </a:lnTo>
                <a:lnTo>
                  <a:pt x="16459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80238" y="2946857"/>
            <a:ext cx="9315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st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ck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2442" y="3518763"/>
            <a:ext cx="7698105" cy="244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45385" marR="68580" indent="-1626870">
              <a:lnSpc>
                <a:spcPct val="130000"/>
              </a:lnSpc>
              <a:spcBef>
                <a:spcPts val="100"/>
              </a:spcBef>
              <a:tabLst>
                <a:tab pos="3236595" algn="l"/>
              </a:tabLst>
            </a:pPr>
            <a:r>
              <a:rPr dirty="0" sz="3200" b="1">
                <a:solidFill>
                  <a:srgbClr val="99FF99"/>
                </a:solidFill>
                <a:latin typeface="宋体"/>
                <a:cs typeface="宋体"/>
              </a:rPr>
              <a:t>文法符</a:t>
            </a:r>
            <a:r>
              <a:rPr dirty="0" sz="3200" spc="-5" b="1">
                <a:solidFill>
                  <a:srgbClr val="99FF99"/>
                </a:solidFill>
                <a:latin typeface="宋体"/>
                <a:cs typeface="宋体"/>
              </a:rPr>
              <a:t>号</a:t>
            </a:r>
            <a:r>
              <a:rPr dirty="0" sz="3200" spc="-5" b="1" i="1">
                <a:solidFill>
                  <a:srgbClr val="99FF99"/>
                </a:solidFill>
                <a:latin typeface="Times New Roman"/>
                <a:cs typeface="Times New Roman"/>
              </a:rPr>
              <a:t>X</a:t>
            </a:r>
            <a:r>
              <a:rPr dirty="0" baseline="-21164" sz="3150" b="1" i="1">
                <a:solidFill>
                  <a:srgbClr val="99FF99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99FF99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99FF99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存放分析过程中移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3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的符号；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</a:pP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stack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初始化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409950" y="5219700"/>
          <a:ext cx="1447800" cy="1200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/>
                <a:gridCol w="695325"/>
              </a:tblGrid>
              <a:tr h="581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</a:tr>
              <a:tr h="581088">
                <a:tc>
                  <a:txBody>
                    <a:bodyPr/>
                    <a:lstStyle/>
                    <a:p>
                      <a:pPr marL="148590">
                        <a:lnSpc>
                          <a:spcPts val="3765"/>
                        </a:lnSpc>
                      </a:pPr>
                      <a:r>
                        <a:rPr dirty="0" sz="3200" spc="1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3765"/>
                        </a:lnSpc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4821173" y="6028944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609600" h="114300">
                <a:moveTo>
                  <a:pt x="609600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609600" y="76199"/>
                </a:lnTo>
                <a:lnTo>
                  <a:pt x="6096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508752" y="5810808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4144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06567" y="3640835"/>
          <a:ext cx="2105025" cy="294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39"/>
                <a:gridCol w="933450"/>
                <a:gridCol w="913765"/>
                <a:gridCol w="140969"/>
              </a:tblGrid>
              <a:tr h="128777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E2D5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73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solidFill>
                      <a:srgbClr val="1E2D52"/>
                    </a:solidFill>
                  </a:tcPr>
                </a:tc>
              </a:tr>
              <a:tr h="526542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31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312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5943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49987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270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270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59893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296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2965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1640" y="405586"/>
            <a:ext cx="3799840" cy="1635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0">
              <a:lnSpc>
                <a:spcPct val="110100"/>
              </a:lnSpc>
              <a:spcBef>
                <a:spcPts val="100"/>
              </a:spcBef>
            </a:pPr>
            <a:r>
              <a:rPr dirty="0" sz="3200">
                <a:solidFill>
                  <a:srgbClr val="FFFFFF"/>
                </a:solidFill>
              </a:rPr>
              <a:t>例</a:t>
            </a:r>
            <a:r>
              <a:rPr dirty="0" sz="3200" spc="-5">
                <a:solidFill>
                  <a:srgbClr val="FFFFFF"/>
                </a:solidFill>
              </a:rPr>
              <a:t>如，设有文</a:t>
            </a:r>
            <a:r>
              <a:rPr dirty="0" sz="3200">
                <a:solidFill>
                  <a:srgbClr val="FFFFFF"/>
                </a:solidFill>
              </a:rPr>
              <a:t>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5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>
                <a:solidFill>
                  <a:srgbClr val="FFFFFF"/>
                </a:solidFill>
              </a:rPr>
              <a:t>和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>
                <a:solidFill>
                  <a:srgbClr val="FFFFFF"/>
                </a:solidFill>
              </a:rPr>
              <a:t>的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>
                <a:solidFill>
                  <a:srgbClr val="FFFFFF"/>
                </a:solidFill>
              </a:rPr>
              <a:t>分析表</a:t>
            </a:r>
            <a:endParaRPr sz="32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80"/>
              </a:spcBef>
            </a:pPr>
            <a:r>
              <a:rPr dirty="0" sz="3200" spc="-10"/>
              <a:t>① </a:t>
            </a:r>
            <a:r>
              <a:rPr dirty="0" sz="3200" i="1">
                <a:latin typeface="Times New Roman"/>
                <a:cs typeface="Times New Roman"/>
              </a:rPr>
              <a:t>L</a:t>
            </a:r>
            <a:r>
              <a:rPr dirty="0" sz="3200">
                <a:latin typeface="Times New Roman"/>
                <a:cs typeface="Times New Roman"/>
              </a:rPr>
              <a:t>→</a:t>
            </a:r>
            <a:r>
              <a:rPr dirty="0" sz="3200" i="1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,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6294" y="2016099"/>
            <a:ext cx="1766570" cy="10985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②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L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200" spc="-9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③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200" spc="-8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6294" y="3136849"/>
            <a:ext cx="17214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④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E 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200" spc="-9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02023" y="3170682"/>
            <a:ext cx="114300" cy="678180"/>
          </a:xfrm>
          <a:custGeom>
            <a:avLst/>
            <a:gdLst/>
            <a:ahLst/>
            <a:cxnLst/>
            <a:rect l="l" t="t" r="r" b="b"/>
            <a:pathLst>
              <a:path w="114300" h="678179">
                <a:moveTo>
                  <a:pt x="38100" y="563879"/>
                </a:moveTo>
                <a:lnTo>
                  <a:pt x="0" y="563879"/>
                </a:lnTo>
                <a:lnTo>
                  <a:pt x="57150" y="678179"/>
                </a:lnTo>
                <a:lnTo>
                  <a:pt x="104775" y="582929"/>
                </a:lnTo>
                <a:lnTo>
                  <a:pt x="38100" y="582929"/>
                </a:lnTo>
                <a:lnTo>
                  <a:pt x="38100" y="563879"/>
                </a:lnTo>
                <a:close/>
              </a:path>
              <a:path w="114300" h="678179">
                <a:moveTo>
                  <a:pt x="76200" y="0"/>
                </a:moveTo>
                <a:lnTo>
                  <a:pt x="38100" y="0"/>
                </a:lnTo>
                <a:lnTo>
                  <a:pt x="38100" y="582929"/>
                </a:lnTo>
                <a:lnTo>
                  <a:pt x="76200" y="582929"/>
                </a:lnTo>
                <a:lnTo>
                  <a:pt x="76200" y="0"/>
                </a:lnTo>
                <a:close/>
              </a:path>
              <a:path w="114300" h="678179">
                <a:moveTo>
                  <a:pt x="114300" y="563879"/>
                </a:moveTo>
                <a:lnTo>
                  <a:pt x="76200" y="563879"/>
                </a:lnTo>
                <a:lnTo>
                  <a:pt x="76200" y="582929"/>
                </a:lnTo>
                <a:lnTo>
                  <a:pt x="104775" y="582929"/>
                </a:lnTo>
                <a:lnTo>
                  <a:pt x="114300" y="563879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18052" y="3243783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59573" y="4596384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47786" y="4378528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44973" y="5792723"/>
            <a:ext cx="670560" cy="114300"/>
          </a:xfrm>
          <a:custGeom>
            <a:avLst/>
            <a:gdLst/>
            <a:ahLst/>
            <a:cxnLst/>
            <a:rect l="l" t="t" r="r" b="b"/>
            <a:pathLst>
              <a:path w="6705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705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70560" h="114300">
                <a:moveTo>
                  <a:pt x="67056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70560" y="76200"/>
                </a:lnTo>
                <a:lnTo>
                  <a:pt x="670560" y="381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54117" y="4576571"/>
            <a:ext cx="670560" cy="114300"/>
          </a:xfrm>
          <a:custGeom>
            <a:avLst/>
            <a:gdLst/>
            <a:ahLst/>
            <a:cxnLst/>
            <a:rect l="l" t="t" r="r" b="b"/>
            <a:pathLst>
              <a:path w="6705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705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70560" h="114300">
                <a:moveTo>
                  <a:pt x="67056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70560" y="76200"/>
                </a:lnTo>
                <a:lnTo>
                  <a:pt x="670560" y="381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44973" y="5212079"/>
            <a:ext cx="670560" cy="114300"/>
          </a:xfrm>
          <a:custGeom>
            <a:avLst/>
            <a:gdLst/>
            <a:ahLst/>
            <a:cxnLst/>
            <a:rect l="l" t="t" r="r" b="b"/>
            <a:pathLst>
              <a:path w="6705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705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70560" h="114300">
                <a:moveTo>
                  <a:pt x="67056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70560" y="76200"/>
                </a:lnTo>
                <a:lnTo>
                  <a:pt x="670560" y="381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33652" y="3533144"/>
            <a:ext cx="3591560" cy="250063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输入字符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200" spc="-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1329690">
              <a:lnSpc>
                <a:spcPct val="100000"/>
              </a:lnSpc>
              <a:spcBef>
                <a:spcPts val="1115"/>
              </a:spcBef>
            </a:pP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b</a:t>
            </a:r>
            <a:r>
              <a:rPr dirty="0" sz="3200" spc="-25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9"/>
                </a:solidFill>
                <a:latin typeface="Wingdings 3"/>
                <a:cs typeface="Wingdings 3"/>
              </a:rPr>
              <a:t></a:t>
            </a:r>
            <a:r>
              <a:rPr dirty="0" sz="3200" spc="-20" b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E</a:t>
            </a:r>
            <a:r>
              <a:rPr dirty="0" sz="3200" spc="-30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69"/>
                </a:solidFill>
                <a:latin typeface="宋体"/>
                <a:cs typeface="宋体"/>
              </a:rPr>
              <a:t>归</a:t>
            </a:r>
            <a:r>
              <a:rPr dirty="0" sz="2800" b="1">
                <a:solidFill>
                  <a:srgbClr val="FFFF69"/>
                </a:solidFill>
                <a:latin typeface="宋体"/>
                <a:cs typeface="宋体"/>
              </a:rPr>
              <a:t>约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421765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69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69"/>
                </a:solidFill>
                <a:latin typeface="宋体"/>
                <a:cs typeface="宋体"/>
              </a:rPr>
              <a:t>移进栈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320165">
              <a:lnSpc>
                <a:spcPct val="100000"/>
              </a:lnSpc>
              <a:spcBef>
                <a:spcPts val="690"/>
              </a:spcBef>
            </a:pP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a</a:t>
            </a:r>
            <a:r>
              <a:rPr dirty="0" sz="3200" spc="-25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9"/>
                </a:solidFill>
                <a:latin typeface="Wingdings 3"/>
                <a:cs typeface="Wingdings 3"/>
              </a:rPr>
              <a:t></a:t>
            </a:r>
            <a:r>
              <a:rPr dirty="0" sz="3200" spc="-15" b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E</a:t>
            </a:r>
            <a:r>
              <a:rPr dirty="0" sz="3200" spc="-30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69"/>
                </a:solidFill>
                <a:latin typeface="宋体"/>
                <a:cs typeface="宋体"/>
              </a:rPr>
              <a:t>归约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77915" y="339725"/>
            <a:ext cx="1864995" cy="1143000"/>
          </a:xfrm>
          <a:prstGeom prst="rect">
            <a:avLst/>
          </a:prstGeom>
        </p:spPr>
        <p:txBody>
          <a:bodyPr wrap="square" lIns="0" tIns="205104" rIns="0" bIns="0" rtlCol="0" vert="horz">
            <a:spAutoFit/>
          </a:bodyPr>
          <a:lstStyle/>
          <a:p>
            <a:pPr algn="ctr" marR="24765">
              <a:lnSpc>
                <a:spcPct val="100000"/>
              </a:lnSpc>
              <a:spcBef>
                <a:spcPts val="1614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20"/>
              </a:spcBef>
              <a:tabLst>
                <a:tab pos="889000" algn="l"/>
                <a:tab pos="1652905" algn="l"/>
              </a:tabLst>
            </a:pPr>
            <a:r>
              <a:rPr dirty="0" u="heavy" sz="24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spc="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	</a:t>
            </a:r>
            <a:r>
              <a:rPr dirty="0" u="heavy" sz="24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，</a:t>
            </a:r>
            <a:r>
              <a:rPr dirty="0" u="heavy" sz="24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	</a:t>
            </a:r>
            <a:r>
              <a:rPr dirty="0" u="heavy" sz="24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40830" y="960882"/>
            <a:ext cx="29209" cy="198120"/>
          </a:xfrm>
          <a:custGeom>
            <a:avLst/>
            <a:gdLst/>
            <a:ahLst/>
            <a:cxnLst/>
            <a:rect l="l" t="t" r="r" b="b"/>
            <a:pathLst>
              <a:path w="29209" h="198119">
                <a:moveTo>
                  <a:pt x="0" y="0"/>
                </a:moveTo>
                <a:lnTo>
                  <a:pt x="28955" y="198119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35802" y="960882"/>
            <a:ext cx="288290" cy="198120"/>
          </a:xfrm>
          <a:custGeom>
            <a:avLst/>
            <a:gdLst/>
            <a:ahLst/>
            <a:cxnLst/>
            <a:rect l="l" t="t" r="r" b="b"/>
            <a:pathLst>
              <a:path w="288289" h="198119">
                <a:moveTo>
                  <a:pt x="288036" y="0"/>
                </a:moveTo>
                <a:lnTo>
                  <a:pt x="0" y="198119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89242" y="942594"/>
            <a:ext cx="370840" cy="216535"/>
          </a:xfrm>
          <a:custGeom>
            <a:avLst/>
            <a:gdLst/>
            <a:ahLst/>
            <a:cxnLst/>
            <a:rect l="l" t="t" r="r" b="b"/>
            <a:pathLst>
              <a:path w="370840" h="216534">
                <a:moveTo>
                  <a:pt x="370331" y="216407"/>
                </a:moveTo>
                <a:lnTo>
                  <a:pt x="0" y="0"/>
                </a:lnTo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362194" y="1498853"/>
            <a:ext cx="547370" cy="78232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dirty="0" u="heavy" sz="24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01561" y="2189226"/>
            <a:ext cx="480059" cy="8248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950">
              <a:latin typeface="Times New Roman"/>
              <a:cs typeface="Times New Roman"/>
            </a:endParaRPr>
          </a:p>
          <a:p>
            <a:pPr marL="142240">
              <a:lnSpc>
                <a:spcPct val="100000"/>
              </a:lnSpc>
            </a:pPr>
            <a:r>
              <a:rPr dirty="0" u="heavy" sz="24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14486" y="307314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30340" y="1788414"/>
            <a:ext cx="1864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  <a:tab pos="1665605" algn="l"/>
              </a:tabLst>
            </a:pPr>
            <a:r>
              <a:rPr dirty="0" u="heavy" sz="2400" spc="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	</a:t>
            </a:r>
            <a:r>
              <a:rPr dirty="0" u="heavy" sz="24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，</a:t>
            </a:r>
            <a:r>
              <a:rPr dirty="0" u="heavy" sz="24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	</a:t>
            </a:r>
            <a:r>
              <a:rPr dirty="0" u="heavy" sz="24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03414" y="1558289"/>
            <a:ext cx="0" cy="309880"/>
          </a:xfrm>
          <a:custGeom>
            <a:avLst/>
            <a:gdLst/>
            <a:ahLst/>
            <a:cxnLst/>
            <a:rect l="l" t="t" r="r" b="b"/>
            <a:pathLst>
              <a:path w="0" h="309880">
                <a:moveTo>
                  <a:pt x="0" y="0"/>
                </a:moveTo>
                <a:lnTo>
                  <a:pt x="0" y="309372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669785" y="1558289"/>
            <a:ext cx="516890" cy="309880"/>
          </a:xfrm>
          <a:custGeom>
            <a:avLst/>
            <a:gdLst/>
            <a:ahLst/>
            <a:cxnLst/>
            <a:rect l="l" t="t" r="r" b="b"/>
            <a:pathLst>
              <a:path w="516890" h="309880">
                <a:moveTo>
                  <a:pt x="516636" y="0"/>
                </a:moveTo>
                <a:lnTo>
                  <a:pt x="0" y="309372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50302" y="1538477"/>
            <a:ext cx="535305" cy="329565"/>
          </a:xfrm>
          <a:custGeom>
            <a:avLst/>
            <a:gdLst/>
            <a:ahLst/>
            <a:cxnLst/>
            <a:rect l="l" t="t" r="r" b="b"/>
            <a:pathLst>
              <a:path w="535304" h="329564">
                <a:moveTo>
                  <a:pt x="534924" y="329184"/>
                </a:moveTo>
                <a:lnTo>
                  <a:pt x="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645402" y="2268473"/>
            <a:ext cx="0" cy="297180"/>
          </a:xfrm>
          <a:custGeom>
            <a:avLst/>
            <a:gdLst/>
            <a:ahLst/>
            <a:cxnLst/>
            <a:rect l="l" t="t" r="r" b="b"/>
            <a:pathLst>
              <a:path w="0" h="297180">
                <a:moveTo>
                  <a:pt x="0" y="0"/>
                </a:moveTo>
                <a:lnTo>
                  <a:pt x="0" y="297179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285226" y="2878073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17641" y="1494282"/>
            <a:ext cx="329565" cy="528955"/>
          </a:xfrm>
          <a:custGeom>
            <a:avLst/>
            <a:gdLst/>
            <a:ahLst/>
            <a:cxnLst/>
            <a:rect l="l" t="t" r="r" b="b"/>
            <a:pathLst>
              <a:path w="329564" h="528955">
                <a:moveTo>
                  <a:pt x="329184" y="0"/>
                </a:moveTo>
                <a:lnTo>
                  <a:pt x="0" y="528827"/>
                </a:lnTo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348478" y="228701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方正舒体"/>
                <a:cs typeface="方正舒体"/>
              </a:rPr>
              <a:t>①</a:t>
            </a:r>
            <a:endParaRPr sz="2400">
              <a:latin typeface="方正舒体"/>
              <a:cs typeface="方正舒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67983" y="3009391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方正舒体"/>
                <a:cs typeface="方正舒体"/>
              </a:rPr>
              <a:t>②</a:t>
            </a:r>
            <a:endParaRPr sz="2400">
              <a:latin typeface="方正舒体"/>
              <a:cs typeface="方正舒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76386" y="247294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285226" y="2183129"/>
            <a:ext cx="0" cy="382905"/>
          </a:xfrm>
          <a:custGeom>
            <a:avLst/>
            <a:gdLst/>
            <a:ahLst/>
            <a:cxnLst/>
            <a:rect l="l" t="t" r="r" b="b"/>
            <a:pathLst>
              <a:path w="0" h="382905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362194" y="1498853"/>
            <a:ext cx="547115" cy="781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01561" y="2189226"/>
            <a:ext cx="480060" cy="8244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5485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00112" y="1654238"/>
          <a:ext cx="7425055" cy="471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6005"/>
                <a:gridCol w="1052830"/>
                <a:gridCol w="1056005"/>
                <a:gridCol w="1054100"/>
                <a:gridCol w="1055370"/>
                <a:gridCol w="1052195"/>
                <a:gridCol w="1055370"/>
              </a:tblGrid>
              <a:tr h="5207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状态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2217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8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07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9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5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8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6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131057" y="820927"/>
            <a:ext cx="39014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G(L)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4144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06567" y="3640835"/>
          <a:ext cx="2105025" cy="294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39"/>
                <a:gridCol w="933450"/>
                <a:gridCol w="913765"/>
                <a:gridCol w="140969"/>
              </a:tblGrid>
              <a:tr h="128777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E2D5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73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solidFill>
                      <a:srgbClr val="1E2D52"/>
                    </a:solidFill>
                  </a:tcPr>
                </a:tc>
              </a:tr>
              <a:tr h="526542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31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312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5943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49987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270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270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59893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296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2965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3748" y="405586"/>
            <a:ext cx="4460875" cy="109918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3200">
                <a:solidFill>
                  <a:srgbClr val="FFFFFF"/>
                </a:solidFill>
              </a:rPr>
              <a:t>例</a:t>
            </a:r>
            <a:r>
              <a:rPr dirty="0" sz="3200" spc="-5">
                <a:solidFill>
                  <a:srgbClr val="FFFFFF"/>
                </a:solidFill>
              </a:rPr>
              <a:t>如，设有文</a:t>
            </a:r>
            <a:r>
              <a:rPr dirty="0" sz="3200">
                <a:solidFill>
                  <a:srgbClr val="FFFFFF"/>
                </a:solidFill>
              </a:rPr>
              <a:t>法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>
                <a:solidFill>
                  <a:srgbClr val="FFFFFF"/>
                </a:solidFill>
              </a:rPr>
              <a:t>和</a:t>
            </a:r>
            <a:endParaRPr sz="3200">
              <a:latin typeface="Times New Roman"/>
              <a:cs typeface="Times New Roman"/>
            </a:endParaRPr>
          </a:p>
          <a:p>
            <a:pPr marL="1332230">
              <a:lnSpc>
                <a:spcPct val="100000"/>
              </a:lnSpc>
              <a:spcBef>
                <a:spcPts val="385"/>
              </a:spcBef>
            </a:pP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7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>
                <a:solidFill>
                  <a:srgbClr val="FFFFFF"/>
                </a:solidFill>
              </a:rPr>
              <a:t>的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>
                <a:solidFill>
                  <a:srgbClr val="FFFFFF"/>
                </a:solidFill>
              </a:rPr>
              <a:t>分析表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6294" y="1478889"/>
            <a:ext cx="2014855" cy="163576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①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,</a:t>
            </a:r>
            <a:r>
              <a:rPr dirty="0" sz="3200" spc="-9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②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L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200" spc="-5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③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200" spc="-5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6294" y="3136849"/>
            <a:ext cx="17214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④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E 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200" spc="-9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02023" y="3170682"/>
            <a:ext cx="114300" cy="678180"/>
          </a:xfrm>
          <a:custGeom>
            <a:avLst/>
            <a:gdLst/>
            <a:ahLst/>
            <a:cxnLst/>
            <a:rect l="l" t="t" r="r" b="b"/>
            <a:pathLst>
              <a:path w="114300" h="678179">
                <a:moveTo>
                  <a:pt x="38100" y="563879"/>
                </a:moveTo>
                <a:lnTo>
                  <a:pt x="0" y="563879"/>
                </a:lnTo>
                <a:lnTo>
                  <a:pt x="57150" y="678179"/>
                </a:lnTo>
                <a:lnTo>
                  <a:pt x="104775" y="582929"/>
                </a:lnTo>
                <a:lnTo>
                  <a:pt x="38100" y="582929"/>
                </a:lnTo>
                <a:lnTo>
                  <a:pt x="38100" y="563879"/>
                </a:lnTo>
                <a:close/>
              </a:path>
              <a:path w="114300" h="678179">
                <a:moveTo>
                  <a:pt x="76200" y="0"/>
                </a:moveTo>
                <a:lnTo>
                  <a:pt x="38100" y="0"/>
                </a:lnTo>
                <a:lnTo>
                  <a:pt x="38100" y="582929"/>
                </a:lnTo>
                <a:lnTo>
                  <a:pt x="76200" y="582929"/>
                </a:lnTo>
                <a:lnTo>
                  <a:pt x="76200" y="0"/>
                </a:lnTo>
                <a:close/>
              </a:path>
              <a:path w="114300" h="678179">
                <a:moveTo>
                  <a:pt x="114300" y="563879"/>
                </a:moveTo>
                <a:lnTo>
                  <a:pt x="76200" y="563879"/>
                </a:lnTo>
                <a:lnTo>
                  <a:pt x="76200" y="582929"/>
                </a:lnTo>
                <a:lnTo>
                  <a:pt x="104775" y="582929"/>
                </a:lnTo>
                <a:lnTo>
                  <a:pt x="114300" y="563879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18052" y="3243783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59573" y="4596384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47786" y="4378528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44973" y="5792723"/>
            <a:ext cx="670560" cy="114300"/>
          </a:xfrm>
          <a:custGeom>
            <a:avLst/>
            <a:gdLst/>
            <a:ahLst/>
            <a:cxnLst/>
            <a:rect l="l" t="t" r="r" b="b"/>
            <a:pathLst>
              <a:path w="6705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705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70560" h="114300">
                <a:moveTo>
                  <a:pt x="67056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70560" y="76200"/>
                </a:lnTo>
                <a:lnTo>
                  <a:pt x="670560" y="381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54117" y="4576571"/>
            <a:ext cx="670560" cy="114300"/>
          </a:xfrm>
          <a:custGeom>
            <a:avLst/>
            <a:gdLst/>
            <a:ahLst/>
            <a:cxnLst/>
            <a:rect l="l" t="t" r="r" b="b"/>
            <a:pathLst>
              <a:path w="6705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705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70560" h="114300">
                <a:moveTo>
                  <a:pt x="67056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70560" y="76200"/>
                </a:lnTo>
                <a:lnTo>
                  <a:pt x="670560" y="381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44973" y="5212079"/>
            <a:ext cx="670560" cy="114300"/>
          </a:xfrm>
          <a:custGeom>
            <a:avLst/>
            <a:gdLst/>
            <a:ahLst/>
            <a:cxnLst/>
            <a:rect l="l" t="t" r="r" b="b"/>
            <a:pathLst>
              <a:path w="6705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705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70560" h="114300">
                <a:moveTo>
                  <a:pt x="67056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70560" y="76200"/>
                </a:lnTo>
                <a:lnTo>
                  <a:pt x="670560" y="381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31544" y="3533144"/>
            <a:ext cx="3591560" cy="250063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输入字符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200" spc="-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r" marR="38735">
              <a:lnSpc>
                <a:spcPct val="100000"/>
              </a:lnSpc>
              <a:spcBef>
                <a:spcPts val="1115"/>
              </a:spcBef>
            </a:pP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b</a:t>
            </a:r>
            <a:r>
              <a:rPr dirty="0" sz="3200" spc="-35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9"/>
                </a:solidFill>
                <a:latin typeface="Wingdings 3"/>
                <a:cs typeface="Wingdings 3"/>
              </a:rPr>
              <a:t></a:t>
            </a:r>
            <a:r>
              <a:rPr dirty="0" sz="3200" spc="-25" b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E</a:t>
            </a:r>
            <a:r>
              <a:rPr dirty="0" sz="3200" spc="-45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69"/>
                </a:solidFill>
                <a:latin typeface="宋体"/>
                <a:cs typeface="宋体"/>
              </a:rPr>
              <a:t>归</a:t>
            </a:r>
            <a:r>
              <a:rPr dirty="0" sz="2800" b="1">
                <a:solidFill>
                  <a:srgbClr val="FFFF69"/>
                </a:solidFill>
                <a:latin typeface="宋体"/>
                <a:cs typeface="宋体"/>
              </a:rPr>
              <a:t>约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524000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69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69"/>
                </a:solidFill>
                <a:latin typeface="宋体"/>
                <a:cs typeface="宋体"/>
              </a:rPr>
              <a:t>移进栈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algn="r" marR="48895">
              <a:lnSpc>
                <a:spcPct val="100000"/>
              </a:lnSpc>
              <a:spcBef>
                <a:spcPts val="690"/>
              </a:spcBef>
            </a:pP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a</a:t>
            </a:r>
            <a:r>
              <a:rPr dirty="0" sz="3200" spc="-35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9"/>
                </a:solidFill>
                <a:latin typeface="Wingdings 3"/>
                <a:cs typeface="Wingdings 3"/>
              </a:rPr>
              <a:t></a:t>
            </a:r>
            <a:r>
              <a:rPr dirty="0" sz="3200" spc="-25" b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E</a:t>
            </a:r>
            <a:r>
              <a:rPr dirty="0" sz="3200" spc="-40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69"/>
                </a:solidFill>
                <a:latin typeface="宋体"/>
                <a:cs typeface="宋体"/>
              </a:rPr>
              <a:t>归约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8335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  <a:tab pos="4643120" algn="l"/>
                <a:tab pos="54051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640" y="807212"/>
            <a:ext cx="293687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（</a:t>
            </a:r>
            <a:r>
              <a:rPr dirty="0" sz="3200">
                <a:latin typeface="Times New Roman"/>
                <a:cs typeface="Times New Roman"/>
              </a:rPr>
              <a:t>2</a:t>
            </a:r>
            <a:r>
              <a:rPr dirty="0" sz="3200"/>
              <a:t>）</a:t>
            </a:r>
            <a:r>
              <a:rPr dirty="0" sz="3200" spc="-910"/>
              <a:t> </a:t>
            </a:r>
            <a:r>
              <a:rPr dirty="0" sz="3200">
                <a:latin typeface="Times New Roman"/>
                <a:cs typeface="Times New Roman"/>
              </a:rPr>
              <a:t>LR</a:t>
            </a:r>
            <a:r>
              <a:rPr dirty="0" sz="3200"/>
              <a:t>分析表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29661" y="2553461"/>
            <a:ext cx="401320" cy="1143000"/>
          </a:xfrm>
          <a:custGeom>
            <a:avLst/>
            <a:gdLst/>
            <a:ahLst/>
            <a:cxnLst/>
            <a:rect l="l" t="t" r="r" b="b"/>
            <a:pathLst>
              <a:path w="401319" h="1143000">
                <a:moveTo>
                  <a:pt x="400812" y="1143000"/>
                </a:moveTo>
                <a:lnTo>
                  <a:pt x="337444" y="1138140"/>
                </a:lnTo>
                <a:lnTo>
                  <a:pt x="282427" y="1124606"/>
                </a:lnTo>
                <a:lnTo>
                  <a:pt x="239054" y="1103964"/>
                </a:lnTo>
                <a:lnTo>
                  <a:pt x="210616" y="1077780"/>
                </a:lnTo>
                <a:lnTo>
                  <a:pt x="200406" y="1047623"/>
                </a:lnTo>
                <a:lnTo>
                  <a:pt x="200406" y="666876"/>
                </a:lnTo>
                <a:lnTo>
                  <a:pt x="190195" y="636719"/>
                </a:lnTo>
                <a:lnTo>
                  <a:pt x="161757" y="610535"/>
                </a:lnTo>
                <a:lnTo>
                  <a:pt x="118384" y="589893"/>
                </a:lnTo>
                <a:lnTo>
                  <a:pt x="63367" y="576359"/>
                </a:lnTo>
                <a:lnTo>
                  <a:pt x="0" y="571500"/>
                </a:lnTo>
                <a:lnTo>
                  <a:pt x="63367" y="566640"/>
                </a:lnTo>
                <a:lnTo>
                  <a:pt x="118384" y="553106"/>
                </a:lnTo>
                <a:lnTo>
                  <a:pt x="161757" y="532464"/>
                </a:lnTo>
                <a:lnTo>
                  <a:pt x="190195" y="506280"/>
                </a:lnTo>
                <a:lnTo>
                  <a:pt x="200406" y="476123"/>
                </a:lnTo>
                <a:lnTo>
                  <a:pt x="200406" y="95376"/>
                </a:lnTo>
                <a:lnTo>
                  <a:pt x="210628" y="65219"/>
                </a:lnTo>
                <a:lnTo>
                  <a:pt x="239091" y="39035"/>
                </a:lnTo>
                <a:lnTo>
                  <a:pt x="282482" y="18393"/>
                </a:lnTo>
                <a:lnTo>
                  <a:pt x="337492" y="4859"/>
                </a:lnTo>
                <a:lnTo>
                  <a:pt x="4008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34236" y="1465833"/>
            <a:ext cx="6308725" cy="2439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分析器的核心。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宋体"/>
              <a:cs typeface="宋体"/>
            </a:endParaRPr>
          </a:p>
          <a:p>
            <a:pPr marL="1943735">
              <a:lnSpc>
                <a:spcPct val="100000"/>
              </a:lnSpc>
            </a:pPr>
            <a:r>
              <a:rPr dirty="0" sz="3200" spc="-5" b="1">
                <a:solidFill>
                  <a:srgbClr val="99FF99"/>
                </a:solidFill>
                <a:latin typeface="宋体"/>
                <a:cs typeface="宋体"/>
              </a:rPr>
              <a:t>分析动作</a:t>
            </a:r>
            <a:r>
              <a:rPr dirty="0" sz="3200" b="1">
                <a:solidFill>
                  <a:srgbClr val="99FF99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99FF99"/>
                </a:solidFill>
                <a:latin typeface="Times New Roman"/>
                <a:cs typeface="Times New Roman"/>
              </a:rPr>
              <a:t>(ACTION</a:t>
            </a:r>
            <a:r>
              <a:rPr dirty="0" sz="3200" spc="-5" b="1">
                <a:solidFill>
                  <a:srgbClr val="99FF99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99FF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19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  <a:p>
            <a:pPr marL="1863089">
              <a:lnSpc>
                <a:spcPct val="100000"/>
              </a:lnSpc>
              <a:spcBef>
                <a:spcPts val="195"/>
              </a:spcBef>
            </a:pPr>
            <a:r>
              <a:rPr dirty="0" sz="3200" spc="-5" b="1">
                <a:solidFill>
                  <a:srgbClr val="99FF99"/>
                </a:solidFill>
                <a:latin typeface="宋体"/>
                <a:cs typeface="宋体"/>
              </a:rPr>
              <a:t>状态转换</a:t>
            </a:r>
            <a:r>
              <a:rPr dirty="0" sz="3200" b="1">
                <a:solidFill>
                  <a:srgbClr val="99FF99"/>
                </a:solidFill>
                <a:latin typeface="宋体"/>
                <a:cs typeface="宋体"/>
              </a:rPr>
              <a:t>表</a:t>
            </a:r>
            <a:r>
              <a:rPr dirty="0" sz="3200" spc="-15" b="1">
                <a:solidFill>
                  <a:srgbClr val="99FF99"/>
                </a:solidFill>
                <a:latin typeface="Times New Roman"/>
                <a:cs typeface="Times New Roman"/>
              </a:rPr>
              <a:t>(GOTO</a:t>
            </a:r>
            <a:r>
              <a:rPr dirty="0" sz="3200" b="1">
                <a:solidFill>
                  <a:srgbClr val="99FF99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99FF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9016" y="4348352"/>
            <a:ext cx="20675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分析动作表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9016" y="5300573"/>
            <a:ext cx="20675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状态转换表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29761" y="4591811"/>
            <a:ext cx="1468120" cy="114300"/>
          </a:xfrm>
          <a:custGeom>
            <a:avLst/>
            <a:gdLst/>
            <a:ahLst/>
            <a:cxnLst/>
            <a:rect l="l" t="t" r="r" b="b"/>
            <a:pathLst>
              <a:path w="1468120" h="114300">
                <a:moveTo>
                  <a:pt x="1353312" y="0"/>
                </a:moveTo>
                <a:lnTo>
                  <a:pt x="1353312" y="114300"/>
                </a:lnTo>
                <a:lnTo>
                  <a:pt x="1429512" y="76200"/>
                </a:lnTo>
                <a:lnTo>
                  <a:pt x="1372362" y="76200"/>
                </a:lnTo>
                <a:lnTo>
                  <a:pt x="1372362" y="38100"/>
                </a:lnTo>
                <a:lnTo>
                  <a:pt x="1429512" y="38100"/>
                </a:lnTo>
                <a:lnTo>
                  <a:pt x="1353312" y="0"/>
                </a:lnTo>
                <a:close/>
              </a:path>
              <a:path w="1468120" h="114300">
                <a:moveTo>
                  <a:pt x="13533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53312" y="76200"/>
                </a:lnTo>
                <a:lnTo>
                  <a:pt x="1353312" y="38100"/>
                </a:lnTo>
                <a:close/>
              </a:path>
              <a:path w="1468120" h="114300">
                <a:moveTo>
                  <a:pt x="1429512" y="38100"/>
                </a:moveTo>
                <a:lnTo>
                  <a:pt x="1372362" y="38100"/>
                </a:lnTo>
                <a:lnTo>
                  <a:pt x="1372362" y="76200"/>
                </a:lnTo>
                <a:lnTo>
                  <a:pt x="1429512" y="76200"/>
                </a:lnTo>
                <a:lnTo>
                  <a:pt x="1467612" y="57150"/>
                </a:lnTo>
                <a:lnTo>
                  <a:pt x="14295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49573" y="5533644"/>
            <a:ext cx="1466215" cy="114300"/>
          </a:xfrm>
          <a:custGeom>
            <a:avLst/>
            <a:gdLst/>
            <a:ahLst/>
            <a:cxnLst/>
            <a:rect l="l" t="t" r="r" b="b"/>
            <a:pathLst>
              <a:path w="1466214" h="114300">
                <a:moveTo>
                  <a:pt x="1351788" y="0"/>
                </a:moveTo>
                <a:lnTo>
                  <a:pt x="1351788" y="114299"/>
                </a:lnTo>
                <a:lnTo>
                  <a:pt x="1427988" y="76199"/>
                </a:lnTo>
                <a:lnTo>
                  <a:pt x="1370838" y="76199"/>
                </a:lnTo>
                <a:lnTo>
                  <a:pt x="1370838" y="38099"/>
                </a:lnTo>
                <a:lnTo>
                  <a:pt x="1427988" y="38099"/>
                </a:lnTo>
                <a:lnTo>
                  <a:pt x="1351788" y="0"/>
                </a:lnTo>
                <a:close/>
              </a:path>
              <a:path w="1466214" h="114300">
                <a:moveTo>
                  <a:pt x="135178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351788" y="76199"/>
                </a:lnTo>
                <a:lnTo>
                  <a:pt x="1351788" y="38099"/>
                </a:lnTo>
                <a:close/>
              </a:path>
              <a:path w="1466214" h="114300">
                <a:moveTo>
                  <a:pt x="1427988" y="38099"/>
                </a:moveTo>
                <a:lnTo>
                  <a:pt x="1370838" y="38099"/>
                </a:lnTo>
                <a:lnTo>
                  <a:pt x="1370838" y="76199"/>
                </a:lnTo>
                <a:lnTo>
                  <a:pt x="1427988" y="76199"/>
                </a:lnTo>
                <a:lnTo>
                  <a:pt x="1466088" y="57149"/>
                </a:lnTo>
                <a:lnTo>
                  <a:pt x="142798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02352" y="4345635"/>
            <a:ext cx="2326640" cy="1447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r>
              <a:rPr dirty="0" sz="3200" spc="5" b="1">
                <a:solidFill>
                  <a:srgbClr val="00FFFF"/>
                </a:solidFill>
                <a:latin typeface="宋体"/>
                <a:cs typeface="宋体"/>
              </a:rPr>
              <a:t>×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3200" spc="5" b="1">
                <a:solidFill>
                  <a:srgbClr val="00FFFF"/>
                </a:solidFill>
                <a:latin typeface="Symbol"/>
                <a:cs typeface="Symbol"/>
              </a:rPr>
              <a:t>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{#})</a:t>
            </a:r>
            <a:endParaRPr sz="32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3510"/>
              </a:spcBef>
            </a:pP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r>
              <a:rPr dirty="0" sz="3200" spc="5" b="1">
                <a:solidFill>
                  <a:srgbClr val="00FFFF"/>
                </a:solidFill>
                <a:latin typeface="宋体"/>
                <a:cs typeface="宋体"/>
              </a:rPr>
              <a:t>×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N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5485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3973" y="1759457"/>
            <a:ext cx="1542415" cy="1355090"/>
          </a:xfrm>
          <a:custGeom>
            <a:avLst/>
            <a:gdLst/>
            <a:ahLst/>
            <a:cxnLst/>
            <a:rect l="l" t="t" r="r" b="b"/>
            <a:pathLst>
              <a:path w="1542414" h="1355089">
                <a:moveTo>
                  <a:pt x="0" y="0"/>
                </a:moveTo>
                <a:lnTo>
                  <a:pt x="1542288" y="13548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89275" y="864489"/>
            <a:ext cx="23787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600" spc="-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heavy" sz="3600" spc="-3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600" spc="-1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分</a:t>
            </a:r>
            <a:r>
              <a:rPr dirty="0" u="heavy" sz="3600" spc="-93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600" spc="-1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析</a:t>
            </a:r>
            <a:r>
              <a:rPr dirty="0" u="heavy" sz="3600" spc="-93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600" spc="-1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0173" y="1759457"/>
            <a:ext cx="1466215" cy="678180"/>
          </a:xfrm>
          <a:custGeom>
            <a:avLst/>
            <a:gdLst/>
            <a:ahLst/>
            <a:cxnLst/>
            <a:rect l="l" t="t" r="r" b="b"/>
            <a:pathLst>
              <a:path w="1466214" h="678180">
                <a:moveTo>
                  <a:pt x="0" y="0"/>
                </a:moveTo>
                <a:lnTo>
                  <a:pt x="1466088" y="67817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33400" y="1739900"/>
          <a:ext cx="8585200" cy="4102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050"/>
                <a:gridCol w="3536950"/>
                <a:gridCol w="3447415"/>
              </a:tblGrid>
              <a:tr h="677799">
                <a:tc rowSpan="2">
                  <a:txBody>
                    <a:bodyPr/>
                    <a:lstStyle/>
                    <a:p>
                      <a:pPr marL="758190">
                        <a:lnSpc>
                          <a:spcPts val="279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table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  <a:tabLst>
                          <a:tab pos="1082040" algn="l"/>
                        </a:tabLst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state	</a:t>
                      </a:r>
                      <a:r>
                        <a:rPr dirty="0" baseline="20833" sz="4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baseline="20833" sz="4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422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32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32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baseline="-15873" sz="3150" spc="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69"/>
                      </a:solidFill>
                      <a:prstDash val="solid"/>
                    </a:lnL>
                    <a:lnR w="762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dirty="0" sz="32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32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baseline="-15873" sz="3150" spc="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762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</a:tr>
              <a:tr h="6762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345"/>
                        </a:spcBef>
                        <a:tabLst>
                          <a:tab pos="969644" algn="l"/>
                          <a:tab pos="1813560" algn="l"/>
                          <a:tab pos="3013710" algn="l"/>
                        </a:tabLst>
                      </a:pPr>
                      <a:r>
                        <a:rPr dirty="0" baseline="13888" sz="480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1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1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dirty="0" baseline="13888" sz="480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1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1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	</a:t>
                      </a:r>
                      <a:r>
                        <a:rPr dirty="0" baseline="13888" sz="480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r>
                        <a:rPr dirty="0" baseline="13888" sz="480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1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Tn	</a:t>
                      </a:r>
                      <a:r>
                        <a:rPr dirty="0" baseline="13888" sz="4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baseline="13888" sz="4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0815">
                    <a:lnL w="38100">
                      <a:solidFill>
                        <a:srgbClr val="FFFF69"/>
                      </a:solidFill>
                      <a:prstDash val="solid"/>
                    </a:lnL>
                    <a:lnR w="762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ct val="100000"/>
                        </a:lnSpc>
                        <a:spcBef>
                          <a:spcPts val="1345"/>
                        </a:spcBef>
                        <a:tabLst>
                          <a:tab pos="875030" algn="l"/>
                          <a:tab pos="1749425" algn="l"/>
                          <a:tab pos="2359660" algn="l"/>
                        </a:tabLst>
                      </a:pPr>
                      <a:r>
                        <a:rPr dirty="0" baseline="13888" sz="4800" spc="22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10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210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dirty="0" baseline="13888" sz="4800" spc="22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10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210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	</a:t>
                      </a:r>
                      <a:r>
                        <a:rPr dirty="0" baseline="13888" sz="4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	</a:t>
                      </a:r>
                      <a:r>
                        <a:rPr dirty="0" baseline="13888" sz="4800" spc="3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100" spc="2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Nm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0815">
                    <a:lnL w="762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</a:tr>
              <a:tr h="677926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38100">
                      <a:solidFill>
                        <a:srgbClr val="FFFF69"/>
                      </a:solidFill>
                      <a:prstDash val="solid"/>
                    </a:lnL>
                    <a:lnR w="762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762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</a:tr>
              <a:tr h="677926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38100">
                      <a:solidFill>
                        <a:srgbClr val="FFFF69"/>
                      </a:solidFill>
                      <a:prstDash val="solid"/>
                    </a:lnL>
                    <a:lnR w="762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762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69"/>
                      </a:solidFill>
                      <a:prstDash val="solid"/>
                    </a:lnL>
                    <a:lnR w="762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762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</a:tr>
              <a:tr h="677799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69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69"/>
                      </a:solidFill>
                      <a:prstDash val="solid"/>
                    </a:lnL>
                    <a:lnR w="762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762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FFFF69"/>
                      </a:solidFill>
                      <a:prstDash val="solid"/>
                    </a:lnR>
                    <a:lnT w="38100">
                      <a:solidFill>
                        <a:srgbClr val="FFFF69"/>
                      </a:solidFill>
                      <a:prstDash val="solid"/>
                    </a:lnT>
                    <a:lnB w="38100">
                      <a:solidFill>
                        <a:srgbClr val="FFFF6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209800" y="1682495"/>
            <a:ext cx="2877820" cy="803275"/>
          </a:xfrm>
          <a:custGeom>
            <a:avLst/>
            <a:gdLst/>
            <a:ahLst/>
            <a:cxnLst/>
            <a:rect l="l" t="t" r="r" b="b"/>
            <a:pathLst>
              <a:path w="2877820" h="803275">
                <a:moveTo>
                  <a:pt x="0" y="401574"/>
                </a:moveTo>
                <a:lnTo>
                  <a:pt x="6988" y="361749"/>
                </a:lnTo>
                <a:lnTo>
                  <a:pt x="27512" y="323033"/>
                </a:lnTo>
                <a:lnTo>
                  <a:pt x="60914" y="285609"/>
                </a:lnTo>
                <a:lnTo>
                  <a:pt x="106533" y="249661"/>
                </a:lnTo>
                <a:lnTo>
                  <a:pt x="163710" y="215373"/>
                </a:lnTo>
                <a:lnTo>
                  <a:pt x="231785" y="182930"/>
                </a:lnTo>
                <a:lnTo>
                  <a:pt x="269703" y="167458"/>
                </a:lnTo>
                <a:lnTo>
                  <a:pt x="310099" y="152517"/>
                </a:lnTo>
                <a:lnTo>
                  <a:pt x="352890" y="138128"/>
                </a:lnTo>
                <a:lnTo>
                  <a:pt x="397993" y="124316"/>
                </a:lnTo>
                <a:lnTo>
                  <a:pt x="445326" y="111103"/>
                </a:lnTo>
                <a:lnTo>
                  <a:pt x="494806" y="98513"/>
                </a:lnTo>
                <a:lnTo>
                  <a:pt x="546352" y="86568"/>
                </a:lnTo>
                <a:lnTo>
                  <a:pt x="599880" y="75291"/>
                </a:lnTo>
                <a:lnTo>
                  <a:pt x="655308" y="64706"/>
                </a:lnTo>
                <a:lnTo>
                  <a:pt x="712554" y="54835"/>
                </a:lnTo>
                <a:lnTo>
                  <a:pt x="771536" y="45702"/>
                </a:lnTo>
                <a:lnTo>
                  <a:pt x="832170" y="37329"/>
                </a:lnTo>
                <a:lnTo>
                  <a:pt x="894375" y="29740"/>
                </a:lnTo>
                <a:lnTo>
                  <a:pt x="958067" y="22958"/>
                </a:lnTo>
                <a:lnTo>
                  <a:pt x="1023166" y="17005"/>
                </a:lnTo>
                <a:lnTo>
                  <a:pt x="1089587" y="11905"/>
                </a:lnTo>
                <a:lnTo>
                  <a:pt x="1157249" y="7680"/>
                </a:lnTo>
                <a:lnTo>
                  <a:pt x="1226070" y="4355"/>
                </a:lnTo>
                <a:lnTo>
                  <a:pt x="1295966" y="1950"/>
                </a:lnTo>
                <a:lnTo>
                  <a:pt x="1366855" y="491"/>
                </a:lnTo>
                <a:lnTo>
                  <a:pt x="1438655" y="0"/>
                </a:lnTo>
                <a:lnTo>
                  <a:pt x="1510456" y="491"/>
                </a:lnTo>
                <a:lnTo>
                  <a:pt x="1581345" y="1950"/>
                </a:lnTo>
                <a:lnTo>
                  <a:pt x="1651241" y="4355"/>
                </a:lnTo>
                <a:lnTo>
                  <a:pt x="1720062" y="7680"/>
                </a:lnTo>
                <a:lnTo>
                  <a:pt x="1787724" y="11905"/>
                </a:lnTo>
                <a:lnTo>
                  <a:pt x="1854145" y="17005"/>
                </a:lnTo>
                <a:lnTo>
                  <a:pt x="1919244" y="22958"/>
                </a:lnTo>
                <a:lnTo>
                  <a:pt x="1982936" y="29740"/>
                </a:lnTo>
                <a:lnTo>
                  <a:pt x="2045141" y="37329"/>
                </a:lnTo>
                <a:lnTo>
                  <a:pt x="2105775" y="45702"/>
                </a:lnTo>
                <a:lnTo>
                  <a:pt x="2164757" y="54835"/>
                </a:lnTo>
                <a:lnTo>
                  <a:pt x="2222003" y="64706"/>
                </a:lnTo>
                <a:lnTo>
                  <a:pt x="2277431" y="75291"/>
                </a:lnTo>
                <a:lnTo>
                  <a:pt x="2330959" y="86568"/>
                </a:lnTo>
                <a:lnTo>
                  <a:pt x="2382505" y="98513"/>
                </a:lnTo>
                <a:lnTo>
                  <a:pt x="2431985" y="111103"/>
                </a:lnTo>
                <a:lnTo>
                  <a:pt x="2479318" y="124316"/>
                </a:lnTo>
                <a:lnTo>
                  <a:pt x="2524421" y="138128"/>
                </a:lnTo>
                <a:lnTo>
                  <a:pt x="2567212" y="152517"/>
                </a:lnTo>
                <a:lnTo>
                  <a:pt x="2607608" y="167458"/>
                </a:lnTo>
                <a:lnTo>
                  <a:pt x="2645526" y="182930"/>
                </a:lnTo>
                <a:lnTo>
                  <a:pt x="2680885" y="198910"/>
                </a:lnTo>
                <a:lnTo>
                  <a:pt x="2743593" y="232298"/>
                </a:lnTo>
                <a:lnTo>
                  <a:pt x="2795074" y="267439"/>
                </a:lnTo>
                <a:lnTo>
                  <a:pt x="2834666" y="304148"/>
                </a:lnTo>
                <a:lnTo>
                  <a:pt x="2861712" y="342241"/>
                </a:lnTo>
                <a:lnTo>
                  <a:pt x="2875551" y="381534"/>
                </a:lnTo>
                <a:lnTo>
                  <a:pt x="2877312" y="401574"/>
                </a:lnTo>
                <a:lnTo>
                  <a:pt x="2875551" y="421613"/>
                </a:lnTo>
                <a:lnTo>
                  <a:pt x="2861712" y="460906"/>
                </a:lnTo>
                <a:lnTo>
                  <a:pt x="2834666" y="498999"/>
                </a:lnTo>
                <a:lnTo>
                  <a:pt x="2795074" y="535708"/>
                </a:lnTo>
                <a:lnTo>
                  <a:pt x="2743593" y="570849"/>
                </a:lnTo>
                <a:lnTo>
                  <a:pt x="2680885" y="604237"/>
                </a:lnTo>
                <a:lnTo>
                  <a:pt x="2645526" y="620217"/>
                </a:lnTo>
                <a:lnTo>
                  <a:pt x="2607608" y="635689"/>
                </a:lnTo>
                <a:lnTo>
                  <a:pt x="2567212" y="650630"/>
                </a:lnTo>
                <a:lnTo>
                  <a:pt x="2524421" y="665019"/>
                </a:lnTo>
                <a:lnTo>
                  <a:pt x="2479318" y="678831"/>
                </a:lnTo>
                <a:lnTo>
                  <a:pt x="2431985" y="692044"/>
                </a:lnTo>
                <a:lnTo>
                  <a:pt x="2382505" y="704634"/>
                </a:lnTo>
                <a:lnTo>
                  <a:pt x="2330959" y="716579"/>
                </a:lnTo>
                <a:lnTo>
                  <a:pt x="2277431" y="727856"/>
                </a:lnTo>
                <a:lnTo>
                  <a:pt x="2222003" y="738441"/>
                </a:lnTo>
                <a:lnTo>
                  <a:pt x="2164757" y="748312"/>
                </a:lnTo>
                <a:lnTo>
                  <a:pt x="2105775" y="757445"/>
                </a:lnTo>
                <a:lnTo>
                  <a:pt x="2045141" y="765818"/>
                </a:lnTo>
                <a:lnTo>
                  <a:pt x="1982936" y="773407"/>
                </a:lnTo>
                <a:lnTo>
                  <a:pt x="1919244" y="780189"/>
                </a:lnTo>
                <a:lnTo>
                  <a:pt x="1854145" y="786142"/>
                </a:lnTo>
                <a:lnTo>
                  <a:pt x="1787724" y="791242"/>
                </a:lnTo>
                <a:lnTo>
                  <a:pt x="1720062" y="795467"/>
                </a:lnTo>
                <a:lnTo>
                  <a:pt x="1651241" y="798792"/>
                </a:lnTo>
                <a:lnTo>
                  <a:pt x="1581345" y="801197"/>
                </a:lnTo>
                <a:lnTo>
                  <a:pt x="1510456" y="802656"/>
                </a:lnTo>
                <a:lnTo>
                  <a:pt x="1438655" y="803148"/>
                </a:lnTo>
                <a:lnTo>
                  <a:pt x="1366855" y="802656"/>
                </a:lnTo>
                <a:lnTo>
                  <a:pt x="1295966" y="801197"/>
                </a:lnTo>
                <a:lnTo>
                  <a:pt x="1226070" y="798792"/>
                </a:lnTo>
                <a:lnTo>
                  <a:pt x="1157249" y="795467"/>
                </a:lnTo>
                <a:lnTo>
                  <a:pt x="1089587" y="791242"/>
                </a:lnTo>
                <a:lnTo>
                  <a:pt x="1023166" y="786142"/>
                </a:lnTo>
                <a:lnTo>
                  <a:pt x="958067" y="780189"/>
                </a:lnTo>
                <a:lnTo>
                  <a:pt x="894375" y="773407"/>
                </a:lnTo>
                <a:lnTo>
                  <a:pt x="832170" y="765818"/>
                </a:lnTo>
                <a:lnTo>
                  <a:pt x="771536" y="757445"/>
                </a:lnTo>
                <a:lnTo>
                  <a:pt x="712554" y="748312"/>
                </a:lnTo>
                <a:lnTo>
                  <a:pt x="655308" y="738441"/>
                </a:lnTo>
                <a:lnTo>
                  <a:pt x="599880" y="727856"/>
                </a:lnTo>
                <a:lnTo>
                  <a:pt x="546352" y="716579"/>
                </a:lnTo>
                <a:lnTo>
                  <a:pt x="494806" y="704634"/>
                </a:lnTo>
                <a:lnTo>
                  <a:pt x="445326" y="692044"/>
                </a:lnTo>
                <a:lnTo>
                  <a:pt x="397993" y="678831"/>
                </a:lnTo>
                <a:lnTo>
                  <a:pt x="352890" y="665019"/>
                </a:lnTo>
                <a:lnTo>
                  <a:pt x="310099" y="650630"/>
                </a:lnTo>
                <a:lnTo>
                  <a:pt x="269703" y="635689"/>
                </a:lnTo>
                <a:lnTo>
                  <a:pt x="231785" y="620217"/>
                </a:lnTo>
                <a:lnTo>
                  <a:pt x="196426" y="604237"/>
                </a:lnTo>
                <a:lnTo>
                  <a:pt x="133718" y="570849"/>
                </a:lnTo>
                <a:lnTo>
                  <a:pt x="82237" y="535708"/>
                </a:lnTo>
                <a:lnTo>
                  <a:pt x="42645" y="498999"/>
                </a:lnTo>
                <a:lnTo>
                  <a:pt x="15599" y="460906"/>
                </a:lnTo>
                <a:lnTo>
                  <a:pt x="1760" y="421613"/>
                </a:lnTo>
                <a:lnTo>
                  <a:pt x="0" y="401574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58611" y="1690116"/>
            <a:ext cx="2875915" cy="803275"/>
          </a:xfrm>
          <a:custGeom>
            <a:avLst/>
            <a:gdLst/>
            <a:ahLst/>
            <a:cxnLst/>
            <a:rect l="l" t="t" r="r" b="b"/>
            <a:pathLst>
              <a:path w="2875915" h="803275">
                <a:moveTo>
                  <a:pt x="0" y="401574"/>
                </a:moveTo>
                <a:lnTo>
                  <a:pt x="6983" y="361749"/>
                </a:lnTo>
                <a:lnTo>
                  <a:pt x="27496" y="323033"/>
                </a:lnTo>
                <a:lnTo>
                  <a:pt x="60878" y="285609"/>
                </a:lnTo>
                <a:lnTo>
                  <a:pt x="106471" y="249661"/>
                </a:lnTo>
                <a:lnTo>
                  <a:pt x="163615" y="215373"/>
                </a:lnTo>
                <a:lnTo>
                  <a:pt x="231652" y="182930"/>
                </a:lnTo>
                <a:lnTo>
                  <a:pt x="269549" y="167458"/>
                </a:lnTo>
                <a:lnTo>
                  <a:pt x="309922" y="152517"/>
                </a:lnTo>
                <a:lnTo>
                  <a:pt x="352689" y="138128"/>
                </a:lnTo>
                <a:lnTo>
                  <a:pt x="397767" y="124316"/>
                </a:lnTo>
                <a:lnTo>
                  <a:pt x="445074" y="111103"/>
                </a:lnTo>
                <a:lnTo>
                  <a:pt x="494528" y="98513"/>
                </a:lnTo>
                <a:lnTo>
                  <a:pt x="546045" y="86568"/>
                </a:lnTo>
                <a:lnTo>
                  <a:pt x="599545" y="75291"/>
                </a:lnTo>
                <a:lnTo>
                  <a:pt x="654943" y="64706"/>
                </a:lnTo>
                <a:lnTo>
                  <a:pt x="712159" y="54835"/>
                </a:lnTo>
                <a:lnTo>
                  <a:pt x="771109" y="45702"/>
                </a:lnTo>
                <a:lnTo>
                  <a:pt x="831712" y="37329"/>
                </a:lnTo>
                <a:lnTo>
                  <a:pt x="893884" y="29740"/>
                </a:lnTo>
                <a:lnTo>
                  <a:pt x="957544" y="22958"/>
                </a:lnTo>
                <a:lnTo>
                  <a:pt x="1022609" y="17005"/>
                </a:lnTo>
                <a:lnTo>
                  <a:pt x="1088997" y="11905"/>
                </a:lnTo>
                <a:lnTo>
                  <a:pt x="1156625" y="7680"/>
                </a:lnTo>
                <a:lnTo>
                  <a:pt x="1225411" y="4355"/>
                </a:lnTo>
                <a:lnTo>
                  <a:pt x="1295273" y="1950"/>
                </a:lnTo>
                <a:lnTo>
                  <a:pt x="1366128" y="491"/>
                </a:lnTo>
                <a:lnTo>
                  <a:pt x="1437893" y="0"/>
                </a:lnTo>
                <a:lnTo>
                  <a:pt x="1509659" y="491"/>
                </a:lnTo>
                <a:lnTo>
                  <a:pt x="1580514" y="1950"/>
                </a:lnTo>
                <a:lnTo>
                  <a:pt x="1650376" y="4355"/>
                </a:lnTo>
                <a:lnTo>
                  <a:pt x="1719162" y="7680"/>
                </a:lnTo>
                <a:lnTo>
                  <a:pt x="1786790" y="11905"/>
                </a:lnTo>
                <a:lnTo>
                  <a:pt x="1853178" y="17005"/>
                </a:lnTo>
                <a:lnTo>
                  <a:pt x="1918243" y="22958"/>
                </a:lnTo>
                <a:lnTo>
                  <a:pt x="1981903" y="29740"/>
                </a:lnTo>
                <a:lnTo>
                  <a:pt x="2044075" y="37329"/>
                </a:lnTo>
                <a:lnTo>
                  <a:pt x="2104678" y="45702"/>
                </a:lnTo>
                <a:lnTo>
                  <a:pt x="2163628" y="54835"/>
                </a:lnTo>
                <a:lnTo>
                  <a:pt x="2220844" y="64706"/>
                </a:lnTo>
                <a:lnTo>
                  <a:pt x="2276242" y="75291"/>
                </a:lnTo>
                <a:lnTo>
                  <a:pt x="2329742" y="86568"/>
                </a:lnTo>
                <a:lnTo>
                  <a:pt x="2381259" y="98513"/>
                </a:lnTo>
                <a:lnTo>
                  <a:pt x="2430713" y="111103"/>
                </a:lnTo>
                <a:lnTo>
                  <a:pt x="2478020" y="124316"/>
                </a:lnTo>
                <a:lnTo>
                  <a:pt x="2523098" y="138128"/>
                </a:lnTo>
                <a:lnTo>
                  <a:pt x="2565865" y="152517"/>
                </a:lnTo>
                <a:lnTo>
                  <a:pt x="2606238" y="167458"/>
                </a:lnTo>
                <a:lnTo>
                  <a:pt x="2644135" y="182930"/>
                </a:lnTo>
                <a:lnTo>
                  <a:pt x="2679474" y="198910"/>
                </a:lnTo>
                <a:lnTo>
                  <a:pt x="2742147" y="232298"/>
                </a:lnTo>
                <a:lnTo>
                  <a:pt x="2793598" y="267439"/>
                </a:lnTo>
                <a:lnTo>
                  <a:pt x="2833167" y="304148"/>
                </a:lnTo>
                <a:lnTo>
                  <a:pt x="2860197" y="342241"/>
                </a:lnTo>
                <a:lnTo>
                  <a:pt x="2874028" y="381534"/>
                </a:lnTo>
                <a:lnTo>
                  <a:pt x="2875788" y="401574"/>
                </a:lnTo>
                <a:lnTo>
                  <a:pt x="2874028" y="421613"/>
                </a:lnTo>
                <a:lnTo>
                  <a:pt x="2860197" y="460906"/>
                </a:lnTo>
                <a:lnTo>
                  <a:pt x="2833167" y="498999"/>
                </a:lnTo>
                <a:lnTo>
                  <a:pt x="2793598" y="535708"/>
                </a:lnTo>
                <a:lnTo>
                  <a:pt x="2742147" y="570849"/>
                </a:lnTo>
                <a:lnTo>
                  <a:pt x="2679474" y="604237"/>
                </a:lnTo>
                <a:lnTo>
                  <a:pt x="2644135" y="620217"/>
                </a:lnTo>
                <a:lnTo>
                  <a:pt x="2606238" y="635689"/>
                </a:lnTo>
                <a:lnTo>
                  <a:pt x="2565865" y="650630"/>
                </a:lnTo>
                <a:lnTo>
                  <a:pt x="2523098" y="665019"/>
                </a:lnTo>
                <a:lnTo>
                  <a:pt x="2478020" y="678831"/>
                </a:lnTo>
                <a:lnTo>
                  <a:pt x="2430713" y="692044"/>
                </a:lnTo>
                <a:lnTo>
                  <a:pt x="2381259" y="704634"/>
                </a:lnTo>
                <a:lnTo>
                  <a:pt x="2329742" y="716579"/>
                </a:lnTo>
                <a:lnTo>
                  <a:pt x="2276242" y="727856"/>
                </a:lnTo>
                <a:lnTo>
                  <a:pt x="2220844" y="738441"/>
                </a:lnTo>
                <a:lnTo>
                  <a:pt x="2163628" y="748312"/>
                </a:lnTo>
                <a:lnTo>
                  <a:pt x="2104678" y="757445"/>
                </a:lnTo>
                <a:lnTo>
                  <a:pt x="2044075" y="765818"/>
                </a:lnTo>
                <a:lnTo>
                  <a:pt x="1981903" y="773407"/>
                </a:lnTo>
                <a:lnTo>
                  <a:pt x="1918243" y="780189"/>
                </a:lnTo>
                <a:lnTo>
                  <a:pt x="1853178" y="786142"/>
                </a:lnTo>
                <a:lnTo>
                  <a:pt x="1786790" y="791242"/>
                </a:lnTo>
                <a:lnTo>
                  <a:pt x="1719162" y="795467"/>
                </a:lnTo>
                <a:lnTo>
                  <a:pt x="1650376" y="798792"/>
                </a:lnTo>
                <a:lnTo>
                  <a:pt x="1580514" y="801197"/>
                </a:lnTo>
                <a:lnTo>
                  <a:pt x="1509659" y="802656"/>
                </a:lnTo>
                <a:lnTo>
                  <a:pt x="1437893" y="803148"/>
                </a:lnTo>
                <a:lnTo>
                  <a:pt x="1366128" y="802656"/>
                </a:lnTo>
                <a:lnTo>
                  <a:pt x="1295273" y="801197"/>
                </a:lnTo>
                <a:lnTo>
                  <a:pt x="1225411" y="798792"/>
                </a:lnTo>
                <a:lnTo>
                  <a:pt x="1156625" y="795467"/>
                </a:lnTo>
                <a:lnTo>
                  <a:pt x="1088997" y="791242"/>
                </a:lnTo>
                <a:lnTo>
                  <a:pt x="1022609" y="786142"/>
                </a:lnTo>
                <a:lnTo>
                  <a:pt x="957544" y="780189"/>
                </a:lnTo>
                <a:lnTo>
                  <a:pt x="893884" y="773407"/>
                </a:lnTo>
                <a:lnTo>
                  <a:pt x="831712" y="765818"/>
                </a:lnTo>
                <a:lnTo>
                  <a:pt x="771109" y="757445"/>
                </a:lnTo>
                <a:lnTo>
                  <a:pt x="712159" y="748312"/>
                </a:lnTo>
                <a:lnTo>
                  <a:pt x="654943" y="738441"/>
                </a:lnTo>
                <a:lnTo>
                  <a:pt x="599545" y="727856"/>
                </a:lnTo>
                <a:lnTo>
                  <a:pt x="546045" y="716579"/>
                </a:lnTo>
                <a:lnTo>
                  <a:pt x="494528" y="704634"/>
                </a:lnTo>
                <a:lnTo>
                  <a:pt x="445074" y="692044"/>
                </a:lnTo>
                <a:lnTo>
                  <a:pt x="397767" y="678831"/>
                </a:lnTo>
                <a:lnTo>
                  <a:pt x="352689" y="665019"/>
                </a:lnTo>
                <a:lnTo>
                  <a:pt x="309922" y="650630"/>
                </a:lnTo>
                <a:lnTo>
                  <a:pt x="269549" y="635689"/>
                </a:lnTo>
                <a:lnTo>
                  <a:pt x="231652" y="620217"/>
                </a:lnTo>
                <a:lnTo>
                  <a:pt x="196313" y="604237"/>
                </a:lnTo>
                <a:lnTo>
                  <a:pt x="133640" y="570849"/>
                </a:lnTo>
                <a:lnTo>
                  <a:pt x="82189" y="535708"/>
                </a:lnTo>
                <a:lnTo>
                  <a:pt x="42620" y="498999"/>
                </a:lnTo>
                <a:lnTo>
                  <a:pt x="15590" y="460906"/>
                </a:lnTo>
                <a:lnTo>
                  <a:pt x="1759" y="421613"/>
                </a:lnTo>
                <a:lnTo>
                  <a:pt x="0" y="401574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1574" y="1582674"/>
            <a:ext cx="1390015" cy="725805"/>
          </a:xfrm>
          <a:custGeom>
            <a:avLst/>
            <a:gdLst/>
            <a:ahLst/>
            <a:cxnLst/>
            <a:rect l="l" t="t" r="r" b="b"/>
            <a:pathLst>
              <a:path w="1390014" h="725805">
                <a:moveTo>
                  <a:pt x="0" y="0"/>
                </a:moveTo>
                <a:lnTo>
                  <a:pt x="1389888" y="7254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1000" y="1562100"/>
          <a:ext cx="8477250" cy="3848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0650"/>
                <a:gridCol w="1809750"/>
                <a:gridCol w="1943100"/>
                <a:gridCol w="1273175"/>
                <a:gridCol w="2003425"/>
              </a:tblGrid>
              <a:tr h="762000">
                <a:tc>
                  <a:txBody>
                    <a:bodyPr/>
                    <a:lstStyle/>
                    <a:p>
                      <a:pPr algn="ctr" marR="26034">
                        <a:lnSpc>
                          <a:spcPts val="2105"/>
                        </a:lnSpc>
                        <a:spcBef>
                          <a:spcPts val="1680"/>
                        </a:spcBef>
                        <a:tabLst>
                          <a:tab pos="640715" algn="l"/>
                        </a:tabLst>
                      </a:pP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sta	</a:t>
                      </a:r>
                      <a:r>
                        <a:rPr dirty="0" baseline="35590" sz="4800" spc="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baseline="40540" sz="2775" spc="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40540" sz="2775">
                        <a:latin typeface="Times New Roman"/>
                        <a:cs typeface="Times New Roman"/>
                      </a:endParaRPr>
                    </a:p>
                    <a:p>
                      <a:pPr algn="ctr" marL="28575">
                        <a:lnSpc>
                          <a:spcPts val="1655"/>
                        </a:lnSpc>
                      </a:pP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33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28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48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00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spc="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4806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2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354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2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48069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2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481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2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49149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35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22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spc="-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spc="-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1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481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goto(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0833" sz="2400" spc="-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1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0833" sz="2400" spc="-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023107" y="882472"/>
            <a:ext cx="38068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3200" spc="-8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8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32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(Goto)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040" y="5614822"/>
            <a:ext cx="53193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4550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4550" sz="3150" spc="35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-8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14550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4550" sz="315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非终结符集；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8273" y="1114806"/>
            <a:ext cx="5414010" cy="1519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05"/>
              </a:spcBef>
              <a:tabLst>
                <a:tab pos="833755" algn="l"/>
              </a:tabLst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j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移进：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状态压入状态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空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不会出现的情况，没有动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340" y="1554861"/>
            <a:ext cx="25133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goto(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X</a:t>
            </a:r>
            <a:r>
              <a:rPr dirty="0" baseline="-21164" sz="3150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38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02457" y="1448561"/>
            <a:ext cx="170815" cy="984885"/>
          </a:xfrm>
          <a:custGeom>
            <a:avLst/>
            <a:gdLst/>
            <a:ahLst/>
            <a:cxnLst/>
            <a:rect l="l" t="t" r="r" b="b"/>
            <a:pathLst>
              <a:path w="170814" h="984885">
                <a:moveTo>
                  <a:pt x="170687" y="984503"/>
                </a:moveTo>
                <a:lnTo>
                  <a:pt x="137475" y="978019"/>
                </a:lnTo>
                <a:lnTo>
                  <a:pt x="110347" y="960342"/>
                </a:lnTo>
                <a:lnTo>
                  <a:pt x="92053" y="934140"/>
                </a:lnTo>
                <a:lnTo>
                  <a:pt x="85343" y="902080"/>
                </a:lnTo>
                <a:lnTo>
                  <a:pt x="85343" y="574675"/>
                </a:lnTo>
                <a:lnTo>
                  <a:pt x="78634" y="542615"/>
                </a:lnTo>
                <a:lnTo>
                  <a:pt x="60340" y="516413"/>
                </a:lnTo>
                <a:lnTo>
                  <a:pt x="33212" y="498736"/>
                </a:lnTo>
                <a:lnTo>
                  <a:pt x="0" y="492251"/>
                </a:lnTo>
                <a:lnTo>
                  <a:pt x="33212" y="485767"/>
                </a:lnTo>
                <a:lnTo>
                  <a:pt x="60340" y="468090"/>
                </a:lnTo>
                <a:lnTo>
                  <a:pt x="78634" y="441888"/>
                </a:lnTo>
                <a:lnTo>
                  <a:pt x="85343" y="409828"/>
                </a:lnTo>
                <a:lnTo>
                  <a:pt x="85343" y="82423"/>
                </a:lnTo>
                <a:lnTo>
                  <a:pt x="92053" y="50363"/>
                </a:lnTo>
                <a:lnTo>
                  <a:pt x="110347" y="24161"/>
                </a:lnTo>
                <a:lnTo>
                  <a:pt x="137475" y="6484"/>
                </a:lnTo>
                <a:lnTo>
                  <a:pt x="1706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7773" y="3946397"/>
            <a:ext cx="8438388" cy="17998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7773" y="3946397"/>
            <a:ext cx="8438515" cy="1800225"/>
          </a:xfrm>
          <a:custGeom>
            <a:avLst/>
            <a:gdLst/>
            <a:ahLst/>
            <a:cxnLst/>
            <a:rect l="l" t="t" r="r" b="b"/>
            <a:pathLst>
              <a:path w="8438515" h="1800225">
                <a:moveTo>
                  <a:pt x="0" y="1799843"/>
                </a:moveTo>
                <a:lnTo>
                  <a:pt x="8438388" y="1799843"/>
                </a:lnTo>
                <a:lnTo>
                  <a:pt x="8438388" y="0"/>
                </a:lnTo>
                <a:lnTo>
                  <a:pt x="0" y="0"/>
                </a:lnTo>
                <a:lnTo>
                  <a:pt x="0" y="179984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9742" y="3818098"/>
            <a:ext cx="8000365" cy="190309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5"/>
              </a:spcBef>
              <a:tabLst>
                <a:tab pos="713105" algn="l"/>
              </a:tabLst>
            </a:pPr>
            <a:r>
              <a:rPr dirty="0" sz="2800" spc="-5">
                <a:solidFill>
                  <a:srgbClr val="FF00FF"/>
                </a:solidFill>
                <a:latin typeface="Wingdings"/>
                <a:cs typeface="Wingdings"/>
              </a:rPr>
              <a:t></a:t>
            </a:r>
            <a:r>
              <a:rPr dirty="0" sz="2800" spc="-5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850265">
              <a:lnSpc>
                <a:spcPct val="100000"/>
              </a:lnSpc>
              <a:spcBef>
                <a:spcPts val="765"/>
              </a:spcBef>
            </a:pPr>
            <a:r>
              <a:rPr dirty="0" sz="3200" b="1">
                <a:latin typeface="Times New Roman"/>
                <a:cs typeface="Times New Roman"/>
              </a:rPr>
              <a:t>goto(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spc="5" b="1" i="1"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latin typeface="Times New Roman"/>
                <a:cs typeface="Times New Roman"/>
              </a:rPr>
              <a:t>i</a:t>
            </a:r>
            <a:r>
              <a:rPr dirty="0" baseline="-21164" sz="3150" spc="382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, </a:t>
            </a:r>
            <a:r>
              <a:rPr dirty="0" sz="3200" spc="5" b="1" i="1">
                <a:latin typeface="Times New Roman"/>
                <a:cs typeface="Times New Roman"/>
              </a:rPr>
              <a:t>X</a:t>
            </a:r>
            <a:r>
              <a:rPr dirty="0" baseline="-21164" sz="3150" spc="7" b="1" i="1">
                <a:latin typeface="Times New Roman"/>
                <a:cs typeface="Times New Roman"/>
              </a:rPr>
              <a:t>i</a:t>
            </a:r>
            <a:r>
              <a:rPr dirty="0" baseline="-21164" sz="315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宋体"/>
                <a:cs typeface="宋体"/>
              </a:rPr>
              <a:t>的</a:t>
            </a:r>
            <a:r>
              <a:rPr dirty="0" sz="3200" b="1" i="1">
                <a:latin typeface="Times New Roman"/>
                <a:cs typeface="Times New Roman"/>
              </a:rPr>
              <a:t>Q</a:t>
            </a:r>
            <a:r>
              <a:rPr dirty="0" baseline="-21164" sz="3150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宋体"/>
                <a:cs typeface="宋体"/>
              </a:rPr>
              <a:t>、</a:t>
            </a:r>
            <a:r>
              <a:rPr dirty="0" sz="3200" spc="5" b="1" i="1">
                <a:latin typeface="Times New Roman"/>
                <a:cs typeface="Times New Roman"/>
              </a:rPr>
              <a:t>X</a:t>
            </a:r>
            <a:r>
              <a:rPr dirty="0" baseline="-21164" sz="3150" spc="7" b="1" i="1">
                <a:latin typeface="Times New Roman"/>
                <a:cs typeface="Times New Roman"/>
              </a:rPr>
              <a:t>i</a:t>
            </a:r>
            <a:r>
              <a:rPr dirty="0" baseline="-21164" sz="3150" spc="-15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宋体"/>
                <a:cs typeface="宋体"/>
              </a:rPr>
              <a:t>意指当前栈顶</a:t>
            </a:r>
            <a:r>
              <a:rPr dirty="0" sz="3200" spc="-10" b="1">
                <a:latin typeface="宋体"/>
                <a:cs typeface="宋体"/>
              </a:rPr>
              <a:t>的</a:t>
            </a:r>
            <a:r>
              <a:rPr dirty="0" sz="3200" spc="5" b="1" i="1">
                <a:latin typeface="Times New Roman"/>
                <a:cs typeface="Times New Roman"/>
              </a:rPr>
              <a:t>X</a:t>
            </a:r>
            <a:r>
              <a:rPr dirty="0" baseline="-21164" sz="3150" spc="7" b="1" i="1">
                <a:latin typeface="Times New Roman"/>
                <a:cs typeface="Times New Roman"/>
              </a:rPr>
              <a:t>i</a:t>
            </a:r>
            <a:endParaRPr baseline="-21164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730"/>
              </a:spcBef>
            </a:pPr>
            <a:r>
              <a:rPr dirty="0" sz="3200" b="1">
                <a:latin typeface="宋体"/>
                <a:cs typeface="宋体"/>
              </a:rPr>
              <a:t>和次栈顶的</a:t>
            </a:r>
            <a:r>
              <a:rPr dirty="0" sz="3200" b="1" i="1">
                <a:latin typeface="Times New Roman"/>
                <a:cs typeface="Times New Roman"/>
              </a:rPr>
              <a:t>Q</a:t>
            </a:r>
            <a:r>
              <a:rPr dirty="0" baseline="-21164" sz="3150" b="1" i="1">
                <a:latin typeface="Times New Roman"/>
                <a:cs typeface="Times New Roman"/>
              </a:rPr>
              <a:t>i</a:t>
            </a:r>
            <a:r>
              <a:rPr dirty="0" sz="3200" b="1">
                <a:latin typeface="宋体"/>
                <a:cs typeface="宋体"/>
              </a:rPr>
              <a:t>元素。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3973" y="1582674"/>
            <a:ext cx="1390015" cy="725805"/>
          </a:xfrm>
          <a:custGeom>
            <a:avLst/>
            <a:gdLst/>
            <a:ahLst/>
            <a:cxnLst/>
            <a:rect l="l" t="t" r="r" b="b"/>
            <a:pathLst>
              <a:path w="1390014" h="725805">
                <a:moveTo>
                  <a:pt x="0" y="0"/>
                </a:moveTo>
                <a:lnTo>
                  <a:pt x="1389888" y="7254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3400" y="1562100"/>
          <a:ext cx="8248650" cy="3848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0650"/>
                <a:gridCol w="1809750"/>
                <a:gridCol w="1943100"/>
                <a:gridCol w="1273175"/>
                <a:gridCol w="1774825"/>
              </a:tblGrid>
              <a:tr h="762000">
                <a:tc>
                  <a:txBody>
                    <a:bodyPr/>
                    <a:lstStyle/>
                    <a:p>
                      <a:pPr algn="ctr" marR="52705">
                        <a:lnSpc>
                          <a:spcPts val="2105"/>
                        </a:lnSpc>
                        <a:spcBef>
                          <a:spcPts val="1680"/>
                        </a:spcBef>
                        <a:tabLst>
                          <a:tab pos="640715" algn="l"/>
                        </a:tabLst>
                      </a:pP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sta	</a:t>
                      </a:r>
                      <a:r>
                        <a:rPr dirty="0" baseline="35590" sz="4800" spc="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baseline="40540" sz="2775" spc="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baseline="40540" sz="2775">
                        <a:latin typeface="Times New Roman"/>
                        <a:cs typeface="Times New Roman"/>
                      </a:endParaRPr>
                    </a:p>
                    <a:p>
                      <a:pPr algn="ctr" marL="29209">
                        <a:lnSpc>
                          <a:spcPts val="1655"/>
                        </a:lnSpc>
                      </a:pP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33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28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48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114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4806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0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0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2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354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0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</a:t>
                      </a:r>
                      <a:r>
                        <a:rPr dirty="0" sz="2400" spc="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(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spc="7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0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n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48069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2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481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0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</a:t>
                      </a:r>
                      <a:r>
                        <a:rPr dirty="0" sz="2400" spc="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(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spc="7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n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49149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35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n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1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action(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n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2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481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action</a:t>
                      </a:r>
                      <a:r>
                        <a:rPr dirty="0" sz="2400" spc="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(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Q</a:t>
                      </a:r>
                      <a:r>
                        <a:rPr dirty="0" baseline="-20833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n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,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a</a:t>
                      </a:r>
                      <a:r>
                        <a:rPr dirty="0" baseline="-20833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n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  <a:hlinkClick r:id="rId2" action="ppaction://hlinksldjump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65830" y="914222"/>
            <a:ext cx="42017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8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3200" spc="-8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3200" spc="-8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7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(Action)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72411" y="2247900"/>
            <a:ext cx="7200900" cy="3048000"/>
          </a:xfrm>
          <a:custGeom>
            <a:avLst/>
            <a:gdLst/>
            <a:ahLst/>
            <a:cxnLst/>
            <a:rect l="l" t="t" r="r" b="b"/>
            <a:pathLst>
              <a:path w="7200900" h="3048000">
                <a:moveTo>
                  <a:pt x="0" y="1524000"/>
                </a:moveTo>
                <a:lnTo>
                  <a:pt x="2374" y="1468133"/>
                </a:lnTo>
                <a:lnTo>
                  <a:pt x="9444" y="1412772"/>
                </a:lnTo>
                <a:lnTo>
                  <a:pt x="21127" y="1357952"/>
                </a:lnTo>
                <a:lnTo>
                  <a:pt x="37342" y="1303708"/>
                </a:lnTo>
                <a:lnTo>
                  <a:pt x="58009" y="1250073"/>
                </a:lnTo>
                <a:lnTo>
                  <a:pt x="83045" y="1197082"/>
                </a:lnTo>
                <a:lnTo>
                  <a:pt x="112369" y="1144769"/>
                </a:lnTo>
                <a:lnTo>
                  <a:pt x="145900" y="1093170"/>
                </a:lnTo>
                <a:lnTo>
                  <a:pt x="183556" y="1042318"/>
                </a:lnTo>
                <a:lnTo>
                  <a:pt x="225257" y="992248"/>
                </a:lnTo>
                <a:lnTo>
                  <a:pt x="270920" y="942994"/>
                </a:lnTo>
                <a:lnTo>
                  <a:pt x="320465" y="894591"/>
                </a:lnTo>
                <a:lnTo>
                  <a:pt x="373810" y="847073"/>
                </a:lnTo>
                <a:lnTo>
                  <a:pt x="430873" y="800475"/>
                </a:lnTo>
                <a:lnTo>
                  <a:pt x="491574" y="754831"/>
                </a:lnTo>
                <a:lnTo>
                  <a:pt x="523263" y="732378"/>
                </a:lnTo>
                <a:lnTo>
                  <a:pt x="555831" y="710176"/>
                </a:lnTo>
                <a:lnTo>
                  <a:pt x="589268" y="688229"/>
                </a:lnTo>
                <a:lnTo>
                  <a:pt x="623563" y="666543"/>
                </a:lnTo>
                <a:lnTo>
                  <a:pt x="658706" y="645121"/>
                </a:lnTo>
                <a:lnTo>
                  <a:pt x="694687" y="623968"/>
                </a:lnTo>
                <a:lnTo>
                  <a:pt x="731497" y="603087"/>
                </a:lnTo>
                <a:lnTo>
                  <a:pt x="769124" y="582484"/>
                </a:lnTo>
                <a:lnTo>
                  <a:pt x="807559" y="562163"/>
                </a:lnTo>
                <a:lnTo>
                  <a:pt x="846792" y="542127"/>
                </a:lnTo>
                <a:lnTo>
                  <a:pt x="886811" y="522382"/>
                </a:lnTo>
                <a:lnTo>
                  <a:pt x="927608" y="502931"/>
                </a:lnTo>
                <a:lnTo>
                  <a:pt x="969172" y="483779"/>
                </a:lnTo>
                <a:lnTo>
                  <a:pt x="1011493" y="464930"/>
                </a:lnTo>
                <a:lnTo>
                  <a:pt x="1054560" y="446389"/>
                </a:lnTo>
                <a:lnTo>
                  <a:pt x="1098364" y="428159"/>
                </a:lnTo>
                <a:lnTo>
                  <a:pt x="1142894" y="410245"/>
                </a:lnTo>
                <a:lnTo>
                  <a:pt x="1188140" y="392651"/>
                </a:lnTo>
                <a:lnTo>
                  <a:pt x="1234092" y="375383"/>
                </a:lnTo>
                <a:lnTo>
                  <a:pt x="1280740" y="358443"/>
                </a:lnTo>
                <a:lnTo>
                  <a:pt x="1328073" y="341836"/>
                </a:lnTo>
                <a:lnTo>
                  <a:pt x="1376082" y="325567"/>
                </a:lnTo>
                <a:lnTo>
                  <a:pt x="1424756" y="309639"/>
                </a:lnTo>
                <a:lnTo>
                  <a:pt x="1474085" y="294058"/>
                </a:lnTo>
                <a:lnTo>
                  <a:pt x="1524060" y="278828"/>
                </a:lnTo>
                <a:lnTo>
                  <a:pt x="1574669" y="263952"/>
                </a:lnTo>
                <a:lnTo>
                  <a:pt x="1625902" y="249435"/>
                </a:lnTo>
                <a:lnTo>
                  <a:pt x="1677750" y="235281"/>
                </a:lnTo>
                <a:lnTo>
                  <a:pt x="1730202" y="221496"/>
                </a:lnTo>
                <a:lnTo>
                  <a:pt x="1783249" y="208082"/>
                </a:lnTo>
                <a:lnTo>
                  <a:pt x="1836879" y="195044"/>
                </a:lnTo>
                <a:lnTo>
                  <a:pt x="1891083" y="182388"/>
                </a:lnTo>
                <a:lnTo>
                  <a:pt x="1945851" y="170116"/>
                </a:lnTo>
                <a:lnTo>
                  <a:pt x="2001172" y="158233"/>
                </a:lnTo>
                <a:lnTo>
                  <a:pt x="2057036" y="146744"/>
                </a:lnTo>
                <a:lnTo>
                  <a:pt x="2113433" y="135652"/>
                </a:lnTo>
                <a:lnTo>
                  <a:pt x="2170353" y="124963"/>
                </a:lnTo>
                <a:lnTo>
                  <a:pt x="2227786" y="114680"/>
                </a:lnTo>
                <a:lnTo>
                  <a:pt x="2285722" y="104808"/>
                </a:lnTo>
                <a:lnTo>
                  <a:pt x="2344150" y="95351"/>
                </a:lnTo>
                <a:lnTo>
                  <a:pt x="2403060" y="86313"/>
                </a:lnTo>
                <a:lnTo>
                  <a:pt x="2462442" y="77699"/>
                </a:lnTo>
                <a:lnTo>
                  <a:pt x="2522286" y="69513"/>
                </a:lnTo>
                <a:lnTo>
                  <a:pt x="2582582" y="61759"/>
                </a:lnTo>
                <a:lnTo>
                  <a:pt x="2643319" y="54442"/>
                </a:lnTo>
                <a:lnTo>
                  <a:pt x="2704488" y="47566"/>
                </a:lnTo>
                <a:lnTo>
                  <a:pt x="2766078" y="41134"/>
                </a:lnTo>
                <a:lnTo>
                  <a:pt x="2828079" y="35153"/>
                </a:lnTo>
                <a:lnTo>
                  <a:pt x="2890481" y="29625"/>
                </a:lnTo>
                <a:lnTo>
                  <a:pt x="2953273" y="24555"/>
                </a:lnTo>
                <a:lnTo>
                  <a:pt x="3016446" y="19948"/>
                </a:lnTo>
                <a:lnTo>
                  <a:pt x="3079990" y="15807"/>
                </a:lnTo>
                <a:lnTo>
                  <a:pt x="3143893" y="12137"/>
                </a:lnTo>
                <a:lnTo>
                  <a:pt x="3208147" y="8943"/>
                </a:lnTo>
                <a:lnTo>
                  <a:pt x="3272740" y="6228"/>
                </a:lnTo>
                <a:lnTo>
                  <a:pt x="3337663" y="3997"/>
                </a:lnTo>
                <a:lnTo>
                  <a:pt x="3402906" y="2255"/>
                </a:lnTo>
                <a:lnTo>
                  <a:pt x="3468458" y="1005"/>
                </a:lnTo>
                <a:lnTo>
                  <a:pt x="3534309" y="252"/>
                </a:lnTo>
                <a:lnTo>
                  <a:pt x="3600450" y="0"/>
                </a:lnTo>
                <a:lnTo>
                  <a:pt x="3666590" y="252"/>
                </a:lnTo>
                <a:lnTo>
                  <a:pt x="3732441" y="1005"/>
                </a:lnTo>
                <a:lnTo>
                  <a:pt x="3797993" y="2255"/>
                </a:lnTo>
                <a:lnTo>
                  <a:pt x="3863236" y="3997"/>
                </a:lnTo>
                <a:lnTo>
                  <a:pt x="3928159" y="6228"/>
                </a:lnTo>
                <a:lnTo>
                  <a:pt x="3992752" y="8943"/>
                </a:lnTo>
                <a:lnTo>
                  <a:pt x="4057006" y="12137"/>
                </a:lnTo>
                <a:lnTo>
                  <a:pt x="4120909" y="15807"/>
                </a:lnTo>
                <a:lnTo>
                  <a:pt x="4184453" y="19948"/>
                </a:lnTo>
                <a:lnTo>
                  <a:pt x="4247626" y="24555"/>
                </a:lnTo>
                <a:lnTo>
                  <a:pt x="4310418" y="29625"/>
                </a:lnTo>
                <a:lnTo>
                  <a:pt x="4372820" y="35153"/>
                </a:lnTo>
                <a:lnTo>
                  <a:pt x="4434821" y="41134"/>
                </a:lnTo>
                <a:lnTo>
                  <a:pt x="4496411" y="47566"/>
                </a:lnTo>
                <a:lnTo>
                  <a:pt x="4557580" y="54442"/>
                </a:lnTo>
                <a:lnTo>
                  <a:pt x="4618317" y="61759"/>
                </a:lnTo>
                <a:lnTo>
                  <a:pt x="4678613" y="69513"/>
                </a:lnTo>
                <a:lnTo>
                  <a:pt x="4738457" y="77699"/>
                </a:lnTo>
                <a:lnTo>
                  <a:pt x="4797839" y="86313"/>
                </a:lnTo>
                <a:lnTo>
                  <a:pt x="4856749" y="95351"/>
                </a:lnTo>
                <a:lnTo>
                  <a:pt x="4915177" y="104808"/>
                </a:lnTo>
                <a:lnTo>
                  <a:pt x="4973113" y="114680"/>
                </a:lnTo>
                <a:lnTo>
                  <a:pt x="5030546" y="124963"/>
                </a:lnTo>
                <a:lnTo>
                  <a:pt x="5087466" y="135652"/>
                </a:lnTo>
                <a:lnTo>
                  <a:pt x="5143863" y="146744"/>
                </a:lnTo>
                <a:lnTo>
                  <a:pt x="5199727" y="158233"/>
                </a:lnTo>
                <a:lnTo>
                  <a:pt x="5255048" y="170116"/>
                </a:lnTo>
                <a:lnTo>
                  <a:pt x="5309816" y="182388"/>
                </a:lnTo>
                <a:lnTo>
                  <a:pt x="5364020" y="195044"/>
                </a:lnTo>
                <a:lnTo>
                  <a:pt x="5417650" y="208082"/>
                </a:lnTo>
                <a:lnTo>
                  <a:pt x="5470697" y="221496"/>
                </a:lnTo>
                <a:lnTo>
                  <a:pt x="5523149" y="235281"/>
                </a:lnTo>
                <a:lnTo>
                  <a:pt x="5574997" y="249435"/>
                </a:lnTo>
                <a:lnTo>
                  <a:pt x="5626230" y="263952"/>
                </a:lnTo>
                <a:lnTo>
                  <a:pt x="5676839" y="278828"/>
                </a:lnTo>
                <a:lnTo>
                  <a:pt x="5726814" y="294058"/>
                </a:lnTo>
                <a:lnTo>
                  <a:pt x="5776143" y="309639"/>
                </a:lnTo>
                <a:lnTo>
                  <a:pt x="5824817" y="325567"/>
                </a:lnTo>
                <a:lnTo>
                  <a:pt x="5872826" y="341836"/>
                </a:lnTo>
                <a:lnTo>
                  <a:pt x="5920159" y="358443"/>
                </a:lnTo>
                <a:lnTo>
                  <a:pt x="5966807" y="375383"/>
                </a:lnTo>
                <a:lnTo>
                  <a:pt x="6012759" y="392651"/>
                </a:lnTo>
                <a:lnTo>
                  <a:pt x="6058005" y="410245"/>
                </a:lnTo>
                <a:lnTo>
                  <a:pt x="6102535" y="428159"/>
                </a:lnTo>
                <a:lnTo>
                  <a:pt x="6146339" y="446389"/>
                </a:lnTo>
                <a:lnTo>
                  <a:pt x="6189406" y="464930"/>
                </a:lnTo>
                <a:lnTo>
                  <a:pt x="6231727" y="483779"/>
                </a:lnTo>
                <a:lnTo>
                  <a:pt x="6273291" y="502931"/>
                </a:lnTo>
                <a:lnTo>
                  <a:pt x="6314088" y="522382"/>
                </a:lnTo>
                <a:lnTo>
                  <a:pt x="6354107" y="542127"/>
                </a:lnTo>
                <a:lnTo>
                  <a:pt x="6393340" y="562163"/>
                </a:lnTo>
                <a:lnTo>
                  <a:pt x="6431775" y="582484"/>
                </a:lnTo>
                <a:lnTo>
                  <a:pt x="6469402" y="603087"/>
                </a:lnTo>
                <a:lnTo>
                  <a:pt x="6506212" y="623968"/>
                </a:lnTo>
                <a:lnTo>
                  <a:pt x="6542193" y="645121"/>
                </a:lnTo>
                <a:lnTo>
                  <a:pt x="6577336" y="666543"/>
                </a:lnTo>
                <a:lnTo>
                  <a:pt x="6611631" y="688229"/>
                </a:lnTo>
                <a:lnTo>
                  <a:pt x="6645068" y="710176"/>
                </a:lnTo>
                <a:lnTo>
                  <a:pt x="6677636" y="732378"/>
                </a:lnTo>
                <a:lnTo>
                  <a:pt x="6709325" y="754831"/>
                </a:lnTo>
                <a:lnTo>
                  <a:pt x="6740125" y="777532"/>
                </a:lnTo>
                <a:lnTo>
                  <a:pt x="6799017" y="823657"/>
                </a:lnTo>
                <a:lnTo>
                  <a:pt x="6854232" y="870719"/>
                </a:lnTo>
                <a:lnTo>
                  <a:pt x="6905687" y="918684"/>
                </a:lnTo>
                <a:lnTo>
                  <a:pt x="6953301" y="967517"/>
                </a:lnTo>
                <a:lnTo>
                  <a:pt x="6996993" y="1017183"/>
                </a:lnTo>
                <a:lnTo>
                  <a:pt x="7036682" y="1067648"/>
                </a:lnTo>
                <a:lnTo>
                  <a:pt x="7072286" y="1118878"/>
                </a:lnTo>
                <a:lnTo>
                  <a:pt x="7103723" y="1170838"/>
                </a:lnTo>
                <a:lnTo>
                  <a:pt x="7130913" y="1223494"/>
                </a:lnTo>
                <a:lnTo>
                  <a:pt x="7153775" y="1276812"/>
                </a:lnTo>
                <a:lnTo>
                  <a:pt x="7172226" y="1330756"/>
                </a:lnTo>
                <a:lnTo>
                  <a:pt x="7186185" y="1385292"/>
                </a:lnTo>
                <a:lnTo>
                  <a:pt x="7195572" y="1440387"/>
                </a:lnTo>
                <a:lnTo>
                  <a:pt x="7200304" y="1496005"/>
                </a:lnTo>
                <a:lnTo>
                  <a:pt x="7200900" y="1524000"/>
                </a:lnTo>
                <a:lnTo>
                  <a:pt x="7200304" y="1551994"/>
                </a:lnTo>
                <a:lnTo>
                  <a:pt x="7195572" y="1607612"/>
                </a:lnTo>
                <a:lnTo>
                  <a:pt x="7186185" y="1662707"/>
                </a:lnTo>
                <a:lnTo>
                  <a:pt x="7172226" y="1717243"/>
                </a:lnTo>
                <a:lnTo>
                  <a:pt x="7153775" y="1771187"/>
                </a:lnTo>
                <a:lnTo>
                  <a:pt x="7130913" y="1824505"/>
                </a:lnTo>
                <a:lnTo>
                  <a:pt x="7103723" y="1877161"/>
                </a:lnTo>
                <a:lnTo>
                  <a:pt x="7072286" y="1929121"/>
                </a:lnTo>
                <a:lnTo>
                  <a:pt x="7036682" y="1980351"/>
                </a:lnTo>
                <a:lnTo>
                  <a:pt x="6996993" y="2030816"/>
                </a:lnTo>
                <a:lnTo>
                  <a:pt x="6953301" y="2080482"/>
                </a:lnTo>
                <a:lnTo>
                  <a:pt x="6905687" y="2129315"/>
                </a:lnTo>
                <a:lnTo>
                  <a:pt x="6854232" y="2177280"/>
                </a:lnTo>
                <a:lnTo>
                  <a:pt x="6799017" y="2224342"/>
                </a:lnTo>
                <a:lnTo>
                  <a:pt x="6740125" y="2270467"/>
                </a:lnTo>
                <a:lnTo>
                  <a:pt x="6709325" y="2293168"/>
                </a:lnTo>
                <a:lnTo>
                  <a:pt x="6677636" y="2315621"/>
                </a:lnTo>
                <a:lnTo>
                  <a:pt x="6645068" y="2337823"/>
                </a:lnTo>
                <a:lnTo>
                  <a:pt x="6611631" y="2359770"/>
                </a:lnTo>
                <a:lnTo>
                  <a:pt x="6577336" y="2381456"/>
                </a:lnTo>
                <a:lnTo>
                  <a:pt x="6542193" y="2402878"/>
                </a:lnTo>
                <a:lnTo>
                  <a:pt x="6506212" y="2424031"/>
                </a:lnTo>
                <a:lnTo>
                  <a:pt x="6469402" y="2444912"/>
                </a:lnTo>
                <a:lnTo>
                  <a:pt x="6431775" y="2465515"/>
                </a:lnTo>
                <a:lnTo>
                  <a:pt x="6393340" y="2485836"/>
                </a:lnTo>
                <a:lnTo>
                  <a:pt x="6354107" y="2505872"/>
                </a:lnTo>
                <a:lnTo>
                  <a:pt x="6314088" y="2525617"/>
                </a:lnTo>
                <a:lnTo>
                  <a:pt x="6273291" y="2545068"/>
                </a:lnTo>
                <a:lnTo>
                  <a:pt x="6231727" y="2564220"/>
                </a:lnTo>
                <a:lnTo>
                  <a:pt x="6189406" y="2583069"/>
                </a:lnTo>
                <a:lnTo>
                  <a:pt x="6146339" y="2601610"/>
                </a:lnTo>
                <a:lnTo>
                  <a:pt x="6102535" y="2619840"/>
                </a:lnTo>
                <a:lnTo>
                  <a:pt x="6058005" y="2637754"/>
                </a:lnTo>
                <a:lnTo>
                  <a:pt x="6012759" y="2655348"/>
                </a:lnTo>
                <a:lnTo>
                  <a:pt x="5966807" y="2672616"/>
                </a:lnTo>
                <a:lnTo>
                  <a:pt x="5920159" y="2689556"/>
                </a:lnTo>
                <a:lnTo>
                  <a:pt x="5872826" y="2706163"/>
                </a:lnTo>
                <a:lnTo>
                  <a:pt x="5824817" y="2722432"/>
                </a:lnTo>
                <a:lnTo>
                  <a:pt x="5776143" y="2738360"/>
                </a:lnTo>
                <a:lnTo>
                  <a:pt x="5726814" y="2753941"/>
                </a:lnTo>
                <a:lnTo>
                  <a:pt x="5676839" y="2769171"/>
                </a:lnTo>
                <a:lnTo>
                  <a:pt x="5626230" y="2784047"/>
                </a:lnTo>
                <a:lnTo>
                  <a:pt x="5574997" y="2798564"/>
                </a:lnTo>
                <a:lnTo>
                  <a:pt x="5523149" y="2812718"/>
                </a:lnTo>
                <a:lnTo>
                  <a:pt x="5470697" y="2826503"/>
                </a:lnTo>
                <a:lnTo>
                  <a:pt x="5417650" y="2839917"/>
                </a:lnTo>
                <a:lnTo>
                  <a:pt x="5364020" y="2852955"/>
                </a:lnTo>
                <a:lnTo>
                  <a:pt x="5309816" y="2865611"/>
                </a:lnTo>
                <a:lnTo>
                  <a:pt x="5255048" y="2877883"/>
                </a:lnTo>
                <a:lnTo>
                  <a:pt x="5199727" y="2889766"/>
                </a:lnTo>
                <a:lnTo>
                  <a:pt x="5143863" y="2901255"/>
                </a:lnTo>
                <a:lnTo>
                  <a:pt x="5087466" y="2912347"/>
                </a:lnTo>
                <a:lnTo>
                  <a:pt x="5030546" y="2923036"/>
                </a:lnTo>
                <a:lnTo>
                  <a:pt x="4973113" y="2933319"/>
                </a:lnTo>
                <a:lnTo>
                  <a:pt x="4915177" y="2943191"/>
                </a:lnTo>
                <a:lnTo>
                  <a:pt x="4856749" y="2952648"/>
                </a:lnTo>
                <a:lnTo>
                  <a:pt x="4797839" y="2961686"/>
                </a:lnTo>
                <a:lnTo>
                  <a:pt x="4738457" y="2970300"/>
                </a:lnTo>
                <a:lnTo>
                  <a:pt x="4678613" y="2978486"/>
                </a:lnTo>
                <a:lnTo>
                  <a:pt x="4618317" y="2986240"/>
                </a:lnTo>
                <a:lnTo>
                  <a:pt x="4557580" y="2993557"/>
                </a:lnTo>
                <a:lnTo>
                  <a:pt x="4496411" y="3000433"/>
                </a:lnTo>
                <a:lnTo>
                  <a:pt x="4434821" y="3006865"/>
                </a:lnTo>
                <a:lnTo>
                  <a:pt x="4372820" y="3012846"/>
                </a:lnTo>
                <a:lnTo>
                  <a:pt x="4310418" y="3018374"/>
                </a:lnTo>
                <a:lnTo>
                  <a:pt x="4247626" y="3023444"/>
                </a:lnTo>
                <a:lnTo>
                  <a:pt x="4184453" y="3028051"/>
                </a:lnTo>
                <a:lnTo>
                  <a:pt x="4120909" y="3032192"/>
                </a:lnTo>
                <a:lnTo>
                  <a:pt x="4057006" y="3035862"/>
                </a:lnTo>
                <a:lnTo>
                  <a:pt x="3992752" y="3039056"/>
                </a:lnTo>
                <a:lnTo>
                  <a:pt x="3928159" y="3041771"/>
                </a:lnTo>
                <a:lnTo>
                  <a:pt x="3863236" y="3044002"/>
                </a:lnTo>
                <a:lnTo>
                  <a:pt x="3797993" y="3045744"/>
                </a:lnTo>
                <a:lnTo>
                  <a:pt x="3732441" y="3046994"/>
                </a:lnTo>
                <a:lnTo>
                  <a:pt x="3666590" y="3047747"/>
                </a:lnTo>
                <a:lnTo>
                  <a:pt x="3600450" y="3048000"/>
                </a:lnTo>
                <a:lnTo>
                  <a:pt x="3534309" y="3047747"/>
                </a:lnTo>
                <a:lnTo>
                  <a:pt x="3468458" y="3046994"/>
                </a:lnTo>
                <a:lnTo>
                  <a:pt x="3402906" y="3045744"/>
                </a:lnTo>
                <a:lnTo>
                  <a:pt x="3337663" y="3044002"/>
                </a:lnTo>
                <a:lnTo>
                  <a:pt x="3272740" y="3041771"/>
                </a:lnTo>
                <a:lnTo>
                  <a:pt x="3208147" y="3039056"/>
                </a:lnTo>
                <a:lnTo>
                  <a:pt x="3143893" y="3035862"/>
                </a:lnTo>
                <a:lnTo>
                  <a:pt x="3079990" y="3032192"/>
                </a:lnTo>
                <a:lnTo>
                  <a:pt x="3016446" y="3028051"/>
                </a:lnTo>
                <a:lnTo>
                  <a:pt x="2953273" y="3023444"/>
                </a:lnTo>
                <a:lnTo>
                  <a:pt x="2890481" y="3018374"/>
                </a:lnTo>
                <a:lnTo>
                  <a:pt x="2828079" y="3012846"/>
                </a:lnTo>
                <a:lnTo>
                  <a:pt x="2766078" y="3006865"/>
                </a:lnTo>
                <a:lnTo>
                  <a:pt x="2704488" y="3000433"/>
                </a:lnTo>
                <a:lnTo>
                  <a:pt x="2643319" y="2993557"/>
                </a:lnTo>
                <a:lnTo>
                  <a:pt x="2582582" y="2986240"/>
                </a:lnTo>
                <a:lnTo>
                  <a:pt x="2522286" y="2978486"/>
                </a:lnTo>
                <a:lnTo>
                  <a:pt x="2462442" y="2970300"/>
                </a:lnTo>
                <a:lnTo>
                  <a:pt x="2403060" y="2961686"/>
                </a:lnTo>
                <a:lnTo>
                  <a:pt x="2344150" y="2952648"/>
                </a:lnTo>
                <a:lnTo>
                  <a:pt x="2285722" y="2943191"/>
                </a:lnTo>
                <a:lnTo>
                  <a:pt x="2227786" y="2933319"/>
                </a:lnTo>
                <a:lnTo>
                  <a:pt x="2170353" y="2923036"/>
                </a:lnTo>
                <a:lnTo>
                  <a:pt x="2113433" y="2912347"/>
                </a:lnTo>
                <a:lnTo>
                  <a:pt x="2057036" y="2901255"/>
                </a:lnTo>
                <a:lnTo>
                  <a:pt x="2001172" y="2889766"/>
                </a:lnTo>
                <a:lnTo>
                  <a:pt x="1945851" y="2877883"/>
                </a:lnTo>
                <a:lnTo>
                  <a:pt x="1891083" y="2865611"/>
                </a:lnTo>
                <a:lnTo>
                  <a:pt x="1836879" y="2852955"/>
                </a:lnTo>
                <a:lnTo>
                  <a:pt x="1783249" y="2839917"/>
                </a:lnTo>
                <a:lnTo>
                  <a:pt x="1730202" y="2826503"/>
                </a:lnTo>
                <a:lnTo>
                  <a:pt x="1677750" y="2812718"/>
                </a:lnTo>
                <a:lnTo>
                  <a:pt x="1625902" y="2798564"/>
                </a:lnTo>
                <a:lnTo>
                  <a:pt x="1574669" y="2784047"/>
                </a:lnTo>
                <a:lnTo>
                  <a:pt x="1524060" y="2769171"/>
                </a:lnTo>
                <a:lnTo>
                  <a:pt x="1474085" y="2753941"/>
                </a:lnTo>
                <a:lnTo>
                  <a:pt x="1424756" y="2738360"/>
                </a:lnTo>
                <a:lnTo>
                  <a:pt x="1376082" y="2722432"/>
                </a:lnTo>
                <a:lnTo>
                  <a:pt x="1328073" y="2706163"/>
                </a:lnTo>
                <a:lnTo>
                  <a:pt x="1280740" y="2689556"/>
                </a:lnTo>
                <a:lnTo>
                  <a:pt x="1234092" y="2672616"/>
                </a:lnTo>
                <a:lnTo>
                  <a:pt x="1188140" y="2655348"/>
                </a:lnTo>
                <a:lnTo>
                  <a:pt x="1142894" y="2637754"/>
                </a:lnTo>
                <a:lnTo>
                  <a:pt x="1098364" y="2619840"/>
                </a:lnTo>
                <a:lnTo>
                  <a:pt x="1054560" y="2601610"/>
                </a:lnTo>
                <a:lnTo>
                  <a:pt x="1011493" y="2583069"/>
                </a:lnTo>
                <a:lnTo>
                  <a:pt x="969172" y="2564220"/>
                </a:lnTo>
                <a:lnTo>
                  <a:pt x="927608" y="2545068"/>
                </a:lnTo>
                <a:lnTo>
                  <a:pt x="886811" y="2525617"/>
                </a:lnTo>
                <a:lnTo>
                  <a:pt x="846792" y="2505872"/>
                </a:lnTo>
                <a:lnTo>
                  <a:pt x="807559" y="2485836"/>
                </a:lnTo>
                <a:lnTo>
                  <a:pt x="769124" y="2465515"/>
                </a:lnTo>
                <a:lnTo>
                  <a:pt x="731497" y="2444912"/>
                </a:lnTo>
                <a:lnTo>
                  <a:pt x="694687" y="2424031"/>
                </a:lnTo>
                <a:lnTo>
                  <a:pt x="658706" y="2402878"/>
                </a:lnTo>
                <a:lnTo>
                  <a:pt x="623563" y="2381456"/>
                </a:lnTo>
                <a:lnTo>
                  <a:pt x="589268" y="2359770"/>
                </a:lnTo>
                <a:lnTo>
                  <a:pt x="555831" y="2337823"/>
                </a:lnTo>
                <a:lnTo>
                  <a:pt x="523263" y="2315621"/>
                </a:lnTo>
                <a:lnTo>
                  <a:pt x="491574" y="2293168"/>
                </a:lnTo>
                <a:lnTo>
                  <a:pt x="460774" y="2270467"/>
                </a:lnTo>
                <a:lnTo>
                  <a:pt x="401882" y="2224342"/>
                </a:lnTo>
                <a:lnTo>
                  <a:pt x="346667" y="2177280"/>
                </a:lnTo>
                <a:lnTo>
                  <a:pt x="295212" y="2129315"/>
                </a:lnTo>
                <a:lnTo>
                  <a:pt x="247598" y="2080482"/>
                </a:lnTo>
                <a:lnTo>
                  <a:pt x="203906" y="2030816"/>
                </a:lnTo>
                <a:lnTo>
                  <a:pt x="164217" y="1980351"/>
                </a:lnTo>
                <a:lnTo>
                  <a:pt x="128613" y="1929121"/>
                </a:lnTo>
                <a:lnTo>
                  <a:pt x="97176" y="1877161"/>
                </a:lnTo>
                <a:lnTo>
                  <a:pt x="69986" y="1824505"/>
                </a:lnTo>
                <a:lnTo>
                  <a:pt x="47124" y="1771187"/>
                </a:lnTo>
                <a:lnTo>
                  <a:pt x="28673" y="1717243"/>
                </a:lnTo>
                <a:lnTo>
                  <a:pt x="14714" y="1662707"/>
                </a:lnTo>
                <a:lnTo>
                  <a:pt x="5327" y="1607612"/>
                </a:lnTo>
                <a:lnTo>
                  <a:pt x="595" y="1551994"/>
                </a:lnTo>
                <a:lnTo>
                  <a:pt x="0" y="1524000"/>
                </a:lnTo>
                <a:close/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01040" y="5614822"/>
            <a:ext cx="56597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4550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4550" sz="3150" spc="35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-8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4550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4550" sz="315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终结符集或＃；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42" y="1358341"/>
            <a:ext cx="8613140" cy="1724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85160">
              <a:lnSpc>
                <a:spcPts val="3585"/>
              </a:lnSpc>
              <a:spcBef>
                <a:spcPts val="105"/>
              </a:spcBef>
              <a:tabLst>
                <a:tab pos="3817620" algn="l"/>
              </a:tabLst>
            </a:pP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Q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00FF"/>
                </a:solidFill>
                <a:latin typeface="宋体"/>
                <a:cs typeface="宋体"/>
              </a:rPr>
              <a:t>移进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0833" sz="3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状态压入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algn="ctr" marR="1313815">
              <a:lnSpc>
                <a:spcPts val="2265"/>
              </a:lnSpc>
            </a:pPr>
            <a:r>
              <a:rPr dirty="0" sz="2100" spc="10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action(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31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4254" y="1620774"/>
            <a:ext cx="216535" cy="2726690"/>
          </a:xfrm>
          <a:custGeom>
            <a:avLst/>
            <a:gdLst/>
            <a:ahLst/>
            <a:cxnLst/>
            <a:rect l="l" t="t" r="r" b="b"/>
            <a:pathLst>
              <a:path w="216535" h="2726690">
                <a:moveTo>
                  <a:pt x="216407" y="2726436"/>
                </a:moveTo>
                <a:lnTo>
                  <a:pt x="161769" y="2693637"/>
                </a:lnTo>
                <a:lnTo>
                  <a:pt x="139874" y="2656078"/>
                </a:lnTo>
                <a:lnTo>
                  <a:pt x="122964" y="2607469"/>
                </a:lnTo>
                <a:lnTo>
                  <a:pt x="112065" y="2550105"/>
                </a:lnTo>
                <a:lnTo>
                  <a:pt x="108203" y="2486279"/>
                </a:lnTo>
                <a:lnTo>
                  <a:pt x="108203" y="1603375"/>
                </a:lnTo>
                <a:lnTo>
                  <a:pt x="104342" y="1539548"/>
                </a:lnTo>
                <a:lnTo>
                  <a:pt x="93443" y="1482184"/>
                </a:lnTo>
                <a:lnTo>
                  <a:pt x="76533" y="1433576"/>
                </a:lnTo>
                <a:lnTo>
                  <a:pt x="54638" y="1396016"/>
                </a:lnTo>
                <a:lnTo>
                  <a:pt x="0" y="1363217"/>
                </a:lnTo>
                <a:lnTo>
                  <a:pt x="28784" y="1354636"/>
                </a:lnTo>
                <a:lnTo>
                  <a:pt x="76533" y="1292859"/>
                </a:lnTo>
                <a:lnTo>
                  <a:pt x="93443" y="1244251"/>
                </a:lnTo>
                <a:lnTo>
                  <a:pt x="104342" y="1186887"/>
                </a:lnTo>
                <a:lnTo>
                  <a:pt x="108203" y="1123061"/>
                </a:lnTo>
                <a:lnTo>
                  <a:pt x="108203" y="240156"/>
                </a:lnTo>
                <a:lnTo>
                  <a:pt x="112065" y="176330"/>
                </a:lnTo>
                <a:lnTo>
                  <a:pt x="122964" y="118966"/>
                </a:lnTo>
                <a:lnTo>
                  <a:pt x="139874" y="70357"/>
                </a:lnTo>
                <a:lnTo>
                  <a:pt x="161769" y="32798"/>
                </a:lnTo>
                <a:lnTo>
                  <a:pt x="187623" y="8581"/>
                </a:lnTo>
                <a:lnTo>
                  <a:pt x="2164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28637" y="1314450"/>
          <a:ext cx="3702685" cy="1219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830"/>
                <a:gridCol w="786130"/>
                <a:gridCol w="730250"/>
                <a:gridCol w="728344"/>
                <a:gridCol w="728344"/>
              </a:tblGrid>
              <a:tr h="581278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430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5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22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09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43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912870" y="3113785"/>
            <a:ext cx="1175003" cy="614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06621" y="3045523"/>
            <a:ext cx="587501" cy="455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06621" y="2999962"/>
            <a:ext cx="587501" cy="227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12870" y="3113785"/>
            <a:ext cx="1175385" cy="614680"/>
          </a:xfrm>
          <a:custGeom>
            <a:avLst/>
            <a:gdLst/>
            <a:ahLst/>
            <a:cxnLst/>
            <a:rect l="l" t="t" r="r" b="b"/>
            <a:pathLst>
              <a:path w="1175385" h="614679">
                <a:moveTo>
                  <a:pt x="1175003" y="432562"/>
                </a:moveTo>
                <a:lnTo>
                  <a:pt x="881252" y="432562"/>
                </a:lnTo>
                <a:lnTo>
                  <a:pt x="881252" y="0"/>
                </a:lnTo>
                <a:lnTo>
                  <a:pt x="293750" y="0"/>
                </a:lnTo>
                <a:lnTo>
                  <a:pt x="293750" y="432562"/>
                </a:lnTo>
                <a:lnTo>
                  <a:pt x="0" y="432562"/>
                </a:lnTo>
                <a:lnTo>
                  <a:pt x="587501" y="614680"/>
                </a:lnTo>
                <a:lnTo>
                  <a:pt x="1175003" y="43256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87571" y="3041776"/>
            <a:ext cx="626110" cy="68580"/>
          </a:xfrm>
          <a:custGeom>
            <a:avLst/>
            <a:gdLst/>
            <a:ahLst/>
            <a:cxnLst/>
            <a:rect l="l" t="t" r="r" b="b"/>
            <a:pathLst>
              <a:path w="626110" h="68580">
                <a:moveTo>
                  <a:pt x="0" y="68325"/>
                </a:moveTo>
                <a:lnTo>
                  <a:pt x="625601" y="68325"/>
                </a:lnTo>
                <a:lnTo>
                  <a:pt x="625601" y="0"/>
                </a:lnTo>
                <a:lnTo>
                  <a:pt x="0" y="0"/>
                </a:lnTo>
                <a:lnTo>
                  <a:pt x="0" y="6832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87571" y="2980912"/>
            <a:ext cx="626110" cy="60960"/>
          </a:xfrm>
          <a:custGeom>
            <a:avLst/>
            <a:gdLst/>
            <a:ahLst/>
            <a:cxnLst/>
            <a:rect l="l" t="t" r="r" b="b"/>
            <a:pathLst>
              <a:path w="626110" h="60960">
                <a:moveTo>
                  <a:pt x="0" y="60864"/>
                </a:moveTo>
                <a:lnTo>
                  <a:pt x="625601" y="60864"/>
                </a:lnTo>
                <a:lnTo>
                  <a:pt x="625601" y="0"/>
                </a:lnTo>
                <a:lnTo>
                  <a:pt x="0" y="0"/>
                </a:lnTo>
                <a:lnTo>
                  <a:pt x="0" y="6086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10756" y="1567433"/>
            <a:ext cx="114300" cy="487680"/>
          </a:xfrm>
          <a:custGeom>
            <a:avLst/>
            <a:gdLst/>
            <a:ahLst/>
            <a:cxnLst/>
            <a:rect l="l" t="t" r="r" b="b"/>
            <a:pathLst>
              <a:path w="114300" h="487680">
                <a:moveTo>
                  <a:pt x="76200" y="95250"/>
                </a:moveTo>
                <a:lnTo>
                  <a:pt x="38100" y="95250"/>
                </a:lnTo>
                <a:lnTo>
                  <a:pt x="38100" y="487679"/>
                </a:lnTo>
                <a:lnTo>
                  <a:pt x="76200" y="487679"/>
                </a:lnTo>
                <a:lnTo>
                  <a:pt x="76200" y="95250"/>
                </a:lnTo>
                <a:close/>
              </a:path>
              <a:path w="114300" h="48768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48768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25139" y="2480310"/>
            <a:ext cx="114300" cy="693420"/>
          </a:xfrm>
          <a:custGeom>
            <a:avLst/>
            <a:gdLst/>
            <a:ahLst/>
            <a:cxnLst/>
            <a:rect l="l" t="t" r="r" b="b"/>
            <a:pathLst>
              <a:path w="114300" h="693419">
                <a:moveTo>
                  <a:pt x="76200" y="95250"/>
                </a:moveTo>
                <a:lnTo>
                  <a:pt x="38100" y="95250"/>
                </a:lnTo>
                <a:lnTo>
                  <a:pt x="38100" y="693419"/>
                </a:lnTo>
                <a:lnTo>
                  <a:pt x="76200" y="693419"/>
                </a:lnTo>
                <a:lnTo>
                  <a:pt x="76200" y="95250"/>
                </a:lnTo>
                <a:close/>
              </a:path>
              <a:path w="114300" h="69341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9341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135122" y="970026"/>
            <a:ext cx="5619115" cy="26244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6720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$: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2 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… 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00"/>
                </a:solidFill>
                <a:latin typeface="Times New Roman"/>
                <a:cs typeface="Times New Roman"/>
              </a:rPr>
              <a:t>+1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1164" sz="3150" spc="202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ctr" marL="2209800">
              <a:lnSpc>
                <a:spcPct val="100000"/>
              </a:lnSpc>
              <a:spcBef>
                <a:spcPts val="222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00">
              <a:latin typeface="Times New Roman"/>
              <a:cs typeface="Times New Roman"/>
            </a:endParaRPr>
          </a:p>
          <a:p>
            <a:pPr marL="38100">
              <a:lnSpc>
                <a:spcPts val="3135"/>
              </a:lnSpc>
              <a:spcBef>
                <a:spcPts val="5"/>
              </a:spcBef>
            </a:pP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 algn="ctr" marL="2240280">
              <a:lnSpc>
                <a:spcPts val="3615"/>
              </a:lnSpc>
            </a:pP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action(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m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 =</a:t>
            </a:r>
            <a:r>
              <a:rPr dirty="0" sz="3200" spc="-15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1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baseline="-21164" sz="3150" spc="22" b="1" i="1">
                <a:solidFill>
                  <a:srgbClr val="00FFFF"/>
                </a:solidFill>
                <a:latin typeface="Times New Roman"/>
                <a:cs typeface="Times New Roman"/>
              </a:rPr>
              <a:t>Qk</a:t>
            </a:r>
            <a:endParaRPr baseline="-21164" sz="315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42912" y="4572000"/>
          <a:ext cx="3900804" cy="1219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/>
                <a:gridCol w="738505"/>
                <a:gridCol w="730250"/>
                <a:gridCol w="728344"/>
                <a:gridCol w="927099"/>
              </a:tblGrid>
              <a:tr h="581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382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  <a:tr h="6000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7335011" y="5435346"/>
            <a:ext cx="114300" cy="486409"/>
          </a:xfrm>
          <a:custGeom>
            <a:avLst/>
            <a:gdLst/>
            <a:ahLst/>
            <a:cxnLst/>
            <a:rect l="l" t="t" r="r" b="b"/>
            <a:pathLst>
              <a:path w="114300" h="486410">
                <a:moveTo>
                  <a:pt x="76200" y="95249"/>
                </a:moveTo>
                <a:lnTo>
                  <a:pt x="38100" y="95249"/>
                </a:lnTo>
                <a:lnTo>
                  <a:pt x="38100" y="486155"/>
                </a:lnTo>
                <a:lnTo>
                  <a:pt x="76200" y="486155"/>
                </a:lnTo>
                <a:lnTo>
                  <a:pt x="76200" y="95249"/>
                </a:lnTo>
                <a:close/>
              </a:path>
              <a:path w="114300" h="48641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48641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01796" y="5795009"/>
            <a:ext cx="114300" cy="693420"/>
          </a:xfrm>
          <a:custGeom>
            <a:avLst/>
            <a:gdLst/>
            <a:ahLst/>
            <a:cxnLst/>
            <a:rect l="l" t="t" r="r" b="b"/>
            <a:pathLst>
              <a:path w="114300" h="693420">
                <a:moveTo>
                  <a:pt x="76200" y="95249"/>
                </a:moveTo>
                <a:lnTo>
                  <a:pt x="38100" y="95249"/>
                </a:lnTo>
                <a:lnTo>
                  <a:pt x="38100" y="693419"/>
                </a:lnTo>
                <a:lnTo>
                  <a:pt x="76200" y="693419"/>
                </a:lnTo>
                <a:lnTo>
                  <a:pt x="76200" y="95249"/>
                </a:lnTo>
                <a:close/>
              </a:path>
              <a:path w="114300" h="69342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69342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824223" y="4837938"/>
            <a:ext cx="4972050" cy="1640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237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$: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…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00FFFF"/>
                </a:solidFill>
                <a:latin typeface="Times New Roman"/>
                <a:cs typeface="Times New Roman"/>
              </a:rPr>
              <a:t>+1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1164" sz="3150" spc="232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3659504">
              <a:lnSpc>
                <a:spcPts val="3325"/>
              </a:lnSpc>
              <a:spcBef>
                <a:spcPts val="223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  <a:p>
            <a:pPr marL="25400">
              <a:lnSpc>
                <a:spcPts val="3325"/>
              </a:lnSpc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92523" y="1550669"/>
            <a:ext cx="2680335" cy="3968115"/>
          </a:xfrm>
          <a:custGeom>
            <a:avLst/>
            <a:gdLst/>
            <a:ahLst/>
            <a:cxnLst/>
            <a:rect l="l" t="t" r="r" b="b"/>
            <a:pathLst>
              <a:path w="2680334" h="3968115">
                <a:moveTo>
                  <a:pt x="2632582" y="0"/>
                </a:moveTo>
                <a:lnTo>
                  <a:pt x="2505075" y="189737"/>
                </a:lnTo>
                <a:lnTo>
                  <a:pt x="2552573" y="221614"/>
                </a:lnTo>
                <a:lnTo>
                  <a:pt x="2680080" y="32003"/>
                </a:lnTo>
                <a:lnTo>
                  <a:pt x="2632582" y="0"/>
                </a:lnTo>
                <a:close/>
              </a:path>
              <a:path w="2680334" h="3968115">
                <a:moveTo>
                  <a:pt x="2409444" y="332104"/>
                </a:moveTo>
                <a:lnTo>
                  <a:pt x="2281936" y="521842"/>
                </a:lnTo>
                <a:lnTo>
                  <a:pt x="2329306" y="553719"/>
                </a:lnTo>
                <a:lnTo>
                  <a:pt x="2456815" y="363981"/>
                </a:lnTo>
                <a:lnTo>
                  <a:pt x="2409444" y="332104"/>
                </a:lnTo>
                <a:close/>
              </a:path>
              <a:path w="2680334" h="3968115">
                <a:moveTo>
                  <a:pt x="2186304" y="664082"/>
                </a:moveTo>
                <a:lnTo>
                  <a:pt x="2058797" y="853820"/>
                </a:lnTo>
                <a:lnTo>
                  <a:pt x="2106167" y="885697"/>
                </a:lnTo>
                <a:lnTo>
                  <a:pt x="2233676" y="695959"/>
                </a:lnTo>
                <a:lnTo>
                  <a:pt x="2186304" y="664082"/>
                </a:lnTo>
                <a:close/>
              </a:path>
              <a:path w="2680334" h="3968115">
                <a:moveTo>
                  <a:pt x="1963039" y="996060"/>
                </a:moveTo>
                <a:lnTo>
                  <a:pt x="1835530" y="1185799"/>
                </a:lnTo>
                <a:lnTo>
                  <a:pt x="1883028" y="1217676"/>
                </a:lnTo>
                <a:lnTo>
                  <a:pt x="2010537" y="1027938"/>
                </a:lnTo>
                <a:lnTo>
                  <a:pt x="1963039" y="996060"/>
                </a:lnTo>
                <a:close/>
              </a:path>
              <a:path w="2680334" h="3968115">
                <a:moveTo>
                  <a:pt x="1739900" y="1328165"/>
                </a:moveTo>
                <a:lnTo>
                  <a:pt x="1612391" y="1517777"/>
                </a:lnTo>
                <a:lnTo>
                  <a:pt x="1659763" y="1549653"/>
                </a:lnTo>
                <a:lnTo>
                  <a:pt x="1787398" y="1360042"/>
                </a:lnTo>
                <a:lnTo>
                  <a:pt x="1739900" y="1328165"/>
                </a:lnTo>
                <a:close/>
              </a:path>
              <a:path w="2680334" h="3968115">
                <a:moveTo>
                  <a:pt x="1516761" y="1660143"/>
                </a:moveTo>
                <a:lnTo>
                  <a:pt x="1389252" y="1849881"/>
                </a:lnTo>
                <a:lnTo>
                  <a:pt x="1436624" y="1881758"/>
                </a:lnTo>
                <a:lnTo>
                  <a:pt x="1564131" y="1692020"/>
                </a:lnTo>
                <a:lnTo>
                  <a:pt x="1516761" y="1660143"/>
                </a:lnTo>
                <a:close/>
              </a:path>
              <a:path w="2680334" h="3968115">
                <a:moveTo>
                  <a:pt x="1293495" y="1992121"/>
                </a:moveTo>
                <a:lnTo>
                  <a:pt x="1165987" y="2181860"/>
                </a:lnTo>
                <a:lnTo>
                  <a:pt x="1213485" y="2213736"/>
                </a:lnTo>
                <a:lnTo>
                  <a:pt x="1340992" y="2023999"/>
                </a:lnTo>
                <a:lnTo>
                  <a:pt x="1293495" y="1992121"/>
                </a:lnTo>
                <a:close/>
              </a:path>
              <a:path w="2680334" h="3968115">
                <a:moveTo>
                  <a:pt x="1070355" y="2324099"/>
                </a:moveTo>
                <a:lnTo>
                  <a:pt x="942848" y="2513837"/>
                </a:lnTo>
                <a:lnTo>
                  <a:pt x="990218" y="2545715"/>
                </a:lnTo>
                <a:lnTo>
                  <a:pt x="1117853" y="2355977"/>
                </a:lnTo>
                <a:lnTo>
                  <a:pt x="1070355" y="2324099"/>
                </a:lnTo>
                <a:close/>
              </a:path>
              <a:path w="2680334" h="3968115">
                <a:moveTo>
                  <a:pt x="847216" y="2656204"/>
                </a:moveTo>
                <a:lnTo>
                  <a:pt x="719709" y="2845816"/>
                </a:lnTo>
                <a:lnTo>
                  <a:pt x="767079" y="2877819"/>
                </a:lnTo>
                <a:lnTo>
                  <a:pt x="894588" y="2688081"/>
                </a:lnTo>
                <a:lnTo>
                  <a:pt x="847216" y="2656204"/>
                </a:lnTo>
                <a:close/>
              </a:path>
              <a:path w="2680334" h="3968115">
                <a:moveTo>
                  <a:pt x="624077" y="2988182"/>
                </a:moveTo>
                <a:lnTo>
                  <a:pt x="496442" y="3177921"/>
                </a:lnTo>
                <a:lnTo>
                  <a:pt x="543940" y="3209797"/>
                </a:lnTo>
                <a:lnTo>
                  <a:pt x="671449" y="3020060"/>
                </a:lnTo>
                <a:lnTo>
                  <a:pt x="624077" y="2988182"/>
                </a:lnTo>
                <a:close/>
              </a:path>
              <a:path w="2680334" h="3968115">
                <a:moveTo>
                  <a:pt x="400812" y="3320160"/>
                </a:moveTo>
                <a:lnTo>
                  <a:pt x="273303" y="3509899"/>
                </a:lnTo>
                <a:lnTo>
                  <a:pt x="320801" y="3541776"/>
                </a:lnTo>
                <a:lnTo>
                  <a:pt x="448310" y="3352037"/>
                </a:lnTo>
                <a:lnTo>
                  <a:pt x="400812" y="3320160"/>
                </a:lnTo>
                <a:close/>
              </a:path>
              <a:path w="2680334" h="3968115">
                <a:moveTo>
                  <a:pt x="24511" y="3777615"/>
                </a:moveTo>
                <a:lnTo>
                  <a:pt x="0" y="3967733"/>
                </a:lnTo>
                <a:lnTo>
                  <a:pt x="166750" y="3873245"/>
                </a:lnTo>
                <a:lnTo>
                  <a:pt x="154661" y="3865117"/>
                </a:lnTo>
                <a:lnTo>
                  <a:pt x="103377" y="3865117"/>
                </a:lnTo>
                <a:lnTo>
                  <a:pt x="56006" y="3833241"/>
                </a:lnTo>
                <a:lnTo>
                  <a:pt x="71950" y="3809509"/>
                </a:lnTo>
                <a:lnTo>
                  <a:pt x="24511" y="3777615"/>
                </a:lnTo>
                <a:close/>
              </a:path>
              <a:path w="2680334" h="3968115">
                <a:moveTo>
                  <a:pt x="71950" y="3809509"/>
                </a:moveTo>
                <a:lnTo>
                  <a:pt x="56006" y="3833241"/>
                </a:lnTo>
                <a:lnTo>
                  <a:pt x="103377" y="3865117"/>
                </a:lnTo>
                <a:lnTo>
                  <a:pt x="119334" y="3841366"/>
                </a:lnTo>
                <a:lnTo>
                  <a:pt x="71950" y="3809509"/>
                </a:lnTo>
                <a:close/>
              </a:path>
              <a:path w="2680334" h="3968115">
                <a:moveTo>
                  <a:pt x="119334" y="3841366"/>
                </a:moveTo>
                <a:lnTo>
                  <a:pt x="103377" y="3865117"/>
                </a:lnTo>
                <a:lnTo>
                  <a:pt x="154661" y="3865117"/>
                </a:lnTo>
                <a:lnTo>
                  <a:pt x="119334" y="3841366"/>
                </a:lnTo>
                <a:close/>
              </a:path>
              <a:path w="2680334" h="3968115">
                <a:moveTo>
                  <a:pt x="177673" y="3652138"/>
                </a:moveTo>
                <a:lnTo>
                  <a:pt x="71950" y="3809509"/>
                </a:lnTo>
                <a:lnTo>
                  <a:pt x="119334" y="3841366"/>
                </a:lnTo>
                <a:lnTo>
                  <a:pt x="225043" y="3684016"/>
                </a:lnTo>
                <a:lnTo>
                  <a:pt x="177673" y="365213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74235" y="3578478"/>
            <a:ext cx="4236085" cy="1335405"/>
          </a:xfrm>
          <a:custGeom>
            <a:avLst/>
            <a:gdLst/>
            <a:ahLst/>
            <a:cxnLst/>
            <a:rect l="l" t="t" r="r" b="b"/>
            <a:pathLst>
              <a:path w="4236084" h="1335404">
                <a:moveTo>
                  <a:pt x="4219320" y="0"/>
                </a:moveTo>
                <a:lnTo>
                  <a:pt x="4000499" y="66040"/>
                </a:lnTo>
                <a:lnTo>
                  <a:pt x="4017010" y="120650"/>
                </a:lnTo>
                <a:lnTo>
                  <a:pt x="4235831" y="54610"/>
                </a:lnTo>
                <a:lnTo>
                  <a:pt x="4219320" y="0"/>
                </a:lnTo>
                <a:close/>
              </a:path>
              <a:path w="4236084" h="1335404">
                <a:moveTo>
                  <a:pt x="3836289" y="115570"/>
                </a:moveTo>
                <a:lnTo>
                  <a:pt x="3617467" y="181483"/>
                </a:lnTo>
                <a:lnTo>
                  <a:pt x="3633978" y="236220"/>
                </a:lnTo>
                <a:lnTo>
                  <a:pt x="3852798" y="170180"/>
                </a:lnTo>
                <a:lnTo>
                  <a:pt x="3836289" y="115570"/>
                </a:lnTo>
                <a:close/>
              </a:path>
              <a:path w="4236084" h="1335404">
                <a:moveTo>
                  <a:pt x="3453384" y="231013"/>
                </a:moveTo>
                <a:lnTo>
                  <a:pt x="3234436" y="297053"/>
                </a:lnTo>
                <a:lnTo>
                  <a:pt x="3250945" y="351790"/>
                </a:lnTo>
                <a:lnTo>
                  <a:pt x="3469893" y="285750"/>
                </a:lnTo>
                <a:lnTo>
                  <a:pt x="3453384" y="231013"/>
                </a:lnTo>
                <a:close/>
              </a:path>
              <a:path w="4236084" h="1335404">
                <a:moveTo>
                  <a:pt x="3070352" y="346583"/>
                </a:moveTo>
                <a:lnTo>
                  <a:pt x="2851531" y="412623"/>
                </a:lnTo>
                <a:lnTo>
                  <a:pt x="2868041" y="467360"/>
                </a:lnTo>
                <a:lnTo>
                  <a:pt x="3086862" y="401320"/>
                </a:lnTo>
                <a:lnTo>
                  <a:pt x="3070352" y="346583"/>
                </a:lnTo>
                <a:close/>
              </a:path>
              <a:path w="4236084" h="1335404">
                <a:moveTo>
                  <a:pt x="2687319" y="462153"/>
                </a:moveTo>
                <a:lnTo>
                  <a:pt x="2468498" y="528193"/>
                </a:lnTo>
                <a:lnTo>
                  <a:pt x="2485009" y="582930"/>
                </a:lnTo>
                <a:lnTo>
                  <a:pt x="2703830" y="516890"/>
                </a:lnTo>
                <a:lnTo>
                  <a:pt x="2687319" y="462153"/>
                </a:lnTo>
                <a:close/>
              </a:path>
              <a:path w="4236084" h="1335404">
                <a:moveTo>
                  <a:pt x="2304288" y="577723"/>
                </a:moveTo>
                <a:lnTo>
                  <a:pt x="2085466" y="643763"/>
                </a:lnTo>
                <a:lnTo>
                  <a:pt x="2101977" y="698500"/>
                </a:lnTo>
                <a:lnTo>
                  <a:pt x="2320798" y="632460"/>
                </a:lnTo>
                <a:lnTo>
                  <a:pt x="2304288" y="577723"/>
                </a:lnTo>
                <a:close/>
              </a:path>
              <a:path w="4236084" h="1335404">
                <a:moveTo>
                  <a:pt x="1921383" y="693293"/>
                </a:moveTo>
                <a:lnTo>
                  <a:pt x="1702435" y="759333"/>
                </a:lnTo>
                <a:lnTo>
                  <a:pt x="1718944" y="814070"/>
                </a:lnTo>
                <a:lnTo>
                  <a:pt x="1937892" y="748030"/>
                </a:lnTo>
                <a:lnTo>
                  <a:pt x="1921383" y="693293"/>
                </a:lnTo>
                <a:close/>
              </a:path>
              <a:path w="4236084" h="1335404">
                <a:moveTo>
                  <a:pt x="1538351" y="808863"/>
                </a:moveTo>
                <a:lnTo>
                  <a:pt x="1319529" y="874903"/>
                </a:lnTo>
                <a:lnTo>
                  <a:pt x="1336039" y="929640"/>
                </a:lnTo>
                <a:lnTo>
                  <a:pt x="1554861" y="863600"/>
                </a:lnTo>
                <a:lnTo>
                  <a:pt x="1538351" y="808863"/>
                </a:lnTo>
                <a:close/>
              </a:path>
              <a:path w="4236084" h="1335404">
                <a:moveTo>
                  <a:pt x="1155318" y="924433"/>
                </a:moveTo>
                <a:lnTo>
                  <a:pt x="936498" y="990473"/>
                </a:lnTo>
                <a:lnTo>
                  <a:pt x="953008" y="1045210"/>
                </a:lnTo>
                <a:lnTo>
                  <a:pt x="1171828" y="979170"/>
                </a:lnTo>
                <a:lnTo>
                  <a:pt x="1155318" y="924433"/>
                </a:lnTo>
                <a:close/>
              </a:path>
              <a:path w="4236084" h="1335404">
                <a:moveTo>
                  <a:pt x="772413" y="1040003"/>
                </a:moveTo>
                <a:lnTo>
                  <a:pt x="553465" y="1106043"/>
                </a:lnTo>
                <a:lnTo>
                  <a:pt x="569976" y="1160780"/>
                </a:lnTo>
                <a:lnTo>
                  <a:pt x="788924" y="1094740"/>
                </a:lnTo>
                <a:lnTo>
                  <a:pt x="772413" y="1040003"/>
                </a:lnTo>
                <a:close/>
              </a:path>
              <a:path w="4236084" h="1335404">
                <a:moveTo>
                  <a:pt x="139318" y="1171321"/>
                </a:moveTo>
                <a:lnTo>
                  <a:pt x="0" y="1302893"/>
                </a:lnTo>
                <a:lnTo>
                  <a:pt x="188849" y="1335405"/>
                </a:lnTo>
                <a:lnTo>
                  <a:pt x="139318" y="1171321"/>
                </a:lnTo>
                <a:close/>
              </a:path>
              <a:path w="4236084" h="1335404">
                <a:moveTo>
                  <a:pt x="389381" y="1155573"/>
                </a:moveTo>
                <a:lnTo>
                  <a:pt x="170561" y="1221613"/>
                </a:lnTo>
                <a:lnTo>
                  <a:pt x="187071" y="1276350"/>
                </a:lnTo>
                <a:lnTo>
                  <a:pt x="405891" y="1210310"/>
                </a:lnTo>
                <a:lnTo>
                  <a:pt x="389381" y="115557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50998" y="1258061"/>
            <a:ext cx="814069" cy="721360"/>
          </a:xfrm>
          <a:custGeom>
            <a:avLst/>
            <a:gdLst/>
            <a:ahLst/>
            <a:cxnLst/>
            <a:rect l="l" t="t" r="r" b="b"/>
            <a:pathLst>
              <a:path w="814070" h="721360">
                <a:moveTo>
                  <a:pt x="0" y="360425"/>
                </a:moveTo>
                <a:lnTo>
                  <a:pt x="3169" y="315224"/>
                </a:lnTo>
                <a:lnTo>
                  <a:pt x="12423" y="271695"/>
                </a:lnTo>
                <a:lnTo>
                  <a:pt x="27382" y="230178"/>
                </a:lnTo>
                <a:lnTo>
                  <a:pt x="47663" y="191009"/>
                </a:lnTo>
                <a:lnTo>
                  <a:pt x="72887" y="154528"/>
                </a:lnTo>
                <a:lnTo>
                  <a:pt x="102673" y="121072"/>
                </a:lnTo>
                <a:lnTo>
                  <a:pt x="136639" y="90980"/>
                </a:lnTo>
                <a:lnTo>
                  <a:pt x="174406" y="64589"/>
                </a:lnTo>
                <a:lnTo>
                  <a:pt x="215591" y="42239"/>
                </a:lnTo>
                <a:lnTo>
                  <a:pt x="259815" y="24266"/>
                </a:lnTo>
                <a:lnTo>
                  <a:pt x="306696" y="11010"/>
                </a:lnTo>
                <a:lnTo>
                  <a:pt x="355854" y="2809"/>
                </a:lnTo>
                <a:lnTo>
                  <a:pt x="406907" y="0"/>
                </a:lnTo>
                <a:lnTo>
                  <a:pt x="457961" y="2809"/>
                </a:lnTo>
                <a:lnTo>
                  <a:pt x="507119" y="11010"/>
                </a:lnTo>
                <a:lnTo>
                  <a:pt x="554000" y="24266"/>
                </a:lnTo>
                <a:lnTo>
                  <a:pt x="598224" y="42239"/>
                </a:lnTo>
                <a:lnTo>
                  <a:pt x="639409" y="64589"/>
                </a:lnTo>
                <a:lnTo>
                  <a:pt x="677176" y="90980"/>
                </a:lnTo>
                <a:lnTo>
                  <a:pt x="711142" y="121072"/>
                </a:lnTo>
                <a:lnTo>
                  <a:pt x="740928" y="154528"/>
                </a:lnTo>
                <a:lnTo>
                  <a:pt x="766152" y="191009"/>
                </a:lnTo>
                <a:lnTo>
                  <a:pt x="786433" y="230178"/>
                </a:lnTo>
                <a:lnTo>
                  <a:pt x="801392" y="271695"/>
                </a:lnTo>
                <a:lnTo>
                  <a:pt x="810646" y="315224"/>
                </a:lnTo>
                <a:lnTo>
                  <a:pt x="813815" y="360425"/>
                </a:lnTo>
                <a:lnTo>
                  <a:pt x="810646" y="405627"/>
                </a:lnTo>
                <a:lnTo>
                  <a:pt x="801392" y="449156"/>
                </a:lnTo>
                <a:lnTo>
                  <a:pt x="786433" y="490673"/>
                </a:lnTo>
                <a:lnTo>
                  <a:pt x="766152" y="529842"/>
                </a:lnTo>
                <a:lnTo>
                  <a:pt x="740928" y="566323"/>
                </a:lnTo>
                <a:lnTo>
                  <a:pt x="711142" y="599779"/>
                </a:lnTo>
                <a:lnTo>
                  <a:pt x="677176" y="629871"/>
                </a:lnTo>
                <a:lnTo>
                  <a:pt x="639409" y="656262"/>
                </a:lnTo>
                <a:lnTo>
                  <a:pt x="598224" y="678612"/>
                </a:lnTo>
                <a:lnTo>
                  <a:pt x="554000" y="696585"/>
                </a:lnTo>
                <a:lnTo>
                  <a:pt x="507119" y="709841"/>
                </a:lnTo>
                <a:lnTo>
                  <a:pt x="457961" y="718042"/>
                </a:lnTo>
                <a:lnTo>
                  <a:pt x="406907" y="720851"/>
                </a:lnTo>
                <a:lnTo>
                  <a:pt x="355854" y="718042"/>
                </a:lnTo>
                <a:lnTo>
                  <a:pt x="306696" y="709841"/>
                </a:lnTo>
                <a:lnTo>
                  <a:pt x="259815" y="696585"/>
                </a:lnTo>
                <a:lnTo>
                  <a:pt x="215591" y="678612"/>
                </a:lnTo>
                <a:lnTo>
                  <a:pt x="174406" y="656262"/>
                </a:lnTo>
                <a:lnTo>
                  <a:pt x="136639" y="629871"/>
                </a:lnTo>
                <a:lnTo>
                  <a:pt x="102673" y="599779"/>
                </a:lnTo>
                <a:lnTo>
                  <a:pt x="72887" y="566323"/>
                </a:lnTo>
                <a:lnTo>
                  <a:pt x="47663" y="529842"/>
                </a:lnTo>
                <a:lnTo>
                  <a:pt x="27382" y="490673"/>
                </a:lnTo>
                <a:lnTo>
                  <a:pt x="12423" y="449156"/>
                </a:lnTo>
                <a:lnTo>
                  <a:pt x="3169" y="405627"/>
                </a:lnTo>
                <a:lnTo>
                  <a:pt x="0" y="360425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63106" y="907541"/>
            <a:ext cx="515620" cy="718185"/>
          </a:xfrm>
          <a:custGeom>
            <a:avLst/>
            <a:gdLst/>
            <a:ahLst/>
            <a:cxnLst/>
            <a:rect l="l" t="t" r="r" b="b"/>
            <a:pathLst>
              <a:path w="515620" h="718185">
                <a:moveTo>
                  <a:pt x="0" y="358902"/>
                </a:moveTo>
                <a:lnTo>
                  <a:pt x="2792" y="305859"/>
                </a:lnTo>
                <a:lnTo>
                  <a:pt x="10905" y="255235"/>
                </a:lnTo>
                <a:lnTo>
                  <a:pt x="23938" y="207584"/>
                </a:lnTo>
                <a:lnTo>
                  <a:pt x="41494" y="163462"/>
                </a:lnTo>
                <a:lnTo>
                  <a:pt x="63175" y="123423"/>
                </a:lnTo>
                <a:lnTo>
                  <a:pt x="88582" y="88022"/>
                </a:lnTo>
                <a:lnTo>
                  <a:pt x="117315" y="57813"/>
                </a:lnTo>
                <a:lnTo>
                  <a:pt x="148978" y="33352"/>
                </a:lnTo>
                <a:lnTo>
                  <a:pt x="183171" y="15193"/>
                </a:lnTo>
                <a:lnTo>
                  <a:pt x="257555" y="0"/>
                </a:lnTo>
                <a:lnTo>
                  <a:pt x="295614" y="3890"/>
                </a:lnTo>
                <a:lnTo>
                  <a:pt x="366133" y="33352"/>
                </a:lnTo>
                <a:lnTo>
                  <a:pt x="397796" y="57813"/>
                </a:lnTo>
                <a:lnTo>
                  <a:pt x="426529" y="88022"/>
                </a:lnTo>
                <a:lnTo>
                  <a:pt x="451936" y="123423"/>
                </a:lnTo>
                <a:lnTo>
                  <a:pt x="473617" y="163462"/>
                </a:lnTo>
                <a:lnTo>
                  <a:pt x="491173" y="207584"/>
                </a:lnTo>
                <a:lnTo>
                  <a:pt x="504206" y="255235"/>
                </a:lnTo>
                <a:lnTo>
                  <a:pt x="512319" y="305859"/>
                </a:lnTo>
                <a:lnTo>
                  <a:pt x="515112" y="358902"/>
                </a:lnTo>
                <a:lnTo>
                  <a:pt x="512319" y="411944"/>
                </a:lnTo>
                <a:lnTo>
                  <a:pt x="504206" y="462568"/>
                </a:lnTo>
                <a:lnTo>
                  <a:pt x="491173" y="510219"/>
                </a:lnTo>
                <a:lnTo>
                  <a:pt x="473617" y="554341"/>
                </a:lnTo>
                <a:lnTo>
                  <a:pt x="451936" y="594380"/>
                </a:lnTo>
                <a:lnTo>
                  <a:pt x="426529" y="629781"/>
                </a:lnTo>
                <a:lnTo>
                  <a:pt x="397796" y="659990"/>
                </a:lnTo>
                <a:lnTo>
                  <a:pt x="366133" y="684451"/>
                </a:lnTo>
                <a:lnTo>
                  <a:pt x="331940" y="702610"/>
                </a:lnTo>
                <a:lnTo>
                  <a:pt x="257555" y="717804"/>
                </a:lnTo>
                <a:lnTo>
                  <a:pt x="219497" y="713913"/>
                </a:lnTo>
                <a:lnTo>
                  <a:pt x="148978" y="684451"/>
                </a:lnTo>
                <a:lnTo>
                  <a:pt x="117315" y="659990"/>
                </a:lnTo>
                <a:lnTo>
                  <a:pt x="88582" y="629781"/>
                </a:lnTo>
                <a:lnTo>
                  <a:pt x="63175" y="594380"/>
                </a:lnTo>
                <a:lnTo>
                  <a:pt x="41494" y="554341"/>
                </a:lnTo>
                <a:lnTo>
                  <a:pt x="23938" y="510219"/>
                </a:lnTo>
                <a:lnTo>
                  <a:pt x="10905" y="462568"/>
                </a:lnTo>
                <a:lnTo>
                  <a:pt x="2792" y="411944"/>
                </a:lnTo>
                <a:lnTo>
                  <a:pt x="0" y="35890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642" y="2568905"/>
            <a:ext cx="27609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action(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35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2657" y="1358341"/>
            <a:ext cx="5591175" cy="1397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9925" algn="l"/>
              </a:tabLst>
            </a:pP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Qj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00FF"/>
                </a:solidFill>
                <a:latin typeface="宋体"/>
                <a:cs typeface="宋体"/>
              </a:rPr>
              <a:t>移进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0833" sz="3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状态压入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marL="135890">
              <a:lnSpc>
                <a:spcPct val="100000"/>
              </a:lnSpc>
              <a:spcBef>
                <a:spcPts val="3110"/>
              </a:spcBef>
              <a:tabLst>
                <a:tab pos="527050" algn="l"/>
              </a:tabLst>
            </a:pP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j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00FF"/>
                </a:solidFill>
                <a:latin typeface="宋体"/>
                <a:cs typeface="宋体"/>
              </a:rPr>
              <a:t>归约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用第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个产生式归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spc="-8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58261" y="1620774"/>
            <a:ext cx="216535" cy="2726690"/>
          </a:xfrm>
          <a:custGeom>
            <a:avLst/>
            <a:gdLst/>
            <a:ahLst/>
            <a:cxnLst/>
            <a:rect l="l" t="t" r="r" b="b"/>
            <a:pathLst>
              <a:path w="216535" h="2726690">
                <a:moveTo>
                  <a:pt x="216407" y="2726436"/>
                </a:moveTo>
                <a:lnTo>
                  <a:pt x="161769" y="2693637"/>
                </a:lnTo>
                <a:lnTo>
                  <a:pt x="139874" y="2656078"/>
                </a:lnTo>
                <a:lnTo>
                  <a:pt x="122964" y="2607469"/>
                </a:lnTo>
                <a:lnTo>
                  <a:pt x="112065" y="2550105"/>
                </a:lnTo>
                <a:lnTo>
                  <a:pt x="108204" y="2486279"/>
                </a:lnTo>
                <a:lnTo>
                  <a:pt x="108204" y="1603375"/>
                </a:lnTo>
                <a:lnTo>
                  <a:pt x="104342" y="1539548"/>
                </a:lnTo>
                <a:lnTo>
                  <a:pt x="93443" y="1482184"/>
                </a:lnTo>
                <a:lnTo>
                  <a:pt x="76533" y="1433576"/>
                </a:lnTo>
                <a:lnTo>
                  <a:pt x="54638" y="1396016"/>
                </a:lnTo>
                <a:lnTo>
                  <a:pt x="0" y="1363217"/>
                </a:lnTo>
                <a:lnTo>
                  <a:pt x="28784" y="1354636"/>
                </a:lnTo>
                <a:lnTo>
                  <a:pt x="76533" y="1292859"/>
                </a:lnTo>
                <a:lnTo>
                  <a:pt x="93443" y="1244251"/>
                </a:lnTo>
                <a:lnTo>
                  <a:pt x="104342" y="1186887"/>
                </a:lnTo>
                <a:lnTo>
                  <a:pt x="108204" y="1123061"/>
                </a:lnTo>
                <a:lnTo>
                  <a:pt x="108204" y="240156"/>
                </a:lnTo>
                <a:lnTo>
                  <a:pt x="112065" y="176330"/>
                </a:lnTo>
                <a:lnTo>
                  <a:pt x="122964" y="118966"/>
                </a:lnTo>
                <a:lnTo>
                  <a:pt x="139874" y="70357"/>
                </a:lnTo>
                <a:lnTo>
                  <a:pt x="161769" y="32798"/>
                </a:lnTo>
                <a:lnTo>
                  <a:pt x="187623" y="8581"/>
                </a:lnTo>
                <a:lnTo>
                  <a:pt x="2164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1950" y="1260475"/>
          <a:ext cx="5701030" cy="1238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300"/>
                <a:gridCol w="673100"/>
                <a:gridCol w="538480"/>
                <a:gridCol w="895350"/>
                <a:gridCol w="1162049"/>
                <a:gridCol w="528320"/>
                <a:gridCol w="709295"/>
                <a:gridCol w="513714"/>
              </a:tblGrid>
              <a:tr h="6000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021" sz="277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021" sz="277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baseline="13888" sz="4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85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8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5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748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baseline="13888" sz="4200" spc="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85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85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748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021" sz="2775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021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baseline="13888" sz="4200" spc="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85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748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baseline="13888" sz="4200" spc="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85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85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748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021" sz="277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062733" y="2853182"/>
            <a:ext cx="1175004" cy="614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56485" y="2784919"/>
            <a:ext cx="587501" cy="455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56485" y="2739358"/>
            <a:ext cx="587501" cy="227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62733" y="2853182"/>
            <a:ext cx="1175385" cy="614680"/>
          </a:xfrm>
          <a:custGeom>
            <a:avLst/>
            <a:gdLst/>
            <a:ahLst/>
            <a:cxnLst/>
            <a:rect l="l" t="t" r="r" b="b"/>
            <a:pathLst>
              <a:path w="1175385" h="614679">
                <a:moveTo>
                  <a:pt x="1175004" y="432562"/>
                </a:moveTo>
                <a:lnTo>
                  <a:pt x="881253" y="432562"/>
                </a:lnTo>
                <a:lnTo>
                  <a:pt x="881253" y="0"/>
                </a:lnTo>
                <a:lnTo>
                  <a:pt x="293751" y="0"/>
                </a:lnTo>
                <a:lnTo>
                  <a:pt x="293751" y="432562"/>
                </a:lnTo>
                <a:lnTo>
                  <a:pt x="0" y="432562"/>
                </a:lnTo>
                <a:lnTo>
                  <a:pt x="587502" y="614679"/>
                </a:lnTo>
                <a:lnTo>
                  <a:pt x="1175004" y="43256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37435" y="2781173"/>
            <a:ext cx="626110" cy="68580"/>
          </a:xfrm>
          <a:custGeom>
            <a:avLst/>
            <a:gdLst/>
            <a:ahLst/>
            <a:cxnLst/>
            <a:rect l="l" t="t" r="r" b="b"/>
            <a:pathLst>
              <a:path w="626110" h="68580">
                <a:moveTo>
                  <a:pt x="0" y="68325"/>
                </a:moveTo>
                <a:lnTo>
                  <a:pt x="625601" y="68325"/>
                </a:lnTo>
                <a:lnTo>
                  <a:pt x="625601" y="0"/>
                </a:lnTo>
                <a:lnTo>
                  <a:pt x="0" y="0"/>
                </a:lnTo>
                <a:lnTo>
                  <a:pt x="0" y="6832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37435" y="2720308"/>
            <a:ext cx="626110" cy="60960"/>
          </a:xfrm>
          <a:custGeom>
            <a:avLst/>
            <a:gdLst/>
            <a:ahLst/>
            <a:cxnLst/>
            <a:rect l="l" t="t" r="r" b="b"/>
            <a:pathLst>
              <a:path w="626110" h="60960">
                <a:moveTo>
                  <a:pt x="0" y="60864"/>
                </a:moveTo>
                <a:lnTo>
                  <a:pt x="625601" y="60864"/>
                </a:lnTo>
                <a:lnTo>
                  <a:pt x="625601" y="0"/>
                </a:lnTo>
                <a:lnTo>
                  <a:pt x="0" y="0"/>
                </a:lnTo>
                <a:lnTo>
                  <a:pt x="0" y="6086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30568" y="1148333"/>
            <a:ext cx="114300" cy="487680"/>
          </a:xfrm>
          <a:custGeom>
            <a:avLst/>
            <a:gdLst/>
            <a:ahLst/>
            <a:cxnLst/>
            <a:rect l="l" t="t" r="r" b="b"/>
            <a:pathLst>
              <a:path w="114300" h="487680">
                <a:moveTo>
                  <a:pt x="76200" y="95250"/>
                </a:moveTo>
                <a:lnTo>
                  <a:pt x="38100" y="95250"/>
                </a:lnTo>
                <a:lnTo>
                  <a:pt x="38100" y="487679"/>
                </a:lnTo>
                <a:lnTo>
                  <a:pt x="76200" y="487679"/>
                </a:lnTo>
                <a:lnTo>
                  <a:pt x="76200" y="95250"/>
                </a:lnTo>
                <a:close/>
              </a:path>
              <a:path w="114300" h="48768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48768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89753" y="550240"/>
            <a:ext cx="3840479" cy="1223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$: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… 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00"/>
                </a:solidFill>
                <a:latin typeface="Times New Roman"/>
                <a:cs typeface="Times New Roman"/>
              </a:rPr>
              <a:t>+1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1164" sz="3150" spc="16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ctr" marL="554990">
              <a:lnSpc>
                <a:spcPct val="100000"/>
              </a:lnSpc>
              <a:spcBef>
                <a:spcPts val="223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30723" y="2480310"/>
            <a:ext cx="114300" cy="693420"/>
          </a:xfrm>
          <a:custGeom>
            <a:avLst/>
            <a:gdLst/>
            <a:ahLst/>
            <a:cxnLst/>
            <a:rect l="l" t="t" r="r" b="b"/>
            <a:pathLst>
              <a:path w="114300" h="693419">
                <a:moveTo>
                  <a:pt x="76200" y="95250"/>
                </a:moveTo>
                <a:lnTo>
                  <a:pt x="38100" y="95250"/>
                </a:lnTo>
                <a:lnTo>
                  <a:pt x="38100" y="693419"/>
                </a:lnTo>
                <a:lnTo>
                  <a:pt x="76200" y="693419"/>
                </a:lnTo>
                <a:lnTo>
                  <a:pt x="76200" y="95250"/>
                </a:lnTo>
                <a:close/>
              </a:path>
              <a:path w="114300" h="69341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9341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165852" y="2711272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547875" y="4741926"/>
          <a:ext cx="4629150" cy="1219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345"/>
                <a:gridCol w="803274"/>
                <a:gridCol w="655955"/>
                <a:gridCol w="932180"/>
                <a:gridCol w="724534"/>
                <a:gridCol w="729614"/>
              </a:tblGrid>
              <a:tr h="5811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9"/>
                        </a:lnSpc>
                        <a:spcBef>
                          <a:spcPts val="1240"/>
                        </a:spcBef>
                      </a:pPr>
                      <a:r>
                        <a:rPr dirty="0" baseline="13888" sz="42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85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85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5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748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  <a:tr h="6001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baseline="13888" sz="4200" spc="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85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11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4939284" y="5941314"/>
            <a:ext cx="114300" cy="693420"/>
          </a:xfrm>
          <a:custGeom>
            <a:avLst/>
            <a:gdLst/>
            <a:ahLst/>
            <a:cxnLst/>
            <a:rect l="l" t="t" r="r" b="b"/>
            <a:pathLst>
              <a:path w="114300" h="693420">
                <a:moveTo>
                  <a:pt x="76200" y="95250"/>
                </a:moveTo>
                <a:lnTo>
                  <a:pt x="38100" y="95250"/>
                </a:lnTo>
                <a:lnTo>
                  <a:pt x="38100" y="693420"/>
                </a:lnTo>
                <a:lnTo>
                  <a:pt x="76200" y="693420"/>
                </a:lnTo>
                <a:lnTo>
                  <a:pt x="76200" y="95250"/>
                </a:lnTo>
                <a:close/>
              </a:path>
              <a:path w="114300" h="69342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9342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075301" y="6173215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54928" y="3008833"/>
            <a:ext cx="32556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action(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m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 =</a:t>
            </a:r>
            <a:r>
              <a:rPr dirty="0" sz="3200" spc="-39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0014" y="3793997"/>
            <a:ext cx="827468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72770" algn="l"/>
              </a:tabLst>
            </a:pP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①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归约。设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个产生式为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6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Wingdings 3"/>
                <a:cs typeface="Wingdings 3"/>
              </a:rPr>
              <a:t>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spc="7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-</a:t>
            </a:r>
            <a:r>
              <a:rPr dirty="0" baseline="-21021" sz="2775" spc="7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+1</a:t>
            </a:r>
            <a:r>
              <a:rPr dirty="0" baseline="-21021" sz="2775" spc="-37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spc="7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-</a:t>
            </a:r>
            <a:r>
              <a:rPr dirty="0" baseline="-21021" sz="2775" spc="7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+2</a:t>
            </a:r>
            <a:r>
              <a:rPr dirty="0" baseline="-21021" sz="2775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2800" spc="-2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77890" y="4489090"/>
            <a:ext cx="1707514" cy="1707514"/>
          </a:xfrm>
          <a:custGeom>
            <a:avLst/>
            <a:gdLst/>
            <a:ahLst/>
            <a:cxnLst/>
            <a:rect l="l" t="t" r="r" b="b"/>
            <a:pathLst>
              <a:path w="1707514" h="1707514">
                <a:moveTo>
                  <a:pt x="58271" y="58271"/>
                </a:moveTo>
                <a:lnTo>
                  <a:pt x="99825" y="27443"/>
                </a:lnTo>
                <a:lnTo>
                  <a:pt x="150455" y="8140"/>
                </a:lnTo>
                <a:lnTo>
                  <a:pt x="209333" y="0"/>
                </a:lnTo>
                <a:lnTo>
                  <a:pt x="241605" y="2"/>
                </a:lnTo>
                <a:lnTo>
                  <a:pt x="311298" y="7924"/>
                </a:lnTo>
                <a:lnTo>
                  <a:pt x="387164" y="26100"/>
                </a:lnTo>
                <a:lnTo>
                  <a:pt x="427153" y="38920"/>
                </a:lnTo>
                <a:lnTo>
                  <a:pt x="468374" y="54167"/>
                </a:lnTo>
                <a:lnTo>
                  <a:pt x="510724" y="71796"/>
                </a:lnTo>
                <a:lnTo>
                  <a:pt x="554099" y="91762"/>
                </a:lnTo>
                <a:lnTo>
                  <a:pt x="598395" y="114019"/>
                </a:lnTo>
                <a:lnTo>
                  <a:pt x="643508" y="138522"/>
                </a:lnTo>
                <a:lnTo>
                  <a:pt x="689336" y="165225"/>
                </a:lnTo>
                <a:lnTo>
                  <a:pt x="735773" y="194083"/>
                </a:lnTo>
                <a:lnTo>
                  <a:pt x="782717" y="225050"/>
                </a:lnTo>
                <a:lnTo>
                  <a:pt x="830064" y="258082"/>
                </a:lnTo>
                <a:lnTo>
                  <a:pt x="877710" y="293132"/>
                </a:lnTo>
                <a:lnTo>
                  <a:pt x="925551" y="330155"/>
                </a:lnTo>
                <a:lnTo>
                  <a:pt x="973484" y="369107"/>
                </a:lnTo>
                <a:lnTo>
                  <a:pt x="1021405" y="409941"/>
                </a:lnTo>
                <a:lnTo>
                  <a:pt x="1069211" y="452612"/>
                </a:lnTo>
                <a:lnTo>
                  <a:pt x="1116797" y="497075"/>
                </a:lnTo>
                <a:lnTo>
                  <a:pt x="1164060" y="543284"/>
                </a:lnTo>
                <a:lnTo>
                  <a:pt x="1210256" y="590534"/>
                </a:lnTo>
                <a:lnTo>
                  <a:pt x="1254708" y="638108"/>
                </a:lnTo>
                <a:lnTo>
                  <a:pt x="1297370" y="685903"/>
                </a:lnTo>
                <a:lnTo>
                  <a:pt x="1338196" y="733815"/>
                </a:lnTo>
                <a:lnTo>
                  <a:pt x="1377142" y="781739"/>
                </a:lnTo>
                <a:lnTo>
                  <a:pt x="1414160" y="829573"/>
                </a:lnTo>
                <a:lnTo>
                  <a:pt x="1449207" y="877212"/>
                </a:lnTo>
                <a:lnTo>
                  <a:pt x="1482235" y="924553"/>
                </a:lnTo>
                <a:lnTo>
                  <a:pt x="1513201" y="971492"/>
                </a:lnTo>
                <a:lnTo>
                  <a:pt x="1542057" y="1017925"/>
                </a:lnTo>
                <a:lnTo>
                  <a:pt x="1568759" y="1063748"/>
                </a:lnTo>
                <a:lnTo>
                  <a:pt x="1593261" y="1108859"/>
                </a:lnTo>
                <a:lnTo>
                  <a:pt x="1615518" y="1153152"/>
                </a:lnTo>
                <a:lnTo>
                  <a:pt x="1635484" y="1196524"/>
                </a:lnTo>
                <a:lnTo>
                  <a:pt x="1653113" y="1238872"/>
                </a:lnTo>
                <a:lnTo>
                  <a:pt x="1668360" y="1280092"/>
                </a:lnTo>
                <a:lnTo>
                  <a:pt x="1681180" y="1320079"/>
                </a:lnTo>
                <a:lnTo>
                  <a:pt x="1691526" y="1358731"/>
                </a:lnTo>
                <a:lnTo>
                  <a:pt x="1704617" y="1431613"/>
                </a:lnTo>
                <a:lnTo>
                  <a:pt x="1707271" y="1465635"/>
                </a:lnTo>
                <a:lnTo>
                  <a:pt x="1707269" y="1497906"/>
                </a:lnTo>
                <a:lnTo>
                  <a:pt x="1699117" y="1556782"/>
                </a:lnTo>
                <a:lnTo>
                  <a:pt x="1679798" y="1607409"/>
                </a:lnTo>
                <a:lnTo>
                  <a:pt x="1648946" y="1648959"/>
                </a:lnTo>
                <a:lnTo>
                  <a:pt x="1607392" y="1679804"/>
                </a:lnTo>
                <a:lnTo>
                  <a:pt x="1556762" y="1699119"/>
                </a:lnTo>
                <a:lnTo>
                  <a:pt x="1497885" y="1707269"/>
                </a:lnTo>
                <a:lnTo>
                  <a:pt x="1465613" y="1707270"/>
                </a:lnTo>
                <a:lnTo>
                  <a:pt x="1431591" y="1704616"/>
                </a:lnTo>
                <a:lnTo>
                  <a:pt x="1358711" y="1691526"/>
                </a:lnTo>
                <a:lnTo>
                  <a:pt x="1320060" y="1681180"/>
                </a:lnTo>
                <a:lnTo>
                  <a:pt x="1280073" y="1668361"/>
                </a:lnTo>
                <a:lnTo>
                  <a:pt x="1238855" y="1653114"/>
                </a:lnTo>
                <a:lnTo>
                  <a:pt x="1196508" y="1635485"/>
                </a:lnTo>
                <a:lnTo>
                  <a:pt x="1153137" y="1615520"/>
                </a:lnTo>
                <a:lnTo>
                  <a:pt x="1108846" y="1593263"/>
                </a:lnTo>
                <a:lnTo>
                  <a:pt x="1063737" y="1568761"/>
                </a:lnTo>
                <a:lnTo>
                  <a:pt x="1017915" y="1542058"/>
                </a:lnTo>
                <a:lnTo>
                  <a:pt x="971483" y="1513201"/>
                </a:lnTo>
                <a:lnTo>
                  <a:pt x="924546" y="1482234"/>
                </a:lnTo>
                <a:lnTo>
                  <a:pt x="877207" y="1449203"/>
                </a:lnTo>
                <a:lnTo>
                  <a:pt x="829569" y="1414154"/>
                </a:lnTo>
                <a:lnTo>
                  <a:pt x="781736" y="1377132"/>
                </a:lnTo>
                <a:lnTo>
                  <a:pt x="733813" y="1338183"/>
                </a:lnTo>
                <a:lnTo>
                  <a:pt x="685902" y="1297352"/>
                </a:lnTo>
                <a:lnTo>
                  <a:pt x="638108" y="1254684"/>
                </a:lnTo>
                <a:lnTo>
                  <a:pt x="590534" y="1210226"/>
                </a:lnTo>
                <a:lnTo>
                  <a:pt x="543284" y="1164022"/>
                </a:lnTo>
                <a:lnTo>
                  <a:pt x="497075" y="1116763"/>
                </a:lnTo>
                <a:lnTo>
                  <a:pt x="452612" y="1069180"/>
                </a:lnTo>
                <a:lnTo>
                  <a:pt x="409941" y="1021378"/>
                </a:lnTo>
                <a:lnTo>
                  <a:pt x="369107" y="973460"/>
                </a:lnTo>
                <a:lnTo>
                  <a:pt x="330155" y="925530"/>
                </a:lnTo>
                <a:lnTo>
                  <a:pt x="293132" y="877691"/>
                </a:lnTo>
                <a:lnTo>
                  <a:pt x="258082" y="830048"/>
                </a:lnTo>
                <a:lnTo>
                  <a:pt x="225050" y="782703"/>
                </a:lnTo>
                <a:lnTo>
                  <a:pt x="194083" y="735761"/>
                </a:lnTo>
                <a:lnTo>
                  <a:pt x="165225" y="689325"/>
                </a:lnTo>
                <a:lnTo>
                  <a:pt x="138522" y="643500"/>
                </a:lnTo>
                <a:lnTo>
                  <a:pt x="114019" y="598388"/>
                </a:lnTo>
                <a:lnTo>
                  <a:pt x="91762" y="554093"/>
                </a:lnTo>
                <a:lnTo>
                  <a:pt x="71796" y="510719"/>
                </a:lnTo>
                <a:lnTo>
                  <a:pt x="54167" y="468371"/>
                </a:lnTo>
                <a:lnTo>
                  <a:pt x="38920" y="427150"/>
                </a:lnTo>
                <a:lnTo>
                  <a:pt x="26100" y="387162"/>
                </a:lnTo>
                <a:lnTo>
                  <a:pt x="15753" y="348510"/>
                </a:lnTo>
                <a:lnTo>
                  <a:pt x="2658" y="275627"/>
                </a:lnTo>
                <a:lnTo>
                  <a:pt x="0" y="209333"/>
                </a:lnTo>
                <a:lnTo>
                  <a:pt x="2697" y="178915"/>
                </a:lnTo>
                <a:lnTo>
                  <a:pt x="16373" y="124057"/>
                </a:lnTo>
                <a:lnTo>
                  <a:pt x="41393" y="77861"/>
                </a:lnTo>
                <a:lnTo>
                  <a:pt x="58271" y="58271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10483" y="2624327"/>
            <a:ext cx="2400300" cy="276225"/>
          </a:xfrm>
          <a:custGeom>
            <a:avLst/>
            <a:gdLst/>
            <a:ahLst/>
            <a:cxnLst/>
            <a:rect l="l" t="t" r="r" b="b"/>
            <a:pathLst>
              <a:path w="2400300" h="276225">
                <a:moveTo>
                  <a:pt x="2400300" y="0"/>
                </a:moveTo>
                <a:lnTo>
                  <a:pt x="2373032" y="69624"/>
                </a:lnTo>
                <a:lnTo>
                  <a:pt x="2341800" y="97536"/>
                </a:lnTo>
                <a:lnTo>
                  <a:pt x="2301371" y="119097"/>
                </a:lnTo>
                <a:lnTo>
                  <a:pt x="2253647" y="132997"/>
                </a:lnTo>
                <a:lnTo>
                  <a:pt x="2200529" y="137922"/>
                </a:lnTo>
                <a:lnTo>
                  <a:pt x="1399920" y="137922"/>
                </a:lnTo>
                <a:lnTo>
                  <a:pt x="1346802" y="142846"/>
                </a:lnTo>
                <a:lnTo>
                  <a:pt x="1299078" y="156746"/>
                </a:lnTo>
                <a:lnTo>
                  <a:pt x="1258649" y="178308"/>
                </a:lnTo>
                <a:lnTo>
                  <a:pt x="1227417" y="206219"/>
                </a:lnTo>
                <a:lnTo>
                  <a:pt x="1207283" y="239169"/>
                </a:lnTo>
                <a:lnTo>
                  <a:pt x="1200150" y="275844"/>
                </a:lnTo>
                <a:lnTo>
                  <a:pt x="1193016" y="239169"/>
                </a:lnTo>
                <a:lnTo>
                  <a:pt x="1172882" y="206219"/>
                </a:lnTo>
                <a:lnTo>
                  <a:pt x="1141650" y="178308"/>
                </a:lnTo>
                <a:lnTo>
                  <a:pt x="1101221" y="156746"/>
                </a:lnTo>
                <a:lnTo>
                  <a:pt x="1053497" y="142846"/>
                </a:lnTo>
                <a:lnTo>
                  <a:pt x="1000379" y="137922"/>
                </a:lnTo>
                <a:lnTo>
                  <a:pt x="199770" y="137922"/>
                </a:lnTo>
                <a:lnTo>
                  <a:pt x="146652" y="132997"/>
                </a:lnTo>
                <a:lnTo>
                  <a:pt x="98928" y="119097"/>
                </a:lnTo>
                <a:lnTo>
                  <a:pt x="58499" y="97536"/>
                </a:lnTo>
                <a:lnTo>
                  <a:pt x="27267" y="69624"/>
                </a:lnTo>
                <a:lnTo>
                  <a:pt x="7133" y="36674"/>
                </a:lnTo>
                <a:lnTo>
                  <a:pt x="0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90898" y="2804287"/>
            <a:ext cx="8426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句柄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82696" y="4830317"/>
            <a:ext cx="114300" cy="487680"/>
          </a:xfrm>
          <a:custGeom>
            <a:avLst/>
            <a:gdLst/>
            <a:ahLst/>
            <a:cxnLst/>
            <a:rect l="l" t="t" r="r" b="b"/>
            <a:pathLst>
              <a:path w="114300" h="487679">
                <a:moveTo>
                  <a:pt x="76200" y="95249"/>
                </a:moveTo>
                <a:lnTo>
                  <a:pt x="38100" y="95249"/>
                </a:lnTo>
                <a:lnTo>
                  <a:pt x="38100" y="487679"/>
                </a:lnTo>
                <a:lnTo>
                  <a:pt x="76200" y="487679"/>
                </a:lnTo>
                <a:lnTo>
                  <a:pt x="76200" y="95249"/>
                </a:lnTo>
                <a:close/>
              </a:path>
              <a:path w="114300" h="487679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487679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53566" y="4232909"/>
            <a:ext cx="3814445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$: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… </a:t>
            </a:r>
            <a:r>
              <a:rPr dirty="0" sz="3200" spc="5" b="1" i="1">
                <a:solidFill>
                  <a:srgbClr val="FF99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99FF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00"/>
                </a:solidFill>
                <a:latin typeface="Times New Roman"/>
                <a:cs typeface="Times New Roman"/>
              </a:rPr>
              <a:t>+1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1164" sz="3150" spc="232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ctr" marL="556260">
              <a:lnSpc>
                <a:spcPct val="100000"/>
              </a:lnSpc>
              <a:spcBef>
                <a:spcPts val="2230"/>
              </a:spcBef>
            </a:pP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72584" y="3025901"/>
            <a:ext cx="114300" cy="695325"/>
          </a:xfrm>
          <a:custGeom>
            <a:avLst/>
            <a:gdLst/>
            <a:ahLst/>
            <a:cxnLst/>
            <a:rect l="l" t="t" r="r" b="b"/>
            <a:pathLst>
              <a:path w="114300" h="695325">
                <a:moveTo>
                  <a:pt x="76200" y="95250"/>
                </a:moveTo>
                <a:lnTo>
                  <a:pt x="38100" y="95250"/>
                </a:lnTo>
                <a:lnTo>
                  <a:pt x="38100" y="694944"/>
                </a:lnTo>
                <a:lnTo>
                  <a:pt x="76200" y="694944"/>
                </a:lnTo>
                <a:lnTo>
                  <a:pt x="76200" y="95250"/>
                </a:lnTo>
                <a:close/>
              </a:path>
              <a:path w="114300" h="69532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9532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08601" y="3257499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5119" y="819353"/>
            <a:ext cx="5234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6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查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goto(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99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99FF"/>
                </a:solidFill>
                <a:latin typeface="Times New Roman"/>
                <a:cs typeface="Times New Roman"/>
              </a:rPr>
              <a:t>m</a:t>
            </a:r>
            <a:r>
              <a:rPr dirty="0" baseline="-21021" sz="2775" b="1">
                <a:solidFill>
                  <a:srgbClr val="FF99FF"/>
                </a:solidFill>
                <a:latin typeface="Times New Roman"/>
                <a:cs typeface="Times New Roman"/>
              </a:rPr>
              <a:t>-</a:t>
            </a:r>
            <a:r>
              <a:rPr dirty="0" baseline="-21021" sz="2775" b="1" i="1">
                <a:solidFill>
                  <a:srgbClr val="FF99FF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367" b="1" i="1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99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=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92140" y="1669690"/>
            <a:ext cx="1707514" cy="1707514"/>
          </a:xfrm>
          <a:custGeom>
            <a:avLst/>
            <a:gdLst/>
            <a:ahLst/>
            <a:cxnLst/>
            <a:rect l="l" t="t" r="r" b="b"/>
            <a:pathLst>
              <a:path w="1707514" h="1707514">
                <a:moveTo>
                  <a:pt x="58271" y="58271"/>
                </a:moveTo>
                <a:lnTo>
                  <a:pt x="99825" y="27443"/>
                </a:lnTo>
                <a:lnTo>
                  <a:pt x="150455" y="8140"/>
                </a:lnTo>
                <a:lnTo>
                  <a:pt x="209333" y="0"/>
                </a:lnTo>
                <a:lnTo>
                  <a:pt x="241605" y="2"/>
                </a:lnTo>
                <a:lnTo>
                  <a:pt x="311298" y="7924"/>
                </a:lnTo>
                <a:lnTo>
                  <a:pt x="387164" y="26100"/>
                </a:lnTo>
                <a:lnTo>
                  <a:pt x="427153" y="38920"/>
                </a:lnTo>
                <a:lnTo>
                  <a:pt x="468374" y="54167"/>
                </a:lnTo>
                <a:lnTo>
                  <a:pt x="510724" y="71796"/>
                </a:lnTo>
                <a:lnTo>
                  <a:pt x="554099" y="91762"/>
                </a:lnTo>
                <a:lnTo>
                  <a:pt x="598395" y="114019"/>
                </a:lnTo>
                <a:lnTo>
                  <a:pt x="643508" y="138522"/>
                </a:lnTo>
                <a:lnTo>
                  <a:pt x="689336" y="165225"/>
                </a:lnTo>
                <a:lnTo>
                  <a:pt x="735773" y="194083"/>
                </a:lnTo>
                <a:lnTo>
                  <a:pt x="782717" y="225050"/>
                </a:lnTo>
                <a:lnTo>
                  <a:pt x="830064" y="258082"/>
                </a:lnTo>
                <a:lnTo>
                  <a:pt x="877710" y="293132"/>
                </a:lnTo>
                <a:lnTo>
                  <a:pt x="925551" y="330155"/>
                </a:lnTo>
                <a:lnTo>
                  <a:pt x="973484" y="369107"/>
                </a:lnTo>
                <a:lnTo>
                  <a:pt x="1021405" y="409941"/>
                </a:lnTo>
                <a:lnTo>
                  <a:pt x="1069211" y="452612"/>
                </a:lnTo>
                <a:lnTo>
                  <a:pt x="1116797" y="497075"/>
                </a:lnTo>
                <a:lnTo>
                  <a:pt x="1164060" y="543284"/>
                </a:lnTo>
                <a:lnTo>
                  <a:pt x="1210256" y="590534"/>
                </a:lnTo>
                <a:lnTo>
                  <a:pt x="1254708" y="638108"/>
                </a:lnTo>
                <a:lnTo>
                  <a:pt x="1297370" y="685902"/>
                </a:lnTo>
                <a:lnTo>
                  <a:pt x="1338196" y="733813"/>
                </a:lnTo>
                <a:lnTo>
                  <a:pt x="1377142" y="781736"/>
                </a:lnTo>
                <a:lnTo>
                  <a:pt x="1414160" y="829569"/>
                </a:lnTo>
                <a:lnTo>
                  <a:pt x="1449207" y="877207"/>
                </a:lnTo>
                <a:lnTo>
                  <a:pt x="1482235" y="924546"/>
                </a:lnTo>
                <a:lnTo>
                  <a:pt x="1513201" y="971483"/>
                </a:lnTo>
                <a:lnTo>
                  <a:pt x="1542057" y="1017915"/>
                </a:lnTo>
                <a:lnTo>
                  <a:pt x="1568759" y="1063737"/>
                </a:lnTo>
                <a:lnTo>
                  <a:pt x="1593261" y="1108846"/>
                </a:lnTo>
                <a:lnTo>
                  <a:pt x="1615518" y="1153137"/>
                </a:lnTo>
                <a:lnTo>
                  <a:pt x="1635484" y="1196508"/>
                </a:lnTo>
                <a:lnTo>
                  <a:pt x="1653113" y="1238855"/>
                </a:lnTo>
                <a:lnTo>
                  <a:pt x="1668360" y="1280073"/>
                </a:lnTo>
                <a:lnTo>
                  <a:pt x="1681180" y="1320060"/>
                </a:lnTo>
                <a:lnTo>
                  <a:pt x="1691526" y="1358711"/>
                </a:lnTo>
                <a:lnTo>
                  <a:pt x="1704617" y="1431591"/>
                </a:lnTo>
                <a:lnTo>
                  <a:pt x="1707271" y="1465613"/>
                </a:lnTo>
                <a:lnTo>
                  <a:pt x="1707269" y="1497885"/>
                </a:lnTo>
                <a:lnTo>
                  <a:pt x="1699117" y="1556762"/>
                </a:lnTo>
                <a:lnTo>
                  <a:pt x="1679798" y="1607392"/>
                </a:lnTo>
                <a:lnTo>
                  <a:pt x="1648946" y="1648946"/>
                </a:lnTo>
                <a:lnTo>
                  <a:pt x="1607392" y="1679798"/>
                </a:lnTo>
                <a:lnTo>
                  <a:pt x="1556762" y="1699117"/>
                </a:lnTo>
                <a:lnTo>
                  <a:pt x="1497885" y="1707269"/>
                </a:lnTo>
                <a:lnTo>
                  <a:pt x="1465613" y="1707271"/>
                </a:lnTo>
                <a:lnTo>
                  <a:pt x="1431591" y="1704617"/>
                </a:lnTo>
                <a:lnTo>
                  <a:pt x="1358711" y="1691526"/>
                </a:lnTo>
                <a:lnTo>
                  <a:pt x="1320060" y="1681180"/>
                </a:lnTo>
                <a:lnTo>
                  <a:pt x="1280073" y="1668360"/>
                </a:lnTo>
                <a:lnTo>
                  <a:pt x="1238855" y="1653113"/>
                </a:lnTo>
                <a:lnTo>
                  <a:pt x="1196508" y="1635484"/>
                </a:lnTo>
                <a:lnTo>
                  <a:pt x="1153137" y="1615518"/>
                </a:lnTo>
                <a:lnTo>
                  <a:pt x="1108846" y="1593261"/>
                </a:lnTo>
                <a:lnTo>
                  <a:pt x="1063737" y="1568759"/>
                </a:lnTo>
                <a:lnTo>
                  <a:pt x="1017915" y="1542057"/>
                </a:lnTo>
                <a:lnTo>
                  <a:pt x="971483" y="1513201"/>
                </a:lnTo>
                <a:lnTo>
                  <a:pt x="924546" y="1482235"/>
                </a:lnTo>
                <a:lnTo>
                  <a:pt x="877207" y="1449207"/>
                </a:lnTo>
                <a:lnTo>
                  <a:pt x="829569" y="1414160"/>
                </a:lnTo>
                <a:lnTo>
                  <a:pt x="781736" y="1377142"/>
                </a:lnTo>
                <a:lnTo>
                  <a:pt x="733813" y="1338196"/>
                </a:lnTo>
                <a:lnTo>
                  <a:pt x="685902" y="1297370"/>
                </a:lnTo>
                <a:lnTo>
                  <a:pt x="638108" y="1254708"/>
                </a:lnTo>
                <a:lnTo>
                  <a:pt x="590534" y="1210256"/>
                </a:lnTo>
                <a:lnTo>
                  <a:pt x="543284" y="1164060"/>
                </a:lnTo>
                <a:lnTo>
                  <a:pt x="497075" y="1116797"/>
                </a:lnTo>
                <a:lnTo>
                  <a:pt x="452612" y="1069211"/>
                </a:lnTo>
                <a:lnTo>
                  <a:pt x="409941" y="1021405"/>
                </a:lnTo>
                <a:lnTo>
                  <a:pt x="369107" y="973484"/>
                </a:lnTo>
                <a:lnTo>
                  <a:pt x="330155" y="925551"/>
                </a:lnTo>
                <a:lnTo>
                  <a:pt x="293132" y="877710"/>
                </a:lnTo>
                <a:lnTo>
                  <a:pt x="258082" y="830064"/>
                </a:lnTo>
                <a:lnTo>
                  <a:pt x="225050" y="782717"/>
                </a:lnTo>
                <a:lnTo>
                  <a:pt x="194083" y="735773"/>
                </a:lnTo>
                <a:lnTo>
                  <a:pt x="165225" y="689336"/>
                </a:lnTo>
                <a:lnTo>
                  <a:pt x="138522" y="643508"/>
                </a:lnTo>
                <a:lnTo>
                  <a:pt x="114019" y="598395"/>
                </a:lnTo>
                <a:lnTo>
                  <a:pt x="91762" y="554099"/>
                </a:lnTo>
                <a:lnTo>
                  <a:pt x="71796" y="510724"/>
                </a:lnTo>
                <a:lnTo>
                  <a:pt x="54167" y="468374"/>
                </a:lnTo>
                <a:lnTo>
                  <a:pt x="38920" y="427153"/>
                </a:lnTo>
                <a:lnTo>
                  <a:pt x="26100" y="387164"/>
                </a:lnTo>
                <a:lnTo>
                  <a:pt x="15753" y="348511"/>
                </a:lnTo>
                <a:lnTo>
                  <a:pt x="2658" y="275628"/>
                </a:lnTo>
                <a:lnTo>
                  <a:pt x="0" y="209333"/>
                </a:lnTo>
                <a:lnTo>
                  <a:pt x="2697" y="178915"/>
                </a:lnTo>
                <a:lnTo>
                  <a:pt x="16373" y="124057"/>
                </a:lnTo>
                <a:lnTo>
                  <a:pt x="41393" y="77861"/>
                </a:lnTo>
                <a:lnTo>
                  <a:pt x="58271" y="58271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81175" y="1827276"/>
          <a:ext cx="4629150" cy="1219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345"/>
                <a:gridCol w="790574"/>
                <a:gridCol w="668655"/>
                <a:gridCol w="995680"/>
                <a:gridCol w="661034"/>
                <a:gridCol w="729614"/>
              </a:tblGrid>
              <a:tr h="5811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3235"/>
                        </a:lnSpc>
                        <a:spcBef>
                          <a:spcPts val="1240"/>
                        </a:spcBef>
                      </a:pPr>
                      <a:r>
                        <a:rPr dirty="0" baseline="13888" sz="4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185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8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5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748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3475"/>
                        </a:lnSpc>
                      </a:pPr>
                      <a:r>
                        <a:rPr dirty="0" sz="3200" spc="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164" sz="3150" spc="7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-21164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baseline="13888" sz="4200" spc="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85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5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748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3B4FB"/>
                      </a:solidFill>
                      <a:prstDash val="solid"/>
                    </a:lnL>
                    <a:lnR w="38100">
                      <a:solidFill>
                        <a:srgbClr val="F3B4FB"/>
                      </a:solidFill>
                      <a:prstDash val="solid"/>
                    </a:lnR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3B4FB"/>
                      </a:solidFill>
                      <a:prstDash val="solid"/>
                    </a:lnL>
                    <a:lnT w="38100">
                      <a:solidFill>
                        <a:srgbClr val="F3B4FB"/>
                      </a:solidFill>
                      <a:prstDash val="solid"/>
                    </a:lnT>
                    <a:lnB w="38100">
                      <a:solidFill>
                        <a:srgbClr val="F3B4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77053" y="4372483"/>
            <a:ext cx="28784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（扫描指针不变）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5485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642" y="2568905"/>
            <a:ext cx="27609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action(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7" b="1" i="1">
                <a:solidFill>
                  <a:srgbClr val="00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35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7875" y="3904150"/>
            <a:ext cx="5394960" cy="1390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00" marR="5080" indent="-1321435">
              <a:lnSpc>
                <a:spcPct val="140000"/>
              </a:lnSpc>
              <a:spcBef>
                <a:spcPts val="95"/>
              </a:spcBef>
            </a:pP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error</a:t>
            </a:r>
            <a:r>
              <a:rPr dirty="0" sz="3200" spc="1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出错</a:t>
            </a:r>
            <a:r>
              <a:rPr dirty="0" sz="3200" b="1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语法错，调出错 处理程</a:t>
            </a:r>
            <a:r>
              <a:rPr dirty="0" sz="3200" spc="770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2657" y="1358341"/>
            <a:ext cx="5927725" cy="2254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9925" algn="l"/>
              </a:tabLst>
            </a:pP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Qj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00FF"/>
                </a:solidFill>
                <a:latin typeface="宋体"/>
                <a:cs typeface="宋体"/>
              </a:rPr>
              <a:t>移进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0833" sz="3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个状态压入栈</a:t>
            </a:r>
            <a:endParaRPr sz="3000">
              <a:latin typeface="宋体"/>
              <a:cs typeface="宋体"/>
            </a:endParaRPr>
          </a:p>
          <a:p>
            <a:pPr marL="97790" marR="366395" indent="38100">
              <a:lnSpc>
                <a:spcPct val="175800"/>
              </a:lnSpc>
              <a:spcBef>
                <a:spcPts val="200"/>
              </a:spcBef>
              <a:tabLst>
                <a:tab pos="527050" algn="l"/>
              </a:tabLst>
            </a:pP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j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00FF"/>
                </a:solidFill>
                <a:latin typeface="宋体"/>
                <a:cs typeface="宋体"/>
              </a:rPr>
              <a:t>归约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用第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个产生式归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spc="-8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 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acc</a:t>
            </a:r>
            <a:r>
              <a:rPr dirty="0" sz="3200" spc="2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接受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分析成</a:t>
            </a:r>
            <a:r>
              <a:rPr dirty="0" sz="3200" spc="685" b="1">
                <a:solidFill>
                  <a:srgbClr val="FFFFFF"/>
                </a:solidFill>
                <a:latin typeface="宋体"/>
                <a:cs typeface="宋体"/>
              </a:rPr>
              <a:t>功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58261" y="1620774"/>
            <a:ext cx="216535" cy="2726690"/>
          </a:xfrm>
          <a:custGeom>
            <a:avLst/>
            <a:gdLst/>
            <a:ahLst/>
            <a:cxnLst/>
            <a:rect l="l" t="t" r="r" b="b"/>
            <a:pathLst>
              <a:path w="216535" h="2726690">
                <a:moveTo>
                  <a:pt x="216407" y="2726436"/>
                </a:moveTo>
                <a:lnTo>
                  <a:pt x="161769" y="2693637"/>
                </a:lnTo>
                <a:lnTo>
                  <a:pt x="139874" y="2656078"/>
                </a:lnTo>
                <a:lnTo>
                  <a:pt x="122964" y="2607469"/>
                </a:lnTo>
                <a:lnTo>
                  <a:pt x="112065" y="2550105"/>
                </a:lnTo>
                <a:lnTo>
                  <a:pt x="108204" y="2486279"/>
                </a:lnTo>
                <a:lnTo>
                  <a:pt x="108204" y="1603375"/>
                </a:lnTo>
                <a:lnTo>
                  <a:pt x="104342" y="1539548"/>
                </a:lnTo>
                <a:lnTo>
                  <a:pt x="93443" y="1482184"/>
                </a:lnTo>
                <a:lnTo>
                  <a:pt x="76533" y="1433576"/>
                </a:lnTo>
                <a:lnTo>
                  <a:pt x="54638" y="1396016"/>
                </a:lnTo>
                <a:lnTo>
                  <a:pt x="0" y="1363217"/>
                </a:lnTo>
                <a:lnTo>
                  <a:pt x="28784" y="1354636"/>
                </a:lnTo>
                <a:lnTo>
                  <a:pt x="76533" y="1292859"/>
                </a:lnTo>
                <a:lnTo>
                  <a:pt x="93443" y="1244251"/>
                </a:lnTo>
                <a:lnTo>
                  <a:pt x="104342" y="1186887"/>
                </a:lnTo>
                <a:lnTo>
                  <a:pt x="108204" y="1123061"/>
                </a:lnTo>
                <a:lnTo>
                  <a:pt x="108204" y="240156"/>
                </a:lnTo>
                <a:lnTo>
                  <a:pt x="112065" y="176330"/>
                </a:lnTo>
                <a:lnTo>
                  <a:pt x="122964" y="118966"/>
                </a:lnTo>
                <a:lnTo>
                  <a:pt x="139874" y="70357"/>
                </a:lnTo>
                <a:lnTo>
                  <a:pt x="161769" y="32798"/>
                </a:lnTo>
                <a:lnTo>
                  <a:pt x="187623" y="8581"/>
                </a:lnTo>
                <a:lnTo>
                  <a:pt x="2164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5485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00112" y="1654238"/>
          <a:ext cx="7425055" cy="471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6005"/>
                <a:gridCol w="1052830"/>
                <a:gridCol w="1056005"/>
                <a:gridCol w="1054100"/>
                <a:gridCol w="1055370"/>
                <a:gridCol w="1052195"/>
                <a:gridCol w="1055370"/>
              </a:tblGrid>
              <a:tr h="5207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状态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2217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8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07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9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5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8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6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131057" y="820927"/>
            <a:ext cx="39014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G(L)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63000" y="4523232"/>
            <a:ext cx="381000" cy="779145"/>
          </a:xfrm>
          <a:custGeom>
            <a:avLst/>
            <a:gdLst/>
            <a:ahLst/>
            <a:cxnLst/>
            <a:rect l="l" t="t" r="r" b="b"/>
            <a:pathLst>
              <a:path w="381000" h="779145">
                <a:moveTo>
                  <a:pt x="0" y="778764"/>
                </a:moveTo>
                <a:lnTo>
                  <a:pt x="381000" y="778764"/>
                </a:lnTo>
                <a:lnTo>
                  <a:pt x="381000" y="0"/>
                </a:lnTo>
                <a:lnTo>
                  <a:pt x="0" y="0"/>
                </a:lnTo>
                <a:lnTo>
                  <a:pt x="0" y="778764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851518" y="4602327"/>
            <a:ext cx="2038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分 析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08270" y="3175254"/>
            <a:ext cx="939165" cy="711835"/>
          </a:xfrm>
          <a:custGeom>
            <a:avLst/>
            <a:gdLst/>
            <a:ahLst/>
            <a:cxnLst/>
            <a:rect l="l" t="t" r="r" b="b"/>
            <a:pathLst>
              <a:path w="939164" h="711835">
                <a:moveTo>
                  <a:pt x="0" y="355854"/>
                </a:moveTo>
                <a:lnTo>
                  <a:pt x="3158" y="314342"/>
                </a:lnTo>
                <a:lnTo>
                  <a:pt x="12398" y="274240"/>
                </a:lnTo>
                <a:lnTo>
                  <a:pt x="27368" y="235814"/>
                </a:lnTo>
                <a:lnTo>
                  <a:pt x="47714" y="199330"/>
                </a:lnTo>
                <a:lnTo>
                  <a:pt x="73086" y="165056"/>
                </a:lnTo>
                <a:lnTo>
                  <a:pt x="103129" y="133258"/>
                </a:lnTo>
                <a:lnTo>
                  <a:pt x="137493" y="104203"/>
                </a:lnTo>
                <a:lnTo>
                  <a:pt x="175824" y="78157"/>
                </a:lnTo>
                <a:lnTo>
                  <a:pt x="217770" y="55386"/>
                </a:lnTo>
                <a:lnTo>
                  <a:pt x="262978" y="36158"/>
                </a:lnTo>
                <a:lnTo>
                  <a:pt x="311097" y="20738"/>
                </a:lnTo>
                <a:lnTo>
                  <a:pt x="361774" y="9395"/>
                </a:lnTo>
                <a:lnTo>
                  <a:pt x="414656" y="2393"/>
                </a:lnTo>
                <a:lnTo>
                  <a:pt x="469391" y="0"/>
                </a:lnTo>
                <a:lnTo>
                  <a:pt x="524127" y="2393"/>
                </a:lnTo>
                <a:lnTo>
                  <a:pt x="577009" y="9395"/>
                </a:lnTo>
                <a:lnTo>
                  <a:pt x="627686" y="20738"/>
                </a:lnTo>
                <a:lnTo>
                  <a:pt x="675805" y="36158"/>
                </a:lnTo>
                <a:lnTo>
                  <a:pt x="721013" y="55386"/>
                </a:lnTo>
                <a:lnTo>
                  <a:pt x="762959" y="78157"/>
                </a:lnTo>
                <a:lnTo>
                  <a:pt x="801290" y="104203"/>
                </a:lnTo>
                <a:lnTo>
                  <a:pt x="835654" y="133258"/>
                </a:lnTo>
                <a:lnTo>
                  <a:pt x="865697" y="165056"/>
                </a:lnTo>
                <a:lnTo>
                  <a:pt x="891069" y="199330"/>
                </a:lnTo>
                <a:lnTo>
                  <a:pt x="911415" y="235814"/>
                </a:lnTo>
                <a:lnTo>
                  <a:pt x="926385" y="274240"/>
                </a:lnTo>
                <a:lnTo>
                  <a:pt x="935625" y="314342"/>
                </a:lnTo>
                <a:lnTo>
                  <a:pt x="938783" y="355854"/>
                </a:lnTo>
                <a:lnTo>
                  <a:pt x="935625" y="397365"/>
                </a:lnTo>
                <a:lnTo>
                  <a:pt x="926385" y="437467"/>
                </a:lnTo>
                <a:lnTo>
                  <a:pt x="911415" y="475893"/>
                </a:lnTo>
                <a:lnTo>
                  <a:pt x="891069" y="512377"/>
                </a:lnTo>
                <a:lnTo>
                  <a:pt x="865697" y="546651"/>
                </a:lnTo>
                <a:lnTo>
                  <a:pt x="835654" y="578449"/>
                </a:lnTo>
                <a:lnTo>
                  <a:pt x="801290" y="607504"/>
                </a:lnTo>
                <a:lnTo>
                  <a:pt x="762959" y="633550"/>
                </a:lnTo>
                <a:lnTo>
                  <a:pt x="721013" y="656321"/>
                </a:lnTo>
                <a:lnTo>
                  <a:pt x="675805" y="675549"/>
                </a:lnTo>
                <a:lnTo>
                  <a:pt x="627686" y="690969"/>
                </a:lnTo>
                <a:lnTo>
                  <a:pt x="577009" y="702312"/>
                </a:lnTo>
                <a:lnTo>
                  <a:pt x="524127" y="709314"/>
                </a:lnTo>
                <a:lnTo>
                  <a:pt x="469391" y="711708"/>
                </a:lnTo>
                <a:lnTo>
                  <a:pt x="414656" y="709314"/>
                </a:lnTo>
                <a:lnTo>
                  <a:pt x="361774" y="702312"/>
                </a:lnTo>
                <a:lnTo>
                  <a:pt x="311097" y="690969"/>
                </a:lnTo>
                <a:lnTo>
                  <a:pt x="262978" y="675549"/>
                </a:lnTo>
                <a:lnTo>
                  <a:pt x="217770" y="656321"/>
                </a:lnTo>
                <a:lnTo>
                  <a:pt x="175824" y="633550"/>
                </a:lnTo>
                <a:lnTo>
                  <a:pt x="137493" y="607504"/>
                </a:lnTo>
                <a:lnTo>
                  <a:pt x="103129" y="578449"/>
                </a:lnTo>
                <a:lnTo>
                  <a:pt x="73086" y="546651"/>
                </a:lnTo>
                <a:lnTo>
                  <a:pt x="47714" y="512377"/>
                </a:lnTo>
                <a:lnTo>
                  <a:pt x="27368" y="475893"/>
                </a:lnTo>
                <a:lnTo>
                  <a:pt x="12398" y="437467"/>
                </a:lnTo>
                <a:lnTo>
                  <a:pt x="3158" y="397365"/>
                </a:lnTo>
                <a:lnTo>
                  <a:pt x="0" y="3558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8335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  <a:tab pos="4643120" algn="l"/>
                <a:tab pos="54051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0342" y="578612"/>
            <a:ext cx="41624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（</a:t>
            </a:r>
            <a:r>
              <a:rPr dirty="0" sz="3200">
                <a:latin typeface="Times New Roman"/>
                <a:cs typeface="Times New Roman"/>
              </a:rPr>
              <a:t>3</a:t>
            </a:r>
            <a:r>
              <a:rPr dirty="0" sz="3200"/>
              <a:t>）</a:t>
            </a:r>
            <a:r>
              <a:rPr dirty="0" sz="3200" spc="-900"/>
              <a:t> </a:t>
            </a:r>
            <a:r>
              <a:rPr dirty="0" sz="3200">
                <a:latin typeface="Times New Roman"/>
                <a:cs typeface="Times New Roman"/>
              </a:rPr>
              <a:t>LR</a:t>
            </a:r>
            <a:r>
              <a:rPr dirty="0" sz="3200"/>
              <a:t>分析总控程序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041" y="1155433"/>
            <a:ext cx="8641080" cy="4975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43000" marR="958850" indent="-1067435">
              <a:lnSpc>
                <a:spcPct val="145000"/>
              </a:lnSpc>
              <a:spcBef>
                <a:spcPts val="95"/>
              </a:spcBef>
              <a:tabLst>
                <a:tab pos="5069205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7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分析开始，将初始状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及输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字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串左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符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“＃”压入分析栈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//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初始化</a:t>
            </a:r>
            <a:endParaRPr sz="2800">
              <a:latin typeface="宋体"/>
              <a:cs typeface="宋体"/>
            </a:endParaRPr>
          </a:p>
          <a:p>
            <a:pPr marL="76200">
              <a:lnSpc>
                <a:spcPct val="100000"/>
              </a:lnSpc>
              <a:spcBef>
                <a:spcPts val="151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②据当前分析栈栈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顶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7" b="1" i="1">
                <a:solidFill>
                  <a:srgbClr val="66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当前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输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查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action</a:t>
            </a:r>
            <a:r>
              <a:rPr dirty="0" sz="2800" spc="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表：</a:t>
            </a:r>
            <a:endParaRPr sz="2800">
              <a:latin typeface="宋体"/>
              <a:cs typeface="宋体"/>
            </a:endParaRPr>
          </a:p>
          <a:p>
            <a:pPr marL="520700" marR="1771014" indent="1270">
              <a:lnSpc>
                <a:spcPct val="145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25525" sz="2775" spc="30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完成移进动作；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ii)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25525" sz="2775" spc="3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完成归约动作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。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iii)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25525" sz="2775" spc="30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acc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，分析成功；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iv)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25525" sz="2775" spc="3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error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出错处理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54000">
              <a:lnSpc>
                <a:spcPct val="100000"/>
              </a:lnSpc>
              <a:spcBef>
                <a:spcPts val="151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③转②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3212" y="3188207"/>
            <a:ext cx="8426450" cy="2476500"/>
          </a:xfrm>
          <a:custGeom>
            <a:avLst/>
            <a:gdLst/>
            <a:ahLst/>
            <a:cxnLst/>
            <a:rect l="l" t="t" r="r" b="b"/>
            <a:pathLst>
              <a:path w="8426450" h="2476500">
                <a:moveTo>
                  <a:pt x="0" y="2476500"/>
                </a:moveTo>
                <a:lnTo>
                  <a:pt x="8426196" y="2476500"/>
                </a:lnTo>
                <a:lnTo>
                  <a:pt x="8426196" y="0"/>
                </a:lnTo>
                <a:lnTo>
                  <a:pt x="0" y="0"/>
                </a:lnTo>
                <a:lnTo>
                  <a:pt x="0" y="2476500"/>
                </a:lnTo>
                <a:close/>
              </a:path>
            </a:pathLst>
          </a:custGeom>
          <a:ln w="762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6070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0552" y="26923"/>
            <a:ext cx="1912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58661" y="3576065"/>
            <a:ext cx="1028699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58661" y="3576065"/>
            <a:ext cx="1028700" cy="536575"/>
          </a:xfrm>
          <a:custGeom>
            <a:avLst/>
            <a:gdLst/>
            <a:ahLst/>
            <a:cxnLst/>
            <a:rect l="l" t="t" r="r" b="b"/>
            <a:pathLst>
              <a:path w="1028700" h="536575">
                <a:moveTo>
                  <a:pt x="0" y="268224"/>
                </a:moveTo>
                <a:lnTo>
                  <a:pt x="257175" y="0"/>
                </a:lnTo>
                <a:lnTo>
                  <a:pt x="257175" y="134112"/>
                </a:lnTo>
                <a:lnTo>
                  <a:pt x="1028699" y="134112"/>
                </a:lnTo>
                <a:lnTo>
                  <a:pt x="1028699" y="402336"/>
                </a:lnTo>
                <a:lnTo>
                  <a:pt x="257175" y="402336"/>
                </a:lnTo>
                <a:lnTo>
                  <a:pt x="257175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63218" y="1820621"/>
            <a:ext cx="481965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8700" algn="l"/>
              </a:tabLst>
            </a:pPr>
            <a:r>
              <a:rPr dirty="0" sz="3200">
                <a:latin typeface="Times New Roman"/>
                <a:cs typeface="Times New Roman"/>
              </a:rPr>
              <a:t>5.3.1	LR</a:t>
            </a:r>
            <a:r>
              <a:rPr dirty="0" sz="3200" spc="-5"/>
              <a:t>分析与</a:t>
            </a:r>
            <a:r>
              <a:rPr dirty="0" sz="3200">
                <a:latin typeface="Times New Roman"/>
                <a:cs typeface="Times New Roman"/>
              </a:rPr>
              <a:t>LR</a:t>
            </a:r>
            <a:r>
              <a:rPr dirty="0" sz="3200" spc="-5"/>
              <a:t>分析</a:t>
            </a:r>
            <a:r>
              <a:rPr dirty="0" sz="3200" spc="-10"/>
              <a:t>器</a:t>
            </a:r>
            <a:r>
              <a:rPr dirty="0" u="heavy" sz="3200" spc="-1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-6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63218" y="2674747"/>
            <a:ext cx="6915784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028700" indent="-1016635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1028700" algn="l"/>
                <a:tab pos="1029335" algn="l"/>
              </a:tabLst>
            </a:pP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分析器结构、组成与工</a:t>
            </a:r>
            <a:r>
              <a:rPr dirty="0" sz="3200" spc="-15" b="1">
                <a:solidFill>
                  <a:srgbClr val="FFFF66"/>
                </a:solidFill>
                <a:latin typeface="宋体"/>
                <a:cs typeface="宋体"/>
              </a:rPr>
              <a:t>作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原理</a:t>
            </a:r>
            <a:endParaRPr sz="3200">
              <a:latin typeface="宋体"/>
              <a:cs typeface="宋体"/>
            </a:endParaRPr>
          </a:p>
          <a:p>
            <a:pPr lvl="2" marL="926465" indent="-914400">
              <a:lnSpc>
                <a:spcPct val="100000"/>
              </a:lnSpc>
              <a:spcBef>
                <a:spcPts val="2880"/>
              </a:spcBef>
              <a:buClr>
                <a:srgbClr val="FFFF00"/>
              </a:buClr>
              <a:buAutoNum type="arabicPeriod" startAt="2"/>
              <a:tabLst>
                <a:tab pos="92710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分析实例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1402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84982" y="26923"/>
            <a:ext cx="20332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8415" y="26923"/>
            <a:ext cx="21653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543" y="959612"/>
            <a:ext cx="11487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3485" y="813917"/>
            <a:ext cx="3548379" cy="392747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2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419734">
              <a:lnSpc>
                <a:spcPct val="100000"/>
              </a:lnSpc>
              <a:spcBef>
                <a:spcPts val="192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3200" spc="-2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1150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r>
              <a:rPr dirty="0" sz="3200" spc="-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③</a:t>
            </a:r>
            <a:r>
              <a:rPr dirty="0" sz="3200" spc="-1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④</a:t>
            </a:r>
            <a:r>
              <a:rPr dirty="0" sz="3200" spc="-1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1143" y="5252110"/>
            <a:ext cx="35915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输入字符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200" spc="-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11402" y="26923"/>
            <a:ext cx="42068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2693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8415" y="26923"/>
            <a:ext cx="21653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842" y="610869"/>
            <a:ext cx="48698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5344" algn="l"/>
                <a:tab pos="3734435" algn="l"/>
              </a:tabLst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步</a:t>
            </a:r>
            <a:r>
              <a:rPr dirty="0" sz="2200" spc="-15" b="1">
                <a:solidFill>
                  <a:srgbClr val="FFFFFF"/>
                </a:solidFill>
                <a:latin typeface="宋体"/>
                <a:cs typeface="宋体"/>
              </a:rPr>
              <a:t>骤</a:t>
            </a:r>
            <a:r>
              <a:rPr dirty="0" sz="22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栈中状</a:t>
            </a:r>
            <a:r>
              <a:rPr dirty="0" sz="2200" spc="-15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2200" spc="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输入符号</a:t>
            </a:r>
            <a:r>
              <a:rPr dirty="0" sz="2200" spc="-1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2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栈中符号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6329" y="610869"/>
            <a:ext cx="11474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分析动作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216" y="943909"/>
            <a:ext cx="2541270" cy="941069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  <a:tabLst>
                <a:tab pos="1689100" algn="l"/>
              </a:tabLst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	</a:t>
            </a:r>
            <a:r>
              <a:rPr dirty="0" u="heavy" sz="2400" spc="-5" b="1" i="1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400" spc="-5" b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84150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3	,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042" y="943909"/>
            <a:ext cx="178435" cy="139827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5216" y="1950846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84398" y="1950846"/>
            <a:ext cx="7118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80052" y="943909"/>
            <a:ext cx="457834" cy="139827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4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9070" y="553973"/>
            <a:ext cx="8781415" cy="0"/>
          </a:xfrm>
          <a:custGeom>
            <a:avLst/>
            <a:gdLst/>
            <a:ahLst/>
            <a:cxnLst/>
            <a:rect l="l" t="t" r="r" b="b"/>
            <a:pathLst>
              <a:path w="8781415" h="0">
                <a:moveTo>
                  <a:pt x="0" y="0"/>
                </a:moveTo>
                <a:lnTo>
                  <a:pt x="87812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2973" y="1029461"/>
            <a:ext cx="8781415" cy="0"/>
          </a:xfrm>
          <a:custGeom>
            <a:avLst/>
            <a:gdLst/>
            <a:ahLst/>
            <a:cxnLst/>
            <a:rect l="l" t="t" r="r" b="b"/>
            <a:pathLst>
              <a:path w="8781415" h="0">
                <a:moveTo>
                  <a:pt x="0" y="0"/>
                </a:moveTo>
                <a:lnTo>
                  <a:pt x="87812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3265" y="6649973"/>
            <a:ext cx="8781415" cy="0"/>
          </a:xfrm>
          <a:custGeom>
            <a:avLst/>
            <a:gdLst/>
            <a:ahLst/>
            <a:cxnLst/>
            <a:rect l="l" t="t" r="r" b="b"/>
            <a:pathLst>
              <a:path w="8781415" h="0">
                <a:moveTo>
                  <a:pt x="0" y="0"/>
                </a:moveTo>
                <a:lnTo>
                  <a:pt x="87812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78991" y="454151"/>
            <a:ext cx="4483735" cy="6195060"/>
          </a:xfrm>
          <a:custGeom>
            <a:avLst/>
            <a:gdLst/>
            <a:ahLst/>
            <a:cxnLst/>
            <a:rect l="l" t="t" r="r" b="b"/>
            <a:pathLst>
              <a:path w="4483735" h="6195059">
                <a:moveTo>
                  <a:pt x="0" y="6195060"/>
                </a:moveTo>
                <a:lnTo>
                  <a:pt x="4483608" y="6195060"/>
                </a:lnTo>
                <a:lnTo>
                  <a:pt x="4483608" y="0"/>
                </a:lnTo>
                <a:lnTo>
                  <a:pt x="0" y="0"/>
                </a:lnTo>
                <a:lnTo>
                  <a:pt x="0" y="6195060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24761" y="1925573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6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801100" y="1037844"/>
            <a:ext cx="342900" cy="780415"/>
          </a:xfrm>
          <a:custGeom>
            <a:avLst/>
            <a:gdLst/>
            <a:ahLst/>
            <a:cxnLst/>
            <a:rect l="l" t="t" r="r" b="b"/>
            <a:pathLst>
              <a:path w="342900" h="780414">
                <a:moveTo>
                  <a:pt x="0" y="780288"/>
                </a:moveTo>
                <a:lnTo>
                  <a:pt x="342899" y="780288"/>
                </a:lnTo>
                <a:lnTo>
                  <a:pt x="342899" y="0"/>
                </a:lnTo>
                <a:lnTo>
                  <a:pt x="0" y="0"/>
                </a:lnTo>
                <a:lnTo>
                  <a:pt x="0" y="780288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889618" y="1116939"/>
            <a:ext cx="2038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查 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801100" y="2924555"/>
            <a:ext cx="342900" cy="779145"/>
          </a:xfrm>
          <a:custGeom>
            <a:avLst/>
            <a:gdLst/>
            <a:ahLst/>
            <a:cxnLst/>
            <a:rect l="l" t="t" r="r" b="b"/>
            <a:pathLst>
              <a:path w="342900" h="779145">
                <a:moveTo>
                  <a:pt x="0" y="778764"/>
                </a:moveTo>
                <a:lnTo>
                  <a:pt x="342899" y="778764"/>
                </a:lnTo>
                <a:lnTo>
                  <a:pt x="342899" y="0"/>
                </a:lnTo>
                <a:lnTo>
                  <a:pt x="0" y="0"/>
                </a:lnTo>
                <a:lnTo>
                  <a:pt x="0" y="778764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21792" y="2382773"/>
          <a:ext cx="8268334" cy="1770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  <a:gridCol w="2194560"/>
                <a:gridCol w="915035"/>
                <a:gridCol w="1374775"/>
                <a:gridCol w="3127375"/>
              </a:tblGrid>
              <a:tr h="4686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</a:t>
                      </a:r>
                      <a:r>
                        <a:rPr dirty="0" sz="2400" spc="-5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965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spc="-5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9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marL="866775">
                        <a:lnSpc>
                          <a:spcPts val="2350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4305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4305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697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1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4305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④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归约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/>
                </a:tc>
              </a:tr>
              <a:tr h="41052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1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841375">
                        <a:lnSpc>
                          <a:spcPts val="253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4305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4305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21062">
                <a:tc>
                  <a:txBody>
                    <a:bodyPr/>
                    <a:lstStyle/>
                    <a:p>
                      <a:pPr marL="31750">
                        <a:lnSpc>
                          <a:spcPts val="2735"/>
                        </a:lnSpc>
                        <a:spcBef>
                          <a:spcPts val="4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2735"/>
                        </a:lnSpc>
                        <a:spcBef>
                          <a:spcPts val="4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0252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ts val="2735"/>
                        </a:lnSpc>
                        <a:spcBef>
                          <a:spcPts val="480"/>
                        </a:spcBef>
                      </a:pPr>
                      <a:r>
                        <a:rPr dirty="0" sz="24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1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735"/>
                        </a:lnSpc>
                        <a:spcBef>
                          <a:spcPts val="4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marL="841375">
                        <a:lnSpc>
                          <a:spcPts val="2740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4305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4305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21792" y="3826170"/>
          <a:ext cx="8613775" cy="2628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/>
                <a:gridCol w="1829435"/>
                <a:gridCol w="1296035"/>
                <a:gridCol w="1377950"/>
                <a:gridCol w="3469639"/>
              </a:tblGrid>
              <a:tr h="387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7813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/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4305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用规则③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约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</a:tr>
              <a:tr h="45900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2790"/>
                        </a:lnSpc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baseline="-20833" sz="2400" spc="254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②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归约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7796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-20833" sz="2400" spc="21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用规则①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约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/>
                </a:tc>
              </a:tr>
              <a:tr h="459613">
                <a:tc>
                  <a:txBody>
                    <a:bodyPr/>
                    <a:lstStyle/>
                    <a:p>
                      <a:pPr marL="31750">
                        <a:lnSpc>
                          <a:spcPts val="2825"/>
                        </a:lnSpc>
                      </a:pPr>
                      <a:r>
                        <a:rPr dirty="0" sz="2400" spc="-1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82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ts val="2825"/>
                        </a:lnSpc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82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-20833" sz="2400" spc="232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①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归约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/>
                </a:tc>
              </a:tr>
              <a:tr h="365198">
                <a:tc>
                  <a:txBody>
                    <a:bodyPr/>
                    <a:lstStyle/>
                    <a:p>
                      <a:pPr marL="31750">
                        <a:lnSpc>
                          <a:spcPts val="27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7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ts val="2775"/>
                        </a:lnSpc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7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9435">
                        <a:lnSpc>
                          <a:spcPts val="27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8889618" y="3003270"/>
            <a:ext cx="2038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对 比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77865" y="1660905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16828" y="897543"/>
            <a:ext cx="3016250" cy="96266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812800">
              <a:lnSpc>
                <a:spcPct val="100000"/>
              </a:lnSpc>
              <a:spcBef>
                <a:spcPts val="91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24305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4305"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400" spc="1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用规则③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归约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91655" y="1870709"/>
            <a:ext cx="346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24305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baseline="-24305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3406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6985" y="26923"/>
            <a:ext cx="19113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36411" y="26923"/>
            <a:ext cx="21653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3474" y="1201674"/>
            <a:ext cx="8438515" cy="4331335"/>
          </a:xfrm>
          <a:custGeom>
            <a:avLst/>
            <a:gdLst/>
            <a:ahLst/>
            <a:cxnLst/>
            <a:rect l="l" t="t" r="r" b="b"/>
            <a:pathLst>
              <a:path w="8438515" h="4331335">
                <a:moveTo>
                  <a:pt x="0" y="4331208"/>
                </a:moveTo>
                <a:lnTo>
                  <a:pt x="8438388" y="4331208"/>
                </a:lnTo>
                <a:lnTo>
                  <a:pt x="8438388" y="0"/>
                </a:lnTo>
                <a:lnTo>
                  <a:pt x="0" y="0"/>
                </a:lnTo>
                <a:lnTo>
                  <a:pt x="0" y="4331208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3474" y="1201674"/>
            <a:ext cx="8438515" cy="4331335"/>
          </a:xfrm>
          <a:custGeom>
            <a:avLst/>
            <a:gdLst/>
            <a:ahLst/>
            <a:cxnLst/>
            <a:rect l="l" t="t" r="r" b="b"/>
            <a:pathLst>
              <a:path w="8438515" h="4331335">
                <a:moveTo>
                  <a:pt x="0" y="4331208"/>
                </a:moveTo>
                <a:lnTo>
                  <a:pt x="8438388" y="4331208"/>
                </a:lnTo>
                <a:lnTo>
                  <a:pt x="8438388" y="0"/>
                </a:lnTo>
                <a:lnTo>
                  <a:pt x="0" y="0"/>
                </a:lnTo>
                <a:lnTo>
                  <a:pt x="0" y="4331208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0842" y="1017526"/>
            <a:ext cx="7952740" cy="446532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2800" spc="-5">
                <a:solidFill>
                  <a:srgbClr val="FF00FF"/>
                </a:solidFill>
                <a:latin typeface="Wingdings"/>
                <a:cs typeface="Wingdings"/>
              </a:rPr>
              <a:t></a:t>
            </a:r>
            <a:r>
              <a:rPr dirty="0" sz="2800" spc="10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宋体"/>
                <a:cs typeface="宋体"/>
              </a:rPr>
              <a:t>综</a:t>
            </a:r>
            <a:r>
              <a:rPr dirty="0" sz="3200" spc="-10" b="1">
                <a:latin typeface="宋体"/>
                <a:cs typeface="宋体"/>
              </a:rPr>
              <a:t>述</a:t>
            </a:r>
            <a:r>
              <a:rPr dirty="0" sz="3200" spc="-815" b="1">
                <a:latin typeface="宋体"/>
                <a:cs typeface="宋体"/>
              </a:rPr>
              <a:t> </a:t>
            </a:r>
            <a:r>
              <a:rPr dirty="0" sz="3200" spc="-10" b="1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891540" indent="-676910">
              <a:lnSpc>
                <a:spcPct val="100000"/>
              </a:lnSpc>
              <a:spcBef>
                <a:spcPts val="1155"/>
              </a:spcBef>
              <a:buFont typeface="Times New Roman"/>
              <a:buAutoNum type="arabicParenBoth"/>
              <a:tabLst>
                <a:tab pos="891540" algn="l"/>
                <a:tab pos="892175" algn="l"/>
              </a:tabLst>
            </a:pPr>
            <a:r>
              <a:rPr dirty="0" sz="3200" b="1">
                <a:latin typeface="宋体"/>
                <a:cs typeface="宋体"/>
              </a:rPr>
              <a:t>处理直观简单；</a:t>
            </a:r>
            <a:endParaRPr sz="3200">
              <a:latin typeface="宋体"/>
              <a:cs typeface="宋体"/>
            </a:endParaRPr>
          </a:p>
          <a:p>
            <a:pPr marL="824865" marR="113664" indent="-609600">
              <a:lnSpc>
                <a:spcPts val="4990"/>
              </a:lnSpc>
              <a:spcBef>
                <a:spcPts val="359"/>
              </a:spcBef>
              <a:buFont typeface="Times New Roman"/>
              <a:buAutoNum type="arabicParenBoth"/>
              <a:tabLst>
                <a:tab pos="891540" algn="l"/>
                <a:tab pos="892175" algn="l"/>
              </a:tabLst>
            </a:pPr>
            <a:r>
              <a:rPr dirty="0"/>
              <a:t>	</a:t>
            </a:r>
            <a:r>
              <a:rPr dirty="0" sz="3200" spc="-5" b="1">
                <a:latin typeface="宋体"/>
                <a:cs typeface="宋体"/>
              </a:rPr>
              <a:t>基本实现思想：引入状态，</a:t>
            </a:r>
            <a:r>
              <a:rPr dirty="0" sz="3200" spc="-15" b="1">
                <a:latin typeface="宋体"/>
                <a:cs typeface="宋体"/>
              </a:rPr>
              <a:t>状</a:t>
            </a:r>
            <a:r>
              <a:rPr dirty="0" sz="3200" spc="-5" b="1">
                <a:latin typeface="宋体"/>
                <a:cs typeface="宋体"/>
              </a:rPr>
              <a:t>态埋</a:t>
            </a:r>
            <a:r>
              <a:rPr dirty="0" sz="3200" spc="-15" b="1">
                <a:latin typeface="宋体"/>
                <a:cs typeface="宋体"/>
              </a:rPr>
              <a:t>伏</a:t>
            </a:r>
            <a:r>
              <a:rPr dirty="0" sz="3200" spc="-10" b="1">
                <a:latin typeface="宋体"/>
                <a:cs typeface="宋体"/>
              </a:rPr>
              <a:t>了 </a:t>
            </a:r>
            <a:r>
              <a:rPr dirty="0" sz="3200" b="1">
                <a:latin typeface="宋体"/>
                <a:cs typeface="宋体"/>
              </a:rPr>
              <a:t>分析的“历史”和“展望”信</a:t>
            </a:r>
            <a:r>
              <a:rPr dirty="0" sz="3200" spc="-15" b="1">
                <a:latin typeface="宋体"/>
                <a:cs typeface="宋体"/>
              </a:rPr>
              <a:t>息</a:t>
            </a:r>
            <a:r>
              <a:rPr dirty="0" sz="3200" spc="-10" b="1"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891540" indent="-676910">
              <a:lnSpc>
                <a:spcPct val="100000"/>
              </a:lnSpc>
              <a:spcBef>
                <a:spcPts val="795"/>
              </a:spcBef>
              <a:buFont typeface="Times New Roman"/>
              <a:buAutoNum type="arabicParenBoth"/>
              <a:tabLst>
                <a:tab pos="891540" algn="l"/>
                <a:tab pos="892175" algn="l"/>
              </a:tabLst>
            </a:pPr>
            <a:r>
              <a:rPr dirty="0" sz="3200" spc="-5" b="1">
                <a:latin typeface="宋体"/>
                <a:cs typeface="宋体"/>
              </a:rPr>
              <a:t>应用范围广，</a:t>
            </a:r>
            <a:r>
              <a:rPr dirty="0" sz="3200" b="1">
                <a:latin typeface="宋体"/>
                <a:cs typeface="宋体"/>
              </a:rPr>
              <a:t>对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5" b="1">
                <a:latin typeface="宋体"/>
                <a:cs typeface="宋体"/>
              </a:rPr>
              <a:t>限定少；</a:t>
            </a:r>
            <a:endParaRPr sz="3200">
              <a:latin typeface="宋体"/>
              <a:cs typeface="宋体"/>
            </a:endParaRPr>
          </a:p>
          <a:p>
            <a:pPr marL="824865" marR="5080" indent="-609600">
              <a:lnSpc>
                <a:spcPct val="130000"/>
              </a:lnSpc>
              <a:spcBef>
                <a:spcPts val="5"/>
              </a:spcBef>
              <a:buFont typeface="Times New Roman"/>
              <a:buAutoNum type="arabicParenBoth"/>
              <a:tabLst>
                <a:tab pos="891540" algn="l"/>
                <a:tab pos="892175" algn="l"/>
              </a:tabLst>
            </a:pPr>
            <a:r>
              <a:rPr dirty="0"/>
              <a:t>	</a:t>
            </a:r>
            <a:r>
              <a:rPr dirty="0" sz="3200" spc="5" b="1">
                <a:latin typeface="Times New Roman"/>
                <a:cs typeface="Times New Roman"/>
              </a:rPr>
              <a:t>LR</a:t>
            </a:r>
            <a:r>
              <a:rPr dirty="0" sz="3200" b="1">
                <a:latin typeface="宋体"/>
                <a:cs typeface="宋体"/>
              </a:rPr>
              <a:t>分析的关</a:t>
            </a:r>
            <a:r>
              <a:rPr dirty="0" sz="3200" spc="780" b="1">
                <a:latin typeface="宋体"/>
                <a:cs typeface="宋体"/>
              </a:rPr>
              <a:t>键</a:t>
            </a:r>
            <a:r>
              <a:rPr dirty="0" sz="3200" b="1">
                <a:latin typeface="Times New Roman"/>
                <a:cs typeface="Times New Roman"/>
              </a:rPr>
              <a:t>—</a:t>
            </a:r>
            <a:r>
              <a:rPr dirty="0" sz="3200" spc="-8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LR</a:t>
            </a:r>
            <a:r>
              <a:rPr dirty="0" sz="3200" b="1">
                <a:latin typeface="宋体"/>
                <a:cs typeface="宋体"/>
              </a:rPr>
              <a:t>分析表：集成了全 </a:t>
            </a:r>
            <a:r>
              <a:rPr dirty="0" sz="3200" spc="-5" b="1">
                <a:latin typeface="宋体"/>
                <a:cs typeface="宋体"/>
              </a:rPr>
              <a:t>部分析信息。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latin typeface="Times New Roman"/>
                <a:cs typeface="Times New Roman"/>
              </a:rPr>
              <a:t>5.1	</a:t>
            </a:r>
            <a:r>
              <a:rPr dirty="0" spc="-10"/>
              <a:t>“移近</a:t>
            </a:r>
            <a:r>
              <a:rPr dirty="0" spc="-10">
                <a:latin typeface="Times New Roman"/>
                <a:cs typeface="Times New Roman"/>
              </a:rPr>
              <a:t>—</a:t>
            </a:r>
            <a:r>
              <a:rPr dirty="0" spc="-10"/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5654040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7244" indent="-803910">
              <a:lnSpc>
                <a:spcPct val="100000"/>
              </a:lnSpc>
              <a:spcBef>
                <a:spcPts val="1275"/>
              </a:spcBef>
              <a:buFont typeface="Times New Roman"/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分析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概述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80"/>
              </a:spcBef>
              <a:buClr>
                <a:srgbClr val="FFFF00"/>
              </a:buClr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Clr>
                <a:srgbClr val="FFFF00"/>
              </a:buClr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5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45458" y="2401061"/>
            <a:ext cx="1810512" cy="800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45458" y="2401061"/>
            <a:ext cx="1811020" cy="800100"/>
          </a:xfrm>
          <a:custGeom>
            <a:avLst/>
            <a:gdLst/>
            <a:ahLst/>
            <a:cxnLst/>
            <a:rect l="l" t="t" r="r" b="b"/>
            <a:pathLst>
              <a:path w="1811020" h="800100">
                <a:moveTo>
                  <a:pt x="0" y="400050"/>
                </a:moveTo>
                <a:lnTo>
                  <a:pt x="582294" y="0"/>
                </a:lnTo>
                <a:lnTo>
                  <a:pt x="582294" y="200025"/>
                </a:lnTo>
                <a:lnTo>
                  <a:pt x="1810512" y="200025"/>
                </a:lnTo>
                <a:lnTo>
                  <a:pt x="1810512" y="600075"/>
                </a:lnTo>
                <a:lnTo>
                  <a:pt x="582294" y="600075"/>
                </a:lnTo>
                <a:lnTo>
                  <a:pt x="582294" y="800100"/>
                </a:lnTo>
                <a:lnTo>
                  <a:pt x="0" y="40005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1070" y="26923"/>
            <a:ext cx="766190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0805" algn="l"/>
                <a:tab pos="4643120" algn="l"/>
                <a:tab pos="54051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-825" b="1">
                <a:solidFill>
                  <a:srgbClr val="A15100"/>
                </a:solidFill>
                <a:latin typeface="Times New Roman"/>
                <a:cs typeface="Times New Roman"/>
              </a:rPr>
              <a:t>R</a:t>
            </a:r>
            <a:r>
              <a:rPr dirty="0" baseline="2777" sz="3000" spc="-930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spc="-139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baseline="2777" sz="3000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baseline="2777" sz="3000" spc="-1087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-30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baseline="2777" sz="3000" spc="-2542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spc="-30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baseline="2777" sz="3000" spc="-2542" b="1">
                <a:solidFill>
                  <a:srgbClr val="A15100"/>
                </a:solidFill>
                <a:latin typeface="华文新魏"/>
                <a:cs typeface="华文新魏"/>
              </a:rPr>
              <a:t>法</a:t>
            </a:r>
            <a:r>
              <a:rPr dirty="0" sz="2000" spc="-32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baseline="2777" sz="30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r>
              <a:rPr dirty="0" baseline="2777" sz="3000" b="1">
                <a:solidFill>
                  <a:srgbClr val="A15100"/>
                </a:solidFill>
                <a:latin typeface="华文新魏"/>
                <a:cs typeface="华文新魏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788" y="1680794"/>
            <a:ext cx="555053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7475" algn="l"/>
              </a:tabLst>
            </a:pPr>
            <a:r>
              <a:rPr dirty="0" sz="3600" spc="-5">
                <a:solidFill>
                  <a:srgbClr val="FFFF00"/>
                </a:solidFill>
                <a:latin typeface="Times New Roman"/>
                <a:cs typeface="Times New Roman"/>
              </a:rPr>
              <a:t>5.4.1	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LR(</a:t>
            </a:r>
            <a:r>
              <a:rPr dirty="0" sz="3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600" spc="-10">
                <a:solidFill>
                  <a:srgbClr val="FFFFFF"/>
                </a:solidFill>
              </a:rPr>
              <a:t>分析实现思想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8264" y="2750896"/>
            <a:ext cx="6239510" cy="164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87475" indent="-1375410">
              <a:lnSpc>
                <a:spcPct val="100000"/>
              </a:lnSpc>
              <a:spcBef>
                <a:spcPts val="10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1387475" algn="l"/>
                <a:tab pos="1388110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项目集规范族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88745" indent="-1375410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AutoNum type="arabicPeriod" startAt="2"/>
              <a:tabLst>
                <a:tab pos="1388745" algn="l"/>
                <a:tab pos="138938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6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(0)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12953"/>
            <a:ext cx="9144000" cy="435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12953"/>
            <a:ext cx="9144000" cy="436245"/>
          </a:xfrm>
          <a:custGeom>
            <a:avLst/>
            <a:gdLst/>
            <a:ahLst/>
            <a:cxnLst/>
            <a:rect l="l" t="t" r="r" b="b"/>
            <a:pathLst>
              <a:path w="9144000" h="436245">
                <a:moveTo>
                  <a:pt x="0" y="435863"/>
                </a:moveTo>
                <a:lnTo>
                  <a:pt x="9144000" y="435863"/>
                </a:lnTo>
                <a:lnTo>
                  <a:pt x="914400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90725" y="39750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6314" y="39750"/>
            <a:ext cx="33693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33666" y="1738122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33666" y="1738122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840" y="580085"/>
            <a:ext cx="401320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30530" indent="-418465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1165" algn="l"/>
                <a:tab pos="1958975" algn="l"/>
              </a:tabLst>
            </a:pPr>
            <a:r>
              <a:rPr dirty="0" sz="3200" spc="-5">
                <a:solidFill>
                  <a:srgbClr val="FFFF00"/>
                </a:solidFill>
              </a:rPr>
              <a:t>定义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5.6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>
                <a:solidFill>
                  <a:srgbClr val="FFFFFF"/>
                </a:solidFill>
              </a:rPr>
              <a:t>（</a:t>
            </a:r>
            <a:r>
              <a:rPr dirty="0" sz="3200" spc="-5">
                <a:solidFill>
                  <a:srgbClr val="FFFFFF"/>
                </a:solidFill>
              </a:rPr>
              <a:t>活前缀</a:t>
            </a:r>
            <a:r>
              <a:rPr dirty="0" sz="3200" spc="-10">
                <a:solidFill>
                  <a:srgbClr val="FFFFFF"/>
                </a:solidFill>
              </a:rPr>
              <a:t>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3247" y="26923"/>
            <a:ext cx="8486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7274" y="2565654"/>
            <a:ext cx="8705088" cy="3959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7274" y="2565654"/>
            <a:ext cx="8705215" cy="3959860"/>
          </a:xfrm>
          <a:custGeom>
            <a:avLst/>
            <a:gdLst/>
            <a:ahLst/>
            <a:cxnLst/>
            <a:rect l="l" t="t" r="r" b="b"/>
            <a:pathLst>
              <a:path w="8705215" h="3959859">
                <a:moveTo>
                  <a:pt x="0" y="3959352"/>
                </a:moveTo>
                <a:lnTo>
                  <a:pt x="8705088" y="3959352"/>
                </a:lnTo>
                <a:lnTo>
                  <a:pt x="8705088" y="0"/>
                </a:lnTo>
                <a:lnTo>
                  <a:pt x="0" y="0"/>
                </a:lnTo>
                <a:lnTo>
                  <a:pt x="0" y="395935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964" y="2314955"/>
            <a:ext cx="1008126" cy="1009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64642" y="1130361"/>
            <a:ext cx="7507605" cy="18821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5415" marR="5080" indent="815340">
              <a:lnSpc>
                <a:spcPct val="110000"/>
              </a:lnSpc>
              <a:spcBef>
                <a:spcPts val="9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规范句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型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的不含句柄之后任何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号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前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，称为该句型的活前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  <a:tabLst>
                <a:tab pos="699770" algn="l"/>
              </a:tabLst>
            </a:pPr>
            <a:r>
              <a:rPr dirty="0" sz="3600">
                <a:solidFill>
                  <a:srgbClr val="FF00FF"/>
                </a:solidFill>
                <a:latin typeface="Wingdings"/>
                <a:cs typeface="Wingdings"/>
              </a:rPr>
              <a:t></a:t>
            </a:r>
            <a:r>
              <a:rPr dirty="0" sz="360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latin typeface="宋体"/>
                <a:cs typeface="宋体"/>
              </a:rPr>
              <a:t>注</a:t>
            </a:r>
            <a:r>
              <a:rPr dirty="0" sz="3200" spc="-10" b="1">
                <a:latin typeface="宋体"/>
                <a:cs typeface="宋体"/>
              </a:rPr>
              <a:t>意</a:t>
            </a:r>
            <a:r>
              <a:rPr dirty="0" sz="3200" spc="-815" b="1">
                <a:latin typeface="宋体"/>
                <a:cs typeface="宋体"/>
              </a:rPr>
              <a:t> </a:t>
            </a:r>
            <a:r>
              <a:rPr dirty="0" sz="3200" spc="-10" b="1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642" y="3455222"/>
            <a:ext cx="8279130" cy="302133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algn="just" marL="824865">
              <a:lnSpc>
                <a:spcPct val="100000"/>
              </a:lnSpc>
              <a:spcBef>
                <a:spcPts val="1065"/>
              </a:spcBef>
            </a:pPr>
            <a:r>
              <a:rPr dirty="0" sz="3200" spc="-5" b="1">
                <a:latin typeface="宋体"/>
                <a:cs typeface="宋体"/>
              </a:rPr>
              <a:t>则</a:t>
            </a:r>
            <a:r>
              <a:rPr dirty="0" sz="3350" spc="-55" b="1" i="1">
                <a:latin typeface="Symbol"/>
                <a:cs typeface="Symbol"/>
              </a:rPr>
              <a:t></a:t>
            </a:r>
            <a:r>
              <a:rPr dirty="0" sz="3200" b="1">
                <a:latin typeface="宋体"/>
                <a:cs typeface="宋体"/>
              </a:rPr>
              <a:t>是活前缀；</a:t>
            </a:r>
            <a:r>
              <a:rPr dirty="0" sz="3200" spc="-20" b="1">
                <a:latin typeface="宋体"/>
                <a:cs typeface="宋体"/>
              </a:rPr>
              <a:t>当</a:t>
            </a:r>
            <a:r>
              <a:rPr dirty="0" sz="3350" spc="-50" b="1" i="1">
                <a:latin typeface="Symbol"/>
                <a:cs typeface="Symbol"/>
              </a:rPr>
              <a:t></a:t>
            </a:r>
            <a:r>
              <a:rPr dirty="0" sz="3200" spc="-50" b="1">
                <a:latin typeface="Times New Roman"/>
                <a:cs typeface="Times New Roman"/>
              </a:rPr>
              <a:t>=</a:t>
            </a:r>
            <a:r>
              <a:rPr dirty="0" sz="3350" spc="-50" b="1" i="1">
                <a:latin typeface="Symbol"/>
                <a:cs typeface="Symbol"/>
              </a:rPr>
              <a:t></a:t>
            </a:r>
            <a:r>
              <a:rPr dirty="0" sz="3200" spc="-50" b="1">
                <a:latin typeface="宋体"/>
                <a:cs typeface="宋体"/>
              </a:rPr>
              <a:t>，</a:t>
            </a:r>
            <a:r>
              <a:rPr dirty="0" sz="3200" spc="-10" b="1">
                <a:latin typeface="宋体"/>
                <a:cs typeface="宋体"/>
              </a:rPr>
              <a:t>则</a:t>
            </a:r>
            <a:r>
              <a:rPr dirty="0" sz="3200" spc="-860" b="1">
                <a:latin typeface="宋体"/>
                <a:cs typeface="宋体"/>
              </a:rPr>
              <a:t> </a:t>
            </a:r>
            <a:r>
              <a:rPr dirty="0" sz="3350" spc="-55" b="1" i="1">
                <a:latin typeface="Symbol"/>
                <a:cs typeface="Symbol"/>
              </a:rPr>
              <a:t></a:t>
            </a:r>
            <a:r>
              <a:rPr dirty="0" sz="3200" spc="-5" b="1">
                <a:latin typeface="宋体"/>
                <a:cs typeface="宋体"/>
              </a:rPr>
              <a:t>是可归前缀；</a:t>
            </a:r>
            <a:endParaRPr sz="3200">
              <a:latin typeface="宋体"/>
              <a:cs typeface="宋体"/>
            </a:endParaRPr>
          </a:p>
          <a:p>
            <a:pPr algn="just" marL="891540" indent="-676910">
              <a:lnSpc>
                <a:spcPct val="100000"/>
              </a:lnSpc>
              <a:spcBef>
                <a:spcPts val="894"/>
              </a:spcBef>
              <a:buFont typeface="Times New Roman"/>
              <a:buAutoNum type="arabicParenBoth" startAt="2"/>
              <a:tabLst>
                <a:tab pos="892175" algn="l"/>
              </a:tabLst>
            </a:pPr>
            <a:r>
              <a:rPr dirty="0" sz="3200" b="1">
                <a:latin typeface="宋体"/>
                <a:cs typeface="宋体"/>
              </a:rPr>
              <a:t>活前缀特点</a:t>
            </a:r>
            <a:r>
              <a:rPr dirty="0" sz="3200" b="1">
                <a:latin typeface="Times New Roman"/>
                <a:cs typeface="Times New Roman"/>
              </a:rPr>
              <a:t>:</a:t>
            </a:r>
            <a:r>
              <a:rPr dirty="0" sz="3200" spc="-4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宋体"/>
                <a:cs typeface="宋体"/>
              </a:rPr>
              <a:t>不含句柄之后的任何符号；</a:t>
            </a:r>
            <a:endParaRPr sz="3200">
              <a:latin typeface="宋体"/>
              <a:cs typeface="宋体"/>
            </a:endParaRPr>
          </a:p>
          <a:p>
            <a:pPr algn="just" marL="12700" marR="232410" indent="202565">
              <a:lnSpc>
                <a:spcPct val="120000"/>
              </a:lnSpc>
              <a:spcBef>
                <a:spcPts val="35"/>
              </a:spcBef>
              <a:buAutoNum type="arabicParenBoth" startAt="2"/>
              <a:tabLst>
                <a:tab pos="892175" algn="l"/>
              </a:tabLst>
            </a:pPr>
            <a:r>
              <a:rPr dirty="0" sz="3200" b="1">
                <a:latin typeface="Times New Roman"/>
                <a:cs typeface="Times New Roman"/>
              </a:rPr>
              <a:t>LR</a:t>
            </a:r>
            <a:r>
              <a:rPr dirty="0" sz="3200" b="1">
                <a:latin typeface="宋体"/>
                <a:cs typeface="宋体"/>
              </a:rPr>
              <a:t>分析中栈中符号始终是活</a:t>
            </a:r>
            <a:r>
              <a:rPr dirty="0" sz="3200" spc="-15" b="1">
                <a:latin typeface="宋体"/>
                <a:cs typeface="宋体"/>
              </a:rPr>
              <a:t>前</a:t>
            </a:r>
            <a:r>
              <a:rPr dirty="0" sz="3200" b="1">
                <a:latin typeface="宋体"/>
                <a:cs typeface="宋体"/>
              </a:rPr>
              <a:t>缀，当构 </a:t>
            </a:r>
            <a:r>
              <a:rPr dirty="0" sz="3200" b="1">
                <a:latin typeface="宋体"/>
                <a:cs typeface="宋体"/>
              </a:rPr>
              <a:t>成刚好包含句柄的活前</a:t>
            </a:r>
            <a:r>
              <a:rPr dirty="0" sz="3200" spc="5" b="1">
                <a:latin typeface="宋体"/>
                <a:cs typeface="宋体"/>
              </a:rPr>
              <a:t>缀</a:t>
            </a:r>
            <a:r>
              <a:rPr dirty="0" sz="3200" spc="-15" b="1">
                <a:latin typeface="Times New Roman"/>
                <a:cs typeface="Times New Roman"/>
              </a:rPr>
              <a:t>(</a:t>
            </a:r>
            <a:r>
              <a:rPr dirty="0" sz="3200" spc="-5" b="1">
                <a:latin typeface="宋体"/>
                <a:cs typeface="宋体"/>
              </a:rPr>
              <a:t>可归</a:t>
            </a:r>
            <a:r>
              <a:rPr dirty="0" sz="3200" spc="-10" b="1">
                <a:latin typeface="宋体"/>
                <a:cs typeface="宋体"/>
              </a:rPr>
              <a:t>前</a:t>
            </a:r>
            <a:r>
              <a:rPr dirty="0" sz="3200" spc="5" b="1">
                <a:latin typeface="宋体"/>
                <a:cs typeface="宋体"/>
              </a:rPr>
              <a:t>缀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spc="-10" b="1">
                <a:latin typeface="宋体"/>
                <a:cs typeface="宋体"/>
              </a:rPr>
              <a:t>时</a:t>
            </a:r>
            <a:r>
              <a:rPr dirty="0" sz="3200" spc="-5" b="1">
                <a:latin typeface="宋体"/>
                <a:cs typeface="宋体"/>
              </a:rPr>
              <a:t>，实</a:t>
            </a:r>
            <a:r>
              <a:rPr dirty="0" sz="3200" spc="-10" b="1">
                <a:latin typeface="宋体"/>
                <a:cs typeface="宋体"/>
              </a:rPr>
              <a:t>施 </a:t>
            </a:r>
            <a:r>
              <a:rPr dirty="0" sz="3200" b="1">
                <a:latin typeface="宋体"/>
                <a:cs typeface="宋体"/>
              </a:rPr>
              <a:t>归约。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6670" y="3296538"/>
            <a:ext cx="2095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234" y="2989163"/>
            <a:ext cx="782002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27075" algn="l"/>
                <a:tab pos="1155065" algn="l"/>
                <a:tab pos="1985010" algn="l"/>
                <a:tab pos="3397885" algn="l"/>
              </a:tabLst>
            </a:pPr>
            <a:r>
              <a:rPr dirty="0" sz="3200" b="1">
                <a:latin typeface="Times New Roman"/>
                <a:cs typeface="Times New Roman"/>
              </a:rPr>
              <a:t>(1)	</a:t>
            </a:r>
            <a:r>
              <a:rPr dirty="0" sz="3200" b="1">
                <a:latin typeface="Symbol"/>
                <a:cs typeface="Symbol"/>
              </a:rPr>
              <a:t>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b="1" i="1">
                <a:latin typeface="Times New Roman"/>
                <a:cs typeface="Times New Roman"/>
              </a:rPr>
              <a:t>S</a:t>
            </a:r>
            <a:r>
              <a:rPr dirty="0" sz="3200" spc="-15" b="1" i="1">
                <a:latin typeface="Times New Roman"/>
                <a:cs typeface="Times New Roman"/>
              </a:rPr>
              <a:t> </a:t>
            </a:r>
            <a:r>
              <a:rPr dirty="0" sz="3200" spc="-1490" b="1">
                <a:latin typeface="Symbol"/>
                <a:cs typeface="Symbol"/>
              </a:rPr>
              <a:t></a:t>
            </a:r>
            <a:r>
              <a:rPr dirty="0" baseline="12152" sz="4800" spc="-2235" b="1">
                <a:latin typeface="Times New Roman"/>
                <a:cs typeface="Times New Roman"/>
              </a:rPr>
              <a:t>*	</a:t>
            </a:r>
            <a:r>
              <a:rPr dirty="0" sz="3350" spc="-65" b="1" i="1">
                <a:latin typeface="Symbol"/>
                <a:cs typeface="Symbol"/>
              </a:rPr>
              <a:t></a:t>
            </a:r>
            <a:r>
              <a:rPr dirty="0" sz="3200" spc="-65" b="1" i="1">
                <a:latin typeface="Times New Roman"/>
                <a:cs typeface="Times New Roman"/>
              </a:rPr>
              <a:t>A</a:t>
            </a:r>
            <a:r>
              <a:rPr dirty="0" sz="3350" spc="-65" b="1" i="1">
                <a:latin typeface="Symbol"/>
                <a:cs typeface="Symbol"/>
              </a:rPr>
              <a:t></a:t>
            </a:r>
            <a:r>
              <a:rPr dirty="0" sz="3350" spc="-40" b="1" i="1">
                <a:latin typeface="Times New Roman"/>
                <a:cs typeface="Times New Roman"/>
              </a:rPr>
              <a:t> </a:t>
            </a:r>
            <a:r>
              <a:rPr dirty="0" sz="3200" spc="-1425" b="1">
                <a:latin typeface="Symbol"/>
                <a:cs typeface="Symbol"/>
              </a:rPr>
              <a:t></a:t>
            </a:r>
            <a:r>
              <a:rPr dirty="0" baseline="-27777" sz="3000" spc="-2137" b="1">
                <a:latin typeface="Times New Roman"/>
                <a:cs typeface="Times New Roman"/>
              </a:rPr>
              <a:t>R	</a:t>
            </a:r>
            <a:r>
              <a:rPr dirty="0" sz="3350" spc="-65" b="1" i="1">
                <a:latin typeface="Symbol"/>
                <a:cs typeface="Symbol"/>
              </a:rPr>
              <a:t></a:t>
            </a:r>
            <a:r>
              <a:rPr dirty="0" sz="3200" spc="-65" b="1">
                <a:latin typeface="宋体"/>
                <a:cs typeface="宋体"/>
              </a:rPr>
              <a:t>，</a:t>
            </a:r>
            <a:r>
              <a:rPr dirty="0" sz="3200" b="1">
                <a:latin typeface="宋体"/>
                <a:cs typeface="宋体"/>
              </a:rPr>
              <a:t>若串</a:t>
            </a:r>
            <a:r>
              <a:rPr dirty="0" sz="3350" spc="-65" b="1" i="1">
                <a:latin typeface="Symbol"/>
                <a:cs typeface="Symbol"/>
              </a:rPr>
              <a:t></a:t>
            </a:r>
            <a:r>
              <a:rPr dirty="0" sz="3200" spc="-10" b="1">
                <a:latin typeface="宋体"/>
                <a:cs typeface="宋体"/>
              </a:rPr>
              <a:t>是</a:t>
            </a:r>
            <a:r>
              <a:rPr dirty="0" sz="3350" spc="-85" b="1" i="1">
                <a:latin typeface="Symbol"/>
                <a:cs typeface="Symbol"/>
              </a:rPr>
              <a:t></a:t>
            </a:r>
            <a:r>
              <a:rPr dirty="0" sz="3200" spc="-5" b="1">
                <a:latin typeface="宋体"/>
                <a:cs typeface="宋体"/>
              </a:rPr>
              <a:t>的</a:t>
            </a:r>
            <a:r>
              <a:rPr dirty="0" sz="3200" spc="-10" b="1">
                <a:latin typeface="宋体"/>
                <a:cs typeface="宋体"/>
              </a:rPr>
              <a:t>前</a:t>
            </a:r>
            <a:r>
              <a:rPr dirty="0" sz="3200" spc="5" b="1">
                <a:latin typeface="宋体"/>
                <a:cs typeface="宋体"/>
              </a:rPr>
              <a:t>缀</a:t>
            </a:r>
            <a:r>
              <a:rPr dirty="0" sz="3200" b="1"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76365" y="3643121"/>
            <a:ext cx="2552700" cy="530860"/>
          </a:xfrm>
          <a:custGeom>
            <a:avLst/>
            <a:gdLst/>
            <a:ahLst/>
            <a:cxnLst/>
            <a:rect l="l" t="t" r="r" b="b"/>
            <a:pathLst>
              <a:path w="2552700" h="530860">
                <a:moveTo>
                  <a:pt x="0" y="530351"/>
                </a:moveTo>
                <a:lnTo>
                  <a:pt x="2552699" y="530351"/>
                </a:lnTo>
                <a:lnTo>
                  <a:pt x="2552699" y="0"/>
                </a:lnTo>
                <a:lnTo>
                  <a:pt x="0" y="0"/>
                </a:lnTo>
                <a:lnTo>
                  <a:pt x="0" y="530351"/>
                </a:lnTo>
                <a:close/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68415" y="26923"/>
            <a:ext cx="21653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842" y="26923"/>
            <a:ext cx="4877435" cy="9442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3260">
              <a:lnSpc>
                <a:spcPct val="100000"/>
              </a:lnSpc>
              <a:spcBef>
                <a:spcPts val="100"/>
              </a:spcBef>
              <a:tabLst>
                <a:tab pos="1263650" algn="l"/>
                <a:tab pos="2856230" algn="l"/>
                <a:tab pos="3364229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855344" algn="l"/>
                <a:tab pos="3734435" algn="l"/>
              </a:tabLst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步</a:t>
            </a:r>
            <a:r>
              <a:rPr dirty="0" sz="2200" spc="-15" b="1">
                <a:solidFill>
                  <a:srgbClr val="FFFFFF"/>
                </a:solidFill>
                <a:latin typeface="宋体"/>
                <a:cs typeface="宋体"/>
              </a:rPr>
              <a:t>骤	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栈中状</a:t>
            </a:r>
            <a:r>
              <a:rPr dirty="0" sz="2200" spc="-15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2200" spc="2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输入符号</a:t>
            </a:r>
            <a:r>
              <a:rPr dirty="0" sz="2200" spc="-15" b="1">
                <a:solidFill>
                  <a:srgbClr val="FFFFFF"/>
                </a:solidFill>
                <a:latin typeface="宋体"/>
                <a:cs typeface="宋体"/>
              </a:rPr>
              <a:t>串	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栈中符号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6329" y="610869"/>
            <a:ext cx="11474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分析动作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842" y="5062220"/>
            <a:ext cx="330200" cy="93980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spc="-13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216" y="5062220"/>
            <a:ext cx="940435" cy="93980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02525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025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8052" y="5062220"/>
            <a:ext cx="1778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#  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0052" y="5062220"/>
            <a:ext cx="451231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  <a:tabLst>
                <a:tab pos="1086485" algn="l"/>
                <a:tab pos="113855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00FFFF"/>
                </a:solidFill>
                <a:latin typeface="Times New Roman"/>
                <a:cs typeface="Times New Roman"/>
              </a:rPr>
              <a:t>L		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r1</a:t>
            </a:r>
            <a:r>
              <a:rPr dirty="0" sz="24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用规则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归约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)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400" spc="-5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00FFFF"/>
                </a:solidFill>
                <a:latin typeface="Times New Roman"/>
                <a:cs typeface="Times New Roman"/>
              </a:rPr>
              <a:t>L	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r1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用规则①归约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7461" y="553973"/>
            <a:ext cx="8783320" cy="0"/>
          </a:xfrm>
          <a:custGeom>
            <a:avLst/>
            <a:gdLst/>
            <a:ahLst/>
            <a:cxnLst/>
            <a:rect l="l" t="t" r="r" b="b"/>
            <a:pathLst>
              <a:path w="8783320" h="0">
                <a:moveTo>
                  <a:pt x="0" y="0"/>
                </a:moveTo>
                <a:lnTo>
                  <a:pt x="8782812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7274" y="1029461"/>
            <a:ext cx="8781415" cy="0"/>
          </a:xfrm>
          <a:custGeom>
            <a:avLst/>
            <a:gdLst/>
            <a:ahLst/>
            <a:cxnLst/>
            <a:rect l="l" t="t" r="r" b="b"/>
            <a:pathLst>
              <a:path w="8781415" h="0">
                <a:moveTo>
                  <a:pt x="0" y="0"/>
                </a:moveTo>
                <a:lnTo>
                  <a:pt x="87812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1574" y="6649973"/>
            <a:ext cx="8742680" cy="0"/>
          </a:xfrm>
          <a:custGeom>
            <a:avLst/>
            <a:gdLst/>
            <a:ahLst/>
            <a:cxnLst/>
            <a:rect l="l" t="t" r="r" b="b"/>
            <a:pathLst>
              <a:path w="8742680" h="0">
                <a:moveTo>
                  <a:pt x="0" y="0"/>
                </a:moveTo>
                <a:lnTo>
                  <a:pt x="8742426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78991" y="454151"/>
            <a:ext cx="4483735" cy="6195060"/>
          </a:xfrm>
          <a:custGeom>
            <a:avLst/>
            <a:gdLst/>
            <a:ahLst/>
            <a:cxnLst/>
            <a:rect l="l" t="t" r="r" b="b"/>
            <a:pathLst>
              <a:path w="4483735" h="6195059">
                <a:moveTo>
                  <a:pt x="0" y="6195060"/>
                </a:moveTo>
                <a:lnTo>
                  <a:pt x="4483608" y="6195060"/>
                </a:lnTo>
                <a:lnTo>
                  <a:pt x="4483608" y="0"/>
                </a:lnTo>
                <a:lnTo>
                  <a:pt x="0" y="0"/>
                </a:lnTo>
                <a:lnTo>
                  <a:pt x="0" y="6195060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21792" y="1029461"/>
          <a:ext cx="8345805" cy="4050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  <a:gridCol w="1965960"/>
                <a:gridCol w="1143635"/>
                <a:gridCol w="1374775"/>
                <a:gridCol w="3204845"/>
              </a:tblGrid>
              <a:tr h="484921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965325" algn="l"/>
                        </a:tabLst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0	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29654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u="heavy" sz="2400" spc="-5" b="1" i="1">
                          <a:solidFill>
                            <a:srgbClr val="66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u="heavy" sz="2400" spc="-5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9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7588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4305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4305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/>
                </a:tc>
              </a:tr>
              <a:tr h="432047">
                <a:tc>
                  <a:txBody>
                    <a:bodyPr/>
                    <a:lstStyle/>
                    <a:p>
                      <a:pPr marL="10795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1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4305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③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归约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5567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1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9112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4305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4305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</a:tr>
              <a:tr h="4841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</a:t>
                      </a:r>
                      <a:r>
                        <a:rPr dirty="0" sz="2400" spc="-5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965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spc="-5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9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8851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4305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4305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/>
                </a:tc>
              </a:tr>
              <a:tr h="432047">
                <a:tc>
                  <a:txBody>
                    <a:bodyPr/>
                    <a:lstStyle/>
                    <a:p>
                      <a:pPr marL="3175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1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2830"/>
                        </a:lnSpc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4305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baseline="-24305" sz="2400" spc="262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④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归约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817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85">
                    <a:lnT w="38100">
                      <a:solidFill>
                        <a:srgbClr val="66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1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85">
                    <a:lnT w="38100">
                      <a:solidFill>
                        <a:srgbClr val="66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9372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4305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4305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</a:tr>
              <a:tr h="458152">
                <a:tc>
                  <a:txBody>
                    <a:bodyPr/>
                    <a:lstStyle/>
                    <a:p>
                      <a:pPr marL="31750">
                        <a:lnSpc>
                          <a:spcPts val="282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282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0252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ts val="2825"/>
                        </a:lnSpc>
                      </a:pPr>
                      <a:r>
                        <a:rPr dirty="0" sz="24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spc="-1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82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7260">
                        <a:lnSpc>
                          <a:spcPts val="282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4305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4305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32047">
                <a:tc>
                  <a:txBody>
                    <a:bodyPr/>
                    <a:lstStyle/>
                    <a:p>
                      <a:pPr marL="3175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2830"/>
                        </a:lnSpc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4305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baseline="-24305" sz="2400" spc="232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③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归约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89370">
                <a:tc>
                  <a:txBody>
                    <a:bodyPr/>
                    <a:lstStyle/>
                    <a:p>
                      <a:pPr marL="31750">
                        <a:lnSpc>
                          <a:spcPts val="2820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2820"/>
                        </a:lnSpc>
                        <a:spcBef>
                          <a:spcPts val="17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02525</a:t>
                      </a: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>
                    <a:lnT w="38100">
                      <a:solidFill>
                        <a:srgbClr val="66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97180">
                        <a:lnSpc>
                          <a:spcPts val="2820"/>
                        </a:lnSpc>
                        <a:spcBef>
                          <a:spcPts val="170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>
                    <a:lnT w="38100">
                      <a:solidFill>
                        <a:srgbClr val="66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820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400" spc="-5" b="1" i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2820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r2</a:t>
                      </a:r>
                      <a:r>
                        <a:rPr dirty="0" sz="2400" spc="-6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用规则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②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归约</a:t>
                      </a:r>
                      <a:r>
                        <a:rPr dirty="0" sz="2400" b="1">
                          <a:solidFill>
                            <a:srgbClr val="FF99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8801100" y="2924555"/>
            <a:ext cx="342900" cy="779145"/>
          </a:xfrm>
          <a:custGeom>
            <a:avLst/>
            <a:gdLst/>
            <a:ahLst/>
            <a:cxnLst/>
            <a:rect l="l" t="t" r="r" b="b"/>
            <a:pathLst>
              <a:path w="342900" h="779145">
                <a:moveTo>
                  <a:pt x="0" y="778764"/>
                </a:moveTo>
                <a:lnTo>
                  <a:pt x="342899" y="778764"/>
                </a:lnTo>
                <a:lnTo>
                  <a:pt x="342899" y="0"/>
                </a:lnTo>
                <a:lnTo>
                  <a:pt x="0" y="0"/>
                </a:lnTo>
                <a:lnTo>
                  <a:pt x="0" y="778764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889618" y="3003270"/>
            <a:ext cx="2038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对 比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8834" y="6120169"/>
            <a:ext cx="518795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0842" y="6164984"/>
            <a:ext cx="330200" cy="363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5216" y="6164984"/>
            <a:ext cx="330835" cy="363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18052" y="6164984"/>
            <a:ext cx="178435" cy="363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80052" y="6164984"/>
            <a:ext cx="440690" cy="363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4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5485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361" y="26923"/>
            <a:ext cx="2034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5.3	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5" b="1">
                <a:solidFill>
                  <a:srgbClr val="A73737"/>
                </a:solidFill>
                <a:latin typeface="宋体"/>
                <a:cs typeface="宋体"/>
              </a:rPr>
              <a:t>概</a:t>
            </a:r>
            <a:r>
              <a:rPr dirty="0" sz="2000" b="1">
                <a:solidFill>
                  <a:srgbClr val="A73737"/>
                </a:solidFill>
                <a:latin typeface="宋体"/>
                <a:cs typeface="宋体"/>
              </a:rPr>
              <a:t>述</a:t>
            </a:r>
            <a:r>
              <a:rPr dirty="0" u="sng" sz="2000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35" b="1">
                <a:solidFill>
                  <a:srgbClr val="A73737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311" y="26923"/>
            <a:ext cx="3704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5.3.2	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分析器结构与工作原理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25141" y="2447289"/>
            <a:ext cx="2452370" cy="0"/>
          </a:xfrm>
          <a:custGeom>
            <a:avLst/>
            <a:gdLst/>
            <a:ahLst/>
            <a:cxnLst/>
            <a:rect l="l" t="t" r="r" b="b"/>
            <a:pathLst>
              <a:path w="2452370" h="0">
                <a:moveTo>
                  <a:pt x="0" y="0"/>
                </a:moveTo>
                <a:lnTo>
                  <a:pt x="2452116" y="0"/>
                </a:lnTo>
              </a:path>
            </a:pathLst>
          </a:custGeom>
          <a:ln w="19812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47338" y="1532382"/>
            <a:ext cx="0" cy="596265"/>
          </a:xfrm>
          <a:custGeom>
            <a:avLst/>
            <a:gdLst/>
            <a:ahLst/>
            <a:cxnLst/>
            <a:rect l="l" t="t" r="r" b="b"/>
            <a:pathLst>
              <a:path w="0" h="596264">
                <a:moveTo>
                  <a:pt x="0" y="0"/>
                </a:moveTo>
                <a:lnTo>
                  <a:pt x="0" y="595883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67405" y="1532382"/>
            <a:ext cx="662940" cy="487680"/>
          </a:xfrm>
          <a:custGeom>
            <a:avLst/>
            <a:gdLst/>
            <a:ahLst/>
            <a:cxnLst/>
            <a:rect l="l" t="t" r="r" b="b"/>
            <a:pathLst>
              <a:path w="662939" h="487680">
                <a:moveTo>
                  <a:pt x="662940" y="0"/>
                </a:moveTo>
                <a:lnTo>
                  <a:pt x="0" y="487679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94226" y="1514094"/>
            <a:ext cx="650875" cy="485140"/>
          </a:xfrm>
          <a:custGeom>
            <a:avLst/>
            <a:gdLst/>
            <a:ahLst/>
            <a:cxnLst/>
            <a:rect l="l" t="t" r="r" b="b"/>
            <a:pathLst>
              <a:path w="650875" h="485139">
                <a:moveTo>
                  <a:pt x="650748" y="484631"/>
                </a:moveTo>
                <a:lnTo>
                  <a:pt x="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35479" y="3293490"/>
            <a:ext cx="9131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4625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47871" y="4458970"/>
            <a:ext cx="9118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4188" y="4900421"/>
            <a:ext cx="951230" cy="10668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3250">
              <a:latin typeface="Times New Roman"/>
              <a:cs typeface="Times New Roman"/>
            </a:endParaRPr>
          </a:p>
          <a:p>
            <a:pPr marL="440055">
              <a:lnSpc>
                <a:spcPct val="100000"/>
              </a:lnSpc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54702" y="2675382"/>
            <a:ext cx="0" cy="596265"/>
          </a:xfrm>
          <a:custGeom>
            <a:avLst/>
            <a:gdLst/>
            <a:ahLst/>
            <a:cxnLst/>
            <a:rect l="l" t="t" r="r" b="b"/>
            <a:pathLst>
              <a:path w="0" h="596264">
                <a:moveTo>
                  <a:pt x="0" y="0"/>
                </a:moveTo>
                <a:lnTo>
                  <a:pt x="0" y="595883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76294" y="2675382"/>
            <a:ext cx="661670" cy="487680"/>
          </a:xfrm>
          <a:custGeom>
            <a:avLst/>
            <a:gdLst/>
            <a:ahLst/>
            <a:cxnLst/>
            <a:rect l="l" t="t" r="r" b="b"/>
            <a:pathLst>
              <a:path w="661670" h="487680">
                <a:moveTo>
                  <a:pt x="661415" y="0"/>
                </a:moveTo>
                <a:lnTo>
                  <a:pt x="0" y="487679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01590" y="2657094"/>
            <a:ext cx="650875" cy="485140"/>
          </a:xfrm>
          <a:custGeom>
            <a:avLst/>
            <a:gdLst/>
            <a:ahLst/>
            <a:cxnLst/>
            <a:rect l="l" t="t" r="r" b="b"/>
            <a:pathLst>
              <a:path w="650875" h="485139">
                <a:moveTo>
                  <a:pt x="650748" y="484631"/>
                </a:moveTo>
                <a:lnTo>
                  <a:pt x="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89426" y="3903726"/>
            <a:ext cx="0" cy="574675"/>
          </a:xfrm>
          <a:custGeom>
            <a:avLst/>
            <a:gdLst/>
            <a:ahLst/>
            <a:cxnLst/>
            <a:rect l="l" t="t" r="r" b="b"/>
            <a:pathLst>
              <a:path w="0" h="574675">
                <a:moveTo>
                  <a:pt x="0" y="0"/>
                </a:moveTo>
                <a:lnTo>
                  <a:pt x="0" y="574548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46826" y="4938521"/>
            <a:ext cx="0" cy="574675"/>
          </a:xfrm>
          <a:custGeom>
            <a:avLst/>
            <a:gdLst/>
            <a:ahLst/>
            <a:cxnLst/>
            <a:rect l="l" t="t" r="r" b="b"/>
            <a:pathLst>
              <a:path w="0" h="574675">
                <a:moveTo>
                  <a:pt x="0" y="0"/>
                </a:moveTo>
                <a:lnTo>
                  <a:pt x="0" y="574547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62377" y="2698242"/>
            <a:ext cx="433070" cy="658495"/>
          </a:xfrm>
          <a:custGeom>
            <a:avLst/>
            <a:gdLst/>
            <a:ahLst/>
            <a:cxnLst/>
            <a:rect l="l" t="t" r="r" b="b"/>
            <a:pathLst>
              <a:path w="433069" h="658495">
                <a:moveTo>
                  <a:pt x="432816" y="0"/>
                </a:moveTo>
                <a:lnTo>
                  <a:pt x="0" y="658368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850898" y="3955541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FFFF"/>
                </a:solidFill>
                <a:latin typeface="方正舒体"/>
                <a:cs typeface="方正舒体"/>
              </a:rPr>
              <a:t>①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24250" y="5054346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FFFF"/>
                </a:solidFill>
                <a:latin typeface="方正舒体"/>
                <a:cs typeface="方正舒体"/>
              </a:rPr>
              <a:t>②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28214" y="835532"/>
            <a:ext cx="3213735" cy="1661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779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982344" algn="l"/>
                <a:tab pos="2000885" algn="l"/>
                <a:tab pos="279273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10" b="1">
                <a:solidFill>
                  <a:srgbClr val="00FFFF"/>
                </a:solidFill>
                <a:latin typeface="方正舒体"/>
                <a:cs typeface="方正舒体"/>
              </a:rPr>
              <a:t>⑥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86297" y="4376420"/>
            <a:ext cx="95250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0673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baseline="-12152" sz="4800" spc="-15" b="1">
                <a:solidFill>
                  <a:srgbClr val="00FFFF"/>
                </a:solidFill>
                <a:latin typeface="方正舒体"/>
                <a:cs typeface="方正舒体"/>
              </a:rPr>
              <a:t>④</a:t>
            </a:r>
            <a:endParaRPr baseline="-12152" sz="4800">
              <a:latin typeface="方正舒体"/>
              <a:cs typeface="方正舒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46826" y="3859529"/>
            <a:ext cx="0" cy="573405"/>
          </a:xfrm>
          <a:custGeom>
            <a:avLst/>
            <a:gdLst/>
            <a:ahLst/>
            <a:cxnLst/>
            <a:rect l="l" t="t" r="r" b="b"/>
            <a:pathLst>
              <a:path w="0" h="573404">
                <a:moveTo>
                  <a:pt x="0" y="0"/>
                </a:moveTo>
                <a:lnTo>
                  <a:pt x="0" y="573024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52190" y="3275838"/>
            <a:ext cx="31051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8880" algn="l"/>
                <a:tab pos="2216785" algn="l"/>
                <a:tab pos="2685415" algn="l"/>
              </a:tabLst>
            </a:pPr>
            <a:r>
              <a:rPr dirty="0" u="heavy" sz="3200" spc="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，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	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10" b="1">
                <a:solidFill>
                  <a:srgbClr val="00FFFF"/>
                </a:solidFill>
                <a:latin typeface="方正舒体"/>
                <a:cs typeface="方正舒体"/>
              </a:rPr>
              <a:t>⑤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16429" y="2506217"/>
            <a:ext cx="950976" cy="13121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16429" y="2506217"/>
            <a:ext cx="951230" cy="1312545"/>
          </a:xfrm>
          <a:custGeom>
            <a:avLst/>
            <a:gdLst/>
            <a:ahLst/>
            <a:cxnLst/>
            <a:rect l="l" t="t" r="r" b="b"/>
            <a:pathLst>
              <a:path w="951230" h="1312545">
                <a:moveTo>
                  <a:pt x="0" y="1312163"/>
                </a:moveTo>
                <a:lnTo>
                  <a:pt x="950976" y="1312163"/>
                </a:lnTo>
                <a:lnTo>
                  <a:pt x="950976" y="0"/>
                </a:lnTo>
                <a:lnTo>
                  <a:pt x="0" y="0"/>
                </a:lnTo>
                <a:lnTo>
                  <a:pt x="0" y="131216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27297" y="3819905"/>
            <a:ext cx="950976" cy="1271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27297" y="3819905"/>
            <a:ext cx="951230" cy="1271270"/>
          </a:xfrm>
          <a:custGeom>
            <a:avLst/>
            <a:gdLst/>
            <a:ahLst/>
            <a:cxnLst/>
            <a:rect l="l" t="t" r="r" b="b"/>
            <a:pathLst>
              <a:path w="951229" h="1271270">
                <a:moveTo>
                  <a:pt x="0" y="1271015"/>
                </a:moveTo>
                <a:lnTo>
                  <a:pt x="950976" y="1271015"/>
                </a:lnTo>
                <a:lnTo>
                  <a:pt x="950976" y="0"/>
                </a:lnTo>
                <a:lnTo>
                  <a:pt x="0" y="0"/>
                </a:lnTo>
                <a:lnTo>
                  <a:pt x="0" y="12710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321046" y="4900421"/>
            <a:ext cx="950976" cy="106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307329" y="3833621"/>
            <a:ext cx="950976" cy="1066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07329" y="3833621"/>
            <a:ext cx="951230" cy="1066800"/>
          </a:xfrm>
          <a:custGeom>
            <a:avLst/>
            <a:gdLst/>
            <a:ahLst/>
            <a:cxnLst/>
            <a:rect l="l" t="t" r="r" b="b"/>
            <a:pathLst>
              <a:path w="951229" h="1066800">
                <a:moveTo>
                  <a:pt x="0" y="1066800"/>
                </a:moveTo>
                <a:lnTo>
                  <a:pt x="950976" y="1066800"/>
                </a:lnTo>
                <a:lnTo>
                  <a:pt x="950976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30346" y="2657094"/>
            <a:ext cx="2615183" cy="1176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530346" y="2657094"/>
            <a:ext cx="2615565" cy="1176655"/>
          </a:xfrm>
          <a:custGeom>
            <a:avLst/>
            <a:gdLst/>
            <a:ahLst/>
            <a:cxnLst/>
            <a:rect l="l" t="t" r="r" b="b"/>
            <a:pathLst>
              <a:path w="2615565" h="1176654">
                <a:moveTo>
                  <a:pt x="0" y="1176527"/>
                </a:moveTo>
                <a:lnTo>
                  <a:pt x="2615183" y="1176527"/>
                </a:lnTo>
                <a:lnTo>
                  <a:pt x="2615183" y="0"/>
                </a:lnTo>
                <a:lnTo>
                  <a:pt x="0" y="0"/>
                </a:lnTo>
                <a:lnTo>
                  <a:pt x="0" y="11765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522982" y="1437894"/>
            <a:ext cx="2580132" cy="10668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522982" y="1437894"/>
            <a:ext cx="2580640" cy="1066800"/>
          </a:xfrm>
          <a:custGeom>
            <a:avLst/>
            <a:gdLst/>
            <a:ahLst/>
            <a:cxnLst/>
            <a:rect l="l" t="t" r="r" b="b"/>
            <a:pathLst>
              <a:path w="2580640" h="1066800">
                <a:moveTo>
                  <a:pt x="0" y="1066800"/>
                </a:moveTo>
                <a:lnTo>
                  <a:pt x="2580132" y="1066800"/>
                </a:lnTo>
                <a:lnTo>
                  <a:pt x="2580132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801100" y="2924555"/>
            <a:ext cx="342900" cy="779145"/>
          </a:xfrm>
          <a:custGeom>
            <a:avLst/>
            <a:gdLst/>
            <a:ahLst/>
            <a:cxnLst/>
            <a:rect l="l" t="t" r="r" b="b"/>
            <a:pathLst>
              <a:path w="342900" h="779145">
                <a:moveTo>
                  <a:pt x="0" y="778764"/>
                </a:moveTo>
                <a:lnTo>
                  <a:pt x="342899" y="778764"/>
                </a:lnTo>
                <a:lnTo>
                  <a:pt x="342899" y="0"/>
                </a:lnTo>
                <a:lnTo>
                  <a:pt x="0" y="0"/>
                </a:lnTo>
                <a:lnTo>
                  <a:pt x="0" y="778764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889618" y="3003270"/>
            <a:ext cx="2038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9" action="ppaction://hlinksldjump"/>
              </a:rPr>
              <a:t>对 比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38978" y="5966876"/>
            <a:ext cx="433070" cy="4552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200" spc="-10" b="1">
                <a:solidFill>
                  <a:srgbClr val="00FFFF"/>
                </a:solidFill>
                <a:latin typeface="方正舒体"/>
                <a:cs typeface="方正舒体"/>
              </a:rPr>
              <a:t>③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0564" y="26923"/>
            <a:ext cx="25292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9469" algn="l"/>
              </a:tabLst>
            </a:pP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642" y="667003"/>
            <a:ext cx="1770380" cy="58737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5.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8710" y="26923"/>
            <a:ext cx="3490595" cy="1214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97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47320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项目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79803" y="4210811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0" y="838200"/>
                </a:moveTo>
                <a:lnTo>
                  <a:pt x="1447799" y="838200"/>
                </a:lnTo>
                <a:lnTo>
                  <a:pt x="1447799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6542" y="1216508"/>
            <a:ext cx="8597900" cy="5253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194945" indent="815340">
              <a:lnSpc>
                <a:spcPct val="15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在文法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的每个产生式的右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候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的任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何位置上添加一个圆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样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构成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每个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产生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式称为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0800" marR="285115" indent="819785">
              <a:lnSpc>
                <a:spcPts val="5760"/>
              </a:lnSpc>
              <a:spcBef>
                <a:spcPts val="509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约定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若产生式形式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5" b="1">
                <a:solidFill>
                  <a:srgbClr val="FFFF00"/>
                </a:solidFill>
                <a:latin typeface="宋体"/>
                <a:cs typeface="宋体"/>
              </a:rPr>
              <a:t>→</a:t>
            </a:r>
            <a:r>
              <a:rPr dirty="0" sz="3350" spc="-55" b="1" i="1">
                <a:solidFill>
                  <a:srgbClr val="FFFF00"/>
                </a:solidFill>
                <a:latin typeface="宋体"/>
                <a:cs typeface="宋体"/>
              </a:rPr>
              <a:t>ε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则其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项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目为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→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30100"/>
              </a:lnSpc>
              <a:spcBef>
                <a:spcPts val="1864"/>
              </a:spcBef>
            </a:pPr>
            <a:r>
              <a:rPr dirty="0" sz="3200" b="1">
                <a:solidFill>
                  <a:srgbClr val="66FF99"/>
                </a:solidFill>
                <a:latin typeface="宋体"/>
                <a:cs typeface="宋体"/>
              </a:rPr>
              <a:t>圆点的位置标记相应的候选</a:t>
            </a:r>
            <a:r>
              <a:rPr dirty="0" sz="3200" spc="-15" b="1">
                <a:solidFill>
                  <a:srgbClr val="66FF99"/>
                </a:solidFill>
                <a:latin typeface="宋体"/>
                <a:cs typeface="宋体"/>
              </a:rPr>
              <a:t>式</a:t>
            </a:r>
            <a:r>
              <a:rPr dirty="0" sz="3200" b="1">
                <a:solidFill>
                  <a:srgbClr val="66FF99"/>
                </a:solidFill>
                <a:latin typeface="宋体"/>
                <a:cs typeface="宋体"/>
              </a:rPr>
              <a:t>已被</a:t>
            </a:r>
            <a:r>
              <a:rPr dirty="0" sz="3200" spc="-15" b="1">
                <a:solidFill>
                  <a:srgbClr val="66FF99"/>
                </a:solidFill>
                <a:latin typeface="宋体"/>
                <a:cs typeface="宋体"/>
              </a:rPr>
              <a:t>匹</a:t>
            </a:r>
            <a:r>
              <a:rPr dirty="0" sz="3200" b="1">
                <a:solidFill>
                  <a:srgbClr val="66FF99"/>
                </a:solidFill>
                <a:latin typeface="宋体"/>
                <a:cs typeface="宋体"/>
              </a:rPr>
              <a:t>配（</a:t>
            </a:r>
            <a:r>
              <a:rPr dirty="0" sz="3200" spc="-15" b="1">
                <a:solidFill>
                  <a:srgbClr val="66FF99"/>
                </a:solidFill>
                <a:latin typeface="宋体"/>
                <a:cs typeface="宋体"/>
              </a:rPr>
              <a:t>放</a:t>
            </a:r>
            <a:r>
              <a:rPr dirty="0" sz="3200" b="1">
                <a:solidFill>
                  <a:srgbClr val="66FF99"/>
                </a:solidFill>
                <a:latin typeface="宋体"/>
                <a:cs typeface="宋体"/>
              </a:rPr>
              <a:t>入栈 </a:t>
            </a:r>
            <a:r>
              <a:rPr dirty="0" sz="3200" b="1">
                <a:solidFill>
                  <a:srgbClr val="66FF99"/>
                </a:solidFill>
                <a:latin typeface="宋体"/>
                <a:cs typeface="宋体"/>
              </a:rPr>
              <a:t>中）了多少。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33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8048" y="744727"/>
            <a:ext cx="11125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5.11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3247" y="26923"/>
            <a:ext cx="8486775" cy="1231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宋体"/>
              <a:cs typeface="宋体"/>
            </a:endParaRPr>
          </a:p>
          <a:p>
            <a:pPr marL="1821814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9966" y="1378965"/>
            <a:ext cx="14935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43298" y="1356959"/>
            <a:ext cx="351282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640330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70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r>
              <a:rPr dirty="0" sz="335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4888" y="2203526"/>
            <a:ext cx="43072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项目有：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602" y="3874084"/>
            <a:ext cx="13195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2409" y="2680182"/>
            <a:ext cx="1517015" cy="2269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5880">
              <a:lnSpc>
                <a:spcPct val="114999"/>
              </a:lnSpc>
              <a:spcBef>
                <a:spcPts val="10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32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7485" y="2680182"/>
            <a:ext cx="1520825" cy="3391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14999"/>
              </a:lnSpc>
              <a:spcBef>
                <a:spcPts val="10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 ·</a:t>
            </a:r>
            <a:r>
              <a:rPr dirty="0" sz="32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aA 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·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 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→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· 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79801" y="5557520"/>
            <a:ext cx="11258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26669"/>
            <a:ext cx="9144000" cy="43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26669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52577"/>
            <a:ext cx="8486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9792" y="1261127"/>
            <a:ext cx="7346950" cy="240284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3200" spc="-8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归约项目</a:t>
            </a:r>
            <a:r>
              <a:rPr dirty="0" sz="3200" spc="-2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000" spc="-2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000" spc="-2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3150" spc="-20" b="1" i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3000" spc="-2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3000">
              <a:latin typeface="Courier New"/>
              <a:cs typeface="Courier New"/>
            </a:endParaRPr>
          </a:p>
          <a:p>
            <a:pPr marL="100965" marR="5080" indent="626110">
              <a:lnSpc>
                <a:spcPct val="123100"/>
              </a:lnSpc>
              <a:spcBef>
                <a:spcPts val="1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柄</a:t>
            </a:r>
            <a:r>
              <a:rPr dirty="0" sz="3200" spc="5" b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恰好包含在栈中，即当前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的内 容构成了所期望的刚好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含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2800" spc="-7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，应按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进行归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942" y="3821962"/>
            <a:ext cx="4685665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3200" spc="-844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接受项目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9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000" spc="-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3000" spc="-5" b="1">
                <a:solidFill>
                  <a:srgbClr val="00FFFF"/>
                </a:solidFill>
                <a:latin typeface="Courier New"/>
                <a:cs typeface="Courier New"/>
              </a:rPr>
              <a:t>’</a:t>
            </a:r>
            <a:r>
              <a:rPr dirty="0" sz="3000" spc="-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3000" spc="-1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350" spc="-45" b="1" i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3000" spc="-4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3408" y="3869893"/>
            <a:ext cx="31432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00FFFF"/>
                </a:solidFill>
                <a:latin typeface="宋体"/>
                <a:cs typeface="宋体"/>
              </a:rPr>
              <a:t>（</a:t>
            </a:r>
            <a:r>
              <a:rPr dirty="0" sz="3000" spc="-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3000" spc="-5" b="1">
                <a:solidFill>
                  <a:srgbClr val="00FFFF"/>
                </a:solidFill>
                <a:latin typeface="Courier New"/>
                <a:cs typeface="Courier New"/>
              </a:rPr>
              <a:t>’</a:t>
            </a:r>
            <a:r>
              <a:rPr dirty="0" sz="3000" spc="-5" b="1">
                <a:solidFill>
                  <a:srgbClr val="00FFFF"/>
                </a:solidFill>
                <a:latin typeface="宋体"/>
                <a:cs typeface="宋体"/>
              </a:rPr>
              <a:t>是开始符</a:t>
            </a:r>
            <a:r>
              <a:rPr dirty="0" sz="3000" b="1">
                <a:solidFill>
                  <a:srgbClr val="00FFFF"/>
                </a:solidFill>
                <a:latin typeface="宋体"/>
                <a:cs typeface="宋体"/>
              </a:rPr>
              <a:t>号</a:t>
            </a:r>
            <a:r>
              <a:rPr dirty="0" sz="3000" spc="-10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942" y="4357504"/>
            <a:ext cx="8303895" cy="18986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547370">
              <a:lnSpc>
                <a:spcPct val="100000"/>
              </a:lnSpc>
              <a:spcBef>
                <a:spcPts val="110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是文法惟一的开始符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。这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项目实</a:t>
            </a:r>
            <a:endParaRPr sz="2800">
              <a:latin typeface="宋体"/>
              <a:cs typeface="宋体"/>
            </a:endParaRPr>
          </a:p>
          <a:p>
            <a:pPr marL="12700" marR="67310">
              <a:lnSpc>
                <a:spcPct val="126899"/>
              </a:lnSpc>
              <a:spcBef>
                <a:spcPts val="17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际是特殊的归约项目，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栈中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容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恰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r>
              <a:rPr dirty="0" sz="2800" spc="3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350" spc="-95" b="1" i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3350" spc="-70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95" b="1" i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3350" spc="-140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进行归约，则整个分析成功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89098" y="654811"/>
            <a:ext cx="32581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600" spc="-5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heavy" sz="3600" spc="-45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600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(0)</a:t>
            </a:r>
            <a:r>
              <a:rPr dirty="0" u="heavy" sz="3600" spc="-35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600" spc="-5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</a:rPr>
              <a:t>项目分类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486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0840" y="671636"/>
            <a:ext cx="7919720" cy="2590165"/>
          </a:xfrm>
          <a:prstGeom prst="rect"/>
        </p:spPr>
        <p:txBody>
          <a:bodyPr wrap="square" lIns="0" tIns="20955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650"/>
              </a:spcBef>
            </a:pPr>
            <a:r>
              <a:rPr dirty="0" sz="3200">
                <a:solidFill>
                  <a:srgbClr val="FFFF00"/>
                </a:solidFill>
              </a:rPr>
              <a:t>（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>
                <a:solidFill>
                  <a:srgbClr val="FFFF00"/>
                </a:solidFill>
              </a:rPr>
              <a:t>）</a:t>
            </a:r>
            <a:r>
              <a:rPr dirty="0" sz="3200" spc="-830">
                <a:solidFill>
                  <a:srgbClr val="FFFF00"/>
                </a:solidFill>
              </a:rPr>
              <a:t> </a:t>
            </a:r>
            <a:r>
              <a:rPr dirty="0" sz="3200" spc="-5">
                <a:solidFill>
                  <a:srgbClr val="FFFF00"/>
                </a:solidFill>
              </a:rPr>
              <a:t>移进项目</a:t>
            </a:r>
            <a:r>
              <a:rPr dirty="0" sz="3200" spc="-10">
                <a:solidFill>
                  <a:srgbClr val="FFFF00"/>
                </a:solidFill>
              </a:rPr>
              <a:t>：</a:t>
            </a:r>
            <a:r>
              <a:rPr dirty="0" sz="3200" spc="-869">
                <a:solidFill>
                  <a:srgbClr val="FFFF00"/>
                </a:solidFill>
              </a:rPr>
              <a:t> </a:t>
            </a:r>
            <a:r>
              <a:rPr dirty="0" sz="3000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000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3000" spc="-15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350" spc="-95" i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3350" spc="-30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000" spc="-30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3000" spc="-30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350" spc="-30" i="1">
                <a:solidFill>
                  <a:srgbClr val="00FFFF"/>
                </a:solidFill>
                <a:latin typeface="Symbol"/>
                <a:cs typeface="Symbol"/>
              </a:rPr>
              <a:t></a:t>
            </a:r>
            <a:r>
              <a:rPr dirty="0" sz="3350" spc="-95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000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>
                <a:solidFill>
                  <a:srgbClr val="00FFFF"/>
                </a:solidFill>
              </a:rPr>
              <a:t>∈</a:t>
            </a:r>
            <a:r>
              <a:rPr dirty="0" sz="3000" spc="-5" i="1">
                <a:solidFill>
                  <a:srgbClr val="00FFFF"/>
                </a:solidFill>
                <a:latin typeface="Times New Roman"/>
                <a:cs typeface="Times New Roman"/>
              </a:rPr>
              <a:t>V</a:t>
            </a:r>
            <a:r>
              <a:rPr dirty="0" baseline="-25000" sz="3000" spc="-7" i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3000" spc="-5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algn="just" marL="25400" marR="17780" indent="534670">
              <a:lnSpc>
                <a:spcPct val="132500"/>
              </a:lnSpc>
              <a:spcBef>
                <a:spcPts val="165"/>
              </a:spcBef>
            </a:pPr>
            <a:r>
              <a:rPr dirty="0" spc="-5">
                <a:solidFill>
                  <a:srgbClr val="FFFFFF"/>
                </a:solidFill>
              </a:rPr>
              <a:t>这类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pc="-1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pc="-5">
                <a:solidFill>
                  <a:srgbClr val="FFFFFF"/>
                </a:solidFill>
              </a:rPr>
              <a:t>项目表示分析栈中是</a:t>
            </a:r>
            <a:r>
              <a:rPr dirty="0" spc="5">
                <a:solidFill>
                  <a:srgbClr val="FFFFFF"/>
                </a:solidFill>
              </a:rPr>
              <a:t>不</a:t>
            </a:r>
            <a:r>
              <a:rPr dirty="0" spc="-5">
                <a:solidFill>
                  <a:srgbClr val="FFFFFF"/>
                </a:solidFill>
              </a:rPr>
              <a:t>完</a:t>
            </a:r>
            <a:r>
              <a:rPr dirty="0" spc="5">
                <a:solidFill>
                  <a:srgbClr val="FFFFFF"/>
                </a:solidFill>
              </a:rPr>
              <a:t>全</a:t>
            </a:r>
            <a:r>
              <a:rPr dirty="0" spc="-5">
                <a:solidFill>
                  <a:srgbClr val="FFFFFF"/>
                </a:solidFill>
              </a:rPr>
              <a:t>包含</a:t>
            </a:r>
            <a:r>
              <a:rPr dirty="0" spc="5">
                <a:solidFill>
                  <a:srgbClr val="FFFFFF"/>
                </a:solidFill>
              </a:rPr>
              <a:t>句</a:t>
            </a:r>
            <a:r>
              <a:rPr dirty="0" spc="-15">
                <a:solidFill>
                  <a:srgbClr val="FFFFFF"/>
                </a:solidFill>
              </a:rPr>
              <a:t>柄 </a:t>
            </a:r>
            <a:r>
              <a:rPr dirty="0" spc="-10">
                <a:solidFill>
                  <a:srgbClr val="FFFFFF"/>
                </a:solidFill>
              </a:rPr>
              <a:t>的活前</a:t>
            </a:r>
            <a:r>
              <a:rPr dirty="0" spc="-5">
                <a:solidFill>
                  <a:srgbClr val="FFFFFF"/>
                </a:solidFill>
              </a:rPr>
              <a:t>缀</a:t>
            </a:r>
            <a:r>
              <a:rPr dirty="0" spc="-10">
                <a:solidFill>
                  <a:srgbClr val="FFFFFF"/>
                </a:solidFill>
              </a:rPr>
              <a:t>，为构成恰好含有句</a:t>
            </a:r>
            <a:r>
              <a:rPr dirty="0" spc="-5">
                <a:solidFill>
                  <a:srgbClr val="FFFFFF"/>
                </a:solidFill>
              </a:rPr>
              <a:t>柄</a:t>
            </a:r>
            <a:r>
              <a:rPr dirty="0" sz="3350" spc="-50" i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3200" spc="-50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350" spc="-50" i="1">
                <a:solidFill>
                  <a:srgbClr val="00FFFF"/>
                </a:solidFill>
                <a:latin typeface="Symbol"/>
                <a:cs typeface="Symbol"/>
              </a:rPr>
              <a:t></a:t>
            </a:r>
            <a:r>
              <a:rPr dirty="0" spc="-10">
                <a:solidFill>
                  <a:srgbClr val="FFFFFF"/>
                </a:solidFill>
              </a:rPr>
              <a:t>的活前</a:t>
            </a:r>
            <a:r>
              <a:rPr dirty="0" spc="-5">
                <a:solidFill>
                  <a:srgbClr val="FFFFFF"/>
                </a:solidFill>
              </a:rPr>
              <a:t>缀</a:t>
            </a:r>
            <a:r>
              <a:rPr dirty="0" spc="-10">
                <a:solidFill>
                  <a:srgbClr val="FFFFFF"/>
                </a:solidFill>
              </a:rPr>
              <a:t>，</a:t>
            </a:r>
            <a:r>
              <a:rPr dirty="0" spc="-15">
                <a:solidFill>
                  <a:srgbClr val="FFFFFF"/>
                </a:solidFill>
              </a:rPr>
              <a:t>还 </a:t>
            </a:r>
            <a:r>
              <a:rPr dirty="0" spc="-5">
                <a:solidFill>
                  <a:srgbClr val="FFFFFF"/>
                </a:solidFill>
              </a:rPr>
              <a:t>需将</a:t>
            </a:r>
            <a:r>
              <a:rPr dirty="0" sz="3000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pc="-5">
                <a:solidFill>
                  <a:srgbClr val="FFFFFF"/>
                </a:solidFill>
              </a:rPr>
              <a:t>移进分析</a:t>
            </a:r>
            <a:r>
              <a:rPr dirty="0">
                <a:solidFill>
                  <a:srgbClr val="FFFFFF"/>
                </a:solidFill>
              </a:rPr>
              <a:t>栈</a:t>
            </a:r>
            <a:r>
              <a:rPr dirty="0" spc="-15">
                <a:solidFill>
                  <a:srgbClr val="FFFFFF"/>
                </a:solidFill>
              </a:rPr>
              <a:t>。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640" y="3477224"/>
            <a:ext cx="500507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3200" spc="-844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待约项目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9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350" spc="-95" b="1" i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3350" spc="-40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000" spc="-3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35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3350" spc="-35" b="1" i="1">
                <a:solidFill>
                  <a:srgbClr val="00FFFF"/>
                </a:solidFill>
                <a:latin typeface="Symbol"/>
                <a:cs typeface="Symbol"/>
              </a:rPr>
              <a:t>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1377" y="3531842"/>
            <a:ext cx="143573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3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-30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30" b="1">
                <a:solidFill>
                  <a:srgbClr val="00FFFF"/>
                </a:solidFill>
                <a:latin typeface="宋体"/>
                <a:cs typeface="宋体"/>
              </a:rPr>
              <a:t>∈</a:t>
            </a:r>
            <a:r>
              <a:rPr dirty="0" sz="2950" spc="-30" b="1" i="1">
                <a:solidFill>
                  <a:srgbClr val="00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44" b="1" i="1">
                <a:solidFill>
                  <a:srgbClr val="00FFFF"/>
                </a:solidFill>
                <a:latin typeface="Times New Roman"/>
                <a:cs typeface="Times New Roman"/>
              </a:rPr>
              <a:t>N</a:t>
            </a:r>
            <a:r>
              <a:rPr dirty="0" sz="2800" spc="-3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640" y="4031945"/>
            <a:ext cx="8069580" cy="1805939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这类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项目表示分析栈中是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包含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柄的活</a:t>
            </a:r>
            <a:endParaRPr sz="2800">
              <a:latin typeface="宋体"/>
              <a:cs typeface="宋体"/>
            </a:endParaRPr>
          </a:p>
          <a:p>
            <a:pPr marL="12700" marR="164465">
              <a:lnSpc>
                <a:spcPts val="4640"/>
              </a:lnSpc>
              <a:spcBef>
                <a:spcPts val="8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前缀，为构成恰好有句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柄</a:t>
            </a:r>
            <a:r>
              <a:rPr dirty="0" sz="3350" spc="-90" b="1" i="1">
                <a:solidFill>
                  <a:srgbClr val="00FFFF"/>
                </a:solidFill>
                <a:latin typeface="Symbol"/>
                <a:cs typeface="Symbol"/>
              </a:rPr>
              <a:t>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3350" spc="-70" b="1" i="1">
                <a:solidFill>
                  <a:srgbClr val="00FFFF"/>
                </a:solidFill>
                <a:latin typeface="Symbol"/>
                <a:cs typeface="Symbol"/>
              </a:rPr>
              <a:t>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的活前缀，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先把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当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前输入字符串中的相应内容先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434" y="592327"/>
            <a:ext cx="11125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5.11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8082" y="1226007"/>
            <a:ext cx="29724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90980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'→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	S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1491" y="1203984"/>
            <a:ext cx="351282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39695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65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r>
              <a:rPr dirty="0" sz="335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2029713"/>
            <a:ext cx="43084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0534" y="2541473"/>
            <a:ext cx="15043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1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5034" y="2480757"/>
            <a:ext cx="1405890" cy="16846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13799"/>
              </a:lnSpc>
              <a:spcBef>
                <a:spcPts val="5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3478" y="3018615"/>
            <a:ext cx="1339850" cy="1146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540">
              <a:lnSpc>
                <a:spcPct val="114999"/>
              </a:lnSpc>
              <a:spcBef>
                <a:spcPts val="9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·  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88614" y="4139565"/>
            <a:ext cx="15881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5761" y="4191761"/>
            <a:ext cx="1658620" cy="66802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535"/>
              </a:lnSpc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4711" y="4067022"/>
            <a:ext cx="1734820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 marR="58419" indent="-3175">
              <a:lnSpc>
                <a:spcPct val="114999"/>
              </a:lnSpc>
              <a:spcBef>
                <a:spcPts val="10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aA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→·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5661" y="5325617"/>
            <a:ext cx="1772920" cy="56261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84455" rIns="0" bIns="0" rtlCol="0" vert="horz">
            <a:spAutoFit/>
          </a:bodyPr>
          <a:lstStyle/>
          <a:p>
            <a:pPr marL="126364">
              <a:lnSpc>
                <a:spcPts val="3760"/>
              </a:lnSpc>
              <a:spcBef>
                <a:spcPts val="66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→·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3761" y="6069329"/>
            <a:ext cx="1772920" cy="51562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→·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0973" y="4783073"/>
            <a:ext cx="1732914" cy="18211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0650">
              <a:lnSpc>
                <a:spcPts val="3295"/>
              </a:lnSpc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500">
              <a:latin typeface="宋体"/>
              <a:cs typeface="宋体"/>
            </a:endParaRPr>
          </a:p>
          <a:p>
            <a:pPr marL="94615">
              <a:lnSpc>
                <a:spcPct val="100000"/>
              </a:lnSpc>
              <a:spcBef>
                <a:spcPts val="253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33247" y="0"/>
            <a:ext cx="8486775" cy="1242060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宋体"/>
              <a:cs typeface="宋体"/>
            </a:endParaRPr>
          </a:p>
          <a:p>
            <a:pPr marL="1790700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设文法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29461" y="2535173"/>
            <a:ext cx="1772920" cy="1656714"/>
          </a:xfrm>
          <a:custGeom>
            <a:avLst/>
            <a:gdLst/>
            <a:ahLst/>
            <a:cxnLst/>
            <a:rect l="l" t="t" r="r" b="b"/>
            <a:pathLst>
              <a:path w="1772920" h="1656714">
                <a:moveTo>
                  <a:pt x="0" y="1656588"/>
                </a:moveTo>
                <a:lnTo>
                  <a:pt x="1772412" y="1656588"/>
                </a:lnTo>
                <a:lnTo>
                  <a:pt x="1772412" y="0"/>
                </a:lnTo>
                <a:lnTo>
                  <a:pt x="0" y="0"/>
                </a:lnTo>
                <a:lnTo>
                  <a:pt x="0" y="165658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39261" y="4191761"/>
            <a:ext cx="1981200" cy="495300"/>
          </a:xfrm>
          <a:custGeom>
            <a:avLst/>
            <a:gdLst/>
            <a:ahLst/>
            <a:cxnLst/>
            <a:rect l="l" t="t" r="r" b="b"/>
            <a:pathLst>
              <a:path w="1981200" h="495300">
                <a:moveTo>
                  <a:pt x="0" y="495300"/>
                </a:moveTo>
                <a:lnTo>
                  <a:pt x="1981200" y="495300"/>
                </a:lnTo>
                <a:lnTo>
                  <a:pt x="19812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05661" y="4267961"/>
            <a:ext cx="1772920" cy="1028700"/>
          </a:xfrm>
          <a:custGeom>
            <a:avLst/>
            <a:gdLst/>
            <a:ahLst/>
            <a:cxnLst/>
            <a:rect l="l" t="t" r="r" b="b"/>
            <a:pathLst>
              <a:path w="1772920" h="1028700">
                <a:moveTo>
                  <a:pt x="0" y="1028700"/>
                </a:moveTo>
                <a:lnTo>
                  <a:pt x="1772412" y="1028700"/>
                </a:lnTo>
                <a:lnTo>
                  <a:pt x="1772412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77361" y="3048761"/>
            <a:ext cx="1544320" cy="1087120"/>
          </a:xfrm>
          <a:custGeom>
            <a:avLst/>
            <a:gdLst/>
            <a:ahLst/>
            <a:cxnLst/>
            <a:rect l="l" t="t" r="r" b="b"/>
            <a:pathLst>
              <a:path w="1544320" h="1087120">
                <a:moveTo>
                  <a:pt x="0" y="1086612"/>
                </a:moveTo>
                <a:lnTo>
                  <a:pt x="1543812" y="1086612"/>
                </a:lnTo>
                <a:lnTo>
                  <a:pt x="1543812" y="0"/>
                </a:lnTo>
                <a:lnTo>
                  <a:pt x="0" y="0"/>
                </a:lnTo>
                <a:lnTo>
                  <a:pt x="0" y="10866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4461" y="2535173"/>
            <a:ext cx="2382520" cy="513715"/>
          </a:xfrm>
          <a:custGeom>
            <a:avLst/>
            <a:gdLst/>
            <a:ahLst/>
            <a:cxnLst/>
            <a:rect l="l" t="t" r="r" b="b"/>
            <a:pathLst>
              <a:path w="2382520" h="513714">
                <a:moveTo>
                  <a:pt x="0" y="256793"/>
                </a:moveTo>
                <a:lnTo>
                  <a:pt x="20671" y="208899"/>
                </a:lnTo>
                <a:lnTo>
                  <a:pt x="56257" y="178565"/>
                </a:lnTo>
                <a:lnTo>
                  <a:pt x="107985" y="149787"/>
                </a:lnTo>
                <a:lnTo>
                  <a:pt x="174737" y="122807"/>
                </a:lnTo>
                <a:lnTo>
                  <a:pt x="213399" y="110066"/>
                </a:lnTo>
                <a:lnTo>
                  <a:pt x="255399" y="97864"/>
                </a:lnTo>
                <a:lnTo>
                  <a:pt x="300597" y="86232"/>
                </a:lnTo>
                <a:lnTo>
                  <a:pt x="348853" y="75199"/>
                </a:lnTo>
                <a:lnTo>
                  <a:pt x="400028" y="64796"/>
                </a:lnTo>
                <a:lnTo>
                  <a:pt x="453982" y="55053"/>
                </a:lnTo>
                <a:lnTo>
                  <a:pt x="510576" y="45999"/>
                </a:lnTo>
                <a:lnTo>
                  <a:pt x="569671" y="37664"/>
                </a:lnTo>
                <a:lnTo>
                  <a:pt x="631126" y="30080"/>
                </a:lnTo>
                <a:lnTo>
                  <a:pt x="694802" y="23275"/>
                </a:lnTo>
                <a:lnTo>
                  <a:pt x="760560" y="17280"/>
                </a:lnTo>
                <a:lnTo>
                  <a:pt x="828260" y="12125"/>
                </a:lnTo>
                <a:lnTo>
                  <a:pt x="897762" y="7840"/>
                </a:lnTo>
                <a:lnTo>
                  <a:pt x="968928" y="4455"/>
                </a:lnTo>
                <a:lnTo>
                  <a:pt x="1041616" y="2000"/>
                </a:lnTo>
                <a:lnTo>
                  <a:pt x="1115689" y="505"/>
                </a:lnTo>
                <a:lnTo>
                  <a:pt x="1191005" y="0"/>
                </a:lnTo>
                <a:lnTo>
                  <a:pt x="1266322" y="505"/>
                </a:lnTo>
                <a:lnTo>
                  <a:pt x="1340395" y="2000"/>
                </a:lnTo>
                <a:lnTo>
                  <a:pt x="1413083" y="4455"/>
                </a:lnTo>
                <a:lnTo>
                  <a:pt x="1484249" y="7840"/>
                </a:lnTo>
                <a:lnTo>
                  <a:pt x="1553751" y="12125"/>
                </a:lnTo>
                <a:lnTo>
                  <a:pt x="1621451" y="17280"/>
                </a:lnTo>
                <a:lnTo>
                  <a:pt x="1687209" y="23275"/>
                </a:lnTo>
                <a:lnTo>
                  <a:pt x="1750885" y="30080"/>
                </a:lnTo>
                <a:lnTo>
                  <a:pt x="1812340" y="37664"/>
                </a:lnTo>
                <a:lnTo>
                  <a:pt x="1871435" y="45999"/>
                </a:lnTo>
                <a:lnTo>
                  <a:pt x="1928029" y="55053"/>
                </a:lnTo>
                <a:lnTo>
                  <a:pt x="1981983" y="64796"/>
                </a:lnTo>
                <a:lnTo>
                  <a:pt x="2033158" y="75199"/>
                </a:lnTo>
                <a:lnTo>
                  <a:pt x="2081414" y="86232"/>
                </a:lnTo>
                <a:lnTo>
                  <a:pt x="2126612" y="97864"/>
                </a:lnTo>
                <a:lnTo>
                  <a:pt x="2168612" y="110066"/>
                </a:lnTo>
                <a:lnTo>
                  <a:pt x="2207274" y="122807"/>
                </a:lnTo>
                <a:lnTo>
                  <a:pt x="2274026" y="149787"/>
                </a:lnTo>
                <a:lnTo>
                  <a:pt x="2325754" y="178565"/>
                </a:lnTo>
                <a:lnTo>
                  <a:pt x="2361340" y="208899"/>
                </a:lnTo>
                <a:lnTo>
                  <a:pt x="2382012" y="256793"/>
                </a:lnTo>
                <a:lnTo>
                  <a:pt x="2379668" y="273037"/>
                </a:lnTo>
                <a:lnTo>
                  <a:pt x="2345635" y="320035"/>
                </a:lnTo>
                <a:lnTo>
                  <a:pt x="2301838" y="349620"/>
                </a:lnTo>
                <a:lnTo>
                  <a:pt x="2242458" y="377529"/>
                </a:lnTo>
                <a:lnTo>
                  <a:pt x="2168612" y="403521"/>
                </a:lnTo>
                <a:lnTo>
                  <a:pt x="2126612" y="415723"/>
                </a:lnTo>
                <a:lnTo>
                  <a:pt x="2081414" y="427355"/>
                </a:lnTo>
                <a:lnTo>
                  <a:pt x="2033158" y="438388"/>
                </a:lnTo>
                <a:lnTo>
                  <a:pt x="1981983" y="448791"/>
                </a:lnTo>
                <a:lnTo>
                  <a:pt x="1928029" y="458534"/>
                </a:lnTo>
                <a:lnTo>
                  <a:pt x="1871435" y="467588"/>
                </a:lnTo>
                <a:lnTo>
                  <a:pt x="1812340" y="475923"/>
                </a:lnTo>
                <a:lnTo>
                  <a:pt x="1750885" y="483507"/>
                </a:lnTo>
                <a:lnTo>
                  <a:pt x="1687209" y="490312"/>
                </a:lnTo>
                <a:lnTo>
                  <a:pt x="1621451" y="496307"/>
                </a:lnTo>
                <a:lnTo>
                  <a:pt x="1553751" y="501462"/>
                </a:lnTo>
                <a:lnTo>
                  <a:pt x="1484249" y="505747"/>
                </a:lnTo>
                <a:lnTo>
                  <a:pt x="1413083" y="509132"/>
                </a:lnTo>
                <a:lnTo>
                  <a:pt x="1340395" y="511587"/>
                </a:lnTo>
                <a:lnTo>
                  <a:pt x="1266322" y="513082"/>
                </a:lnTo>
                <a:lnTo>
                  <a:pt x="1191005" y="513588"/>
                </a:lnTo>
                <a:lnTo>
                  <a:pt x="1115689" y="513082"/>
                </a:lnTo>
                <a:lnTo>
                  <a:pt x="1041616" y="511587"/>
                </a:lnTo>
                <a:lnTo>
                  <a:pt x="968928" y="509132"/>
                </a:lnTo>
                <a:lnTo>
                  <a:pt x="897762" y="505747"/>
                </a:lnTo>
                <a:lnTo>
                  <a:pt x="828260" y="501462"/>
                </a:lnTo>
                <a:lnTo>
                  <a:pt x="760560" y="496307"/>
                </a:lnTo>
                <a:lnTo>
                  <a:pt x="694802" y="490312"/>
                </a:lnTo>
                <a:lnTo>
                  <a:pt x="631126" y="483507"/>
                </a:lnTo>
                <a:lnTo>
                  <a:pt x="569671" y="475923"/>
                </a:lnTo>
                <a:lnTo>
                  <a:pt x="510576" y="467588"/>
                </a:lnTo>
                <a:lnTo>
                  <a:pt x="453982" y="458534"/>
                </a:lnTo>
                <a:lnTo>
                  <a:pt x="400028" y="448791"/>
                </a:lnTo>
                <a:lnTo>
                  <a:pt x="348853" y="438388"/>
                </a:lnTo>
                <a:lnTo>
                  <a:pt x="300597" y="427355"/>
                </a:lnTo>
                <a:lnTo>
                  <a:pt x="255399" y="415723"/>
                </a:lnTo>
                <a:lnTo>
                  <a:pt x="213399" y="403521"/>
                </a:lnTo>
                <a:lnTo>
                  <a:pt x="174737" y="390780"/>
                </a:lnTo>
                <a:lnTo>
                  <a:pt x="107985" y="363800"/>
                </a:lnTo>
                <a:lnTo>
                  <a:pt x="56257" y="335022"/>
                </a:lnTo>
                <a:lnTo>
                  <a:pt x="20671" y="304688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FF99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486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138" y="1985620"/>
            <a:ext cx="8485505" cy="2591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3570">
              <a:lnSpc>
                <a:spcPct val="140000"/>
              </a:lnSpc>
              <a:spcBef>
                <a:spcPts val="10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规定文法开始符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在左侧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第一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32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唯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一初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636270">
              <a:lnSpc>
                <a:spcPct val="100000"/>
              </a:lnSpc>
              <a:spcBef>
                <a:spcPts val="138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令所有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项目分别对应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个状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endParaRPr sz="2800">
              <a:latin typeface="宋体"/>
              <a:cs typeface="宋体"/>
            </a:endParaRPr>
          </a:p>
          <a:p>
            <a:pPr marL="100965">
              <a:lnSpc>
                <a:spcPct val="100000"/>
              </a:lnSpc>
              <a:spcBef>
                <a:spcPts val="134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项目为归约项目的对应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态为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终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1459" y="508277"/>
            <a:ext cx="7666355" cy="13360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95"/>
              </a:spcBef>
            </a:pPr>
            <a:r>
              <a:rPr dirty="0" sz="3200">
                <a:solidFill>
                  <a:srgbClr val="00FFFF"/>
                </a:solidFill>
              </a:rPr>
              <a:t>构造识别文法</a:t>
            </a:r>
            <a:r>
              <a:rPr dirty="0" sz="3200" i="1">
                <a:solidFill>
                  <a:srgbClr val="00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00FFFF"/>
                </a:solidFill>
              </a:rPr>
              <a:t>的所有活</a:t>
            </a:r>
            <a:r>
              <a:rPr dirty="0" sz="3200" spc="-5">
                <a:solidFill>
                  <a:srgbClr val="00FFFF"/>
                </a:solidFill>
              </a:rPr>
              <a:t>前缀</a:t>
            </a:r>
            <a:r>
              <a:rPr dirty="0" sz="3200" spc="-10">
                <a:solidFill>
                  <a:srgbClr val="00FFFF"/>
                </a:solidFill>
              </a:rPr>
              <a:t>的</a:t>
            </a:r>
            <a:r>
              <a:rPr dirty="0" sz="3200" spc="-5">
                <a:solidFill>
                  <a:srgbClr val="00FFFF"/>
                </a:solidFill>
              </a:rPr>
              <a:t>非确</a:t>
            </a:r>
            <a:r>
              <a:rPr dirty="0" sz="3200" spc="-10">
                <a:solidFill>
                  <a:srgbClr val="00FFFF"/>
                </a:solidFill>
              </a:rPr>
              <a:t>定</a:t>
            </a:r>
            <a:r>
              <a:rPr dirty="0" sz="3200" spc="-5">
                <a:solidFill>
                  <a:srgbClr val="00FFFF"/>
                </a:solidFill>
              </a:rPr>
              <a:t>有</a:t>
            </a:r>
            <a:r>
              <a:rPr dirty="0" sz="3200" spc="-10">
                <a:solidFill>
                  <a:srgbClr val="00FFFF"/>
                </a:solidFill>
              </a:rPr>
              <a:t>限 </a:t>
            </a:r>
            <a:r>
              <a:rPr dirty="0" sz="3200" spc="-5">
                <a:solidFill>
                  <a:srgbClr val="00FFFF"/>
                </a:solidFill>
              </a:rPr>
              <a:t>自动</a:t>
            </a:r>
            <a:r>
              <a:rPr dirty="0" sz="3200" spc="-10">
                <a:solidFill>
                  <a:srgbClr val="00FFFF"/>
                </a:solidFill>
              </a:rPr>
              <a:t>机</a:t>
            </a:r>
            <a:r>
              <a:rPr dirty="0" sz="3200">
                <a:solidFill>
                  <a:srgbClr val="00FFFF"/>
                </a:solidFill>
              </a:rPr>
              <a:t> </a:t>
            </a:r>
            <a:r>
              <a:rPr dirty="0" sz="3200" spc="-10">
                <a:solidFill>
                  <a:srgbClr val="00FFFF"/>
                </a:solidFill>
              </a:rPr>
              <a:t>：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153" y="3418585"/>
            <a:ext cx="4762500" cy="3033395"/>
          </a:xfrm>
          <a:custGeom>
            <a:avLst/>
            <a:gdLst/>
            <a:ahLst/>
            <a:cxnLst/>
            <a:rect l="l" t="t" r="r" b="b"/>
            <a:pathLst>
              <a:path w="4762500" h="3033395">
                <a:moveTo>
                  <a:pt x="0" y="2536698"/>
                </a:moveTo>
                <a:lnTo>
                  <a:pt x="7804" y="2498039"/>
                </a:lnTo>
                <a:lnTo>
                  <a:pt x="29087" y="2466471"/>
                </a:lnTo>
                <a:lnTo>
                  <a:pt x="60655" y="2445188"/>
                </a:lnTo>
                <a:lnTo>
                  <a:pt x="99314" y="2437384"/>
                </a:lnTo>
                <a:lnTo>
                  <a:pt x="793750" y="2437384"/>
                </a:lnTo>
                <a:lnTo>
                  <a:pt x="296989" y="0"/>
                </a:lnTo>
                <a:lnTo>
                  <a:pt x="1984375" y="2437384"/>
                </a:lnTo>
                <a:lnTo>
                  <a:pt x="4663186" y="2437384"/>
                </a:lnTo>
                <a:lnTo>
                  <a:pt x="4701849" y="2445188"/>
                </a:lnTo>
                <a:lnTo>
                  <a:pt x="4733417" y="2466471"/>
                </a:lnTo>
                <a:lnTo>
                  <a:pt x="4754697" y="2498039"/>
                </a:lnTo>
                <a:lnTo>
                  <a:pt x="4762500" y="2536698"/>
                </a:lnTo>
                <a:lnTo>
                  <a:pt x="4762500" y="2685669"/>
                </a:lnTo>
                <a:lnTo>
                  <a:pt x="4762500" y="2933954"/>
                </a:lnTo>
                <a:lnTo>
                  <a:pt x="4754697" y="2972612"/>
                </a:lnTo>
                <a:lnTo>
                  <a:pt x="4733417" y="3004180"/>
                </a:lnTo>
                <a:lnTo>
                  <a:pt x="4701849" y="3025463"/>
                </a:lnTo>
                <a:lnTo>
                  <a:pt x="4663186" y="3033268"/>
                </a:lnTo>
                <a:lnTo>
                  <a:pt x="1984375" y="3033268"/>
                </a:lnTo>
                <a:lnTo>
                  <a:pt x="793750" y="3033268"/>
                </a:lnTo>
                <a:lnTo>
                  <a:pt x="99314" y="3033268"/>
                </a:lnTo>
                <a:lnTo>
                  <a:pt x="60655" y="3025463"/>
                </a:lnTo>
                <a:lnTo>
                  <a:pt x="29087" y="3004180"/>
                </a:lnTo>
                <a:lnTo>
                  <a:pt x="7804" y="2972612"/>
                </a:lnTo>
                <a:lnTo>
                  <a:pt x="0" y="2933954"/>
                </a:lnTo>
                <a:lnTo>
                  <a:pt x="0" y="2685669"/>
                </a:lnTo>
                <a:lnTo>
                  <a:pt x="0" y="2536698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4934" y="5848299"/>
            <a:ext cx="41097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圆点在候选式的最左侧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0791" y="3404615"/>
            <a:ext cx="902335" cy="0"/>
          </a:xfrm>
          <a:custGeom>
            <a:avLst/>
            <a:gdLst/>
            <a:ahLst/>
            <a:cxnLst/>
            <a:rect l="l" t="t" r="r" b="b"/>
            <a:pathLst>
              <a:path w="902335" h="0">
                <a:moveTo>
                  <a:pt x="0" y="0"/>
                </a:moveTo>
                <a:lnTo>
                  <a:pt x="902207" y="0"/>
                </a:lnTo>
              </a:path>
            </a:pathLst>
          </a:custGeom>
          <a:ln w="571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3039" y="0"/>
            <a:ext cx="8719185" cy="4059554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175"/>
              </a:spcBef>
              <a:tabLst>
                <a:tab pos="2197735" algn="l"/>
                <a:tab pos="2707640" algn="l"/>
                <a:tab pos="6109970" algn="l"/>
                <a:tab pos="693737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  <a:p>
            <a:pPr marL="152400" marR="68580" indent="-13970">
              <a:lnSpc>
                <a:spcPct val="140000"/>
              </a:lnSpc>
              <a:spcBef>
                <a:spcPts val="18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③若状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84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和状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出自同一文法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的产生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两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个状态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项目的圆点只相差一个位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，即：</a:t>
            </a:r>
            <a:endParaRPr sz="3200">
              <a:latin typeface="宋体"/>
              <a:cs typeface="宋体"/>
            </a:endParaRPr>
          </a:p>
          <a:p>
            <a:pPr marL="862965">
              <a:lnSpc>
                <a:spcPct val="100000"/>
              </a:lnSpc>
              <a:spcBef>
                <a:spcPts val="1385"/>
              </a:spcBef>
              <a:tabLst>
                <a:tab pos="1179830" algn="l"/>
                <a:tab pos="202755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spc="-75" b="1">
                <a:solidFill>
                  <a:srgbClr val="FFFFFF"/>
                </a:solidFill>
                <a:latin typeface="Times New Roman"/>
                <a:cs typeface="Times New Roman"/>
              </a:rPr>
              <a:t>–1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r>
              <a:rPr dirty="0" sz="3350" spc="-50" b="1" i="1">
                <a:solidFill>
                  <a:srgbClr val="FFFF00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5132" sz="3150">
              <a:latin typeface="Times New Roman"/>
              <a:cs typeface="Times New Roman"/>
            </a:endParaRPr>
          </a:p>
          <a:p>
            <a:pPr marL="862965">
              <a:lnSpc>
                <a:spcPct val="100000"/>
              </a:lnSpc>
              <a:spcBef>
                <a:spcPts val="1775"/>
              </a:spcBef>
              <a:tabLst>
                <a:tab pos="1824355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350" spc="-50" b="1" i="1">
                <a:solidFill>
                  <a:srgbClr val="FFFF00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spc="-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350" spc="-5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5132" sz="31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13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则从状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引一条标记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350" spc="-75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baseline="-25132" sz="3150" spc="-112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的弧到状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4705902"/>
            <a:ext cx="7674609" cy="1585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610870">
              <a:lnSpc>
                <a:spcPct val="152800"/>
              </a:lnSpc>
              <a:spcBef>
                <a:spcPts val="90"/>
              </a:spcBef>
              <a:tabLst>
                <a:tab pos="20624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8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为待约项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设为</a:t>
            </a:r>
            <a:r>
              <a:rPr dirty="0" sz="3350" spc="-35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3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35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Aβ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3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则从状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8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弧到所有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350" spc="-20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335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7973" y="42420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800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600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8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12289" y="4264228"/>
            <a:ext cx="1390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34661" y="42237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799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799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599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79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769865" y="4245609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87573" y="4509515"/>
            <a:ext cx="1847214" cy="114300"/>
          </a:xfrm>
          <a:custGeom>
            <a:avLst/>
            <a:gdLst/>
            <a:ahLst/>
            <a:cxnLst/>
            <a:rect l="l" t="t" r="r" b="b"/>
            <a:pathLst>
              <a:path w="1847214" h="114300">
                <a:moveTo>
                  <a:pt x="1656588" y="0"/>
                </a:moveTo>
                <a:lnTo>
                  <a:pt x="1656588" y="114299"/>
                </a:lnTo>
                <a:lnTo>
                  <a:pt x="1783588" y="76199"/>
                </a:lnTo>
                <a:lnTo>
                  <a:pt x="1675638" y="76199"/>
                </a:lnTo>
                <a:lnTo>
                  <a:pt x="1675638" y="38099"/>
                </a:lnTo>
                <a:lnTo>
                  <a:pt x="1783588" y="38099"/>
                </a:lnTo>
                <a:lnTo>
                  <a:pt x="1656588" y="0"/>
                </a:lnTo>
                <a:close/>
              </a:path>
              <a:path w="1847214" h="114300">
                <a:moveTo>
                  <a:pt x="165658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656588" y="76199"/>
                </a:lnTo>
                <a:lnTo>
                  <a:pt x="1656588" y="38099"/>
                </a:lnTo>
                <a:close/>
              </a:path>
              <a:path w="1847214" h="114300">
                <a:moveTo>
                  <a:pt x="1783588" y="38099"/>
                </a:moveTo>
                <a:lnTo>
                  <a:pt x="1675638" y="38099"/>
                </a:lnTo>
                <a:lnTo>
                  <a:pt x="1675638" y="76199"/>
                </a:lnTo>
                <a:lnTo>
                  <a:pt x="1783588" y="76199"/>
                </a:lnTo>
                <a:lnTo>
                  <a:pt x="1847088" y="57149"/>
                </a:lnTo>
                <a:lnTo>
                  <a:pt x="178358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80842" y="3921343"/>
            <a:ext cx="56007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350" spc="-70" b="1" i="1">
                <a:solidFill>
                  <a:srgbClr val="FFFF00"/>
                </a:solidFill>
                <a:latin typeface="宋体"/>
                <a:cs typeface="宋体"/>
              </a:rPr>
              <a:t>Ｘ</a:t>
            </a:r>
            <a:r>
              <a:rPr dirty="0" baseline="-25132" sz="3150" spc="-104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34055" y="6507479"/>
            <a:ext cx="932815" cy="338455"/>
          </a:xfrm>
          <a:custGeom>
            <a:avLst/>
            <a:gdLst/>
            <a:ahLst/>
            <a:cxnLst/>
            <a:rect l="l" t="t" r="r" b="b"/>
            <a:pathLst>
              <a:path w="932814" h="338454">
                <a:moveTo>
                  <a:pt x="0" y="338327"/>
                </a:moveTo>
                <a:lnTo>
                  <a:pt x="932688" y="338327"/>
                </a:lnTo>
                <a:lnTo>
                  <a:pt x="932688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008502" y="6568541"/>
            <a:ext cx="386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0"/>
            <a:ext cx="8486775" cy="103568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  <a:p>
            <a:pPr marL="196215">
              <a:lnSpc>
                <a:spcPct val="100000"/>
              </a:lnSpc>
              <a:spcBef>
                <a:spcPts val="1055"/>
              </a:spcBef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识别文法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的所有活前</a:t>
            </a:r>
            <a:r>
              <a:rPr dirty="0" u="heavy" sz="32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缀</a:t>
            </a:r>
            <a:r>
              <a:rPr dirty="0" u="heavy" sz="3200" spc="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spc="-8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NFA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8844" y="1137665"/>
            <a:ext cx="57365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134745" algn="l"/>
              </a:tabLst>
            </a:pPr>
            <a:r>
              <a:rPr dirty="0" sz="3600" spc="-90">
                <a:solidFill>
                  <a:srgbClr val="FFFFCC"/>
                </a:solidFill>
                <a:latin typeface="Times New Roman"/>
                <a:cs typeface="Times New Roman"/>
              </a:rPr>
              <a:t>NFA	</a:t>
            </a:r>
            <a:r>
              <a:rPr dirty="0" sz="3600" spc="-5" i="1">
                <a:solidFill>
                  <a:srgbClr val="FFFFCC"/>
                </a:solidFill>
                <a:latin typeface="Times New Roman"/>
                <a:cs typeface="Times New Roman"/>
              </a:rPr>
              <a:t>M</a:t>
            </a:r>
            <a:r>
              <a:rPr dirty="0" sz="3600" spc="-5">
                <a:solidFill>
                  <a:srgbClr val="FFFFCC"/>
                </a:solidFill>
                <a:latin typeface="Times New Roman"/>
                <a:cs typeface="Times New Roman"/>
              </a:rPr>
              <a:t>= </a:t>
            </a:r>
            <a:r>
              <a:rPr dirty="0" sz="3600">
                <a:solidFill>
                  <a:srgbClr val="FFFFCC"/>
                </a:solidFill>
                <a:latin typeface="Times New Roman"/>
                <a:cs typeface="Times New Roman"/>
              </a:rPr>
              <a:t>( </a:t>
            </a:r>
            <a:r>
              <a:rPr dirty="0" sz="3600" spc="-5" i="1">
                <a:solidFill>
                  <a:srgbClr val="FFFFCC"/>
                </a:solidFill>
                <a:latin typeface="Times New Roman"/>
                <a:cs typeface="Times New Roman"/>
              </a:rPr>
              <a:t>Q</a:t>
            </a:r>
            <a:r>
              <a:rPr dirty="0" sz="3600" spc="-5">
                <a:solidFill>
                  <a:srgbClr val="FFFFCC"/>
                </a:solidFill>
              </a:rPr>
              <a:t>，</a:t>
            </a:r>
            <a:r>
              <a:rPr dirty="0" sz="3600" spc="-5" i="1">
                <a:solidFill>
                  <a:srgbClr val="FFFFCC"/>
                </a:solidFill>
                <a:latin typeface="Times New Roman"/>
                <a:cs typeface="Times New Roman"/>
              </a:rPr>
              <a:t>Σ</a:t>
            </a:r>
            <a:r>
              <a:rPr dirty="0" sz="3600" spc="-5">
                <a:solidFill>
                  <a:srgbClr val="FFFFCC"/>
                </a:solidFill>
              </a:rPr>
              <a:t>，</a:t>
            </a:r>
            <a:r>
              <a:rPr dirty="0" sz="3600" spc="-5" i="1">
                <a:solidFill>
                  <a:srgbClr val="FFFFCC"/>
                </a:solidFill>
                <a:latin typeface="Times New Roman"/>
                <a:cs typeface="Times New Roman"/>
              </a:rPr>
              <a:t>f</a:t>
            </a:r>
            <a:r>
              <a:rPr dirty="0" sz="3600" spc="-5">
                <a:solidFill>
                  <a:srgbClr val="FFFFCC"/>
                </a:solidFill>
              </a:rPr>
              <a:t>，</a:t>
            </a:r>
            <a:r>
              <a:rPr dirty="0" sz="3600" spc="-5" i="1">
                <a:solidFill>
                  <a:srgbClr val="FFFFCC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3600" spc="-7">
                <a:solidFill>
                  <a:srgbClr val="FFFFCC"/>
                </a:solidFill>
                <a:latin typeface="Times New Roman"/>
                <a:cs typeface="Times New Roman"/>
              </a:rPr>
              <a:t>0</a:t>
            </a:r>
            <a:r>
              <a:rPr dirty="0" sz="3600" spc="-5">
                <a:solidFill>
                  <a:srgbClr val="FFFFCC"/>
                </a:solidFill>
              </a:rPr>
              <a:t>，</a:t>
            </a:r>
            <a:r>
              <a:rPr dirty="0" sz="3600" spc="-5" i="1">
                <a:solidFill>
                  <a:srgbClr val="FFFFCC"/>
                </a:solidFill>
                <a:latin typeface="Times New Roman"/>
                <a:cs typeface="Times New Roman"/>
              </a:rPr>
              <a:t>Z</a:t>
            </a:r>
            <a:r>
              <a:rPr dirty="0" sz="3600" spc="-60" i="1">
                <a:solidFill>
                  <a:srgbClr val="FFFFCC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CC"/>
                </a:solidFill>
                <a:latin typeface="Times New Roman"/>
                <a:cs typeface="Times New Roman"/>
              </a:rPr>
              <a:t>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06673" y="1797557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8061" y="1780539"/>
            <a:ext cx="2180590" cy="1122045"/>
          </a:xfrm>
          <a:custGeom>
            <a:avLst/>
            <a:gdLst/>
            <a:ahLst/>
            <a:cxnLst/>
            <a:rect l="l" t="t" r="r" b="b"/>
            <a:pathLst>
              <a:path w="2180590" h="1122045">
                <a:moveTo>
                  <a:pt x="143890" y="984631"/>
                </a:moveTo>
                <a:lnTo>
                  <a:pt x="0" y="1121918"/>
                </a:lnTo>
                <a:lnTo>
                  <a:pt x="195706" y="1086485"/>
                </a:lnTo>
                <a:lnTo>
                  <a:pt x="182849" y="1061212"/>
                </a:lnTo>
                <a:lnTo>
                  <a:pt x="161416" y="1061212"/>
                </a:lnTo>
                <a:lnTo>
                  <a:pt x="144144" y="1027176"/>
                </a:lnTo>
                <a:lnTo>
                  <a:pt x="161136" y="1018530"/>
                </a:lnTo>
                <a:lnTo>
                  <a:pt x="143890" y="984631"/>
                </a:lnTo>
                <a:close/>
              </a:path>
              <a:path w="2180590" h="1122045">
                <a:moveTo>
                  <a:pt x="161136" y="1018530"/>
                </a:moveTo>
                <a:lnTo>
                  <a:pt x="144144" y="1027176"/>
                </a:lnTo>
                <a:lnTo>
                  <a:pt x="161416" y="1061212"/>
                </a:lnTo>
                <a:lnTo>
                  <a:pt x="178443" y="1052549"/>
                </a:lnTo>
                <a:lnTo>
                  <a:pt x="161136" y="1018530"/>
                </a:lnTo>
                <a:close/>
              </a:path>
              <a:path w="2180590" h="1122045">
                <a:moveTo>
                  <a:pt x="178443" y="1052549"/>
                </a:moveTo>
                <a:lnTo>
                  <a:pt x="161416" y="1061212"/>
                </a:lnTo>
                <a:lnTo>
                  <a:pt x="182849" y="1061212"/>
                </a:lnTo>
                <a:lnTo>
                  <a:pt x="178443" y="1052549"/>
                </a:lnTo>
                <a:close/>
              </a:path>
              <a:path w="2180590" h="1122045">
                <a:moveTo>
                  <a:pt x="2163064" y="0"/>
                </a:moveTo>
                <a:lnTo>
                  <a:pt x="161136" y="1018530"/>
                </a:lnTo>
                <a:lnTo>
                  <a:pt x="178443" y="1052549"/>
                </a:lnTo>
                <a:lnTo>
                  <a:pt x="2180336" y="34036"/>
                </a:lnTo>
                <a:lnTo>
                  <a:pt x="21630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11061" y="1797557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59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26530" y="1780794"/>
            <a:ext cx="1647825" cy="908685"/>
          </a:xfrm>
          <a:custGeom>
            <a:avLst/>
            <a:gdLst/>
            <a:ahLst/>
            <a:cxnLst/>
            <a:rect l="l" t="t" r="r" b="b"/>
            <a:pathLst>
              <a:path w="1647825" h="908685">
                <a:moveTo>
                  <a:pt x="1471005" y="833953"/>
                </a:moveTo>
                <a:lnTo>
                  <a:pt x="1452752" y="867409"/>
                </a:lnTo>
                <a:lnTo>
                  <a:pt x="1647444" y="908303"/>
                </a:lnTo>
                <a:lnTo>
                  <a:pt x="1582753" y="843026"/>
                </a:lnTo>
                <a:lnTo>
                  <a:pt x="1487677" y="843026"/>
                </a:lnTo>
                <a:lnTo>
                  <a:pt x="1471005" y="833953"/>
                </a:lnTo>
                <a:close/>
              </a:path>
              <a:path w="1647825" h="908685">
                <a:moveTo>
                  <a:pt x="1489243" y="800524"/>
                </a:moveTo>
                <a:lnTo>
                  <a:pt x="1471005" y="833953"/>
                </a:lnTo>
                <a:lnTo>
                  <a:pt x="1487677" y="843026"/>
                </a:lnTo>
                <a:lnTo>
                  <a:pt x="1505966" y="809625"/>
                </a:lnTo>
                <a:lnTo>
                  <a:pt x="1489243" y="800524"/>
                </a:lnTo>
                <a:close/>
              </a:path>
              <a:path w="1647825" h="908685">
                <a:moveTo>
                  <a:pt x="1507490" y="767079"/>
                </a:moveTo>
                <a:lnTo>
                  <a:pt x="1489243" y="800524"/>
                </a:lnTo>
                <a:lnTo>
                  <a:pt x="1505966" y="809625"/>
                </a:lnTo>
                <a:lnTo>
                  <a:pt x="1487677" y="843026"/>
                </a:lnTo>
                <a:lnTo>
                  <a:pt x="1582753" y="843026"/>
                </a:lnTo>
                <a:lnTo>
                  <a:pt x="1507490" y="767079"/>
                </a:lnTo>
                <a:close/>
              </a:path>
              <a:path w="1647825" h="908685">
                <a:moveTo>
                  <a:pt x="18288" y="0"/>
                </a:moveTo>
                <a:lnTo>
                  <a:pt x="0" y="33527"/>
                </a:lnTo>
                <a:lnTo>
                  <a:pt x="1471005" y="833953"/>
                </a:lnTo>
                <a:lnTo>
                  <a:pt x="1489243" y="800524"/>
                </a:lnTo>
                <a:lnTo>
                  <a:pt x="182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67600" y="2706623"/>
            <a:ext cx="1163320" cy="850900"/>
          </a:xfrm>
          <a:custGeom>
            <a:avLst/>
            <a:gdLst/>
            <a:ahLst/>
            <a:cxnLst/>
            <a:rect l="l" t="t" r="r" b="b"/>
            <a:pathLst>
              <a:path w="1163320" h="850900">
                <a:moveTo>
                  <a:pt x="0" y="850391"/>
                </a:moveTo>
                <a:lnTo>
                  <a:pt x="1162811" y="850391"/>
                </a:lnTo>
                <a:lnTo>
                  <a:pt x="1162811" y="0"/>
                </a:lnTo>
                <a:lnTo>
                  <a:pt x="0" y="0"/>
                </a:lnTo>
                <a:lnTo>
                  <a:pt x="0" y="850391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12126" y="2587879"/>
            <a:ext cx="842644" cy="97726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12700" marR="5080">
              <a:lnSpc>
                <a:spcPts val="3650"/>
              </a:lnSpc>
              <a:spcBef>
                <a:spcPts val="384"/>
              </a:spcBef>
            </a:pPr>
            <a:r>
              <a:rPr dirty="0" sz="3200" b="1">
                <a:latin typeface="宋体"/>
                <a:cs typeface="宋体"/>
              </a:rPr>
              <a:t>归约 </a:t>
            </a:r>
            <a:r>
              <a:rPr dirty="0" sz="3200" spc="-5" b="1">
                <a:latin typeface="宋体"/>
                <a:cs typeface="宋体"/>
              </a:rPr>
              <a:t>项目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06773" y="1797557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29761" y="1786382"/>
            <a:ext cx="815975" cy="1116330"/>
          </a:xfrm>
          <a:custGeom>
            <a:avLst/>
            <a:gdLst/>
            <a:ahLst/>
            <a:cxnLst/>
            <a:rect l="l" t="t" r="r" b="b"/>
            <a:pathLst>
              <a:path w="815975" h="1116330">
                <a:moveTo>
                  <a:pt x="65404" y="928242"/>
                </a:moveTo>
                <a:lnTo>
                  <a:pt x="0" y="1116076"/>
                </a:lnTo>
                <a:lnTo>
                  <a:pt x="157987" y="995298"/>
                </a:lnTo>
                <a:lnTo>
                  <a:pt x="148519" y="988440"/>
                </a:lnTo>
                <a:lnTo>
                  <a:pt x="115950" y="988440"/>
                </a:lnTo>
                <a:lnTo>
                  <a:pt x="85089" y="966088"/>
                </a:lnTo>
                <a:lnTo>
                  <a:pt x="96295" y="950616"/>
                </a:lnTo>
                <a:lnTo>
                  <a:pt x="65404" y="928242"/>
                </a:lnTo>
                <a:close/>
              </a:path>
              <a:path w="815975" h="1116330">
                <a:moveTo>
                  <a:pt x="96295" y="950616"/>
                </a:moveTo>
                <a:lnTo>
                  <a:pt x="85089" y="966088"/>
                </a:lnTo>
                <a:lnTo>
                  <a:pt x="115950" y="988440"/>
                </a:lnTo>
                <a:lnTo>
                  <a:pt x="127155" y="972967"/>
                </a:lnTo>
                <a:lnTo>
                  <a:pt x="96295" y="950616"/>
                </a:lnTo>
                <a:close/>
              </a:path>
              <a:path w="815975" h="1116330">
                <a:moveTo>
                  <a:pt x="127155" y="972967"/>
                </a:moveTo>
                <a:lnTo>
                  <a:pt x="115950" y="988440"/>
                </a:lnTo>
                <a:lnTo>
                  <a:pt x="148519" y="988440"/>
                </a:lnTo>
                <a:lnTo>
                  <a:pt x="127155" y="972967"/>
                </a:lnTo>
                <a:close/>
              </a:path>
              <a:path w="815975" h="1116330">
                <a:moveTo>
                  <a:pt x="784733" y="0"/>
                </a:moveTo>
                <a:lnTo>
                  <a:pt x="96295" y="950616"/>
                </a:lnTo>
                <a:lnTo>
                  <a:pt x="127155" y="972967"/>
                </a:lnTo>
                <a:lnTo>
                  <a:pt x="815466" y="22351"/>
                </a:lnTo>
                <a:lnTo>
                  <a:pt x="78473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56916" y="2901695"/>
            <a:ext cx="1344295" cy="485140"/>
          </a:xfrm>
          <a:custGeom>
            <a:avLst/>
            <a:gdLst/>
            <a:ahLst/>
            <a:cxnLst/>
            <a:rect l="l" t="t" r="r" b="b"/>
            <a:pathLst>
              <a:path w="1344295" h="485139">
                <a:moveTo>
                  <a:pt x="0" y="484631"/>
                </a:moveTo>
                <a:lnTo>
                  <a:pt x="1344168" y="484631"/>
                </a:lnTo>
                <a:lnTo>
                  <a:pt x="1344168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38912" y="2866136"/>
            <a:ext cx="3662679" cy="520700"/>
          </a:xfrm>
          <a:prstGeom prst="rect">
            <a:avLst/>
          </a:prstGeom>
          <a:solidFill>
            <a:srgbClr val="FFFFCC"/>
          </a:solidFill>
        </p:spPr>
        <p:txBody>
          <a:bodyPr wrap="square" lIns="0" tIns="133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  <a:tabLst>
                <a:tab pos="2512060" algn="l"/>
              </a:tabLst>
            </a:pPr>
            <a:r>
              <a:rPr dirty="0" sz="3200" b="1">
                <a:latin typeface="Times New Roman"/>
                <a:cs typeface="Times New Roman"/>
              </a:rPr>
              <a:t>LR(0)</a:t>
            </a:r>
            <a:r>
              <a:rPr dirty="0" sz="3200" b="1">
                <a:latin typeface="宋体"/>
                <a:cs typeface="宋体"/>
              </a:rPr>
              <a:t>项</a:t>
            </a:r>
            <a:r>
              <a:rPr dirty="0" sz="3200" spc="-10" b="1">
                <a:latin typeface="宋体"/>
                <a:cs typeface="宋体"/>
              </a:rPr>
              <a:t>目	</a:t>
            </a:r>
            <a:r>
              <a:rPr dirty="0" sz="3200" spc="5" b="1" i="1">
                <a:latin typeface="Times New Roman"/>
                <a:cs typeface="Times New Roman"/>
              </a:rPr>
              <a:t>G</a:t>
            </a:r>
            <a:r>
              <a:rPr dirty="0" sz="3200" b="1">
                <a:latin typeface="宋体"/>
                <a:cs typeface="宋体"/>
              </a:rPr>
              <a:t>的</a:t>
            </a:r>
            <a:r>
              <a:rPr dirty="0" sz="3200" b="1" i="1"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43905" y="1817370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52389" y="1807336"/>
            <a:ext cx="558800" cy="882015"/>
          </a:xfrm>
          <a:custGeom>
            <a:avLst/>
            <a:gdLst/>
            <a:ahLst/>
            <a:cxnLst/>
            <a:rect l="l" t="t" r="r" b="b"/>
            <a:pathLst>
              <a:path w="558800" h="882014">
                <a:moveTo>
                  <a:pt x="441799" y="730074"/>
                </a:moveTo>
                <a:lnTo>
                  <a:pt x="409448" y="750188"/>
                </a:lnTo>
                <a:lnTo>
                  <a:pt x="558673" y="881761"/>
                </a:lnTo>
                <a:lnTo>
                  <a:pt x="521813" y="746251"/>
                </a:lnTo>
                <a:lnTo>
                  <a:pt x="451865" y="746251"/>
                </a:lnTo>
                <a:lnTo>
                  <a:pt x="441799" y="730074"/>
                </a:lnTo>
                <a:close/>
              </a:path>
              <a:path w="558800" h="882014">
                <a:moveTo>
                  <a:pt x="474152" y="709960"/>
                </a:moveTo>
                <a:lnTo>
                  <a:pt x="441799" y="730074"/>
                </a:lnTo>
                <a:lnTo>
                  <a:pt x="451865" y="746251"/>
                </a:lnTo>
                <a:lnTo>
                  <a:pt x="484250" y="726186"/>
                </a:lnTo>
                <a:lnTo>
                  <a:pt x="474152" y="709960"/>
                </a:lnTo>
                <a:close/>
              </a:path>
              <a:path w="558800" h="882014">
                <a:moveTo>
                  <a:pt x="506475" y="689863"/>
                </a:moveTo>
                <a:lnTo>
                  <a:pt x="474152" y="709960"/>
                </a:lnTo>
                <a:lnTo>
                  <a:pt x="484250" y="726186"/>
                </a:lnTo>
                <a:lnTo>
                  <a:pt x="451865" y="746251"/>
                </a:lnTo>
                <a:lnTo>
                  <a:pt x="521813" y="746251"/>
                </a:lnTo>
                <a:lnTo>
                  <a:pt x="506475" y="689863"/>
                </a:lnTo>
                <a:close/>
              </a:path>
              <a:path w="558800" h="882014">
                <a:moveTo>
                  <a:pt x="32258" y="0"/>
                </a:moveTo>
                <a:lnTo>
                  <a:pt x="0" y="20065"/>
                </a:lnTo>
                <a:lnTo>
                  <a:pt x="441799" y="730074"/>
                </a:lnTo>
                <a:lnTo>
                  <a:pt x="474152" y="709960"/>
                </a:lnTo>
                <a:lnTo>
                  <a:pt x="3225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15611" y="2738627"/>
            <a:ext cx="2723515" cy="939165"/>
          </a:xfrm>
          <a:custGeom>
            <a:avLst/>
            <a:gdLst/>
            <a:ahLst/>
            <a:cxnLst/>
            <a:rect l="l" t="t" r="r" b="b"/>
            <a:pathLst>
              <a:path w="2723515" h="939164">
                <a:moveTo>
                  <a:pt x="0" y="938784"/>
                </a:moveTo>
                <a:lnTo>
                  <a:pt x="2723388" y="938784"/>
                </a:lnTo>
                <a:lnTo>
                  <a:pt x="2723388" y="0"/>
                </a:lnTo>
                <a:lnTo>
                  <a:pt x="0" y="0"/>
                </a:lnTo>
                <a:lnTo>
                  <a:pt x="0" y="938784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515611" y="2583621"/>
            <a:ext cx="2723515" cy="10985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480"/>
              </a:spcBef>
            </a:pPr>
            <a:r>
              <a:rPr dirty="0" sz="3200" b="1">
                <a:latin typeface="宋体"/>
                <a:cs typeface="宋体"/>
              </a:rPr>
              <a:t>开始符号的第</a:t>
            </a:r>
            <a:endParaRPr sz="3200">
              <a:latin typeface="宋体"/>
              <a:cs typeface="宋体"/>
            </a:endParaRPr>
          </a:p>
          <a:p>
            <a:pPr marL="120014">
              <a:lnSpc>
                <a:spcPct val="100000"/>
              </a:lnSpc>
              <a:spcBef>
                <a:spcPts val="384"/>
              </a:spcBef>
            </a:pPr>
            <a:r>
              <a:rPr dirty="0" sz="3200" b="1">
                <a:latin typeface="Times New Roman"/>
                <a:cs typeface="Times New Roman"/>
              </a:rPr>
              <a:t>1</a:t>
            </a:r>
            <a:r>
              <a:rPr dirty="0" sz="3200" spc="-5" b="1">
                <a:latin typeface="宋体"/>
                <a:cs typeface="宋体"/>
              </a:rPr>
              <a:t>个</a:t>
            </a:r>
            <a:r>
              <a:rPr dirty="0" sz="3200" b="1">
                <a:latin typeface="Times New Roman"/>
                <a:cs typeface="Times New Roman"/>
              </a:rPr>
              <a:t>LR(0</a:t>
            </a:r>
            <a:r>
              <a:rPr dirty="0" sz="3200" spc="5" b="1">
                <a:latin typeface="Times New Roman"/>
                <a:cs typeface="Times New Roman"/>
              </a:rPr>
              <a:t>)</a:t>
            </a:r>
            <a:r>
              <a:rPr dirty="0" sz="3200" spc="-5" b="1">
                <a:latin typeface="宋体"/>
                <a:cs typeface="宋体"/>
              </a:rPr>
              <a:t>项目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44973" y="1107186"/>
            <a:ext cx="551815" cy="629920"/>
          </a:xfrm>
          <a:custGeom>
            <a:avLst/>
            <a:gdLst/>
            <a:ahLst/>
            <a:cxnLst/>
            <a:rect l="l" t="t" r="r" b="b"/>
            <a:pathLst>
              <a:path w="551814" h="629919">
                <a:moveTo>
                  <a:pt x="0" y="314705"/>
                </a:moveTo>
                <a:lnTo>
                  <a:pt x="3608" y="263645"/>
                </a:lnTo>
                <a:lnTo>
                  <a:pt x="14057" y="215213"/>
                </a:lnTo>
                <a:lnTo>
                  <a:pt x="30778" y="170055"/>
                </a:lnTo>
                <a:lnTo>
                  <a:pt x="53205" y="128820"/>
                </a:lnTo>
                <a:lnTo>
                  <a:pt x="80772" y="92154"/>
                </a:lnTo>
                <a:lnTo>
                  <a:pt x="112910" y="60703"/>
                </a:lnTo>
                <a:lnTo>
                  <a:pt x="149053" y="35116"/>
                </a:lnTo>
                <a:lnTo>
                  <a:pt x="188634" y="16038"/>
                </a:lnTo>
                <a:lnTo>
                  <a:pt x="231087" y="4117"/>
                </a:lnTo>
                <a:lnTo>
                  <a:pt x="275843" y="0"/>
                </a:lnTo>
                <a:lnTo>
                  <a:pt x="320600" y="4117"/>
                </a:lnTo>
                <a:lnTo>
                  <a:pt x="363053" y="16038"/>
                </a:lnTo>
                <a:lnTo>
                  <a:pt x="402634" y="35116"/>
                </a:lnTo>
                <a:lnTo>
                  <a:pt x="438777" y="60703"/>
                </a:lnTo>
                <a:lnTo>
                  <a:pt x="470915" y="92154"/>
                </a:lnTo>
                <a:lnTo>
                  <a:pt x="498482" y="128820"/>
                </a:lnTo>
                <a:lnTo>
                  <a:pt x="520909" y="170055"/>
                </a:lnTo>
                <a:lnTo>
                  <a:pt x="537630" y="215213"/>
                </a:lnTo>
                <a:lnTo>
                  <a:pt x="548079" y="263645"/>
                </a:lnTo>
                <a:lnTo>
                  <a:pt x="551688" y="314705"/>
                </a:lnTo>
                <a:lnTo>
                  <a:pt x="548079" y="365766"/>
                </a:lnTo>
                <a:lnTo>
                  <a:pt x="537630" y="414198"/>
                </a:lnTo>
                <a:lnTo>
                  <a:pt x="520909" y="459356"/>
                </a:lnTo>
                <a:lnTo>
                  <a:pt x="498482" y="500591"/>
                </a:lnTo>
                <a:lnTo>
                  <a:pt x="470915" y="537257"/>
                </a:lnTo>
                <a:lnTo>
                  <a:pt x="438777" y="568708"/>
                </a:lnTo>
                <a:lnTo>
                  <a:pt x="402634" y="594295"/>
                </a:lnTo>
                <a:lnTo>
                  <a:pt x="363053" y="613373"/>
                </a:lnTo>
                <a:lnTo>
                  <a:pt x="320600" y="625294"/>
                </a:lnTo>
                <a:lnTo>
                  <a:pt x="275843" y="629412"/>
                </a:lnTo>
                <a:lnTo>
                  <a:pt x="231087" y="625294"/>
                </a:lnTo>
                <a:lnTo>
                  <a:pt x="188634" y="613373"/>
                </a:lnTo>
                <a:lnTo>
                  <a:pt x="149053" y="594295"/>
                </a:lnTo>
                <a:lnTo>
                  <a:pt x="112910" y="568708"/>
                </a:lnTo>
                <a:lnTo>
                  <a:pt x="80772" y="537257"/>
                </a:lnTo>
                <a:lnTo>
                  <a:pt x="53205" y="500591"/>
                </a:lnTo>
                <a:lnTo>
                  <a:pt x="30778" y="459356"/>
                </a:lnTo>
                <a:lnTo>
                  <a:pt x="14057" y="414198"/>
                </a:lnTo>
                <a:lnTo>
                  <a:pt x="3608" y="365766"/>
                </a:lnTo>
                <a:lnTo>
                  <a:pt x="0" y="314705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80103" y="1647698"/>
            <a:ext cx="978535" cy="2080260"/>
          </a:xfrm>
          <a:custGeom>
            <a:avLst/>
            <a:gdLst/>
            <a:ahLst/>
            <a:cxnLst/>
            <a:rect l="l" t="t" r="r" b="b"/>
            <a:pathLst>
              <a:path w="978535" h="2080260">
                <a:moveTo>
                  <a:pt x="41656" y="1784603"/>
                </a:moveTo>
                <a:lnTo>
                  <a:pt x="0" y="2080006"/>
                </a:lnTo>
                <a:lnTo>
                  <a:pt x="195564" y="1858390"/>
                </a:lnTo>
                <a:lnTo>
                  <a:pt x="133604" y="1858390"/>
                </a:lnTo>
                <a:lnTo>
                  <a:pt x="81661" y="1834514"/>
                </a:lnTo>
                <a:lnTo>
                  <a:pt x="93619" y="1808551"/>
                </a:lnTo>
                <a:lnTo>
                  <a:pt x="41656" y="1784603"/>
                </a:lnTo>
                <a:close/>
              </a:path>
              <a:path w="978535" h="2080260">
                <a:moveTo>
                  <a:pt x="93619" y="1808551"/>
                </a:moveTo>
                <a:lnTo>
                  <a:pt x="81661" y="1834514"/>
                </a:lnTo>
                <a:lnTo>
                  <a:pt x="133604" y="1858390"/>
                </a:lnTo>
                <a:lnTo>
                  <a:pt x="145537" y="1832477"/>
                </a:lnTo>
                <a:lnTo>
                  <a:pt x="93619" y="1808551"/>
                </a:lnTo>
                <a:close/>
              </a:path>
              <a:path w="978535" h="2080260">
                <a:moveTo>
                  <a:pt x="145537" y="1832477"/>
                </a:moveTo>
                <a:lnTo>
                  <a:pt x="133604" y="1858390"/>
                </a:lnTo>
                <a:lnTo>
                  <a:pt x="195564" y="1858390"/>
                </a:lnTo>
                <a:lnTo>
                  <a:pt x="197358" y="1856359"/>
                </a:lnTo>
                <a:lnTo>
                  <a:pt x="145537" y="1832477"/>
                </a:lnTo>
                <a:close/>
              </a:path>
              <a:path w="978535" h="2080260">
                <a:moveTo>
                  <a:pt x="926592" y="0"/>
                </a:moveTo>
                <a:lnTo>
                  <a:pt x="93619" y="1808551"/>
                </a:lnTo>
                <a:lnTo>
                  <a:pt x="145537" y="1832477"/>
                </a:lnTo>
                <a:lnTo>
                  <a:pt x="978408" y="23875"/>
                </a:lnTo>
                <a:lnTo>
                  <a:pt x="926592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7700" y="3727703"/>
            <a:ext cx="8173720" cy="2956560"/>
          </a:xfrm>
          <a:custGeom>
            <a:avLst/>
            <a:gdLst/>
            <a:ahLst/>
            <a:cxnLst/>
            <a:rect l="l" t="t" r="r" b="b"/>
            <a:pathLst>
              <a:path w="8173720" h="2956559">
                <a:moveTo>
                  <a:pt x="0" y="2956560"/>
                </a:moveTo>
                <a:lnTo>
                  <a:pt x="8173211" y="2956560"/>
                </a:lnTo>
                <a:lnTo>
                  <a:pt x="8173211" y="0"/>
                </a:lnTo>
                <a:lnTo>
                  <a:pt x="0" y="0"/>
                </a:lnTo>
                <a:lnTo>
                  <a:pt x="0" y="295656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01040" y="3585878"/>
            <a:ext cx="8066405" cy="3055620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algn="r" marR="2759075">
              <a:lnSpc>
                <a:spcPct val="100000"/>
              </a:lnSpc>
              <a:spcBef>
                <a:spcPts val="1595"/>
              </a:spcBef>
              <a:tabLst>
                <a:tab pos="721995" algn="l"/>
              </a:tabLst>
            </a:pPr>
            <a:r>
              <a:rPr dirty="0" sz="2800" spc="-15" b="1">
                <a:latin typeface="宋体"/>
                <a:cs typeface="宋体"/>
              </a:rPr>
              <a:t>若</a:t>
            </a:r>
            <a:r>
              <a:rPr dirty="0" sz="2800" spc="-690" b="1">
                <a:latin typeface="宋体"/>
                <a:cs typeface="宋体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宋体"/>
                <a:cs typeface="宋体"/>
              </a:rPr>
              <a:t>为</a:t>
            </a:r>
            <a:r>
              <a:rPr dirty="0" sz="2800" spc="-5" b="1">
                <a:latin typeface="Times New Roman"/>
                <a:cs typeface="Times New Roman"/>
              </a:rPr>
              <a:t>: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sz="2800" spc="-5" b="1">
                <a:latin typeface="Times New Roman"/>
                <a:cs typeface="Times New Roman"/>
              </a:rPr>
              <a:t>→</a:t>
            </a:r>
            <a:r>
              <a:rPr dirty="0" sz="2950" spc="-155" b="1" i="1">
                <a:latin typeface="宋体"/>
                <a:cs typeface="宋体"/>
              </a:rPr>
              <a:t>Ｘ</a:t>
            </a:r>
            <a:r>
              <a:rPr dirty="0" baseline="-25525" sz="2775" spc="15" b="1">
                <a:latin typeface="Times New Roman"/>
                <a:cs typeface="Times New Roman"/>
              </a:rPr>
              <a:t>1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baseline="-25525" sz="2775" spc="15" b="1">
                <a:latin typeface="Times New Roman"/>
                <a:cs typeface="Times New Roman"/>
              </a:rPr>
              <a:t>2</a:t>
            </a:r>
            <a:r>
              <a:rPr dirty="0" sz="2800" spc="-5" b="1">
                <a:latin typeface="Times New Roman"/>
                <a:cs typeface="Times New Roman"/>
              </a:rPr>
              <a:t>…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baseline="-25525" sz="2775" b="1" i="1">
                <a:latin typeface="Times New Roman"/>
                <a:cs typeface="Times New Roman"/>
              </a:rPr>
              <a:t>i</a:t>
            </a:r>
            <a:r>
              <a:rPr dirty="0" baseline="-25525" sz="2775" spc="15" b="1">
                <a:latin typeface="Times New Roman"/>
                <a:cs typeface="Times New Roman"/>
              </a:rPr>
              <a:t>–</a:t>
            </a:r>
            <a:r>
              <a:rPr dirty="0" baseline="-25525" sz="2775" spc="44" b="1">
                <a:latin typeface="Times New Roman"/>
                <a:cs typeface="Times New Roman"/>
              </a:rPr>
              <a:t>1</a:t>
            </a:r>
            <a:r>
              <a:rPr dirty="0" sz="2800" spc="-25" b="1">
                <a:latin typeface="Times New Roman"/>
                <a:cs typeface="Times New Roman"/>
              </a:rPr>
              <a:t>·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baseline="-25525" sz="2775" b="1" i="1">
                <a:latin typeface="Times New Roman"/>
                <a:cs typeface="Times New Roman"/>
              </a:rPr>
              <a:t>i</a:t>
            </a:r>
            <a:r>
              <a:rPr dirty="0" sz="2800" spc="-5" b="1">
                <a:latin typeface="Times New Roman"/>
                <a:cs typeface="Times New Roman"/>
              </a:rPr>
              <a:t>…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baseline="-25525" sz="2775" spc="15" b="1" i="1">
                <a:latin typeface="Times New Roman"/>
                <a:cs typeface="Times New Roman"/>
              </a:rPr>
              <a:t>n</a:t>
            </a:r>
            <a:endParaRPr baseline="-25525" sz="2775">
              <a:latin typeface="Times New Roman"/>
              <a:cs typeface="Times New Roman"/>
            </a:endParaRPr>
          </a:p>
          <a:p>
            <a:pPr algn="r" marR="2743835">
              <a:lnSpc>
                <a:spcPct val="100000"/>
              </a:lnSpc>
              <a:spcBef>
                <a:spcPts val="15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j</a:t>
            </a:r>
            <a:r>
              <a:rPr dirty="0" sz="2800" spc="-10" b="1">
                <a:latin typeface="宋体"/>
                <a:cs typeface="宋体"/>
              </a:rPr>
              <a:t>为</a:t>
            </a:r>
            <a:r>
              <a:rPr dirty="0" sz="2800" spc="-5" b="1">
                <a:latin typeface="Times New Roman"/>
                <a:cs typeface="Times New Roman"/>
              </a:rPr>
              <a:t>: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sz="2800" spc="-10" b="1">
                <a:latin typeface="Times New Roman"/>
                <a:cs typeface="Times New Roman"/>
              </a:rPr>
              <a:t>→</a:t>
            </a:r>
            <a:r>
              <a:rPr dirty="0" sz="2950" spc="-155" b="1" i="1">
                <a:latin typeface="宋体"/>
                <a:cs typeface="宋体"/>
              </a:rPr>
              <a:t>Ｘ</a:t>
            </a:r>
            <a:r>
              <a:rPr dirty="0" baseline="-25525" sz="2775" spc="15" b="1">
                <a:latin typeface="Times New Roman"/>
                <a:cs typeface="Times New Roman"/>
              </a:rPr>
              <a:t>1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baseline="-25525" sz="2775" spc="15" b="1">
                <a:latin typeface="Times New Roman"/>
                <a:cs typeface="Times New Roman"/>
              </a:rPr>
              <a:t>2</a:t>
            </a:r>
            <a:r>
              <a:rPr dirty="0" sz="2800" spc="-10" b="1">
                <a:latin typeface="Times New Roman"/>
                <a:cs typeface="Times New Roman"/>
              </a:rPr>
              <a:t>…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baseline="-25525" sz="2775" spc="30" b="1" i="1">
                <a:latin typeface="Times New Roman"/>
                <a:cs typeface="Times New Roman"/>
              </a:rPr>
              <a:t>i</a:t>
            </a:r>
            <a:r>
              <a:rPr dirty="0" sz="2800" spc="-25" b="1">
                <a:latin typeface="Times New Roman"/>
                <a:cs typeface="Times New Roman"/>
              </a:rPr>
              <a:t>·</a:t>
            </a:r>
            <a:r>
              <a:rPr dirty="0" sz="2950" spc="-155" b="1" i="1">
                <a:latin typeface="宋体"/>
                <a:cs typeface="宋体"/>
              </a:rPr>
              <a:t>Ｘ</a:t>
            </a:r>
            <a:r>
              <a:rPr dirty="0" baseline="-25525" sz="2775" b="1" i="1">
                <a:latin typeface="Times New Roman"/>
                <a:cs typeface="Times New Roman"/>
              </a:rPr>
              <a:t>i</a:t>
            </a:r>
            <a:r>
              <a:rPr dirty="0" baseline="-25525" sz="2775" spc="15" b="1">
                <a:latin typeface="Times New Roman"/>
                <a:cs typeface="Times New Roman"/>
              </a:rPr>
              <a:t>+1</a:t>
            </a:r>
            <a:r>
              <a:rPr dirty="0" sz="2800" spc="-10" b="1">
                <a:latin typeface="Times New Roman"/>
                <a:cs typeface="Times New Roman"/>
              </a:rPr>
              <a:t>…</a:t>
            </a:r>
            <a:r>
              <a:rPr dirty="0" sz="2950" spc="-160" b="1" i="1">
                <a:latin typeface="宋体"/>
                <a:cs typeface="宋体"/>
              </a:rPr>
              <a:t>Ｘ</a:t>
            </a:r>
            <a:r>
              <a:rPr dirty="0" baseline="-25525" sz="2775" spc="15" b="1" i="1">
                <a:latin typeface="Times New Roman"/>
                <a:cs typeface="Times New Roman"/>
              </a:rPr>
              <a:t>n</a:t>
            </a:r>
            <a:endParaRPr baseline="-25525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500"/>
              </a:spcBef>
            </a:pPr>
            <a:r>
              <a:rPr dirty="0" sz="2800" spc="-5" b="1">
                <a:latin typeface="宋体"/>
                <a:cs typeface="宋体"/>
              </a:rPr>
              <a:t>则</a:t>
            </a:r>
            <a:r>
              <a:rPr dirty="0" sz="2800" spc="-5" b="1" i="1">
                <a:latin typeface="Times New Roman"/>
                <a:cs typeface="Times New Roman"/>
              </a:rPr>
              <a:t>j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 i="1">
                <a:latin typeface="Times New Roman"/>
                <a:cs typeface="Times New Roman"/>
              </a:rPr>
              <a:t>f</a:t>
            </a:r>
            <a:r>
              <a:rPr dirty="0" sz="2800" spc="-20" b="1">
                <a:latin typeface="Times New Roman"/>
                <a:cs typeface="Times New Roman"/>
              </a:rPr>
              <a:t>(</a:t>
            </a:r>
            <a:r>
              <a:rPr dirty="0" sz="2800" spc="-20" b="1" i="1">
                <a:latin typeface="Times New Roman"/>
                <a:cs typeface="Times New Roman"/>
              </a:rPr>
              <a:t>i</a:t>
            </a:r>
            <a:r>
              <a:rPr dirty="0" sz="2800" spc="-20" b="1">
                <a:latin typeface="宋体"/>
                <a:cs typeface="宋体"/>
              </a:rPr>
              <a:t>，</a:t>
            </a:r>
            <a:r>
              <a:rPr dirty="0" sz="2950" spc="-20" b="1" i="1">
                <a:latin typeface="宋体"/>
                <a:cs typeface="宋体"/>
              </a:rPr>
              <a:t>Ｘ</a:t>
            </a:r>
            <a:r>
              <a:rPr dirty="0" baseline="-25525" sz="2775" spc="-30" b="1" i="1">
                <a:latin typeface="Times New Roman"/>
                <a:cs typeface="Times New Roman"/>
              </a:rPr>
              <a:t>i</a:t>
            </a:r>
            <a:r>
              <a:rPr dirty="0" sz="2800" spc="-20" b="1">
                <a:latin typeface="Times New Roman"/>
                <a:cs typeface="Times New Roman"/>
              </a:rPr>
              <a:t>)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500"/>
              </a:spcBef>
              <a:tabLst>
                <a:tab pos="4375785" algn="l"/>
              </a:tabLst>
            </a:pPr>
            <a:r>
              <a:rPr dirty="0" sz="2800" spc="5" b="1">
                <a:latin typeface="宋体"/>
                <a:cs typeface="宋体"/>
              </a:rPr>
              <a:t>若状</a:t>
            </a:r>
            <a:r>
              <a:rPr dirty="0" sz="2800" b="1">
                <a:latin typeface="宋体"/>
                <a:cs typeface="宋体"/>
              </a:rPr>
              <a:t>态</a:t>
            </a:r>
            <a:r>
              <a:rPr dirty="0" sz="2800" spc="5" b="1" i="1">
                <a:latin typeface="Times New Roman"/>
                <a:cs typeface="Times New Roman"/>
              </a:rPr>
              <a:t>i</a:t>
            </a:r>
            <a:r>
              <a:rPr dirty="0" sz="2800" spc="5" b="1">
                <a:latin typeface="宋体"/>
                <a:cs typeface="宋体"/>
              </a:rPr>
              <a:t>为待约项目</a:t>
            </a:r>
            <a:r>
              <a:rPr dirty="0" sz="2800" spc="10" b="1">
                <a:latin typeface="Times New Roman"/>
                <a:cs typeface="Times New Roman"/>
              </a:rPr>
              <a:t>(</a:t>
            </a:r>
            <a:r>
              <a:rPr dirty="0" sz="2800" spc="5" b="1">
                <a:latin typeface="宋体"/>
                <a:cs typeface="宋体"/>
              </a:rPr>
              <a:t>设</a:t>
            </a:r>
            <a:r>
              <a:rPr dirty="0" sz="2950" spc="-75" b="1" i="1">
                <a:latin typeface="宋体"/>
                <a:cs typeface="宋体"/>
              </a:rPr>
              <a:t>Ｘ</a:t>
            </a:r>
            <a:r>
              <a:rPr dirty="0" sz="2800" spc="-75" b="1">
                <a:latin typeface="Times New Roman"/>
                <a:cs typeface="Times New Roman"/>
              </a:rPr>
              <a:t>→	</a:t>
            </a:r>
            <a:r>
              <a:rPr dirty="0" sz="2950" spc="-15" b="1" i="1">
                <a:solidFill>
                  <a:srgbClr val="280028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latin typeface="宋体"/>
                <a:cs typeface="宋体"/>
              </a:rPr>
              <a:t>·</a:t>
            </a:r>
            <a:r>
              <a:rPr dirty="0" sz="2800" spc="-15" b="1" i="1">
                <a:latin typeface="Times New Roman"/>
                <a:cs typeface="Times New Roman"/>
              </a:rPr>
              <a:t>Aβ</a:t>
            </a:r>
            <a:r>
              <a:rPr dirty="0" sz="2800" spc="-15" b="1">
                <a:latin typeface="Times New Roman"/>
                <a:cs typeface="Times New Roman"/>
              </a:rPr>
              <a:t>)</a:t>
            </a:r>
            <a:r>
              <a:rPr dirty="0" sz="2800" spc="-15" b="1">
                <a:latin typeface="宋体"/>
                <a:cs typeface="宋体"/>
              </a:rPr>
              <a:t>，</a:t>
            </a:r>
            <a:r>
              <a:rPr dirty="0" sz="2800" spc="5" b="1">
                <a:latin typeface="宋体"/>
                <a:cs typeface="宋体"/>
              </a:rPr>
              <a:t>则所有</a:t>
            </a:r>
            <a:r>
              <a:rPr dirty="0" sz="2800" spc="-15" b="1" i="1">
                <a:latin typeface="Times New Roman"/>
                <a:cs typeface="Times New Roman"/>
              </a:rPr>
              <a:t>A</a:t>
            </a:r>
            <a:r>
              <a:rPr dirty="0" sz="2800" spc="-15" b="1">
                <a:latin typeface="Times New Roman"/>
                <a:cs typeface="Times New Roman"/>
              </a:rPr>
              <a:t>→</a:t>
            </a:r>
            <a:r>
              <a:rPr dirty="0" sz="2800" spc="-15" b="1">
                <a:latin typeface="宋体"/>
                <a:cs typeface="宋体"/>
              </a:rPr>
              <a:t>·</a:t>
            </a:r>
            <a:r>
              <a:rPr dirty="0" sz="2950" spc="-15" b="1" i="1">
                <a:latin typeface="Symbol"/>
                <a:cs typeface="Symbol"/>
              </a:rPr>
              <a:t></a:t>
            </a:r>
            <a:endParaRPr sz="295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z="2800" spc="-5" b="1">
                <a:latin typeface="宋体"/>
                <a:cs typeface="宋体"/>
              </a:rPr>
              <a:t>的状</a:t>
            </a:r>
            <a:r>
              <a:rPr dirty="0" sz="2800" spc="-10" b="1">
                <a:latin typeface="宋体"/>
                <a:cs typeface="宋体"/>
              </a:rPr>
              <a:t>态</a:t>
            </a:r>
            <a:r>
              <a:rPr dirty="0" sz="2800" spc="-5" b="1">
                <a:latin typeface="宋体"/>
                <a:cs typeface="宋体"/>
              </a:rPr>
              <a:t>包含</a:t>
            </a:r>
            <a:r>
              <a:rPr dirty="0" sz="2800" b="1">
                <a:latin typeface="宋体"/>
                <a:cs typeface="宋体"/>
              </a:rPr>
              <a:t>于</a:t>
            </a:r>
            <a:r>
              <a:rPr dirty="0" sz="2800" spc="-15" b="1" i="1">
                <a:latin typeface="Times New Roman"/>
                <a:cs typeface="Times New Roman"/>
              </a:rPr>
              <a:t>f</a:t>
            </a:r>
            <a:r>
              <a:rPr dirty="0" sz="2800" spc="-15" b="1">
                <a:latin typeface="宋体"/>
                <a:cs typeface="宋体"/>
              </a:rPr>
              <a:t>（</a:t>
            </a:r>
            <a:r>
              <a:rPr dirty="0" sz="2800" spc="-15" b="1" i="1">
                <a:latin typeface="Times New Roman"/>
                <a:cs typeface="Times New Roman"/>
              </a:rPr>
              <a:t>i</a:t>
            </a:r>
            <a:r>
              <a:rPr dirty="0" sz="2800" spc="-15" b="1">
                <a:latin typeface="宋体"/>
                <a:cs typeface="宋体"/>
              </a:rPr>
              <a:t>，</a:t>
            </a:r>
            <a:r>
              <a:rPr dirty="0" sz="2950" spc="-15" b="1" i="1">
                <a:latin typeface="Symbol"/>
                <a:cs typeface="Symbol"/>
              </a:rPr>
              <a:t></a:t>
            </a:r>
            <a:r>
              <a:rPr dirty="0" sz="2800" spc="-15" b="1">
                <a:latin typeface="宋体"/>
                <a:cs typeface="宋体"/>
              </a:rPr>
              <a:t>）。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0564" y="26923"/>
            <a:ext cx="25292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9469" algn="l"/>
              </a:tabLst>
            </a:pP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647" y="539876"/>
            <a:ext cx="11493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8710" y="0"/>
            <a:ext cx="3730625" cy="169354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  <a:tabLst>
                <a:tab pos="52197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1639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384"/>
              </a:spcBef>
              <a:tabLst>
                <a:tab pos="1951355" algn="l"/>
              </a:tabLst>
            </a:pPr>
            <a:r>
              <a:rPr dirty="0" sz="3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｜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1613153"/>
            <a:ext cx="75374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构造识别文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的所有活前缀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393" y="2480563"/>
            <a:ext cx="39109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60731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561" y="4577537"/>
            <a:ext cx="4170679" cy="5143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105"/>
              </a:spcBef>
              <a:tabLst>
                <a:tab pos="279336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	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8644" y="239979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29205" y="2749295"/>
            <a:ext cx="1033780" cy="114300"/>
          </a:xfrm>
          <a:custGeom>
            <a:avLst/>
            <a:gdLst/>
            <a:ahLst/>
            <a:cxnLst/>
            <a:rect l="l" t="t" r="r" b="b"/>
            <a:pathLst>
              <a:path w="1033780" h="114300">
                <a:moveTo>
                  <a:pt x="842771" y="0"/>
                </a:moveTo>
                <a:lnTo>
                  <a:pt x="842771" y="114300"/>
                </a:lnTo>
                <a:lnTo>
                  <a:pt x="969771" y="76200"/>
                </a:lnTo>
                <a:lnTo>
                  <a:pt x="861821" y="76200"/>
                </a:lnTo>
                <a:lnTo>
                  <a:pt x="861821" y="38100"/>
                </a:lnTo>
                <a:lnTo>
                  <a:pt x="969771" y="38100"/>
                </a:lnTo>
                <a:lnTo>
                  <a:pt x="842771" y="0"/>
                </a:lnTo>
                <a:close/>
              </a:path>
              <a:path w="1033780" h="114300">
                <a:moveTo>
                  <a:pt x="84277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42771" y="76200"/>
                </a:lnTo>
                <a:lnTo>
                  <a:pt x="842771" y="38100"/>
                </a:lnTo>
                <a:close/>
              </a:path>
              <a:path w="1033780" h="114300">
                <a:moveTo>
                  <a:pt x="969771" y="38100"/>
                </a:moveTo>
                <a:lnTo>
                  <a:pt x="861821" y="38100"/>
                </a:lnTo>
                <a:lnTo>
                  <a:pt x="861821" y="76200"/>
                </a:lnTo>
                <a:lnTo>
                  <a:pt x="969771" y="76200"/>
                </a:lnTo>
                <a:lnTo>
                  <a:pt x="1033271" y="57150"/>
                </a:lnTo>
                <a:lnTo>
                  <a:pt x="96977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085969" y="2361692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52009" y="2727960"/>
            <a:ext cx="1233170" cy="114300"/>
          </a:xfrm>
          <a:custGeom>
            <a:avLst/>
            <a:gdLst/>
            <a:ahLst/>
            <a:cxnLst/>
            <a:rect l="l" t="t" r="r" b="b"/>
            <a:pathLst>
              <a:path w="1233170" h="114300">
                <a:moveTo>
                  <a:pt x="1042415" y="0"/>
                </a:moveTo>
                <a:lnTo>
                  <a:pt x="1042415" y="114300"/>
                </a:lnTo>
                <a:lnTo>
                  <a:pt x="1169415" y="76200"/>
                </a:lnTo>
                <a:lnTo>
                  <a:pt x="1061465" y="76200"/>
                </a:lnTo>
                <a:lnTo>
                  <a:pt x="1061465" y="38100"/>
                </a:lnTo>
                <a:lnTo>
                  <a:pt x="1169415" y="38100"/>
                </a:lnTo>
                <a:lnTo>
                  <a:pt x="1042415" y="0"/>
                </a:lnTo>
                <a:close/>
              </a:path>
              <a:path w="1233170" h="114300">
                <a:moveTo>
                  <a:pt x="10424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2415" y="76200"/>
                </a:lnTo>
                <a:lnTo>
                  <a:pt x="1042415" y="38100"/>
                </a:lnTo>
                <a:close/>
              </a:path>
              <a:path w="1233170" h="114300">
                <a:moveTo>
                  <a:pt x="1169415" y="38100"/>
                </a:moveTo>
                <a:lnTo>
                  <a:pt x="1061465" y="38100"/>
                </a:lnTo>
                <a:lnTo>
                  <a:pt x="1061465" y="76200"/>
                </a:lnTo>
                <a:lnTo>
                  <a:pt x="1169415" y="76200"/>
                </a:lnTo>
                <a:lnTo>
                  <a:pt x="1232915" y="57150"/>
                </a:lnTo>
                <a:lnTo>
                  <a:pt x="116941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372105" y="3519297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97785" y="3869435"/>
            <a:ext cx="1033780" cy="114300"/>
          </a:xfrm>
          <a:custGeom>
            <a:avLst/>
            <a:gdLst/>
            <a:ahLst/>
            <a:cxnLst/>
            <a:rect l="l" t="t" r="r" b="b"/>
            <a:pathLst>
              <a:path w="1033780" h="114300">
                <a:moveTo>
                  <a:pt x="842771" y="0"/>
                </a:moveTo>
                <a:lnTo>
                  <a:pt x="842771" y="114300"/>
                </a:lnTo>
                <a:lnTo>
                  <a:pt x="969771" y="76200"/>
                </a:lnTo>
                <a:lnTo>
                  <a:pt x="861821" y="76200"/>
                </a:lnTo>
                <a:lnTo>
                  <a:pt x="861821" y="38100"/>
                </a:lnTo>
                <a:lnTo>
                  <a:pt x="969771" y="38100"/>
                </a:lnTo>
                <a:lnTo>
                  <a:pt x="842771" y="0"/>
                </a:lnTo>
                <a:close/>
              </a:path>
              <a:path w="1033780" h="114300">
                <a:moveTo>
                  <a:pt x="84277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42771" y="76200"/>
                </a:lnTo>
                <a:lnTo>
                  <a:pt x="842771" y="38100"/>
                </a:lnTo>
                <a:close/>
              </a:path>
              <a:path w="1033780" h="114300">
                <a:moveTo>
                  <a:pt x="969771" y="38100"/>
                </a:moveTo>
                <a:lnTo>
                  <a:pt x="861821" y="38100"/>
                </a:lnTo>
                <a:lnTo>
                  <a:pt x="861821" y="76200"/>
                </a:lnTo>
                <a:lnTo>
                  <a:pt x="969771" y="76200"/>
                </a:lnTo>
                <a:lnTo>
                  <a:pt x="1033271" y="57150"/>
                </a:lnTo>
                <a:lnTo>
                  <a:pt x="96977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56613" y="4772533"/>
            <a:ext cx="1109980" cy="114300"/>
          </a:xfrm>
          <a:custGeom>
            <a:avLst/>
            <a:gdLst/>
            <a:ahLst/>
            <a:cxnLst/>
            <a:rect l="l" t="t" r="r" b="b"/>
            <a:pathLst>
              <a:path w="1109980" h="114300">
                <a:moveTo>
                  <a:pt x="1054052" y="37719"/>
                </a:moveTo>
                <a:lnTo>
                  <a:pt x="938022" y="37719"/>
                </a:lnTo>
                <a:lnTo>
                  <a:pt x="938784" y="75819"/>
                </a:lnTo>
                <a:lnTo>
                  <a:pt x="919818" y="76209"/>
                </a:lnTo>
                <a:lnTo>
                  <a:pt x="920623" y="114300"/>
                </a:lnTo>
                <a:lnTo>
                  <a:pt x="1109853" y="53213"/>
                </a:lnTo>
                <a:lnTo>
                  <a:pt x="1054052" y="37719"/>
                </a:lnTo>
                <a:close/>
              </a:path>
              <a:path w="1109980" h="114300">
                <a:moveTo>
                  <a:pt x="919014" y="38110"/>
                </a:moveTo>
                <a:lnTo>
                  <a:pt x="0" y="57023"/>
                </a:lnTo>
                <a:lnTo>
                  <a:pt x="762" y="95123"/>
                </a:lnTo>
                <a:lnTo>
                  <a:pt x="919818" y="76209"/>
                </a:lnTo>
                <a:lnTo>
                  <a:pt x="919014" y="38110"/>
                </a:lnTo>
                <a:close/>
              </a:path>
              <a:path w="1109980" h="114300">
                <a:moveTo>
                  <a:pt x="938022" y="37719"/>
                </a:moveTo>
                <a:lnTo>
                  <a:pt x="919014" y="38110"/>
                </a:lnTo>
                <a:lnTo>
                  <a:pt x="919818" y="76209"/>
                </a:lnTo>
                <a:lnTo>
                  <a:pt x="938784" y="75819"/>
                </a:lnTo>
                <a:lnTo>
                  <a:pt x="938022" y="37719"/>
                </a:lnTo>
                <a:close/>
              </a:path>
              <a:path w="1109980" h="114300">
                <a:moveTo>
                  <a:pt x="918210" y="0"/>
                </a:moveTo>
                <a:lnTo>
                  <a:pt x="919014" y="38110"/>
                </a:lnTo>
                <a:lnTo>
                  <a:pt x="938022" y="37719"/>
                </a:lnTo>
                <a:lnTo>
                  <a:pt x="1054052" y="37719"/>
                </a:lnTo>
                <a:lnTo>
                  <a:pt x="91821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7357" y="3425190"/>
            <a:ext cx="457200" cy="523240"/>
          </a:xfrm>
          <a:custGeom>
            <a:avLst/>
            <a:gdLst/>
            <a:ahLst/>
            <a:cxnLst/>
            <a:rect l="l" t="t" r="r" b="b"/>
            <a:pathLst>
              <a:path w="457200" h="523239">
                <a:moveTo>
                  <a:pt x="0" y="522731"/>
                </a:moveTo>
                <a:lnTo>
                  <a:pt x="457200" y="522731"/>
                </a:lnTo>
                <a:lnTo>
                  <a:pt x="4572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50240" y="3604005"/>
            <a:ext cx="179006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0381" sz="4800" b="1">
                <a:solidFill>
                  <a:srgbClr val="FFFFFF"/>
                </a:solidFill>
                <a:latin typeface="Times New Roman"/>
                <a:cs typeface="Times New Roman"/>
              </a:rPr>
              <a:t>0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3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7357" y="4149090"/>
            <a:ext cx="457200" cy="523240"/>
          </a:xfrm>
          <a:custGeom>
            <a:avLst/>
            <a:gdLst/>
            <a:ahLst/>
            <a:cxnLst/>
            <a:rect l="l" t="t" r="r" b="b"/>
            <a:pathLst>
              <a:path w="457200" h="523239">
                <a:moveTo>
                  <a:pt x="0" y="522731"/>
                </a:moveTo>
                <a:lnTo>
                  <a:pt x="457200" y="522731"/>
                </a:lnTo>
                <a:lnTo>
                  <a:pt x="4572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6408" y="4107637"/>
            <a:ext cx="4191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85466" y="4235958"/>
            <a:ext cx="457200" cy="523240"/>
          </a:xfrm>
          <a:custGeom>
            <a:avLst/>
            <a:gdLst/>
            <a:ahLst/>
            <a:cxnLst/>
            <a:rect l="l" t="t" r="r" b="b"/>
            <a:pathLst>
              <a:path w="457200" h="523239">
                <a:moveTo>
                  <a:pt x="0" y="522732"/>
                </a:moveTo>
                <a:lnTo>
                  <a:pt x="457200" y="522732"/>
                </a:lnTo>
                <a:lnTo>
                  <a:pt x="457200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299080" y="4195317"/>
            <a:ext cx="6191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7190" algn="l"/>
              </a:tabLst>
            </a:pPr>
            <a:r>
              <a:rPr dirty="0" baseline="-27777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b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3162" y="2465070"/>
            <a:ext cx="457200" cy="472440"/>
          </a:xfrm>
          <a:custGeom>
            <a:avLst/>
            <a:gdLst/>
            <a:ahLst/>
            <a:cxnLst/>
            <a:rect l="l" t="t" r="r" b="b"/>
            <a:pathLst>
              <a:path w="457200" h="472439">
                <a:moveTo>
                  <a:pt x="0" y="472439"/>
                </a:moveTo>
                <a:lnTo>
                  <a:pt x="457200" y="472439"/>
                </a:lnTo>
                <a:lnTo>
                  <a:pt x="457200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72212" y="2437002"/>
            <a:ext cx="307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12741" y="2137410"/>
            <a:ext cx="457200" cy="474345"/>
          </a:xfrm>
          <a:custGeom>
            <a:avLst/>
            <a:gdLst/>
            <a:ahLst/>
            <a:cxnLst/>
            <a:rect l="l" t="t" r="r" b="b"/>
            <a:pathLst>
              <a:path w="457200" h="474344">
                <a:moveTo>
                  <a:pt x="0" y="473963"/>
                </a:moveTo>
                <a:lnTo>
                  <a:pt x="457200" y="473963"/>
                </a:lnTo>
                <a:lnTo>
                  <a:pt x="457200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490973" y="210997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764" y="5689091"/>
            <a:ext cx="7347204" cy="1120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0" y="5548884"/>
            <a:ext cx="753618" cy="8968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6113" y="5509165"/>
            <a:ext cx="7163434" cy="129349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3200">
                <a:solidFill>
                  <a:srgbClr val="FF00FF"/>
                </a:solidFill>
                <a:latin typeface="Wingdings"/>
                <a:cs typeface="Wingdings"/>
              </a:rPr>
              <a:t></a:t>
            </a:r>
            <a:r>
              <a:rPr dirty="0" sz="3200" spc="-1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419734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latin typeface="Times New Roman"/>
                <a:cs typeface="Times New Roman"/>
              </a:rPr>
              <a:t>4,5,6</a:t>
            </a:r>
            <a:r>
              <a:rPr dirty="0" sz="3200" spc="-10" b="1">
                <a:latin typeface="宋体"/>
                <a:cs typeface="宋体"/>
              </a:rPr>
              <a:t>为句</a:t>
            </a:r>
            <a:r>
              <a:rPr dirty="0" sz="3200" b="1">
                <a:latin typeface="宋体"/>
                <a:cs typeface="宋体"/>
              </a:rPr>
              <a:t>柄</a:t>
            </a:r>
            <a:r>
              <a:rPr dirty="0" sz="3200" spc="-10" b="1">
                <a:latin typeface="宋体"/>
                <a:cs typeface="宋体"/>
              </a:rPr>
              <a:t>识</a:t>
            </a:r>
            <a:r>
              <a:rPr dirty="0" sz="3200" spc="5" b="1">
                <a:latin typeface="宋体"/>
                <a:cs typeface="宋体"/>
              </a:rPr>
              <a:t>别</a:t>
            </a:r>
            <a:r>
              <a:rPr dirty="0" sz="3200" spc="-10" b="1">
                <a:latin typeface="宋体"/>
                <a:cs typeface="宋体"/>
              </a:rPr>
              <a:t>态</a:t>
            </a:r>
            <a:r>
              <a:rPr dirty="0" sz="3200" b="1">
                <a:latin typeface="宋体"/>
                <a:cs typeface="宋体"/>
              </a:rPr>
              <a:t>；</a:t>
            </a:r>
            <a:r>
              <a:rPr dirty="0" sz="3200" b="1">
                <a:latin typeface="Times New Roman"/>
                <a:cs typeface="Times New Roman"/>
              </a:rPr>
              <a:t>5</a:t>
            </a:r>
            <a:r>
              <a:rPr dirty="0" sz="3200" spc="-10" b="1">
                <a:latin typeface="宋体"/>
                <a:cs typeface="宋体"/>
              </a:rPr>
              <a:t>为</a:t>
            </a:r>
            <a:r>
              <a:rPr dirty="0" sz="3200" spc="5" b="1">
                <a:latin typeface="宋体"/>
                <a:cs typeface="宋体"/>
              </a:rPr>
              <a:t>句</a:t>
            </a:r>
            <a:r>
              <a:rPr dirty="0" sz="3200" spc="-10" b="1">
                <a:latin typeface="宋体"/>
                <a:cs typeface="宋体"/>
              </a:rPr>
              <a:t>子识</a:t>
            </a:r>
            <a:r>
              <a:rPr dirty="0" sz="3200" b="1">
                <a:latin typeface="宋体"/>
                <a:cs typeface="宋体"/>
              </a:rPr>
              <a:t>别</a:t>
            </a:r>
            <a:r>
              <a:rPr dirty="0" sz="3200" spc="-10" b="1">
                <a:latin typeface="宋体"/>
                <a:cs typeface="宋体"/>
              </a:rPr>
              <a:t>态。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74284" y="418287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23786" y="3350463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31989" y="3350463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52764" y="3325495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72985" y="417652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193029" y="3112770"/>
            <a:ext cx="3970020" cy="27424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449059" y="5025593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35518" y="5202428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64733" y="3698594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86396" y="323976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76743" y="3222498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09461" y="4073397"/>
            <a:ext cx="278130" cy="863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>
              <a:lnSpc>
                <a:spcPts val="321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90"/>
              </a:lnSpc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91170" y="490702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19390" y="4176495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73265" y="2945991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99109" y="2544317"/>
            <a:ext cx="1530350" cy="490855"/>
          </a:xfrm>
          <a:custGeom>
            <a:avLst/>
            <a:gdLst/>
            <a:ahLst/>
            <a:cxnLst/>
            <a:rect l="l" t="t" r="r" b="b"/>
            <a:pathLst>
              <a:path w="1530350" h="490855">
                <a:moveTo>
                  <a:pt x="0" y="490727"/>
                </a:moveTo>
                <a:lnTo>
                  <a:pt x="1530096" y="490727"/>
                </a:lnTo>
                <a:lnTo>
                  <a:pt x="1530096" y="0"/>
                </a:lnTo>
                <a:lnTo>
                  <a:pt x="0" y="0"/>
                </a:lnTo>
                <a:lnTo>
                  <a:pt x="0" y="4907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05561" y="4601717"/>
            <a:ext cx="1551940" cy="489584"/>
          </a:xfrm>
          <a:custGeom>
            <a:avLst/>
            <a:gdLst/>
            <a:ahLst/>
            <a:cxnLst/>
            <a:rect l="l" t="t" r="r" b="b"/>
            <a:pathLst>
              <a:path w="1551939" h="489585">
                <a:moveTo>
                  <a:pt x="0" y="489203"/>
                </a:moveTo>
                <a:lnTo>
                  <a:pt x="1551432" y="489203"/>
                </a:lnTo>
                <a:lnTo>
                  <a:pt x="1551432" y="0"/>
                </a:lnTo>
                <a:lnTo>
                  <a:pt x="0" y="0"/>
                </a:lnTo>
                <a:lnTo>
                  <a:pt x="0" y="4892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089910" y="2547366"/>
            <a:ext cx="1551940" cy="487680"/>
          </a:xfrm>
          <a:custGeom>
            <a:avLst/>
            <a:gdLst/>
            <a:ahLst/>
            <a:cxnLst/>
            <a:rect l="l" t="t" r="r" b="b"/>
            <a:pathLst>
              <a:path w="1551939" h="487680">
                <a:moveTo>
                  <a:pt x="0" y="487679"/>
                </a:moveTo>
                <a:lnTo>
                  <a:pt x="1551432" y="487679"/>
                </a:lnTo>
                <a:lnTo>
                  <a:pt x="1551432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5842889" y="2092451"/>
          <a:ext cx="1647825" cy="942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"/>
                <a:gridCol w="466725"/>
                <a:gridCol w="1014094"/>
                <a:gridCol w="54609"/>
              </a:tblGrid>
              <a:tr h="4227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00FF"/>
                      </a:solidFill>
                      <a:prstDash val="solid"/>
                    </a:lnR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3229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FF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76200">
                      <a:solidFill>
                        <a:srgbClr val="FF00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FF"/>
                      </a:solidFill>
                      <a:prstDash val="solid"/>
                    </a:lnL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6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00FF"/>
                      </a:solidFill>
                      <a:prstDash val="solid"/>
                    </a:lnR>
                    <a:lnT w="28575">
                      <a:solidFill>
                        <a:srgbClr val="FFFF00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1435">
                        <a:lnSpc>
                          <a:spcPts val="3520"/>
                        </a:lnSpc>
                      </a:pPr>
                      <a:r>
                        <a:rPr dirty="0" sz="32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32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aA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·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00FF"/>
                      </a:solidFill>
                      <a:prstDash val="solid"/>
                    </a:lnL>
                    <a:lnR w="285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00FF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00"/>
                      </a:solidFill>
                      <a:prstDash val="solid"/>
                    </a:lnL>
                    <a:lnR w="28575">
                      <a:solidFill>
                        <a:srgbClr val="FFFF00"/>
                      </a:solidFill>
                      <a:prstDash val="solid"/>
                    </a:lnR>
                    <a:lnT w="28575">
                      <a:solidFill>
                        <a:srgbClr val="FFFF00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2802635" y="3156204"/>
          <a:ext cx="1960245" cy="98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340"/>
                <a:gridCol w="55244"/>
                <a:gridCol w="95250"/>
                <a:gridCol w="1401444"/>
                <a:gridCol w="55244"/>
              </a:tblGrid>
              <a:tr h="460121">
                <a:tc gridSpan="3">
                  <a:txBody>
                    <a:bodyPr/>
                    <a:lstStyle/>
                    <a:p>
                      <a:pPr marL="90805">
                        <a:lnSpc>
                          <a:spcPts val="35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FF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FF"/>
                      </a:solidFill>
                      <a:prstDash val="solid"/>
                    </a:lnL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7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00"/>
                      </a:solidFill>
                      <a:prstDash val="solid"/>
                    </a:lnL>
                    <a:lnR w="28575">
                      <a:solidFill>
                        <a:srgbClr val="FFFF00"/>
                      </a:solidFill>
                      <a:prstDash val="solid"/>
                    </a:lnR>
                    <a:lnT w="28575">
                      <a:solidFill>
                        <a:srgbClr val="FF00FF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830">
                        <a:lnSpc>
                          <a:spcPts val="369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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3200" spc="-8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·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00"/>
                      </a:solidFill>
                      <a:prstDash val="solid"/>
                    </a:lnL>
                    <a:lnR w="28575">
                      <a:solidFill>
                        <a:srgbClr val="FFFF00"/>
                      </a:solidFill>
                      <a:prstDash val="solid"/>
                    </a:lnR>
                    <a:lnT w="28575">
                      <a:solidFill>
                        <a:srgbClr val="FF00FF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00"/>
                      </a:solidFill>
                      <a:prstDash val="solid"/>
                    </a:lnL>
                    <a:lnR w="28575">
                      <a:solidFill>
                        <a:srgbClr val="FFFF00"/>
                      </a:solidFill>
                      <a:prstDash val="solid"/>
                    </a:lnR>
                    <a:lnT w="28575">
                      <a:solidFill>
                        <a:srgbClr val="FFFF00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1" name="object 51"/>
          <p:cNvSpPr/>
          <p:nvPr/>
        </p:nvSpPr>
        <p:spPr>
          <a:xfrm>
            <a:off x="2924429" y="5129529"/>
            <a:ext cx="1634489" cy="0"/>
          </a:xfrm>
          <a:custGeom>
            <a:avLst/>
            <a:gdLst/>
            <a:ahLst/>
            <a:cxnLst/>
            <a:rect l="l" t="t" r="r" b="b"/>
            <a:pathLst>
              <a:path w="1634489" h="0">
                <a:moveTo>
                  <a:pt x="0" y="0"/>
                </a:moveTo>
                <a:lnTo>
                  <a:pt x="1633982" y="0"/>
                </a:lnTo>
              </a:path>
            </a:pathLst>
          </a:custGeom>
          <a:ln w="2794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938208" y="4599940"/>
            <a:ext cx="0" cy="515620"/>
          </a:xfrm>
          <a:custGeom>
            <a:avLst/>
            <a:gdLst/>
            <a:ahLst/>
            <a:cxnLst/>
            <a:rect l="l" t="t" r="r" b="b"/>
            <a:pathLst>
              <a:path w="0" h="515620">
                <a:moveTo>
                  <a:pt x="0" y="0"/>
                </a:moveTo>
                <a:lnTo>
                  <a:pt x="0" y="515619"/>
                </a:lnTo>
              </a:path>
            </a:pathLst>
          </a:custGeom>
          <a:ln w="2755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924429" y="4585970"/>
            <a:ext cx="1634489" cy="0"/>
          </a:xfrm>
          <a:custGeom>
            <a:avLst/>
            <a:gdLst/>
            <a:ahLst/>
            <a:cxnLst/>
            <a:rect l="l" t="t" r="r" b="b"/>
            <a:pathLst>
              <a:path w="1634489" h="0">
                <a:moveTo>
                  <a:pt x="0" y="0"/>
                </a:moveTo>
                <a:lnTo>
                  <a:pt x="1633982" y="0"/>
                </a:lnTo>
              </a:path>
            </a:pathLst>
          </a:custGeom>
          <a:ln w="2793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544631" y="4599432"/>
            <a:ext cx="0" cy="516890"/>
          </a:xfrm>
          <a:custGeom>
            <a:avLst/>
            <a:gdLst/>
            <a:ahLst/>
            <a:cxnLst/>
            <a:rect l="l" t="t" r="r" b="b"/>
            <a:pathLst>
              <a:path w="0" h="516889">
                <a:moveTo>
                  <a:pt x="0" y="0"/>
                </a:moveTo>
                <a:lnTo>
                  <a:pt x="0" y="516636"/>
                </a:lnTo>
              </a:path>
            </a:pathLst>
          </a:custGeom>
          <a:ln w="2755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79420" y="5074920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2793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93199" y="4654550"/>
            <a:ext cx="0" cy="406400"/>
          </a:xfrm>
          <a:custGeom>
            <a:avLst/>
            <a:gdLst/>
            <a:ahLst/>
            <a:cxnLst/>
            <a:rect l="l" t="t" r="r" b="b"/>
            <a:pathLst>
              <a:path w="0" h="406400">
                <a:moveTo>
                  <a:pt x="0" y="0"/>
                </a:moveTo>
                <a:lnTo>
                  <a:pt x="0" y="406400"/>
                </a:lnTo>
              </a:path>
            </a:pathLst>
          </a:custGeom>
          <a:ln w="2755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79420" y="4640579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2794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489640" y="4654422"/>
            <a:ext cx="0" cy="407034"/>
          </a:xfrm>
          <a:custGeom>
            <a:avLst/>
            <a:gdLst/>
            <a:ahLst/>
            <a:cxnLst/>
            <a:rect l="l" t="t" r="r" b="b"/>
            <a:pathLst>
              <a:path w="0" h="407035">
                <a:moveTo>
                  <a:pt x="0" y="0"/>
                </a:moveTo>
                <a:lnTo>
                  <a:pt x="0" y="406653"/>
                </a:lnTo>
              </a:path>
            </a:pathLst>
          </a:custGeom>
          <a:ln w="2755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21969" y="3661409"/>
            <a:ext cx="1550035" cy="487680"/>
          </a:xfrm>
          <a:custGeom>
            <a:avLst/>
            <a:gdLst/>
            <a:ahLst/>
            <a:cxnLst/>
            <a:rect l="l" t="t" r="r" b="b"/>
            <a:pathLst>
              <a:path w="1550035" h="487679">
                <a:moveTo>
                  <a:pt x="0" y="487680"/>
                </a:moveTo>
                <a:lnTo>
                  <a:pt x="1549908" y="487680"/>
                </a:lnTo>
                <a:lnTo>
                  <a:pt x="1549908" y="0"/>
                </a:lnTo>
                <a:lnTo>
                  <a:pt x="0" y="0"/>
                </a:lnTo>
                <a:lnTo>
                  <a:pt x="0" y="4876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61" y="3913632"/>
            <a:ext cx="521334" cy="114300"/>
          </a:xfrm>
          <a:custGeom>
            <a:avLst/>
            <a:gdLst/>
            <a:ahLst/>
            <a:cxnLst/>
            <a:rect l="l" t="t" r="r" b="b"/>
            <a:pathLst>
              <a:path w="521334" h="114300">
                <a:moveTo>
                  <a:pt x="406908" y="0"/>
                </a:moveTo>
                <a:lnTo>
                  <a:pt x="406908" y="114300"/>
                </a:lnTo>
                <a:lnTo>
                  <a:pt x="483108" y="76200"/>
                </a:lnTo>
                <a:lnTo>
                  <a:pt x="425958" y="76200"/>
                </a:lnTo>
                <a:lnTo>
                  <a:pt x="425958" y="38100"/>
                </a:lnTo>
                <a:lnTo>
                  <a:pt x="483108" y="38100"/>
                </a:lnTo>
                <a:lnTo>
                  <a:pt x="406908" y="0"/>
                </a:lnTo>
                <a:close/>
              </a:path>
              <a:path w="521334" h="114300">
                <a:moveTo>
                  <a:pt x="4069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06908" y="76200"/>
                </a:lnTo>
                <a:lnTo>
                  <a:pt x="406908" y="38100"/>
                </a:lnTo>
                <a:close/>
              </a:path>
              <a:path w="521334" h="114300">
                <a:moveTo>
                  <a:pt x="483108" y="38100"/>
                </a:moveTo>
                <a:lnTo>
                  <a:pt x="425958" y="38100"/>
                </a:lnTo>
                <a:lnTo>
                  <a:pt x="425958" y="76200"/>
                </a:lnTo>
                <a:lnTo>
                  <a:pt x="483108" y="76200"/>
                </a:lnTo>
                <a:lnTo>
                  <a:pt x="521208" y="57150"/>
                </a:lnTo>
                <a:lnTo>
                  <a:pt x="4831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61720" y="4148582"/>
            <a:ext cx="114300" cy="477520"/>
          </a:xfrm>
          <a:custGeom>
            <a:avLst/>
            <a:gdLst/>
            <a:ahLst/>
            <a:cxnLst/>
            <a:rect l="l" t="t" r="r" b="b"/>
            <a:pathLst>
              <a:path w="114300" h="477520">
                <a:moveTo>
                  <a:pt x="38095" y="287570"/>
                </a:moveTo>
                <a:lnTo>
                  <a:pt x="0" y="288544"/>
                </a:lnTo>
                <a:lnTo>
                  <a:pt x="62001" y="477520"/>
                </a:lnTo>
                <a:lnTo>
                  <a:pt x="108555" y="306578"/>
                </a:lnTo>
                <a:lnTo>
                  <a:pt x="38582" y="306578"/>
                </a:lnTo>
                <a:lnTo>
                  <a:pt x="38095" y="287570"/>
                </a:lnTo>
                <a:close/>
              </a:path>
              <a:path w="114300" h="477520">
                <a:moveTo>
                  <a:pt x="76181" y="286596"/>
                </a:moveTo>
                <a:lnTo>
                  <a:pt x="38095" y="287570"/>
                </a:lnTo>
                <a:lnTo>
                  <a:pt x="38582" y="306578"/>
                </a:lnTo>
                <a:lnTo>
                  <a:pt x="76669" y="305689"/>
                </a:lnTo>
                <a:lnTo>
                  <a:pt x="76181" y="286596"/>
                </a:lnTo>
                <a:close/>
              </a:path>
              <a:path w="114300" h="477520">
                <a:moveTo>
                  <a:pt x="114261" y="285623"/>
                </a:moveTo>
                <a:lnTo>
                  <a:pt x="76181" y="286596"/>
                </a:lnTo>
                <a:lnTo>
                  <a:pt x="76669" y="305689"/>
                </a:lnTo>
                <a:lnTo>
                  <a:pt x="38582" y="306578"/>
                </a:lnTo>
                <a:lnTo>
                  <a:pt x="108555" y="306578"/>
                </a:lnTo>
                <a:lnTo>
                  <a:pt x="114261" y="285623"/>
                </a:lnTo>
                <a:close/>
              </a:path>
              <a:path w="114300" h="477520">
                <a:moveTo>
                  <a:pt x="68846" y="0"/>
                </a:moveTo>
                <a:lnTo>
                  <a:pt x="30759" y="1016"/>
                </a:lnTo>
                <a:lnTo>
                  <a:pt x="38095" y="287570"/>
                </a:lnTo>
                <a:lnTo>
                  <a:pt x="76181" y="286596"/>
                </a:lnTo>
                <a:lnTo>
                  <a:pt x="68846" y="0"/>
                </a:lnTo>
                <a:close/>
              </a:path>
            </a:pathLst>
          </a:custGeom>
          <a:solidFill>
            <a:srgbClr val="FF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834034" y="4082922"/>
            <a:ext cx="1816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15136" y="3039313"/>
            <a:ext cx="1816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52995" y="3035045"/>
            <a:ext cx="114300" cy="626745"/>
          </a:xfrm>
          <a:custGeom>
            <a:avLst/>
            <a:gdLst/>
            <a:ahLst/>
            <a:cxnLst/>
            <a:rect l="l" t="t" r="r" b="b"/>
            <a:pathLst>
              <a:path w="114300" h="626745">
                <a:moveTo>
                  <a:pt x="38097" y="114003"/>
                </a:moveTo>
                <a:lnTo>
                  <a:pt x="31864" y="626109"/>
                </a:lnTo>
                <a:lnTo>
                  <a:pt x="69964" y="626617"/>
                </a:lnTo>
                <a:lnTo>
                  <a:pt x="76197" y="114469"/>
                </a:lnTo>
                <a:lnTo>
                  <a:pt x="38097" y="114003"/>
                </a:lnTo>
                <a:close/>
              </a:path>
              <a:path w="114300" h="626745">
                <a:moveTo>
                  <a:pt x="104615" y="94995"/>
                </a:moveTo>
                <a:lnTo>
                  <a:pt x="38328" y="94995"/>
                </a:lnTo>
                <a:lnTo>
                  <a:pt x="76428" y="95503"/>
                </a:lnTo>
                <a:lnTo>
                  <a:pt x="76197" y="114469"/>
                </a:lnTo>
                <a:lnTo>
                  <a:pt x="114287" y="114934"/>
                </a:lnTo>
                <a:lnTo>
                  <a:pt x="104615" y="94995"/>
                </a:lnTo>
                <a:close/>
              </a:path>
              <a:path w="114300" h="626745">
                <a:moveTo>
                  <a:pt x="38328" y="94995"/>
                </a:moveTo>
                <a:lnTo>
                  <a:pt x="38097" y="114003"/>
                </a:lnTo>
                <a:lnTo>
                  <a:pt x="76197" y="114469"/>
                </a:lnTo>
                <a:lnTo>
                  <a:pt x="76428" y="95503"/>
                </a:lnTo>
                <a:lnTo>
                  <a:pt x="38328" y="94995"/>
                </a:lnTo>
                <a:close/>
              </a:path>
              <a:path w="114300" h="626745">
                <a:moveTo>
                  <a:pt x="58534" y="0"/>
                </a:moveTo>
                <a:lnTo>
                  <a:pt x="0" y="113537"/>
                </a:lnTo>
                <a:lnTo>
                  <a:pt x="38097" y="114003"/>
                </a:lnTo>
                <a:lnTo>
                  <a:pt x="38328" y="94995"/>
                </a:lnTo>
                <a:lnTo>
                  <a:pt x="104615" y="94995"/>
                </a:lnTo>
                <a:lnTo>
                  <a:pt x="58534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260341" y="2308098"/>
            <a:ext cx="3175" cy="222885"/>
          </a:xfrm>
          <a:custGeom>
            <a:avLst/>
            <a:gdLst/>
            <a:ahLst/>
            <a:cxnLst/>
            <a:rect l="l" t="t" r="r" b="b"/>
            <a:pathLst>
              <a:path w="3175" h="222885">
                <a:moveTo>
                  <a:pt x="1524" y="-19050"/>
                </a:moveTo>
                <a:lnTo>
                  <a:pt x="1524" y="241553"/>
                </a:lnTo>
              </a:path>
            </a:pathLst>
          </a:custGeom>
          <a:ln w="41148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62177" y="2320289"/>
            <a:ext cx="3618229" cy="0"/>
          </a:xfrm>
          <a:custGeom>
            <a:avLst/>
            <a:gdLst/>
            <a:ahLst/>
            <a:cxnLst/>
            <a:rect l="l" t="t" r="r" b="b"/>
            <a:pathLst>
              <a:path w="3618229" h="0">
                <a:moveTo>
                  <a:pt x="0" y="0"/>
                </a:moveTo>
                <a:lnTo>
                  <a:pt x="3617976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2259838" y="1896209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66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66102" y="5072634"/>
            <a:ext cx="114300" cy="276225"/>
          </a:xfrm>
          <a:custGeom>
            <a:avLst/>
            <a:gdLst/>
            <a:ahLst/>
            <a:cxnLst/>
            <a:rect l="l" t="t" r="r" b="b"/>
            <a:pathLst>
              <a:path w="114300" h="276225">
                <a:moveTo>
                  <a:pt x="76202" y="190330"/>
                </a:moveTo>
                <a:lnTo>
                  <a:pt x="38102" y="190542"/>
                </a:lnTo>
                <a:lnTo>
                  <a:pt x="38569" y="275971"/>
                </a:lnTo>
                <a:lnTo>
                  <a:pt x="76669" y="275717"/>
                </a:lnTo>
                <a:lnTo>
                  <a:pt x="76202" y="190330"/>
                </a:lnTo>
                <a:close/>
              </a:path>
              <a:path w="114300" h="276225">
                <a:moveTo>
                  <a:pt x="56095" y="0"/>
                </a:moveTo>
                <a:lnTo>
                  <a:pt x="0" y="190754"/>
                </a:lnTo>
                <a:lnTo>
                  <a:pt x="38102" y="190542"/>
                </a:lnTo>
                <a:lnTo>
                  <a:pt x="37998" y="171577"/>
                </a:lnTo>
                <a:lnTo>
                  <a:pt x="108545" y="171323"/>
                </a:lnTo>
                <a:lnTo>
                  <a:pt x="56095" y="0"/>
                </a:lnTo>
                <a:close/>
              </a:path>
              <a:path w="114300" h="276225">
                <a:moveTo>
                  <a:pt x="76098" y="171323"/>
                </a:moveTo>
                <a:lnTo>
                  <a:pt x="37998" y="171577"/>
                </a:lnTo>
                <a:lnTo>
                  <a:pt x="38102" y="190542"/>
                </a:lnTo>
                <a:lnTo>
                  <a:pt x="76202" y="190330"/>
                </a:lnTo>
                <a:lnTo>
                  <a:pt x="76098" y="171323"/>
                </a:lnTo>
                <a:close/>
              </a:path>
              <a:path w="114300" h="276225">
                <a:moveTo>
                  <a:pt x="108545" y="171323"/>
                </a:moveTo>
                <a:lnTo>
                  <a:pt x="76098" y="171323"/>
                </a:lnTo>
                <a:lnTo>
                  <a:pt x="76202" y="190330"/>
                </a:lnTo>
                <a:lnTo>
                  <a:pt x="114299" y="190119"/>
                </a:lnTo>
                <a:lnTo>
                  <a:pt x="108545" y="171323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97813" y="5348478"/>
            <a:ext cx="4135120" cy="0"/>
          </a:xfrm>
          <a:custGeom>
            <a:avLst/>
            <a:gdLst/>
            <a:ahLst/>
            <a:cxnLst/>
            <a:rect l="l" t="t" r="r" b="b"/>
            <a:pathLst>
              <a:path w="4135120" h="0">
                <a:moveTo>
                  <a:pt x="0" y="0"/>
                </a:moveTo>
                <a:lnTo>
                  <a:pt x="4134612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932426" y="2929889"/>
            <a:ext cx="0" cy="2418715"/>
          </a:xfrm>
          <a:custGeom>
            <a:avLst/>
            <a:gdLst/>
            <a:ahLst/>
            <a:cxnLst/>
            <a:rect l="l" t="t" r="r" b="b"/>
            <a:pathLst>
              <a:path w="0" h="2418715">
                <a:moveTo>
                  <a:pt x="0" y="0"/>
                </a:moveTo>
                <a:lnTo>
                  <a:pt x="0" y="2418588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2680461" y="5162522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66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05027" y="2308098"/>
            <a:ext cx="114300" cy="2133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641341" y="2955798"/>
            <a:ext cx="317500" cy="0"/>
          </a:xfrm>
          <a:custGeom>
            <a:avLst/>
            <a:gdLst/>
            <a:ahLst/>
            <a:cxnLst/>
            <a:rect l="l" t="t" r="r" b="b"/>
            <a:pathLst>
              <a:path w="317500" h="0">
                <a:moveTo>
                  <a:pt x="0" y="0"/>
                </a:moveTo>
                <a:lnTo>
                  <a:pt x="316992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486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9487" y="3535451"/>
            <a:ext cx="381635" cy="279971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4*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6062" y="2896361"/>
            <a:ext cx="8267700" cy="0"/>
          </a:xfrm>
          <a:custGeom>
            <a:avLst/>
            <a:gdLst/>
            <a:ahLst/>
            <a:cxnLst/>
            <a:rect l="l" t="t" r="r" b="b"/>
            <a:pathLst>
              <a:path w="8267700" h="0">
                <a:moveTo>
                  <a:pt x="0" y="0"/>
                </a:moveTo>
                <a:lnTo>
                  <a:pt x="82677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6062" y="3493770"/>
            <a:ext cx="8267700" cy="0"/>
          </a:xfrm>
          <a:custGeom>
            <a:avLst/>
            <a:gdLst/>
            <a:ahLst/>
            <a:cxnLst/>
            <a:rect l="l" t="t" r="r" b="b"/>
            <a:pathLst>
              <a:path w="8267700" h="0">
                <a:moveTo>
                  <a:pt x="0" y="0"/>
                </a:moveTo>
                <a:lnTo>
                  <a:pt x="82677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8462" y="6395465"/>
            <a:ext cx="8267700" cy="0"/>
          </a:xfrm>
          <a:custGeom>
            <a:avLst/>
            <a:gdLst/>
            <a:ahLst/>
            <a:cxnLst/>
            <a:rect l="l" t="t" r="r" b="b"/>
            <a:pathLst>
              <a:path w="8267700" h="0">
                <a:moveTo>
                  <a:pt x="0" y="0"/>
                </a:moveTo>
                <a:lnTo>
                  <a:pt x="82677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58261" y="2896361"/>
            <a:ext cx="0" cy="3499485"/>
          </a:xfrm>
          <a:custGeom>
            <a:avLst/>
            <a:gdLst/>
            <a:ahLst/>
            <a:cxnLst/>
            <a:rect l="l" t="t" r="r" b="b"/>
            <a:pathLst>
              <a:path w="0" h="3499485">
                <a:moveTo>
                  <a:pt x="0" y="0"/>
                </a:moveTo>
                <a:lnTo>
                  <a:pt x="0" y="3499104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7916" y="546353"/>
            <a:ext cx="30587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66"/>
                </a:solidFill>
                <a:latin typeface="宋体"/>
                <a:cs typeface="宋体"/>
              </a:rPr>
              <a:t>识别文法</a:t>
            </a:r>
            <a:r>
              <a:rPr dirty="0" sz="3200" b="1" i="1">
                <a:solidFill>
                  <a:srgbClr val="66FF66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66FF66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66FF66"/>
                </a:solidFill>
                <a:latin typeface="Times New Roman"/>
                <a:cs typeface="Times New Roman"/>
              </a:rPr>
              <a:t>S</a:t>
            </a:r>
            <a:r>
              <a:rPr dirty="0" sz="3200" spc="-105" b="1" i="1">
                <a:solidFill>
                  <a:srgbClr val="66FF66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66FF99"/>
                </a:solidFill>
                <a:latin typeface="Symbol"/>
                <a:cs typeface="Symbol"/>
              </a:rPr>
              <a:t></a:t>
            </a:r>
            <a:r>
              <a:rPr dirty="0" sz="3200" spc="5" b="1">
                <a:solidFill>
                  <a:srgbClr val="66FF66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66FF66"/>
                </a:solidFill>
                <a:latin typeface="宋体"/>
                <a:cs typeface="宋体"/>
              </a:rPr>
              <a:t>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916" y="1180033"/>
            <a:ext cx="36899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66FF66"/>
                </a:solidFill>
                <a:latin typeface="宋体"/>
                <a:cs typeface="宋体"/>
              </a:rPr>
              <a:t>所有活前缀</a:t>
            </a:r>
            <a:r>
              <a:rPr dirty="0" sz="3200" b="1">
                <a:solidFill>
                  <a:srgbClr val="66FF66"/>
                </a:solidFill>
                <a:latin typeface="宋体"/>
                <a:cs typeface="宋体"/>
              </a:rPr>
              <a:t>的</a:t>
            </a:r>
            <a:r>
              <a:rPr dirty="0" sz="3200" spc="-60" b="1">
                <a:solidFill>
                  <a:srgbClr val="66FF66"/>
                </a:solidFill>
                <a:latin typeface="Times New Roman"/>
                <a:cs typeface="Times New Roman"/>
              </a:rPr>
              <a:t>DFA</a:t>
            </a:r>
            <a:r>
              <a:rPr dirty="0" sz="3200" spc="-60" b="1">
                <a:solidFill>
                  <a:srgbClr val="66FF66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7561" y="146126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1454" y="770889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13251" y="605916"/>
            <a:ext cx="4922901" cy="20397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914135" y="212059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42631" y="2057145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40578" y="1041559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57947" y="661161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59678" y="726530"/>
            <a:ext cx="307340" cy="105981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05"/>
              </a:spcBef>
            </a:pPr>
            <a:r>
              <a:rPr dirty="0" sz="3200" b="1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62702" y="1781909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20916" y="790447"/>
            <a:ext cx="428625" cy="1954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118110">
              <a:lnSpc>
                <a:spcPct val="100000"/>
              </a:lnSpc>
              <a:spcBef>
                <a:spcPts val="248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237490">
              <a:lnSpc>
                <a:spcPct val="100000"/>
              </a:lnSpc>
              <a:spcBef>
                <a:spcPts val="1964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06363" y="473107"/>
            <a:ext cx="362585" cy="1497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0753" sz="4200" spc="-33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950" spc="-22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49530">
              <a:lnSpc>
                <a:spcPct val="100000"/>
              </a:lnSpc>
              <a:spcBef>
                <a:spcPts val="4205"/>
              </a:spcBef>
            </a:pPr>
            <a:r>
              <a:rPr dirty="0" sz="3200" b="1"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25192" y="2849702"/>
            <a:ext cx="1841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94378" y="2849702"/>
            <a:ext cx="3708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10071" y="2849702"/>
            <a:ext cx="4159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73009" y="2849702"/>
            <a:ext cx="3708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8341" y="3513914"/>
            <a:ext cx="1658620" cy="284480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2,1,3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279400">
              <a:lnSpc>
                <a:spcPct val="100000"/>
              </a:lnSpc>
              <a:spcBef>
                <a:spcPts val="74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254000">
              <a:lnSpc>
                <a:spcPct val="100000"/>
              </a:lnSpc>
              <a:spcBef>
                <a:spcPts val="76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228600">
              <a:lnSpc>
                <a:spcPct val="100000"/>
              </a:lnSpc>
              <a:spcBef>
                <a:spcPts val="37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11371" y="3433546"/>
            <a:ext cx="1661795" cy="283337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2,1,3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15875">
              <a:lnSpc>
                <a:spcPct val="100000"/>
              </a:lnSpc>
              <a:spcBef>
                <a:spcPts val="97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algn="ctr" marR="177800">
              <a:lnSpc>
                <a:spcPts val="3770"/>
              </a:lnSpc>
              <a:spcBef>
                <a:spcPts val="425"/>
              </a:spcBef>
            </a:pP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endParaRPr sz="3200">
              <a:latin typeface="Symbol"/>
              <a:cs typeface="Symbol"/>
            </a:endParaRPr>
          </a:p>
          <a:p>
            <a:pPr algn="ctr" marR="177800">
              <a:lnSpc>
                <a:spcPts val="3770"/>
              </a:lnSpc>
            </a:pP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endParaRPr sz="3200">
              <a:latin typeface="Symbol"/>
              <a:cs typeface="Symbol"/>
            </a:endParaRPr>
          </a:p>
          <a:p>
            <a:pPr algn="ctr" marR="231775">
              <a:lnSpc>
                <a:spcPct val="100000"/>
              </a:lnSpc>
              <a:spcBef>
                <a:spcPts val="670"/>
              </a:spcBef>
            </a:pP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48629" y="3500729"/>
            <a:ext cx="2708910" cy="272796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16764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28575">
              <a:lnSpc>
                <a:spcPct val="100000"/>
              </a:lnSpc>
              <a:spcBef>
                <a:spcPts val="660"/>
              </a:spcBef>
              <a:tabLst>
                <a:tab pos="16510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｝	</a:t>
            </a:r>
            <a:r>
              <a:rPr dirty="0" baseline="-1736" sz="48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baseline="-1736" sz="48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baseline="-1736" sz="480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baseline="-1736" sz="4800">
              <a:latin typeface="宋体"/>
              <a:cs typeface="宋体"/>
            </a:endParaRPr>
          </a:p>
          <a:p>
            <a:pPr marL="333375">
              <a:lnSpc>
                <a:spcPts val="3770"/>
              </a:lnSpc>
              <a:spcBef>
                <a:spcPts val="320"/>
              </a:spcBef>
              <a:tabLst>
                <a:tab pos="1979295" algn="l"/>
              </a:tabLst>
            </a:pPr>
            <a:r>
              <a:rPr dirty="0" baseline="1736" sz="48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r>
              <a:rPr dirty="0" baseline="1736" sz="48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endParaRPr sz="3200">
              <a:latin typeface="Symbol"/>
              <a:cs typeface="Symbol"/>
            </a:endParaRPr>
          </a:p>
          <a:p>
            <a:pPr marL="333375">
              <a:lnSpc>
                <a:spcPts val="3770"/>
              </a:lnSpc>
              <a:tabLst>
                <a:tab pos="1979295" algn="l"/>
              </a:tabLst>
            </a:pPr>
            <a:r>
              <a:rPr dirty="0" baseline="1736" sz="48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r>
              <a:rPr dirty="0" baseline="1736" sz="48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endParaRPr sz="3200">
              <a:latin typeface="Symbol"/>
              <a:cs typeface="Symbol"/>
            </a:endParaRPr>
          </a:p>
          <a:p>
            <a:pPr marL="306070">
              <a:lnSpc>
                <a:spcPct val="100000"/>
              </a:lnSpc>
              <a:spcBef>
                <a:spcPts val="575"/>
              </a:spcBef>
              <a:tabLst>
                <a:tab pos="1952625" algn="l"/>
              </a:tabLst>
            </a:pP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baseline="-1736" sz="4800" b="1">
                <a:solidFill>
                  <a:srgbClr val="FFFF00"/>
                </a:solidFill>
                <a:latin typeface="Symbol"/>
                <a:cs typeface="Symbol"/>
              </a:rPr>
              <a:t></a:t>
            </a:r>
            <a:endParaRPr baseline="-1736" sz="4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486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9795" y="2810255"/>
            <a:ext cx="5759450" cy="3705225"/>
          </a:xfrm>
          <a:custGeom>
            <a:avLst/>
            <a:gdLst/>
            <a:ahLst/>
            <a:cxnLst/>
            <a:rect l="l" t="t" r="r" b="b"/>
            <a:pathLst>
              <a:path w="5759450" h="3705225">
                <a:moveTo>
                  <a:pt x="0" y="3704844"/>
                </a:moveTo>
                <a:lnTo>
                  <a:pt x="5759196" y="3704844"/>
                </a:lnTo>
                <a:lnTo>
                  <a:pt x="5759196" y="0"/>
                </a:lnTo>
                <a:lnTo>
                  <a:pt x="0" y="0"/>
                </a:lnTo>
                <a:lnTo>
                  <a:pt x="0" y="3704844"/>
                </a:lnTo>
                <a:close/>
              </a:path>
            </a:pathLst>
          </a:custGeom>
          <a:ln w="57150">
            <a:solidFill>
              <a:srgbClr val="66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84882" y="5626608"/>
            <a:ext cx="455930" cy="114300"/>
          </a:xfrm>
          <a:custGeom>
            <a:avLst/>
            <a:gdLst/>
            <a:ahLst/>
            <a:cxnLst/>
            <a:rect l="l" t="t" r="r" b="b"/>
            <a:pathLst>
              <a:path w="45593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45593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455930" h="114300">
                <a:moveTo>
                  <a:pt x="455675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455675" y="76199"/>
                </a:lnTo>
                <a:lnTo>
                  <a:pt x="455675" y="38099"/>
                </a:lnTo>
                <a:close/>
              </a:path>
            </a:pathLst>
          </a:custGeom>
          <a:solidFill>
            <a:srgbClr val="66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55419" y="5355132"/>
            <a:ext cx="355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66FF66"/>
                </a:solidFill>
                <a:latin typeface="Times New Roman"/>
                <a:cs typeface="Times New Roman"/>
              </a:rPr>
              <a:t>C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30725" y="5468620"/>
            <a:ext cx="804545" cy="413384"/>
          </a:xfrm>
          <a:custGeom>
            <a:avLst/>
            <a:gdLst/>
            <a:ahLst/>
            <a:cxnLst/>
            <a:rect l="l" t="t" r="r" b="b"/>
            <a:pathLst>
              <a:path w="804545" h="413385">
                <a:moveTo>
                  <a:pt x="625050" y="345374"/>
                </a:moveTo>
                <a:lnTo>
                  <a:pt x="608076" y="379475"/>
                </a:lnTo>
                <a:lnTo>
                  <a:pt x="804037" y="413257"/>
                </a:lnTo>
                <a:lnTo>
                  <a:pt x="740750" y="353872"/>
                </a:lnTo>
                <a:lnTo>
                  <a:pt x="642112" y="353872"/>
                </a:lnTo>
                <a:lnTo>
                  <a:pt x="625050" y="345374"/>
                </a:lnTo>
                <a:close/>
              </a:path>
              <a:path w="804545" h="413385">
                <a:moveTo>
                  <a:pt x="642012" y="311298"/>
                </a:moveTo>
                <a:lnTo>
                  <a:pt x="625050" y="345374"/>
                </a:lnTo>
                <a:lnTo>
                  <a:pt x="642112" y="353872"/>
                </a:lnTo>
                <a:lnTo>
                  <a:pt x="659002" y="319760"/>
                </a:lnTo>
                <a:lnTo>
                  <a:pt x="642012" y="311298"/>
                </a:lnTo>
                <a:close/>
              </a:path>
              <a:path w="804545" h="413385">
                <a:moveTo>
                  <a:pt x="659002" y="277164"/>
                </a:moveTo>
                <a:lnTo>
                  <a:pt x="642012" y="311298"/>
                </a:lnTo>
                <a:lnTo>
                  <a:pt x="659002" y="319760"/>
                </a:lnTo>
                <a:lnTo>
                  <a:pt x="642112" y="353872"/>
                </a:lnTo>
                <a:lnTo>
                  <a:pt x="740750" y="353872"/>
                </a:lnTo>
                <a:lnTo>
                  <a:pt x="659002" y="277164"/>
                </a:lnTo>
                <a:close/>
              </a:path>
              <a:path w="804545" h="413385">
                <a:moveTo>
                  <a:pt x="17017" y="0"/>
                </a:moveTo>
                <a:lnTo>
                  <a:pt x="0" y="34035"/>
                </a:lnTo>
                <a:lnTo>
                  <a:pt x="625050" y="345374"/>
                </a:lnTo>
                <a:lnTo>
                  <a:pt x="642012" y="311298"/>
                </a:lnTo>
                <a:lnTo>
                  <a:pt x="1701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34761" y="3502914"/>
            <a:ext cx="1193800" cy="1282065"/>
          </a:xfrm>
          <a:custGeom>
            <a:avLst/>
            <a:gdLst/>
            <a:ahLst/>
            <a:cxnLst/>
            <a:rect l="l" t="t" r="r" b="b"/>
            <a:pathLst>
              <a:path w="1193800" h="1282064">
                <a:moveTo>
                  <a:pt x="0" y="1281684"/>
                </a:moveTo>
                <a:lnTo>
                  <a:pt x="1193291" y="1281684"/>
                </a:lnTo>
                <a:lnTo>
                  <a:pt x="1193291" y="0"/>
                </a:lnTo>
                <a:lnTo>
                  <a:pt x="0" y="0"/>
                </a:lnTo>
                <a:lnTo>
                  <a:pt x="0" y="128168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23581" y="3899153"/>
            <a:ext cx="1193800" cy="39814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7000">
              <a:lnSpc>
                <a:spcPts val="2800"/>
              </a:lnSpc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7465" y="4495038"/>
            <a:ext cx="1191895" cy="12820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algn="ctr" marL="88900" marR="81280">
              <a:lnSpc>
                <a:spcPct val="100000"/>
              </a:lnSpc>
              <a:spcBef>
                <a:spcPts val="525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＇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spc="-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aA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4761" y="5683758"/>
            <a:ext cx="1193800" cy="39814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0014">
              <a:lnSpc>
                <a:spcPts val="2360"/>
              </a:lnSpc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＇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49089" y="3875023"/>
            <a:ext cx="190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27803" y="4098797"/>
            <a:ext cx="807085" cy="609600"/>
          </a:xfrm>
          <a:custGeom>
            <a:avLst/>
            <a:gdLst/>
            <a:ahLst/>
            <a:cxnLst/>
            <a:rect l="l" t="t" r="r" b="b"/>
            <a:pathLst>
              <a:path w="807085" h="609600">
                <a:moveTo>
                  <a:pt x="642992" y="98767"/>
                </a:moveTo>
                <a:lnTo>
                  <a:pt x="0" y="579119"/>
                </a:lnTo>
                <a:lnTo>
                  <a:pt x="22860" y="609600"/>
                </a:lnTo>
                <a:lnTo>
                  <a:pt x="665761" y="129223"/>
                </a:lnTo>
                <a:lnTo>
                  <a:pt x="642992" y="98767"/>
                </a:lnTo>
                <a:close/>
              </a:path>
              <a:path w="807085" h="609600">
                <a:moveTo>
                  <a:pt x="742224" y="87375"/>
                </a:moveTo>
                <a:lnTo>
                  <a:pt x="658241" y="87375"/>
                </a:lnTo>
                <a:lnTo>
                  <a:pt x="680974" y="117856"/>
                </a:lnTo>
                <a:lnTo>
                  <a:pt x="665761" y="129223"/>
                </a:lnTo>
                <a:lnTo>
                  <a:pt x="688594" y="159765"/>
                </a:lnTo>
                <a:lnTo>
                  <a:pt x="742224" y="87375"/>
                </a:lnTo>
                <a:close/>
              </a:path>
              <a:path w="807085" h="609600">
                <a:moveTo>
                  <a:pt x="658241" y="87375"/>
                </a:moveTo>
                <a:lnTo>
                  <a:pt x="642992" y="98767"/>
                </a:lnTo>
                <a:lnTo>
                  <a:pt x="665761" y="129223"/>
                </a:lnTo>
                <a:lnTo>
                  <a:pt x="680974" y="117856"/>
                </a:lnTo>
                <a:lnTo>
                  <a:pt x="658241" y="87375"/>
                </a:lnTo>
                <a:close/>
              </a:path>
              <a:path w="807085" h="609600">
                <a:moveTo>
                  <a:pt x="806958" y="0"/>
                </a:moveTo>
                <a:lnTo>
                  <a:pt x="620141" y="68199"/>
                </a:lnTo>
                <a:lnTo>
                  <a:pt x="642992" y="98767"/>
                </a:lnTo>
                <a:lnTo>
                  <a:pt x="658241" y="87375"/>
                </a:lnTo>
                <a:lnTo>
                  <a:pt x="742224" y="87375"/>
                </a:lnTo>
                <a:lnTo>
                  <a:pt x="80695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39234" y="5030723"/>
            <a:ext cx="795655" cy="114300"/>
          </a:xfrm>
          <a:custGeom>
            <a:avLst/>
            <a:gdLst/>
            <a:ahLst/>
            <a:cxnLst/>
            <a:rect l="l" t="t" r="r" b="b"/>
            <a:pathLst>
              <a:path w="795654" h="114300">
                <a:moveTo>
                  <a:pt x="605027" y="0"/>
                </a:moveTo>
                <a:lnTo>
                  <a:pt x="605027" y="114300"/>
                </a:lnTo>
                <a:lnTo>
                  <a:pt x="732027" y="76200"/>
                </a:lnTo>
                <a:lnTo>
                  <a:pt x="624077" y="76200"/>
                </a:lnTo>
                <a:lnTo>
                  <a:pt x="624077" y="38100"/>
                </a:lnTo>
                <a:lnTo>
                  <a:pt x="732027" y="38100"/>
                </a:lnTo>
                <a:lnTo>
                  <a:pt x="605027" y="0"/>
                </a:lnTo>
                <a:close/>
              </a:path>
              <a:path w="795654" h="114300">
                <a:moveTo>
                  <a:pt x="60502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5027" y="76200"/>
                </a:lnTo>
                <a:lnTo>
                  <a:pt x="605027" y="38100"/>
                </a:lnTo>
                <a:close/>
              </a:path>
              <a:path w="795654" h="114300">
                <a:moveTo>
                  <a:pt x="732027" y="38100"/>
                </a:moveTo>
                <a:lnTo>
                  <a:pt x="624077" y="38100"/>
                </a:lnTo>
                <a:lnTo>
                  <a:pt x="624077" y="76200"/>
                </a:lnTo>
                <a:lnTo>
                  <a:pt x="732027" y="76200"/>
                </a:lnTo>
                <a:lnTo>
                  <a:pt x="795527" y="57150"/>
                </a:lnTo>
                <a:lnTo>
                  <a:pt x="73202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334761" y="4891278"/>
            <a:ext cx="1193800" cy="3962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8595">
              <a:lnSpc>
                <a:spcPts val="2840"/>
              </a:lnSpc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28054" y="4037076"/>
            <a:ext cx="795655" cy="114300"/>
          </a:xfrm>
          <a:custGeom>
            <a:avLst/>
            <a:gdLst/>
            <a:ahLst/>
            <a:cxnLst/>
            <a:rect l="l" t="t" r="r" b="b"/>
            <a:pathLst>
              <a:path w="795654" h="114300">
                <a:moveTo>
                  <a:pt x="605027" y="0"/>
                </a:moveTo>
                <a:lnTo>
                  <a:pt x="605027" y="114300"/>
                </a:lnTo>
                <a:lnTo>
                  <a:pt x="732027" y="76200"/>
                </a:lnTo>
                <a:lnTo>
                  <a:pt x="624077" y="76200"/>
                </a:lnTo>
                <a:lnTo>
                  <a:pt x="624077" y="38100"/>
                </a:lnTo>
                <a:lnTo>
                  <a:pt x="732027" y="38100"/>
                </a:lnTo>
                <a:lnTo>
                  <a:pt x="605027" y="0"/>
                </a:lnTo>
                <a:close/>
              </a:path>
              <a:path w="795654" h="114300">
                <a:moveTo>
                  <a:pt x="60502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5027" y="76200"/>
                </a:lnTo>
                <a:lnTo>
                  <a:pt x="605027" y="38100"/>
                </a:lnTo>
                <a:close/>
              </a:path>
              <a:path w="795654" h="114300">
                <a:moveTo>
                  <a:pt x="732027" y="38100"/>
                </a:moveTo>
                <a:lnTo>
                  <a:pt x="624077" y="38100"/>
                </a:lnTo>
                <a:lnTo>
                  <a:pt x="624077" y="76200"/>
                </a:lnTo>
                <a:lnTo>
                  <a:pt x="732027" y="76200"/>
                </a:lnTo>
                <a:lnTo>
                  <a:pt x="795527" y="57150"/>
                </a:lnTo>
                <a:lnTo>
                  <a:pt x="73202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11290" y="4277867"/>
            <a:ext cx="245110" cy="863600"/>
          </a:xfrm>
          <a:custGeom>
            <a:avLst/>
            <a:gdLst/>
            <a:ahLst/>
            <a:cxnLst/>
            <a:rect l="l" t="t" r="r" b="b"/>
            <a:pathLst>
              <a:path w="245109" h="863600">
                <a:moveTo>
                  <a:pt x="142620" y="724534"/>
                </a:moveTo>
                <a:lnTo>
                  <a:pt x="0" y="863091"/>
                </a:lnTo>
                <a:lnTo>
                  <a:pt x="195325" y="825880"/>
                </a:lnTo>
                <a:lnTo>
                  <a:pt x="182050" y="800353"/>
                </a:lnTo>
                <a:lnTo>
                  <a:pt x="161798" y="800353"/>
                </a:lnTo>
                <a:lnTo>
                  <a:pt x="142366" y="767587"/>
                </a:lnTo>
                <a:lnTo>
                  <a:pt x="154519" y="760418"/>
                </a:lnTo>
                <a:lnTo>
                  <a:pt x="157505" y="753156"/>
                </a:lnTo>
                <a:lnTo>
                  <a:pt x="142620" y="724534"/>
                </a:lnTo>
                <a:close/>
              </a:path>
              <a:path w="245109" h="863600">
                <a:moveTo>
                  <a:pt x="154519" y="760418"/>
                </a:moveTo>
                <a:lnTo>
                  <a:pt x="142366" y="767587"/>
                </a:lnTo>
                <a:lnTo>
                  <a:pt x="161798" y="800353"/>
                </a:lnTo>
                <a:lnTo>
                  <a:pt x="177296" y="791211"/>
                </a:lnTo>
                <a:lnTo>
                  <a:pt x="164284" y="766190"/>
                </a:lnTo>
                <a:lnTo>
                  <a:pt x="152145" y="766190"/>
                </a:lnTo>
                <a:lnTo>
                  <a:pt x="154519" y="760418"/>
                </a:lnTo>
                <a:close/>
              </a:path>
              <a:path w="245109" h="863600">
                <a:moveTo>
                  <a:pt x="177296" y="791211"/>
                </a:moveTo>
                <a:lnTo>
                  <a:pt x="161798" y="800353"/>
                </a:lnTo>
                <a:lnTo>
                  <a:pt x="182050" y="800353"/>
                </a:lnTo>
                <a:lnTo>
                  <a:pt x="177296" y="791211"/>
                </a:lnTo>
                <a:close/>
              </a:path>
              <a:path w="245109" h="863600">
                <a:moveTo>
                  <a:pt x="196753" y="757173"/>
                </a:moveTo>
                <a:lnTo>
                  <a:pt x="160019" y="757173"/>
                </a:lnTo>
                <a:lnTo>
                  <a:pt x="159753" y="757479"/>
                </a:lnTo>
                <a:lnTo>
                  <a:pt x="177296" y="791211"/>
                </a:lnTo>
                <a:lnTo>
                  <a:pt x="179450" y="789939"/>
                </a:lnTo>
                <a:lnTo>
                  <a:pt x="183006" y="787780"/>
                </a:lnTo>
                <a:lnTo>
                  <a:pt x="185800" y="784605"/>
                </a:lnTo>
                <a:lnTo>
                  <a:pt x="187325" y="780795"/>
                </a:lnTo>
                <a:lnTo>
                  <a:pt x="193548" y="765936"/>
                </a:lnTo>
                <a:lnTo>
                  <a:pt x="196753" y="757173"/>
                </a:lnTo>
                <a:close/>
              </a:path>
              <a:path w="245109" h="863600">
                <a:moveTo>
                  <a:pt x="159694" y="757365"/>
                </a:moveTo>
                <a:lnTo>
                  <a:pt x="154519" y="760418"/>
                </a:lnTo>
                <a:lnTo>
                  <a:pt x="152145" y="766190"/>
                </a:lnTo>
                <a:lnTo>
                  <a:pt x="159753" y="757479"/>
                </a:lnTo>
                <a:close/>
              </a:path>
              <a:path w="245109" h="863600">
                <a:moveTo>
                  <a:pt x="159753" y="757479"/>
                </a:moveTo>
                <a:lnTo>
                  <a:pt x="152145" y="766190"/>
                </a:lnTo>
                <a:lnTo>
                  <a:pt x="164284" y="766190"/>
                </a:lnTo>
                <a:lnTo>
                  <a:pt x="159753" y="757479"/>
                </a:lnTo>
                <a:close/>
              </a:path>
              <a:path w="245109" h="863600">
                <a:moveTo>
                  <a:pt x="157505" y="753156"/>
                </a:moveTo>
                <a:lnTo>
                  <a:pt x="154519" y="760418"/>
                </a:lnTo>
                <a:lnTo>
                  <a:pt x="159694" y="757365"/>
                </a:lnTo>
                <a:lnTo>
                  <a:pt x="157505" y="753156"/>
                </a:lnTo>
                <a:close/>
              </a:path>
              <a:path w="245109" h="863600">
                <a:moveTo>
                  <a:pt x="160019" y="757173"/>
                </a:moveTo>
                <a:lnTo>
                  <a:pt x="159694" y="757365"/>
                </a:lnTo>
                <a:lnTo>
                  <a:pt x="160019" y="757173"/>
                </a:lnTo>
                <a:close/>
              </a:path>
              <a:path w="245109" h="863600">
                <a:moveTo>
                  <a:pt x="56260" y="0"/>
                </a:moveTo>
                <a:lnTo>
                  <a:pt x="53720" y="38099"/>
                </a:lnTo>
                <a:lnTo>
                  <a:pt x="62483" y="38607"/>
                </a:lnTo>
                <a:lnTo>
                  <a:pt x="68706" y="40004"/>
                </a:lnTo>
                <a:lnTo>
                  <a:pt x="107950" y="66674"/>
                </a:lnTo>
                <a:lnTo>
                  <a:pt x="134238" y="103123"/>
                </a:lnTo>
                <a:lnTo>
                  <a:pt x="152400" y="139572"/>
                </a:lnTo>
                <a:lnTo>
                  <a:pt x="168528" y="183006"/>
                </a:lnTo>
                <a:lnTo>
                  <a:pt x="182371" y="232536"/>
                </a:lnTo>
                <a:lnTo>
                  <a:pt x="193420" y="287400"/>
                </a:lnTo>
                <a:lnTo>
                  <a:pt x="199135" y="326389"/>
                </a:lnTo>
                <a:lnTo>
                  <a:pt x="203200" y="367156"/>
                </a:lnTo>
                <a:lnTo>
                  <a:pt x="205739" y="409447"/>
                </a:lnTo>
                <a:lnTo>
                  <a:pt x="206501" y="453008"/>
                </a:lnTo>
                <a:lnTo>
                  <a:pt x="205612" y="496569"/>
                </a:lnTo>
                <a:lnTo>
                  <a:pt x="203073" y="538860"/>
                </a:lnTo>
                <a:lnTo>
                  <a:pt x="199008" y="579627"/>
                </a:lnTo>
                <a:lnTo>
                  <a:pt x="193293" y="618616"/>
                </a:lnTo>
                <a:lnTo>
                  <a:pt x="182244" y="673226"/>
                </a:lnTo>
                <a:lnTo>
                  <a:pt x="168401" y="722756"/>
                </a:lnTo>
                <a:lnTo>
                  <a:pt x="157505" y="753156"/>
                </a:lnTo>
                <a:lnTo>
                  <a:pt x="159694" y="757365"/>
                </a:lnTo>
                <a:lnTo>
                  <a:pt x="160019" y="757173"/>
                </a:lnTo>
                <a:lnTo>
                  <a:pt x="196753" y="757173"/>
                </a:lnTo>
                <a:lnTo>
                  <a:pt x="199262" y="750315"/>
                </a:lnTo>
                <a:lnTo>
                  <a:pt x="214883" y="699769"/>
                </a:lnTo>
                <a:lnTo>
                  <a:pt x="231012" y="624204"/>
                </a:lnTo>
                <a:lnTo>
                  <a:pt x="236854" y="583564"/>
                </a:lnTo>
                <a:lnTo>
                  <a:pt x="241173" y="541146"/>
                </a:lnTo>
                <a:lnTo>
                  <a:pt x="243712" y="497331"/>
                </a:lnTo>
                <a:lnTo>
                  <a:pt x="244601" y="452246"/>
                </a:lnTo>
                <a:lnTo>
                  <a:pt x="243712" y="407161"/>
                </a:lnTo>
                <a:lnTo>
                  <a:pt x="241045" y="363346"/>
                </a:lnTo>
                <a:lnTo>
                  <a:pt x="236727" y="320928"/>
                </a:lnTo>
                <a:lnTo>
                  <a:pt x="230885" y="280288"/>
                </a:lnTo>
                <a:lnTo>
                  <a:pt x="223519" y="241680"/>
                </a:lnTo>
                <a:lnTo>
                  <a:pt x="209803" y="187578"/>
                </a:lnTo>
                <a:lnTo>
                  <a:pt x="193293" y="138683"/>
                </a:lnTo>
                <a:lnTo>
                  <a:pt x="173735" y="96011"/>
                </a:lnTo>
                <a:lnTo>
                  <a:pt x="151383" y="59689"/>
                </a:lnTo>
                <a:lnTo>
                  <a:pt x="125983" y="30860"/>
                </a:lnTo>
                <a:lnTo>
                  <a:pt x="86613" y="5841"/>
                </a:lnTo>
                <a:lnTo>
                  <a:pt x="65024" y="634"/>
                </a:lnTo>
                <a:lnTo>
                  <a:pt x="5626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33185" y="3203448"/>
            <a:ext cx="752475" cy="554355"/>
          </a:xfrm>
          <a:custGeom>
            <a:avLst/>
            <a:gdLst/>
            <a:ahLst/>
            <a:cxnLst/>
            <a:rect l="l" t="t" r="r" b="b"/>
            <a:pathLst>
              <a:path w="752475" h="554354">
                <a:moveTo>
                  <a:pt x="666622" y="373634"/>
                </a:moveTo>
                <a:lnTo>
                  <a:pt x="582803" y="553974"/>
                </a:lnTo>
                <a:lnTo>
                  <a:pt x="752093" y="449452"/>
                </a:lnTo>
                <a:lnTo>
                  <a:pt x="737490" y="436499"/>
                </a:lnTo>
                <a:lnTo>
                  <a:pt x="712469" y="436499"/>
                </a:lnTo>
                <a:lnTo>
                  <a:pt x="680973" y="415035"/>
                </a:lnTo>
                <a:lnTo>
                  <a:pt x="693196" y="397207"/>
                </a:lnTo>
                <a:lnTo>
                  <a:pt x="666622" y="373634"/>
                </a:lnTo>
                <a:close/>
              </a:path>
              <a:path w="752475" h="554354">
                <a:moveTo>
                  <a:pt x="693196" y="397207"/>
                </a:moveTo>
                <a:lnTo>
                  <a:pt x="680973" y="415035"/>
                </a:lnTo>
                <a:lnTo>
                  <a:pt x="712469" y="436499"/>
                </a:lnTo>
                <a:lnTo>
                  <a:pt x="721887" y="422657"/>
                </a:lnTo>
                <a:lnTo>
                  <a:pt x="693196" y="397207"/>
                </a:lnTo>
                <a:close/>
              </a:path>
              <a:path w="752475" h="554354">
                <a:moveTo>
                  <a:pt x="721887" y="422657"/>
                </a:moveTo>
                <a:lnTo>
                  <a:pt x="712469" y="436499"/>
                </a:lnTo>
                <a:lnTo>
                  <a:pt x="737490" y="436499"/>
                </a:lnTo>
                <a:lnTo>
                  <a:pt x="721887" y="422657"/>
                </a:lnTo>
                <a:close/>
              </a:path>
              <a:path w="752475" h="554354">
                <a:moveTo>
                  <a:pt x="696229" y="392783"/>
                </a:moveTo>
                <a:lnTo>
                  <a:pt x="693196" y="397207"/>
                </a:lnTo>
                <a:lnTo>
                  <a:pt x="721887" y="422657"/>
                </a:lnTo>
                <a:lnTo>
                  <a:pt x="729234" y="411860"/>
                </a:lnTo>
                <a:lnTo>
                  <a:pt x="730249" y="410337"/>
                </a:lnTo>
                <a:lnTo>
                  <a:pt x="731138" y="408813"/>
                </a:lnTo>
                <a:lnTo>
                  <a:pt x="731646" y="407034"/>
                </a:lnTo>
                <a:lnTo>
                  <a:pt x="735514" y="395097"/>
                </a:lnTo>
                <a:lnTo>
                  <a:pt x="695452" y="395097"/>
                </a:lnTo>
                <a:lnTo>
                  <a:pt x="696229" y="392783"/>
                </a:lnTo>
                <a:close/>
              </a:path>
              <a:path w="752475" h="554354">
                <a:moveTo>
                  <a:pt x="697864" y="390398"/>
                </a:moveTo>
                <a:lnTo>
                  <a:pt x="696229" y="392783"/>
                </a:lnTo>
                <a:lnTo>
                  <a:pt x="695452" y="395097"/>
                </a:lnTo>
                <a:lnTo>
                  <a:pt x="697864" y="390398"/>
                </a:lnTo>
                <a:close/>
              </a:path>
              <a:path w="752475" h="554354">
                <a:moveTo>
                  <a:pt x="737036" y="390398"/>
                </a:moveTo>
                <a:lnTo>
                  <a:pt x="697864" y="390398"/>
                </a:lnTo>
                <a:lnTo>
                  <a:pt x="695452" y="395097"/>
                </a:lnTo>
                <a:lnTo>
                  <a:pt x="735514" y="395097"/>
                </a:lnTo>
                <a:lnTo>
                  <a:pt x="737036" y="390398"/>
                </a:lnTo>
                <a:close/>
              </a:path>
              <a:path w="752475" h="554354">
                <a:moveTo>
                  <a:pt x="552017" y="38100"/>
                </a:moveTo>
                <a:lnTo>
                  <a:pt x="373379" y="38100"/>
                </a:lnTo>
                <a:lnTo>
                  <a:pt x="390905" y="38480"/>
                </a:lnTo>
                <a:lnTo>
                  <a:pt x="408177" y="39624"/>
                </a:lnTo>
                <a:lnTo>
                  <a:pt x="458342" y="47116"/>
                </a:lnTo>
                <a:lnTo>
                  <a:pt x="505713" y="60451"/>
                </a:lnTo>
                <a:lnTo>
                  <a:pt x="549401" y="79121"/>
                </a:lnTo>
                <a:lnTo>
                  <a:pt x="589407" y="102742"/>
                </a:lnTo>
                <a:lnTo>
                  <a:pt x="623950" y="130301"/>
                </a:lnTo>
                <a:lnTo>
                  <a:pt x="653668" y="161925"/>
                </a:lnTo>
                <a:lnTo>
                  <a:pt x="677671" y="196723"/>
                </a:lnTo>
                <a:lnTo>
                  <a:pt x="695324" y="234187"/>
                </a:lnTo>
                <a:lnTo>
                  <a:pt x="706246" y="273938"/>
                </a:lnTo>
                <a:lnTo>
                  <a:pt x="709930" y="315594"/>
                </a:lnTo>
                <a:lnTo>
                  <a:pt x="709294" y="331850"/>
                </a:lnTo>
                <a:lnTo>
                  <a:pt x="707516" y="348234"/>
                </a:lnTo>
                <a:lnTo>
                  <a:pt x="704595" y="363981"/>
                </a:lnTo>
                <a:lnTo>
                  <a:pt x="700659" y="379602"/>
                </a:lnTo>
                <a:lnTo>
                  <a:pt x="696229" y="392783"/>
                </a:lnTo>
                <a:lnTo>
                  <a:pt x="697864" y="390398"/>
                </a:lnTo>
                <a:lnTo>
                  <a:pt x="737036" y="390398"/>
                </a:lnTo>
                <a:lnTo>
                  <a:pt x="737488" y="389000"/>
                </a:lnTo>
                <a:lnTo>
                  <a:pt x="742061" y="370839"/>
                </a:lnTo>
                <a:lnTo>
                  <a:pt x="745489" y="352043"/>
                </a:lnTo>
                <a:lnTo>
                  <a:pt x="747394" y="333375"/>
                </a:lnTo>
                <a:lnTo>
                  <a:pt x="748030" y="314451"/>
                </a:lnTo>
                <a:lnTo>
                  <a:pt x="747521" y="298068"/>
                </a:lnTo>
                <a:lnTo>
                  <a:pt x="740156" y="250316"/>
                </a:lnTo>
                <a:lnTo>
                  <a:pt x="724535" y="205104"/>
                </a:lnTo>
                <a:lnTo>
                  <a:pt x="701674" y="163067"/>
                </a:lnTo>
                <a:lnTo>
                  <a:pt x="672084" y="124840"/>
                </a:lnTo>
                <a:lnTo>
                  <a:pt x="636650" y="90804"/>
                </a:lnTo>
                <a:lnTo>
                  <a:pt x="581024" y="52831"/>
                </a:lnTo>
                <a:lnTo>
                  <a:pt x="565785" y="44703"/>
                </a:lnTo>
                <a:lnTo>
                  <a:pt x="552017" y="38100"/>
                </a:lnTo>
                <a:close/>
              </a:path>
              <a:path w="752475" h="554354">
                <a:moveTo>
                  <a:pt x="372744" y="0"/>
                </a:moveTo>
                <a:lnTo>
                  <a:pt x="319913" y="3175"/>
                </a:lnTo>
                <a:lnTo>
                  <a:pt x="269493" y="12191"/>
                </a:lnTo>
                <a:lnTo>
                  <a:pt x="205612" y="33019"/>
                </a:lnTo>
                <a:lnTo>
                  <a:pt x="148336" y="62737"/>
                </a:lnTo>
                <a:lnTo>
                  <a:pt x="98171" y="100456"/>
                </a:lnTo>
                <a:lnTo>
                  <a:pt x="66548" y="133223"/>
                </a:lnTo>
                <a:lnTo>
                  <a:pt x="39877" y="170052"/>
                </a:lnTo>
                <a:lnTo>
                  <a:pt x="19303" y="210057"/>
                </a:lnTo>
                <a:lnTo>
                  <a:pt x="5206" y="252984"/>
                </a:lnTo>
                <a:lnTo>
                  <a:pt x="0" y="282066"/>
                </a:lnTo>
                <a:lnTo>
                  <a:pt x="37591" y="287654"/>
                </a:lnTo>
                <a:lnTo>
                  <a:pt x="39750" y="273685"/>
                </a:lnTo>
                <a:lnTo>
                  <a:pt x="42417" y="260985"/>
                </a:lnTo>
                <a:lnTo>
                  <a:pt x="54737" y="224027"/>
                </a:lnTo>
                <a:lnTo>
                  <a:pt x="72771" y="189229"/>
                </a:lnTo>
                <a:lnTo>
                  <a:pt x="96265" y="157099"/>
                </a:lnTo>
                <a:lnTo>
                  <a:pt x="124967" y="127762"/>
                </a:lnTo>
                <a:lnTo>
                  <a:pt x="169925" y="94106"/>
                </a:lnTo>
                <a:lnTo>
                  <a:pt x="221741" y="67563"/>
                </a:lnTo>
                <a:lnTo>
                  <a:pt x="264160" y="52831"/>
                </a:lnTo>
                <a:lnTo>
                  <a:pt x="309499" y="43052"/>
                </a:lnTo>
                <a:lnTo>
                  <a:pt x="357124" y="38353"/>
                </a:lnTo>
                <a:lnTo>
                  <a:pt x="373379" y="38100"/>
                </a:lnTo>
                <a:lnTo>
                  <a:pt x="552017" y="38100"/>
                </a:lnTo>
                <a:lnTo>
                  <a:pt x="550163" y="37211"/>
                </a:lnTo>
                <a:lnTo>
                  <a:pt x="500634" y="18668"/>
                </a:lnTo>
                <a:lnTo>
                  <a:pt x="447548" y="6223"/>
                </a:lnTo>
                <a:lnTo>
                  <a:pt x="391667" y="380"/>
                </a:lnTo>
                <a:lnTo>
                  <a:pt x="37274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615683" y="2965195"/>
            <a:ext cx="375920" cy="1163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5730">
              <a:lnSpc>
                <a:spcPct val="100000"/>
              </a:lnSpc>
              <a:spcBef>
                <a:spcPts val="224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18505" y="3003052"/>
            <a:ext cx="1083945" cy="149415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algn="just" marL="156210" marR="5080">
              <a:lnSpc>
                <a:spcPct val="100000"/>
              </a:lnSpc>
              <a:spcBef>
                <a:spcPts val="425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spc="-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spc="-5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aA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26685" y="4469968"/>
            <a:ext cx="2317115" cy="1642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95"/>
              </a:spcBef>
              <a:tabLst>
                <a:tab pos="2100580" algn="l"/>
              </a:tabLst>
            </a:pPr>
            <a:r>
              <a:rPr dirty="0" baseline="-30753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b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906270">
              <a:lnSpc>
                <a:spcPts val="3325"/>
              </a:lnSpc>
              <a:spcBef>
                <a:spcPts val="7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ts val="249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890395">
              <a:lnSpc>
                <a:spcPts val="349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99908" y="3489705"/>
            <a:ext cx="190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03346" y="4074033"/>
            <a:ext cx="190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69614" y="563118"/>
            <a:ext cx="5375275" cy="2139950"/>
          </a:xfrm>
          <a:custGeom>
            <a:avLst/>
            <a:gdLst/>
            <a:ahLst/>
            <a:cxnLst/>
            <a:rect l="l" t="t" r="r" b="b"/>
            <a:pathLst>
              <a:path w="5375275" h="2139950">
                <a:moveTo>
                  <a:pt x="0" y="2139695"/>
                </a:moveTo>
                <a:lnTo>
                  <a:pt x="5375147" y="2139695"/>
                </a:lnTo>
                <a:lnTo>
                  <a:pt x="5375147" y="0"/>
                </a:lnTo>
                <a:lnTo>
                  <a:pt x="0" y="0"/>
                </a:lnTo>
                <a:lnTo>
                  <a:pt x="0" y="2139695"/>
                </a:lnTo>
                <a:close/>
              </a:path>
            </a:pathLst>
          </a:custGeom>
          <a:solidFill>
            <a:srgbClr val="641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69614" y="563118"/>
            <a:ext cx="5375275" cy="2139950"/>
          </a:xfrm>
          <a:custGeom>
            <a:avLst/>
            <a:gdLst/>
            <a:ahLst/>
            <a:cxnLst/>
            <a:rect l="l" t="t" r="r" b="b"/>
            <a:pathLst>
              <a:path w="5375275" h="2139950">
                <a:moveTo>
                  <a:pt x="0" y="2139695"/>
                </a:moveTo>
                <a:lnTo>
                  <a:pt x="5375147" y="2139695"/>
                </a:lnTo>
                <a:lnTo>
                  <a:pt x="5375147" y="0"/>
                </a:lnTo>
                <a:lnTo>
                  <a:pt x="0" y="0"/>
                </a:lnTo>
                <a:lnTo>
                  <a:pt x="0" y="2139695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860927" y="539242"/>
            <a:ext cx="2509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句子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的分析：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27627" y="965733"/>
            <a:ext cx="1362710" cy="168973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Wingdings 3"/>
                <a:cs typeface="Wingdings 3"/>
              </a:rPr>
              <a:t>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u="heavy" sz="2800" spc="-110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Wingdings 3"/>
                <a:cs typeface="Wingdings 3"/>
              </a:rPr>
              <a:t></a:t>
            </a:r>
            <a:r>
              <a:rPr dirty="0" u="heavy" sz="2800" spc="-5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Wingdings 3"/>
                <a:cs typeface="Wingdings 3"/>
              </a:rPr>
              <a:t>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2800" spc="-110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Wingdings 3"/>
                <a:cs typeface="Wingdings 3"/>
              </a:rPr>
              <a:t></a:t>
            </a:r>
            <a:r>
              <a:rPr dirty="0" u="heavy" sz="2800" spc="-5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66FF99"/>
                </a:solidFill>
                <a:latin typeface="Wingdings 3"/>
                <a:cs typeface="Wingdings 3"/>
              </a:rPr>
              <a:t></a:t>
            </a:r>
            <a:r>
              <a:rPr dirty="0" sz="2800" spc="-5" b="1">
                <a:solidFill>
                  <a:srgbClr val="66FF99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25616" y="965733"/>
            <a:ext cx="2481580" cy="1689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7620">
              <a:lnSpc>
                <a:spcPct val="130000"/>
              </a:lnSpc>
              <a:spcBef>
                <a:spcPts val="100"/>
              </a:spcBef>
              <a:tabLst>
                <a:tab pos="502284" algn="l"/>
              </a:tabLst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r>
              <a:rPr dirty="0" sz="2800" spc="-3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r>
              <a:rPr dirty="0" sz="2800" spc="-9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	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’)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91262" y="3667505"/>
            <a:ext cx="1592580" cy="2792095"/>
          </a:xfrm>
          <a:custGeom>
            <a:avLst/>
            <a:gdLst/>
            <a:ahLst/>
            <a:cxnLst/>
            <a:rect l="l" t="t" r="r" b="b"/>
            <a:pathLst>
              <a:path w="1592580" h="2792095">
                <a:moveTo>
                  <a:pt x="0" y="2791968"/>
                </a:moveTo>
                <a:lnTo>
                  <a:pt x="1592580" y="2791968"/>
                </a:lnTo>
                <a:lnTo>
                  <a:pt x="1592580" y="0"/>
                </a:lnTo>
                <a:lnTo>
                  <a:pt x="0" y="0"/>
                </a:lnTo>
                <a:lnTo>
                  <a:pt x="0" y="2791968"/>
                </a:lnTo>
                <a:close/>
              </a:path>
            </a:pathLst>
          </a:custGeom>
          <a:solidFill>
            <a:srgbClr val="66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1262" y="3667505"/>
            <a:ext cx="1592580" cy="2792095"/>
          </a:xfrm>
          <a:custGeom>
            <a:avLst/>
            <a:gdLst/>
            <a:ahLst/>
            <a:cxnLst/>
            <a:rect l="l" t="t" r="r" b="b"/>
            <a:pathLst>
              <a:path w="1592580" h="2792095">
                <a:moveTo>
                  <a:pt x="0" y="2791968"/>
                </a:moveTo>
                <a:lnTo>
                  <a:pt x="1592580" y="2791968"/>
                </a:lnTo>
                <a:lnTo>
                  <a:pt x="1592580" y="0"/>
                </a:lnTo>
                <a:lnTo>
                  <a:pt x="0" y="0"/>
                </a:lnTo>
                <a:lnTo>
                  <a:pt x="0" y="2791968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65962" y="3552579"/>
            <a:ext cx="417195" cy="1277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3180">
              <a:lnSpc>
                <a:spcPct val="128299"/>
              </a:lnSpc>
              <a:spcBef>
                <a:spcPts val="100"/>
              </a:spcBef>
            </a:pPr>
            <a:r>
              <a:rPr dirty="0" sz="3200" spc="-10" b="1" i="1">
                <a:solidFill>
                  <a:srgbClr val="66FF99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66FF99"/>
                </a:solidFill>
                <a:latin typeface="Times New Roman"/>
                <a:cs typeface="Times New Roman"/>
              </a:rPr>
              <a:t>’  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24305" y="4120134"/>
            <a:ext cx="0" cy="355600"/>
          </a:xfrm>
          <a:custGeom>
            <a:avLst/>
            <a:gdLst/>
            <a:ahLst/>
            <a:cxnLst/>
            <a:rect l="l" t="t" r="r" b="b"/>
            <a:pathLst>
              <a:path w="0" h="355600">
                <a:moveTo>
                  <a:pt x="0" y="0"/>
                </a:moveTo>
                <a:lnTo>
                  <a:pt x="0" y="355092"/>
                </a:lnTo>
              </a:path>
            </a:pathLst>
          </a:custGeom>
          <a:ln w="38100">
            <a:solidFill>
              <a:srgbClr val="FF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352041" y="5935776"/>
            <a:ext cx="2165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4340" y="5000371"/>
            <a:ext cx="108204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96925" algn="l"/>
              </a:tabLst>
            </a:pP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08125" y="4830317"/>
            <a:ext cx="325120" cy="330835"/>
          </a:xfrm>
          <a:custGeom>
            <a:avLst/>
            <a:gdLst/>
            <a:ahLst/>
            <a:cxnLst/>
            <a:rect l="l" t="t" r="r" b="b"/>
            <a:pathLst>
              <a:path w="325119" h="330835">
                <a:moveTo>
                  <a:pt x="0" y="0"/>
                </a:moveTo>
                <a:lnTo>
                  <a:pt x="324612" y="330707"/>
                </a:lnTo>
              </a:path>
            </a:pathLst>
          </a:custGeom>
          <a:ln w="38100">
            <a:solidFill>
              <a:srgbClr val="FF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87501" y="4840985"/>
            <a:ext cx="349250" cy="320040"/>
          </a:xfrm>
          <a:custGeom>
            <a:avLst/>
            <a:gdLst/>
            <a:ahLst/>
            <a:cxnLst/>
            <a:rect l="l" t="t" r="r" b="b"/>
            <a:pathLst>
              <a:path w="349250" h="320039">
                <a:moveTo>
                  <a:pt x="348995" y="0"/>
                </a:moveTo>
                <a:lnTo>
                  <a:pt x="0" y="320039"/>
                </a:lnTo>
              </a:path>
            </a:pathLst>
          </a:custGeom>
          <a:ln w="38100">
            <a:solidFill>
              <a:srgbClr val="FF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447038" y="5519165"/>
            <a:ext cx="0" cy="542925"/>
          </a:xfrm>
          <a:custGeom>
            <a:avLst/>
            <a:gdLst/>
            <a:ahLst/>
            <a:cxnLst/>
            <a:rect l="l" t="t" r="r" b="b"/>
            <a:pathLst>
              <a:path w="0" h="542925">
                <a:moveTo>
                  <a:pt x="0" y="0"/>
                </a:moveTo>
                <a:lnTo>
                  <a:pt x="0" y="542544"/>
                </a:lnTo>
              </a:path>
            </a:pathLst>
          </a:custGeom>
          <a:ln w="38100">
            <a:solidFill>
              <a:srgbClr val="FF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87247" y="2560066"/>
            <a:ext cx="958850" cy="792480"/>
          </a:xfrm>
          <a:custGeom>
            <a:avLst/>
            <a:gdLst/>
            <a:ahLst/>
            <a:cxnLst/>
            <a:rect l="l" t="t" r="r" b="b"/>
            <a:pathLst>
              <a:path w="958850" h="792479">
                <a:moveTo>
                  <a:pt x="799201" y="685739"/>
                </a:moveTo>
                <a:lnTo>
                  <a:pt x="774979" y="715263"/>
                </a:lnTo>
                <a:lnTo>
                  <a:pt x="958494" y="791972"/>
                </a:lnTo>
                <a:lnTo>
                  <a:pt x="895225" y="697864"/>
                </a:lnTo>
                <a:lnTo>
                  <a:pt x="813968" y="697864"/>
                </a:lnTo>
                <a:lnTo>
                  <a:pt x="799201" y="685739"/>
                </a:lnTo>
                <a:close/>
              </a:path>
              <a:path w="958850" h="792479">
                <a:moveTo>
                  <a:pt x="823357" y="656295"/>
                </a:moveTo>
                <a:lnTo>
                  <a:pt x="799201" y="685739"/>
                </a:lnTo>
                <a:lnTo>
                  <a:pt x="813968" y="697864"/>
                </a:lnTo>
                <a:lnTo>
                  <a:pt x="838098" y="668401"/>
                </a:lnTo>
                <a:lnTo>
                  <a:pt x="823357" y="656295"/>
                </a:lnTo>
                <a:close/>
              </a:path>
              <a:path w="958850" h="792479">
                <a:moveTo>
                  <a:pt x="847496" y="626872"/>
                </a:moveTo>
                <a:lnTo>
                  <a:pt x="823357" y="656295"/>
                </a:lnTo>
                <a:lnTo>
                  <a:pt x="838098" y="668401"/>
                </a:lnTo>
                <a:lnTo>
                  <a:pt x="813968" y="697864"/>
                </a:lnTo>
                <a:lnTo>
                  <a:pt x="895225" y="697864"/>
                </a:lnTo>
                <a:lnTo>
                  <a:pt x="847496" y="626872"/>
                </a:lnTo>
                <a:close/>
              </a:path>
              <a:path w="958850" h="792479">
                <a:moveTo>
                  <a:pt x="24180" y="0"/>
                </a:moveTo>
                <a:lnTo>
                  <a:pt x="0" y="29463"/>
                </a:lnTo>
                <a:lnTo>
                  <a:pt x="799201" y="685739"/>
                </a:lnTo>
                <a:lnTo>
                  <a:pt x="823357" y="656295"/>
                </a:lnTo>
                <a:lnTo>
                  <a:pt x="2418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74142" y="452755"/>
            <a:ext cx="3269615" cy="8382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435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识别活前缀的</a:t>
            </a:r>
            <a:r>
              <a:rPr dirty="0" u="heavy" sz="3200" spc="-16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  <a:p>
            <a:pPr algn="ctr" marL="749935">
              <a:lnSpc>
                <a:spcPts val="2955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0655" y="156311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78839" y="1648205"/>
            <a:ext cx="675005" cy="548640"/>
          </a:xfrm>
          <a:custGeom>
            <a:avLst/>
            <a:gdLst/>
            <a:ahLst/>
            <a:cxnLst/>
            <a:rect l="l" t="t" r="r" b="b"/>
            <a:pathLst>
              <a:path w="675005" h="548639">
                <a:moveTo>
                  <a:pt x="514444" y="104565"/>
                </a:moveTo>
                <a:lnTo>
                  <a:pt x="0" y="518541"/>
                </a:lnTo>
                <a:lnTo>
                  <a:pt x="23875" y="548259"/>
                </a:lnTo>
                <a:lnTo>
                  <a:pt x="538341" y="134267"/>
                </a:lnTo>
                <a:lnTo>
                  <a:pt x="514444" y="104565"/>
                </a:lnTo>
                <a:close/>
              </a:path>
              <a:path w="675005" h="548639">
                <a:moveTo>
                  <a:pt x="611267" y="92583"/>
                </a:moveTo>
                <a:lnTo>
                  <a:pt x="529335" y="92583"/>
                </a:lnTo>
                <a:lnTo>
                  <a:pt x="553212" y="122301"/>
                </a:lnTo>
                <a:lnTo>
                  <a:pt x="538341" y="134267"/>
                </a:lnTo>
                <a:lnTo>
                  <a:pt x="562229" y="163957"/>
                </a:lnTo>
                <a:lnTo>
                  <a:pt x="611267" y="92583"/>
                </a:lnTo>
                <a:close/>
              </a:path>
              <a:path w="675005" h="548639">
                <a:moveTo>
                  <a:pt x="529335" y="92583"/>
                </a:moveTo>
                <a:lnTo>
                  <a:pt x="514444" y="104565"/>
                </a:lnTo>
                <a:lnTo>
                  <a:pt x="538341" y="134267"/>
                </a:lnTo>
                <a:lnTo>
                  <a:pt x="553212" y="122301"/>
                </a:lnTo>
                <a:lnTo>
                  <a:pt x="529335" y="92583"/>
                </a:lnTo>
                <a:close/>
              </a:path>
              <a:path w="675005" h="548639">
                <a:moveTo>
                  <a:pt x="674878" y="0"/>
                </a:moveTo>
                <a:lnTo>
                  <a:pt x="490600" y="74930"/>
                </a:lnTo>
                <a:lnTo>
                  <a:pt x="514444" y="104565"/>
                </a:lnTo>
                <a:lnTo>
                  <a:pt x="529335" y="92583"/>
                </a:lnTo>
                <a:lnTo>
                  <a:pt x="611267" y="92583"/>
                </a:lnTo>
                <a:lnTo>
                  <a:pt x="67487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96062" y="2120645"/>
            <a:ext cx="459105" cy="462280"/>
          </a:xfrm>
          <a:custGeom>
            <a:avLst/>
            <a:gdLst/>
            <a:ahLst/>
            <a:cxnLst/>
            <a:rect l="l" t="t" r="r" b="b"/>
            <a:pathLst>
              <a:path w="459105" h="462280">
                <a:moveTo>
                  <a:pt x="0" y="230886"/>
                </a:moveTo>
                <a:lnTo>
                  <a:pt x="4659" y="184356"/>
                </a:lnTo>
                <a:lnTo>
                  <a:pt x="18024" y="141017"/>
                </a:lnTo>
                <a:lnTo>
                  <a:pt x="39172" y="101798"/>
                </a:lnTo>
                <a:lnTo>
                  <a:pt x="67179" y="67627"/>
                </a:lnTo>
                <a:lnTo>
                  <a:pt x="101124" y="39433"/>
                </a:lnTo>
                <a:lnTo>
                  <a:pt x="140085" y="18145"/>
                </a:lnTo>
                <a:lnTo>
                  <a:pt x="183138" y="4691"/>
                </a:lnTo>
                <a:lnTo>
                  <a:pt x="229361" y="0"/>
                </a:lnTo>
                <a:lnTo>
                  <a:pt x="275585" y="4691"/>
                </a:lnTo>
                <a:lnTo>
                  <a:pt x="318638" y="18145"/>
                </a:lnTo>
                <a:lnTo>
                  <a:pt x="357599" y="39433"/>
                </a:lnTo>
                <a:lnTo>
                  <a:pt x="391544" y="67627"/>
                </a:lnTo>
                <a:lnTo>
                  <a:pt x="419551" y="101798"/>
                </a:lnTo>
                <a:lnTo>
                  <a:pt x="440699" y="141017"/>
                </a:lnTo>
                <a:lnTo>
                  <a:pt x="454064" y="184356"/>
                </a:lnTo>
                <a:lnTo>
                  <a:pt x="458724" y="230886"/>
                </a:lnTo>
                <a:lnTo>
                  <a:pt x="454064" y="277415"/>
                </a:lnTo>
                <a:lnTo>
                  <a:pt x="440699" y="320754"/>
                </a:lnTo>
                <a:lnTo>
                  <a:pt x="419551" y="359973"/>
                </a:lnTo>
                <a:lnTo>
                  <a:pt x="391544" y="394144"/>
                </a:lnTo>
                <a:lnTo>
                  <a:pt x="357599" y="422338"/>
                </a:lnTo>
                <a:lnTo>
                  <a:pt x="318638" y="443626"/>
                </a:lnTo>
                <a:lnTo>
                  <a:pt x="275585" y="457080"/>
                </a:lnTo>
                <a:lnTo>
                  <a:pt x="229361" y="461771"/>
                </a:lnTo>
                <a:lnTo>
                  <a:pt x="183138" y="457080"/>
                </a:lnTo>
                <a:lnTo>
                  <a:pt x="140085" y="443626"/>
                </a:lnTo>
                <a:lnTo>
                  <a:pt x="101124" y="422338"/>
                </a:lnTo>
                <a:lnTo>
                  <a:pt x="67179" y="394144"/>
                </a:lnTo>
                <a:lnTo>
                  <a:pt x="39172" y="359973"/>
                </a:lnTo>
                <a:lnTo>
                  <a:pt x="18024" y="320754"/>
                </a:lnTo>
                <a:lnTo>
                  <a:pt x="4659" y="277415"/>
                </a:lnTo>
                <a:lnTo>
                  <a:pt x="0" y="23088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47801" y="216573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556766" y="1326641"/>
            <a:ext cx="459105" cy="462280"/>
          </a:xfrm>
          <a:custGeom>
            <a:avLst/>
            <a:gdLst/>
            <a:ahLst/>
            <a:cxnLst/>
            <a:rect l="l" t="t" r="r" b="b"/>
            <a:pathLst>
              <a:path w="459105" h="462280">
                <a:moveTo>
                  <a:pt x="0" y="230886"/>
                </a:moveTo>
                <a:lnTo>
                  <a:pt x="4662" y="184356"/>
                </a:lnTo>
                <a:lnTo>
                  <a:pt x="18032" y="141017"/>
                </a:lnTo>
                <a:lnTo>
                  <a:pt x="39185" y="101798"/>
                </a:lnTo>
                <a:lnTo>
                  <a:pt x="67198" y="67627"/>
                </a:lnTo>
                <a:lnTo>
                  <a:pt x="101147" y="39433"/>
                </a:lnTo>
                <a:lnTo>
                  <a:pt x="140106" y="18145"/>
                </a:lnTo>
                <a:lnTo>
                  <a:pt x="183153" y="4691"/>
                </a:lnTo>
                <a:lnTo>
                  <a:pt x="229361" y="0"/>
                </a:lnTo>
                <a:lnTo>
                  <a:pt x="275570" y="4691"/>
                </a:lnTo>
                <a:lnTo>
                  <a:pt x="318617" y="18145"/>
                </a:lnTo>
                <a:lnTo>
                  <a:pt x="357576" y="39433"/>
                </a:lnTo>
                <a:lnTo>
                  <a:pt x="391525" y="67627"/>
                </a:lnTo>
                <a:lnTo>
                  <a:pt x="419538" y="101798"/>
                </a:lnTo>
                <a:lnTo>
                  <a:pt x="440691" y="141017"/>
                </a:lnTo>
                <a:lnTo>
                  <a:pt x="454061" y="184356"/>
                </a:lnTo>
                <a:lnTo>
                  <a:pt x="458723" y="230886"/>
                </a:lnTo>
                <a:lnTo>
                  <a:pt x="454061" y="277415"/>
                </a:lnTo>
                <a:lnTo>
                  <a:pt x="440691" y="320754"/>
                </a:lnTo>
                <a:lnTo>
                  <a:pt x="419538" y="359973"/>
                </a:lnTo>
                <a:lnTo>
                  <a:pt x="391525" y="394144"/>
                </a:lnTo>
                <a:lnTo>
                  <a:pt x="357576" y="422338"/>
                </a:lnTo>
                <a:lnTo>
                  <a:pt x="318617" y="443626"/>
                </a:lnTo>
                <a:lnTo>
                  <a:pt x="275570" y="457080"/>
                </a:lnTo>
                <a:lnTo>
                  <a:pt x="229361" y="461772"/>
                </a:lnTo>
                <a:lnTo>
                  <a:pt x="183153" y="457080"/>
                </a:lnTo>
                <a:lnTo>
                  <a:pt x="140106" y="443626"/>
                </a:lnTo>
                <a:lnTo>
                  <a:pt x="101147" y="422338"/>
                </a:lnTo>
                <a:lnTo>
                  <a:pt x="67198" y="394144"/>
                </a:lnTo>
                <a:lnTo>
                  <a:pt x="39185" y="359973"/>
                </a:lnTo>
                <a:lnTo>
                  <a:pt x="18032" y="320754"/>
                </a:lnTo>
                <a:lnTo>
                  <a:pt x="4662" y="277415"/>
                </a:lnTo>
                <a:lnTo>
                  <a:pt x="0" y="23088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695957" y="137020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745742" y="2109977"/>
            <a:ext cx="573405" cy="577850"/>
          </a:xfrm>
          <a:custGeom>
            <a:avLst/>
            <a:gdLst/>
            <a:ahLst/>
            <a:cxnLst/>
            <a:rect l="l" t="t" r="r" b="b"/>
            <a:pathLst>
              <a:path w="573405" h="577850">
                <a:moveTo>
                  <a:pt x="0" y="288798"/>
                </a:moveTo>
                <a:lnTo>
                  <a:pt x="3749" y="241950"/>
                </a:lnTo>
                <a:lnTo>
                  <a:pt x="14606" y="197510"/>
                </a:lnTo>
                <a:lnTo>
                  <a:pt x="31978" y="156072"/>
                </a:lnTo>
                <a:lnTo>
                  <a:pt x="55278" y="118231"/>
                </a:lnTo>
                <a:lnTo>
                  <a:pt x="83915" y="84581"/>
                </a:lnTo>
                <a:lnTo>
                  <a:pt x="117299" y="55717"/>
                </a:lnTo>
                <a:lnTo>
                  <a:pt x="154840" y="32232"/>
                </a:lnTo>
                <a:lnTo>
                  <a:pt x="195949" y="14721"/>
                </a:lnTo>
                <a:lnTo>
                  <a:pt x="240036" y="3779"/>
                </a:lnTo>
                <a:lnTo>
                  <a:pt x="286512" y="0"/>
                </a:lnTo>
                <a:lnTo>
                  <a:pt x="332987" y="3779"/>
                </a:lnTo>
                <a:lnTo>
                  <a:pt x="377074" y="14721"/>
                </a:lnTo>
                <a:lnTo>
                  <a:pt x="418183" y="32232"/>
                </a:lnTo>
                <a:lnTo>
                  <a:pt x="455724" y="55717"/>
                </a:lnTo>
                <a:lnTo>
                  <a:pt x="489108" y="84582"/>
                </a:lnTo>
                <a:lnTo>
                  <a:pt x="517745" y="118231"/>
                </a:lnTo>
                <a:lnTo>
                  <a:pt x="541045" y="156072"/>
                </a:lnTo>
                <a:lnTo>
                  <a:pt x="558417" y="197510"/>
                </a:lnTo>
                <a:lnTo>
                  <a:pt x="569274" y="241950"/>
                </a:lnTo>
                <a:lnTo>
                  <a:pt x="573024" y="288798"/>
                </a:lnTo>
                <a:lnTo>
                  <a:pt x="569274" y="335645"/>
                </a:lnTo>
                <a:lnTo>
                  <a:pt x="558417" y="380085"/>
                </a:lnTo>
                <a:lnTo>
                  <a:pt x="541045" y="421523"/>
                </a:lnTo>
                <a:lnTo>
                  <a:pt x="517745" y="459364"/>
                </a:lnTo>
                <a:lnTo>
                  <a:pt x="489108" y="493014"/>
                </a:lnTo>
                <a:lnTo>
                  <a:pt x="455724" y="521878"/>
                </a:lnTo>
                <a:lnTo>
                  <a:pt x="418183" y="545363"/>
                </a:lnTo>
                <a:lnTo>
                  <a:pt x="377074" y="562874"/>
                </a:lnTo>
                <a:lnTo>
                  <a:pt x="332987" y="573816"/>
                </a:lnTo>
                <a:lnTo>
                  <a:pt x="286512" y="577596"/>
                </a:lnTo>
                <a:lnTo>
                  <a:pt x="240036" y="573816"/>
                </a:lnTo>
                <a:lnTo>
                  <a:pt x="195949" y="562874"/>
                </a:lnTo>
                <a:lnTo>
                  <a:pt x="154840" y="545363"/>
                </a:lnTo>
                <a:lnTo>
                  <a:pt x="117299" y="521878"/>
                </a:lnTo>
                <a:lnTo>
                  <a:pt x="83915" y="493013"/>
                </a:lnTo>
                <a:lnTo>
                  <a:pt x="55278" y="459364"/>
                </a:lnTo>
                <a:lnTo>
                  <a:pt x="31978" y="421523"/>
                </a:lnTo>
                <a:lnTo>
                  <a:pt x="14606" y="380085"/>
                </a:lnTo>
                <a:lnTo>
                  <a:pt x="3749" y="335645"/>
                </a:lnTo>
                <a:lnTo>
                  <a:pt x="0" y="288798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799082" y="2169414"/>
            <a:ext cx="459105" cy="460375"/>
          </a:xfrm>
          <a:custGeom>
            <a:avLst/>
            <a:gdLst/>
            <a:ahLst/>
            <a:cxnLst/>
            <a:rect l="l" t="t" r="r" b="b"/>
            <a:pathLst>
              <a:path w="459105" h="460375">
                <a:moveTo>
                  <a:pt x="0" y="230124"/>
                </a:moveTo>
                <a:lnTo>
                  <a:pt x="4662" y="183736"/>
                </a:lnTo>
                <a:lnTo>
                  <a:pt x="18032" y="140535"/>
                </a:lnTo>
                <a:lnTo>
                  <a:pt x="39185" y="101444"/>
                </a:lnTo>
                <a:lnTo>
                  <a:pt x="67198" y="67389"/>
                </a:lnTo>
                <a:lnTo>
                  <a:pt x="101147" y="39292"/>
                </a:lnTo>
                <a:lnTo>
                  <a:pt x="140106" y="18079"/>
                </a:lnTo>
                <a:lnTo>
                  <a:pt x="183153" y="4673"/>
                </a:lnTo>
                <a:lnTo>
                  <a:pt x="229362" y="0"/>
                </a:lnTo>
                <a:lnTo>
                  <a:pt x="275570" y="4673"/>
                </a:lnTo>
                <a:lnTo>
                  <a:pt x="318617" y="18079"/>
                </a:lnTo>
                <a:lnTo>
                  <a:pt x="357576" y="39292"/>
                </a:lnTo>
                <a:lnTo>
                  <a:pt x="391525" y="67389"/>
                </a:lnTo>
                <a:lnTo>
                  <a:pt x="419538" y="101444"/>
                </a:lnTo>
                <a:lnTo>
                  <a:pt x="440691" y="140535"/>
                </a:lnTo>
                <a:lnTo>
                  <a:pt x="454061" y="183736"/>
                </a:lnTo>
                <a:lnTo>
                  <a:pt x="458724" y="230124"/>
                </a:lnTo>
                <a:lnTo>
                  <a:pt x="454061" y="276511"/>
                </a:lnTo>
                <a:lnTo>
                  <a:pt x="440691" y="319712"/>
                </a:lnTo>
                <a:lnTo>
                  <a:pt x="419538" y="358803"/>
                </a:lnTo>
                <a:lnTo>
                  <a:pt x="391525" y="392858"/>
                </a:lnTo>
                <a:lnTo>
                  <a:pt x="357576" y="420955"/>
                </a:lnTo>
                <a:lnTo>
                  <a:pt x="318617" y="442168"/>
                </a:lnTo>
                <a:lnTo>
                  <a:pt x="275570" y="455574"/>
                </a:lnTo>
                <a:lnTo>
                  <a:pt x="229362" y="460248"/>
                </a:lnTo>
                <a:lnTo>
                  <a:pt x="183153" y="455574"/>
                </a:lnTo>
                <a:lnTo>
                  <a:pt x="140106" y="442168"/>
                </a:lnTo>
                <a:lnTo>
                  <a:pt x="101147" y="420955"/>
                </a:lnTo>
                <a:lnTo>
                  <a:pt x="67198" y="392858"/>
                </a:lnTo>
                <a:lnTo>
                  <a:pt x="39185" y="358803"/>
                </a:lnTo>
                <a:lnTo>
                  <a:pt x="18032" y="319712"/>
                </a:lnTo>
                <a:lnTo>
                  <a:pt x="4662" y="276511"/>
                </a:lnTo>
                <a:lnTo>
                  <a:pt x="0" y="2301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939289" y="221297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759457" y="3070098"/>
            <a:ext cx="573405" cy="577850"/>
          </a:xfrm>
          <a:custGeom>
            <a:avLst/>
            <a:gdLst/>
            <a:ahLst/>
            <a:cxnLst/>
            <a:rect l="l" t="t" r="r" b="b"/>
            <a:pathLst>
              <a:path w="573405" h="577850">
                <a:moveTo>
                  <a:pt x="0" y="288798"/>
                </a:moveTo>
                <a:lnTo>
                  <a:pt x="3749" y="241950"/>
                </a:lnTo>
                <a:lnTo>
                  <a:pt x="14606" y="197510"/>
                </a:lnTo>
                <a:lnTo>
                  <a:pt x="31978" y="156072"/>
                </a:lnTo>
                <a:lnTo>
                  <a:pt x="55278" y="118231"/>
                </a:lnTo>
                <a:lnTo>
                  <a:pt x="83915" y="84581"/>
                </a:lnTo>
                <a:lnTo>
                  <a:pt x="117299" y="55717"/>
                </a:lnTo>
                <a:lnTo>
                  <a:pt x="154840" y="32232"/>
                </a:lnTo>
                <a:lnTo>
                  <a:pt x="195949" y="14721"/>
                </a:lnTo>
                <a:lnTo>
                  <a:pt x="240036" y="3779"/>
                </a:lnTo>
                <a:lnTo>
                  <a:pt x="286512" y="0"/>
                </a:lnTo>
                <a:lnTo>
                  <a:pt x="332987" y="3779"/>
                </a:lnTo>
                <a:lnTo>
                  <a:pt x="377074" y="14721"/>
                </a:lnTo>
                <a:lnTo>
                  <a:pt x="418183" y="32232"/>
                </a:lnTo>
                <a:lnTo>
                  <a:pt x="455724" y="55717"/>
                </a:lnTo>
                <a:lnTo>
                  <a:pt x="489108" y="84582"/>
                </a:lnTo>
                <a:lnTo>
                  <a:pt x="517745" y="118231"/>
                </a:lnTo>
                <a:lnTo>
                  <a:pt x="541045" y="156072"/>
                </a:lnTo>
                <a:lnTo>
                  <a:pt x="558417" y="197510"/>
                </a:lnTo>
                <a:lnTo>
                  <a:pt x="569274" y="241950"/>
                </a:lnTo>
                <a:lnTo>
                  <a:pt x="573024" y="288798"/>
                </a:lnTo>
                <a:lnTo>
                  <a:pt x="569274" y="335645"/>
                </a:lnTo>
                <a:lnTo>
                  <a:pt x="558417" y="380085"/>
                </a:lnTo>
                <a:lnTo>
                  <a:pt x="541045" y="421523"/>
                </a:lnTo>
                <a:lnTo>
                  <a:pt x="517745" y="459364"/>
                </a:lnTo>
                <a:lnTo>
                  <a:pt x="489108" y="493013"/>
                </a:lnTo>
                <a:lnTo>
                  <a:pt x="455724" y="521878"/>
                </a:lnTo>
                <a:lnTo>
                  <a:pt x="418183" y="545363"/>
                </a:lnTo>
                <a:lnTo>
                  <a:pt x="377074" y="562874"/>
                </a:lnTo>
                <a:lnTo>
                  <a:pt x="332987" y="573816"/>
                </a:lnTo>
                <a:lnTo>
                  <a:pt x="286512" y="577595"/>
                </a:lnTo>
                <a:lnTo>
                  <a:pt x="240036" y="573816"/>
                </a:lnTo>
                <a:lnTo>
                  <a:pt x="195949" y="562874"/>
                </a:lnTo>
                <a:lnTo>
                  <a:pt x="154840" y="545363"/>
                </a:lnTo>
                <a:lnTo>
                  <a:pt x="117299" y="521878"/>
                </a:lnTo>
                <a:lnTo>
                  <a:pt x="83915" y="493013"/>
                </a:lnTo>
                <a:lnTo>
                  <a:pt x="55278" y="459364"/>
                </a:lnTo>
                <a:lnTo>
                  <a:pt x="31978" y="421523"/>
                </a:lnTo>
                <a:lnTo>
                  <a:pt x="14606" y="380085"/>
                </a:lnTo>
                <a:lnTo>
                  <a:pt x="3749" y="335645"/>
                </a:lnTo>
                <a:lnTo>
                  <a:pt x="0" y="28879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814322" y="3128010"/>
            <a:ext cx="457200" cy="462280"/>
          </a:xfrm>
          <a:custGeom>
            <a:avLst/>
            <a:gdLst/>
            <a:ahLst/>
            <a:cxnLst/>
            <a:rect l="l" t="t" r="r" b="b"/>
            <a:pathLst>
              <a:path w="457200" h="462279">
                <a:moveTo>
                  <a:pt x="0" y="230886"/>
                </a:moveTo>
                <a:lnTo>
                  <a:pt x="4644" y="184356"/>
                </a:lnTo>
                <a:lnTo>
                  <a:pt x="17966" y="141017"/>
                </a:lnTo>
                <a:lnTo>
                  <a:pt x="39045" y="101798"/>
                </a:lnTo>
                <a:lnTo>
                  <a:pt x="66960" y="67627"/>
                </a:lnTo>
                <a:lnTo>
                  <a:pt x="100793" y="39433"/>
                </a:lnTo>
                <a:lnTo>
                  <a:pt x="139624" y="18145"/>
                </a:lnTo>
                <a:lnTo>
                  <a:pt x="182533" y="4691"/>
                </a:lnTo>
                <a:lnTo>
                  <a:pt x="228600" y="0"/>
                </a:lnTo>
                <a:lnTo>
                  <a:pt x="274666" y="4691"/>
                </a:lnTo>
                <a:lnTo>
                  <a:pt x="317575" y="18145"/>
                </a:lnTo>
                <a:lnTo>
                  <a:pt x="356406" y="39433"/>
                </a:lnTo>
                <a:lnTo>
                  <a:pt x="390239" y="67627"/>
                </a:lnTo>
                <a:lnTo>
                  <a:pt x="418154" y="101798"/>
                </a:lnTo>
                <a:lnTo>
                  <a:pt x="439233" y="141017"/>
                </a:lnTo>
                <a:lnTo>
                  <a:pt x="452555" y="184356"/>
                </a:lnTo>
                <a:lnTo>
                  <a:pt x="457200" y="230886"/>
                </a:lnTo>
                <a:lnTo>
                  <a:pt x="452555" y="277415"/>
                </a:lnTo>
                <a:lnTo>
                  <a:pt x="439233" y="320754"/>
                </a:lnTo>
                <a:lnTo>
                  <a:pt x="418154" y="359973"/>
                </a:lnTo>
                <a:lnTo>
                  <a:pt x="390239" y="394144"/>
                </a:lnTo>
                <a:lnTo>
                  <a:pt x="356406" y="422338"/>
                </a:lnTo>
                <a:lnTo>
                  <a:pt x="317575" y="443626"/>
                </a:lnTo>
                <a:lnTo>
                  <a:pt x="274666" y="457080"/>
                </a:lnTo>
                <a:lnTo>
                  <a:pt x="228600" y="461772"/>
                </a:lnTo>
                <a:lnTo>
                  <a:pt x="182533" y="457080"/>
                </a:lnTo>
                <a:lnTo>
                  <a:pt x="139624" y="443626"/>
                </a:lnTo>
                <a:lnTo>
                  <a:pt x="100793" y="422338"/>
                </a:lnTo>
                <a:lnTo>
                  <a:pt x="66960" y="394144"/>
                </a:lnTo>
                <a:lnTo>
                  <a:pt x="39045" y="359973"/>
                </a:lnTo>
                <a:lnTo>
                  <a:pt x="17966" y="320754"/>
                </a:lnTo>
                <a:lnTo>
                  <a:pt x="4644" y="277415"/>
                </a:lnTo>
                <a:lnTo>
                  <a:pt x="0" y="23088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953260" y="3171901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839973" y="1198625"/>
            <a:ext cx="573405" cy="579120"/>
          </a:xfrm>
          <a:custGeom>
            <a:avLst/>
            <a:gdLst/>
            <a:ahLst/>
            <a:cxnLst/>
            <a:rect l="l" t="t" r="r" b="b"/>
            <a:pathLst>
              <a:path w="573404" h="579119">
                <a:moveTo>
                  <a:pt x="0" y="289560"/>
                </a:moveTo>
                <a:lnTo>
                  <a:pt x="3749" y="242598"/>
                </a:lnTo>
                <a:lnTo>
                  <a:pt x="14606" y="198046"/>
                </a:lnTo>
                <a:lnTo>
                  <a:pt x="31978" y="156502"/>
                </a:lnTo>
                <a:lnTo>
                  <a:pt x="55278" y="118561"/>
                </a:lnTo>
                <a:lnTo>
                  <a:pt x="83915" y="84820"/>
                </a:lnTo>
                <a:lnTo>
                  <a:pt x="117299" y="55875"/>
                </a:lnTo>
                <a:lnTo>
                  <a:pt x="154840" y="32325"/>
                </a:lnTo>
                <a:lnTo>
                  <a:pt x="195949" y="14764"/>
                </a:lnTo>
                <a:lnTo>
                  <a:pt x="240036" y="3790"/>
                </a:lnTo>
                <a:lnTo>
                  <a:pt x="286512" y="0"/>
                </a:lnTo>
                <a:lnTo>
                  <a:pt x="332987" y="3790"/>
                </a:lnTo>
                <a:lnTo>
                  <a:pt x="377074" y="14764"/>
                </a:lnTo>
                <a:lnTo>
                  <a:pt x="418183" y="32325"/>
                </a:lnTo>
                <a:lnTo>
                  <a:pt x="455724" y="55875"/>
                </a:lnTo>
                <a:lnTo>
                  <a:pt x="489108" y="84820"/>
                </a:lnTo>
                <a:lnTo>
                  <a:pt x="517745" y="118561"/>
                </a:lnTo>
                <a:lnTo>
                  <a:pt x="541045" y="156502"/>
                </a:lnTo>
                <a:lnTo>
                  <a:pt x="558417" y="198046"/>
                </a:lnTo>
                <a:lnTo>
                  <a:pt x="569274" y="242598"/>
                </a:lnTo>
                <a:lnTo>
                  <a:pt x="573024" y="289560"/>
                </a:lnTo>
                <a:lnTo>
                  <a:pt x="569274" y="336521"/>
                </a:lnTo>
                <a:lnTo>
                  <a:pt x="558417" y="381073"/>
                </a:lnTo>
                <a:lnTo>
                  <a:pt x="541045" y="422617"/>
                </a:lnTo>
                <a:lnTo>
                  <a:pt x="517745" y="460558"/>
                </a:lnTo>
                <a:lnTo>
                  <a:pt x="489108" y="494299"/>
                </a:lnTo>
                <a:lnTo>
                  <a:pt x="455724" y="523244"/>
                </a:lnTo>
                <a:lnTo>
                  <a:pt x="418183" y="546794"/>
                </a:lnTo>
                <a:lnTo>
                  <a:pt x="377074" y="564355"/>
                </a:lnTo>
                <a:lnTo>
                  <a:pt x="332987" y="575329"/>
                </a:lnTo>
                <a:lnTo>
                  <a:pt x="286512" y="579120"/>
                </a:lnTo>
                <a:lnTo>
                  <a:pt x="240036" y="575329"/>
                </a:lnTo>
                <a:lnTo>
                  <a:pt x="195949" y="564355"/>
                </a:lnTo>
                <a:lnTo>
                  <a:pt x="154840" y="546794"/>
                </a:lnTo>
                <a:lnTo>
                  <a:pt x="117299" y="523244"/>
                </a:lnTo>
                <a:lnTo>
                  <a:pt x="83915" y="494299"/>
                </a:lnTo>
                <a:lnTo>
                  <a:pt x="55278" y="460558"/>
                </a:lnTo>
                <a:lnTo>
                  <a:pt x="31978" y="422617"/>
                </a:lnTo>
                <a:lnTo>
                  <a:pt x="14606" y="381073"/>
                </a:lnTo>
                <a:lnTo>
                  <a:pt x="3749" y="336521"/>
                </a:lnTo>
                <a:lnTo>
                  <a:pt x="0" y="289560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893314" y="1258061"/>
            <a:ext cx="459105" cy="462280"/>
          </a:xfrm>
          <a:custGeom>
            <a:avLst/>
            <a:gdLst/>
            <a:ahLst/>
            <a:cxnLst/>
            <a:rect l="l" t="t" r="r" b="b"/>
            <a:pathLst>
              <a:path w="459104" h="462280">
                <a:moveTo>
                  <a:pt x="0" y="230886"/>
                </a:moveTo>
                <a:lnTo>
                  <a:pt x="4662" y="184356"/>
                </a:lnTo>
                <a:lnTo>
                  <a:pt x="18032" y="141017"/>
                </a:lnTo>
                <a:lnTo>
                  <a:pt x="39185" y="101798"/>
                </a:lnTo>
                <a:lnTo>
                  <a:pt x="67198" y="67627"/>
                </a:lnTo>
                <a:lnTo>
                  <a:pt x="101147" y="39433"/>
                </a:lnTo>
                <a:lnTo>
                  <a:pt x="140106" y="18145"/>
                </a:lnTo>
                <a:lnTo>
                  <a:pt x="183153" y="4691"/>
                </a:lnTo>
                <a:lnTo>
                  <a:pt x="229362" y="0"/>
                </a:lnTo>
                <a:lnTo>
                  <a:pt x="275570" y="4691"/>
                </a:lnTo>
                <a:lnTo>
                  <a:pt x="318617" y="18145"/>
                </a:lnTo>
                <a:lnTo>
                  <a:pt x="357576" y="39433"/>
                </a:lnTo>
                <a:lnTo>
                  <a:pt x="391525" y="67627"/>
                </a:lnTo>
                <a:lnTo>
                  <a:pt x="419538" y="101798"/>
                </a:lnTo>
                <a:lnTo>
                  <a:pt x="440691" y="141017"/>
                </a:lnTo>
                <a:lnTo>
                  <a:pt x="454061" y="184356"/>
                </a:lnTo>
                <a:lnTo>
                  <a:pt x="458724" y="230886"/>
                </a:lnTo>
                <a:lnTo>
                  <a:pt x="454061" y="277415"/>
                </a:lnTo>
                <a:lnTo>
                  <a:pt x="440691" y="320754"/>
                </a:lnTo>
                <a:lnTo>
                  <a:pt x="419538" y="359973"/>
                </a:lnTo>
                <a:lnTo>
                  <a:pt x="391525" y="394144"/>
                </a:lnTo>
                <a:lnTo>
                  <a:pt x="357576" y="422338"/>
                </a:lnTo>
                <a:lnTo>
                  <a:pt x="318617" y="443626"/>
                </a:lnTo>
                <a:lnTo>
                  <a:pt x="275570" y="457080"/>
                </a:lnTo>
                <a:lnTo>
                  <a:pt x="229362" y="461772"/>
                </a:lnTo>
                <a:lnTo>
                  <a:pt x="183153" y="457080"/>
                </a:lnTo>
                <a:lnTo>
                  <a:pt x="140106" y="443626"/>
                </a:lnTo>
                <a:lnTo>
                  <a:pt x="101147" y="422338"/>
                </a:lnTo>
                <a:lnTo>
                  <a:pt x="67198" y="394144"/>
                </a:lnTo>
                <a:lnTo>
                  <a:pt x="39185" y="359973"/>
                </a:lnTo>
                <a:lnTo>
                  <a:pt x="18032" y="320754"/>
                </a:lnTo>
                <a:lnTo>
                  <a:pt x="4662" y="277415"/>
                </a:lnTo>
                <a:lnTo>
                  <a:pt x="0" y="23088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033141" y="130187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54658" y="1789387"/>
            <a:ext cx="304165" cy="1273175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  <a:spcBef>
                <a:spcPts val="166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963930" y="2374392"/>
            <a:ext cx="795655" cy="114300"/>
          </a:xfrm>
          <a:custGeom>
            <a:avLst/>
            <a:gdLst/>
            <a:ahLst/>
            <a:cxnLst/>
            <a:rect l="l" t="t" r="r" b="b"/>
            <a:pathLst>
              <a:path w="795655" h="114300">
                <a:moveTo>
                  <a:pt x="605028" y="0"/>
                </a:moveTo>
                <a:lnTo>
                  <a:pt x="605028" y="114300"/>
                </a:lnTo>
                <a:lnTo>
                  <a:pt x="732027" y="76200"/>
                </a:lnTo>
                <a:lnTo>
                  <a:pt x="624078" y="76200"/>
                </a:lnTo>
                <a:lnTo>
                  <a:pt x="624078" y="38100"/>
                </a:lnTo>
                <a:lnTo>
                  <a:pt x="732027" y="38100"/>
                </a:lnTo>
                <a:lnTo>
                  <a:pt x="605028" y="0"/>
                </a:lnTo>
                <a:close/>
              </a:path>
              <a:path w="795655" h="114300">
                <a:moveTo>
                  <a:pt x="60502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5028" y="76200"/>
                </a:lnTo>
                <a:lnTo>
                  <a:pt x="605028" y="38100"/>
                </a:lnTo>
                <a:close/>
              </a:path>
              <a:path w="795655" h="114300">
                <a:moveTo>
                  <a:pt x="732027" y="38100"/>
                </a:moveTo>
                <a:lnTo>
                  <a:pt x="624078" y="38100"/>
                </a:lnTo>
                <a:lnTo>
                  <a:pt x="624078" y="76200"/>
                </a:lnTo>
                <a:lnTo>
                  <a:pt x="732027" y="76200"/>
                </a:lnTo>
                <a:lnTo>
                  <a:pt x="795527" y="57150"/>
                </a:lnTo>
                <a:lnTo>
                  <a:pt x="73202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257805" y="1201038"/>
            <a:ext cx="1955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041398" y="1499616"/>
            <a:ext cx="794385" cy="114300"/>
          </a:xfrm>
          <a:custGeom>
            <a:avLst/>
            <a:gdLst/>
            <a:ahLst/>
            <a:cxnLst/>
            <a:rect l="l" t="t" r="r" b="b"/>
            <a:pathLst>
              <a:path w="794385" h="114300">
                <a:moveTo>
                  <a:pt x="603503" y="0"/>
                </a:moveTo>
                <a:lnTo>
                  <a:pt x="603503" y="114300"/>
                </a:lnTo>
                <a:lnTo>
                  <a:pt x="730503" y="76200"/>
                </a:lnTo>
                <a:lnTo>
                  <a:pt x="622553" y="76200"/>
                </a:lnTo>
                <a:lnTo>
                  <a:pt x="622553" y="38100"/>
                </a:lnTo>
                <a:lnTo>
                  <a:pt x="730503" y="38100"/>
                </a:lnTo>
                <a:lnTo>
                  <a:pt x="603503" y="0"/>
                </a:lnTo>
                <a:close/>
              </a:path>
              <a:path w="794385" h="114300">
                <a:moveTo>
                  <a:pt x="60350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3503" y="76200"/>
                </a:lnTo>
                <a:lnTo>
                  <a:pt x="603503" y="38100"/>
                </a:lnTo>
                <a:close/>
              </a:path>
              <a:path w="794385" h="114300">
                <a:moveTo>
                  <a:pt x="730503" y="38100"/>
                </a:moveTo>
                <a:lnTo>
                  <a:pt x="622553" y="38100"/>
                </a:lnTo>
                <a:lnTo>
                  <a:pt x="622553" y="76200"/>
                </a:lnTo>
                <a:lnTo>
                  <a:pt x="730503" y="76200"/>
                </a:lnTo>
                <a:lnTo>
                  <a:pt x="794003" y="57150"/>
                </a:lnTo>
                <a:lnTo>
                  <a:pt x="7305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540635" y="184899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670557" y="1112519"/>
            <a:ext cx="506730" cy="412750"/>
          </a:xfrm>
          <a:custGeom>
            <a:avLst/>
            <a:gdLst/>
            <a:ahLst/>
            <a:cxnLst/>
            <a:rect l="l" t="t" r="r" b="b"/>
            <a:pathLst>
              <a:path w="506730" h="412750">
                <a:moveTo>
                  <a:pt x="409956" y="220725"/>
                </a:moveTo>
                <a:lnTo>
                  <a:pt x="356108" y="412241"/>
                </a:lnTo>
                <a:lnTo>
                  <a:pt x="506475" y="281939"/>
                </a:lnTo>
                <a:lnTo>
                  <a:pt x="497064" y="275970"/>
                </a:lnTo>
                <a:lnTo>
                  <a:pt x="465074" y="275970"/>
                </a:lnTo>
                <a:lnTo>
                  <a:pt x="430911" y="258952"/>
                </a:lnTo>
                <a:lnTo>
                  <a:pt x="439842" y="240985"/>
                </a:lnTo>
                <a:lnTo>
                  <a:pt x="439894" y="239713"/>
                </a:lnTo>
                <a:lnTo>
                  <a:pt x="409956" y="220725"/>
                </a:lnTo>
                <a:close/>
              </a:path>
              <a:path w="506730" h="412750">
                <a:moveTo>
                  <a:pt x="439842" y="240985"/>
                </a:moveTo>
                <a:lnTo>
                  <a:pt x="430911" y="258952"/>
                </a:lnTo>
                <a:lnTo>
                  <a:pt x="465074" y="275970"/>
                </a:lnTo>
                <a:lnTo>
                  <a:pt x="472741" y="260545"/>
                </a:lnTo>
                <a:lnTo>
                  <a:pt x="448403" y="245109"/>
                </a:lnTo>
                <a:lnTo>
                  <a:pt x="439674" y="245109"/>
                </a:lnTo>
                <a:lnTo>
                  <a:pt x="439842" y="240985"/>
                </a:lnTo>
                <a:close/>
              </a:path>
              <a:path w="506730" h="412750">
                <a:moveTo>
                  <a:pt x="472741" y="260545"/>
                </a:moveTo>
                <a:lnTo>
                  <a:pt x="465074" y="275970"/>
                </a:lnTo>
                <a:lnTo>
                  <a:pt x="497064" y="275970"/>
                </a:lnTo>
                <a:lnTo>
                  <a:pt x="472741" y="260545"/>
                </a:lnTo>
                <a:close/>
              </a:path>
              <a:path w="506730" h="412750">
                <a:moveTo>
                  <a:pt x="478089" y="237235"/>
                </a:moveTo>
                <a:lnTo>
                  <a:pt x="441706" y="237235"/>
                </a:lnTo>
                <a:lnTo>
                  <a:pt x="440901" y="240352"/>
                </a:lnTo>
                <a:lnTo>
                  <a:pt x="472741" y="260545"/>
                </a:lnTo>
                <a:lnTo>
                  <a:pt x="475869" y="254253"/>
                </a:lnTo>
                <a:lnTo>
                  <a:pt x="477012" y="251713"/>
                </a:lnTo>
                <a:lnTo>
                  <a:pt x="477647" y="249174"/>
                </a:lnTo>
                <a:lnTo>
                  <a:pt x="477817" y="245109"/>
                </a:lnTo>
                <a:lnTo>
                  <a:pt x="478089" y="237235"/>
                </a:lnTo>
                <a:close/>
              </a:path>
              <a:path w="506730" h="412750">
                <a:moveTo>
                  <a:pt x="440335" y="239993"/>
                </a:moveTo>
                <a:lnTo>
                  <a:pt x="439842" y="240985"/>
                </a:lnTo>
                <a:lnTo>
                  <a:pt x="439674" y="245109"/>
                </a:lnTo>
                <a:lnTo>
                  <a:pt x="440901" y="240352"/>
                </a:lnTo>
                <a:lnTo>
                  <a:pt x="440335" y="239993"/>
                </a:lnTo>
                <a:close/>
              </a:path>
              <a:path w="506730" h="412750">
                <a:moveTo>
                  <a:pt x="440901" y="240352"/>
                </a:moveTo>
                <a:lnTo>
                  <a:pt x="439674" y="245109"/>
                </a:lnTo>
                <a:lnTo>
                  <a:pt x="448403" y="245109"/>
                </a:lnTo>
                <a:lnTo>
                  <a:pt x="440901" y="240352"/>
                </a:lnTo>
                <a:close/>
              </a:path>
              <a:path w="506730" h="412750">
                <a:moveTo>
                  <a:pt x="439894" y="239713"/>
                </a:moveTo>
                <a:lnTo>
                  <a:pt x="439842" y="240985"/>
                </a:lnTo>
                <a:lnTo>
                  <a:pt x="440335" y="239993"/>
                </a:lnTo>
                <a:lnTo>
                  <a:pt x="439894" y="239713"/>
                </a:lnTo>
                <a:close/>
              </a:path>
              <a:path w="506730" h="412750">
                <a:moveTo>
                  <a:pt x="441706" y="237235"/>
                </a:moveTo>
                <a:lnTo>
                  <a:pt x="440335" y="239993"/>
                </a:lnTo>
                <a:lnTo>
                  <a:pt x="440901" y="240352"/>
                </a:lnTo>
                <a:lnTo>
                  <a:pt x="441706" y="237235"/>
                </a:lnTo>
                <a:close/>
              </a:path>
              <a:path w="506730" h="412750">
                <a:moveTo>
                  <a:pt x="369943" y="38100"/>
                </a:moveTo>
                <a:lnTo>
                  <a:pt x="239268" y="38100"/>
                </a:lnTo>
                <a:lnTo>
                  <a:pt x="260096" y="39242"/>
                </a:lnTo>
                <a:lnTo>
                  <a:pt x="280162" y="42163"/>
                </a:lnTo>
                <a:lnTo>
                  <a:pt x="318135" y="53720"/>
                </a:lnTo>
                <a:lnTo>
                  <a:pt x="352298" y="71881"/>
                </a:lnTo>
                <a:lnTo>
                  <a:pt x="382016" y="95757"/>
                </a:lnTo>
                <a:lnTo>
                  <a:pt x="416433" y="140715"/>
                </a:lnTo>
                <a:lnTo>
                  <a:pt x="436372" y="194055"/>
                </a:lnTo>
                <a:lnTo>
                  <a:pt x="440181" y="232663"/>
                </a:lnTo>
                <a:lnTo>
                  <a:pt x="439894" y="239713"/>
                </a:lnTo>
                <a:lnTo>
                  <a:pt x="440335" y="239993"/>
                </a:lnTo>
                <a:lnTo>
                  <a:pt x="441706" y="237235"/>
                </a:lnTo>
                <a:lnTo>
                  <a:pt x="478089" y="237235"/>
                </a:lnTo>
                <a:lnTo>
                  <a:pt x="478281" y="231647"/>
                </a:lnTo>
                <a:lnTo>
                  <a:pt x="473202" y="184276"/>
                </a:lnTo>
                <a:lnTo>
                  <a:pt x="458978" y="140588"/>
                </a:lnTo>
                <a:lnTo>
                  <a:pt x="436625" y="101345"/>
                </a:lnTo>
                <a:lnTo>
                  <a:pt x="407162" y="67182"/>
                </a:lnTo>
                <a:lnTo>
                  <a:pt x="371475" y="38988"/>
                </a:lnTo>
                <a:lnTo>
                  <a:pt x="369943" y="38100"/>
                </a:lnTo>
                <a:close/>
              </a:path>
              <a:path w="506730" h="412750">
                <a:moveTo>
                  <a:pt x="237617" y="0"/>
                </a:moveTo>
                <a:lnTo>
                  <a:pt x="192786" y="4317"/>
                </a:lnTo>
                <a:lnTo>
                  <a:pt x="150494" y="16128"/>
                </a:lnTo>
                <a:lnTo>
                  <a:pt x="111760" y="35051"/>
                </a:lnTo>
                <a:lnTo>
                  <a:pt x="77469" y="60197"/>
                </a:lnTo>
                <a:lnTo>
                  <a:pt x="48260" y="90804"/>
                </a:lnTo>
                <a:lnTo>
                  <a:pt x="24765" y="126491"/>
                </a:lnTo>
                <a:lnTo>
                  <a:pt x="8381" y="166242"/>
                </a:lnTo>
                <a:lnTo>
                  <a:pt x="0" y="207517"/>
                </a:lnTo>
                <a:lnTo>
                  <a:pt x="37592" y="213359"/>
                </a:lnTo>
                <a:lnTo>
                  <a:pt x="40767" y="193293"/>
                </a:lnTo>
                <a:lnTo>
                  <a:pt x="45339" y="175640"/>
                </a:lnTo>
                <a:lnTo>
                  <a:pt x="68453" y="127507"/>
                </a:lnTo>
                <a:lnTo>
                  <a:pt x="103631" y="87883"/>
                </a:lnTo>
                <a:lnTo>
                  <a:pt x="148717" y="58292"/>
                </a:lnTo>
                <a:lnTo>
                  <a:pt x="201294" y="41401"/>
                </a:lnTo>
                <a:lnTo>
                  <a:pt x="239268" y="38100"/>
                </a:lnTo>
                <a:lnTo>
                  <a:pt x="369943" y="38100"/>
                </a:lnTo>
                <a:lnTo>
                  <a:pt x="351790" y="27558"/>
                </a:lnTo>
                <a:lnTo>
                  <a:pt x="330835" y="17906"/>
                </a:lnTo>
                <a:lnTo>
                  <a:pt x="308864" y="10159"/>
                </a:lnTo>
                <a:lnTo>
                  <a:pt x="285623" y="4444"/>
                </a:lnTo>
                <a:lnTo>
                  <a:pt x="262000" y="1142"/>
                </a:lnTo>
                <a:lnTo>
                  <a:pt x="23761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931416" y="1676273"/>
            <a:ext cx="636270" cy="722630"/>
          </a:xfrm>
          <a:custGeom>
            <a:avLst/>
            <a:gdLst/>
            <a:ahLst/>
            <a:cxnLst/>
            <a:rect l="l" t="t" r="r" b="b"/>
            <a:pathLst>
              <a:path w="636269" h="722630">
                <a:moveTo>
                  <a:pt x="482600" y="618871"/>
                </a:moveTo>
                <a:lnTo>
                  <a:pt x="407542" y="722249"/>
                </a:lnTo>
                <a:lnTo>
                  <a:pt x="535304" y="720343"/>
                </a:lnTo>
                <a:lnTo>
                  <a:pt x="522046" y="694816"/>
                </a:lnTo>
                <a:lnTo>
                  <a:pt x="501650" y="694816"/>
                </a:lnTo>
                <a:lnTo>
                  <a:pt x="482472" y="661924"/>
                </a:lnTo>
                <a:lnTo>
                  <a:pt x="499044" y="652330"/>
                </a:lnTo>
                <a:lnTo>
                  <a:pt x="499634" y="651666"/>
                </a:lnTo>
                <a:lnTo>
                  <a:pt x="482600" y="618871"/>
                </a:lnTo>
                <a:close/>
              </a:path>
              <a:path w="636269" h="722630">
                <a:moveTo>
                  <a:pt x="499044" y="652330"/>
                </a:moveTo>
                <a:lnTo>
                  <a:pt x="482472" y="661924"/>
                </a:lnTo>
                <a:lnTo>
                  <a:pt x="501650" y="694816"/>
                </a:lnTo>
                <a:lnTo>
                  <a:pt x="517334" y="685746"/>
                </a:lnTo>
                <a:lnTo>
                  <a:pt x="501201" y="654685"/>
                </a:lnTo>
                <a:lnTo>
                  <a:pt x="496950" y="654685"/>
                </a:lnTo>
                <a:lnTo>
                  <a:pt x="499044" y="652330"/>
                </a:lnTo>
                <a:close/>
              </a:path>
              <a:path w="636269" h="722630">
                <a:moveTo>
                  <a:pt x="517334" y="685746"/>
                </a:moveTo>
                <a:lnTo>
                  <a:pt x="501650" y="694816"/>
                </a:lnTo>
                <a:lnTo>
                  <a:pt x="522046" y="694816"/>
                </a:lnTo>
                <a:lnTo>
                  <a:pt x="517334" y="685746"/>
                </a:lnTo>
                <a:close/>
              </a:path>
              <a:path w="636269" h="722630">
                <a:moveTo>
                  <a:pt x="549109" y="650748"/>
                </a:moveTo>
                <a:lnTo>
                  <a:pt x="501776" y="650748"/>
                </a:lnTo>
                <a:lnTo>
                  <a:pt x="499936" y="652249"/>
                </a:lnTo>
                <a:lnTo>
                  <a:pt x="517334" y="685746"/>
                </a:lnTo>
                <a:lnTo>
                  <a:pt x="522731" y="682625"/>
                </a:lnTo>
                <a:lnTo>
                  <a:pt x="549109" y="650748"/>
                </a:lnTo>
                <a:close/>
              </a:path>
              <a:path w="636269" h="722630">
                <a:moveTo>
                  <a:pt x="499762" y="651914"/>
                </a:moveTo>
                <a:lnTo>
                  <a:pt x="499044" y="652330"/>
                </a:lnTo>
                <a:lnTo>
                  <a:pt x="496950" y="654685"/>
                </a:lnTo>
                <a:lnTo>
                  <a:pt x="499936" y="652249"/>
                </a:lnTo>
                <a:lnTo>
                  <a:pt x="499762" y="651914"/>
                </a:lnTo>
                <a:close/>
              </a:path>
              <a:path w="636269" h="722630">
                <a:moveTo>
                  <a:pt x="499936" y="652249"/>
                </a:moveTo>
                <a:lnTo>
                  <a:pt x="496950" y="654685"/>
                </a:lnTo>
                <a:lnTo>
                  <a:pt x="501201" y="654685"/>
                </a:lnTo>
                <a:lnTo>
                  <a:pt x="499936" y="652249"/>
                </a:lnTo>
                <a:close/>
              </a:path>
              <a:path w="636269" h="722630">
                <a:moveTo>
                  <a:pt x="499634" y="651666"/>
                </a:moveTo>
                <a:lnTo>
                  <a:pt x="499044" y="652330"/>
                </a:lnTo>
                <a:lnTo>
                  <a:pt x="499762" y="651914"/>
                </a:lnTo>
                <a:lnTo>
                  <a:pt x="499634" y="651666"/>
                </a:lnTo>
                <a:close/>
              </a:path>
              <a:path w="636269" h="722630">
                <a:moveTo>
                  <a:pt x="501776" y="650748"/>
                </a:moveTo>
                <a:lnTo>
                  <a:pt x="499762" y="651914"/>
                </a:lnTo>
                <a:lnTo>
                  <a:pt x="499936" y="652249"/>
                </a:lnTo>
                <a:lnTo>
                  <a:pt x="501776" y="650748"/>
                </a:lnTo>
                <a:close/>
              </a:path>
              <a:path w="636269" h="722630">
                <a:moveTo>
                  <a:pt x="446194" y="37973"/>
                </a:moveTo>
                <a:lnTo>
                  <a:pt x="318134" y="37973"/>
                </a:lnTo>
                <a:lnTo>
                  <a:pt x="331215" y="38480"/>
                </a:lnTo>
                <a:lnTo>
                  <a:pt x="343788" y="39877"/>
                </a:lnTo>
                <a:lnTo>
                  <a:pt x="381634" y="49402"/>
                </a:lnTo>
                <a:lnTo>
                  <a:pt x="419179" y="66213"/>
                </a:lnTo>
                <a:lnTo>
                  <a:pt x="454786" y="89535"/>
                </a:lnTo>
                <a:lnTo>
                  <a:pt x="488569" y="118999"/>
                </a:lnTo>
                <a:lnTo>
                  <a:pt x="528701" y="166369"/>
                </a:lnTo>
                <a:lnTo>
                  <a:pt x="553592" y="205993"/>
                </a:lnTo>
                <a:lnTo>
                  <a:pt x="573785" y="248919"/>
                </a:lnTo>
                <a:lnTo>
                  <a:pt x="588390" y="294004"/>
                </a:lnTo>
                <a:lnTo>
                  <a:pt x="596519" y="340105"/>
                </a:lnTo>
                <a:lnTo>
                  <a:pt x="598042" y="371221"/>
                </a:lnTo>
                <a:lnTo>
                  <a:pt x="597788" y="386841"/>
                </a:lnTo>
                <a:lnTo>
                  <a:pt x="593470" y="433959"/>
                </a:lnTo>
                <a:lnTo>
                  <a:pt x="580516" y="495300"/>
                </a:lnTo>
                <a:lnTo>
                  <a:pt x="560577" y="552323"/>
                </a:lnTo>
                <a:lnTo>
                  <a:pt x="534796" y="603250"/>
                </a:lnTo>
                <a:lnTo>
                  <a:pt x="512952" y="635762"/>
                </a:lnTo>
                <a:lnTo>
                  <a:pt x="499634" y="651666"/>
                </a:lnTo>
                <a:lnTo>
                  <a:pt x="499762" y="651914"/>
                </a:lnTo>
                <a:lnTo>
                  <a:pt x="501776" y="650748"/>
                </a:lnTo>
                <a:lnTo>
                  <a:pt x="549109" y="650748"/>
                </a:lnTo>
                <a:lnTo>
                  <a:pt x="552069" y="646684"/>
                </a:lnTo>
                <a:lnTo>
                  <a:pt x="582929" y="594740"/>
                </a:lnTo>
                <a:lnTo>
                  <a:pt x="607694" y="535813"/>
                </a:lnTo>
                <a:lnTo>
                  <a:pt x="625475" y="471677"/>
                </a:lnTo>
                <a:lnTo>
                  <a:pt x="633348" y="421639"/>
                </a:lnTo>
                <a:lnTo>
                  <a:pt x="636142" y="370077"/>
                </a:lnTo>
                <a:lnTo>
                  <a:pt x="635634" y="352805"/>
                </a:lnTo>
                <a:lnTo>
                  <a:pt x="628903" y="300863"/>
                </a:lnTo>
                <a:lnTo>
                  <a:pt x="615060" y="250443"/>
                </a:lnTo>
                <a:lnTo>
                  <a:pt x="594740" y="202437"/>
                </a:lnTo>
                <a:lnTo>
                  <a:pt x="558672" y="142875"/>
                </a:lnTo>
                <a:lnTo>
                  <a:pt x="526541" y="103631"/>
                </a:lnTo>
                <a:lnTo>
                  <a:pt x="489997" y="68884"/>
                </a:lnTo>
                <a:lnTo>
                  <a:pt x="450341" y="40386"/>
                </a:lnTo>
                <a:lnTo>
                  <a:pt x="446194" y="37973"/>
                </a:lnTo>
                <a:close/>
              </a:path>
              <a:path w="636269" h="722630">
                <a:moveTo>
                  <a:pt x="34078" y="70781"/>
                </a:moveTo>
                <a:lnTo>
                  <a:pt x="33019" y="71627"/>
                </a:lnTo>
                <a:lnTo>
                  <a:pt x="33879" y="71030"/>
                </a:lnTo>
                <a:lnTo>
                  <a:pt x="34078" y="70781"/>
                </a:lnTo>
                <a:close/>
              </a:path>
              <a:path w="636269" h="722630">
                <a:moveTo>
                  <a:pt x="34480" y="70612"/>
                </a:moveTo>
                <a:lnTo>
                  <a:pt x="33879" y="71030"/>
                </a:lnTo>
                <a:lnTo>
                  <a:pt x="33400" y="71627"/>
                </a:lnTo>
                <a:lnTo>
                  <a:pt x="34480" y="70612"/>
                </a:lnTo>
                <a:close/>
              </a:path>
              <a:path w="636269" h="722630">
                <a:moveTo>
                  <a:pt x="35559" y="69596"/>
                </a:moveTo>
                <a:lnTo>
                  <a:pt x="34078" y="70781"/>
                </a:lnTo>
                <a:lnTo>
                  <a:pt x="33879" y="71030"/>
                </a:lnTo>
                <a:lnTo>
                  <a:pt x="34480" y="70612"/>
                </a:lnTo>
                <a:lnTo>
                  <a:pt x="35559" y="69596"/>
                </a:lnTo>
                <a:close/>
              </a:path>
              <a:path w="636269" h="722630">
                <a:moveTo>
                  <a:pt x="35596" y="68884"/>
                </a:moveTo>
                <a:lnTo>
                  <a:pt x="34078" y="70781"/>
                </a:lnTo>
                <a:lnTo>
                  <a:pt x="35242" y="69850"/>
                </a:lnTo>
                <a:lnTo>
                  <a:pt x="35596" y="68884"/>
                </a:lnTo>
                <a:close/>
              </a:path>
              <a:path w="636269" h="722630">
                <a:moveTo>
                  <a:pt x="35940" y="69596"/>
                </a:moveTo>
                <a:lnTo>
                  <a:pt x="35559" y="69596"/>
                </a:lnTo>
                <a:lnTo>
                  <a:pt x="34480" y="70612"/>
                </a:lnTo>
                <a:lnTo>
                  <a:pt x="35940" y="69596"/>
                </a:lnTo>
                <a:close/>
              </a:path>
              <a:path w="636269" h="722630">
                <a:moveTo>
                  <a:pt x="36448" y="67817"/>
                </a:moveTo>
                <a:lnTo>
                  <a:pt x="35596" y="68884"/>
                </a:lnTo>
                <a:lnTo>
                  <a:pt x="35178" y="69850"/>
                </a:lnTo>
                <a:lnTo>
                  <a:pt x="36448" y="67817"/>
                </a:lnTo>
                <a:close/>
              </a:path>
              <a:path w="636269" h="722630">
                <a:moveTo>
                  <a:pt x="39962" y="67817"/>
                </a:moveTo>
                <a:lnTo>
                  <a:pt x="36448" y="67817"/>
                </a:lnTo>
                <a:lnTo>
                  <a:pt x="35178" y="69850"/>
                </a:lnTo>
                <a:lnTo>
                  <a:pt x="35559" y="69596"/>
                </a:lnTo>
                <a:lnTo>
                  <a:pt x="35940" y="69596"/>
                </a:lnTo>
                <a:lnTo>
                  <a:pt x="38100" y="68579"/>
                </a:lnTo>
                <a:lnTo>
                  <a:pt x="39962" y="67817"/>
                </a:lnTo>
                <a:close/>
              </a:path>
              <a:path w="636269" h="722630">
                <a:moveTo>
                  <a:pt x="50164" y="64262"/>
                </a:moveTo>
                <a:lnTo>
                  <a:pt x="37591" y="64262"/>
                </a:lnTo>
                <a:lnTo>
                  <a:pt x="37083" y="66293"/>
                </a:lnTo>
                <a:lnTo>
                  <a:pt x="36714" y="66293"/>
                </a:lnTo>
                <a:lnTo>
                  <a:pt x="35596" y="68884"/>
                </a:lnTo>
                <a:lnTo>
                  <a:pt x="36448" y="67817"/>
                </a:lnTo>
                <a:lnTo>
                  <a:pt x="39962" y="67817"/>
                </a:lnTo>
                <a:lnTo>
                  <a:pt x="40893" y="67437"/>
                </a:lnTo>
                <a:lnTo>
                  <a:pt x="44037" y="66293"/>
                </a:lnTo>
                <a:lnTo>
                  <a:pt x="37083" y="66293"/>
                </a:lnTo>
                <a:lnTo>
                  <a:pt x="36749" y="66213"/>
                </a:lnTo>
                <a:lnTo>
                  <a:pt x="44257" y="66213"/>
                </a:lnTo>
                <a:lnTo>
                  <a:pt x="45084" y="65912"/>
                </a:lnTo>
                <a:lnTo>
                  <a:pt x="50164" y="64262"/>
                </a:lnTo>
                <a:close/>
              </a:path>
              <a:path w="636269" h="722630">
                <a:moveTo>
                  <a:pt x="37591" y="64262"/>
                </a:moveTo>
                <a:lnTo>
                  <a:pt x="36749" y="66213"/>
                </a:lnTo>
                <a:lnTo>
                  <a:pt x="37083" y="66293"/>
                </a:lnTo>
                <a:lnTo>
                  <a:pt x="37591" y="64262"/>
                </a:lnTo>
                <a:close/>
              </a:path>
              <a:path w="636269" h="722630">
                <a:moveTo>
                  <a:pt x="317500" y="0"/>
                </a:moveTo>
                <a:lnTo>
                  <a:pt x="261238" y="888"/>
                </a:lnTo>
                <a:lnTo>
                  <a:pt x="206501" y="3682"/>
                </a:lnTo>
                <a:lnTo>
                  <a:pt x="155194" y="8000"/>
                </a:lnTo>
                <a:lnTo>
                  <a:pt x="109092" y="13588"/>
                </a:lnTo>
                <a:lnTo>
                  <a:pt x="69976" y="20192"/>
                </a:lnTo>
                <a:lnTo>
                  <a:pt x="31876" y="30225"/>
                </a:lnTo>
                <a:lnTo>
                  <a:pt x="11683" y="40131"/>
                </a:lnTo>
                <a:lnTo>
                  <a:pt x="10794" y="40639"/>
                </a:lnTo>
                <a:lnTo>
                  <a:pt x="9906" y="41275"/>
                </a:lnTo>
                <a:lnTo>
                  <a:pt x="5968" y="45212"/>
                </a:lnTo>
                <a:lnTo>
                  <a:pt x="4952" y="46481"/>
                </a:lnTo>
                <a:lnTo>
                  <a:pt x="4063" y="47878"/>
                </a:lnTo>
                <a:lnTo>
                  <a:pt x="2793" y="49784"/>
                </a:lnTo>
                <a:lnTo>
                  <a:pt x="1777" y="51562"/>
                </a:lnTo>
                <a:lnTo>
                  <a:pt x="1015" y="53466"/>
                </a:lnTo>
                <a:lnTo>
                  <a:pt x="507" y="55499"/>
                </a:lnTo>
                <a:lnTo>
                  <a:pt x="0" y="57403"/>
                </a:lnTo>
                <a:lnTo>
                  <a:pt x="36749" y="66213"/>
                </a:lnTo>
                <a:lnTo>
                  <a:pt x="37591" y="64262"/>
                </a:lnTo>
                <a:lnTo>
                  <a:pt x="50164" y="64262"/>
                </a:lnTo>
                <a:lnTo>
                  <a:pt x="95376" y="54355"/>
                </a:lnTo>
                <a:lnTo>
                  <a:pt x="136525" y="48387"/>
                </a:lnTo>
                <a:lnTo>
                  <a:pt x="183895" y="43561"/>
                </a:lnTo>
                <a:lnTo>
                  <a:pt x="235711" y="40131"/>
                </a:lnTo>
                <a:lnTo>
                  <a:pt x="318134" y="37973"/>
                </a:lnTo>
                <a:lnTo>
                  <a:pt x="446194" y="37973"/>
                </a:lnTo>
                <a:lnTo>
                  <a:pt x="436371" y="32257"/>
                </a:lnTo>
                <a:lnTo>
                  <a:pt x="393064" y="12953"/>
                </a:lnTo>
                <a:lnTo>
                  <a:pt x="347852" y="2031"/>
                </a:lnTo>
                <a:lnTo>
                  <a:pt x="332485" y="380"/>
                </a:lnTo>
                <a:lnTo>
                  <a:pt x="3175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96773" y="2316479"/>
            <a:ext cx="399415" cy="114300"/>
          </a:xfrm>
          <a:custGeom>
            <a:avLst/>
            <a:gdLst/>
            <a:ahLst/>
            <a:cxnLst/>
            <a:rect l="l" t="t" r="r" b="b"/>
            <a:pathLst>
              <a:path w="399415" h="114300">
                <a:moveTo>
                  <a:pt x="284988" y="0"/>
                </a:moveTo>
                <a:lnTo>
                  <a:pt x="284988" y="114300"/>
                </a:lnTo>
                <a:lnTo>
                  <a:pt x="361188" y="76200"/>
                </a:lnTo>
                <a:lnTo>
                  <a:pt x="304038" y="76200"/>
                </a:lnTo>
                <a:lnTo>
                  <a:pt x="304038" y="38100"/>
                </a:lnTo>
                <a:lnTo>
                  <a:pt x="361188" y="38100"/>
                </a:lnTo>
                <a:lnTo>
                  <a:pt x="284988" y="0"/>
                </a:lnTo>
                <a:close/>
              </a:path>
              <a:path w="399415" h="114300">
                <a:moveTo>
                  <a:pt x="284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84988" y="76200"/>
                </a:lnTo>
                <a:lnTo>
                  <a:pt x="284988" y="38100"/>
                </a:lnTo>
                <a:close/>
              </a:path>
              <a:path w="399415" h="114300">
                <a:moveTo>
                  <a:pt x="361188" y="38100"/>
                </a:moveTo>
                <a:lnTo>
                  <a:pt x="304038" y="38100"/>
                </a:lnTo>
                <a:lnTo>
                  <a:pt x="304038" y="76200"/>
                </a:lnTo>
                <a:lnTo>
                  <a:pt x="361188" y="76200"/>
                </a:lnTo>
                <a:lnTo>
                  <a:pt x="399288" y="57150"/>
                </a:lnTo>
                <a:lnTo>
                  <a:pt x="3611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763000" y="4523232"/>
            <a:ext cx="381000" cy="779145"/>
          </a:xfrm>
          <a:custGeom>
            <a:avLst/>
            <a:gdLst/>
            <a:ahLst/>
            <a:cxnLst/>
            <a:rect l="l" t="t" r="r" b="b"/>
            <a:pathLst>
              <a:path w="381000" h="779145">
                <a:moveTo>
                  <a:pt x="0" y="778764"/>
                </a:moveTo>
                <a:lnTo>
                  <a:pt x="381000" y="778764"/>
                </a:lnTo>
                <a:lnTo>
                  <a:pt x="381000" y="0"/>
                </a:lnTo>
                <a:lnTo>
                  <a:pt x="0" y="0"/>
                </a:lnTo>
                <a:lnTo>
                  <a:pt x="0" y="778764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8851518" y="4602327"/>
            <a:ext cx="2038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返 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917" y="1680794"/>
            <a:ext cx="555053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6840" algn="l"/>
              </a:tabLst>
            </a:pPr>
            <a:r>
              <a:rPr dirty="0" sz="3600" spc="-5">
                <a:latin typeface="Times New Roman"/>
                <a:cs typeface="Times New Roman"/>
              </a:rPr>
              <a:t>5.4.1	</a:t>
            </a:r>
            <a:r>
              <a:rPr dirty="0" sz="3600">
                <a:latin typeface="Times New Roman"/>
                <a:cs typeface="Times New Roman"/>
              </a:rPr>
              <a:t>LR(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0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)</a:t>
            </a:r>
            <a:r>
              <a:rPr dirty="0" sz="3600" spc="-10"/>
              <a:t>分析实现思想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3393" y="2750896"/>
            <a:ext cx="6241415" cy="164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86840" indent="-1374775">
              <a:lnSpc>
                <a:spcPct val="100000"/>
              </a:lnSpc>
              <a:spcBef>
                <a:spcPts val="10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1386840" algn="l"/>
                <a:tab pos="138747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项目集规范族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88745" indent="-1375410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AutoNum type="arabicPeriod" startAt="2"/>
              <a:tabLst>
                <a:tab pos="1388745" algn="l"/>
                <a:tab pos="138938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6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(0)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12953"/>
            <a:ext cx="9144000" cy="435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12953"/>
            <a:ext cx="9144000" cy="436245"/>
          </a:xfrm>
          <a:custGeom>
            <a:avLst/>
            <a:gdLst/>
            <a:ahLst/>
            <a:cxnLst/>
            <a:rect l="l" t="t" r="r" b="b"/>
            <a:pathLst>
              <a:path w="9144000" h="436245">
                <a:moveTo>
                  <a:pt x="0" y="435863"/>
                </a:moveTo>
                <a:lnTo>
                  <a:pt x="9144000" y="435863"/>
                </a:lnTo>
                <a:lnTo>
                  <a:pt x="914400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90725" y="39750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6314" y="39750"/>
            <a:ext cx="33693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6169" y="2829305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56169" y="2829305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486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5969635" algn="l"/>
                <a:tab pos="67970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640" y="467995"/>
            <a:ext cx="177038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>
                <a:solidFill>
                  <a:srgbClr val="FFFF00"/>
                </a:solidFill>
              </a:rPr>
              <a:t>定义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640" y="1016990"/>
            <a:ext cx="8111490" cy="2738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815340">
              <a:lnSpc>
                <a:spcPct val="13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识别文法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的活前缀的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6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其状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包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含的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项目集的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全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体称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2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项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目集规范族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279400">
              <a:lnSpc>
                <a:spcPct val="100000"/>
              </a:lnSpc>
              <a:spcBef>
                <a:spcPts val="2535"/>
              </a:spcBef>
            </a:pPr>
            <a:r>
              <a:rPr dirty="0" sz="3000" b="1">
                <a:solidFill>
                  <a:srgbClr val="66FF99"/>
                </a:solidFill>
                <a:latin typeface="宋体"/>
                <a:cs typeface="宋体"/>
              </a:rPr>
              <a:t>例</a:t>
            </a:r>
            <a:r>
              <a:rPr dirty="0" sz="3000" spc="-5" b="1">
                <a:solidFill>
                  <a:srgbClr val="66FF99"/>
                </a:solidFill>
                <a:latin typeface="Times New Roman"/>
                <a:cs typeface="Times New Roman"/>
              </a:rPr>
              <a:t>5.12</a:t>
            </a:r>
            <a:r>
              <a:rPr dirty="0" sz="3000" spc="-5" b="1">
                <a:solidFill>
                  <a:srgbClr val="66FF99"/>
                </a:solidFill>
                <a:latin typeface="宋体"/>
                <a:cs typeface="宋体"/>
              </a:rPr>
              <a:t>文法</a:t>
            </a:r>
            <a:r>
              <a:rPr dirty="0" sz="3000" b="1" i="1">
                <a:solidFill>
                  <a:srgbClr val="66FF99"/>
                </a:solidFill>
                <a:latin typeface="Times New Roman"/>
                <a:cs typeface="Times New Roman"/>
              </a:rPr>
              <a:t>G</a:t>
            </a: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(</a:t>
            </a:r>
            <a:r>
              <a:rPr dirty="0" sz="3000" b="1" i="1">
                <a:solidFill>
                  <a:srgbClr val="66FF99"/>
                </a:solidFill>
                <a:latin typeface="Times New Roman"/>
                <a:cs typeface="Times New Roman"/>
              </a:rPr>
              <a:t>S</a:t>
            </a:r>
            <a:r>
              <a:rPr dirty="0" sz="3000" spc="-35" b="1" i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99"/>
                </a:solidFill>
                <a:latin typeface="Symbol"/>
                <a:cs typeface="Symbol"/>
              </a:rPr>
              <a:t></a:t>
            </a: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66FF99"/>
                </a:solidFill>
                <a:latin typeface="宋体"/>
                <a:cs typeface="宋体"/>
              </a:rPr>
              <a:t>的</a:t>
            </a: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LR(0)</a:t>
            </a:r>
            <a:r>
              <a:rPr dirty="0" sz="3000" spc="-5" b="1">
                <a:solidFill>
                  <a:srgbClr val="66FF99"/>
                </a:solidFill>
                <a:latin typeface="宋体"/>
                <a:cs typeface="宋体"/>
              </a:rPr>
              <a:t>项目集规范</a:t>
            </a:r>
            <a:r>
              <a:rPr dirty="0" sz="3000" b="1">
                <a:solidFill>
                  <a:srgbClr val="66FF99"/>
                </a:solidFill>
                <a:latin typeface="宋体"/>
                <a:cs typeface="宋体"/>
              </a:rPr>
              <a:t>族</a:t>
            </a:r>
            <a:r>
              <a:rPr dirty="0" sz="3000" b="1" i="1">
                <a:solidFill>
                  <a:srgbClr val="66FF99"/>
                </a:solidFill>
                <a:latin typeface="Times New Roman"/>
                <a:cs typeface="Times New Roman"/>
              </a:rPr>
              <a:t>C</a:t>
            </a:r>
            <a:r>
              <a:rPr dirty="0" sz="3000" spc="-5" b="1">
                <a:solidFill>
                  <a:srgbClr val="66FF99"/>
                </a:solidFill>
                <a:latin typeface="宋体"/>
                <a:cs typeface="宋体"/>
              </a:rPr>
              <a:t>为：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731" y="4082626"/>
            <a:ext cx="6712584" cy="185229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 b="1">
                <a:solidFill>
                  <a:srgbClr val="66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8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2800">
              <a:latin typeface="宋体"/>
              <a:cs typeface="宋体"/>
            </a:endParaRPr>
          </a:p>
          <a:p>
            <a:pPr marL="812800">
              <a:lnSpc>
                <a:spcPct val="100000"/>
              </a:lnSpc>
              <a:spcBef>
                <a:spcPts val="102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aA</a:t>
            </a:r>
            <a:r>
              <a:rPr dirty="0" sz="2800" spc="-10" b="1">
                <a:solidFill>
                  <a:srgbClr val="00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2800">
              <a:latin typeface="宋体"/>
              <a:cs typeface="宋体"/>
            </a:endParaRPr>
          </a:p>
          <a:p>
            <a:pPr marL="812800">
              <a:lnSpc>
                <a:spcPct val="100000"/>
              </a:lnSpc>
              <a:spcBef>
                <a:spcPts val="114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｝｛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 b="1">
                <a:solidFill>
                  <a:srgbClr val="66FFFF"/>
                </a:solidFill>
                <a:latin typeface="Symbol"/>
                <a:cs typeface="Symbol"/>
              </a:rPr>
              <a:t></a:t>
            </a:r>
            <a:r>
              <a:rPr dirty="0" sz="3200" spc="-9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｝｛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aA</a:t>
            </a:r>
            <a:r>
              <a:rPr dirty="0" sz="2800" spc="-1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r>
              <a:rPr dirty="0" sz="2800" spc="-10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63000" y="4523232"/>
            <a:ext cx="381000" cy="779145"/>
          </a:xfrm>
          <a:custGeom>
            <a:avLst/>
            <a:gdLst/>
            <a:ahLst/>
            <a:cxnLst/>
            <a:rect l="l" t="t" r="r" b="b"/>
            <a:pathLst>
              <a:path w="381000" h="779145">
                <a:moveTo>
                  <a:pt x="0" y="778764"/>
                </a:moveTo>
                <a:lnTo>
                  <a:pt x="381000" y="778764"/>
                </a:lnTo>
                <a:lnTo>
                  <a:pt x="381000" y="0"/>
                </a:lnTo>
                <a:lnTo>
                  <a:pt x="0" y="0"/>
                </a:lnTo>
                <a:lnTo>
                  <a:pt x="0" y="778764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851518" y="4602327"/>
            <a:ext cx="2038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查 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035" algn="l"/>
                <a:tab pos="2439035" algn="l"/>
                <a:tab pos="5652770" algn="l"/>
                <a:tab pos="64782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758697"/>
            <a:ext cx="674306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00"/>
                </a:solidFill>
              </a:rPr>
              <a:t>构造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FFFF00"/>
                </a:solidFill>
              </a:rPr>
              <a:t>项目集规</a:t>
            </a:r>
            <a:r>
              <a:rPr dirty="0" sz="3200" spc="-10">
                <a:solidFill>
                  <a:srgbClr val="FFFF00"/>
                </a:solidFill>
              </a:rPr>
              <a:t>范</a:t>
            </a:r>
            <a:r>
              <a:rPr dirty="0" sz="3200" spc="-5">
                <a:solidFill>
                  <a:srgbClr val="FFFF00"/>
                </a:solidFill>
              </a:rPr>
              <a:t>族</a:t>
            </a:r>
            <a:r>
              <a:rPr dirty="0" sz="3200" spc="15">
                <a:solidFill>
                  <a:srgbClr val="FFFF00"/>
                </a:solidFill>
              </a:rPr>
              <a:t>的</a:t>
            </a:r>
            <a:r>
              <a:rPr dirty="0" sz="3200" spc="-10">
                <a:solidFill>
                  <a:srgbClr val="FFFF00"/>
                </a:solidFill>
              </a:rPr>
              <a:t>方</a:t>
            </a:r>
            <a:r>
              <a:rPr dirty="0" sz="3200" spc="770">
                <a:solidFill>
                  <a:srgbClr val="FFFF00"/>
                </a:solidFill>
              </a:rPr>
              <a:t>法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>
                <a:solidFill>
                  <a:srgbClr val="FFFF00"/>
                </a:solidFill>
              </a:rPr>
              <a:t>之</a:t>
            </a:r>
            <a:r>
              <a:rPr dirty="0" sz="3200" spc="5">
                <a:solidFill>
                  <a:srgbClr val="FFFF00"/>
                </a:solidFill>
              </a:rPr>
              <a:t>一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642" y="1717675"/>
            <a:ext cx="7979409" cy="4474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第一步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75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构造文法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宋体"/>
              <a:cs typeface="宋体"/>
            </a:endParaRPr>
          </a:p>
          <a:p>
            <a:pPr marL="57150">
              <a:lnSpc>
                <a:spcPct val="100000"/>
              </a:lnSpc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第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二步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76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基于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识别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marL="2089150">
              <a:lnSpc>
                <a:spcPct val="100000"/>
              </a:lnSpc>
              <a:spcBef>
                <a:spcPts val="192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所有活前缀的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200" spc="-6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841500" marR="5080" indent="-1829435">
              <a:lnSpc>
                <a:spcPct val="150000"/>
              </a:lnSpc>
              <a:spcBef>
                <a:spcPts val="930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第三步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74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确定化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6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个状态所包含的项目集的集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即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构成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集规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范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035" algn="l"/>
                <a:tab pos="2439035" algn="l"/>
                <a:tab pos="5652770" algn="l"/>
                <a:tab pos="64782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4843" y="693242"/>
            <a:ext cx="698309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FFFF00"/>
                </a:solidFill>
              </a:rPr>
              <a:t>构造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10">
                <a:solidFill>
                  <a:srgbClr val="FFFF00"/>
                </a:solidFill>
              </a:rPr>
              <a:t>项</a:t>
            </a:r>
            <a:r>
              <a:rPr dirty="0" sz="3200" spc="5">
                <a:solidFill>
                  <a:srgbClr val="FFFF00"/>
                </a:solidFill>
              </a:rPr>
              <a:t>目</a:t>
            </a:r>
            <a:r>
              <a:rPr dirty="0" sz="3200" spc="-10">
                <a:solidFill>
                  <a:srgbClr val="FFFF00"/>
                </a:solidFill>
              </a:rPr>
              <a:t>集</a:t>
            </a:r>
            <a:r>
              <a:rPr dirty="0" sz="3200" spc="5">
                <a:solidFill>
                  <a:srgbClr val="FFFF00"/>
                </a:solidFill>
              </a:rPr>
              <a:t>规</a:t>
            </a:r>
            <a:r>
              <a:rPr dirty="0" sz="3200" spc="-10">
                <a:solidFill>
                  <a:srgbClr val="FFFF00"/>
                </a:solidFill>
              </a:rPr>
              <a:t>范族</a:t>
            </a:r>
            <a:r>
              <a:rPr dirty="0" sz="3200" spc="15">
                <a:solidFill>
                  <a:srgbClr val="FFFF00"/>
                </a:solidFill>
              </a:rPr>
              <a:t>的</a:t>
            </a:r>
            <a:r>
              <a:rPr dirty="0" sz="3200" spc="-15">
                <a:solidFill>
                  <a:srgbClr val="FFFF00"/>
                </a:solidFill>
              </a:rPr>
              <a:t>方</a:t>
            </a:r>
            <a:r>
              <a:rPr dirty="0" sz="3200" spc="-10">
                <a:solidFill>
                  <a:srgbClr val="FFFF00"/>
                </a:solidFill>
              </a:rPr>
              <a:t>法</a:t>
            </a:r>
            <a:r>
              <a:rPr dirty="0" sz="3200" spc="-65">
                <a:solidFill>
                  <a:srgbClr val="FFFF00"/>
                </a:solidFill>
              </a:rPr>
              <a:t> </a:t>
            </a:r>
            <a:r>
              <a:rPr dirty="0" sz="3200" spc="5">
                <a:solidFill>
                  <a:srgbClr val="FFFF00"/>
                </a:solidFill>
              </a:rPr>
              <a:t>(</a:t>
            </a:r>
            <a:r>
              <a:rPr dirty="0" sz="3200" spc="-5">
                <a:solidFill>
                  <a:srgbClr val="FFFF00"/>
                </a:solidFill>
              </a:rPr>
              <a:t>之二</a:t>
            </a:r>
            <a:r>
              <a:rPr dirty="0" sz="3200" spc="-10">
                <a:solidFill>
                  <a:srgbClr val="FFFF00"/>
                </a:solidFill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841" y="2198598"/>
            <a:ext cx="8101330" cy="186118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3175635">
              <a:lnSpc>
                <a:spcPct val="100000"/>
              </a:lnSpc>
              <a:spcBef>
                <a:spcPts val="570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closure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项目集闭包）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引入两个函数</a:t>
            </a:r>
            <a:endParaRPr sz="3200">
              <a:latin typeface="宋体"/>
              <a:cs typeface="宋体"/>
            </a:endParaRPr>
          </a:p>
          <a:p>
            <a:pPr marL="3263900">
              <a:lnSpc>
                <a:spcPct val="100000"/>
              </a:lnSpc>
              <a:spcBef>
                <a:spcPts val="198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（项目集转移）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3354" y="2541270"/>
            <a:ext cx="457200" cy="1233170"/>
          </a:xfrm>
          <a:custGeom>
            <a:avLst/>
            <a:gdLst/>
            <a:ahLst/>
            <a:cxnLst/>
            <a:rect l="l" t="t" r="r" b="b"/>
            <a:pathLst>
              <a:path w="457200" h="1233170">
                <a:moveTo>
                  <a:pt x="457199" y="1232915"/>
                </a:moveTo>
                <a:lnTo>
                  <a:pt x="396434" y="1229247"/>
                </a:lnTo>
                <a:lnTo>
                  <a:pt x="341827" y="1218894"/>
                </a:lnTo>
                <a:lnTo>
                  <a:pt x="295560" y="1202832"/>
                </a:lnTo>
                <a:lnTo>
                  <a:pt x="259813" y="1182040"/>
                </a:lnTo>
                <a:lnTo>
                  <a:pt x="228599" y="1130172"/>
                </a:lnTo>
                <a:lnTo>
                  <a:pt x="228599" y="720089"/>
                </a:lnTo>
                <a:lnTo>
                  <a:pt x="220433" y="692758"/>
                </a:lnTo>
                <a:lnTo>
                  <a:pt x="161639" y="647366"/>
                </a:lnTo>
                <a:lnTo>
                  <a:pt x="115372" y="631274"/>
                </a:lnTo>
                <a:lnTo>
                  <a:pt x="60765" y="620897"/>
                </a:lnTo>
                <a:lnTo>
                  <a:pt x="0" y="617219"/>
                </a:lnTo>
                <a:lnTo>
                  <a:pt x="60765" y="613551"/>
                </a:lnTo>
                <a:lnTo>
                  <a:pt x="115372" y="603198"/>
                </a:lnTo>
                <a:lnTo>
                  <a:pt x="161639" y="587136"/>
                </a:lnTo>
                <a:lnTo>
                  <a:pt x="197386" y="566344"/>
                </a:lnTo>
                <a:lnTo>
                  <a:pt x="228599" y="514476"/>
                </a:lnTo>
                <a:lnTo>
                  <a:pt x="228599" y="102742"/>
                </a:lnTo>
                <a:lnTo>
                  <a:pt x="236766" y="75420"/>
                </a:lnTo>
                <a:lnTo>
                  <a:pt x="259813" y="50875"/>
                </a:lnTo>
                <a:lnTo>
                  <a:pt x="295560" y="30083"/>
                </a:lnTo>
                <a:lnTo>
                  <a:pt x="341827" y="14021"/>
                </a:lnTo>
                <a:lnTo>
                  <a:pt x="396434" y="3668"/>
                </a:lnTo>
                <a:lnTo>
                  <a:pt x="45719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7340" y="0"/>
            <a:ext cx="8731250" cy="633476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30"/>
              </a:spcBef>
              <a:tabLst>
                <a:tab pos="1957070" algn="l"/>
                <a:tab pos="2465070" algn="l"/>
                <a:tab pos="5678805" algn="l"/>
                <a:tab pos="650430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65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项目集闭包</a:t>
            </a:r>
            <a:endParaRPr sz="3200">
              <a:latin typeface="宋体"/>
              <a:cs typeface="宋体"/>
            </a:endParaRPr>
          </a:p>
          <a:p>
            <a:pPr marL="88900" marR="1082040" indent="510540">
              <a:lnSpc>
                <a:spcPct val="130100"/>
              </a:lnSpc>
              <a:spcBef>
                <a:spcPts val="8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的任一项目集，则构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的闭包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closure(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394970">
              <a:lnSpc>
                <a:spcPct val="100000"/>
              </a:lnSpc>
              <a:spcBef>
                <a:spcPts val="115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①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中的每一个项目皆属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closure(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105535" marR="441959" indent="-710565">
              <a:lnSpc>
                <a:spcPct val="124200"/>
              </a:lnSpc>
              <a:spcBef>
                <a:spcPts val="3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3200" spc="-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若形如</a:t>
            </a:r>
            <a:r>
              <a:rPr dirty="0" sz="3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Bβ</a:t>
            </a:r>
            <a:r>
              <a:rPr dirty="0" sz="32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的项目属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  则对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中的任何产生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50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的第一个</a:t>
            </a:r>
            <a:endParaRPr sz="3200">
              <a:latin typeface="宋体"/>
              <a:cs typeface="宋体"/>
            </a:endParaRPr>
          </a:p>
          <a:p>
            <a:pPr marL="901065">
              <a:lnSpc>
                <a:spcPct val="100000"/>
              </a:lnSpc>
              <a:spcBef>
                <a:spcPts val="97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350" spc="-65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也属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closu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398145">
              <a:lnSpc>
                <a:spcPct val="100000"/>
              </a:lnSpc>
              <a:spcBef>
                <a:spcPts val="112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重复上述步骤，直至不再有新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项目加入</a:t>
            </a:r>
            <a:endParaRPr sz="3200">
              <a:latin typeface="宋体"/>
              <a:cs typeface="宋体"/>
            </a:endParaRPr>
          </a:p>
          <a:p>
            <a:pPr marL="1003300">
              <a:lnSpc>
                <a:spcPct val="100000"/>
              </a:lnSpc>
              <a:spcBef>
                <a:spcPts val="1155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closure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(I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为止；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142" y="878205"/>
            <a:ext cx="8134350" cy="417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项目集转换函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GO(</a:t>
            </a:r>
            <a:r>
              <a:rPr dirty="0" sz="32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50">
              <a:latin typeface="宋体"/>
              <a:cs typeface="宋体"/>
            </a:endParaRPr>
          </a:p>
          <a:p>
            <a:pPr marL="467995" indent="-455930">
              <a:lnSpc>
                <a:spcPct val="100000"/>
              </a:lnSpc>
              <a:buClr>
                <a:srgbClr val="66FFFF"/>
              </a:buClr>
              <a:buSzPct val="134375"/>
              <a:buFont typeface="Wingdings"/>
              <a:buChar char=""/>
              <a:tabLst>
                <a:tab pos="4686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5.10</a:t>
            </a:r>
            <a:endParaRPr sz="3200">
              <a:latin typeface="Times New Roman"/>
              <a:cs typeface="Times New Roman"/>
            </a:endParaRPr>
          </a:p>
          <a:p>
            <a:pPr marL="317500" marR="573405" indent="609600">
              <a:lnSpc>
                <a:spcPts val="4990"/>
              </a:lnSpc>
              <a:spcBef>
                <a:spcPts val="36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-8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的一个项目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符号，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closure(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824865">
              <a:lnSpc>
                <a:spcPct val="100000"/>
              </a:lnSpc>
              <a:spcBef>
                <a:spcPts val="79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endParaRPr sz="32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  <a:spcBef>
                <a:spcPts val="10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形如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αX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的项目</a:t>
            </a:r>
            <a:r>
              <a:rPr dirty="0" sz="3200" spc="-10" b="1">
                <a:solidFill>
                  <a:srgbClr val="66FFFF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FF"/>
                </a:solidFill>
                <a:latin typeface="Symbol"/>
                <a:cs typeface="Symbol"/>
              </a:rPr>
              <a:t>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1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Xβ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52217" y="26923"/>
            <a:ext cx="34886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3571" y="26923"/>
            <a:ext cx="30397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</a:tabLst>
            </a:pP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035" algn="l"/>
                <a:tab pos="2439035" algn="l"/>
                <a:tab pos="5652770" algn="l"/>
                <a:tab pos="64782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1751" y="1560957"/>
            <a:ext cx="370014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第一步：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拓广文法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843" y="2048457"/>
            <a:ext cx="8395970" cy="4270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815340">
              <a:lnSpc>
                <a:spcPct val="145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为使接受状态易于识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，对于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仅在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一个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产生式左端出现文法的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始符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情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要对文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法进行拓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广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。设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是一文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开始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号，则将产生式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加入到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中构成新的文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84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的开始符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的拓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广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（使文法开始符号的侯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选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式惟</a:t>
            </a:r>
            <a:r>
              <a:rPr dirty="0" sz="3200" spc="-35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5161" y="1242822"/>
            <a:ext cx="4369435" cy="521334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0"/>
              </a:lnSpc>
            </a:pPr>
            <a:r>
              <a:rPr dirty="0" sz="3200" b="1">
                <a:solidFill>
                  <a:srgbClr val="66FF99"/>
                </a:solidFill>
                <a:latin typeface="宋体"/>
                <a:cs typeface="宋体"/>
              </a:rPr>
              <a:t>亦作为方法一的第一步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4843" y="553974"/>
            <a:ext cx="698309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00"/>
                </a:solidFill>
              </a:rPr>
              <a:t>构造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FFFF00"/>
                </a:solidFill>
              </a:rPr>
              <a:t>项目集规</a:t>
            </a:r>
            <a:r>
              <a:rPr dirty="0" sz="3200" spc="-10">
                <a:solidFill>
                  <a:srgbClr val="FFFF00"/>
                </a:solidFill>
              </a:rPr>
              <a:t>范</a:t>
            </a:r>
            <a:r>
              <a:rPr dirty="0" sz="3200" spc="-5">
                <a:solidFill>
                  <a:srgbClr val="FFFF00"/>
                </a:solidFill>
              </a:rPr>
              <a:t>族</a:t>
            </a:r>
            <a:r>
              <a:rPr dirty="0" sz="3200" spc="15">
                <a:solidFill>
                  <a:srgbClr val="FFFF00"/>
                </a:solidFill>
              </a:rPr>
              <a:t>的</a:t>
            </a:r>
            <a:r>
              <a:rPr dirty="0" sz="3200" spc="-10">
                <a:solidFill>
                  <a:srgbClr val="FFFF00"/>
                </a:solidFill>
              </a:rPr>
              <a:t>方法</a:t>
            </a:r>
            <a:r>
              <a:rPr dirty="0" sz="3200" spc="-85">
                <a:solidFill>
                  <a:srgbClr val="FFFF00"/>
                </a:solidFill>
              </a:rPr>
              <a:t> </a:t>
            </a:r>
            <a:r>
              <a:rPr dirty="0" sz="3200">
                <a:solidFill>
                  <a:srgbClr val="FFFF00"/>
                </a:solidFill>
              </a:rPr>
              <a:t>(之二</a:t>
            </a:r>
            <a:r>
              <a:rPr dirty="0" sz="3200" spc="-15">
                <a:solidFill>
                  <a:srgbClr val="FFFF00"/>
                </a:solidFill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2217" y="26923"/>
            <a:ext cx="34886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3571" y="26923"/>
            <a:ext cx="30397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</a:tabLst>
            </a:pP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906907"/>
            <a:ext cx="408495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例如，设文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4228" y="1663064"/>
            <a:ext cx="985519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20061" y="2458973"/>
            <a:ext cx="990600" cy="1149350"/>
          </a:xfrm>
          <a:custGeom>
            <a:avLst/>
            <a:gdLst/>
            <a:ahLst/>
            <a:cxnLst/>
            <a:rect l="l" t="t" r="r" b="b"/>
            <a:pathLst>
              <a:path w="990600" h="1149350">
                <a:moveTo>
                  <a:pt x="990600" y="861822"/>
                </a:moveTo>
                <a:lnTo>
                  <a:pt x="0" y="861822"/>
                </a:lnTo>
                <a:lnTo>
                  <a:pt x="495300" y="1149095"/>
                </a:lnTo>
                <a:lnTo>
                  <a:pt x="990600" y="861822"/>
                </a:lnTo>
                <a:close/>
              </a:path>
              <a:path w="990600" h="1149350">
                <a:moveTo>
                  <a:pt x="742950" y="0"/>
                </a:moveTo>
                <a:lnTo>
                  <a:pt x="247650" y="0"/>
                </a:lnTo>
                <a:lnTo>
                  <a:pt x="247650" y="861822"/>
                </a:lnTo>
                <a:lnTo>
                  <a:pt x="742950" y="861822"/>
                </a:lnTo>
                <a:lnTo>
                  <a:pt x="742950" y="0"/>
                </a:lnTo>
                <a:close/>
              </a:path>
            </a:pathLst>
          </a:custGeom>
          <a:solidFill>
            <a:srgbClr val="CCFFCC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20061" y="2458973"/>
            <a:ext cx="990600" cy="1149350"/>
          </a:xfrm>
          <a:custGeom>
            <a:avLst/>
            <a:gdLst/>
            <a:ahLst/>
            <a:cxnLst/>
            <a:rect l="l" t="t" r="r" b="b"/>
            <a:pathLst>
              <a:path w="990600" h="1149350">
                <a:moveTo>
                  <a:pt x="0" y="861822"/>
                </a:moveTo>
                <a:lnTo>
                  <a:pt x="247650" y="861822"/>
                </a:lnTo>
                <a:lnTo>
                  <a:pt x="247650" y="0"/>
                </a:lnTo>
                <a:lnTo>
                  <a:pt x="742950" y="0"/>
                </a:lnTo>
                <a:lnTo>
                  <a:pt x="742950" y="861822"/>
                </a:lnTo>
                <a:lnTo>
                  <a:pt x="990600" y="861822"/>
                </a:lnTo>
                <a:lnTo>
                  <a:pt x="495300" y="1149095"/>
                </a:lnTo>
                <a:lnTo>
                  <a:pt x="0" y="861822"/>
                </a:lnTo>
                <a:close/>
              </a:path>
            </a:pathLst>
          </a:custGeom>
          <a:ln w="38100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55142" y="1562861"/>
            <a:ext cx="5577205" cy="4935220"/>
          </a:xfrm>
          <a:prstGeom prst="rect">
            <a:avLst/>
          </a:prstGeom>
          <a:ln w="38100">
            <a:solidFill>
              <a:srgbClr val="FF00FF"/>
            </a:solidFill>
          </a:ln>
        </p:spPr>
        <p:txBody>
          <a:bodyPr wrap="square" lIns="0" tIns="113030" rIns="0" bIns="0" rtlCol="0" vert="horz">
            <a:spAutoFit/>
          </a:bodyPr>
          <a:lstStyle/>
          <a:p>
            <a:pPr marL="1064895">
              <a:lnSpc>
                <a:spcPct val="100000"/>
              </a:lnSpc>
              <a:spcBef>
                <a:spcPts val="890"/>
              </a:spcBef>
              <a:tabLst>
                <a:tab pos="3348354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	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的拓广文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  <a:p>
            <a:pPr marL="1231265" marR="2870200">
              <a:lnSpc>
                <a:spcPct val="114100"/>
              </a:lnSpc>
              <a:spcBef>
                <a:spcPts val="30"/>
              </a:spcBef>
            </a:pP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66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S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  <a:spcBef>
                <a:spcPts val="665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  <a:spcBef>
                <a:spcPts val="115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842" y="359638"/>
            <a:ext cx="8133715" cy="178181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23900" marR="5080" indent="-711835">
              <a:lnSpc>
                <a:spcPct val="120100"/>
              </a:lnSpc>
              <a:spcBef>
                <a:spcPts val="95"/>
              </a:spcBef>
            </a:pP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第二步</a:t>
            </a:r>
            <a:r>
              <a:rPr dirty="0" u="heavy" sz="3200" spc="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：</a:t>
            </a:r>
            <a:r>
              <a:rPr dirty="0" sz="3200">
                <a:solidFill>
                  <a:srgbClr val="FFFFFF"/>
                </a:solidFill>
              </a:rPr>
              <a:t>构造文法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</a:rPr>
              <a:t>的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FFFFFF"/>
                </a:solidFill>
              </a:rPr>
              <a:t>项目</a:t>
            </a:r>
            <a:r>
              <a:rPr dirty="0" sz="3200" spc="-10">
                <a:solidFill>
                  <a:srgbClr val="FFFFFF"/>
                </a:solidFill>
              </a:rPr>
              <a:t>集</a:t>
            </a:r>
            <a:r>
              <a:rPr dirty="0" sz="3200">
                <a:solidFill>
                  <a:srgbClr val="FFFFFF"/>
                </a:solidFill>
              </a:rPr>
              <a:t>规</a:t>
            </a:r>
            <a:r>
              <a:rPr dirty="0" sz="3200" spc="-5">
                <a:solidFill>
                  <a:srgbClr val="FFFFFF"/>
                </a:solidFill>
              </a:rPr>
              <a:t>范</a:t>
            </a:r>
            <a:r>
              <a:rPr dirty="0" sz="3200" spc="10">
                <a:solidFill>
                  <a:srgbClr val="FFFFFF"/>
                </a:solidFill>
              </a:rPr>
              <a:t>族</a:t>
            </a:r>
            <a:r>
              <a:rPr dirty="0" sz="3200" spc="-10">
                <a:solidFill>
                  <a:srgbClr val="FFFFFF"/>
                </a:solidFill>
              </a:rPr>
              <a:t>。 </a:t>
            </a:r>
            <a:r>
              <a:rPr dirty="0" sz="3200">
                <a:solidFill>
                  <a:srgbClr val="FFFFFF"/>
                </a:solidFill>
              </a:rPr>
              <a:t>利用函数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closure</a:t>
            </a:r>
            <a:r>
              <a:rPr dirty="0" sz="3200">
                <a:solidFill>
                  <a:srgbClr val="FFFFFF"/>
                </a:solidFill>
              </a:rPr>
              <a:t>和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200" spc="-5">
                <a:solidFill>
                  <a:srgbClr val="FFFFFF"/>
                </a:solidFill>
              </a:rPr>
              <a:t>，</a:t>
            </a:r>
            <a:r>
              <a:rPr dirty="0" sz="3200">
                <a:solidFill>
                  <a:srgbClr val="FFFFFF"/>
                </a:solidFill>
              </a:rPr>
              <a:t>完成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FFFFFF"/>
                </a:solidFill>
              </a:rPr>
              <a:t>项</a:t>
            </a:r>
            <a:r>
              <a:rPr dirty="0" sz="3200" spc="-10">
                <a:solidFill>
                  <a:srgbClr val="FFFFFF"/>
                </a:solidFill>
              </a:rPr>
              <a:t>目集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>
                <a:solidFill>
                  <a:srgbClr val="FFFFFF"/>
                </a:solidFill>
              </a:rPr>
              <a:t>规范族的构造：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112770" y="2775966"/>
            <a:ext cx="1205865" cy="64198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1471" y="2806065"/>
            <a:ext cx="4540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}}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642" y="2100724"/>
            <a:ext cx="2276475" cy="171894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itemsets(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825"/>
              </a:spcBef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0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={closure{</a:t>
            </a:r>
            <a:endParaRPr sz="3000">
              <a:latin typeface="Times New Roman"/>
              <a:cs typeface="Times New Roman"/>
            </a:endParaRPr>
          </a:p>
          <a:p>
            <a:pPr marL="812165">
              <a:lnSpc>
                <a:spcPct val="100000"/>
              </a:lnSpc>
              <a:spcBef>
                <a:spcPts val="580"/>
              </a:spcBef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do{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842" y="3793997"/>
            <a:ext cx="7446645" cy="2689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0" marR="5080" indent="-534035">
              <a:lnSpc>
                <a:spcPct val="114999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dirty="0" sz="30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的每个项目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000" spc="-7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和每个文法符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, 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0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0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非空且不在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marL="1117600">
              <a:lnSpc>
                <a:spcPct val="100000"/>
              </a:lnSpc>
              <a:spcBef>
                <a:spcPts val="780"/>
              </a:spcBef>
            </a:pP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dirty="0" sz="30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0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加入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575"/>
              </a:spcBef>
              <a:tabLst>
                <a:tab pos="1507490" algn="l"/>
              </a:tabLst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while	(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没有更多的项目集可以加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);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3247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035" algn="l"/>
                <a:tab pos="2439035" algn="l"/>
                <a:tab pos="5652770" algn="l"/>
                <a:tab pos="64782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57065" y="2337816"/>
            <a:ext cx="1732914" cy="114300"/>
          </a:xfrm>
          <a:custGeom>
            <a:avLst/>
            <a:gdLst/>
            <a:ahLst/>
            <a:cxnLst/>
            <a:rect l="l" t="t" r="r" b="b"/>
            <a:pathLst>
              <a:path w="1732914" h="114300">
                <a:moveTo>
                  <a:pt x="1618488" y="0"/>
                </a:moveTo>
                <a:lnTo>
                  <a:pt x="1618488" y="114300"/>
                </a:lnTo>
                <a:lnTo>
                  <a:pt x="1694688" y="76200"/>
                </a:lnTo>
                <a:lnTo>
                  <a:pt x="1637538" y="76200"/>
                </a:lnTo>
                <a:lnTo>
                  <a:pt x="1637538" y="38100"/>
                </a:lnTo>
                <a:lnTo>
                  <a:pt x="1694688" y="38100"/>
                </a:lnTo>
                <a:lnTo>
                  <a:pt x="1618488" y="0"/>
                </a:lnTo>
                <a:close/>
              </a:path>
              <a:path w="1732914" h="114300">
                <a:moveTo>
                  <a:pt x="16184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18488" y="76200"/>
                </a:lnTo>
                <a:lnTo>
                  <a:pt x="1618488" y="38100"/>
                </a:lnTo>
                <a:close/>
              </a:path>
              <a:path w="1732914" h="114300">
                <a:moveTo>
                  <a:pt x="1694688" y="38100"/>
                </a:moveTo>
                <a:lnTo>
                  <a:pt x="1637538" y="38100"/>
                </a:lnTo>
                <a:lnTo>
                  <a:pt x="1637538" y="76200"/>
                </a:lnTo>
                <a:lnTo>
                  <a:pt x="1694688" y="76200"/>
                </a:lnTo>
                <a:lnTo>
                  <a:pt x="1732788" y="57150"/>
                </a:lnTo>
                <a:lnTo>
                  <a:pt x="16946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57065" y="2394966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89091" y="2107692"/>
            <a:ext cx="1981200" cy="48514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 vert="horz">
            <a:spAutoFit/>
          </a:bodyPr>
          <a:lstStyle/>
          <a:p>
            <a:pPr marL="92710">
              <a:lnSpc>
                <a:spcPts val="3665"/>
              </a:lnSpc>
            </a:pPr>
            <a:r>
              <a:rPr dirty="0" sz="3200" b="1">
                <a:latin typeface="宋体"/>
                <a:cs typeface="宋体"/>
              </a:rPr>
              <a:t>基本项目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035" algn="l"/>
                <a:tab pos="2439035" algn="l"/>
                <a:tab pos="5652770" algn="l"/>
                <a:tab pos="64782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592" y="2132329"/>
            <a:ext cx="8839200" cy="0"/>
          </a:xfrm>
          <a:custGeom>
            <a:avLst/>
            <a:gdLst/>
            <a:ahLst/>
            <a:cxnLst/>
            <a:rect l="l" t="t" r="r" b="b"/>
            <a:pathLst>
              <a:path w="8839200" h="0">
                <a:moveTo>
                  <a:pt x="0" y="0"/>
                </a:moveTo>
                <a:lnTo>
                  <a:pt x="8839200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0942" y="490219"/>
            <a:ext cx="0" cy="1635760"/>
          </a:xfrm>
          <a:custGeom>
            <a:avLst/>
            <a:gdLst/>
            <a:ahLst/>
            <a:cxnLst/>
            <a:rect l="l" t="t" r="r" b="b"/>
            <a:pathLst>
              <a:path w="0" h="1635760">
                <a:moveTo>
                  <a:pt x="0" y="0"/>
                </a:moveTo>
                <a:lnTo>
                  <a:pt x="0" y="163576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4592" y="483869"/>
            <a:ext cx="8839200" cy="0"/>
          </a:xfrm>
          <a:custGeom>
            <a:avLst/>
            <a:gdLst/>
            <a:ahLst/>
            <a:cxnLst/>
            <a:rect l="l" t="t" r="r" b="b"/>
            <a:pathLst>
              <a:path w="8839200" h="0">
                <a:moveTo>
                  <a:pt x="0" y="0"/>
                </a:moveTo>
                <a:lnTo>
                  <a:pt x="8839200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997442" y="489712"/>
            <a:ext cx="0" cy="1635760"/>
          </a:xfrm>
          <a:custGeom>
            <a:avLst/>
            <a:gdLst/>
            <a:ahLst/>
            <a:cxnLst/>
            <a:rect l="l" t="t" r="r" b="b"/>
            <a:pathLst>
              <a:path w="0" h="1635760">
                <a:moveTo>
                  <a:pt x="0" y="0"/>
                </a:moveTo>
                <a:lnTo>
                  <a:pt x="0" y="163576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9992" y="2100579"/>
            <a:ext cx="8788400" cy="0"/>
          </a:xfrm>
          <a:custGeom>
            <a:avLst/>
            <a:gdLst/>
            <a:ahLst/>
            <a:cxnLst/>
            <a:rect l="l" t="t" r="r" b="b"/>
            <a:pathLst>
              <a:path w="8788400" h="0">
                <a:moveTo>
                  <a:pt x="0" y="0"/>
                </a:moveTo>
                <a:lnTo>
                  <a:pt x="8788400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2692" y="528319"/>
            <a:ext cx="0" cy="1559560"/>
          </a:xfrm>
          <a:custGeom>
            <a:avLst/>
            <a:gdLst/>
            <a:ahLst/>
            <a:cxnLst/>
            <a:rect l="l" t="t" r="r" b="b"/>
            <a:pathLst>
              <a:path w="0" h="1559560">
                <a:moveTo>
                  <a:pt x="0" y="0"/>
                </a:moveTo>
                <a:lnTo>
                  <a:pt x="0" y="155956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9992" y="515619"/>
            <a:ext cx="8788400" cy="0"/>
          </a:xfrm>
          <a:custGeom>
            <a:avLst/>
            <a:gdLst/>
            <a:ahLst/>
            <a:cxnLst/>
            <a:rect l="l" t="t" r="r" b="b"/>
            <a:pathLst>
              <a:path w="8788400" h="0">
                <a:moveTo>
                  <a:pt x="0" y="0"/>
                </a:moveTo>
                <a:lnTo>
                  <a:pt x="8788400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65692" y="527812"/>
            <a:ext cx="0" cy="1559560"/>
          </a:xfrm>
          <a:custGeom>
            <a:avLst/>
            <a:gdLst/>
            <a:ahLst/>
            <a:cxnLst/>
            <a:rect l="l" t="t" r="r" b="b"/>
            <a:pathLst>
              <a:path w="0" h="1559560">
                <a:moveTo>
                  <a:pt x="0" y="0"/>
                </a:moveTo>
                <a:lnTo>
                  <a:pt x="0" y="155956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8091" y="206882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2200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4441" y="553719"/>
            <a:ext cx="0" cy="1508760"/>
          </a:xfrm>
          <a:custGeom>
            <a:avLst/>
            <a:gdLst/>
            <a:ahLst/>
            <a:cxnLst/>
            <a:rect l="l" t="t" r="r" b="b"/>
            <a:pathLst>
              <a:path w="0" h="1508760">
                <a:moveTo>
                  <a:pt x="0" y="0"/>
                </a:moveTo>
                <a:lnTo>
                  <a:pt x="0" y="150876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8091" y="54736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2200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933942" y="553212"/>
            <a:ext cx="0" cy="1508760"/>
          </a:xfrm>
          <a:custGeom>
            <a:avLst/>
            <a:gdLst/>
            <a:ahLst/>
            <a:cxnLst/>
            <a:rect l="l" t="t" r="r" b="b"/>
            <a:pathLst>
              <a:path w="0" h="1508760">
                <a:moveTo>
                  <a:pt x="0" y="0"/>
                </a:moveTo>
                <a:lnTo>
                  <a:pt x="0" y="150876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5391" y="528319"/>
            <a:ext cx="8737600" cy="1559560"/>
          </a:xfrm>
          <a:prstGeom prst="rect">
            <a:avLst/>
          </a:prstGeom>
          <a:solidFill>
            <a:srgbClr val="000758"/>
          </a:solidFill>
        </p:spPr>
        <p:txBody>
          <a:bodyPr wrap="square" lIns="0" tIns="0" rIns="0" bIns="0" rtlCol="0" vert="horz">
            <a:spAutoFit/>
          </a:bodyPr>
          <a:lstStyle/>
          <a:p>
            <a:pPr marL="78740">
              <a:lnSpc>
                <a:spcPts val="355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利用构造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项目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集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规范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族</a:t>
            </a:r>
            <a:r>
              <a:rPr dirty="0" sz="3200" spc="1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方</a:t>
            </a:r>
            <a:r>
              <a:rPr dirty="0" sz="3200" spc="75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之二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求</a:t>
            </a:r>
            <a:endParaRPr sz="3200">
              <a:latin typeface="宋体"/>
              <a:cs typeface="宋体"/>
            </a:endParaRPr>
          </a:p>
          <a:p>
            <a:pPr marL="78740">
              <a:lnSpc>
                <a:spcPct val="100000"/>
              </a:lnSpc>
              <a:spcBef>
                <a:spcPts val="19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如下文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目集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规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范族</a:t>
            </a:r>
            <a:endParaRPr sz="3200">
              <a:latin typeface="宋体"/>
              <a:cs typeface="宋体"/>
            </a:endParaRPr>
          </a:p>
          <a:p>
            <a:pPr marL="78740">
              <a:lnSpc>
                <a:spcPct val="100000"/>
              </a:lnSpc>
              <a:spcBef>
                <a:spcPts val="195"/>
              </a:spcBef>
              <a:tabLst>
                <a:tab pos="1999614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	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｜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3840" y="2140510"/>
            <a:ext cx="8192134" cy="4611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88900">
              <a:lnSpc>
                <a:spcPct val="1278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开始符号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的候选式唯一，不用拓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广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文法； 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closure(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FFFFFF"/>
                </a:solidFill>
                <a:latin typeface="Times New Roman"/>
                <a:cs typeface="Times New Roman"/>
              </a:rPr>
              <a:t>→.</a:t>
            </a:r>
            <a:r>
              <a:rPr dirty="0" sz="2800" spc="-5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0" b="1">
                <a:solidFill>
                  <a:srgbClr val="FFFFFF"/>
                </a:solidFill>
                <a:latin typeface="Times New Roman"/>
                <a:cs typeface="Times New Roman"/>
              </a:rPr>
              <a:t>→.</a:t>
            </a:r>
            <a:r>
              <a:rPr dirty="0" sz="2800" spc="-50" b="1" i="1">
                <a:solidFill>
                  <a:srgbClr val="FFFFFF"/>
                </a:solidFill>
                <a:latin typeface="Times New Roman"/>
                <a:cs typeface="Times New Roman"/>
              </a:rPr>
              <a:t>aA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1984" sz="4200" spc="7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baseline="1984" sz="4200" spc="7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baseline="1984" sz="4200" spc="7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spc="7" b="1">
                <a:solidFill>
                  <a:srgbClr val="66FFFF"/>
                </a:solidFill>
                <a:latin typeface="Times New Roman"/>
                <a:cs typeface="Times New Roman"/>
              </a:rPr>
              <a:t>0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25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spc="2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19519" sz="2775" spc="37" b="1">
                <a:solidFill>
                  <a:srgbClr val="66FFFF"/>
                </a:solidFill>
                <a:latin typeface="Times New Roman"/>
                <a:cs typeface="Times New Roman"/>
              </a:rPr>
              <a:t>1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)=closure(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976" sz="4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-2976" sz="4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976" sz="4200" b="1">
                <a:solidFill>
                  <a:srgbClr val="FFFFFF"/>
                </a:solidFill>
                <a:latin typeface="Times New Roman"/>
                <a:cs typeface="Times New Roman"/>
              </a:rPr>
              <a:t>→.</a:t>
            </a:r>
            <a:r>
              <a:rPr dirty="0" baseline="-2976" sz="4200" b="1" i="1">
                <a:solidFill>
                  <a:srgbClr val="FFFFFF"/>
                </a:solidFill>
                <a:latin typeface="Times New Roman"/>
                <a:cs typeface="Times New Roman"/>
              </a:rPr>
              <a:t>aA </a:t>
            </a:r>
            <a:r>
              <a:rPr dirty="0" baseline="-2976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baseline="-2976" sz="42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976" sz="4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baseline="-2976" sz="4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2976" sz="4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baseline="-2976" sz="4200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baseline="-2976" sz="4200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24024" sz="2775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baseline="-24024" sz="2775">
              <a:latin typeface="Times New Roman"/>
              <a:cs typeface="Times New Roman"/>
            </a:endParaRPr>
          </a:p>
          <a:p>
            <a:pPr marL="114300" marR="1773555" indent="-12700">
              <a:lnSpc>
                <a:spcPct val="140600"/>
              </a:lnSpc>
              <a:spcBef>
                <a:spcPts val="1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.}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b="1">
                <a:solidFill>
                  <a:srgbClr val="66FFFF"/>
                </a:solidFill>
                <a:latin typeface="Times New Roman"/>
                <a:cs typeface="Times New Roman"/>
              </a:rPr>
              <a:t>3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.}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7" b="1">
                <a:solidFill>
                  <a:srgbClr val="66FFFF"/>
                </a:solidFill>
                <a:latin typeface="Times New Roman"/>
                <a:cs typeface="Times New Roman"/>
              </a:rPr>
              <a:t>4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7" b="1">
                <a:solidFill>
                  <a:srgbClr val="66FFFF"/>
                </a:solidFill>
                <a:latin typeface="Times New Roman"/>
                <a:cs typeface="Times New Roman"/>
              </a:rPr>
              <a:t>2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7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baseline="-21021" sz="27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035" algn="l"/>
                <a:tab pos="2439035" algn="l"/>
                <a:tab pos="5652770" algn="l"/>
                <a:tab pos="64782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5440" y="700277"/>
            <a:ext cx="41097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</a:rPr>
              <a:t>求得项目集规范族为：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320040" y="1188821"/>
            <a:ext cx="7970520" cy="264096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0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50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={{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→.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→.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.}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→.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.}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.}}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77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函数为：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456112" y="3389312"/>
          <a:ext cx="3370579" cy="3152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1850"/>
                <a:gridCol w="831850"/>
                <a:gridCol w="831850"/>
                <a:gridCol w="831850"/>
              </a:tblGrid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035" algn="l"/>
                <a:tab pos="2439035" algn="l"/>
                <a:tab pos="5652770" algn="l"/>
                <a:tab pos="64782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4043" y="387243"/>
            <a:ext cx="8623300" cy="1174115"/>
          </a:xfrm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25400" marR="17780">
              <a:lnSpc>
                <a:spcPct val="116100"/>
              </a:lnSpc>
              <a:spcBef>
                <a:spcPts val="40"/>
              </a:spcBef>
            </a:pPr>
            <a:r>
              <a:rPr dirty="0" sz="3200">
                <a:solidFill>
                  <a:srgbClr val="FFFFFF"/>
                </a:solidFill>
              </a:rPr>
              <a:t>应用求项目集规范族的方法</a:t>
            </a:r>
            <a:r>
              <a:rPr dirty="0" sz="3200" spc="-15">
                <a:solidFill>
                  <a:srgbClr val="FFFFFF"/>
                </a:solidFill>
              </a:rPr>
              <a:t>二</a:t>
            </a:r>
            <a:r>
              <a:rPr dirty="0" sz="3200">
                <a:solidFill>
                  <a:srgbClr val="FFFFFF"/>
                </a:solidFill>
              </a:rPr>
              <a:t>直接</a:t>
            </a:r>
            <a:r>
              <a:rPr dirty="0" sz="3200" spc="-15">
                <a:solidFill>
                  <a:srgbClr val="FFFFFF"/>
                </a:solidFill>
              </a:rPr>
              <a:t>得</a:t>
            </a:r>
            <a:r>
              <a:rPr dirty="0" sz="3200">
                <a:solidFill>
                  <a:srgbClr val="FFFFFF"/>
                </a:solidFill>
              </a:rPr>
              <a:t>出识</a:t>
            </a:r>
            <a:r>
              <a:rPr dirty="0" sz="3200" spc="-15">
                <a:solidFill>
                  <a:srgbClr val="FFFFFF"/>
                </a:solidFill>
              </a:rPr>
              <a:t>别</a:t>
            </a:r>
            <a:r>
              <a:rPr dirty="0" sz="3200">
                <a:solidFill>
                  <a:srgbClr val="FFFFFF"/>
                </a:solidFill>
              </a:rPr>
              <a:t>活前 </a:t>
            </a:r>
            <a:r>
              <a:rPr dirty="0" sz="3200" spc="-5">
                <a:solidFill>
                  <a:srgbClr val="FFFFFF"/>
                </a:solidFill>
              </a:rPr>
              <a:t>缀的</a:t>
            </a:r>
            <a:r>
              <a:rPr dirty="0" sz="3200" spc="-25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5">
                <a:solidFill>
                  <a:srgbClr val="FFFFFF"/>
                </a:solidFill>
              </a:rPr>
              <a:t>＝</a:t>
            </a:r>
            <a:r>
              <a:rPr dirty="0" sz="3200" spc="-25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spc="-25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-25">
                <a:solidFill>
                  <a:srgbClr val="FFFFFF"/>
                </a:solidFill>
              </a:rPr>
              <a:t>，</a:t>
            </a:r>
            <a:r>
              <a:rPr dirty="0" sz="3350" spc="-25" i="1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dirty="0" sz="3200" spc="-25">
                <a:solidFill>
                  <a:srgbClr val="FFFFFF"/>
                </a:solidFill>
              </a:rPr>
              <a:t>，</a:t>
            </a:r>
            <a:r>
              <a:rPr dirty="0" sz="3200" spc="-25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-25">
                <a:solidFill>
                  <a:srgbClr val="FFFFFF"/>
                </a:solidFill>
              </a:rPr>
              <a:t>，</a:t>
            </a:r>
            <a:r>
              <a:rPr dirty="0" sz="3200" spc="-25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-37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25">
                <a:solidFill>
                  <a:srgbClr val="FFFFFF"/>
                </a:solidFill>
              </a:rPr>
              <a:t>，</a:t>
            </a:r>
            <a:r>
              <a:rPr dirty="0" sz="3200" spc="-25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3200" spc="-25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10">
                <a:solidFill>
                  <a:srgbClr val="FFFFFF"/>
                </a:solidFill>
              </a:rPr>
              <a:t>。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343" y="1402994"/>
            <a:ext cx="7473950" cy="4563110"/>
          </a:xfrm>
          <a:prstGeom prst="rect">
            <a:avLst/>
          </a:prstGeom>
        </p:spPr>
        <p:txBody>
          <a:bodyPr wrap="square" lIns="0" tIns="25527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1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203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>
              <a:latin typeface="Times New Roman"/>
              <a:cs typeface="Times New Roman"/>
            </a:endParaRPr>
          </a:p>
          <a:p>
            <a:pPr marL="469900" indent="-407034">
              <a:lnSpc>
                <a:spcPct val="100000"/>
              </a:lnSpc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Times New Roman"/>
              <a:buAutoNum type="arabicPeriod" startAt="3"/>
            </a:pPr>
            <a:endParaRPr sz="3250">
              <a:latin typeface="宋体"/>
              <a:cs typeface="宋体"/>
            </a:endParaRPr>
          </a:p>
          <a:p>
            <a:pPr marL="469900" indent="-407034">
              <a:lnSpc>
                <a:spcPct val="100000"/>
              </a:lnSpc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为基本项目的闭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包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对应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FFFF"/>
              </a:buClr>
              <a:buFont typeface="Times New Roman"/>
              <a:buAutoNum type="arabicPeriod" startAt="3"/>
            </a:pPr>
            <a:endParaRPr sz="3200">
              <a:latin typeface="宋体"/>
              <a:cs typeface="宋体"/>
            </a:endParaRPr>
          </a:p>
          <a:p>
            <a:pPr marL="572135" indent="-509270">
              <a:lnSpc>
                <a:spcPct val="100000"/>
              </a:lnSpc>
              <a:buFont typeface="Times New Roman"/>
              <a:buAutoNum type="arabicPeriod" startAt="3"/>
              <a:tabLst>
                <a:tab pos="572135" algn="l"/>
                <a:tab pos="57277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包含归约项目的项目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构成终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3200" spc="-7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035" algn="l"/>
                <a:tab pos="2439035" algn="l"/>
                <a:tab pos="5652770" algn="l"/>
                <a:tab pos="64782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6743" y="361412"/>
            <a:ext cx="8597900" cy="11957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3200">
                <a:solidFill>
                  <a:srgbClr val="FFFFFF"/>
                </a:solidFill>
              </a:rPr>
              <a:t>应用求项目集规范族的方法</a:t>
            </a:r>
            <a:r>
              <a:rPr dirty="0" sz="3200" spc="-15">
                <a:solidFill>
                  <a:srgbClr val="FFFFFF"/>
                </a:solidFill>
              </a:rPr>
              <a:t>二</a:t>
            </a:r>
            <a:r>
              <a:rPr dirty="0" sz="3200">
                <a:solidFill>
                  <a:srgbClr val="FFFFFF"/>
                </a:solidFill>
              </a:rPr>
              <a:t>直接</a:t>
            </a:r>
            <a:r>
              <a:rPr dirty="0" sz="3200" spc="-15">
                <a:solidFill>
                  <a:srgbClr val="FFFFFF"/>
                </a:solidFill>
              </a:rPr>
              <a:t>求</a:t>
            </a:r>
            <a:r>
              <a:rPr dirty="0" sz="3200">
                <a:solidFill>
                  <a:srgbClr val="FFFFFF"/>
                </a:solidFill>
              </a:rPr>
              <a:t>出识</a:t>
            </a:r>
            <a:r>
              <a:rPr dirty="0" sz="3200" spc="-15">
                <a:solidFill>
                  <a:srgbClr val="FFFFFF"/>
                </a:solidFill>
              </a:rPr>
              <a:t>别</a:t>
            </a:r>
            <a:r>
              <a:rPr dirty="0" sz="3200">
                <a:solidFill>
                  <a:srgbClr val="FFFFFF"/>
                </a:solidFill>
              </a:rPr>
              <a:t>活前 </a:t>
            </a:r>
            <a:r>
              <a:rPr dirty="0" sz="3200" spc="-5">
                <a:solidFill>
                  <a:srgbClr val="FFFFFF"/>
                </a:solidFill>
              </a:rPr>
              <a:t>缀的</a:t>
            </a:r>
            <a:r>
              <a:rPr dirty="0" sz="3200" spc="-20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0">
                <a:solidFill>
                  <a:srgbClr val="FFFFFF"/>
                </a:solidFill>
              </a:rPr>
              <a:t>＝</a:t>
            </a:r>
            <a:r>
              <a:rPr dirty="0" sz="3200" spc="-2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spc="-20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-20">
                <a:solidFill>
                  <a:srgbClr val="FFFFFF"/>
                </a:solidFill>
              </a:rPr>
              <a:t>，</a:t>
            </a:r>
            <a:r>
              <a:rPr dirty="0" sz="3200" spc="-20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3200" spc="-20">
                <a:solidFill>
                  <a:srgbClr val="FFFFFF"/>
                </a:solidFill>
              </a:rPr>
              <a:t>，</a:t>
            </a:r>
            <a:r>
              <a:rPr dirty="0" sz="3200" spc="-20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-20">
                <a:solidFill>
                  <a:srgbClr val="FFFFFF"/>
                </a:solidFill>
              </a:rPr>
              <a:t>，</a:t>
            </a:r>
            <a:r>
              <a:rPr dirty="0" sz="3200" spc="-2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20">
                <a:solidFill>
                  <a:srgbClr val="FFFFFF"/>
                </a:solidFill>
              </a:rPr>
              <a:t>，</a:t>
            </a:r>
            <a:r>
              <a:rPr dirty="0" sz="3200" spc="-20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3200" spc="-2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10">
                <a:solidFill>
                  <a:srgbClr val="FFFFFF"/>
                </a:solidFill>
              </a:rPr>
              <a:t>。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143" y="1585442"/>
            <a:ext cx="8183880" cy="500316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419734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拓广文法。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使文法开始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号的侯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选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式惟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一。</a:t>
            </a:r>
            <a:endParaRPr sz="3200">
              <a:latin typeface="宋体"/>
              <a:cs typeface="宋体"/>
            </a:endParaRPr>
          </a:p>
          <a:p>
            <a:pPr marL="521334" indent="-509270">
              <a:lnSpc>
                <a:spcPct val="100000"/>
              </a:lnSpc>
              <a:spcBef>
                <a:spcPts val="475"/>
              </a:spcBef>
              <a:buFont typeface="Times New Roman"/>
              <a:buAutoNum type="arabicPeriod"/>
              <a:tabLst>
                <a:tab pos="521334" algn="l"/>
                <a:tab pos="52197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利用函数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closure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6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393700" marR="2192020" indent="126364">
              <a:lnSpc>
                <a:spcPct val="115300"/>
              </a:lnSpc>
              <a:spcBef>
                <a:spcPts val="18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初始状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closure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0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} 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do{</a:t>
            </a:r>
            <a:endParaRPr sz="3000">
              <a:latin typeface="Times New Roman"/>
              <a:cs typeface="Times New Roman"/>
            </a:endParaRPr>
          </a:p>
          <a:p>
            <a:pPr marL="1498600" marR="1708150" indent="-533400">
              <a:lnSpc>
                <a:spcPts val="4380"/>
              </a:lnSpc>
              <a:spcBef>
                <a:spcPts val="35"/>
              </a:spcBef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30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对每个状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和每个文法符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X 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0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非空且不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marL="1498600">
              <a:lnSpc>
                <a:spcPct val="100000"/>
              </a:lnSpc>
              <a:spcBef>
                <a:spcPts val="300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加入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中且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000">
              <a:latin typeface="Times New Roman"/>
              <a:cs typeface="Times New Roman"/>
            </a:endParaRPr>
          </a:p>
          <a:p>
            <a:pPr marL="583565">
              <a:lnSpc>
                <a:spcPct val="100000"/>
              </a:lnSpc>
              <a:spcBef>
                <a:spcPts val="540"/>
              </a:spcBef>
              <a:tabLst>
                <a:tab pos="1888489" algn="l"/>
                <a:tab pos="7134859" algn="l"/>
              </a:tabLst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}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while	(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没有更多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状态可以加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);	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000">
              <a:latin typeface="Times New Roman"/>
              <a:cs typeface="Times New Roman"/>
            </a:endParaRPr>
          </a:p>
          <a:p>
            <a:pPr marL="521334" indent="-509270">
              <a:lnSpc>
                <a:spcPct val="100000"/>
              </a:lnSpc>
              <a:spcBef>
                <a:spcPts val="1095"/>
              </a:spcBef>
              <a:buFont typeface="Times New Roman"/>
              <a:buAutoNum type="arabicPeriod" startAt="3"/>
              <a:tabLst>
                <a:tab pos="521334" algn="l"/>
                <a:tab pos="52197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包含归约项目的状态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终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4438" y="2151126"/>
            <a:ext cx="1767839" cy="1804670"/>
          </a:xfrm>
          <a:custGeom>
            <a:avLst/>
            <a:gdLst/>
            <a:ahLst/>
            <a:cxnLst/>
            <a:rect l="l" t="t" r="r" b="b"/>
            <a:pathLst>
              <a:path w="1767839" h="1804670">
                <a:moveTo>
                  <a:pt x="0" y="1804416"/>
                </a:moveTo>
                <a:lnTo>
                  <a:pt x="1767839" y="1804416"/>
                </a:lnTo>
                <a:lnTo>
                  <a:pt x="1767839" y="0"/>
                </a:lnTo>
                <a:lnTo>
                  <a:pt x="0" y="0"/>
                </a:lnTo>
                <a:lnTo>
                  <a:pt x="0" y="18044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69334" y="2305304"/>
            <a:ext cx="1638935" cy="137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2: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13030" marR="241935">
              <a:lnSpc>
                <a:spcPct val="100000"/>
              </a:lnSpc>
              <a:spcBef>
                <a:spcPts val="3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7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aA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764" y="524637"/>
            <a:ext cx="41097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应用求项目集规范族的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64" y="1109548"/>
            <a:ext cx="41097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方法二直接求出识别活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64" y="1695450"/>
            <a:ext cx="24644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前缀的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5498" y="293344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15336" y="2989326"/>
            <a:ext cx="1189355" cy="852169"/>
          </a:xfrm>
          <a:custGeom>
            <a:avLst/>
            <a:gdLst/>
            <a:ahLst/>
            <a:cxnLst/>
            <a:rect l="l" t="t" r="r" b="b"/>
            <a:pathLst>
              <a:path w="1189354" h="852170">
                <a:moveTo>
                  <a:pt x="1022690" y="94727"/>
                </a:moveTo>
                <a:lnTo>
                  <a:pt x="0" y="821182"/>
                </a:lnTo>
                <a:lnTo>
                  <a:pt x="22098" y="852169"/>
                </a:lnTo>
                <a:lnTo>
                  <a:pt x="1044827" y="125812"/>
                </a:lnTo>
                <a:lnTo>
                  <a:pt x="1022690" y="94727"/>
                </a:lnTo>
                <a:close/>
              </a:path>
              <a:path w="1189354" h="852170">
                <a:moveTo>
                  <a:pt x="1123908" y="83693"/>
                </a:moveTo>
                <a:lnTo>
                  <a:pt x="1038225" y="83693"/>
                </a:lnTo>
                <a:lnTo>
                  <a:pt x="1060323" y="114808"/>
                </a:lnTo>
                <a:lnTo>
                  <a:pt x="1044827" y="125812"/>
                </a:lnTo>
                <a:lnTo>
                  <a:pt x="1066927" y="156845"/>
                </a:lnTo>
                <a:lnTo>
                  <a:pt x="1123908" y="83693"/>
                </a:lnTo>
                <a:close/>
              </a:path>
              <a:path w="1189354" h="852170">
                <a:moveTo>
                  <a:pt x="1038225" y="83693"/>
                </a:moveTo>
                <a:lnTo>
                  <a:pt x="1022690" y="94727"/>
                </a:lnTo>
                <a:lnTo>
                  <a:pt x="1044827" y="125812"/>
                </a:lnTo>
                <a:lnTo>
                  <a:pt x="1060323" y="114808"/>
                </a:lnTo>
                <a:lnTo>
                  <a:pt x="1038225" y="83693"/>
                </a:lnTo>
                <a:close/>
              </a:path>
              <a:path w="1189354" h="852170">
                <a:moveTo>
                  <a:pt x="1189101" y="0"/>
                </a:moveTo>
                <a:lnTo>
                  <a:pt x="1000633" y="63753"/>
                </a:lnTo>
                <a:lnTo>
                  <a:pt x="1022690" y="94727"/>
                </a:lnTo>
                <a:lnTo>
                  <a:pt x="1038225" y="83693"/>
                </a:lnTo>
                <a:lnTo>
                  <a:pt x="1123908" y="83693"/>
                </a:lnTo>
                <a:lnTo>
                  <a:pt x="118910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72536" y="418256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26385" y="4628388"/>
            <a:ext cx="1178560" cy="114300"/>
          </a:xfrm>
          <a:custGeom>
            <a:avLst/>
            <a:gdLst/>
            <a:ahLst/>
            <a:cxnLst/>
            <a:rect l="l" t="t" r="r" b="b"/>
            <a:pathLst>
              <a:path w="1178560" h="114300">
                <a:moveTo>
                  <a:pt x="987551" y="0"/>
                </a:moveTo>
                <a:lnTo>
                  <a:pt x="987551" y="114300"/>
                </a:lnTo>
                <a:lnTo>
                  <a:pt x="1114552" y="76200"/>
                </a:lnTo>
                <a:lnTo>
                  <a:pt x="1006601" y="76200"/>
                </a:lnTo>
                <a:lnTo>
                  <a:pt x="1006601" y="38100"/>
                </a:lnTo>
                <a:lnTo>
                  <a:pt x="1114552" y="38100"/>
                </a:lnTo>
                <a:lnTo>
                  <a:pt x="987551" y="0"/>
                </a:lnTo>
                <a:close/>
              </a:path>
              <a:path w="1178560" h="114300">
                <a:moveTo>
                  <a:pt x="98755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87551" y="76200"/>
                </a:lnTo>
                <a:lnTo>
                  <a:pt x="987551" y="38100"/>
                </a:lnTo>
                <a:close/>
              </a:path>
              <a:path w="1178560" h="114300">
                <a:moveTo>
                  <a:pt x="1114552" y="38100"/>
                </a:moveTo>
                <a:lnTo>
                  <a:pt x="1006601" y="38100"/>
                </a:lnTo>
                <a:lnTo>
                  <a:pt x="1006601" y="76200"/>
                </a:lnTo>
                <a:lnTo>
                  <a:pt x="1114552" y="76200"/>
                </a:lnTo>
                <a:lnTo>
                  <a:pt x="1178052" y="57150"/>
                </a:lnTo>
                <a:lnTo>
                  <a:pt x="11145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516629" y="4488941"/>
            <a:ext cx="1769745" cy="5562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39395">
              <a:lnSpc>
                <a:spcPts val="3735"/>
              </a:lnSpc>
            </a:pP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3: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39592" y="4917770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15210" y="4926203"/>
            <a:ext cx="1163320" cy="854075"/>
          </a:xfrm>
          <a:custGeom>
            <a:avLst/>
            <a:gdLst/>
            <a:ahLst/>
            <a:cxnLst/>
            <a:rect l="l" t="t" r="r" b="b"/>
            <a:pathLst>
              <a:path w="1163320" h="854075">
                <a:moveTo>
                  <a:pt x="998049" y="756896"/>
                </a:moveTo>
                <a:lnTo>
                  <a:pt x="975613" y="787704"/>
                </a:lnTo>
                <a:lnTo>
                  <a:pt x="1163319" y="853567"/>
                </a:lnTo>
                <a:lnTo>
                  <a:pt x="1098321" y="768108"/>
                </a:lnTo>
                <a:lnTo>
                  <a:pt x="1013460" y="768108"/>
                </a:lnTo>
                <a:lnTo>
                  <a:pt x="998049" y="756896"/>
                </a:lnTo>
                <a:close/>
              </a:path>
              <a:path w="1163320" h="854075">
                <a:moveTo>
                  <a:pt x="1020499" y="726067"/>
                </a:moveTo>
                <a:lnTo>
                  <a:pt x="998049" y="756896"/>
                </a:lnTo>
                <a:lnTo>
                  <a:pt x="1013460" y="768108"/>
                </a:lnTo>
                <a:lnTo>
                  <a:pt x="1035938" y="737298"/>
                </a:lnTo>
                <a:lnTo>
                  <a:pt x="1020499" y="726067"/>
                </a:lnTo>
                <a:close/>
              </a:path>
              <a:path w="1163320" h="854075">
                <a:moveTo>
                  <a:pt x="1042924" y="695274"/>
                </a:moveTo>
                <a:lnTo>
                  <a:pt x="1020499" y="726067"/>
                </a:lnTo>
                <a:lnTo>
                  <a:pt x="1035938" y="737298"/>
                </a:lnTo>
                <a:lnTo>
                  <a:pt x="1013460" y="768108"/>
                </a:lnTo>
                <a:lnTo>
                  <a:pt x="1098321" y="768108"/>
                </a:lnTo>
                <a:lnTo>
                  <a:pt x="1042924" y="695274"/>
                </a:lnTo>
                <a:close/>
              </a:path>
              <a:path w="1163320" h="854075">
                <a:moveTo>
                  <a:pt x="22351" y="0"/>
                </a:moveTo>
                <a:lnTo>
                  <a:pt x="0" y="30734"/>
                </a:lnTo>
                <a:lnTo>
                  <a:pt x="998049" y="756896"/>
                </a:lnTo>
                <a:lnTo>
                  <a:pt x="1020499" y="726067"/>
                </a:lnTo>
                <a:lnTo>
                  <a:pt x="2235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478529" y="5779770"/>
            <a:ext cx="1769745" cy="5581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3750"/>
              </a:lnSpc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1: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00041" y="1775460"/>
            <a:ext cx="1090930" cy="772160"/>
          </a:xfrm>
          <a:custGeom>
            <a:avLst/>
            <a:gdLst/>
            <a:ahLst/>
            <a:cxnLst/>
            <a:rect l="l" t="t" r="r" b="b"/>
            <a:pathLst>
              <a:path w="1090929" h="772160">
                <a:moveTo>
                  <a:pt x="961263" y="603757"/>
                </a:moveTo>
                <a:lnTo>
                  <a:pt x="855218" y="771905"/>
                </a:lnTo>
                <a:lnTo>
                  <a:pt x="1036320" y="689863"/>
                </a:lnTo>
                <a:lnTo>
                  <a:pt x="1022039" y="673480"/>
                </a:lnTo>
                <a:lnTo>
                  <a:pt x="997204" y="673480"/>
                </a:lnTo>
                <a:lnTo>
                  <a:pt x="971804" y="645160"/>
                </a:lnTo>
                <a:lnTo>
                  <a:pt x="985511" y="632811"/>
                </a:lnTo>
                <a:lnTo>
                  <a:pt x="985990" y="632125"/>
                </a:lnTo>
                <a:lnTo>
                  <a:pt x="961263" y="603757"/>
                </a:lnTo>
                <a:close/>
              </a:path>
              <a:path w="1090929" h="772160">
                <a:moveTo>
                  <a:pt x="985511" y="632811"/>
                </a:moveTo>
                <a:lnTo>
                  <a:pt x="971804" y="645160"/>
                </a:lnTo>
                <a:lnTo>
                  <a:pt x="997204" y="673480"/>
                </a:lnTo>
                <a:lnTo>
                  <a:pt x="1011115" y="660949"/>
                </a:lnTo>
                <a:lnTo>
                  <a:pt x="988163" y="634618"/>
                </a:lnTo>
                <a:lnTo>
                  <a:pt x="984250" y="634618"/>
                </a:lnTo>
                <a:lnTo>
                  <a:pt x="985511" y="632811"/>
                </a:lnTo>
                <a:close/>
              </a:path>
              <a:path w="1090929" h="772160">
                <a:moveTo>
                  <a:pt x="1011115" y="660949"/>
                </a:moveTo>
                <a:lnTo>
                  <a:pt x="997204" y="673480"/>
                </a:lnTo>
                <a:lnTo>
                  <a:pt x="1022039" y="673480"/>
                </a:lnTo>
                <a:lnTo>
                  <a:pt x="1011115" y="660949"/>
                </a:lnTo>
                <a:close/>
              </a:path>
              <a:path w="1090929" h="772160">
                <a:moveTo>
                  <a:pt x="1032568" y="631316"/>
                </a:moveTo>
                <a:lnTo>
                  <a:pt x="987171" y="631316"/>
                </a:lnTo>
                <a:lnTo>
                  <a:pt x="986221" y="632390"/>
                </a:lnTo>
                <a:lnTo>
                  <a:pt x="1011115" y="660949"/>
                </a:lnTo>
                <a:lnTo>
                  <a:pt x="1012571" y="659638"/>
                </a:lnTo>
                <a:lnTo>
                  <a:pt x="1013713" y="658749"/>
                </a:lnTo>
                <a:lnTo>
                  <a:pt x="1014730" y="657605"/>
                </a:lnTo>
                <a:lnTo>
                  <a:pt x="1015492" y="656336"/>
                </a:lnTo>
                <a:lnTo>
                  <a:pt x="1030986" y="633984"/>
                </a:lnTo>
                <a:lnTo>
                  <a:pt x="1032568" y="631316"/>
                </a:lnTo>
                <a:close/>
              </a:path>
              <a:path w="1090929" h="772160">
                <a:moveTo>
                  <a:pt x="986114" y="632268"/>
                </a:moveTo>
                <a:lnTo>
                  <a:pt x="985511" y="632811"/>
                </a:lnTo>
                <a:lnTo>
                  <a:pt x="984250" y="634618"/>
                </a:lnTo>
                <a:lnTo>
                  <a:pt x="986221" y="632390"/>
                </a:lnTo>
                <a:close/>
              </a:path>
              <a:path w="1090929" h="772160">
                <a:moveTo>
                  <a:pt x="986221" y="632390"/>
                </a:moveTo>
                <a:lnTo>
                  <a:pt x="984250" y="634618"/>
                </a:lnTo>
                <a:lnTo>
                  <a:pt x="988163" y="634618"/>
                </a:lnTo>
                <a:lnTo>
                  <a:pt x="986221" y="632390"/>
                </a:lnTo>
                <a:close/>
              </a:path>
              <a:path w="1090929" h="772160">
                <a:moveTo>
                  <a:pt x="985990" y="632125"/>
                </a:moveTo>
                <a:lnTo>
                  <a:pt x="985511" y="632811"/>
                </a:lnTo>
                <a:lnTo>
                  <a:pt x="986114" y="632268"/>
                </a:lnTo>
                <a:lnTo>
                  <a:pt x="985990" y="632125"/>
                </a:lnTo>
                <a:close/>
              </a:path>
              <a:path w="1090929" h="772160">
                <a:moveTo>
                  <a:pt x="987171" y="631316"/>
                </a:moveTo>
                <a:lnTo>
                  <a:pt x="986273" y="632125"/>
                </a:lnTo>
                <a:lnTo>
                  <a:pt x="986221" y="632390"/>
                </a:lnTo>
                <a:lnTo>
                  <a:pt x="987171" y="631316"/>
                </a:lnTo>
                <a:close/>
              </a:path>
              <a:path w="1090929" h="772160">
                <a:moveTo>
                  <a:pt x="767747" y="38100"/>
                </a:moveTo>
                <a:lnTo>
                  <a:pt x="544322" y="38100"/>
                </a:lnTo>
                <a:lnTo>
                  <a:pt x="570738" y="38607"/>
                </a:lnTo>
                <a:lnTo>
                  <a:pt x="596900" y="40259"/>
                </a:lnTo>
                <a:lnTo>
                  <a:pt x="647700" y="46354"/>
                </a:lnTo>
                <a:lnTo>
                  <a:pt x="696849" y="56387"/>
                </a:lnTo>
                <a:lnTo>
                  <a:pt x="743712" y="69976"/>
                </a:lnTo>
                <a:lnTo>
                  <a:pt x="788543" y="86994"/>
                </a:lnTo>
                <a:lnTo>
                  <a:pt x="830580" y="107187"/>
                </a:lnTo>
                <a:lnTo>
                  <a:pt x="869696" y="130428"/>
                </a:lnTo>
                <a:lnTo>
                  <a:pt x="905891" y="156337"/>
                </a:lnTo>
                <a:lnTo>
                  <a:pt x="938657" y="184785"/>
                </a:lnTo>
                <a:lnTo>
                  <a:pt x="967613" y="215518"/>
                </a:lnTo>
                <a:lnTo>
                  <a:pt x="992759" y="248285"/>
                </a:lnTo>
                <a:lnTo>
                  <a:pt x="1013841" y="282955"/>
                </a:lnTo>
                <a:lnTo>
                  <a:pt x="1030605" y="319150"/>
                </a:lnTo>
                <a:lnTo>
                  <a:pt x="1042797" y="356997"/>
                </a:lnTo>
                <a:lnTo>
                  <a:pt x="1050290" y="395986"/>
                </a:lnTo>
                <a:lnTo>
                  <a:pt x="1052830" y="436244"/>
                </a:lnTo>
                <a:lnTo>
                  <a:pt x="1051941" y="459739"/>
                </a:lnTo>
                <a:lnTo>
                  <a:pt x="1044829" y="505713"/>
                </a:lnTo>
                <a:lnTo>
                  <a:pt x="1030986" y="550417"/>
                </a:lnTo>
                <a:lnTo>
                  <a:pt x="1010793" y="593598"/>
                </a:lnTo>
                <a:lnTo>
                  <a:pt x="985990" y="632125"/>
                </a:lnTo>
                <a:lnTo>
                  <a:pt x="986114" y="632268"/>
                </a:lnTo>
                <a:lnTo>
                  <a:pt x="987171" y="631316"/>
                </a:lnTo>
                <a:lnTo>
                  <a:pt x="1032568" y="631316"/>
                </a:lnTo>
                <a:lnTo>
                  <a:pt x="1044702" y="610869"/>
                </a:lnTo>
                <a:lnTo>
                  <a:pt x="1067054" y="562990"/>
                </a:lnTo>
                <a:lnTo>
                  <a:pt x="1082294" y="512825"/>
                </a:lnTo>
                <a:lnTo>
                  <a:pt x="1089914" y="461137"/>
                </a:lnTo>
                <a:lnTo>
                  <a:pt x="1090930" y="434848"/>
                </a:lnTo>
                <a:lnTo>
                  <a:pt x="1090041" y="412368"/>
                </a:lnTo>
                <a:lnTo>
                  <a:pt x="1084326" y="367918"/>
                </a:lnTo>
                <a:lnTo>
                  <a:pt x="1073150" y="325119"/>
                </a:lnTo>
                <a:lnTo>
                  <a:pt x="1056894" y="283717"/>
                </a:lnTo>
                <a:lnTo>
                  <a:pt x="1035812" y="244601"/>
                </a:lnTo>
                <a:lnTo>
                  <a:pt x="1010285" y="207517"/>
                </a:lnTo>
                <a:lnTo>
                  <a:pt x="980567" y="172974"/>
                </a:lnTo>
                <a:lnTo>
                  <a:pt x="946912" y="140842"/>
                </a:lnTo>
                <a:lnTo>
                  <a:pt x="909574" y="111505"/>
                </a:lnTo>
                <a:lnTo>
                  <a:pt x="869188" y="85216"/>
                </a:lnTo>
                <a:lnTo>
                  <a:pt x="825627" y="61975"/>
                </a:lnTo>
                <a:lnTo>
                  <a:pt x="779272" y="42163"/>
                </a:lnTo>
                <a:lnTo>
                  <a:pt x="767747" y="38100"/>
                </a:lnTo>
                <a:close/>
              </a:path>
              <a:path w="1090929" h="772160">
                <a:moveTo>
                  <a:pt x="543687" y="0"/>
                </a:moveTo>
                <a:lnTo>
                  <a:pt x="491871" y="1904"/>
                </a:lnTo>
                <a:lnTo>
                  <a:pt x="441579" y="7619"/>
                </a:lnTo>
                <a:lnTo>
                  <a:pt x="392811" y="16890"/>
                </a:lnTo>
                <a:lnTo>
                  <a:pt x="345567" y="29590"/>
                </a:lnTo>
                <a:lnTo>
                  <a:pt x="300482" y="45465"/>
                </a:lnTo>
                <a:lnTo>
                  <a:pt x="257429" y="64515"/>
                </a:lnTo>
                <a:lnTo>
                  <a:pt x="216788" y="86360"/>
                </a:lnTo>
                <a:lnTo>
                  <a:pt x="178943" y="111125"/>
                </a:lnTo>
                <a:lnTo>
                  <a:pt x="143763" y="138556"/>
                </a:lnTo>
                <a:lnTo>
                  <a:pt x="111760" y="168528"/>
                </a:lnTo>
                <a:lnTo>
                  <a:pt x="83185" y="200660"/>
                </a:lnTo>
                <a:lnTo>
                  <a:pt x="58166" y="235076"/>
                </a:lnTo>
                <a:lnTo>
                  <a:pt x="37084" y="271525"/>
                </a:lnTo>
                <a:lnTo>
                  <a:pt x="20193" y="309879"/>
                </a:lnTo>
                <a:lnTo>
                  <a:pt x="7620" y="349885"/>
                </a:lnTo>
                <a:lnTo>
                  <a:pt x="0" y="390143"/>
                </a:lnTo>
                <a:lnTo>
                  <a:pt x="37592" y="396239"/>
                </a:lnTo>
                <a:lnTo>
                  <a:pt x="40767" y="376427"/>
                </a:lnTo>
                <a:lnTo>
                  <a:pt x="44831" y="358013"/>
                </a:lnTo>
                <a:lnTo>
                  <a:pt x="63373" y="304926"/>
                </a:lnTo>
                <a:lnTo>
                  <a:pt x="90678" y="255015"/>
                </a:lnTo>
                <a:lnTo>
                  <a:pt x="113411" y="223774"/>
                </a:lnTo>
                <a:lnTo>
                  <a:pt x="139573" y="194437"/>
                </a:lnTo>
                <a:lnTo>
                  <a:pt x="169037" y="167004"/>
                </a:lnTo>
                <a:lnTo>
                  <a:pt x="201549" y="141731"/>
                </a:lnTo>
                <a:lnTo>
                  <a:pt x="236855" y="118744"/>
                </a:lnTo>
                <a:lnTo>
                  <a:pt x="274700" y="98425"/>
                </a:lnTo>
                <a:lnTo>
                  <a:pt x="315087" y="80644"/>
                </a:lnTo>
                <a:lnTo>
                  <a:pt x="357632" y="65659"/>
                </a:lnTo>
                <a:lnTo>
                  <a:pt x="401828" y="53848"/>
                </a:lnTo>
                <a:lnTo>
                  <a:pt x="447929" y="45212"/>
                </a:lnTo>
                <a:lnTo>
                  <a:pt x="495554" y="39877"/>
                </a:lnTo>
                <a:lnTo>
                  <a:pt x="544322" y="38100"/>
                </a:lnTo>
                <a:lnTo>
                  <a:pt x="767747" y="38100"/>
                </a:lnTo>
                <a:lnTo>
                  <a:pt x="755142" y="33654"/>
                </a:lnTo>
                <a:lnTo>
                  <a:pt x="705104" y="19176"/>
                </a:lnTo>
                <a:lnTo>
                  <a:pt x="653034" y="8636"/>
                </a:lnTo>
                <a:lnTo>
                  <a:pt x="599186" y="2286"/>
                </a:lnTo>
                <a:lnTo>
                  <a:pt x="571500" y="635"/>
                </a:lnTo>
                <a:lnTo>
                  <a:pt x="54368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432297" y="144399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45607" y="352425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47894" y="3218688"/>
            <a:ext cx="351790" cy="1266825"/>
          </a:xfrm>
          <a:custGeom>
            <a:avLst/>
            <a:gdLst/>
            <a:ahLst/>
            <a:cxnLst/>
            <a:rect l="l" t="t" r="r" b="b"/>
            <a:pathLst>
              <a:path w="351789" h="1266825">
                <a:moveTo>
                  <a:pt x="180466" y="1153414"/>
                </a:moveTo>
                <a:lnTo>
                  <a:pt x="0" y="1236853"/>
                </a:lnTo>
                <a:lnTo>
                  <a:pt x="196595" y="1266570"/>
                </a:lnTo>
                <a:lnTo>
                  <a:pt x="191581" y="1231392"/>
                </a:lnTo>
                <a:lnTo>
                  <a:pt x="173608" y="1231392"/>
                </a:lnTo>
                <a:lnTo>
                  <a:pt x="165861" y="1194054"/>
                </a:lnTo>
                <a:lnTo>
                  <a:pt x="179263" y="1191272"/>
                </a:lnTo>
                <a:lnTo>
                  <a:pt x="184850" y="1184168"/>
                </a:lnTo>
                <a:lnTo>
                  <a:pt x="180466" y="1153414"/>
                </a:lnTo>
                <a:close/>
              </a:path>
              <a:path w="351789" h="1266825">
                <a:moveTo>
                  <a:pt x="179263" y="1191272"/>
                </a:moveTo>
                <a:lnTo>
                  <a:pt x="165861" y="1194054"/>
                </a:lnTo>
                <a:lnTo>
                  <a:pt x="173608" y="1231392"/>
                </a:lnTo>
                <a:lnTo>
                  <a:pt x="191065" y="1227768"/>
                </a:lnTo>
                <a:lnTo>
                  <a:pt x="186657" y="1196848"/>
                </a:lnTo>
                <a:lnTo>
                  <a:pt x="174878" y="1196848"/>
                </a:lnTo>
                <a:lnTo>
                  <a:pt x="179263" y="1191272"/>
                </a:lnTo>
                <a:close/>
              </a:path>
              <a:path w="351789" h="1266825">
                <a:moveTo>
                  <a:pt x="191065" y="1227768"/>
                </a:moveTo>
                <a:lnTo>
                  <a:pt x="173608" y="1231392"/>
                </a:lnTo>
                <a:lnTo>
                  <a:pt x="191581" y="1231392"/>
                </a:lnTo>
                <a:lnTo>
                  <a:pt x="191065" y="1227768"/>
                </a:lnTo>
                <a:close/>
              </a:path>
              <a:path w="351789" h="1266825">
                <a:moveTo>
                  <a:pt x="227367" y="1189863"/>
                </a:moveTo>
                <a:lnTo>
                  <a:pt x="186054" y="1189863"/>
                </a:lnTo>
                <a:lnTo>
                  <a:pt x="185694" y="1190088"/>
                </a:lnTo>
                <a:lnTo>
                  <a:pt x="191065" y="1227768"/>
                </a:lnTo>
                <a:lnTo>
                  <a:pt x="198246" y="1226312"/>
                </a:lnTo>
                <a:lnTo>
                  <a:pt x="202183" y="1223772"/>
                </a:lnTo>
                <a:lnTo>
                  <a:pt x="204977" y="1220216"/>
                </a:lnTo>
                <a:lnTo>
                  <a:pt x="216280" y="1205611"/>
                </a:lnTo>
                <a:lnTo>
                  <a:pt x="227367" y="1189863"/>
                </a:lnTo>
                <a:close/>
              </a:path>
              <a:path w="351789" h="1266825">
                <a:moveTo>
                  <a:pt x="185673" y="1189942"/>
                </a:moveTo>
                <a:lnTo>
                  <a:pt x="179263" y="1191272"/>
                </a:lnTo>
                <a:lnTo>
                  <a:pt x="174878" y="1196848"/>
                </a:lnTo>
                <a:lnTo>
                  <a:pt x="185694" y="1190088"/>
                </a:lnTo>
                <a:lnTo>
                  <a:pt x="185673" y="1189942"/>
                </a:lnTo>
                <a:close/>
              </a:path>
              <a:path w="351789" h="1266825">
                <a:moveTo>
                  <a:pt x="185694" y="1190088"/>
                </a:moveTo>
                <a:lnTo>
                  <a:pt x="174878" y="1196848"/>
                </a:lnTo>
                <a:lnTo>
                  <a:pt x="186657" y="1196848"/>
                </a:lnTo>
                <a:lnTo>
                  <a:pt x="185694" y="1190088"/>
                </a:lnTo>
                <a:close/>
              </a:path>
              <a:path w="351789" h="1266825">
                <a:moveTo>
                  <a:pt x="184850" y="1184168"/>
                </a:moveTo>
                <a:lnTo>
                  <a:pt x="179263" y="1191272"/>
                </a:lnTo>
                <a:lnTo>
                  <a:pt x="185673" y="1189942"/>
                </a:lnTo>
                <a:lnTo>
                  <a:pt x="184850" y="1184168"/>
                </a:lnTo>
                <a:close/>
              </a:path>
              <a:path w="351789" h="1266825">
                <a:moveTo>
                  <a:pt x="186054" y="1189863"/>
                </a:moveTo>
                <a:lnTo>
                  <a:pt x="185673" y="1189942"/>
                </a:lnTo>
                <a:lnTo>
                  <a:pt x="185694" y="1190088"/>
                </a:lnTo>
                <a:lnTo>
                  <a:pt x="186054" y="1189863"/>
                </a:lnTo>
                <a:close/>
              </a:path>
              <a:path w="351789" h="1266825">
                <a:moveTo>
                  <a:pt x="82168" y="0"/>
                </a:moveTo>
                <a:lnTo>
                  <a:pt x="79755" y="38100"/>
                </a:lnTo>
                <a:lnTo>
                  <a:pt x="92709" y="38862"/>
                </a:lnTo>
                <a:lnTo>
                  <a:pt x="103123" y="41021"/>
                </a:lnTo>
                <a:lnTo>
                  <a:pt x="144652" y="62737"/>
                </a:lnTo>
                <a:lnTo>
                  <a:pt x="175640" y="93345"/>
                </a:lnTo>
                <a:lnTo>
                  <a:pt x="205358" y="136016"/>
                </a:lnTo>
                <a:lnTo>
                  <a:pt x="223900" y="170561"/>
                </a:lnTo>
                <a:lnTo>
                  <a:pt x="241045" y="209676"/>
                </a:lnTo>
                <a:lnTo>
                  <a:pt x="256920" y="252984"/>
                </a:lnTo>
                <a:lnTo>
                  <a:pt x="270890" y="300100"/>
                </a:lnTo>
                <a:lnTo>
                  <a:pt x="283336" y="350774"/>
                </a:lnTo>
                <a:lnTo>
                  <a:pt x="293750" y="404494"/>
                </a:lnTo>
                <a:lnTo>
                  <a:pt x="302005" y="461137"/>
                </a:lnTo>
                <a:lnTo>
                  <a:pt x="308101" y="520319"/>
                </a:lnTo>
                <a:lnTo>
                  <a:pt x="311911" y="581660"/>
                </a:lnTo>
                <a:lnTo>
                  <a:pt x="313181" y="644906"/>
                </a:lnTo>
                <a:lnTo>
                  <a:pt x="312915" y="677037"/>
                </a:lnTo>
                <a:lnTo>
                  <a:pt x="310388" y="739013"/>
                </a:lnTo>
                <a:lnTo>
                  <a:pt x="305307" y="799338"/>
                </a:lnTo>
                <a:lnTo>
                  <a:pt x="298068" y="857250"/>
                </a:lnTo>
                <a:lnTo>
                  <a:pt x="288670" y="912494"/>
                </a:lnTo>
                <a:lnTo>
                  <a:pt x="277240" y="964692"/>
                </a:lnTo>
                <a:lnTo>
                  <a:pt x="264032" y="1013841"/>
                </a:lnTo>
                <a:lnTo>
                  <a:pt x="249046" y="1059053"/>
                </a:lnTo>
                <a:lnTo>
                  <a:pt x="232409" y="1100328"/>
                </a:lnTo>
                <a:lnTo>
                  <a:pt x="214375" y="1137285"/>
                </a:lnTo>
                <a:lnTo>
                  <a:pt x="185165" y="1183767"/>
                </a:lnTo>
                <a:lnTo>
                  <a:pt x="184850" y="1184168"/>
                </a:lnTo>
                <a:lnTo>
                  <a:pt x="185673" y="1189942"/>
                </a:lnTo>
                <a:lnTo>
                  <a:pt x="186054" y="1189863"/>
                </a:lnTo>
                <a:lnTo>
                  <a:pt x="227367" y="1189863"/>
                </a:lnTo>
                <a:lnTo>
                  <a:pt x="237997" y="1172718"/>
                </a:lnTo>
                <a:lnTo>
                  <a:pt x="258063" y="1135380"/>
                </a:lnTo>
                <a:lnTo>
                  <a:pt x="276351" y="1093978"/>
                </a:lnTo>
                <a:lnTo>
                  <a:pt x="293115" y="1048257"/>
                </a:lnTo>
                <a:lnTo>
                  <a:pt x="307720" y="999236"/>
                </a:lnTo>
                <a:lnTo>
                  <a:pt x="320547" y="946657"/>
                </a:lnTo>
                <a:lnTo>
                  <a:pt x="331342" y="891159"/>
                </a:lnTo>
                <a:lnTo>
                  <a:pt x="339851" y="832866"/>
                </a:lnTo>
                <a:lnTo>
                  <a:pt x="346075" y="772160"/>
                </a:lnTo>
                <a:lnTo>
                  <a:pt x="349884" y="709294"/>
                </a:lnTo>
                <a:lnTo>
                  <a:pt x="351281" y="644398"/>
                </a:lnTo>
                <a:lnTo>
                  <a:pt x="350900" y="611886"/>
                </a:lnTo>
                <a:lnTo>
                  <a:pt x="348233" y="548005"/>
                </a:lnTo>
                <a:lnTo>
                  <a:pt x="343280" y="486029"/>
                </a:lnTo>
                <a:lnTo>
                  <a:pt x="335788" y="426593"/>
                </a:lnTo>
                <a:lnTo>
                  <a:pt x="326135" y="369697"/>
                </a:lnTo>
                <a:lnTo>
                  <a:pt x="314325" y="315467"/>
                </a:lnTo>
                <a:lnTo>
                  <a:pt x="300481" y="264540"/>
                </a:lnTo>
                <a:lnTo>
                  <a:pt x="284733" y="217170"/>
                </a:lnTo>
                <a:lnTo>
                  <a:pt x="267207" y="173482"/>
                </a:lnTo>
                <a:lnTo>
                  <a:pt x="247903" y="133985"/>
                </a:lnTo>
                <a:lnTo>
                  <a:pt x="226821" y="98678"/>
                </a:lnTo>
                <a:lnTo>
                  <a:pt x="192023" y="54610"/>
                </a:lnTo>
                <a:lnTo>
                  <a:pt x="153288" y="22351"/>
                </a:lnTo>
                <a:lnTo>
                  <a:pt x="110235" y="3556"/>
                </a:lnTo>
                <a:lnTo>
                  <a:pt x="95122" y="888"/>
                </a:lnTo>
                <a:lnTo>
                  <a:pt x="8216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450329" y="2710433"/>
            <a:ext cx="1767839" cy="55943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2555">
              <a:lnSpc>
                <a:spcPts val="3735"/>
              </a:lnSpc>
            </a:pP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4: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50738" y="250317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272278" y="2927604"/>
            <a:ext cx="1178560" cy="114300"/>
          </a:xfrm>
          <a:custGeom>
            <a:avLst/>
            <a:gdLst/>
            <a:ahLst/>
            <a:cxnLst/>
            <a:rect l="l" t="t" r="r" b="b"/>
            <a:pathLst>
              <a:path w="1178560" h="114300">
                <a:moveTo>
                  <a:pt x="987551" y="0"/>
                </a:moveTo>
                <a:lnTo>
                  <a:pt x="987551" y="114300"/>
                </a:lnTo>
                <a:lnTo>
                  <a:pt x="1114552" y="76200"/>
                </a:lnTo>
                <a:lnTo>
                  <a:pt x="1006601" y="76200"/>
                </a:lnTo>
                <a:lnTo>
                  <a:pt x="1006601" y="38100"/>
                </a:lnTo>
                <a:lnTo>
                  <a:pt x="1114552" y="38100"/>
                </a:lnTo>
                <a:lnTo>
                  <a:pt x="987551" y="0"/>
                </a:lnTo>
                <a:close/>
              </a:path>
              <a:path w="1178560" h="114300">
                <a:moveTo>
                  <a:pt x="98755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87551" y="76200"/>
                </a:lnTo>
                <a:lnTo>
                  <a:pt x="987551" y="38100"/>
                </a:lnTo>
                <a:close/>
              </a:path>
              <a:path w="1178560" h="114300">
                <a:moveTo>
                  <a:pt x="1114552" y="38100"/>
                </a:moveTo>
                <a:lnTo>
                  <a:pt x="1006601" y="38100"/>
                </a:lnTo>
                <a:lnTo>
                  <a:pt x="1006601" y="76200"/>
                </a:lnTo>
                <a:lnTo>
                  <a:pt x="1114552" y="76200"/>
                </a:lnTo>
                <a:lnTo>
                  <a:pt x="1178052" y="57150"/>
                </a:lnTo>
                <a:lnTo>
                  <a:pt x="11145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41360" y="2154682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4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3954" y="3673602"/>
            <a:ext cx="1932939" cy="15240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marL="68580">
              <a:lnSpc>
                <a:spcPts val="3685"/>
              </a:lnSpc>
              <a:spcBef>
                <a:spcPts val="91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0: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77800">
              <a:lnSpc>
                <a:spcPts val="3204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  <a:p>
            <a:pPr marL="163830">
              <a:lnSpc>
                <a:spcPct val="10000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45947" y="26923"/>
            <a:ext cx="53949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918335" algn="l"/>
                <a:tab pos="24263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86271" y="26923"/>
            <a:ext cx="3027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25500" algn="l"/>
              </a:tabLst>
            </a:pP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51476" y="434340"/>
            <a:ext cx="4192904" cy="561340"/>
          </a:xfrm>
          <a:custGeom>
            <a:avLst/>
            <a:gdLst/>
            <a:ahLst/>
            <a:cxnLst/>
            <a:rect l="l" t="t" r="r" b="b"/>
            <a:pathLst>
              <a:path w="4192904" h="561340">
                <a:moveTo>
                  <a:pt x="0" y="560831"/>
                </a:moveTo>
                <a:lnTo>
                  <a:pt x="4192524" y="560831"/>
                </a:lnTo>
                <a:lnTo>
                  <a:pt x="4192524" y="0"/>
                </a:lnTo>
                <a:lnTo>
                  <a:pt x="0" y="0"/>
                </a:lnTo>
                <a:lnTo>
                  <a:pt x="0" y="560831"/>
                </a:lnTo>
                <a:close/>
              </a:path>
            </a:pathLst>
          </a:custGeom>
          <a:solidFill>
            <a:srgbClr val="000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13376" y="1027430"/>
            <a:ext cx="4231005" cy="0"/>
          </a:xfrm>
          <a:custGeom>
            <a:avLst/>
            <a:gdLst/>
            <a:ahLst/>
            <a:cxnLst/>
            <a:rect l="l" t="t" r="r" b="b"/>
            <a:pathLst>
              <a:path w="4231005" h="0">
                <a:moveTo>
                  <a:pt x="0" y="0"/>
                </a:moveTo>
                <a:lnTo>
                  <a:pt x="4230624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19726" y="408940"/>
            <a:ext cx="0" cy="612140"/>
          </a:xfrm>
          <a:custGeom>
            <a:avLst/>
            <a:gdLst/>
            <a:ahLst/>
            <a:cxnLst/>
            <a:rect l="l" t="t" r="r" b="b"/>
            <a:pathLst>
              <a:path w="0" h="612140">
                <a:moveTo>
                  <a:pt x="0" y="0"/>
                </a:moveTo>
                <a:lnTo>
                  <a:pt x="0" y="612139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13376" y="402590"/>
            <a:ext cx="4231005" cy="0"/>
          </a:xfrm>
          <a:custGeom>
            <a:avLst/>
            <a:gdLst/>
            <a:ahLst/>
            <a:cxnLst/>
            <a:rect l="l" t="t" r="r" b="b"/>
            <a:pathLst>
              <a:path w="4231005" h="0">
                <a:moveTo>
                  <a:pt x="0" y="0"/>
                </a:moveTo>
                <a:lnTo>
                  <a:pt x="4230624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38776" y="995680"/>
            <a:ext cx="4205605" cy="0"/>
          </a:xfrm>
          <a:custGeom>
            <a:avLst/>
            <a:gdLst/>
            <a:ahLst/>
            <a:cxnLst/>
            <a:rect l="l" t="t" r="r" b="b"/>
            <a:pathLst>
              <a:path w="4205605" h="0">
                <a:moveTo>
                  <a:pt x="0" y="0"/>
                </a:moveTo>
                <a:lnTo>
                  <a:pt x="4205224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951476" y="447040"/>
            <a:ext cx="0" cy="535940"/>
          </a:xfrm>
          <a:custGeom>
            <a:avLst/>
            <a:gdLst/>
            <a:ahLst/>
            <a:cxnLst/>
            <a:rect l="l" t="t" r="r" b="b"/>
            <a:pathLst>
              <a:path w="0" h="535940">
                <a:moveTo>
                  <a:pt x="0" y="0"/>
                </a:moveTo>
                <a:lnTo>
                  <a:pt x="0" y="535939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38776" y="434340"/>
            <a:ext cx="4205605" cy="0"/>
          </a:xfrm>
          <a:custGeom>
            <a:avLst/>
            <a:gdLst/>
            <a:ahLst/>
            <a:cxnLst/>
            <a:rect l="l" t="t" r="r" b="b"/>
            <a:pathLst>
              <a:path w="4205605" h="0">
                <a:moveTo>
                  <a:pt x="0" y="0"/>
                </a:moveTo>
                <a:lnTo>
                  <a:pt x="4205224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137650" y="447040"/>
            <a:ext cx="0" cy="535940"/>
          </a:xfrm>
          <a:custGeom>
            <a:avLst/>
            <a:gdLst/>
            <a:ahLst/>
            <a:cxnLst/>
            <a:rect l="l" t="t" r="r" b="b"/>
            <a:pathLst>
              <a:path w="0" h="535940">
                <a:moveTo>
                  <a:pt x="0" y="0"/>
                </a:moveTo>
                <a:lnTo>
                  <a:pt x="0" y="535432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76876" y="963930"/>
            <a:ext cx="4142104" cy="0"/>
          </a:xfrm>
          <a:custGeom>
            <a:avLst/>
            <a:gdLst/>
            <a:ahLst/>
            <a:cxnLst/>
            <a:rect l="l" t="t" r="r" b="b"/>
            <a:pathLst>
              <a:path w="4142104" h="0">
                <a:moveTo>
                  <a:pt x="0" y="0"/>
                </a:moveTo>
                <a:lnTo>
                  <a:pt x="4141724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983226" y="472440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40">
                <a:moveTo>
                  <a:pt x="0" y="0"/>
                </a:moveTo>
                <a:lnTo>
                  <a:pt x="0" y="485139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76876" y="466090"/>
            <a:ext cx="4142104" cy="0"/>
          </a:xfrm>
          <a:custGeom>
            <a:avLst/>
            <a:gdLst/>
            <a:ahLst/>
            <a:cxnLst/>
            <a:rect l="l" t="t" r="r" b="b"/>
            <a:pathLst>
              <a:path w="4142104" h="0">
                <a:moveTo>
                  <a:pt x="0" y="0"/>
                </a:moveTo>
                <a:lnTo>
                  <a:pt x="4141724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112250" y="472440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40">
                <a:moveTo>
                  <a:pt x="0" y="0"/>
                </a:moveTo>
                <a:lnTo>
                  <a:pt x="0" y="484632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5043804" y="398221"/>
            <a:ext cx="369951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920239" algn="l"/>
              </a:tabLst>
            </a:pPr>
            <a:r>
              <a:rPr dirty="0" sz="3200" spc="-10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spc="-10" b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5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>
                <a:solidFill>
                  <a:srgbClr val="FFFF00"/>
                </a:solidFill>
              </a:rPr>
              <a:t>｜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259957" y="5487670"/>
            <a:ext cx="956944" cy="793750"/>
          </a:xfrm>
          <a:custGeom>
            <a:avLst/>
            <a:gdLst/>
            <a:ahLst/>
            <a:cxnLst/>
            <a:rect l="l" t="t" r="r" b="b"/>
            <a:pathLst>
              <a:path w="956945" h="793750">
                <a:moveTo>
                  <a:pt x="797826" y="687016"/>
                </a:moveTo>
                <a:lnTo>
                  <a:pt x="773557" y="716432"/>
                </a:lnTo>
                <a:lnTo>
                  <a:pt x="956944" y="793495"/>
                </a:lnTo>
                <a:lnTo>
                  <a:pt x="893794" y="699147"/>
                </a:lnTo>
                <a:lnTo>
                  <a:pt x="812545" y="699147"/>
                </a:lnTo>
                <a:lnTo>
                  <a:pt x="797826" y="687016"/>
                </a:lnTo>
                <a:close/>
              </a:path>
              <a:path w="956945" h="793750">
                <a:moveTo>
                  <a:pt x="822083" y="657616"/>
                </a:moveTo>
                <a:lnTo>
                  <a:pt x="797826" y="687016"/>
                </a:lnTo>
                <a:lnTo>
                  <a:pt x="812545" y="699147"/>
                </a:lnTo>
                <a:lnTo>
                  <a:pt x="836802" y="669747"/>
                </a:lnTo>
                <a:lnTo>
                  <a:pt x="822083" y="657616"/>
                </a:lnTo>
                <a:close/>
              </a:path>
              <a:path w="956945" h="793750">
                <a:moveTo>
                  <a:pt x="846327" y="628230"/>
                </a:moveTo>
                <a:lnTo>
                  <a:pt x="822083" y="657616"/>
                </a:lnTo>
                <a:lnTo>
                  <a:pt x="836802" y="669747"/>
                </a:lnTo>
                <a:lnTo>
                  <a:pt x="812545" y="699147"/>
                </a:lnTo>
                <a:lnTo>
                  <a:pt x="893794" y="699147"/>
                </a:lnTo>
                <a:lnTo>
                  <a:pt x="846327" y="628230"/>
                </a:lnTo>
                <a:close/>
              </a:path>
              <a:path w="956945" h="793750">
                <a:moveTo>
                  <a:pt x="24129" y="0"/>
                </a:moveTo>
                <a:lnTo>
                  <a:pt x="0" y="29463"/>
                </a:lnTo>
                <a:lnTo>
                  <a:pt x="797826" y="687016"/>
                </a:lnTo>
                <a:lnTo>
                  <a:pt x="822083" y="657616"/>
                </a:lnTo>
                <a:lnTo>
                  <a:pt x="2412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403085" y="449219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351523" y="4577334"/>
            <a:ext cx="673735" cy="548640"/>
          </a:xfrm>
          <a:custGeom>
            <a:avLst/>
            <a:gdLst/>
            <a:ahLst/>
            <a:cxnLst/>
            <a:rect l="l" t="t" r="r" b="b"/>
            <a:pathLst>
              <a:path w="673734" h="548639">
                <a:moveTo>
                  <a:pt x="513147" y="104764"/>
                </a:moveTo>
                <a:lnTo>
                  <a:pt x="0" y="518541"/>
                </a:lnTo>
                <a:lnTo>
                  <a:pt x="23875" y="548259"/>
                </a:lnTo>
                <a:lnTo>
                  <a:pt x="537009" y="134369"/>
                </a:lnTo>
                <a:lnTo>
                  <a:pt x="513147" y="104764"/>
                </a:lnTo>
                <a:close/>
              </a:path>
              <a:path w="673734" h="548639">
                <a:moveTo>
                  <a:pt x="609762" y="92837"/>
                </a:moveTo>
                <a:lnTo>
                  <a:pt x="527939" y="92837"/>
                </a:lnTo>
                <a:lnTo>
                  <a:pt x="551815" y="122428"/>
                </a:lnTo>
                <a:lnTo>
                  <a:pt x="537009" y="134369"/>
                </a:lnTo>
                <a:lnTo>
                  <a:pt x="560958" y="164084"/>
                </a:lnTo>
                <a:lnTo>
                  <a:pt x="609762" y="92837"/>
                </a:lnTo>
                <a:close/>
              </a:path>
              <a:path w="673734" h="548639">
                <a:moveTo>
                  <a:pt x="527939" y="92837"/>
                </a:moveTo>
                <a:lnTo>
                  <a:pt x="513147" y="104764"/>
                </a:lnTo>
                <a:lnTo>
                  <a:pt x="537009" y="134369"/>
                </a:lnTo>
                <a:lnTo>
                  <a:pt x="551815" y="122428"/>
                </a:lnTo>
                <a:lnTo>
                  <a:pt x="527939" y="92837"/>
                </a:lnTo>
                <a:close/>
              </a:path>
              <a:path w="673734" h="548639">
                <a:moveTo>
                  <a:pt x="673353" y="0"/>
                </a:moveTo>
                <a:lnTo>
                  <a:pt x="489203" y="75057"/>
                </a:lnTo>
                <a:lnTo>
                  <a:pt x="513147" y="104764"/>
                </a:lnTo>
                <a:lnTo>
                  <a:pt x="527939" y="92837"/>
                </a:lnTo>
                <a:lnTo>
                  <a:pt x="609762" y="92837"/>
                </a:lnTo>
                <a:lnTo>
                  <a:pt x="6733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968746" y="5049773"/>
            <a:ext cx="459105" cy="462280"/>
          </a:xfrm>
          <a:custGeom>
            <a:avLst/>
            <a:gdLst/>
            <a:ahLst/>
            <a:cxnLst/>
            <a:rect l="l" t="t" r="r" b="b"/>
            <a:pathLst>
              <a:path w="459104" h="462279">
                <a:moveTo>
                  <a:pt x="0" y="230885"/>
                </a:moveTo>
                <a:lnTo>
                  <a:pt x="4662" y="184356"/>
                </a:lnTo>
                <a:lnTo>
                  <a:pt x="18032" y="141017"/>
                </a:lnTo>
                <a:lnTo>
                  <a:pt x="39185" y="101798"/>
                </a:lnTo>
                <a:lnTo>
                  <a:pt x="67198" y="67627"/>
                </a:lnTo>
                <a:lnTo>
                  <a:pt x="101147" y="39433"/>
                </a:lnTo>
                <a:lnTo>
                  <a:pt x="140106" y="18145"/>
                </a:lnTo>
                <a:lnTo>
                  <a:pt x="183153" y="4691"/>
                </a:lnTo>
                <a:lnTo>
                  <a:pt x="229362" y="0"/>
                </a:lnTo>
                <a:lnTo>
                  <a:pt x="275570" y="4691"/>
                </a:lnTo>
                <a:lnTo>
                  <a:pt x="318617" y="18145"/>
                </a:lnTo>
                <a:lnTo>
                  <a:pt x="357576" y="39433"/>
                </a:lnTo>
                <a:lnTo>
                  <a:pt x="391525" y="67627"/>
                </a:lnTo>
                <a:lnTo>
                  <a:pt x="419538" y="101798"/>
                </a:lnTo>
                <a:lnTo>
                  <a:pt x="440691" y="141017"/>
                </a:lnTo>
                <a:lnTo>
                  <a:pt x="454061" y="184356"/>
                </a:lnTo>
                <a:lnTo>
                  <a:pt x="458724" y="230885"/>
                </a:lnTo>
                <a:lnTo>
                  <a:pt x="454061" y="277415"/>
                </a:lnTo>
                <a:lnTo>
                  <a:pt x="440691" y="320754"/>
                </a:lnTo>
                <a:lnTo>
                  <a:pt x="419538" y="359973"/>
                </a:lnTo>
                <a:lnTo>
                  <a:pt x="391525" y="394144"/>
                </a:lnTo>
                <a:lnTo>
                  <a:pt x="357576" y="422338"/>
                </a:lnTo>
                <a:lnTo>
                  <a:pt x="318617" y="443626"/>
                </a:lnTo>
                <a:lnTo>
                  <a:pt x="275570" y="457080"/>
                </a:lnTo>
                <a:lnTo>
                  <a:pt x="229362" y="461772"/>
                </a:lnTo>
                <a:lnTo>
                  <a:pt x="183153" y="457080"/>
                </a:lnTo>
                <a:lnTo>
                  <a:pt x="140106" y="443626"/>
                </a:lnTo>
                <a:lnTo>
                  <a:pt x="101147" y="422338"/>
                </a:lnTo>
                <a:lnTo>
                  <a:pt x="67198" y="394144"/>
                </a:lnTo>
                <a:lnTo>
                  <a:pt x="39185" y="359973"/>
                </a:lnTo>
                <a:lnTo>
                  <a:pt x="18032" y="320754"/>
                </a:lnTo>
                <a:lnTo>
                  <a:pt x="4662" y="277415"/>
                </a:lnTo>
                <a:lnTo>
                  <a:pt x="0" y="230885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120765" y="5094808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027926" y="4243578"/>
            <a:ext cx="460375" cy="463550"/>
          </a:xfrm>
          <a:custGeom>
            <a:avLst/>
            <a:gdLst/>
            <a:ahLst/>
            <a:cxnLst/>
            <a:rect l="l" t="t" r="r" b="b"/>
            <a:pathLst>
              <a:path w="460375" h="463550">
                <a:moveTo>
                  <a:pt x="0" y="231648"/>
                </a:moveTo>
                <a:lnTo>
                  <a:pt x="4673" y="184976"/>
                </a:lnTo>
                <a:lnTo>
                  <a:pt x="18079" y="141499"/>
                </a:lnTo>
                <a:lnTo>
                  <a:pt x="39292" y="102151"/>
                </a:lnTo>
                <a:lnTo>
                  <a:pt x="67389" y="67865"/>
                </a:lnTo>
                <a:lnTo>
                  <a:pt x="101444" y="39574"/>
                </a:lnTo>
                <a:lnTo>
                  <a:pt x="140535" y="18210"/>
                </a:lnTo>
                <a:lnTo>
                  <a:pt x="183736" y="4708"/>
                </a:lnTo>
                <a:lnTo>
                  <a:pt x="230124" y="0"/>
                </a:lnTo>
                <a:lnTo>
                  <a:pt x="276511" y="4708"/>
                </a:lnTo>
                <a:lnTo>
                  <a:pt x="319712" y="18210"/>
                </a:lnTo>
                <a:lnTo>
                  <a:pt x="358803" y="39574"/>
                </a:lnTo>
                <a:lnTo>
                  <a:pt x="392858" y="67865"/>
                </a:lnTo>
                <a:lnTo>
                  <a:pt x="420955" y="102151"/>
                </a:lnTo>
                <a:lnTo>
                  <a:pt x="442168" y="141499"/>
                </a:lnTo>
                <a:lnTo>
                  <a:pt x="455574" y="184976"/>
                </a:lnTo>
                <a:lnTo>
                  <a:pt x="460248" y="231648"/>
                </a:lnTo>
                <a:lnTo>
                  <a:pt x="455574" y="278319"/>
                </a:lnTo>
                <a:lnTo>
                  <a:pt x="442168" y="321796"/>
                </a:lnTo>
                <a:lnTo>
                  <a:pt x="420955" y="361144"/>
                </a:lnTo>
                <a:lnTo>
                  <a:pt x="392858" y="395430"/>
                </a:lnTo>
                <a:lnTo>
                  <a:pt x="358803" y="423721"/>
                </a:lnTo>
                <a:lnTo>
                  <a:pt x="319712" y="445085"/>
                </a:lnTo>
                <a:lnTo>
                  <a:pt x="276511" y="458587"/>
                </a:lnTo>
                <a:lnTo>
                  <a:pt x="230124" y="463296"/>
                </a:lnTo>
                <a:lnTo>
                  <a:pt x="183736" y="458587"/>
                </a:lnTo>
                <a:lnTo>
                  <a:pt x="140535" y="445085"/>
                </a:lnTo>
                <a:lnTo>
                  <a:pt x="101444" y="423721"/>
                </a:lnTo>
                <a:lnTo>
                  <a:pt x="67389" y="395430"/>
                </a:lnTo>
                <a:lnTo>
                  <a:pt x="39292" y="361144"/>
                </a:lnTo>
                <a:lnTo>
                  <a:pt x="18079" y="321796"/>
                </a:lnTo>
                <a:lnTo>
                  <a:pt x="4673" y="278319"/>
                </a:lnTo>
                <a:lnTo>
                  <a:pt x="0" y="23164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169022" y="4288358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216902" y="5039105"/>
            <a:ext cx="573405" cy="576580"/>
          </a:xfrm>
          <a:custGeom>
            <a:avLst/>
            <a:gdLst/>
            <a:ahLst/>
            <a:cxnLst/>
            <a:rect l="l" t="t" r="r" b="b"/>
            <a:pathLst>
              <a:path w="573404" h="576579">
                <a:moveTo>
                  <a:pt x="0" y="288036"/>
                </a:moveTo>
                <a:lnTo>
                  <a:pt x="3749" y="241302"/>
                </a:lnTo>
                <a:lnTo>
                  <a:pt x="14606" y="196973"/>
                </a:lnTo>
                <a:lnTo>
                  <a:pt x="31978" y="155643"/>
                </a:lnTo>
                <a:lnTo>
                  <a:pt x="55278" y="117902"/>
                </a:lnTo>
                <a:lnTo>
                  <a:pt x="83915" y="84343"/>
                </a:lnTo>
                <a:lnTo>
                  <a:pt x="117299" y="55558"/>
                </a:lnTo>
                <a:lnTo>
                  <a:pt x="154840" y="32140"/>
                </a:lnTo>
                <a:lnTo>
                  <a:pt x="195949" y="14679"/>
                </a:lnTo>
                <a:lnTo>
                  <a:pt x="240036" y="3768"/>
                </a:lnTo>
                <a:lnTo>
                  <a:pt x="286512" y="0"/>
                </a:lnTo>
                <a:lnTo>
                  <a:pt x="332987" y="3768"/>
                </a:lnTo>
                <a:lnTo>
                  <a:pt x="377074" y="14679"/>
                </a:lnTo>
                <a:lnTo>
                  <a:pt x="418183" y="32140"/>
                </a:lnTo>
                <a:lnTo>
                  <a:pt x="455724" y="55558"/>
                </a:lnTo>
                <a:lnTo>
                  <a:pt x="489108" y="84343"/>
                </a:lnTo>
                <a:lnTo>
                  <a:pt x="517745" y="117902"/>
                </a:lnTo>
                <a:lnTo>
                  <a:pt x="541045" y="155643"/>
                </a:lnTo>
                <a:lnTo>
                  <a:pt x="558417" y="196973"/>
                </a:lnTo>
                <a:lnTo>
                  <a:pt x="569274" y="241302"/>
                </a:lnTo>
                <a:lnTo>
                  <a:pt x="573024" y="288036"/>
                </a:lnTo>
                <a:lnTo>
                  <a:pt x="569274" y="334769"/>
                </a:lnTo>
                <a:lnTo>
                  <a:pt x="558417" y="379098"/>
                </a:lnTo>
                <a:lnTo>
                  <a:pt x="541045" y="420428"/>
                </a:lnTo>
                <a:lnTo>
                  <a:pt x="517745" y="458169"/>
                </a:lnTo>
                <a:lnTo>
                  <a:pt x="489108" y="491728"/>
                </a:lnTo>
                <a:lnTo>
                  <a:pt x="455724" y="520513"/>
                </a:lnTo>
                <a:lnTo>
                  <a:pt x="418183" y="543931"/>
                </a:lnTo>
                <a:lnTo>
                  <a:pt x="377074" y="561392"/>
                </a:lnTo>
                <a:lnTo>
                  <a:pt x="332987" y="572303"/>
                </a:lnTo>
                <a:lnTo>
                  <a:pt x="286512" y="576072"/>
                </a:lnTo>
                <a:lnTo>
                  <a:pt x="240036" y="572303"/>
                </a:lnTo>
                <a:lnTo>
                  <a:pt x="195949" y="561392"/>
                </a:lnTo>
                <a:lnTo>
                  <a:pt x="154840" y="543931"/>
                </a:lnTo>
                <a:lnTo>
                  <a:pt x="117299" y="520513"/>
                </a:lnTo>
                <a:lnTo>
                  <a:pt x="83915" y="491728"/>
                </a:lnTo>
                <a:lnTo>
                  <a:pt x="55278" y="458169"/>
                </a:lnTo>
                <a:lnTo>
                  <a:pt x="31978" y="420428"/>
                </a:lnTo>
                <a:lnTo>
                  <a:pt x="14606" y="379098"/>
                </a:lnTo>
                <a:lnTo>
                  <a:pt x="3749" y="334769"/>
                </a:lnTo>
                <a:lnTo>
                  <a:pt x="0" y="2880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271766" y="5098541"/>
            <a:ext cx="459105" cy="460375"/>
          </a:xfrm>
          <a:custGeom>
            <a:avLst/>
            <a:gdLst/>
            <a:ahLst/>
            <a:cxnLst/>
            <a:rect l="l" t="t" r="r" b="b"/>
            <a:pathLst>
              <a:path w="459104" h="460375">
                <a:moveTo>
                  <a:pt x="0" y="230123"/>
                </a:moveTo>
                <a:lnTo>
                  <a:pt x="4662" y="183736"/>
                </a:lnTo>
                <a:lnTo>
                  <a:pt x="18032" y="140535"/>
                </a:lnTo>
                <a:lnTo>
                  <a:pt x="39185" y="101444"/>
                </a:lnTo>
                <a:lnTo>
                  <a:pt x="67198" y="67389"/>
                </a:lnTo>
                <a:lnTo>
                  <a:pt x="101147" y="39292"/>
                </a:lnTo>
                <a:lnTo>
                  <a:pt x="140106" y="18079"/>
                </a:lnTo>
                <a:lnTo>
                  <a:pt x="183153" y="4673"/>
                </a:lnTo>
                <a:lnTo>
                  <a:pt x="229361" y="0"/>
                </a:lnTo>
                <a:lnTo>
                  <a:pt x="275570" y="4673"/>
                </a:lnTo>
                <a:lnTo>
                  <a:pt x="318617" y="18079"/>
                </a:lnTo>
                <a:lnTo>
                  <a:pt x="357576" y="39292"/>
                </a:lnTo>
                <a:lnTo>
                  <a:pt x="391525" y="67389"/>
                </a:lnTo>
                <a:lnTo>
                  <a:pt x="419538" y="101444"/>
                </a:lnTo>
                <a:lnTo>
                  <a:pt x="440691" y="140535"/>
                </a:lnTo>
                <a:lnTo>
                  <a:pt x="454061" y="183736"/>
                </a:lnTo>
                <a:lnTo>
                  <a:pt x="458724" y="230123"/>
                </a:lnTo>
                <a:lnTo>
                  <a:pt x="454061" y="276511"/>
                </a:lnTo>
                <a:lnTo>
                  <a:pt x="440691" y="319712"/>
                </a:lnTo>
                <a:lnTo>
                  <a:pt x="419538" y="358803"/>
                </a:lnTo>
                <a:lnTo>
                  <a:pt x="391525" y="392858"/>
                </a:lnTo>
                <a:lnTo>
                  <a:pt x="357576" y="420955"/>
                </a:lnTo>
                <a:lnTo>
                  <a:pt x="318617" y="442168"/>
                </a:lnTo>
                <a:lnTo>
                  <a:pt x="275570" y="455574"/>
                </a:lnTo>
                <a:lnTo>
                  <a:pt x="229361" y="460247"/>
                </a:lnTo>
                <a:lnTo>
                  <a:pt x="183153" y="455574"/>
                </a:lnTo>
                <a:lnTo>
                  <a:pt x="140106" y="442168"/>
                </a:lnTo>
                <a:lnTo>
                  <a:pt x="101147" y="420955"/>
                </a:lnTo>
                <a:lnTo>
                  <a:pt x="67198" y="392858"/>
                </a:lnTo>
                <a:lnTo>
                  <a:pt x="39185" y="358803"/>
                </a:lnTo>
                <a:lnTo>
                  <a:pt x="18032" y="319712"/>
                </a:lnTo>
                <a:lnTo>
                  <a:pt x="4662" y="276511"/>
                </a:lnTo>
                <a:lnTo>
                  <a:pt x="0" y="23012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232142" y="5997702"/>
            <a:ext cx="573405" cy="579120"/>
          </a:xfrm>
          <a:custGeom>
            <a:avLst/>
            <a:gdLst/>
            <a:ahLst/>
            <a:cxnLst/>
            <a:rect l="l" t="t" r="r" b="b"/>
            <a:pathLst>
              <a:path w="573404" h="579120">
                <a:moveTo>
                  <a:pt x="0" y="289560"/>
                </a:moveTo>
                <a:lnTo>
                  <a:pt x="3749" y="242592"/>
                </a:lnTo>
                <a:lnTo>
                  <a:pt x="14606" y="198037"/>
                </a:lnTo>
                <a:lnTo>
                  <a:pt x="31978" y="156491"/>
                </a:lnTo>
                <a:lnTo>
                  <a:pt x="55278" y="118550"/>
                </a:lnTo>
                <a:lnTo>
                  <a:pt x="83915" y="84810"/>
                </a:lnTo>
                <a:lnTo>
                  <a:pt x="117299" y="55868"/>
                </a:lnTo>
                <a:lnTo>
                  <a:pt x="154840" y="32320"/>
                </a:lnTo>
                <a:lnTo>
                  <a:pt x="195949" y="14762"/>
                </a:lnTo>
                <a:lnTo>
                  <a:pt x="240036" y="3789"/>
                </a:lnTo>
                <a:lnTo>
                  <a:pt x="286511" y="0"/>
                </a:lnTo>
                <a:lnTo>
                  <a:pt x="332987" y="3789"/>
                </a:lnTo>
                <a:lnTo>
                  <a:pt x="377074" y="14762"/>
                </a:lnTo>
                <a:lnTo>
                  <a:pt x="418183" y="32320"/>
                </a:lnTo>
                <a:lnTo>
                  <a:pt x="455724" y="55868"/>
                </a:lnTo>
                <a:lnTo>
                  <a:pt x="489108" y="84810"/>
                </a:lnTo>
                <a:lnTo>
                  <a:pt x="517745" y="118550"/>
                </a:lnTo>
                <a:lnTo>
                  <a:pt x="541045" y="156491"/>
                </a:lnTo>
                <a:lnTo>
                  <a:pt x="558417" y="198037"/>
                </a:lnTo>
                <a:lnTo>
                  <a:pt x="569274" y="242592"/>
                </a:lnTo>
                <a:lnTo>
                  <a:pt x="573024" y="289560"/>
                </a:lnTo>
                <a:lnTo>
                  <a:pt x="569274" y="336527"/>
                </a:lnTo>
                <a:lnTo>
                  <a:pt x="558417" y="381082"/>
                </a:lnTo>
                <a:lnTo>
                  <a:pt x="541045" y="422628"/>
                </a:lnTo>
                <a:lnTo>
                  <a:pt x="517745" y="460569"/>
                </a:lnTo>
                <a:lnTo>
                  <a:pt x="489108" y="494309"/>
                </a:lnTo>
                <a:lnTo>
                  <a:pt x="455724" y="523251"/>
                </a:lnTo>
                <a:lnTo>
                  <a:pt x="418183" y="546799"/>
                </a:lnTo>
                <a:lnTo>
                  <a:pt x="377074" y="564357"/>
                </a:lnTo>
                <a:lnTo>
                  <a:pt x="332987" y="575330"/>
                </a:lnTo>
                <a:lnTo>
                  <a:pt x="286511" y="579120"/>
                </a:lnTo>
                <a:lnTo>
                  <a:pt x="240036" y="575330"/>
                </a:lnTo>
                <a:lnTo>
                  <a:pt x="195949" y="564357"/>
                </a:lnTo>
                <a:lnTo>
                  <a:pt x="154840" y="546799"/>
                </a:lnTo>
                <a:lnTo>
                  <a:pt x="117299" y="523251"/>
                </a:lnTo>
                <a:lnTo>
                  <a:pt x="83915" y="494309"/>
                </a:lnTo>
                <a:lnTo>
                  <a:pt x="55278" y="460569"/>
                </a:lnTo>
                <a:lnTo>
                  <a:pt x="31978" y="422628"/>
                </a:lnTo>
                <a:lnTo>
                  <a:pt x="14606" y="381082"/>
                </a:lnTo>
                <a:lnTo>
                  <a:pt x="3749" y="336527"/>
                </a:lnTo>
                <a:lnTo>
                  <a:pt x="0" y="28956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285481" y="6057138"/>
            <a:ext cx="459105" cy="462280"/>
          </a:xfrm>
          <a:custGeom>
            <a:avLst/>
            <a:gdLst/>
            <a:ahLst/>
            <a:cxnLst/>
            <a:rect l="l" t="t" r="r" b="b"/>
            <a:pathLst>
              <a:path w="459104" h="462279">
                <a:moveTo>
                  <a:pt x="0" y="230886"/>
                </a:moveTo>
                <a:lnTo>
                  <a:pt x="4662" y="184352"/>
                </a:lnTo>
                <a:lnTo>
                  <a:pt x="18032" y="141012"/>
                </a:lnTo>
                <a:lnTo>
                  <a:pt x="39185" y="101792"/>
                </a:lnTo>
                <a:lnTo>
                  <a:pt x="67198" y="67622"/>
                </a:lnTo>
                <a:lnTo>
                  <a:pt x="101147" y="39430"/>
                </a:lnTo>
                <a:lnTo>
                  <a:pt x="140106" y="18143"/>
                </a:lnTo>
                <a:lnTo>
                  <a:pt x="183153" y="4690"/>
                </a:lnTo>
                <a:lnTo>
                  <a:pt x="229362" y="0"/>
                </a:lnTo>
                <a:lnTo>
                  <a:pt x="275570" y="4690"/>
                </a:lnTo>
                <a:lnTo>
                  <a:pt x="318617" y="18143"/>
                </a:lnTo>
                <a:lnTo>
                  <a:pt x="357576" y="39430"/>
                </a:lnTo>
                <a:lnTo>
                  <a:pt x="391525" y="67622"/>
                </a:lnTo>
                <a:lnTo>
                  <a:pt x="419538" y="101792"/>
                </a:lnTo>
                <a:lnTo>
                  <a:pt x="440691" y="141012"/>
                </a:lnTo>
                <a:lnTo>
                  <a:pt x="454061" y="184352"/>
                </a:lnTo>
                <a:lnTo>
                  <a:pt x="458724" y="230886"/>
                </a:lnTo>
                <a:lnTo>
                  <a:pt x="454061" y="277415"/>
                </a:lnTo>
                <a:lnTo>
                  <a:pt x="440691" y="320754"/>
                </a:lnTo>
                <a:lnTo>
                  <a:pt x="419538" y="359973"/>
                </a:lnTo>
                <a:lnTo>
                  <a:pt x="391525" y="394144"/>
                </a:lnTo>
                <a:lnTo>
                  <a:pt x="357576" y="422338"/>
                </a:lnTo>
                <a:lnTo>
                  <a:pt x="318617" y="443626"/>
                </a:lnTo>
                <a:lnTo>
                  <a:pt x="275570" y="457080"/>
                </a:lnTo>
                <a:lnTo>
                  <a:pt x="229362" y="461772"/>
                </a:lnTo>
                <a:lnTo>
                  <a:pt x="183153" y="457080"/>
                </a:lnTo>
                <a:lnTo>
                  <a:pt x="140106" y="443626"/>
                </a:lnTo>
                <a:lnTo>
                  <a:pt x="101147" y="422338"/>
                </a:lnTo>
                <a:lnTo>
                  <a:pt x="67198" y="394144"/>
                </a:lnTo>
                <a:lnTo>
                  <a:pt x="39185" y="359973"/>
                </a:lnTo>
                <a:lnTo>
                  <a:pt x="18032" y="320754"/>
                </a:lnTo>
                <a:lnTo>
                  <a:pt x="4662" y="277415"/>
                </a:lnTo>
                <a:lnTo>
                  <a:pt x="0" y="230886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7426197" y="610189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311133" y="4127753"/>
            <a:ext cx="573405" cy="579120"/>
          </a:xfrm>
          <a:custGeom>
            <a:avLst/>
            <a:gdLst/>
            <a:ahLst/>
            <a:cxnLst/>
            <a:rect l="l" t="t" r="r" b="b"/>
            <a:pathLst>
              <a:path w="573404" h="579120">
                <a:moveTo>
                  <a:pt x="0" y="289560"/>
                </a:moveTo>
                <a:lnTo>
                  <a:pt x="3749" y="242598"/>
                </a:lnTo>
                <a:lnTo>
                  <a:pt x="14606" y="198046"/>
                </a:lnTo>
                <a:lnTo>
                  <a:pt x="31978" y="156502"/>
                </a:lnTo>
                <a:lnTo>
                  <a:pt x="55278" y="118561"/>
                </a:lnTo>
                <a:lnTo>
                  <a:pt x="83915" y="84820"/>
                </a:lnTo>
                <a:lnTo>
                  <a:pt x="117299" y="55875"/>
                </a:lnTo>
                <a:lnTo>
                  <a:pt x="154840" y="32325"/>
                </a:lnTo>
                <a:lnTo>
                  <a:pt x="195949" y="14764"/>
                </a:lnTo>
                <a:lnTo>
                  <a:pt x="240036" y="3790"/>
                </a:lnTo>
                <a:lnTo>
                  <a:pt x="286512" y="0"/>
                </a:lnTo>
                <a:lnTo>
                  <a:pt x="332987" y="3790"/>
                </a:lnTo>
                <a:lnTo>
                  <a:pt x="377074" y="14764"/>
                </a:lnTo>
                <a:lnTo>
                  <a:pt x="418183" y="32325"/>
                </a:lnTo>
                <a:lnTo>
                  <a:pt x="455724" y="55875"/>
                </a:lnTo>
                <a:lnTo>
                  <a:pt x="489108" y="84820"/>
                </a:lnTo>
                <a:lnTo>
                  <a:pt x="517745" y="118561"/>
                </a:lnTo>
                <a:lnTo>
                  <a:pt x="541045" y="156502"/>
                </a:lnTo>
                <a:lnTo>
                  <a:pt x="558417" y="198046"/>
                </a:lnTo>
                <a:lnTo>
                  <a:pt x="569274" y="242598"/>
                </a:lnTo>
                <a:lnTo>
                  <a:pt x="573024" y="289560"/>
                </a:lnTo>
                <a:lnTo>
                  <a:pt x="569274" y="336521"/>
                </a:lnTo>
                <a:lnTo>
                  <a:pt x="558417" y="381073"/>
                </a:lnTo>
                <a:lnTo>
                  <a:pt x="541045" y="422617"/>
                </a:lnTo>
                <a:lnTo>
                  <a:pt x="517745" y="460558"/>
                </a:lnTo>
                <a:lnTo>
                  <a:pt x="489108" y="494299"/>
                </a:lnTo>
                <a:lnTo>
                  <a:pt x="455724" y="523244"/>
                </a:lnTo>
                <a:lnTo>
                  <a:pt x="418183" y="546794"/>
                </a:lnTo>
                <a:lnTo>
                  <a:pt x="377074" y="564355"/>
                </a:lnTo>
                <a:lnTo>
                  <a:pt x="332987" y="575329"/>
                </a:lnTo>
                <a:lnTo>
                  <a:pt x="286512" y="579120"/>
                </a:lnTo>
                <a:lnTo>
                  <a:pt x="240036" y="575329"/>
                </a:lnTo>
                <a:lnTo>
                  <a:pt x="195949" y="564355"/>
                </a:lnTo>
                <a:lnTo>
                  <a:pt x="154840" y="546794"/>
                </a:lnTo>
                <a:lnTo>
                  <a:pt x="117299" y="523244"/>
                </a:lnTo>
                <a:lnTo>
                  <a:pt x="83915" y="494299"/>
                </a:lnTo>
                <a:lnTo>
                  <a:pt x="55278" y="460558"/>
                </a:lnTo>
                <a:lnTo>
                  <a:pt x="31978" y="422617"/>
                </a:lnTo>
                <a:lnTo>
                  <a:pt x="14606" y="381073"/>
                </a:lnTo>
                <a:lnTo>
                  <a:pt x="3749" y="336521"/>
                </a:lnTo>
                <a:lnTo>
                  <a:pt x="0" y="28956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365997" y="4187190"/>
            <a:ext cx="457200" cy="462280"/>
          </a:xfrm>
          <a:custGeom>
            <a:avLst/>
            <a:gdLst/>
            <a:ahLst/>
            <a:cxnLst/>
            <a:rect l="l" t="t" r="r" b="b"/>
            <a:pathLst>
              <a:path w="457200" h="462279">
                <a:moveTo>
                  <a:pt x="0" y="230886"/>
                </a:moveTo>
                <a:lnTo>
                  <a:pt x="4644" y="184356"/>
                </a:lnTo>
                <a:lnTo>
                  <a:pt x="17966" y="141017"/>
                </a:lnTo>
                <a:lnTo>
                  <a:pt x="39045" y="101798"/>
                </a:lnTo>
                <a:lnTo>
                  <a:pt x="66960" y="67627"/>
                </a:lnTo>
                <a:lnTo>
                  <a:pt x="100793" y="39433"/>
                </a:lnTo>
                <a:lnTo>
                  <a:pt x="139624" y="18145"/>
                </a:lnTo>
                <a:lnTo>
                  <a:pt x="182533" y="4691"/>
                </a:lnTo>
                <a:lnTo>
                  <a:pt x="228600" y="0"/>
                </a:lnTo>
                <a:lnTo>
                  <a:pt x="274666" y="4691"/>
                </a:lnTo>
                <a:lnTo>
                  <a:pt x="317575" y="18145"/>
                </a:lnTo>
                <a:lnTo>
                  <a:pt x="356406" y="39433"/>
                </a:lnTo>
                <a:lnTo>
                  <a:pt x="390239" y="67627"/>
                </a:lnTo>
                <a:lnTo>
                  <a:pt x="418154" y="101798"/>
                </a:lnTo>
                <a:lnTo>
                  <a:pt x="439233" y="141017"/>
                </a:lnTo>
                <a:lnTo>
                  <a:pt x="452555" y="184356"/>
                </a:lnTo>
                <a:lnTo>
                  <a:pt x="457200" y="230886"/>
                </a:lnTo>
                <a:lnTo>
                  <a:pt x="452555" y="277415"/>
                </a:lnTo>
                <a:lnTo>
                  <a:pt x="439233" y="320754"/>
                </a:lnTo>
                <a:lnTo>
                  <a:pt x="418154" y="359973"/>
                </a:lnTo>
                <a:lnTo>
                  <a:pt x="390239" y="394144"/>
                </a:lnTo>
                <a:lnTo>
                  <a:pt x="356406" y="422338"/>
                </a:lnTo>
                <a:lnTo>
                  <a:pt x="317575" y="443626"/>
                </a:lnTo>
                <a:lnTo>
                  <a:pt x="274666" y="457080"/>
                </a:lnTo>
                <a:lnTo>
                  <a:pt x="228600" y="461772"/>
                </a:lnTo>
                <a:lnTo>
                  <a:pt x="182533" y="457080"/>
                </a:lnTo>
                <a:lnTo>
                  <a:pt x="139624" y="443626"/>
                </a:lnTo>
                <a:lnTo>
                  <a:pt x="100793" y="422338"/>
                </a:lnTo>
                <a:lnTo>
                  <a:pt x="66960" y="394144"/>
                </a:lnTo>
                <a:lnTo>
                  <a:pt x="39045" y="359973"/>
                </a:lnTo>
                <a:lnTo>
                  <a:pt x="17966" y="320754"/>
                </a:lnTo>
                <a:lnTo>
                  <a:pt x="4644" y="277415"/>
                </a:lnTo>
                <a:lnTo>
                  <a:pt x="0" y="23088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8506206" y="42313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26681" y="4720075"/>
            <a:ext cx="304800" cy="127254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  <a:spcBef>
                <a:spcPts val="165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436614" y="5303520"/>
            <a:ext cx="795655" cy="114300"/>
          </a:xfrm>
          <a:custGeom>
            <a:avLst/>
            <a:gdLst/>
            <a:ahLst/>
            <a:cxnLst/>
            <a:rect l="l" t="t" r="r" b="b"/>
            <a:pathLst>
              <a:path w="795654" h="114300">
                <a:moveTo>
                  <a:pt x="605028" y="0"/>
                </a:moveTo>
                <a:lnTo>
                  <a:pt x="605028" y="114299"/>
                </a:lnTo>
                <a:lnTo>
                  <a:pt x="732028" y="76199"/>
                </a:lnTo>
                <a:lnTo>
                  <a:pt x="624078" y="76199"/>
                </a:lnTo>
                <a:lnTo>
                  <a:pt x="624078" y="38099"/>
                </a:lnTo>
                <a:lnTo>
                  <a:pt x="732028" y="38099"/>
                </a:lnTo>
                <a:lnTo>
                  <a:pt x="605028" y="0"/>
                </a:lnTo>
                <a:close/>
              </a:path>
              <a:path w="795654" h="114300">
                <a:moveTo>
                  <a:pt x="60502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05028" y="76199"/>
                </a:lnTo>
                <a:lnTo>
                  <a:pt x="605028" y="38099"/>
                </a:lnTo>
                <a:close/>
              </a:path>
              <a:path w="795654" h="114300">
                <a:moveTo>
                  <a:pt x="732028" y="38099"/>
                </a:moveTo>
                <a:lnTo>
                  <a:pt x="624078" y="38099"/>
                </a:lnTo>
                <a:lnTo>
                  <a:pt x="624078" y="76199"/>
                </a:lnTo>
                <a:lnTo>
                  <a:pt x="732028" y="76199"/>
                </a:lnTo>
                <a:lnTo>
                  <a:pt x="795528" y="57149"/>
                </a:lnTo>
                <a:lnTo>
                  <a:pt x="73202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512557" y="4428744"/>
            <a:ext cx="795655" cy="114300"/>
          </a:xfrm>
          <a:custGeom>
            <a:avLst/>
            <a:gdLst/>
            <a:ahLst/>
            <a:cxnLst/>
            <a:rect l="l" t="t" r="r" b="b"/>
            <a:pathLst>
              <a:path w="795654" h="114300">
                <a:moveTo>
                  <a:pt x="605027" y="0"/>
                </a:moveTo>
                <a:lnTo>
                  <a:pt x="605027" y="114299"/>
                </a:lnTo>
                <a:lnTo>
                  <a:pt x="732027" y="76199"/>
                </a:lnTo>
                <a:lnTo>
                  <a:pt x="624077" y="76199"/>
                </a:lnTo>
                <a:lnTo>
                  <a:pt x="624077" y="38099"/>
                </a:lnTo>
                <a:lnTo>
                  <a:pt x="732027" y="38099"/>
                </a:lnTo>
                <a:lnTo>
                  <a:pt x="605027" y="0"/>
                </a:lnTo>
                <a:close/>
              </a:path>
              <a:path w="795654" h="114300">
                <a:moveTo>
                  <a:pt x="60502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05027" y="76199"/>
                </a:lnTo>
                <a:lnTo>
                  <a:pt x="605027" y="38099"/>
                </a:lnTo>
                <a:close/>
              </a:path>
              <a:path w="795654" h="114300">
                <a:moveTo>
                  <a:pt x="732027" y="38099"/>
                </a:moveTo>
                <a:lnTo>
                  <a:pt x="624077" y="38099"/>
                </a:lnTo>
                <a:lnTo>
                  <a:pt x="624077" y="76199"/>
                </a:lnTo>
                <a:lnTo>
                  <a:pt x="732027" y="76199"/>
                </a:lnTo>
                <a:lnTo>
                  <a:pt x="795527" y="57149"/>
                </a:lnTo>
                <a:lnTo>
                  <a:pt x="732027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7412228" y="3768597"/>
            <a:ext cx="513715" cy="1765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6845">
              <a:lnSpc>
                <a:spcPts val="311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330835">
              <a:lnSpc>
                <a:spcPts val="2150"/>
              </a:lnSpc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  <a:spcBef>
                <a:spcPts val="53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143242" y="4041647"/>
            <a:ext cx="506730" cy="412750"/>
          </a:xfrm>
          <a:custGeom>
            <a:avLst/>
            <a:gdLst/>
            <a:ahLst/>
            <a:cxnLst/>
            <a:rect l="l" t="t" r="r" b="b"/>
            <a:pathLst>
              <a:path w="506729" h="412750">
                <a:moveTo>
                  <a:pt x="409955" y="220725"/>
                </a:moveTo>
                <a:lnTo>
                  <a:pt x="356107" y="412241"/>
                </a:lnTo>
                <a:lnTo>
                  <a:pt x="506475" y="281939"/>
                </a:lnTo>
                <a:lnTo>
                  <a:pt x="497064" y="275970"/>
                </a:lnTo>
                <a:lnTo>
                  <a:pt x="465074" y="275970"/>
                </a:lnTo>
                <a:lnTo>
                  <a:pt x="430910" y="258952"/>
                </a:lnTo>
                <a:lnTo>
                  <a:pt x="439842" y="240985"/>
                </a:lnTo>
                <a:lnTo>
                  <a:pt x="439894" y="239713"/>
                </a:lnTo>
                <a:lnTo>
                  <a:pt x="409955" y="220725"/>
                </a:lnTo>
                <a:close/>
              </a:path>
              <a:path w="506729" h="412750">
                <a:moveTo>
                  <a:pt x="439842" y="240985"/>
                </a:moveTo>
                <a:lnTo>
                  <a:pt x="430910" y="258952"/>
                </a:lnTo>
                <a:lnTo>
                  <a:pt x="465074" y="275970"/>
                </a:lnTo>
                <a:lnTo>
                  <a:pt x="472741" y="260545"/>
                </a:lnTo>
                <a:lnTo>
                  <a:pt x="448403" y="245109"/>
                </a:lnTo>
                <a:lnTo>
                  <a:pt x="439674" y="245109"/>
                </a:lnTo>
                <a:lnTo>
                  <a:pt x="439842" y="240985"/>
                </a:lnTo>
                <a:close/>
              </a:path>
              <a:path w="506729" h="412750">
                <a:moveTo>
                  <a:pt x="472741" y="260545"/>
                </a:moveTo>
                <a:lnTo>
                  <a:pt x="465074" y="275970"/>
                </a:lnTo>
                <a:lnTo>
                  <a:pt x="497064" y="275970"/>
                </a:lnTo>
                <a:lnTo>
                  <a:pt x="472741" y="260545"/>
                </a:lnTo>
                <a:close/>
              </a:path>
              <a:path w="506729" h="412750">
                <a:moveTo>
                  <a:pt x="478089" y="237235"/>
                </a:moveTo>
                <a:lnTo>
                  <a:pt x="441705" y="237235"/>
                </a:lnTo>
                <a:lnTo>
                  <a:pt x="440901" y="240352"/>
                </a:lnTo>
                <a:lnTo>
                  <a:pt x="472741" y="260545"/>
                </a:lnTo>
                <a:lnTo>
                  <a:pt x="475868" y="254253"/>
                </a:lnTo>
                <a:lnTo>
                  <a:pt x="477011" y="251713"/>
                </a:lnTo>
                <a:lnTo>
                  <a:pt x="477647" y="249174"/>
                </a:lnTo>
                <a:lnTo>
                  <a:pt x="477817" y="245109"/>
                </a:lnTo>
                <a:lnTo>
                  <a:pt x="478089" y="237235"/>
                </a:lnTo>
                <a:close/>
              </a:path>
              <a:path w="506729" h="412750">
                <a:moveTo>
                  <a:pt x="440335" y="239993"/>
                </a:moveTo>
                <a:lnTo>
                  <a:pt x="439842" y="240985"/>
                </a:lnTo>
                <a:lnTo>
                  <a:pt x="439674" y="245109"/>
                </a:lnTo>
                <a:lnTo>
                  <a:pt x="440901" y="240352"/>
                </a:lnTo>
                <a:lnTo>
                  <a:pt x="440335" y="239993"/>
                </a:lnTo>
                <a:close/>
              </a:path>
              <a:path w="506729" h="412750">
                <a:moveTo>
                  <a:pt x="440901" y="240352"/>
                </a:moveTo>
                <a:lnTo>
                  <a:pt x="439674" y="245109"/>
                </a:lnTo>
                <a:lnTo>
                  <a:pt x="448403" y="245109"/>
                </a:lnTo>
                <a:lnTo>
                  <a:pt x="440901" y="240352"/>
                </a:lnTo>
                <a:close/>
              </a:path>
              <a:path w="506729" h="412750">
                <a:moveTo>
                  <a:pt x="439894" y="239713"/>
                </a:moveTo>
                <a:lnTo>
                  <a:pt x="439842" y="240985"/>
                </a:lnTo>
                <a:lnTo>
                  <a:pt x="440335" y="239993"/>
                </a:lnTo>
                <a:lnTo>
                  <a:pt x="439894" y="239713"/>
                </a:lnTo>
                <a:close/>
              </a:path>
              <a:path w="506729" h="412750">
                <a:moveTo>
                  <a:pt x="441705" y="237235"/>
                </a:moveTo>
                <a:lnTo>
                  <a:pt x="440335" y="239993"/>
                </a:lnTo>
                <a:lnTo>
                  <a:pt x="440901" y="240352"/>
                </a:lnTo>
                <a:lnTo>
                  <a:pt x="441705" y="237235"/>
                </a:lnTo>
                <a:close/>
              </a:path>
              <a:path w="506729" h="412750">
                <a:moveTo>
                  <a:pt x="369960" y="38100"/>
                </a:moveTo>
                <a:lnTo>
                  <a:pt x="239267" y="38100"/>
                </a:lnTo>
                <a:lnTo>
                  <a:pt x="260096" y="39243"/>
                </a:lnTo>
                <a:lnTo>
                  <a:pt x="280161" y="42163"/>
                </a:lnTo>
                <a:lnTo>
                  <a:pt x="318134" y="53720"/>
                </a:lnTo>
                <a:lnTo>
                  <a:pt x="352298" y="71881"/>
                </a:lnTo>
                <a:lnTo>
                  <a:pt x="382015" y="95757"/>
                </a:lnTo>
                <a:lnTo>
                  <a:pt x="416432" y="140715"/>
                </a:lnTo>
                <a:lnTo>
                  <a:pt x="436372" y="194056"/>
                </a:lnTo>
                <a:lnTo>
                  <a:pt x="440181" y="232663"/>
                </a:lnTo>
                <a:lnTo>
                  <a:pt x="439894" y="239713"/>
                </a:lnTo>
                <a:lnTo>
                  <a:pt x="440335" y="239993"/>
                </a:lnTo>
                <a:lnTo>
                  <a:pt x="441705" y="237235"/>
                </a:lnTo>
                <a:lnTo>
                  <a:pt x="478089" y="237235"/>
                </a:lnTo>
                <a:lnTo>
                  <a:pt x="478281" y="231647"/>
                </a:lnTo>
                <a:lnTo>
                  <a:pt x="473201" y="184276"/>
                </a:lnTo>
                <a:lnTo>
                  <a:pt x="458977" y="140588"/>
                </a:lnTo>
                <a:lnTo>
                  <a:pt x="436625" y="101345"/>
                </a:lnTo>
                <a:lnTo>
                  <a:pt x="407161" y="67182"/>
                </a:lnTo>
                <a:lnTo>
                  <a:pt x="371475" y="38988"/>
                </a:lnTo>
                <a:lnTo>
                  <a:pt x="369960" y="38100"/>
                </a:lnTo>
                <a:close/>
              </a:path>
              <a:path w="506729" h="412750">
                <a:moveTo>
                  <a:pt x="237616" y="0"/>
                </a:moveTo>
                <a:lnTo>
                  <a:pt x="192658" y="4318"/>
                </a:lnTo>
                <a:lnTo>
                  <a:pt x="150367" y="16128"/>
                </a:lnTo>
                <a:lnTo>
                  <a:pt x="111759" y="35051"/>
                </a:lnTo>
                <a:lnTo>
                  <a:pt x="77342" y="60197"/>
                </a:lnTo>
                <a:lnTo>
                  <a:pt x="48005" y="90931"/>
                </a:lnTo>
                <a:lnTo>
                  <a:pt x="24764" y="126491"/>
                </a:lnTo>
                <a:lnTo>
                  <a:pt x="8381" y="166243"/>
                </a:lnTo>
                <a:lnTo>
                  <a:pt x="0" y="207518"/>
                </a:lnTo>
                <a:lnTo>
                  <a:pt x="37591" y="213359"/>
                </a:lnTo>
                <a:lnTo>
                  <a:pt x="40766" y="193294"/>
                </a:lnTo>
                <a:lnTo>
                  <a:pt x="45338" y="175640"/>
                </a:lnTo>
                <a:lnTo>
                  <a:pt x="68452" y="127507"/>
                </a:lnTo>
                <a:lnTo>
                  <a:pt x="103504" y="87756"/>
                </a:lnTo>
                <a:lnTo>
                  <a:pt x="148716" y="58293"/>
                </a:lnTo>
                <a:lnTo>
                  <a:pt x="201167" y="41401"/>
                </a:lnTo>
                <a:lnTo>
                  <a:pt x="239267" y="38100"/>
                </a:lnTo>
                <a:lnTo>
                  <a:pt x="369960" y="38100"/>
                </a:lnTo>
                <a:lnTo>
                  <a:pt x="351789" y="27431"/>
                </a:lnTo>
                <a:lnTo>
                  <a:pt x="330834" y="17906"/>
                </a:lnTo>
                <a:lnTo>
                  <a:pt x="308863" y="10159"/>
                </a:lnTo>
                <a:lnTo>
                  <a:pt x="285623" y="4444"/>
                </a:lnTo>
                <a:lnTo>
                  <a:pt x="262000" y="1143"/>
                </a:lnTo>
                <a:lnTo>
                  <a:pt x="23761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402068" y="4639436"/>
            <a:ext cx="137795" cy="459740"/>
          </a:xfrm>
          <a:custGeom>
            <a:avLst/>
            <a:gdLst/>
            <a:ahLst/>
            <a:cxnLst/>
            <a:rect l="l" t="t" r="r" b="b"/>
            <a:pathLst>
              <a:path w="137795" h="459739">
                <a:moveTo>
                  <a:pt x="60481" y="271728"/>
                </a:moveTo>
                <a:lnTo>
                  <a:pt x="23749" y="275463"/>
                </a:lnTo>
                <a:lnTo>
                  <a:pt x="100075" y="459231"/>
                </a:lnTo>
                <a:lnTo>
                  <a:pt x="132097" y="291719"/>
                </a:lnTo>
                <a:lnTo>
                  <a:pt x="63753" y="291719"/>
                </a:lnTo>
                <a:lnTo>
                  <a:pt x="60481" y="271728"/>
                </a:lnTo>
                <a:close/>
              </a:path>
              <a:path w="137795" h="459739">
                <a:moveTo>
                  <a:pt x="98516" y="267860"/>
                </a:moveTo>
                <a:lnTo>
                  <a:pt x="60481" y="271728"/>
                </a:lnTo>
                <a:lnTo>
                  <a:pt x="63753" y="291719"/>
                </a:lnTo>
                <a:lnTo>
                  <a:pt x="101346" y="285623"/>
                </a:lnTo>
                <a:lnTo>
                  <a:pt x="98516" y="267860"/>
                </a:lnTo>
                <a:close/>
              </a:path>
              <a:path w="137795" h="459739">
                <a:moveTo>
                  <a:pt x="137413" y="263906"/>
                </a:moveTo>
                <a:lnTo>
                  <a:pt x="98516" y="267860"/>
                </a:lnTo>
                <a:lnTo>
                  <a:pt x="101346" y="285623"/>
                </a:lnTo>
                <a:lnTo>
                  <a:pt x="63753" y="291719"/>
                </a:lnTo>
                <a:lnTo>
                  <a:pt x="132097" y="291719"/>
                </a:lnTo>
                <a:lnTo>
                  <a:pt x="137413" y="263906"/>
                </a:lnTo>
                <a:close/>
              </a:path>
              <a:path w="137795" h="459739">
                <a:moveTo>
                  <a:pt x="59285" y="264423"/>
                </a:moveTo>
                <a:lnTo>
                  <a:pt x="60481" y="271728"/>
                </a:lnTo>
                <a:lnTo>
                  <a:pt x="98516" y="267860"/>
                </a:lnTo>
                <a:lnTo>
                  <a:pt x="98230" y="266064"/>
                </a:lnTo>
                <a:lnTo>
                  <a:pt x="59816" y="266064"/>
                </a:lnTo>
                <a:lnTo>
                  <a:pt x="59285" y="264423"/>
                </a:lnTo>
                <a:close/>
              </a:path>
              <a:path w="137795" h="459739">
                <a:moveTo>
                  <a:pt x="59054" y="263017"/>
                </a:moveTo>
                <a:lnTo>
                  <a:pt x="59285" y="264423"/>
                </a:lnTo>
                <a:lnTo>
                  <a:pt x="59816" y="266064"/>
                </a:lnTo>
                <a:lnTo>
                  <a:pt x="59054" y="263017"/>
                </a:lnTo>
                <a:close/>
              </a:path>
              <a:path w="137795" h="459739">
                <a:moveTo>
                  <a:pt x="97745" y="263017"/>
                </a:moveTo>
                <a:lnTo>
                  <a:pt x="59054" y="263017"/>
                </a:lnTo>
                <a:lnTo>
                  <a:pt x="59816" y="266064"/>
                </a:lnTo>
                <a:lnTo>
                  <a:pt x="98230" y="266064"/>
                </a:lnTo>
                <a:lnTo>
                  <a:pt x="97745" y="263017"/>
                </a:lnTo>
                <a:close/>
              </a:path>
              <a:path w="137795" h="459739">
                <a:moveTo>
                  <a:pt x="52888" y="248082"/>
                </a:moveTo>
                <a:lnTo>
                  <a:pt x="53085" y="248412"/>
                </a:lnTo>
                <a:lnTo>
                  <a:pt x="53975" y="250317"/>
                </a:lnTo>
                <a:lnTo>
                  <a:pt x="56896" y="257048"/>
                </a:lnTo>
                <a:lnTo>
                  <a:pt x="59285" y="264423"/>
                </a:lnTo>
                <a:lnTo>
                  <a:pt x="59054" y="263017"/>
                </a:lnTo>
                <a:lnTo>
                  <a:pt x="97745" y="263017"/>
                </a:lnTo>
                <a:lnTo>
                  <a:pt x="96774" y="256920"/>
                </a:lnTo>
                <a:lnTo>
                  <a:pt x="96520" y="255905"/>
                </a:lnTo>
                <a:lnTo>
                  <a:pt x="96265" y="254762"/>
                </a:lnTo>
                <a:lnTo>
                  <a:pt x="96011" y="253873"/>
                </a:lnTo>
                <a:lnTo>
                  <a:pt x="94254" y="248919"/>
                </a:lnTo>
                <a:lnTo>
                  <a:pt x="58547" y="248919"/>
                </a:lnTo>
                <a:lnTo>
                  <a:pt x="54863" y="248412"/>
                </a:lnTo>
                <a:lnTo>
                  <a:pt x="52888" y="248082"/>
                </a:lnTo>
                <a:close/>
              </a:path>
              <a:path w="137795" h="459739">
                <a:moveTo>
                  <a:pt x="51404" y="246025"/>
                </a:moveTo>
                <a:lnTo>
                  <a:pt x="52314" y="247130"/>
                </a:lnTo>
                <a:lnTo>
                  <a:pt x="52888" y="248082"/>
                </a:lnTo>
                <a:lnTo>
                  <a:pt x="54863" y="248412"/>
                </a:lnTo>
                <a:lnTo>
                  <a:pt x="58547" y="248919"/>
                </a:lnTo>
                <a:lnTo>
                  <a:pt x="55558" y="247904"/>
                </a:lnTo>
                <a:lnTo>
                  <a:pt x="54101" y="247904"/>
                </a:lnTo>
                <a:lnTo>
                  <a:pt x="53043" y="247269"/>
                </a:lnTo>
                <a:lnTo>
                  <a:pt x="52704" y="247065"/>
                </a:lnTo>
                <a:lnTo>
                  <a:pt x="52322" y="246836"/>
                </a:lnTo>
                <a:lnTo>
                  <a:pt x="51404" y="246025"/>
                </a:lnTo>
                <a:close/>
              </a:path>
              <a:path w="137795" h="459739">
                <a:moveTo>
                  <a:pt x="92857" y="244982"/>
                </a:moveTo>
                <a:lnTo>
                  <a:pt x="50546" y="244982"/>
                </a:lnTo>
                <a:lnTo>
                  <a:pt x="52228" y="246576"/>
                </a:lnTo>
                <a:lnTo>
                  <a:pt x="52757" y="246951"/>
                </a:lnTo>
                <a:lnTo>
                  <a:pt x="58547" y="248919"/>
                </a:lnTo>
                <a:lnTo>
                  <a:pt x="94254" y="248919"/>
                </a:lnTo>
                <a:lnTo>
                  <a:pt x="92857" y="244982"/>
                </a:lnTo>
                <a:close/>
              </a:path>
              <a:path w="137795" h="459739">
                <a:moveTo>
                  <a:pt x="38100" y="0"/>
                </a:moveTo>
                <a:lnTo>
                  <a:pt x="0" y="762"/>
                </a:lnTo>
                <a:lnTo>
                  <a:pt x="1015" y="43561"/>
                </a:lnTo>
                <a:lnTo>
                  <a:pt x="2031" y="65150"/>
                </a:lnTo>
                <a:lnTo>
                  <a:pt x="5460" y="106171"/>
                </a:lnTo>
                <a:lnTo>
                  <a:pt x="12953" y="161162"/>
                </a:lnTo>
                <a:lnTo>
                  <a:pt x="22732" y="204724"/>
                </a:lnTo>
                <a:lnTo>
                  <a:pt x="39497" y="239394"/>
                </a:lnTo>
                <a:lnTo>
                  <a:pt x="43052" y="242696"/>
                </a:lnTo>
                <a:lnTo>
                  <a:pt x="44068" y="243712"/>
                </a:lnTo>
                <a:lnTo>
                  <a:pt x="45338" y="244475"/>
                </a:lnTo>
                <a:lnTo>
                  <a:pt x="46481" y="245237"/>
                </a:lnTo>
                <a:lnTo>
                  <a:pt x="48386" y="246252"/>
                </a:lnTo>
                <a:lnTo>
                  <a:pt x="50418" y="247269"/>
                </a:lnTo>
                <a:lnTo>
                  <a:pt x="52577" y="248031"/>
                </a:lnTo>
                <a:lnTo>
                  <a:pt x="52888" y="248082"/>
                </a:lnTo>
                <a:lnTo>
                  <a:pt x="52261" y="247065"/>
                </a:lnTo>
                <a:lnTo>
                  <a:pt x="51404" y="246025"/>
                </a:lnTo>
                <a:lnTo>
                  <a:pt x="51053" y="245744"/>
                </a:lnTo>
                <a:lnTo>
                  <a:pt x="50546" y="244982"/>
                </a:lnTo>
                <a:lnTo>
                  <a:pt x="92857" y="244982"/>
                </a:lnTo>
                <a:lnTo>
                  <a:pt x="91821" y="242062"/>
                </a:lnTo>
                <a:lnTo>
                  <a:pt x="77597" y="218312"/>
                </a:lnTo>
                <a:lnTo>
                  <a:pt x="74675" y="215773"/>
                </a:lnTo>
                <a:lnTo>
                  <a:pt x="73659" y="215137"/>
                </a:lnTo>
                <a:lnTo>
                  <a:pt x="72278" y="214375"/>
                </a:lnTo>
                <a:lnTo>
                  <a:pt x="68325" y="214375"/>
                </a:lnTo>
                <a:lnTo>
                  <a:pt x="67817" y="214121"/>
                </a:lnTo>
                <a:lnTo>
                  <a:pt x="67381" y="213522"/>
                </a:lnTo>
                <a:lnTo>
                  <a:pt x="65984" y="212574"/>
                </a:lnTo>
                <a:lnTo>
                  <a:pt x="60451" y="210693"/>
                </a:lnTo>
                <a:lnTo>
                  <a:pt x="65675" y="210693"/>
                </a:lnTo>
                <a:lnTo>
                  <a:pt x="53339" y="169925"/>
                </a:lnTo>
                <a:lnTo>
                  <a:pt x="45465" y="121285"/>
                </a:lnTo>
                <a:lnTo>
                  <a:pt x="41528" y="83312"/>
                </a:lnTo>
                <a:lnTo>
                  <a:pt x="38988" y="42671"/>
                </a:lnTo>
                <a:lnTo>
                  <a:pt x="38100" y="0"/>
                </a:lnTo>
                <a:close/>
              </a:path>
              <a:path w="137795" h="459739">
                <a:moveTo>
                  <a:pt x="52549" y="246880"/>
                </a:moveTo>
                <a:lnTo>
                  <a:pt x="52832" y="247142"/>
                </a:lnTo>
                <a:lnTo>
                  <a:pt x="54101" y="247904"/>
                </a:lnTo>
                <a:lnTo>
                  <a:pt x="52757" y="246951"/>
                </a:lnTo>
                <a:lnTo>
                  <a:pt x="52549" y="246880"/>
                </a:lnTo>
                <a:close/>
              </a:path>
              <a:path w="137795" h="459739">
                <a:moveTo>
                  <a:pt x="52757" y="246951"/>
                </a:moveTo>
                <a:lnTo>
                  <a:pt x="54101" y="247904"/>
                </a:lnTo>
                <a:lnTo>
                  <a:pt x="55558" y="247904"/>
                </a:lnTo>
                <a:lnTo>
                  <a:pt x="52757" y="246951"/>
                </a:lnTo>
                <a:close/>
              </a:path>
              <a:path w="137795" h="459739">
                <a:moveTo>
                  <a:pt x="52704" y="247065"/>
                </a:moveTo>
                <a:lnTo>
                  <a:pt x="52958" y="247269"/>
                </a:lnTo>
                <a:lnTo>
                  <a:pt x="52824" y="247142"/>
                </a:lnTo>
                <a:close/>
              </a:path>
              <a:path w="137795" h="459739">
                <a:moveTo>
                  <a:pt x="52812" y="247130"/>
                </a:moveTo>
                <a:lnTo>
                  <a:pt x="52958" y="247269"/>
                </a:lnTo>
                <a:lnTo>
                  <a:pt x="52812" y="247130"/>
                </a:lnTo>
                <a:close/>
              </a:path>
              <a:path w="137795" h="459739">
                <a:moveTo>
                  <a:pt x="52417" y="246836"/>
                </a:moveTo>
                <a:lnTo>
                  <a:pt x="52812" y="247130"/>
                </a:lnTo>
                <a:lnTo>
                  <a:pt x="52549" y="246880"/>
                </a:lnTo>
                <a:lnTo>
                  <a:pt x="52417" y="246836"/>
                </a:lnTo>
                <a:close/>
              </a:path>
              <a:path w="137795" h="459739">
                <a:moveTo>
                  <a:pt x="52197" y="246761"/>
                </a:moveTo>
                <a:lnTo>
                  <a:pt x="52704" y="247065"/>
                </a:lnTo>
                <a:lnTo>
                  <a:pt x="52417" y="246836"/>
                </a:lnTo>
                <a:lnTo>
                  <a:pt x="52197" y="246761"/>
                </a:lnTo>
                <a:close/>
              </a:path>
              <a:path w="137795" h="459739">
                <a:moveTo>
                  <a:pt x="52228" y="246576"/>
                </a:moveTo>
                <a:lnTo>
                  <a:pt x="52549" y="246880"/>
                </a:lnTo>
                <a:lnTo>
                  <a:pt x="52757" y="246951"/>
                </a:lnTo>
                <a:lnTo>
                  <a:pt x="52228" y="246576"/>
                </a:lnTo>
                <a:close/>
              </a:path>
              <a:path w="137795" h="459739">
                <a:moveTo>
                  <a:pt x="51340" y="245948"/>
                </a:moveTo>
                <a:lnTo>
                  <a:pt x="52417" y="246836"/>
                </a:lnTo>
                <a:lnTo>
                  <a:pt x="52549" y="246880"/>
                </a:lnTo>
                <a:lnTo>
                  <a:pt x="52228" y="246576"/>
                </a:lnTo>
                <a:lnTo>
                  <a:pt x="51340" y="245948"/>
                </a:lnTo>
                <a:close/>
              </a:path>
              <a:path w="137795" h="459739">
                <a:moveTo>
                  <a:pt x="52323" y="246761"/>
                </a:moveTo>
                <a:close/>
              </a:path>
              <a:path w="137795" h="459739">
                <a:moveTo>
                  <a:pt x="50546" y="244982"/>
                </a:moveTo>
                <a:lnTo>
                  <a:pt x="51340" y="245948"/>
                </a:lnTo>
                <a:lnTo>
                  <a:pt x="52228" y="246576"/>
                </a:lnTo>
                <a:lnTo>
                  <a:pt x="50546" y="244982"/>
                </a:lnTo>
                <a:close/>
              </a:path>
              <a:path w="137795" h="459739">
                <a:moveTo>
                  <a:pt x="51053" y="245744"/>
                </a:moveTo>
                <a:lnTo>
                  <a:pt x="51404" y="246025"/>
                </a:lnTo>
                <a:lnTo>
                  <a:pt x="51053" y="245744"/>
                </a:lnTo>
                <a:close/>
              </a:path>
              <a:path w="137795" h="459739">
                <a:moveTo>
                  <a:pt x="51173" y="245744"/>
                </a:moveTo>
                <a:lnTo>
                  <a:pt x="51340" y="245948"/>
                </a:lnTo>
                <a:lnTo>
                  <a:pt x="51173" y="245744"/>
                </a:lnTo>
                <a:close/>
              </a:path>
              <a:path w="137795" h="459739">
                <a:moveTo>
                  <a:pt x="66121" y="211534"/>
                </a:moveTo>
                <a:lnTo>
                  <a:pt x="66801" y="212725"/>
                </a:lnTo>
                <a:lnTo>
                  <a:pt x="67381" y="213522"/>
                </a:lnTo>
                <a:lnTo>
                  <a:pt x="68265" y="214121"/>
                </a:lnTo>
                <a:lnTo>
                  <a:pt x="68325" y="214375"/>
                </a:lnTo>
                <a:lnTo>
                  <a:pt x="72278" y="214375"/>
                </a:lnTo>
                <a:lnTo>
                  <a:pt x="70611" y="213487"/>
                </a:lnTo>
                <a:lnTo>
                  <a:pt x="68579" y="212344"/>
                </a:lnTo>
                <a:lnTo>
                  <a:pt x="66548" y="211581"/>
                </a:lnTo>
                <a:lnTo>
                  <a:pt x="66121" y="211534"/>
                </a:lnTo>
                <a:close/>
              </a:path>
              <a:path w="137795" h="459739">
                <a:moveTo>
                  <a:pt x="65984" y="212574"/>
                </a:moveTo>
                <a:lnTo>
                  <a:pt x="67381" y="213522"/>
                </a:lnTo>
                <a:lnTo>
                  <a:pt x="66894" y="212851"/>
                </a:lnTo>
                <a:lnTo>
                  <a:pt x="65984" y="212574"/>
                </a:lnTo>
                <a:close/>
              </a:path>
              <a:path w="137795" h="459739">
                <a:moveTo>
                  <a:pt x="64897" y="211836"/>
                </a:moveTo>
                <a:lnTo>
                  <a:pt x="65984" y="212574"/>
                </a:lnTo>
                <a:lnTo>
                  <a:pt x="66801" y="212851"/>
                </a:lnTo>
                <a:lnTo>
                  <a:pt x="64897" y="211836"/>
                </a:lnTo>
                <a:close/>
              </a:path>
              <a:path w="137795" h="459739">
                <a:moveTo>
                  <a:pt x="66293" y="211836"/>
                </a:moveTo>
                <a:lnTo>
                  <a:pt x="64897" y="211836"/>
                </a:lnTo>
                <a:lnTo>
                  <a:pt x="66801" y="212851"/>
                </a:lnTo>
                <a:lnTo>
                  <a:pt x="66293" y="211836"/>
                </a:lnTo>
                <a:close/>
              </a:path>
              <a:path w="137795" h="459739">
                <a:moveTo>
                  <a:pt x="60451" y="210693"/>
                </a:moveTo>
                <a:lnTo>
                  <a:pt x="65984" y="212574"/>
                </a:lnTo>
                <a:lnTo>
                  <a:pt x="64897" y="211836"/>
                </a:lnTo>
                <a:lnTo>
                  <a:pt x="66293" y="211836"/>
                </a:lnTo>
                <a:lnTo>
                  <a:pt x="66121" y="211534"/>
                </a:lnTo>
                <a:lnTo>
                  <a:pt x="64261" y="211327"/>
                </a:lnTo>
                <a:lnTo>
                  <a:pt x="62356" y="210946"/>
                </a:lnTo>
                <a:lnTo>
                  <a:pt x="60451" y="210693"/>
                </a:lnTo>
                <a:close/>
              </a:path>
              <a:path w="137795" h="459739">
                <a:moveTo>
                  <a:pt x="65675" y="210693"/>
                </a:moveTo>
                <a:lnTo>
                  <a:pt x="60451" y="210693"/>
                </a:lnTo>
                <a:lnTo>
                  <a:pt x="62356" y="210946"/>
                </a:lnTo>
                <a:lnTo>
                  <a:pt x="64261" y="211327"/>
                </a:lnTo>
                <a:lnTo>
                  <a:pt x="66121" y="211534"/>
                </a:lnTo>
                <a:lnTo>
                  <a:pt x="65785" y="210946"/>
                </a:lnTo>
                <a:lnTo>
                  <a:pt x="65675" y="21069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567934" y="5245608"/>
            <a:ext cx="401320" cy="114300"/>
          </a:xfrm>
          <a:custGeom>
            <a:avLst/>
            <a:gdLst/>
            <a:ahLst/>
            <a:cxnLst/>
            <a:rect l="l" t="t" r="r" b="b"/>
            <a:pathLst>
              <a:path w="401320" h="114300">
                <a:moveTo>
                  <a:pt x="286512" y="0"/>
                </a:moveTo>
                <a:lnTo>
                  <a:pt x="286512" y="114299"/>
                </a:lnTo>
                <a:lnTo>
                  <a:pt x="362712" y="76199"/>
                </a:lnTo>
                <a:lnTo>
                  <a:pt x="305562" y="76199"/>
                </a:lnTo>
                <a:lnTo>
                  <a:pt x="305562" y="38099"/>
                </a:lnTo>
                <a:lnTo>
                  <a:pt x="362712" y="38099"/>
                </a:lnTo>
                <a:lnTo>
                  <a:pt x="286512" y="0"/>
                </a:lnTo>
                <a:close/>
              </a:path>
              <a:path w="401320" h="114300">
                <a:moveTo>
                  <a:pt x="28651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86512" y="76199"/>
                </a:lnTo>
                <a:lnTo>
                  <a:pt x="286512" y="38099"/>
                </a:lnTo>
                <a:close/>
              </a:path>
              <a:path w="401320" h="114300">
                <a:moveTo>
                  <a:pt x="362712" y="38099"/>
                </a:moveTo>
                <a:lnTo>
                  <a:pt x="305562" y="38099"/>
                </a:lnTo>
                <a:lnTo>
                  <a:pt x="305562" y="76199"/>
                </a:lnTo>
                <a:lnTo>
                  <a:pt x="362712" y="76199"/>
                </a:lnTo>
                <a:lnTo>
                  <a:pt x="400812" y="57149"/>
                </a:lnTo>
                <a:lnTo>
                  <a:pt x="362712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788" y="1680794"/>
            <a:ext cx="555053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7475" algn="l"/>
              </a:tabLst>
            </a:pPr>
            <a:r>
              <a:rPr dirty="0" sz="3600" spc="-5">
                <a:latin typeface="Times New Roman"/>
                <a:cs typeface="Times New Roman"/>
              </a:rPr>
              <a:t>5.4.1	</a:t>
            </a:r>
            <a:r>
              <a:rPr dirty="0" sz="3600">
                <a:latin typeface="Times New Roman"/>
                <a:cs typeface="Times New Roman"/>
              </a:rPr>
              <a:t>LR(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0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)</a:t>
            </a:r>
            <a:r>
              <a:rPr dirty="0" sz="3600" spc="-10"/>
              <a:t>分析实现思想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8264" y="2750896"/>
            <a:ext cx="6239510" cy="164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87475" indent="-137541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2"/>
              <a:tabLst>
                <a:tab pos="1387475" algn="l"/>
                <a:tab pos="1388110" algn="l"/>
              </a:tabLst>
            </a:pPr>
            <a:r>
              <a:rPr dirty="0" sz="3600" spc="-10" b="1">
                <a:solidFill>
                  <a:srgbClr val="FFFF66"/>
                </a:solidFill>
                <a:latin typeface="宋体"/>
                <a:cs typeface="宋体"/>
              </a:rPr>
              <a:t>构造</a:t>
            </a:r>
            <a:r>
              <a:rPr dirty="0" sz="3600" b="1">
                <a:solidFill>
                  <a:srgbClr val="FFFF66"/>
                </a:solidFill>
                <a:latin typeface="Times New Roman"/>
                <a:cs typeface="Times New Roman"/>
              </a:rPr>
              <a:t>LR(0)</a:t>
            </a:r>
            <a:r>
              <a:rPr dirty="0" sz="3600" spc="-10" b="1">
                <a:solidFill>
                  <a:srgbClr val="FFFF66"/>
                </a:solidFill>
                <a:latin typeface="宋体"/>
                <a:cs typeface="宋体"/>
              </a:rPr>
              <a:t>项目集规范族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88745" indent="-1375410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AutoNum type="arabicPeriod" startAt="2"/>
              <a:tabLst>
                <a:tab pos="1388745" algn="l"/>
                <a:tab pos="138938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6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(0)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12953"/>
            <a:ext cx="9144000" cy="435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12953"/>
            <a:ext cx="9144000" cy="436245"/>
          </a:xfrm>
          <a:custGeom>
            <a:avLst/>
            <a:gdLst/>
            <a:ahLst/>
            <a:cxnLst/>
            <a:rect l="l" t="t" r="r" b="b"/>
            <a:pathLst>
              <a:path w="9144000" h="436245">
                <a:moveTo>
                  <a:pt x="0" y="435863"/>
                </a:moveTo>
                <a:lnTo>
                  <a:pt x="9144000" y="435863"/>
                </a:lnTo>
                <a:lnTo>
                  <a:pt x="914400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90725" y="39750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6314" y="39750"/>
            <a:ext cx="33693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0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11161" y="3896105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11161" y="3896105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31035" algn="l"/>
                <a:tab pos="2440305" algn="l"/>
                <a:tab pos="5652770" algn="l"/>
                <a:tab pos="64160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785317"/>
            <a:ext cx="1976755" cy="684530"/>
          </a:xfrm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467995" indent="-455930">
              <a:lnSpc>
                <a:spcPct val="100000"/>
              </a:lnSpc>
              <a:spcBef>
                <a:spcPts val="1220"/>
              </a:spcBef>
              <a:buClr>
                <a:srgbClr val="66FFFF"/>
              </a:buClr>
              <a:buSzPct val="134375"/>
              <a:buFont typeface="Wingdings"/>
              <a:buChar char=""/>
              <a:tabLst>
                <a:tab pos="468630" algn="l"/>
              </a:tabLst>
            </a:pPr>
            <a:r>
              <a:rPr dirty="0" sz="3200">
                <a:solidFill>
                  <a:srgbClr val="FFFF00"/>
                </a:solidFill>
              </a:rPr>
              <a:t>定义</a:t>
            </a:r>
            <a:r>
              <a:rPr dirty="0" sz="3200" spc="-85">
                <a:solidFill>
                  <a:srgbClr val="FFFF00"/>
                </a:solidFill>
                <a:latin typeface="Times New Roman"/>
                <a:cs typeface="Times New Roman"/>
              </a:rPr>
              <a:t>5.11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1415897"/>
            <a:ext cx="8472170" cy="446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15340">
              <a:lnSpc>
                <a:spcPct val="13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若一个文法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的识别活前缀的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-25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每一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个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项目集规范族中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目集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中不存在</a:t>
            </a:r>
            <a:endParaRPr sz="3200">
              <a:latin typeface="宋体"/>
              <a:cs typeface="宋体"/>
            </a:endParaRPr>
          </a:p>
          <a:p>
            <a:pPr marL="114300" marR="1716405" indent="711835">
              <a:lnSpc>
                <a:spcPts val="4990"/>
              </a:lnSpc>
              <a:spcBef>
                <a:spcPts val="359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3200" spc="-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即含移进项目又含归约项目； 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7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②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含有多个归约项目；</a:t>
            </a:r>
            <a:endParaRPr sz="3200">
              <a:latin typeface="宋体"/>
              <a:cs typeface="宋体"/>
            </a:endParaRPr>
          </a:p>
          <a:p>
            <a:pPr marL="824865">
              <a:lnSpc>
                <a:spcPct val="100000"/>
              </a:lnSpc>
              <a:spcBef>
                <a:spcPts val="7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则每个项目集的项目相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，称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是一个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482" y="4156709"/>
            <a:ext cx="1767839" cy="1524000"/>
          </a:xfrm>
          <a:custGeom>
            <a:avLst/>
            <a:gdLst/>
            <a:ahLst/>
            <a:cxnLst/>
            <a:rect l="l" t="t" r="r" b="b"/>
            <a:pathLst>
              <a:path w="1767839" h="1524000">
                <a:moveTo>
                  <a:pt x="0" y="1523999"/>
                </a:moveTo>
                <a:lnTo>
                  <a:pt x="1767840" y="1523999"/>
                </a:lnTo>
                <a:lnTo>
                  <a:pt x="1767840" y="0"/>
                </a:lnTo>
                <a:lnTo>
                  <a:pt x="0" y="0"/>
                </a:lnTo>
                <a:lnTo>
                  <a:pt x="0" y="152399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22247" y="4707763"/>
            <a:ext cx="122682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aA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93494" y="370154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99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16373" y="2634233"/>
            <a:ext cx="1767839" cy="1803400"/>
          </a:xfrm>
          <a:custGeom>
            <a:avLst/>
            <a:gdLst/>
            <a:ahLst/>
            <a:cxnLst/>
            <a:rect l="l" t="t" r="r" b="b"/>
            <a:pathLst>
              <a:path w="1767839" h="1803400">
                <a:moveTo>
                  <a:pt x="0" y="1802892"/>
                </a:moveTo>
                <a:lnTo>
                  <a:pt x="1767839" y="1802892"/>
                </a:lnTo>
                <a:lnTo>
                  <a:pt x="1767839" y="0"/>
                </a:lnTo>
                <a:lnTo>
                  <a:pt x="0" y="0"/>
                </a:lnTo>
                <a:lnTo>
                  <a:pt x="0" y="18028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81220" y="2794254"/>
            <a:ext cx="1325245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9025" y="358236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27272" y="3472434"/>
            <a:ext cx="1189355" cy="852169"/>
          </a:xfrm>
          <a:custGeom>
            <a:avLst/>
            <a:gdLst/>
            <a:ahLst/>
            <a:cxnLst/>
            <a:rect l="l" t="t" r="r" b="b"/>
            <a:pathLst>
              <a:path w="1189354" h="852170">
                <a:moveTo>
                  <a:pt x="1022690" y="94727"/>
                </a:moveTo>
                <a:lnTo>
                  <a:pt x="0" y="821182"/>
                </a:lnTo>
                <a:lnTo>
                  <a:pt x="22098" y="852169"/>
                </a:lnTo>
                <a:lnTo>
                  <a:pt x="1044827" y="125812"/>
                </a:lnTo>
                <a:lnTo>
                  <a:pt x="1022690" y="94727"/>
                </a:lnTo>
                <a:close/>
              </a:path>
              <a:path w="1189354" h="852170">
                <a:moveTo>
                  <a:pt x="1123908" y="83692"/>
                </a:moveTo>
                <a:lnTo>
                  <a:pt x="1038225" y="83692"/>
                </a:lnTo>
                <a:lnTo>
                  <a:pt x="1060323" y="114807"/>
                </a:lnTo>
                <a:lnTo>
                  <a:pt x="1044827" y="125812"/>
                </a:lnTo>
                <a:lnTo>
                  <a:pt x="1066927" y="156844"/>
                </a:lnTo>
                <a:lnTo>
                  <a:pt x="1123908" y="83692"/>
                </a:lnTo>
                <a:close/>
              </a:path>
              <a:path w="1189354" h="852170">
                <a:moveTo>
                  <a:pt x="1038225" y="83692"/>
                </a:moveTo>
                <a:lnTo>
                  <a:pt x="1022690" y="94727"/>
                </a:lnTo>
                <a:lnTo>
                  <a:pt x="1044827" y="125812"/>
                </a:lnTo>
                <a:lnTo>
                  <a:pt x="1060323" y="114807"/>
                </a:lnTo>
                <a:lnTo>
                  <a:pt x="1038225" y="83692"/>
                </a:lnTo>
                <a:close/>
              </a:path>
              <a:path w="1189354" h="852170">
                <a:moveTo>
                  <a:pt x="1189101" y="0"/>
                </a:moveTo>
                <a:lnTo>
                  <a:pt x="1000632" y="63753"/>
                </a:lnTo>
                <a:lnTo>
                  <a:pt x="1022690" y="94727"/>
                </a:lnTo>
                <a:lnTo>
                  <a:pt x="1038225" y="83692"/>
                </a:lnTo>
                <a:lnTo>
                  <a:pt x="1123908" y="83692"/>
                </a:lnTo>
                <a:lnTo>
                  <a:pt x="118910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902453" y="2195525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38321" y="5111496"/>
            <a:ext cx="1178560" cy="114300"/>
          </a:xfrm>
          <a:custGeom>
            <a:avLst/>
            <a:gdLst/>
            <a:ahLst/>
            <a:cxnLst/>
            <a:rect l="l" t="t" r="r" b="b"/>
            <a:pathLst>
              <a:path w="1178560" h="114300">
                <a:moveTo>
                  <a:pt x="987551" y="0"/>
                </a:moveTo>
                <a:lnTo>
                  <a:pt x="987551" y="114299"/>
                </a:lnTo>
                <a:lnTo>
                  <a:pt x="1114552" y="76199"/>
                </a:lnTo>
                <a:lnTo>
                  <a:pt x="1006601" y="76199"/>
                </a:lnTo>
                <a:lnTo>
                  <a:pt x="1006601" y="38099"/>
                </a:lnTo>
                <a:lnTo>
                  <a:pt x="1114552" y="38099"/>
                </a:lnTo>
                <a:lnTo>
                  <a:pt x="987551" y="0"/>
                </a:lnTo>
                <a:close/>
              </a:path>
              <a:path w="1178560" h="114300">
                <a:moveTo>
                  <a:pt x="987551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987551" y="76199"/>
                </a:lnTo>
                <a:lnTo>
                  <a:pt x="987551" y="38099"/>
                </a:lnTo>
                <a:close/>
              </a:path>
              <a:path w="1178560" h="114300">
                <a:moveTo>
                  <a:pt x="1114552" y="38099"/>
                </a:moveTo>
                <a:lnTo>
                  <a:pt x="1006601" y="38099"/>
                </a:lnTo>
                <a:lnTo>
                  <a:pt x="1006601" y="76199"/>
                </a:lnTo>
                <a:lnTo>
                  <a:pt x="1114552" y="76199"/>
                </a:lnTo>
                <a:lnTo>
                  <a:pt x="1178052" y="57149"/>
                </a:lnTo>
                <a:lnTo>
                  <a:pt x="1114552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8565" y="4970526"/>
            <a:ext cx="1767839" cy="558165"/>
          </a:xfrm>
          <a:custGeom>
            <a:avLst/>
            <a:gdLst/>
            <a:ahLst/>
            <a:cxnLst/>
            <a:rect l="l" t="t" r="r" b="b"/>
            <a:pathLst>
              <a:path w="1767839" h="558164">
                <a:moveTo>
                  <a:pt x="0" y="557784"/>
                </a:moveTo>
                <a:lnTo>
                  <a:pt x="1767839" y="557784"/>
                </a:lnTo>
                <a:lnTo>
                  <a:pt x="1767839" y="0"/>
                </a:lnTo>
                <a:lnTo>
                  <a:pt x="0" y="0"/>
                </a:lnTo>
                <a:lnTo>
                  <a:pt x="0" y="55778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68366" y="4950917"/>
            <a:ext cx="97281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6561" y="4529785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3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82948" y="4776978"/>
            <a:ext cx="296545" cy="1070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199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27146" y="5407786"/>
            <a:ext cx="1163320" cy="854075"/>
          </a:xfrm>
          <a:custGeom>
            <a:avLst/>
            <a:gdLst/>
            <a:ahLst/>
            <a:cxnLst/>
            <a:rect l="l" t="t" r="r" b="b"/>
            <a:pathLst>
              <a:path w="1163320" h="854075">
                <a:moveTo>
                  <a:pt x="998051" y="756897"/>
                </a:moveTo>
                <a:lnTo>
                  <a:pt x="975613" y="787704"/>
                </a:lnTo>
                <a:lnTo>
                  <a:pt x="1163319" y="853567"/>
                </a:lnTo>
                <a:lnTo>
                  <a:pt x="1098316" y="768108"/>
                </a:lnTo>
                <a:lnTo>
                  <a:pt x="1013459" y="768108"/>
                </a:lnTo>
                <a:lnTo>
                  <a:pt x="998051" y="756897"/>
                </a:lnTo>
                <a:close/>
              </a:path>
              <a:path w="1163320" h="854075">
                <a:moveTo>
                  <a:pt x="1020503" y="726070"/>
                </a:moveTo>
                <a:lnTo>
                  <a:pt x="998051" y="756897"/>
                </a:lnTo>
                <a:lnTo>
                  <a:pt x="1013459" y="768108"/>
                </a:lnTo>
                <a:lnTo>
                  <a:pt x="1035938" y="737298"/>
                </a:lnTo>
                <a:lnTo>
                  <a:pt x="1020503" y="726070"/>
                </a:lnTo>
                <a:close/>
              </a:path>
              <a:path w="1163320" h="854075">
                <a:moveTo>
                  <a:pt x="1042924" y="695286"/>
                </a:moveTo>
                <a:lnTo>
                  <a:pt x="1020503" y="726070"/>
                </a:lnTo>
                <a:lnTo>
                  <a:pt x="1035938" y="737298"/>
                </a:lnTo>
                <a:lnTo>
                  <a:pt x="1013459" y="768108"/>
                </a:lnTo>
                <a:lnTo>
                  <a:pt x="1098316" y="768108"/>
                </a:lnTo>
                <a:lnTo>
                  <a:pt x="1042924" y="695286"/>
                </a:lnTo>
                <a:close/>
              </a:path>
              <a:path w="1163320" h="854075">
                <a:moveTo>
                  <a:pt x="22351" y="0"/>
                </a:moveTo>
                <a:lnTo>
                  <a:pt x="0" y="30734"/>
                </a:lnTo>
                <a:lnTo>
                  <a:pt x="998051" y="756897"/>
                </a:lnTo>
                <a:lnTo>
                  <a:pt x="1020503" y="726070"/>
                </a:lnTo>
                <a:lnTo>
                  <a:pt x="2235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479797" y="6017514"/>
            <a:ext cx="1767839" cy="55943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02260">
              <a:lnSpc>
                <a:spcPts val="380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43447" y="5573369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28741" y="2232660"/>
            <a:ext cx="1090930" cy="772160"/>
          </a:xfrm>
          <a:custGeom>
            <a:avLst/>
            <a:gdLst/>
            <a:ahLst/>
            <a:cxnLst/>
            <a:rect l="l" t="t" r="r" b="b"/>
            <a:pathLst>
              <a:path w="1090929" h="772160">
                <a:moveTo>
                  <a:pt x="961263" y="603757"/>
                </a:moveTo>
                <a:lnTo>
                  <a:pt x="855218" y="771905"/>
                </a:lnTo>
                <a:lnTo>
                  <a:pt x="1036320" y="689863"/>
                </a:lnTo>
                <a:lnTo>
                  <a:pt x="1022039" y="673480"/>
                </a:lnTo>
                <a:lnTo>
                  <a:pt x="997204" y="673480"/>
                </a:lnTo>
                <a:lnTo>
                  <a:pt x="971804" y="645160"/>
                </a:lnTo>
                <a:lnTo>
                  <a:pt x="985511" y="632811"/>
                </a:lnTo>
                <a:lnTo>
                  <a:pt x="985990" y="632125"/>
                </a:lnTo>
                <a:lnTo>
                  <a:pt x="961263" y="603757"/>
                </a:lnTo>
                <a:close/>
              </a:path>
              <a:path w="1090929" h="772160">
                <a:moveTo>
                  <a:pt x="985511" y="632811"/>
                </a:moveTo>
                <a:lnTo>
                  <a:pt x="971804" y="645160"/>
                </a:lnTo>
                <a:lnTo>
                  <a:pt x="997204" y="673480"/>
                </a:lnTo>
                <a:lnTo>
                  <a:pt x="1011115" y="660949"/>
                </a:lnTo>
                <a:lnTo>
                  <a:pt x="988163" y="634618"/>
                </a:lnTo>
                <a:lnTo>
                  <a:pt x="984250" y="634618"/>
                </a:lnTo>
                <a:lnTo>
                  <a:pt x="985511" y="632811"/>
                </a:lnTo>
                <a:close/>
              </a:path>
              <a:path w="1090929" h="772160">
                <a:moveTo>
                  <a:pt x="1011115" y="660949"/>
                </a:moveTo>
                <a:lnTo>
                  <a:pt x="997204" y="673480"/>
                </a:lnTo>
                <a:lnTo>
                  <a:pt x="1022039" y="673480"/>
                </a:lnTo>
                <a:lnTo>
                  <a:pt x="1011115" y="660949"/>
                </a:lnTo>
                <a:close/>
              </a:path>
              <a:path w="1090929" h="772160">
                <a:moveTo>
                  <a:pt x="1032568" y="631316"/>
                </a:moveTo>
                <a:lnTo>
                  <a:pt x="987171" y="631316"/>
                </a:lnTo>
                <a:lnTo>
                  <a:pt x="986221" y="632390"/>
                </a:lnTo>
                <a:lnTo>
                  <a:pt x="1011115" y="660949"/>
                </a:lnTo>
                <a:lnTo>
                  <a:pt x="1012571" y="659638"/>
                </a:lnTo>
                <a:lnTo>
                  <a:pt x="1013713" y="658749"/>
                </a:lnTo>
                <a:lnTo>
                  <a:pt x="1014730" y="657605"/>
                </a:lnTo>
                <a:lnTo>
                  <a:pt x="1015492" y="656336"/>
                </a:lnTo>
                <a:lnTo>
                  <a:pt x="1030986" y="633984"/>
                </a:lnTo>
                <a:lnTo>
                  <a:pt x="1032568" y="631316"/>
                </a:lnTo>
                <a:close/>
              </a:path>
              <a:path w="1090929" h="772160">
                <a:moveTo>
                  <a:pt x="986114" y="632268"/>
                </a:moveTo>
                <a:lnTo>
                  <a:pt x="985511" y="632811"/>
                </a:lnTo>
                <a:lnTo>
                  <a:pt x="984250" y="634618"/>
                </a:lnTo>
                <a:lnTo>
                  <a:pt x="986221" y="632390"/>
                </a:lnTo>
                <a:close/>
              </a:path>
              <a:path w="1090929" h="772160">
                <a:moveTo>
                  <a:pt x="986221" y="632390"/>
                </a:moveTo>
                <a:lnTo>
                  <a:pt x="984250" y="634618"/>
                </a:lnTo>
                <a:lnTo>
                  <a:pt x="988163" y="634618"/>
                </a:lnTo>
                <a:lnTo>
                  <a:pt x="986221" y="632390"/>
                </a:lnTo>
                <a:close/>
              </a:path>
              <a:path w="1090929" h="772160">
                <a:moveTo>
                  <a:pt x="985990" y="632125"/>
                </a:moveTo>
                <a:lnTo>
                  <a:pt x="985511" y="632811"/>
                </a:lnTo>
                <a:lnTo>
                  <a:pt x="986114" y="632268"/>
                </a:lnTo>
                <a:lnTo>
                  <a:pt x="985990" y="632125"/>
                </a:lnTo>
                <a:close/>
              </a:path>
              <a:path w="1090929" h="772160">
                <a:moveTo>
                  <a:pt x="987171" y="631316"/>
                </a:moveTo>
                <a:lnTo>
                  <a:pt x="986273" y="632125"/>
                </a:lnTo>
                <a:lnTo>
                  <a:pt x="986221" y="632390"/>
                </a:lnTo>
                <a:lnTo>
                  <a:pt x="987171" y="631316"/>
                </a:lnTo>
                <a:close/>
              </a:path>
              <a:path w="1090929" h="772160">
                <a:moveTo>
                  <a:pt x="767747" y="38100"/>
                </a:moveTo>
                <a:lnTo>
                  <a:pt x="544322" y="38100"/>
                </a:lnTo>
                <a:lnTo>
                  <a:pt x="570738" y="38607"/>
                </a:lnTo>
                <a:lnTo>
                  <a:pt x="596900" y="40259"/>
                </a:lnTo>
                <a:lnTo>
                  <a:pt x="647700" y="46354"/>
                </a:lnTo>
                <a:lnTo>
                  <a:pt x="696849" y="56387"/>
                </a:lnTo>
                <a:lnTo>
                  <a:pt x="743712" y="69976"/>
                </a:lnTo>
                <a:lnTo>
                  <a:pt x="788543" y="86994"/>
                </a:lnTo>
                <a:lnTo>
                  <a:pt x="830580" y="107187"/>
                </a:lnTo>
                <a:lnTo>
                  <a:pt x="869696" y="130428"/>
                </a:lnTo>
                <a:lnTo>
                  <a:pt x="905891" y="156337"/>
                </a:lnTo>
                <a:lnTo>
                  <a:pt x="938657" y="184785"/>
                </a:lnTo>
                <a:lnTo>
                  <a:pt x="967613" y="215518"/>
                </a:lnTo>
                <a:lnTo>
                  <a:pt x="992759" y="248285"/>
                </a:lnTo>
                <a:lnTo>
                  <a:pt x="1013841" y="282955"/>
                </a:lnTo>
                <a:lnTo>
                  <a:pt x="1030605" y="319150"/>
                </a:lnTo>
                <a:lnTo>
                  <a:pt x="1042797" y="356997"/>
                </a:lnTo>
                <a:lnTo>
                  <a:pt x="1050290" y="395986"/>
                </a:lnTo>
                <a:lnTo>
                  <a:pt x="1052830" y="436244"/>
                </a:lnTo>
                <a:lnTo>
                  <a:pt x="1051941" y="459739"/>
                </a:lnTo>
                <a:lnTo>
                  <a:pt x="1044829" y="505713"/>
                </a:lnTo>
                <a:lnTo>
                  <a:pt x="1030986" y="550417"/>
                </a:lnTo>
                <a:lnTo>
                  <a:pt x="1010793" y="593598"/>
                </a:lnTo>
                <a:lnTo>
                  <a:pt x="985990" y="632125"/>
                </a:lnTo>
                <a:lnTo>
                  <a:pt x="986114" y="632268"/>
                </a:lnTo>
                <a:lnTo>
                  <a:pt x="987171" y="631316"/>
                </a:lnTo>
                <a:lnTo>
                  <a:pt x="1032568" y="631316"/>
                </a:lnTo>
                <a:lnTo>
                  <a:pt x="1044702" y="610869"/>
                </a:lnTo>
                <a:lnTo>
                  <a:pt x="1067054" y="562990"/>
                </a:lnTo>
                <a:lnTo>
                  <a:pt x="1082293" y="512825"/>
                </a:lnTo>
                <a:lnTo>
                  <a:pt x="1089914" y="461137"/>
                </a:lnTo>
                <a:lnTo>
                  <a:pt x="1090930" y="434848"/>
                </a:lnTo>
                <a:lnTo>
                  <a:pt x="1090040" y="412368"/>
                </a:lnTo>
                <a:lnTo>
                  <a:pt x="1084326" y="367918"/>
                </a:lnTo>
                <a:lnTo>
                  <a:pt x="1073150" y="325119"/>
                </a:lnTo>
                <a:lnTo>
                  <a:pt x="1056894" y="283717"/>
                </a:lnTo>
                <a:lnTo>
                  <a:pt x="1035812" y="244601"/>
                </a:lnTo>
                <a:lnTo>
                  <a:pt x="1010285" y="207517"/>
                </a:lnTo>
                <a:lnTo>
                  <a:pt x="980567" y="172974"/>
                </a:lnTo>
                <a:lnTo>
                  <a:pt x="946912" y="140842"/>
                </a:lnTo>
                <a:lnTo>
                  <a:pt x="909574" y="111505"/>
                </a:lnTo>
                <a:lnTo>
                  <a:pt x="869188" y="85216"/>
                </a:lnTo>
                <a:lnTo>
                  <a:pt x="825627" y="61975"/>
                </a:lnTo>
                <a:lnTo>
                  <a:pt x="779272" y="42163"/>
                </a:lnTo>
                <a:lnTo>
                  <a:pt x="767747" y="38100"/>
                </a:lnTo>
                <a:close/>
              </a:path>
              <a:path w="1090929" h="772160">
                <a:moveTo>
                  <a:pt x="543687" y="0"/>
                </a:moveTo>
                <a:lnTo>
                  <a:pt x="491871" y="1904"/>
                </a:lnTo>
                <a:lnTo>
                  <a:pt x="441579" y="7619"/>
                </a:lnTo>
                <a:lnTo>
                  <a:pt x="392811" y="16890"/>
                </a:lnTo>
                <a:lnTo>
                  <a:pt x="345567" y="29590"/>
                </a:lnTo>
                <a:lnTo>
                  <a:pt x="300482" y="45465"/>
                </a:lnTo>
                <a:lnTo>
                  <a:pt x="257429" y="64515"/>
                </a:lnTo>
                <a:lnTo>
                  <a:pt x="216788" y="86360"/>
                </a:lnTo>
                <a:lnTo>
                  <a:pt x="178943" y="111125"/>
                </a:lnTo>
                <a:lnTo>
                  <a:pt x="143763" y="138556"/>
                </a:lnTo>
                <a:lnTo>
                  <a:pt x="111760" y="168528"/>
                </a:lnTo>
                <a:lnTo>
                  <a:pt x="83185" y="200660"/>
                </a:lnTo>
                <a:lnTo>
                  <a:pt x="58166" y="235076"/>
                </a:lnTo>
                <a:lnTo>
                  <a:pt x="37084" y="271525"/>
                </a:lnTo>
                <a:lnTo>
                  <a:pt x="20193" y="309879"/>
                </a:lnTo>
                <a:lnTo>
                  <a:pt x="7620" y="349885"/>
                </a:lnTo>
                <a:lnTo>
                  <a:pt x="0" y="390143"/>
                </a:lnTo>
                <a:lnTo>
                  <a:pt x="37592" y="396239"/>
                </a:lnTo>
                <a:lnTo>
                  <a:pt x="40767" y="376427"/>
                </a:lnTo>
                <a:lnTo>
                  <a:pt x="44831" y="358013"/>
                </a:lnTo>
                <a:lnTo>
                  <a:pt x="63373" y="304926"/>
                </a:lnTo>
                <a:lnTo>
                  <a:pt x="90678" y="255015"/>
                </a:lnTo>
                <a:lnTo>
                  <a:pt x="113411" y="223774"/>
                </a:lnTo>
                <a:lnTo>
                  <a:pt x="139573" y="194437"/>
                </a:lnTo>
                <a:lnTo>
                  <a:pt x="169037" y="167004"/>
                </a:lnTo>
                <a:lnTo>
                  <a:pt x="201549" y="141731"/>
                </a:lnTo>
                <a:lnTo>
                  <a:pt x="236855" y="118744"/>
                </a:lnTo>
                <a:lnTo>
                  <a:pt x="274700" y="98425"/>
                </a:lnTo>
                <a:lnTo>
                  <a:pt x="315087" y="80644"/>
                </a:lnTo>
                <a:lnTo>
                  <a:pt x="357632" y="65659"/>
                </a:lnTo>
                <a:lnTo>
                  <a:pt x="401828" y="53848"/>
                </a:lnTo>
                <a:lnTo>
                  <a:pt x="447929" y="45212"/>
                </a:lnTo>
                <a:lnTo>
                  <a:pt x="495554" y="39877"/>
                </a:lnTo>
                <a:lnTo>
                  <a:pt x="544322" y="38100"/>
                </a:lnTo>
                <a:lnTo>
                  <a:pt x="767747" y="38100"/>
                </a:lnTo>
                <a:lnTo>
                  <a:pt x="755142" y="33654"/>
                </a:lnTo>
                <a:lnTo>
                  <a:pt x="705104" y="19176"/>
                </a:lnTo>
                <a:lnTo>
                  <a:pt x="653034" y="8636"/>
                </a:lnTo>
                <a:lnTo>
                  <a:pt x="599186" y="2286"/>
                </a:lnTo>
                <a:lnTo>
                  <a:pt x="571500" y="635"/>
                </a:lnTo>
                <a:lnTo>
                  <a:pt x="54368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461252" y="190088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56907" y="400672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7638" y="3723132"/>
            <a:ext cx="363855" cy="1518920"/>
          </a:xfrm>
          <a:custGeom>
            <a:avLst/>
            <a:gdLst/>
            <a:ahLst/>
            <a:cxnLst/>
            <a:rect l="l" t="t" r="r" b="b"/>
            <a:pathLst>
              <a:path w="363854" h="1518920">
                <a:moveTo>
                  <a:pt x="181863" y="1405636"/>
                </a:moveTo>
                <a:lnTo>
                  <a:pt x="0" y="1486027"/>
                </a:lnTo>
                <a:lnTo>
                  <a:pt x="196087" y="1518920"/>
                </a:lnTo>
                <a:lnTo>
                  <a:pt x="191431" y="1481836"/>
                </a:lnTo>
                <a:lnTo>
                  <a:pt x="178308" y="1481836"/>
                </a:lnTo>
                <a:lnTo>
                  <a:pt x="161925" y="1447419"/>
                </a:lnTo>
                <a:lnTo>
                  <a:pt x="184087" y="1436915"/>
                </a:lnTo>
                <a:lnTo>
                  <a:pt x="185525" y="1434793"/>
                </a:lnTo>
                <a:lnTo>
                  <a:pt x="181863" y="1405636"/>
                </a:lnTo>
                <a:close/>
              </a:path>
              <a:path w="363854" h="1518920">
                <a:moveTo>
                  <a:pt x="184087" y="1436915"/>
                </a:moveTo>
                <a:lnTo>
                  <a:pt x="161925" y="1447419"/>
                </a:lnTo>
                <a:lnTo>
                  <a:pt x="178308" y="1481836"/>
                </a:lnTo>
                <a:lnTo>
                  <a:pt x="190698" y="1475994"/>
                </a:lnTo>
                <a:lnTo>
                  <a:pt x="186344" y="1441323"/>
                </a:lnTo>
                <a:lnTo>
                  <a:pt x="181101" y="1441323"/>
                </a:lnTo>
                <a:lnTo>
                  <a:pt x="184087" y="1436915"/>
                </a:lnTo>
                <a:close/>
              </a:path>
              <a:path w="363854" h="1518920">
                <a:moveTo>
                  <a:pt x="190698" y="1475994"/>
                </a:moveTo>
                <a:lnTo>
                  <a:pt x="178308" y="1481836"/>
                </a:lnTo>
                <a:lnTo>
                  <a:pt x="191431" y="1481836"/>
                </a:lnTo>
                <a:lnTo>
                  <a:pt x="190698" y="1475994"/>
                </a:lnTo>
                <a:close/>
              </a:path>
              <a:path w="363854" h="1518920">
                <a:moveTo>
                  <a:pt x="230629" y="1434719"/>
                </a:moveTo>
                <a:lnTo>
                  <a:pt x="188722" y="1434719"/>
                </a:lnTo>
                <a:lnTo>
                  <a:pt x="185830" y="1437225"/>
                </a:lnTo>
                <a:lnTo>
                  <a:pt x="190698" y="1475994"/>
                </a:lnTo>
                <a:lnTo>
                  <a:pt x="208152" y="1467739"/>
                </a:lnTo>
                <a:lnTo>
                  <a:pt x="210820" y="1465453"/>
                </a:lnTo>
                <a:lnTo>
                  <a:pt x="212725" y="1462659"/>
                </a:lnTo>
                <a:lnTo>
                  <a:pt x="224409" y="1445133"/>
                </a:lnTo>
                <a:lnTo>
                  <a:pt x="230629" y="1434719"/>
                </a:lnTo>
                <a:close/>
              </a:path>
              <a:path w="363854" h="1518920">
                <a:moveTo>
                  <a:pt x="185695" y="1436153"/>
                </a:moveTo>
                <a:lnTo>
                  <a:pt x="184087" y="1436915"/>
                </a:lnTo>
                <a:lnTo>
                  <a:pt x="181101" y="1441323"/>
                </a:lnTo>
                <a:lnTo>
                  <a:pt x="185830" y="1437225"/>
                </a:lnTo>
                <a:lnTo>
                  <a:pt x="185695" y="1436153"/>
                </a:lnTo>
                <a:close/>
              </a:path>
              <a:path w="363854" h="1518920">
                <a:moveTo>
                  <a:pt x="185830" y="1437225"/>
                </a:moveTo>
                <a:lnTo>
                  <a:pt x="181101" y="1441323"/>
                </a:lnTo>
                <a:lnTo>
                  <a:pt x="186344" y="1441323"/>
                </a:lnTo>
                <a:lnTo>
                  <a:pt x="185830" y="1437225"/>
                </a:lnTo>
                <a:close/>
              </a:path>
              <a:path w="363854" h="1518920">
                <a:moveTo>
                  <a:pt x="188722" y="1434719"/>
                </a:moveTo>
                <a:lnTo>
                  <a:pt x="185695" y="1436153"/>
                </a:lnTo>
                <a:lnTo>
                  <a:pt x="185830" y="1437225"/>
                </a:lnTo>
                <a:lnTo>
                  <a:pt x="188722" y="1434719"/>
                </a:lnTo>
                <a:close/>
              </a:path>
              <a:path w="363854" h="1518920">
                <a:moveTo>
                  <a:pt x="185525" y="1434793"/>
                </a:moveTo>
                <a:lnTo>
                  <a:pt x="184087" y="1436915"/>
                </a:lnTo>
                <a:lnTo>
                  <a:pt x="185695" y="1436153"/>
                </a:lnTo>
                <a:lnTo>
                  <a:pt x="185525" y="1434793"/>
                </a:lnTo>
                <a:close/>
              </a:path>
              <a:path w="363854" h="1518920">
                <a:moveTo>
                  <a:pt x="94484" y="38888"/>
                </a:moveTo>
                <a:lnTo>
                  <a:pt x="138557" y="58674"/>
                </a:lnTo>
                <a:lnTo>
                  <a:pt x="171069" y="90805"/>
                </a:lnTo>
                <a:lnTo>
                  <a:pt x="202564" y="137922"/>
                </a:lnTo>
                <a:lnTo>
                  <a:pt x="222758" y="177165"/>
                </a:lnTo>
                <a:lnTo>
                  <a:pt x="241426" y="221869"/>
                </a:lnTo>
                <a:lnTo>
                  <a:pt x="258698" y="271907"/>
                </a:lnTo>
                <a:lnTo>
                  <a:pt x="274319" y="326771"/>
                </a:lnTo>
                <a:lnTo>
                  <a:pt x="288163" y="386080"/>
                </a:lnTo>
                <a:lnTo>
                  <a:pt x="299973" y="449199"/>
                </a:lnTo>
                <a:lnTo>
                  <a:pt x="309753" y="516128"/>
                </a:lnTo>
                <a:lnTo>
                  <a:pt x="317245" y="586232"/>
                </a:lnTo>
                <a:lnTo>
                  <a:pt x="322326" y="659003"/>
                </a:lnTo>
                <a:lnTo>
                  <a:pt x="324992" y="734314"/>
                </a:lnTo>
                <a:lnTo>
                  <a:pt x="325373" y="772795"/>
                </a:lnTo>
                <a:lnTo>
                  <a:pt x="324984" y="811657"/>
                </a:lnTo>
                <a:lnTo>
                  <a:pt x="322326" y="886587"/>
                </a:lnTo>
                <a:lnTo>
                  <a:pt x="317245" y="959485"/>
                </a:lnTo>
                <a:lnTo>
                  <a:pt x="309753" y="1029589"/>
                </a:lnTo>
                <a:lnTo>
                  <a:pt x="299846" y="1096391"/>
                </a:lnTo>
                <a:lnTo>
                  <a:pt x="288036" y="1159764"/>
                </a:lnTo>
                <a:lnTo>
                  <a:pt x="274192" y="1219073"/>
                </a:lnTo>
                <a:lnTo>
                  <a:pt x="258571" y="1273937"/>
                </a:lnTo>
                <a:lnTo>
                  <a:pt x="241173" y="1324102"/>
                </a:lnTo>
                <a:lnTo>
                  <a:pt x="222376" y="1368933"/>
                </a:lnTo>
                <a:lnTo>
                  <a:pt x="202184" y="1408176"/>
                </a:lnTo>
                <a:lnTo>
                  <a:pt x="185525" y="1434793"/>
                </a:lnTo>
                <a:lnTo>
                  <a:pt x="185695" y="1436153"/>
                </a:lnTo>
                <a:lnTo>
                  <a:pt x="188722" y="1434719"/>
                </a:lnTo>
                <a:lnTo>
                  <a:pt x="230629" y="1434719"/>
                </a:lnTo>
                <a:lnTo>
                  <a:pt x="235712" y="1426210"/>
                </a:lnTo>
                <a:lnTo>
                  <a:pt x="257302" y="1384173"/>
                </a:lnTo>
                <a:lnTo>
                  <a:pt x="276987" y="1337056"/>
                </a:lnTo>
                <a:lnTo>
                  <a:pt x="295020" y="1284859"/>
                </a:lnTo>
                <a:lnTo>
                  <a:pt x="311150" y="1228090"/>
                </a:lnTo>
                <a:lnTo>
                  <a:pt x="325373" y="1167130"/>
                </a:lnTo>
                <a:lnTo>
                  <a:pt x="337565" y="1102360"/>
                </a:lnTo>
                <a:lnTo>
                  <a:pt x="347471" y="1034034"/>
                </a:lnTo>
                <a:lnTo>
                  <a:pt x="355218" y="962406"/>
                </a:lnTo>
                <a:lnTo>
                  <a:pt x="360426" y="888365"/>
                </a:lnTo>
                <a:lnTo>
                  <a:pt x="362077" y="850138"/>
                </a:lnTo>
                <a:lnTo>
                  <a:pt x="363096" y="811276"/>
                </a:lnTo>
                <a:lnTo>
                  <a:pt x="363473" y="772541"/>
                </a:lnTo>
                <a:lnTo>
                  <a:pt x="363092" y="733425"/>
                </a:lnTo>
                <a:lnTo>
                  <a:pt x="362077" y="694690"/>
                </a:lnTo>
                <a:lnTo>
                  <a:pt x="358139" y="619252"/>
                </a:lnTo>
                <a:lnTo>
                  <a:pt x="351663" y="546354"/>
                </a:lnTo>
                <a:lnTo>
                  <a:pt x="342772" y="476377"/>
                </a:lnTo>
                <a:lnTo>
                  <a:pt x="331723" y="409702"/>
                </a:lnTo>
                <a:lnTo>
                  <a:pt x="318388" y="346837"/>
                </a:lnTo>
                <a:lnTo>
                  <a:pt x="303276" y="287782"/>
                </a:lnTo>
                <a:lnTo>
                  <a:pt x="286004" y="233299"/>
                </a:lnTo>
                <a:lnTo>
                  <a:pt x="267081" y="183515"/>
                </a:lnTo>
                <a:lnTo>
                  <a:pt x="246252" y="138684"/>
                </a:lnTo>
                <a:lnTo>
                  <a:pt x="223900" y="99314"/>
                </a:lnTo>
                <a:lnTo>
                  <a:pt x="199644" y="65786"/>
                </a:lnTo>
                <a:lnTo>
                  <a:pt x="174148" y="38989"/>
                </a:lnTo>
                <a:lnTo>
                  <a:pt x="96012" y="38989"/>
                </a:lnTo>
                <a:lnTo>
                  <a:pt x="94484" y="38888"/>
                </a:lnTo>
                <a:close/>
              </a:path>
              <a:path w="363854" h="1518920">
                <a:moveTo>
                  <a:pt x="93217" y="38608"/>
                </a:moveTo>
                <a:lnTo>
                  <a:pt x="94484" y="38888"/>
                </a:lnTo>
                <a:lnTo>
                  <a:pt x="96012" y="38989"/>
                </a:lnTo>
                <a:lnTo>
                  <a:pt x="93217" y="38608"/>
                </a:lnTo>
                <a:close/>
              </a:path>
              <a:path w="363854" h="1518920">
                <a:moveTo>
                  <a:pt x="173748" y="38608"/>
                </a:moveTo>
                <a:lnTo>
                  <a:pt x="93217" y="38608"/>
                </a:lnTo>
                <a:lnTo>
                  <a:pt x="96012" y="38989"/>
                </a:lnTo>
                <a:lnTo>
                  <a:pt x="174148" y="38989"/>
                </a:lnTo>
                <a:lnTo>
                  <a:pt x="173748" y="38608"/>
                </a:lnTo>
                <a:close/>
              </a:path>
              <a:path w="363854" h="1518920">
                <a:moveTo>
                  <a:pt x="85216" y="0"/>
                </a:moveTo>
                <a:lnTo>
                  <a:pt x="82550" y="38100"/>
                </a:lnTo>
                <a:lnTo>
                  <a:pt x="94484" y="38888"/>
                </a:lnTo>
                <a:lnTo>
                  <a:pt x="93217" y="38608"/>
                </a:lnTo>
                <a:lnTo>
                  <a:pt x="173748" y="38608"/>
                </a:lnTo>
                <a:lnTo>
                  <a:pt x="130175" y="9779"/>
                </a:lnTo>
                <a:lnTo>
                  <a:pt x="101473" y="1397"/>
                </a:lnTo>
                <a:lnTo>
                  <a:pt x="100584" y="1143"/>
                </a:lnTo>
                <a:lnTo>
                  <a:pt x="99695" y="1016"/>
                </a:lnTo>
                <a:lnTo>
                  <a:pt x="98678" y="1016"/>
                </a:lnTo>
                <a:lnTo>
                  <a:pt x="8521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462266" y="3193542"/>
            <a:ext cx="1513840" cy="5581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8279">
              <a:lnSpc>
                <a:spcPts val="326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62166" y="2985338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84214" y="3410711"/>
            <a:ext cx="1178560" cy="114300"/>
          </a:xfrm>
          <a:custGeom>
            <a:avLst/>
            <a:gdLst/>
            <a:ahLst/>
            <a:cxnLst/>
            <a:rect l="l" t="t" r="r" b="b"/>
            <a:pathLst>
              <a:path w="1178559" h="114300">
                <a:moveTo>
                  <a:pt x="987552" y="0"/>
                </a:moveTo>
                <a:lnTo>
                  <a:pt x="987552" y="114300"/>
                </a:lnTo>
                <a:lnTo>
                  <a:pt x="1114552" y="76200"/>
                </a:lnTo>
                <a:lnTo>
                  <a:pt x="1006602" y="76200"/>
                </a:lnTo>
                <a:lnTo>
                  <a:pt x="1006602" y="38100"/>
                </a:lnTo>
                <a:lnTo>
                  <a:pt x="1114552" y="38100"/>
                </a:lnTo>
                <a:lnTo>
                  <a:pt x="987552" y="0"/>
                </a:lnTo>
                <a:close/>
              </a:path>
              <a:path w="1178559" h="114300">
                <a:moveTo>
                  <a:pt x="98755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87552" y="76200"/>
                </a:lnTo>
                <a:lnTo>
                  <a:pt x="987552" y="38100"/>
                </a:lnTo>
                <a:close/>
              </a:path>
              <a:path w="1178559" h="114300">
                <a:moveTo>
                  <a:pt x="1114552" y="38100"/>
                </a:moveTo>
                <a:lnTo>
                  <a:pt x="1006602" y="38100"/>
                </a:lnTo>
                <a:lnTo>
                  <a:pt x="1006602" y="76200"/>
                </a:lnTo>
                <a:lnTo>
                  <a:pt x="1114552" y="76200"/>
                </a:lnTo>
                <a:lnTo>
                  <a:pt x="1178052" y="57150"/>
                </a:lnTo>
                <a:lnTo>
                  <a:pt x="11145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474709" y="2748229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4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63395" y="4276090"/>
            <a:ext cx="12731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760091" y="26923"/>
            <a:ext cx="2981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73571" y="26923"/>
            <a:ext cx="30397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</a:tabLst>
            </a:pP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2" y="2683001"/>
            <a:ext cx="1513840" cy="2792095"/>
          </a:xfrm>
          <a:custGeom>
            <a:avLst/>
            <a:gdLst/>
            <a:ahLst/>
            <a:cxnLst/>
            <a:rect l="l" t="t" r="r" b="b"/>
            <a:pathLst>
              <a:path w="1513840" h="2792095">
                <a:moveTo>
                  <a:pt x="0" y="2791968"/>
                </a:moveTo>
                <a:lnTo>
                  <a:pt x="1513332" y="2791968"/>
                </a:lnTo>
                <a:lnTo>
                  <a:pt x="1513332" y="0"/>
                </a:lnTo>
                <a:lnTo>
                  <a:pt x="0" y="0"/>
                </a:lnTo>
                <a:lnTo>
                  <a:pt x="0" y="2791968"/>
                </a:lnTo>
                <a:close/>
              </a:path>
            </a:pathLst>
          </a:custGeom>
          <a:solidFill>
            <a:srgbClr val="66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382" y="2683001"/>
            <a:ext cx="1513840" cy="2792095"/>
          </a:xfrm>
          <a:custGeom>
            <a:avLst/>
            <a:gdLst/>
            <a:ahLst/>
            <a:cxnLst/>
            <a:rect l="l" t="t" r="r" b="b"/>
            <a:pathLst>
              <a:path w="1513840" h="2792095">
                <a:moveTo>
                  <a:pt x="0" y="2791968"/>
                </a:moveTo>
                <a:lnTo>
                  <a:pt x="1513332" y="2791968"/>
                </a:lnTo>
                <a:lnTo>
                  <a:pt x="1513332" y="0"/>
                </a:lnTo>
                <a:lnTo>
                  <a:pt x="0" y="0"/>
                </a:lnTo>
                <a:lnTo>
                  <a:pt x="0" y="27919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63575" y="2568075"/>
            <a:ext cx="410845" cy="1277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36195">
              <a:lnSpc>
                <a:spcPct val="128299"/>
              </a:lnSpc>
              <a:spcBef>
                <a:spcPts val="100"/>
              </a:spcBef>
            </a:pPr>
            <a:r>
              <a:rPr dirty="0" sz="3200" spc="-10" b="1" i="1">
                <a:solidFill>
                  <a:srgbClr val="66FF99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66FF99"/>
                </a:solidFill>
                <a:latin typeface="Times New Roman"/>
                <a:cs typeface="Times New Roman"/>
              </a:rPr>
              <a:t>’  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4850" y="3135629"/>
            <a:ext cx="0" cy="356870"/>
          </a:xfrm>
          <a:custGeom>
            <a:avLst/>
            <a:gdLst/>
            <a:ahLst/>
            <a:cxnLst/>
            <a:rect l="l" t="t" r="r" b="b"/>
            <a:pathLst>
              <a:path w="0" h="356870">
                <a:moveTo>
                  <a:pt x="0" y="0"/>
                </a:moveTo>
                <a:lnTo>
                  <a:pt x="0" y="356616"/>
                </a:lnTo>
              </a:path>
            </a:pathLst>
          </a:custGeom>
          <a:ln w="38100">
            <a:solidFill>
              <a:srgbClr val="FF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115872" y="4951222"/>
            <a:ext cx="2165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9689" y="4015562"/>
            <a:ext cx="10820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796925" algn="l"/>
              </a:tabLst>
            </a:pP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85622" y="3845814"/>
            <a:ext cx="307975" cy="332740"/>
          </a:xfrm>
          <a:custGeom>
            <a:avLst/>
            <a:gdLst/>
            <a:ahLst/>
            <a:cxnLst/>
            <a:rect l="l" t="t" r="r" b="b"/>
            <a:pathLst>
              <a:path w="307975" h="332739">
                <a:moveTo>
                  <a:pt x="0" y="0"/>
                </a:moveTo>
                <a:lnTo>
                  <a:pt x="307847" y="332231"/>
                </a:lnTo>
              </a:path>
            </a:pathLst>
          </a:custGeom>
          <a:ln w="38100">
            <a:solidFill>
              <a:srgbClr val="FF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86334" y="3856482"/>
            <a:ext cx="329565" cy="321945"/>
          </a:xfrm>
          <a:custGeom>
            <a:avLst/>
            <a:gdLst/>
            <a:ahLst/>
            <a:cxnLst/>
            <a:rect l="l" t="t" r="r" b="b"/>
            <a:pathLst>
              <a:path w="329565" h="321945">
                <a:moveTo>
                  <a:pt x="329184" y="0"/>
                </a:moveTo>
                <a:lnTo>
                  <a:pt x="0" y="321564"/>
                </a:lnTo>
              </a:path>
            </a:pathLst>
          </a:custGeom>
          <a:ln w="38100">
            <a:solidFill>
              <a:srgbClr val="FF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01674" y="4534661"/>
            <a:ext cx="0" cy="542925"/>
          </a:xfrm>
          <a:custGeom>
            <a:avLst/>
            <a:gdLst/>
            <a:ahLst/>
            <a:cxnLst/>
            <a:rect l="l" t="t" r="r" b="b"/>
            <a:pathLst>
              <a:path w="0" h="542925">
                <a:moveTo>
                  <a:pt x="0" y="0"/>
                </a:moveTo>
                <a:lnTo>
                  <a:pt x="0" y="542544"/>
                </a:lnTo>
              </a:path>
            </a:pathLst>
          </a:custGeom>
          <a:ln w="38100">
            <a:solidFill>
              <a:srgbClr val="FF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858" y="435101"/>
            <a:ext cx="4517390" cy="2141220"/>
          </a:xfrm>
          <a:custGeom>
            <a:avLst/>
            <a:gdLst/>
            <a:ahLst/>
            <a:cxnLst/>
            <a:rect l="l" t="t" r="r" b="b"/>
            <a:pathLst>
              <a:path w="4517390" h="2141220">
                <a:moveTo>
                  <a:pt x="0" y="2141220"/>
                </a:moveTo>
                <a:lnTo>
                  <a:pt x="4517136" y="2141220"/>
                </a:lnTo>
                <a:lnTo>
                  <a:pt x="4517136" y="0"/>
                </a:lnTo>
                <a:lnTo>
                  <a:pt x="0" y="0"/>
                </a:lnTo>
                <a:lnTo>
                  <a:pt x="0" y="2141220"/>
                </a:lnTo>
                <a:close/>
              </a:path>
            </a:pathLst>
          </a:custGeom>
          <a:solidFill>
            <a:srgbClr val="641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858" y="435101"/>
            <a:ext cx="4517390" cy="2141220"/>
          </a:xfrm>
          <a:custGeom>
            <a:avLst/>
            <a:gdLst/>
            <a:ahLst/>
            <a:cxnLst/>
            <a:rect l="l" t="t" r="r" b="b"/>
            <a:pathLst>
              <a:path w="4517390" h="2141220">
                <a:moveTo>
                  <a:pt x="0" y="2141220"/>
                </a:moveTo>
                <a:lnTo>
                  <a:pt x="4517136" y="2141220"/>
                </a:lnTo>
                <a:lnTo>
                  <a:pt x="4517136" y="0"/>
                </a:lnTo>
                <a:lnTo>
                  <a:pt x="0" y="0"/>
                </a:lnTo>
                <a:lnTo>
                  <a:pt x="0" y="2141220"/>
                </a:lnTo>
                <a:close/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5140" y="0"/>
            <a:ext cx="2523490" cy="89408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550"/>
              </a:spcBef>
              <a:tabLst>
                <a:tab pos="21793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句子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的归约：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140" y="838606"/>
            <a:ext cx="1375410" cy="169037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Wingdings 3"/>
                <a:cs typeface="Wingdings 3"/>
              </a:rPr>
              <a:t>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u="heavy" sz="2800" spc="-110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Wingdings 3"/>
                <a:cs typeface="Wingdings 3"/>
              </a:rPr>
              <a:t></a:t>
            </a:r>
            <a:r>
              <a:rPr dirty="0" u="heavy" sz="2800" spc="-5" b="1">
                <a:solidFill>
                  <a:srgbClr val="66FF99"/>
                </a:solidFill>
                <a:uFill>
                  <a:solidFill>
                    <a:srgbClr val="66FF99"/>
                  </a:solidFill>
                </a:u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Wingdings 3"/>
                <a:cs typeface="Wingdings 3"/>
              </a:rPr>
              <a:t>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heavy" sz="2800" spc="-110" b="1">
                <a:solidFill>
                  <a:srgbClr val="66FF99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66FF99"/>
                </a:solidFill>
                <a:uFill>
                  <a:solidFill>
                    <a:srgbClr val="FFFFFF"/>
                  </a:solidFill>
                </a:uFill>
                <a:latin typeface="Wingdings 3"/>
                <a:cs typeface="Wingdings 3"/>
              </a:rPr>
              <a:t></a:t>
            </a:r>
            <a:r>
              <a:rPr dirty="0" u="heavy" sz="2800" spc="-5" b="1">
                <a:solidFill>
                  <a:srgbClr val="66FF99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66FF99"/>
                </a:solidFill>
                <a:latin typeface="Wingdings 3"/>
                <a:cs typeface="Wingdings 3"/>
              </a:rPr>
              <a:t></a:t>
            </a:r>
            <a:r>
              <a:rPr dirty="0" sz="2800" b="1">
                <a:solidFill>
                  <a:srgbClr val="66FF99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83207" y="838606"/>
            <a:ext cx="2494280" cy="169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620">
              <a:lnSpc>
                <a:spcPct val="130000"/>
              </a:lnSpc>
              <a:spcBef>
                <a:spcPts val="100"/>
              </a:spcBef>
              <a:tabLst>
                <a:tab pos="514984" algn="l"/>
              </a:tabLst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r>
              <a:rPr dirty="0" sz="2800" spc="-3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r>
              <a:rPr dirty="0" sz="2800" spc="-9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’)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901184" y="460248"/>
            <a:ext cx="4192904" cy="561340"/>
          </a:xfrm>
          <a:custGeom>
            <a:avLst/>
            <a:gdLst/>
            <a:ahLst/>
            <a:cxnLst/>
            <a:rect l="l" t="t" r="r" b="b"/>
            <a:pathLst>
              <a:path w="4192904" h="561340">
                <a:moveTo>
                  <a:pt x="0" y="560831"/>
                </a:moveTo>
                <a:lnTo>
                  <a:pt x="4192523" y="560831"/>
                </a:lnTo>
                <a:lnTo>
                  <a:pt x="4192523" y="0"/>
                </a:lnTo>
                <a:lnTo>
                  <a:pt x="0" y="0"/>
                </a:lnTo>
                <a:lnTo>
                  <a:pt x="0" y="560831"/>
                </a:lnTo>
                <a:close/>
              </a:path>
            </a:pathLst>
          </a:custGeom>
          <a:solidFill>
            <a:srgbClr val="000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63084" y="1052830"/>
            <a:ext cx="4269105" cy="0"/>
          </a:xfrm>
          <a:custGeom>
            <a:avLst/>
            <a:gdLst/>
            <a:ahLst/>
            <a:cxnLst/>
            <a:rect l="l" t="t" r="r" b="b"/>
            <a:pathLst>
              <a:path w="4269105" h="0">
                <a:moveTo>
                  <a:pt x="0" y="0"/>
                </a:moveTo>
                <a:lnTo>
                  <a:pt x="4268723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69434" y="434340"/>
            <a:ext cx="0" cy="612140"/>
          </a:xfrm>
          <a:custGeom>
            <a:avLst/>
            <a:gdLst/>
            <a:ahLst/>
            <a:cxnLst/>
            <a:rect l="l" t="t" r="r" b="b"/>
            <a:pathLst>
              <a:path w="0" h="612140">
                <a:moveTo>
                  <a:pt x="0" y="0"/>
                </a:moveTo>
                <a:lnTo>
                  <a:pt x="0" y="612139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863084" y="427990"/>
            <a:ext cx="4269105" cy="0"/>
          </a:xfrm>
          <a:custGeom>
            <a:avLst/>
            <a:gdLst/>
            <a:ahLst/>
            <a:cxnLst/>
            <a:rect l="l" t="t" r="r" b="b"/>
            <a:pathLst>
              <a:path w="4269105" h="0">
                <a:moveTo>
                  <a:pt x="0" y="0"/>
                </a:moveTo>
                <a:lnTo>
                  <a:pt x="4268723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125457" y="434848"/>
            <a:ext cx="0" cy="612140"/>
          </a:xfrm>
          <a:custGeom>
            <a:avLst/>
            <a:gdLst/>
            <a:ahLst/>
            <a:cxnLst/>
            <a:rect l="l" t="t" r="r" b="b"/>
            <a:pathLst>
              <a:path w="0" h="612140">
                <a:moveTo>
                  <a:pt x="0" y="0"/>
                </a:moveTo>
                <a:lnTo>
                  <a:pt x="0" y="611631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888484" y="1021080"/>
            <a:ext cx="4218305" cy="0"/>
          </a:xfrm>
          <a:custGeom>
            <a:avLst/>
            <a:gdLst/>
            <a:ahLst/>
            <a:cxnLst/>
            <a:rect l="l" t="t" r="r" b="b"/>
            <a:pathLst>
              <a:path w="4218305" h="0">
                <a:moveTo>
                  <a:pt x="0" y="0"/>
                </a:moveTo>
                <a:lnTo>
                  <a:pt x="4217923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901184" y="472440"/>
            <a:ext cx="0" cy="535940"/>
          </a:xfrm>
          <a:custGeom>
            <a:avLst/>
            <a:gdLst/>
            <a:ahLst/>
            <a:cxnLst/>
            <a:rect l="l" t="t" r="r" b="b"/>
            <a:pathLst>
              <a:path w="0" h="535940">
                <a:moveTo>
                  <a:pt x="0" y="0"/>
                </a:moveTo>
                <a:lnTo>
                  <a:pt x="0" y="535939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888484" y="459740"/>
            <a:ext cx="4218305" cy="0"/>
          </a:xfrm>
          <a:custGeom>
            <a:avLst/>
            <a:gdLst/>
            <a:ahLst/>
            <a:cxnLst/>
            <a:rect l="l" t="t" r="r" b="b"/>
            <a:pathLst>
              <a:path w="4218305" h="0">
                <a:moveTo>
                  <a:pt x="0" y="0"/>
                </a:moveTo>
                <a:lnTo>
                  <a:pt x="4217923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093707" y="472948"/>
            <a:ext cx="0" cy="535940"/>
          </a:xfrm>
          <a:custGeom>
            <a:avLst/>
            <a:gdLst/>
            <a:ahLst/>
            <a:cxnLst/>
            <a:rect l="l" t="t" r="r" b="b"/>
            <a:pathLst>
              <a:path w="0" h="535940">
                <a:moveTo>
                  <a:pt x="0" y="0"/>
                </a:moveTo>
                <a:lnTo>
                  <a:pt x="0" y="535431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926584" y="989330"/>
            <a:ext cx="4142104" cy="0"/>
          </a:xfrm>
          <a:custGeom>
            <a:avLst/>
            <a:gdLst/>
            <a:ahLst/>
            <a:cxnLst/>
            <a:rect l="l" t="t" r="r" b="b"/>
            <a:pathLst>
              <a:path w="4142104" h="0">
                <a:moveTo>
                  <a:pt x="0" y="0"/>
                </a:moveTo>
                <a:lnTo>
                  <a:pt x="4141723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932934" y="497840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40">
                <a:moveTo>
                  <a:pt x="0" y="0"/>
                </a:moveTo>
                <a:lnTo>
                  <a:pt x="0" y="485139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926584" y="491490"/>
            <a:ext cx="4142104" cy="0"/>
          </a:xfrm>
          <a:custGeom>
            <a:avLst/>
            <a:gdLst/>
            <a:ahLst/>
            <a:cxnLst/>
            <a:rect l="l" t="t" r="r" b="b"/>
            <a:pathLst>
              <a:path w="4142104" h="0">
                <a:moveTo>
                  <a:pt x="0" y="0"/>
                </a:moveTo>
                <a:lnTo>
                  <a:pt x="4141723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061957" y="498348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40">
                <a:moveTo>
                  <a:pt x="0" y="0"/>
                </a:moveTo>
                <a:lnTo>
                  <a:pt x="0" y="484631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4980178" y="424052"/>
            <a:ext cx="37122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32939" algn="l"/>
              </a:tabLst>
            </a:pPr>
            <a:r>
              <a:rPr dirty="0" sz="3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｜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31035" algn="l"/>
                <a:tab pos="2440305" algn="l"/>
                <a:tab pos="5652770" algn="l"/>
                <a:tab pos="64160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0842" y="630427"/>
            <a:ext cx="677037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</a:rPr>
              <a:t>识别活前缀的</a:t>
            </a:r>
            <a:r>
              <a:rPr dirty="0" u="heavy" sz="3200" spc="-8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heavy" sz="320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</a:rPr>
              <a:t>与</a:t>
            </a:r>
            <a:r>
              <a:rPr dirty="0" u="heavy" sz="3200" spc="-5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sz="320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</a:rPr>
              <a:t>分析</a:t>
            </a:r>
            <a:r>
              <a:rPr dirty="0" u="heavy" sz="3200" spc="-1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</a:rPr>
              <a:t>的</a:t>
            </a:r>
            <a:r>
              <a:rPr dirty="0" u="heavy" sz="320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</a:rPr>
              <a:t>对比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142" y="1219540"/>
            <a:ext cx="8123555" cy="49980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 marR="75565" indent="408305">
              <a:lnSpc>
                <a:spcPct val="126000"/>
              </a:lnSpc>
              <a:spcBef>
                <a:spcPts val="5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6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对应分析表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在 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中为从状态</a:t>
            </a:r>
            <a:r>
              <a:rPr dirty="0" sz="2950" spc="-160" b="1" i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出发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经过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条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弧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达状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25400" indent="356235">
              <a:lnSpc>
                <a:spcPct val="100000"/>
              </a:lnSpc>
              <a:spcBef>
                <a:spcPts val="825"/>
              </a:spcBef>
              <a:tabLst>
                <a:tab pos="1006475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对应分析表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950" spc="-20" b="1" i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endParaRPr sz="2800">
              <a:latin typeface="宋体"/>
              <a:cs typeface="宋体"/>
            </a:endParaRPr>
          </a:p>
          <a:p>
            <a:pPr marL="25400" marR="252729">
              <a:lnSpc>
                <a:spcPts val="4370"/>
              </a:lnSpc>
              <a:spcBef>
                <a:spcPts val="28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21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应对应于归约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2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法产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生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式编号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380365">
              <a:lnSpc>
                <a:spcPct val="100000"/>
              </a:lnSpc>
              <a:spcBef>
                <a:spcPts val="6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对分析表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GOTO(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endParaRPr sz="28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860"/>
              </a:spcBef>
            </a:pP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中为从状态</a:t>
            </a:r>
            <a:r>
              <a:rPr dirty="0" sz="2950" spc="-160" b="1" i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出发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经过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一条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弧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到达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13664" marR="86995" indent="267970">
              <a:lnSpc>
                <a:spcPts val="4370"/>
              </a:lnSpc>
              <a:spcBef>
                <a:spcPts val="28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④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对分析表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baseline="-21021" sz="2775" spc="367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#)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9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acc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”,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中的文法的开始符号对应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约项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34634" y="1340358"/>
            <a:ext cx="546100" cy="611505"/>
          </a:xfrm>
          <a:custGeom>
            <a:avLst/>
            <a:gdLst/>
            <a:ahLst/>
            <a:cxnLst/>
            <a:rect l="l" t="t" r="r" b="b"/>
            <a:pathLst>
              <a:path w="546100" h="611505">
                <a:moveTo>
                  <a:pt x="0" y="305562"/>
                </a:moveTo>
                <a:lnTo>
                  <a:pt x="3571" y="255991"/>
                </a:lnTo>
                <a:lnTo>
                  <a:pt x="13911" y="208970"/>
                </a:lnTo>
                <a:lnTo>
                  <a:pt x="30456" y="165127"/>
                </a:lnTo>
                <a:lnTo>
                  <a:pt x="52645" y="125089"/>
                </a:lnTo>
                <a:lnTo>
                  <a:pt x="79914" y="89487"/>
                </a:lnTo>
                <a:lnTo>
                  <a:pt x="111703" y="58948"/>
                </a:lnTo>
                <a:lnTo>
                  <a:pt x="147447" y="34101"/>
                </a:lnTo>
                <a:lnTo>
                  <a:pt x="186586" y="15575"/>
                </a:lnTo>
                <a:lnTo>
                  <a:pt x="228556" y="3998"/>
                </a:lnTo>
                <a:lnTo>
                  <a:pt x="272795" y="0"/>
                </a:lnTo>
                <a:lnTo>
                  <a:pt x="317035" y="3998"/>
                </a:lnTo>
                <a:lnTo>
                  <a:pt x="359005" y="15575"/>
                </a:lnTo>
                <a:lnTo>
                  <a:pt x="398144" y="34101"/>
                </a:lnTo>
                <a:lnTo>
                  <a:pt x="433888" y="58948"/>
                </a:lnTo>
                <a:lnTo>
                  <a:pt x="465677" y="89487"/>
                </a:lnTo>
                <a:lnTo>
                  <a:pt x="492946" y="125089"/>
                </a:lnTo>
                <a:lnTo>
                  <a:pt x="515135" y="165127"/>
                </a:lnTo>
                <a:lnTo>
                  <a:pt x="531680" y="208970"/>
                </a:lnTo>
                <a:lnTo>
                  <a:pt x="542020" y="255991"/>
                </a:lnTo>
                <a:lnTo>
                  <a:pt x="545591" y="305562"/>
                </a:lnTo>
                <a:lnTo>
                  <a:pt x="542020" y="355132"/>
                </a:lnTo>
                <a:lnTo>
                  <a:pt x="531680" y="402153"/>
                </a:lnTo>
                <a:lnTo>
                  <a:pt x="515135" y="445996"/>
                </a:lnTo>
                <a:lnTo>
                  <a:pt x="492946" y="486034"/>
                </a:lnTo>
                <a:lnTo>
                  <a:pt x="465677" y="521636"/>
                </a:lnTo>
                <a:lnTo>
                  <a:pt x="433888" y="552175"/>
                </a:lnTo>
                <a:lnTo>
                  <a:pt x="398144" y="577022"/>
                </a:lnTo>
                <a:lnTo>
                  <a:pt x="359005" y="595548"/>
                </a:lnTo>
                <a:lnTo>
                  <a:pt x="317035" y="607125"/>
                </a:lnTo>
                <a:lnTo>
                  <a:pt x="272795" y="611124"/>
                </a:lnTo>
                <a:lnTo>
                  <a:pt x="228556" y="607125"/>
                </a:lnTo>
                <a:lnTo>
                  <a:pt x="186586" y="595548"/>
                </a:lnTo>
                <a:lnTo>
                  <a:pt x="147447" y="577022"/>
                </a:lnTo>
                <a:lnTo>
                  <a:pt x="111703" y="552175"/>
                </a:lnTo>
                <a:lnTo>
                  <a:pt x="79914" y="521636"/>
                </a:lnTo>
                <a:lnTo>
                  <a:pt x="52645" y="486034"/>
                </a:lnTo>
                <a:lnTo>
                  <a:pt x="30456" y="445996"/>
                </a:lnTo>
                <a:lnTo>
                  <a:pt x="13911" y="402153"/>
                </a:lnTo>
                <a:lnTo>
                  <a:pt x="3571" y="355132"/>
                </a:lnTo>
                <a:lnTo>
                  <a:pt x="0" y="305562"/>
                </a:lnTo>
                <a:close/>
              </a:path>
            </a:pathLst>
          </a:custGeom>
          <a:ln w="38100">
            <a:solidFill>
              <a:srgbClr val="FF66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43194" y="2478785"/>
            <a:ext cx="462280" cy="521334"/>
          </a:xfrm>
          <a:custGeom>
            <a:avLst/>
            <a:gdLst/>
            <a:ahLst/>
            <a:cxnLst/>
            <a:rect l="l" t="t" r="r" b="b"/>
            <a:pathLst>
              <a:path w="462279" h="521335">
                <a:moveTo>
                  <a:pt x="0" y="260603"/>
                </a:moveTo>
                <a:lnTo>
                  <a:pt x="4691" y="208093"/>
                </a:lnTo>
                <a:lnTo>
                  <a:pt x="18145" y="159180"/>
                </a:lnTo>
                <a:lnTo>
                  <a:pt x="39433" y="114913"/>
                </a:lnTo>
                <a:lnTo>
                  <a:pt x="67627" y="76342"/>
                </a:lnTo>
                <a:lnTo>
                  <a:pt x="101798" y="44516"/>
                </a:lnTo>
                <a:lnTo>
                  <a:pt x="141017" y="20484"/>
                </a:lnTo>
                <a:lnTo>
                  <a:pt x="184356" y="5296"/>
                </a:lnTo>
                <a:lnTo>
                  <a:pt x="230885" y="0"/>
                </a:lnTo>
                <a:lnTo>
                  <a:pt x="277415" y="5296"/>
                </a:lnTo>
                <a:lnTo>
                  <a:pt x="320754" y="20484"/>
                </a:lnTo>
                <a:lnTo>
                  <a:pt x="359973" y="44516"/>
                </a:lnTo>
                <a:lnTo>
                  <a:pt x="394144" y="76342"/>
                </a:lnTo>
                <a:lnTo>
                  <a:pt x="422338" y="114913"/>
                </a:lnTo>
                <a:lnTo>
                  <a:pt x="443626" y="159180"/>
                </a:lnTo>
                <a:lnTo>
                  <a:pt x="457080" y="208093"/>
                </a:lnTo>
                <a:lnTo>
                  <a:pt x="461771" y="260603"/>
                </a:lnTo>
                <a:lnTo>
                  <a:pt x="457080" y="313114"/>
                </a:lnTo>
                <a:lnTo>
                  <a:pt x="443626" y="362027"/>
                </a:lnTo>
                <a:lnTo>
                  <a:pt x="422338" y="406294"/>
                </a:lnTo>
                <a:lnTo>
                  <a:pt x="394144" y="444865"/>
                </a:lnTo>
                <a:lnTo>
                  <a:pt x="359973" y="476691"/>
                </a:lnTo>
                <a:lnTo>
                  <a:pt x="320754" y="500723"/>
                </a:lnTo>
                <a:lnTo>
                  <a:pt x="277415" y="515911"/>
                </a:lnTo>
                <a:lnTo>
                  <a:pt x="230885" y="521208"/>
                </a:lnTo>
                <a:lnTo>
                  <a:pt x="184356" y="515911"/>
                </a:lnTo>
                <a:lnTo>
                  <a:pt x="141017" y="500723"/>
                </a:lnTo>
                <a:lnTo>
                  <a:pt x="101798" y="476691"/>
                </a:lnTo>
                <a:lnTo>
                  <a:pt x="67627" y="444865"/>
                </a:lnTo>
                <a:lnTo>
                  <a:pt x="39433" y="406294"/>
                </a:lnTo>
                <a:lnTo>
                  <a:pt x="18145" y="362027"/>
                </a:lnTo>
                <a:lnTo>
                  <a:pt x="4691" y="313114"/>
                </a:lnTo>
                <a:lnTo>
                  <a:pt x="0" y="260603"/>
                </a:lnTo>
                <a:close/>
              </a:path>
            </a:pathLst>
          </a:custGeom>
          <a:ln w="38099">
            <a:solidFill>
              <a:srgbClr val="FF66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65470" y="5232653"/>
            <a:ext cx="628015" cy="510540"/>
          </a:xfrm>
          <a:custGeom>
            <a:avLst/>
            <a:gdLst/>
            <a:ahLst/>
            <a:cxnLst/>
            <a:rect l="l" t="t" r="r" b="b"/>
            <a:pathLst>
              <a:path w="628014" h="510539">
                <a:moveTo>
                  <a:pt x="0" y="255270"/>
                </a:moveTo>
                <a:lnTo>
                  <a:pt x="4109" y="213866"/>
                </a:lnTo>
                <a:lnTo>
                  <a:pt x="16008" y="174589"/>
                </a:lnTo>
                <a:lnTo>
                  <a:pt x="35047" y="137963"/>
                </a:lnTo>
                <a:lnTo>
                  <a:pt x="60582" y="104515"/>
                </a:lnTo>
                <a:lnTo>
                  <a:pt x="91963" y="74771"/>
                </a:lnTo>
                <a:lnTo>
                  <a:pt x="128546" y="49255"/>
                </a:lnTo>
                <a:lnTo>
                  <a:pt x="169682" y="28494"/>
                </a:lnTo>
                <a:lnTo>
                  <a:pt x="214725" y="13014"/>
                </a:lnTo>
                <a:lnTo>
                  <a:pt x="263028" y="3341"/>
                </a:lnTo>
                <a:lnTo>
                  <a:pt x="313943" y="0"/>
                </a:lnTo>
                <a:lnTo>
                  <a:pt x="364859" y="3341"/>
                </a:lnTo>
                <a:lnTo>
                  <a:pt x="413162" y="13014"/>
                </a:lnTo>
                <a:lnTo>
                  <a:pt x="458205" y="28494"/>
                </a:lnTo>
                <a:lnTo>
                  <a:pt x="499341" y="49255"/>
                </a:lnTo>
                <a:lnTo>
                  <a:pt x="535924" y="74771"/>
                </a:lnTo>
                <a:lnTo>
                  <a:pt x="567305" y="104515"/>
                </a:lnTo>
                <a:lnTo>
                  <a:pt x="592840" y="137963"/>
                </a:lnTo>
                <a:lnTo>
                  <a:pt x="611879" y="174589"/>
                </a:lnTo>
                <a:lnTo>
                  <a:pt x="623778" y="213866"/>
                </a:lnTo>
                <a:lnTo>
                  <a:pt x="627888" y="255270"/>
                </a:lnTo>
                <a:lnTo>
                  <a:pt x="623778" y="296676"/>
                </a:lnTo>
                <a:lnTo>
                  <a:pt x="611879" y="335955"/>
                </a:lnTo>
                <a:lnTo>
                  <a:pt x="592840" y="372581"/>
                </a:lnTo>
                <a:lnTo>
                  <a:pt x="567305" y="406029"/>
                </a:lnTo>
                <a:lnTo>
                  <a:pt x="535924" y="435773"/>
                </a:lnTo>
                <a:lnTo>
                  <a:pt x="499341" y="461287"/>
                </a:lnTo>
                <a:lnTo>
                  <a:pt x="458205" y="482047"/>
                </a:lnTo>
                <a:lnTo>
                  <a:pt x="413162" y="497526"/>
                </a:lnTo>
                <a:lnTo>
                  <a:pt x="364859" y="507198"/>
                </a:lnTo>
                <a:lnTo>
                  <a:pt x="313943" y="510540"/>
                </a:lnTo>
                <a:lnTo>
                  <a:pt x="263028" y="507198"/>
                </a:lnTo>
                <a:lnTo>
                  <a:pt x="214725" y="497526"/>
                </a:lnTo>
                <a:lnTo>
                  <a:pt x="169682" y="482047"/>
                </a:lnTo>
                <a:lnTo>
                  <a:pt x="128546" y="461287"/>
                </a:lnTo>
                <a:lnTo>
                  <a:pt x="91963" y="435773"/>
                </a:lnTo>
                <a:lnTo>
                  <a:pt x="60582" y="406029"/>
                </a:lnTo>
                <a:lnTo>
                  <a:pt x="35047" y="372581"/>
                </a:lnTo>
                <a:lnTo>
                  <a:pt x="16008" y="335955"/>
                </a:lnTo>
                <a:lnTo>
                  <a:pt x="4109" y="296676"/>
                </a:lnTo>
                <a:lnTo>
                  <a:pt x="0" y="255270"/>
                </a:lnTo>
                <a:close/>
              </a:path>
            </a:pathLst>
          </a:custGeom>
          <a:ln w="38100">
            <a:solidFill>
              <a:srgbClr val="FF66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08141" y="4072890"/>
            <a:ext cx="431800" cy="551815"/>
          </a:xfrm>
          <a:custGeom>
            <a:avLst/>
            <a:gdLst/>
            <a:ahLst/>
            <a:cxnLst/>
            <a:rect l="l" t="t" r="r" b="b"/>
            <a:pathLst>
              <a:path w="431800" h="551814">
                <a:moveTo>
                  <a:pt x="0" y="275844"/>
                </a:moveTo>
                <a:lnTo>
                  <a:pt x="4380" y="220235"/>
                </a:lnTo>
                <a:lnTo>
                  <a:pt x="16942" y="168449"/>
                </a:lnTo>
                <a:lnTo>
                  <a:pt x="36821" y="121592"/>
                </a:lnTo>
                <a:lnTo>
                  <a:pt x="63150" y="80772"/>
                </a:lnTo>
                <a:lnTo>
                  <a:pt x="95063" y="47095"/>
                </a:lnTo>
                <a:lnTo>
                  <a:pt x="131695" y="21669"/>
                </a:lnTo>
                <a:lnTo>
                  <a:pt x="172177" y="5601"/>
                </a:lnTo>
                <a:lnTo>
                  <a:pt x="215646" y="0"/>
                </a:lnTo>
                <a:lnTo>
                  <a:pt x="259114" y="5601"/>
                </a:lnTo>
                <a:lnTo>
                  <a:pt x="299596" y="21669"/>
                </a:lnTo>
                <a:lnTo>
                  <a:pt x="336228" y="47095"/>
                </a:lnTo>
                <a:lnTo>
                  <a:pt x="368141" y="80771"/>
                </a:lnTo>
                <a:lnTo>
                  <a:pt x="394470" y="121592"/>
                </a:lnTo>
                <a:lnTo>
                  <a:pt x="414349" y="168449"/>
                </a:lnTo>
                <a:lnTo>
                  <a:pt x="426911" y="220235"/>
                </a:lnTo>
                <a:lnTo>
                  <a:pt x="431292" y="275844"/>
                </a:lnTo>
                <a:lnTo>
                  <a:pt x="426911" y="331452"/>
                </a:lnTo>
                <a:lnTo>
                  <a:pt x="414349" y="383238"/>
                </a:lnTo>
                <a:lnTo>
                  <a:pt x="394470" y="430095"/>
                </a:lnTo>
                <a:lnTo>
                  <a:pt x="368141" y="470915"/>
                </a:lnTo>
                <a:lnTo>
                  <a:pt x="336228" y="504592"/>
                </a:lnTo>
                <a:lnTo>
                  <a:pt x="299596" y="530018"/>
                </a:lnTo>
                <a:lnTo>
                  <a:pt x="259114" y="546086"/>
                </a:lnTo>
                <a:lnTo>
                  <a:pt x="215646" y="551688"/>
                </a:lnTo>
                <a:lnTo>
                  <a:pt x="172177" y="546086"/>
                </a:lnTo>
                <a:lnTo>
                  <a:pt x="131695" y="530018"/>
                </a:lnTo>
                <a:lnTo>
                  <a:pt x="95063" y="504592"/>
                </a:lnTo>
                <a:lnTo>
                  <a:pt x="63150" y="470916"/>
                </a:lnTo>
                <a:lnTo>
                  <a:pt x="36821" y="430095"/>
                </a:lnTo>
                <a:lnTo>
                  <a:pt x="16942" y="383238"/>
                </a:lnTo>
                <a:lnTo>
                  <a:pt x="4380" y="331452"/>
                </a:lnTo>
                <a:lnTo>
                  <a:pt x="0" y="27584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841" y="26923"/>
            <a:ext cx="8743950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656590" algn="l"/>
                <a:tab pos="1994535" algn="l"/>
                <a:tab pos="2503805" algn="l"/>
                <a:tab pos="5716270" algn="l"/>
                <a:tab pos="64795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从识别活前缀的</a:t>
            </a:r>
            <a:r>
              <a:rPr dirty="0" u="heavy" sz="3000" spc="-7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构造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分析表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2943" y="1474089"/>
            <a:ext cx="1795145" cy="56134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41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‘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4948" y="1513713"/>
            <a:ext cx="31089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451" y="2002383"/>
            <a:ext cx="6189345" cy="446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144780">
              <a:lnSpc>
                <a:spcPct val="13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输入：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识别活前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输出：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析表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方法：</a:t>
            </a:r>
            <a:endParaRPr sz="3200">
              <a:latin typeface="宋体"/>
              <a:cs typeface="宋体"/>
            </a:endParaRPr>
          </a:p>
          <a:p>
            <a:pPr marL="748030" marR="30480" indent="-302260">
              <a:lnSpc>
                <a:spcPct val="13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分析表的状态集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态集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748030" marR="358140" indent="-709295">
              <a:lnSpc>
                <a:spcPts val="4990"/>
              </a:lnSpc>
              <a:spcBef>
                <a:spcPts val="36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3200" spc="7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3200" spc="-29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350" spc="-2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1164" sz="3150" spc="-3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则置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25132" sz="3150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-89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2263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310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7226" y="26923"/>
            <a:ext cx="62522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24530" algn="l"/>
                <a:tab pos="398780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540" y="721233"/>
            <a:ext cx="2167255" cy="561340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41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200" spc="-10">
                <a:solidFill>
                  <a:srgbClr val="FFFF00"/>
                </a:solidFill>
              </a:rPr>
              <a:t>’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7270" y="760857"/>
            <a:ext cx="45313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3200" spc="-114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531" y="1224369"/>
            <a:ext cx="8562340" cy="455993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928369" marR="3430904" indent="-800735">
              <a:lnSpc>
                <a:spcPct val="141900"/>
              </a:lnSpc>
              <a:spcBef>
                <a:spcPts val="17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950" spc="-25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3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则置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1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49935" marR="30480" indent="-622300">
              <a:lnSpc>
                <a:spcPts val="4870"/>
              </a:lnSpc>
              <a:spcBef>
                <a:spcPts val="42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·∈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则对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所有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终结符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和结束符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“＃”，  置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5525" sz="2775" spc="-7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5525" sz="2775" spc="-7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661670">
              <a:lnSpc>
                <a:spcPct val="100000"/>
              </a:lnSpc>
              <a:spcBef>
                <a:spcPts val="11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其中假设产生式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是文法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2800" spc="-6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j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个产生式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5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④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1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则置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54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⑤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表中空白置出错标志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03953" y="2439161"/>
            <a:ext cx="744220" cy="914400"/>
          </a:xfrm>
          <a:custGeom>
            <a:avLst/>
            <a:gdLst/>
            <a:ahLst/>
            <a:cxnLst/>
            <a:rect l="l" t="t" r="r" b="b"/>
            <a:pathLst>
              <a:path w="744220" h="914400">
                <a:moveTo>
                  <a:pt x="0" y="457200"/>
                </a:moveTo>
                <a:lnTo>
                  <a:pt x="2501" y="403886"/>
                </a:lnTo>
                <a:lnTo>
                  <a:pt x="9821" y="352377"/>
                </a:lnTo>
                <a:lnTo>
                  <a:pt x="21679" y="303016"/>
                </a:lnTo>
                <a:lnTo>
                  <a:pt x="37797" y="256147"/>
                </a:lnTo>
                <a:lnTo>
                  <a:pt x="57896" y="212113"/>
                </a:lnTo>
                <a:lnTo>
                  <a:pt x="81696" y="171256"/>
                </a:lnTo>
                <a:lnTo>
                  <a:pt x="108918" y="133921"/>
                </a:lnTo>
                <a:lnTo>
                  <a:pt x="139283" y="100450"/>
                </a:lnTo>
                <a:lnTo>
                  <a:pt x="172513" y="71187"/>
                </a:lnTo>
                <a:lnTo>
                  <a:pt x="208328" y="46475"/>
                </a:lnTo>
                <a:lnTo>
                  <a:pt x="246448" y="26657"/>
                </a:lnTo>
                <a:lnTo>
                  <a:pt x="286596" y="12076"/>
                </a:lnTo>
                <a:lnTo>
                  <a:pt x="328491" y="3076"/>
                </a:lnTo>
                <a:lnTo>
                  <a:pt x="371856" y="0"/>
                </a:lnTo>
                <a:lnTo>
                  <a:pt x="415220" y="3076"/>
                </a:lnTo>
                <a:lnTo>
                  <a:pt x="457115" y="12076"/>
                </a:lnTo>
                <a:lnTo>
                  <a:pt x="497263" y="26657"/>
                </a:lnTo>
                <a:lnTo>
                  <a:pt x="535383" y="46475"/>
                </a:lnTo>
                <a:lnTo>
                  <a:pt x="571198" y="71187"/>
                </a:lnTo>
                <a:lnTo>
                  <a:pt x="604428" y="100450"/>
                </a:lnTo>
                <a:lnTo>
                  <a:pt x="634793" y="133921"/>
                </a:lnTo>
                <a:lnTo>
                  <a:pt x="662015" y="171256"/>
                </a:lnTo>
                <a:lnTo>
                  <a:pt x="685815" y="212113"/>
                </a:lnTo>
                <a:lnTo>
                  <a:pt x="705914" y="256147"/>
                </a:lnTo>
                <a:lnTo>
                  <a:pt x="722032" y="303016"/>
                </a:lnTo>
                <a:lnTo>
                  <a:pt x="733890" y="352377"/>
                </a:lnTo>
                <a:lnTo>
                  <a:pt x="741210" y="403886"/>
                </a:lnTo>
                <a:lnTo>
                  <a:pt x="743712" y="457200"/>
                </a:lnTo>
                <a:lnTo>
                  <a:pt x="741210" y="510513"/>
                </a:lnTo>
                <a:lnTo>
                  <a:pt x="733890" y="562022"/>
                </a:lnTo>
                <a:lnTo>
                  <a:pt x="722032" y="611383"/>
                </a:lnTo>
                <a:lnTo>
                  <a:pt x="705914" y="658252"/>
                </a:lnTo>
                <a:lnTo>
                  <a:pt x="685815" y="702286"/>
                </a:lnTo>
                <a:lnTo>
                  <a:pt x="662015" y="743143"/>
                </a:lnTo>
                <a:lnTo>
                  <a:pt x="634793" y="780478"/>
                </a:lnTo>
                <a:lnTo>
                  <a:pt x="604428" y="813949"/>
                </a:lnTo>
                <a:lnTo>
                  <a:pt x="571198" y="843212"/>
                </a:lnTo>
                <a:lnTo>
                  <a:pt x="535383" y="867924"/>
                </a:lnTo>
                <a:lnTo>
                  <a:pt x="497263" y="887742"/>
                </a:lnTo>
                <a:lnTo>
                  <a:pt x="457115" y="902323"/>
                </a:lnTo>
                <a:lnTo>
                  <a:pt x="415220" y="911323"/>
                </a:lnTo>
                <a:lnTo>
                  <a:pt x="371856" y="914400"/>
                </a:lnTo>
                <a:lnTo>
                  <a:pt x="328491" y="911323"/>
                </a:lnTo>
                <a:lnTo>
                  <a:pt x="286596" y="902323"/>
                </a:lnTo>
                <a:lnTo>
                  <a:pt x="246448" y="887742"/>
                </a:lnTo>
                <a:lnTo>
                  <a:pt x="208328" y="867924"/>
                </a:lnTo>
                <a:lnTo>
                  <a:pt x="172513" y="843212"/>
                </a:lnTo>
                <a:lnTo>
                  <a:pt x="139283" y="813949"/>
                </a:lnTo>
                <a:lnTo>
                  <a:pt x="108918" y="780478"/>
                </a:lnTo>
                <a:lnTo>
                  <a:pt x="81696" y="743143"/>
                </a:lnTo>
                <a:lnTo>
                  <a:pt x="57896" y="702286"/>
                </a:lnTo>
                <a:lnTo>
                  <a:pt x="37797" y="658252"/>
                </a:lnTo>
                <a:lnTo>
                  <a:pt x="21679" y="611383"/>
                </a:lnTo>
                <a:lnTo>
                  <a:pt x="9821" y="562022"/>
                </a:lnTo>
                <a:lnTo>
                  <a:pt x="2501" y="510513"/>
                </a:lnTo>
                <a:lnTo>
                  <a:pt x="0" y="457200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31035" algn="l"/>
                <a:tab pos="2440305" algn="l"/>
                <a:tab pos="5652770" algn="l"/>
                <a:tab pos="64160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3039" y="496646"/>
            <a:ext cx="881634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FFFFFF"/>
                </a:solidFill>
              </a:rPr>
              <a:t>例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3200">
                <a:solidFill>
                  <a:srgbClr val="FFFFFF"/>
                </a:solidFill>
              </a:rPr>
              <a:t>对</a:t>
            </a:r>
            <a:r>
              <a:rPr dirty="0" sz="3200" spc="-5">
                <a:solidFill>
                  <a:srgbClr val="FFFFFF"/>
                </a:solidFill>
              </a:rPr>
              <a:t>例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5.12</a:t>
            </a:r>
            <a:r>
              <a:rPr dirty="0" sz="3200" spc="-5">
                <a:solidFill>
                  <a:srgbClr val="FFFFFF"/>
                </a:solidFill>
              </a:rPr>
              <a:t>的文</a:t>
            </a:r>
            <a:r>
              <a:rPr dirty="0" sz="3200" spc="-10">
                <a:solidFill>
                  <a:srgbClr val="FFFFFF"/>
                </a:solidFill>
              </a:rPr>
              <a:t>法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G(S</a:t>
            </a:r>
            <a:r>
              <a:rPr dirty="0" sz="32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>
                <a:solidFill>
                  <a:srgbClr val="FFFFFF"/>
                </a:solidFill>
              </a:rPr>
              <a:t>有</a:t>
            </a:r>
            <a:r>
              <a:rPr dirty="0" sz="3200" spc="-10">
                <a:solidFill>
                  <a:srgbClr val="FFFFFF"/>
                </a:solidFill>
              </a:rPr>
              <a:t>识</a:t>
            </a:r>
            <a:r>
              <a:rPr dirty="0" sz="3200" spc="5">
                <a:solidFill>
                  <a:srgbClr val="FFFFFF"/>
                </a:solidFill>
              </a:rPr>
              <a:t>别</a:t>
            </a:r>
            <a:r>
              <a:rPr dirty="0" sz="3200" spc="-10">
                <a:solidFill>
                  <a:srgbClr val="FFFFFF"/>
                </a:solidFill>
              </a:rPr>
              <a:t>活</a:t>
            </a:r>
            <a:r>
              <a:rPr dirty="0" sz="3200" spc="5">
                <a:solidFill>
                  <a:srgbClr val="FFFFFF"/>
                </a:solidFill>
              </a:rPr>
              <a:t>前</a:t>
            </a:r>
            <a:r>
              <a:rPr dirty="0" sz="3200" spc="-10">
                <a:solidFill>
                  <a:srgbClr val="FFFFFF"/>
                </a:solidFill>
              </a:rPr>
              <a:t>缀</a:t>
            </a:r>
            <a:r>
              <a:rPr dirty="0" sz="3200" spc="5">
                <a:solidFill>
                  <a:srgbClr val="FFFFFF"/>
                </a:solidFill>
              </a:rPr>
              <a:t>的</a:t>
            </a:r>
            <a:r>
              <a:rPr dirty="0" sz="3200" spc="-85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>
                <a:solidFill>
                  <a:srgbClr val="FFFFFF"/>
                </a:solidFill>
              </a:rPr>
              <a:t>如下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79364" y="5228844"/>
            <a:ext cx="2242566" cy="1424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11395" y="3196589"/>
            <a:ext cx="163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831079" y="2555748"/>
          <a:ext cx="4070985" cy="3945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3745"/>
                <a:gridCol w="611505"/>
                <a:gridCol w="635635"/>
                <a:gridCol w="771525"/>
                <a:gridCol w="1102994"/>
                <a:gridCol w="114935"/>
              </a:tblGrid>
              <a:tr h="58293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2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800" spc="-2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38100">
                      <a:solidFill>
                        <a:srgbClr val="66FFFF"/>
                      </a:solidFill>
                      <a:prstDash val="solid"/>
                    </a:lnL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845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3695"/>
                        </a:lnSpc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6050">
                        <a:lnSpc>
                          <a:spcPts val="3695"/>
                        </a:lnSpc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4775">
                        <a:lnSpc>
                          <a:spcPts val="369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49530">
                        <a:lnSpc>
                          <a:spcPts val="3695"/>
                        </a:lnSpc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41782">
                <a:tc>
                  <a:txBody>
                    <a:bodyPr/>
                    <a:lstStyle/>
                    <a:p>
                      <a:pPr algn="r" marR="125730">
                        <a:lnSpc>
                          <a:spcPts val="33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69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4775">
                        <a:lnSpc>
                          <a:spcPts val="369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R="26670">
                        <a:lnSpc>
                          <a:spcPts val="3785"/>
                        </a:lnSpc>
                        <a:spcBef>
                          <a:spcPts val="3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38100">
                      <a:solidFill>
                        <a:srgbClr val="66FFFF"/>
                      </a:solidFill>
                      <a:prstDash val="solid"/>
                    </a:lnL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31114">
                <a:tc>
                  <a:txBody>
                    <a:bodyPr/>
                    <a:lstStyle/>
                    <a:p>
                      <a:pPr algn="r" marR="125730">
                        <a:lnSpc>
                          <a:spcPts val="329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294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T w="762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5487">
                <a:tc>
                  <a:txBody>
                    <a:bodyPr/>
                    <a:lstStyle/>
                    <a:p>
                      <a:pPr algn="r" marR="125730">
                        <a:lnSpc>
                          <a:spcPts val="336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355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355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R="26670">
                        <a:lnSpc>
                          <a:spcPts val="364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08076"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3795"/>
                        </a:lnSpc>
                        <a:spcBef>
                          <a:spcPts val="89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03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3795"/>
                        </a:lnSpc>
                        <a:spcBef>
                          <a:spcPts val="89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03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3795"/>
                        </a:lnSpc>
                        <a:spcBef>
                          <a:spcPts val="89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03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T w="38100">
                      <a:solidFill>
                        <a:srgbClr val="66FFFF"/>
                      </a:solidFill>
                      <a:prstDash val="solid"/>
                    </a:lnT>
                    <a:lnB w="76200">
                      <a:solidFill>
                        <a:srgbClr val="66FF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  <a:tr h="591312">
                <a:tc>
                  <a:txBody>
                    <a:bodyPr/>
                    <a:lstStyle/>
                    <a:p>
                      <a:pPr algn="r" marR="125730">
                        <a:lnSpc>
                          <a:spcPts val="33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3554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1920">
                        <a:lnSpc>
                          <a:spcPts val="3554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3554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T w="762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794628" y="1900504"/>
            <a:ext cx="2287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LR</a:t>
            </a:r>
            <a:r>
              <a:rPr dirty="0" sz="3200" spc="-5" b="1">
                <a:solidFill>
                  <a:srgbClr val="FFFF66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66"/>
                </a:solidFill>
                <a:latin typeface="微软雅黑"/>
                <a:cs typeface="微软雅黑"/>
              </a:rPr>
              <a:t>分析表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339" y="6163309"/>
            <a:ext cx="3017520" cy="0"/>
          </a:xfrm>
          <a:custGeom>
            <a:avLst/>
            <a:gdLst/>
            <a:ahLst/>
            <a:cxnLst/>
            <a:rect l="l" t="t" r="r" b="b"/>
            <a:pathLst>
              <a:path w="3017520" h="0">
                <a:moveTo>
                  <a:pt x="0" y="0"/>
                </a:moveTo>
                <a:lnTo>
                  <a:pt x="3017520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689" y="5105400"/>
            <a:ext cx="0" cy="1051560"/>
          </a:xfrm>
          <a:custGeom>
            <a:avLst/>
            <a:gdLst/>
            <a:ahLst/>
            <a:cxnLst/>
            <a:rect l="l" t="t" r="r" b="b"/>
            <a:pathLst>
              <a:path w="0" h="1051560">
                <a:moveTo>
                  <a:pt x="0" y="0"/>
                </a:moveTo>
                <a:lnTo>
                  <a:pt x="0" y="105156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339" y="5099050"/>
            <a:ext cx="3017520" cy="0"/>
          </a:xfrm>
          <a:custGeom>
            <a:avLst/>
            <a:gdLst/>
            <a:ahLst/>
            <a:cxnLst/>
            <a:rect l="l" t="t" r="r" b="b"/>
            <a:pathLst>
              <a:path w="3017520" h="0">
                <a:moveTo>
                  <a:pt x="0" y="0"/>
                </a:moveTo>
                <a:lnTo>
                  <a:pt x="3017520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64510" y="5105908"/>
            <a:ext cx="0" cy="1050925"/>
          </a:xfrm>
          <a:custGeom>
            <a:avLst/>
            <a:gdLst/>
            <a:ahLst/>
            <a:cxnLst/>
            <a:rect l="l" t="t" r="r" b="b"/>
            <a:pathLst>
              <a:path w="0" h="1050925">
                <a:moveTo>
                  <a:pt x="0" y="0"/>
                </a:moveTo>
                <a:lnTo>
                  <a:pt x="0" y="1050544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739" y="6131559"/>
            <a:ext cx="2966720" cy="0"/>
          </a:xfrm>
          <a:custGeom>
            <a:avLst/>
            <a:gdLst/>
            <a:ahLst/>
            <a:cxnLst/>
            <a:rect l="l" t="t" r="r" b="b"/>
            <a:pathLst>
              <a:path w="2966720" h="0">
                <a:moveTo>
                  <a:pt x="0" y="0"/>
                </a:moveTo>
                <a:lnTo>
                  <a:pt x="2966720" y="0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439" y="5143500"/>
            <a:ext cx="0" cy="975360"/>
          </a:xfrm>
          <a:custGeom>
            <a:avLst/>
            <a:gdLst/>
            <a:ahLst/>
            <a:cxnLst/>
            <a:rect l="l" t="t" r="r" b="b"/>
            <a:pathLst>
              <a:path w="0" h="975360">
                <a:moveTo>
                  <a:pt x="0" y="0"/>
                </a:moveTo>
                <a:lnTo>
                  <a:pt x="0" y="975360"/>
                </a:lnTo>
              </a:path>
            </a:pathLst>
          </a:custGeom>
          <a:ln w="25399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8739" y="5130800"/>
            <a:ext cx="2966720" cy="0"/>
          </a:xfrm>
          <a:custGeom>
            <a:avLst/>
            <a:gdLst/>
            <a:ahLst/>
            <a:cxnLst/>
            <a:rect l="l" t="t" r="r" b="b"/>
            <a:pathLst>
              <a:path w="2966720" h="0">
                <a:moveTo>
                  <a:pt x="0" y="0"/>
                </a:moveTo>
                <a:lnTo>
                  <a:pt x="2966720" y="0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32760" y="5144008"/>
            <a:ext cx="0" cy="974725"/>
          </a:xfrm>
          <a:custGeom>
            <a:avLst/>
            <a:gdLst/>
            <a:ahLst/>
            <a:cxnLst/>
            <a:rect l="l" t="t" r="r" b="b"/>
            <a:pathLst>
              <a:path w="0" h="974725">
                <a:moveTo>
                  <a:pt x="0" y="0"/>
                </a:moveTo>
                <a:lnTo>
                  <a:pt x="0" y="974344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6839" y="6099809"/>
            <a:ext cx="2890520" cy="0"/>
          </a:xfrm>
          <a:custGeom>
            <a:avLst/>
            <a:gdLst/>
            <a:ahLst/>
            <a:cxnLst/>
            <a:rect l="l" t="t" r="r" b="b"/>
            <a:pathLst>
              <a:path w="2890520" h="0">
                <a:moveTo>
                  <a:pt x="0" y="0"/>
                </a:moveTo>
                <a:lnTo>
                  <a:pt x="2890520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3189" y="5168900"/>
            <a:ext cx="0" cy="924560"/>
          </a:xfrm>
          <a:custGeom>
            <a:avLst/>
            <a:gdLst/>
            <a:ahLst/>
            <a:cxnLst/>
            <a:rect l="l" t="t" r="r" b="b"/>
            <a:pathLst>
              <a:path w="0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6839" y="5162550"/>
            <a:ext cx="2890520" cy="0"/>
          </a:xfrm>
          <a:custGeom>
            <a:avLst/>
            <a:gdLst/>
            <a:ahLst/>
            <a:cxnLst/>
            <a:rect l="l" t="t" r="r" b="b"/>
            <a:pathLst>
              <a:path w="2890520" h="0">
                <a:moveTo>
                  <a:pt x="0" y="0"/>
                </a:moveTo>
                <a:lnTo>
                  <a:pt x="2890520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01010" y="5169408"/>
            <a:ext cx="0" cy="923925"/>
          </a:xfrm>
          <a:custGeom>
            <a:avLst/>
            <a:gdLst/>
            <a:ahLst/>
            <a:cxnLst/>
            <a:rect l="l" t="t" r="r" b="b"/>
            <a:pathLst>
              <a:path w="0" h="923925">
                <a:moveTo>
                  <a:pt x="0" y="0"/>
                </a:moveTo>
                <a:lnTo>
                  <a:pt x="0" y="923544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04139" y="4974234"/>
            <a:ext cx="2915920" cy="114173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13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  <a:spcBef>
                <a:spcPts val="103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2800" spc="-7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｜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73985" y="1175766"/>
            <a:ext cx="1767839" cy="1283335"/>
          </a:xfrm>
          <a:custGeom>
            <a:avLst/>
            <a:gdLst/>
            <a:ahLst/>
            <a:cxnLst/>
            <a:rect l="l" t="t" r="r" b="b"/>
            <a:pathLst>
              <a:path w="1767839" h="1283335">
                <a:moveTo>
                  <a:pt x="0" y="1283208"/>
                </a:moveTo>
                <a:lnTo>
                  <a:pt x="1767839" y="1283208"/>
                </a:lnTo>
                <a:lnTo>
                  <a:pt x="1767839" y="0"/>
                </a:lnTo>
                <a:lnTo>
                  <a:pt x="0" y="0"/>
                </a:lnTo>
                <a:lnTo>
                  <a:pt x="0" y="128320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58314" y="1154379"/>
            <a:ext cx="1598295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2: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270510" marR="42545">
              <a:lnSpc>
                <a:spcPct val="100000"/>
              </a:lnSpc>
              <a:spcBef>
                <a:spcPts val="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7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aA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93545" y="210934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44370" y="278683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69414" y="3004566"/>
            <a:ext cx="1767839" cy="5562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70180">
              <a:lnSpc>
                <a:spcPts val="3295"/>
              </a:lnSpc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3: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21255" y="361442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93798" y="4056126"/>
            <a:ext cx="1767839" cy="55943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1590">
              <a:lnSpc>
                <a:spcPts val="3804"/>
              </a:lnSpc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1: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60646" y="175209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93847" y="252166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22114" y="1207769"/>
            <a:ext cx="1766570" cy="5581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41605">
              <a:lnSpc>
                <a:spcPts val="3254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4: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26433" y="110109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37253" y="1437132"/>
            <a:ext cx="786765" cy="114300"/>
          </a:xfrm>
          <a:custGeom>
            <a:avLst/>
            <a:gdLst/>
            <a:ahLst/>
            <a:cxnLst/>
            <a:rect l="l" t="t" r="r" b="b"/>
            <a:pathLst>
              <a:path w="786764" h="114300">
                <a:moveTo>
                  <a:pt x="595884" y="0"/>
                </a:moveTo>
                <a:lnTo>
                  <a:pt x="595884" y="114300"/>
                </a:lnTo>
                <a:lnTo>
                  <a:pt x="722884" y="76200"/>
                </a:lnTo>
                <a:lnTo>
                  <a:pt x="614934" y="76200"/>
                </a:lnTo>
                <a:lnTo>
                  <a:pt x="614934" y="38100"/>
                </a:lnTo>
                <a:lnTo>
                  <a:pt x="722884" y="38100"/>
                </a:lnTo>
                <a:lnTo>
                  <a:pt x="595884" y="0"/>
                </a:lnTo>
                <a:close/>
              </a:path>
              <a:path w="786764" h="114300">
                <a:moveTo>
                  <a:pt x="5958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95884" y="76200"/>
                </a:lnTo>
                <a:lnTo>
                  <a:pt x="595884" y="38100"/>
                </a:lnTo>
                <a:close/>
              </a:path>
              <a:path w="786764" h="114300">
                <a:moveTo>
                  <a:pt x="722884" y="38100"/>
                </a:moveTo>
                <a:lnTo>
                  <a:pt x="614934" y="38100"/>
                </a:lnTo>
                <a:lnTo>
                  <a:pt x="614934" y="76200"/>
                </a:lnTo>
                <a:lnTo>
                  <a:pt x="722884" y="76200"/>
                </a:lnTo>
                <a:lnTo>
                  <a:pt x="786384" y="57150"/>
                </a:lnTo>
                <a:lnTo>
                  <a:pt x="72288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2202" y="2532126"/>
            <a:ext cx="1519555" cy="15240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2715" rIns="0" bIns="0" rtlCol="0" vert="horz">
            <a:spAutoFit/>
          </a:bodyPr>
          <a:lstStyle/>
          <a:p>
            <a:pPr marL="27305">
              <a:lnSpc>
                <a:spcPts val="3615"/>
              </a:lnSpc>
              <a:spcBef>
                <a:spcPts val="1045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0: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77800">
              <a:lnSpc>
                <a:spcPts val="3135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  <a:p>
            <a:pPr marL="177800">
              <a:lnSpc>
                <a:spcPct val="10000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997961" y="2475738"/>
            <a:ext cx="114300" cy="508000"/>
          </a:xfrm>
          <a:custGeom>
            <a:avLst/>
            <a:gdLst/>
            <a:ahLst/>
            <a:cxnLst/>
            <a:rect l="l" t="t" r="r" b="b"/>
            <a:pathLst>
              <a:path w="114300" h="508000">
                <a:moveTo>
                  <a:pt x="0" y="393573"/>
                </a:moveTo>
                <a:lnTo>
                  <a:pt x="56895" y="508000"/>
                </a:lnTo>
                <a:lnTo>
                  <a:pt x="104775" y="412876"/>
                </a:lnTo>
                <a:lnTo>
                  <a:pt x="76200" y="412876"/>
                </a:lnTo>
                <a:lnTo>
                  <a:pt x="38100" y="412750"/>
                </a:lnTo>
                <a:lnTo>
                  <a:pt x="38100" y="393700"/>
                </a:lnTo>
                <a:lnTo>
                  <a:pt x="0" y="393573"/>
                </a:lnTo>
                <a:close/>
              </a:path>
              <a:path w="114300" h="508000">
                <a:moveTo>
                  <a:pt x="38100" y="393700"/>
                </a:moveTo>
                <a:lnTo>
                  <a:pt x="38100" y="412750"/>
                </a:lnTo>
                <a:lnTo>
                  <a:pt x="76200" y="412876"/>
                </a:lnTo>
                <a:lnTo>
                  <a:pt x="76200" y="393826"/>
                </a:lnTo>
                <a:lnTo>
                  <a:pt x="38100" y="393700"/>
                </a:lnTo>
                <a:close/>
              </a:path>
              <a:path w="114300" h="508000">
                <a:moveTo>
                  <a:pt x="76200" y="393826"/>
                </a:moveTo>
                <a:lnTo>
                  <a:pt x="76200" y="412876"/>
                </a:lnTo>
                <a:lnTo>
                  <a:pt x="104775" y="412876"/>
                </a:lnTo>
                <a:lnTo>
                  <a:pt x="114300" y="393953"/>
                </a:lnTo>
                <a:lnTo>
                  <a:pt x="76200" y="393826"/>
                </a:lnTo>
                <a:close/>
              </a:path>
              <a:path w="114300" h="508000">
                <a:moveTo>
                  <a:pt x="40494" y="250770"/>
                </a:moveTo>
                <a:lnTo>
                  <a:pt x="40258" y="251713"/>
                </a:lnTo>
                <a:lnTo>
                  <a:pt x="40131" y="253746"/>
                </a:lnTo>
                <a:lnTo>
                  <a:pt x="40011" y="256159"/>
                </a:lnTo>
                <a:lnTo>
                  <a:pt x="39750" y="258317"/>
                </a:lnTo>
                <a:lnTo>
                  <a:pt x="39656" y="261238"/>
                </a:lnTo>
                <a:lnTo>
                  <a:pt x="39596" y="267081"/>
                </a:lnTo>
                <a:lnTo>
                  <a:pt x="39369" y="275463"/>
                </a:lnTo>
                <a:lnTo>
                  <a:pt x="39231" y="287654"/>
                </a:lnTo>
                <a:lnTo>
                  <a:pt x="38988" y="300609"/>
                </a:lnTo>
                <a:lnTo>
                  <a:pt x="38854" y="316611"/>
                </a:lnTo>
                <a:lnTo>
                  <a:pt x="38607" y="333121"/>
                </a:lnTo>
                <a:lnTo>
                  <a:pt x="38350" y="371983"/>
                </a:lnTo>
                <a:lnTo>
                  <a:pt x="38100" y="392684"/>
                </a:lnTo>
                <a:lnTo>
                  <a:pt x="38100" y="393700"/>
                </a:lnTo>
                <a:lnTo>
                  <a:pt x="76200" y="393826"/>
                </a:lnTo>
                <a:lnTo>
                  <a:pt x="76454" y="371983"/>
                </a:lnTo>
                <a:lnTo>
                  <a:pt x="76454" y="352171"/>
                </a:lnTo>
                <a:lnTo>
                  <a:pt x="76711" y="333121"/>
                </a:lnTo>
                <a:lnTo>
                  <a:pt x="76843" y="316102"/>
                </a:lnTo>
                <a:lnTo>
                  <a:pt x="77088" y="301116"/>
                </a:lnTo>
                <a:lnTo>
                  <a:pt x="77230" y="287020"/>
                </a:lnTo>
                <a:lnTo>
                  <a:pt x="77499" y="275463"/>
                </a:lnTo>
                <a:lnTo>
                  <a:pt x="77596" y="267081"/>
                </a:lnTo>
                <a:lnTo>
                  <a:pt x="77724" y="263525"/>
                </a:lnTo>
                <a:lnTo>
                  <a:pt x="77850" y="261238"/>
                </a:lnTo>
                <a:lnTo>
                  <a:pt x="77944" y="259079"/>
                </a:lnTo>
                <a:lnTo>
                  <a:pt x="77724" y="259079"/>
                </a:lnTo>
                <a:lnTo>
                  <a:pt x="78105" y="256159"/>
                </a:lnTo>
                <a:lnTo>
                  <a:pt x="78257" y="256159"/>
                </a:lnTo>
                <a:lnTo>
                  <a:pt x="78358" y="254635"/>
                </a:lnTo>
                <a:lnTo>
                  <a:pt x="78692" y="251967"/>
                </a:lnTo>
                <a:lnTo>
                  <a:pt x="40386" y="251967"/>
                </a:lnTo>
                <a:lnTo>
                  <a:pt x="40494" y="250770"/>
                </a:lnTo>
                <a:close/>
              </a:path>
              <a:path w="114300" h="508000">
                <a:moveTo>
                  <a:pt x="78079" y="257403"/>
                </a:moveTo>
                <a:lnTo>
                  <a:pt x="77850" y="258317"/>
                </a:lnTo>
                <a:lnTo>
                  <a:pt x="77724" y="259079"/>
                </a:lnTo>
                <a:lnTo>
                  <a:pt x="77944" y="259079"/>
                </a:lnTo>
                <a:lnTo>
                  <a:pt x="77977" y="258317"/>
                </a:lnTo>
                <a:lnTo>
                  <a:pt x="78079" y="257403"/>
                </a:lnTo>
                <a:close/>
              </a:path>
              <a:path w="114300" h="508000">
                <a:moveTo>
                  <a:pt x="78105" y="256159"/>
                </a:moveTo>
                <a:lnTo>
                  <a:pt x="77805" y="258454"/>
                </a:lnTo>
                <a:lnTo>
                  <a:pt x="78079" y="257403"/>
                </a:lnTo>
                <a:lnTo>
                  <a:pt x="78105" y="256159"/>
                </a:lnTo>
                <a:close/>
              </a:path>
              <a:path w="114300" h="508000">
                <a:moveTo>
                  <a:pt x="78257" y="256159"/>
                </a:moveTo>
                <a:lnTo>
                  <a:pt x="78105" y="256159"/>
                </a:lnTo>
                <a:lnTo>
                  <a:pt x="78079" y="257403"/>
                </a:lnTo>
                <a:lnTo>
                  <a:pt x="78257" y="256159"/>
                </a:lnTo>
                <a:close/>
              </a:path>
              <a:path w="114300" h="508000">
                <a:moveTo>
                  <a:pt x="40893" y="249047"/>
                </a:moveTo>
                <a:lnTo>
                  <a:pt x="40656" y="249758"/>
                </a:lnTo>
                <a:lnTo>
                  <a:pt x="40639" y="250062"/>
                </a:lnTo>
                <a:lnTo>
                  <a:pt x="40512" y="250698"/>
                </a:lnTo>
                <a:lnTo>
                  <a:pt x="40386" y="251967"/>
                </a:lnTo>
                <a:lnTo>
                  <a:pt x="40893" y="249047"/>
                </a:lnTo>
                <a:close/>
              </a:path>
              <a:path w="114300" h="508000">
                <a:moveTo>
                  <a:pt x="78739" y="249047"/>
                </a:moveTo>
                <a:lnTo>
                  <a:pt x="40893" y="249047"/>
                </a:lnTo>
                <a:lnTo>
                  <a:pt x="40386" y="251967"/>
                </a:lnTo>
                <a:lnTo>
                  <a:pt x="78692" y="251967"/>
                </a:lnTo>
                <a:lnTo>
                  <a:pt x="78739" y="249047"/>
                </a:lnTo>
                <a:close/>
              </a:path>
              <a:path w="114300" h="508000">
                <a:moveTo>
                  <a:pt x="80771" y="0"/>
                </a:moveTo>
                <a:lnTo>
                  <a:pt x="42671" y="0"/>
                </a:lnTo>
                <a:lnTo>
                  <a:pt x="42544" y="70612"/>
                </a:lnTo>
                <a:lnTo>
                  <a:pt x="42290" y="115188"/>
                </a:lnTo>
                <a:lnTo>
                  <a:pt x="42289" y="136271"/>
                </a:lnTo>
                <a:lnTo>
                  <a:pt x="42037" y="155956"/>
                </a:lnTo>
                <a:lnTo>
                  <a:pt x="41778" y="191897"/>
                </a:lnTo>
                <a:lnTo>
                  <a:pt x="41524" y="207390"/>
                </a:lnTo>
                <a:lnTo>
                  <a:pt x="41390" y="220979"/>
                </a:lnTo>
                <a:lnTo>
                  <a:pt x="41000" y="237489"/>
                </a:lnTo>
                <a:lnTo>
                  <a:pt x="40767" y="244728"/>
                </a:lnTo>
                <a:lnTo>
                  <a:pt x="40656" y="249758"/>
                </a:lnTo>
                <a:lnTo>
                  <a:pt x="40893" y="249047"/>
                </a:lnTo>
                <a:lnTo>
                  <a:pt x="78739" y="249047"/>
                </a:lnTo>
                <a:lnTo>
                  <a:pt x="79120" y="237489"/>
                </a:lnTo>
                <a:lnTo>
                  <a:pt x="79120" y="232663"/>
                </a:lnTo>
                <a:lnTo>
                  <a:pt x="79506" y="220472"/>
                </a:lnTo>
                <a:lnTo>
                  <a:pt x="79637" y="206883"/>
                </a:lnTo>
                <a:lnTo>
                  <a:pt x="79882" y="191897"/>
                </a:lnTo>
                <a:lnTo>
                  <a:pt x="79882" y="174878"/>
                </a:lnTo>
                <a:lnTo>
                  <a:pt x="80390" y="136271"/>
                </a:lnTo>
                <a:lnTo>
                  <a:pt x="80391" y="115188"/>
                </a:lnTo>
                <a:lnTo>
                  <a:pt x="80644" y="70612"/>
                </a:lnTo>
                <a:lnTo>
                  <a:pt x="8077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13535" y="1817370"/>
            <a:ext cx="557530" cy="1484630"/>
          </a:xfrm>
          <a:custGeom>
            <a:avLst/>
            <a:gdLst/>
            <a:ahLst/>
            <a:cxnLst/>
            <a:rect l="l" t="t" r="r" b="b"/>
            <a:pathLst>
              <a:path w="557530" h="1484629">
                <a:moveTo>
                  <a:pt x="485632" y="101397"/>
                </a:moveTo>
                <a:lnTo>
                  <a:pt x="0" y="1471549"/>
                </a:lnTo>
                <a:lnTo>
                  <a:pt x="35814" y="1484376"/>
                </a:lnTo>
                <a:lnTo>
                  <a:pt x="521554" y="114148"/>
                </a:lnTo>
                <a:lnTo>
                  <a:pt x="485632" y="101397"/>
                </a:lnTo>
                <a:close/>
              </a:path>
              <a:path w="557530" h="1484629">
                <a:moveTo>
                  <a:pt x="552055" y="83438"/>
                </a:moveTo>
                <a:lnTo>
                  <a:pt x="491997" y="83438"/>
                </a:lnTo>
                <a:lnTo>
                  <a:pt x="527939" y="96138"/>
                </a:lnTo>
                <a:lnTo>
                  <a:pt x="521554" y="114148"/>
                </a:lnTo>
                <a:lnTo>
                  <a:pt x="557403" y="126872"/>
                </a:lnTo>
                <a:lnTo>
                  <a:pt x="552055" y="83438"/>
                </a:lnTo>
                <a:close/>
              </a:path>
              <a:path w="557530" h="1484629">
                <a:moveTo>
                  <a:pt x="491997" y="83438"/>
                </a:moveTo>
                <a:lnTo>
                  <a:pt x="485632" y="101397"/>
                </a:lnTo>
                <a:lnTo>
                  <a:pt x="521554" y="114148"/>
                </a:lnTo>
                <a:lnTo>
                  <a:pt x="527939" y="96138"/>
                </a:lnTo>
                <a:lnTo>
                  <a:pt x="491997" y="83438"/>
                </a:lnTo>
                <a:close/>
              </a:path>
              <a:path w="557530" h="1484629">
                <a:moveTo>
                  <a:pt x="541782" y="0"/>
                </a:moveTo>
                <a:lnTo>
                  <a:pt x="449707" y="88645"/>
                </a:lnTo>
                <a:lnTo>
                  <a:pt x="485632" y="101397"/>
                </a:lnTo>
                <a:lnTo>
                  <a:pt x="491997" y="83438"/>
                </a:lnTo>
                <a:lnTo>
                  <a:pt x="552055" y="83438"/>
                </a:lnTo>
                <a:lnTo>
                  <a:pt x="54178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31060" y="3228720"/>
            <a:ext cx="519430" cy="114300"/>
          </a:xfrm>
          <a:custGeom>
            <a:avLst/>
            <a:gdLst/>
            <a:ahLst/>
            <a:cxnLst/>
            <a:rect l="l" t="t" r="r" b="b"/>
            <a:pathLst>
              <a:path w="519430" h="114300">
                <a:moveTo>
                  <a:pt x="483538" y="37718"/>
                </a:moveTo>
                <a:lnTo>
                  <a:pt x="423799" y="37718"/>
                </a:lnTo>
                <a:lnTo>
                  <a:pt x="424688" y="75818"/>
                </a:lnTo>
                <a:lnTo>
                  <a:pt x="405596" y="76225"/>
                </a:lnTo>
                <a:lnTo>
                  <a:pt x="406400" y="114300"/>
                </a:lnTo>
                <a:lnTo>
                  <a:pt x="519430" y="54737"/>
                </a:lnTo>
                <a:lnTo>
                  <a:pt x="483538" y="37718"/>
                </a:lnTo>
                <a:close/>
              </a:path>
              <a:path w="519430" h="114300">
                <a:moveTo>
                  <a:pt x="404791" y="38129"/>
                </a:moveTo>
                <a:lnTo>
                  <a:pt x="0" y="46862"/>
                </a:lnTo>
                <a:lnTo>
                  <a:pt x="762" y="84836"/>
                </a:lnTo>
                <a:lnTo>
                  <a:pt x="405596" y="76225"/>
                </a:lnTo>
                <a:lnTo>
                  <a:pt x="404791" y="38129"/>
                </a:lnTo>
                <a:close/>
              </a:path>
              <a:path w="519430" h="114300">
                <a:moveTo>
                  <a:pt x="423799" y="37718"/>
                </a:moveTo>
                <a:lnTo>
                  <a:pt x="404791" y="38129"/>
                </a:lnTo>
                <a:lnTo>
                  <a:pt x="405596" y="76225"/>
                </a:lnTo>
                <a:lnTo>
                  <a:pt x="424688" y="75818"/>
                </a:lnTo>
                <a:lnTo>
                  <a:pt x="423799" y="37718"/>
                </a:lnTo>
                <a:close/>
              </a:path>
              <a:path w="519430" h="114300">
                <a:moveTo>
                  <a:pt x="403987" y="0"/>
                </a:moveTo>
                <a:lnTo>
                  <a:pt x="404791" y="38129"/>
                </a:lnTo>
                <a:lnTo>
                  <a:pt x="423799" y="37718"/>
                </a:lnTo>
                <a:lnTo>
                  <a:pt x="483538" y="37718"/>
                </a:lnTo>
                <a:lnTo>
                  <a:pt x="40398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614550" y="3285363"/>
            <a:ext cx="560070" cy="1050290"/>
          </a:xfrm>
          <a:custGeom>
            <a:avLst/>
            <a:gdLst/>
            <a:ahLst/>
            <a:cxnLst/>
            <a:rect l="l" t="t" r="r" b="b"/>
            <a:pathLst>
              <a:path w="560069" h="1050289">
                <a:moveTo>
                  <a:pt x="490077" y="957630"/>
                </a:moveTo>
                <a:lnTo>
                  <a:pt x="456311" y="975232"/>
                </a:lnTo>
                <a:lnTo>
                  <a:pt x="559816" y="1050163"/>
                </a:lnTo>
                <a:lnTo>
                  <a:pt x="558536" y="974470"/>
                </a:lnTo>
                <a:lnTo>
                  <a:pt x="498856" y="974470"/>
                </a:lnTo>
                <a:lnTo>
                  <a:pt x="490077" y="957630"/>
                </a:lnTo>
                <a:close/>
              </a:path>
              <a:path w="560069" h="1050289">
                <a:moveTo>
                  <a:pt x="523824" y="940038"/>
                </a:moveTo>
                <a:lnTo>
                  <a:pt x="490077" y="957630"/>
                </a:lnTo>
                <a:lnTo>
                  <a:pt x="498856" y="974470"/>
                </a:lnTo>
                <a:lnTo>
                  <a:pt x="532638" y="956944"/>
                </a:lnTo>
                <a:lnTo>
                  <a:pt x="523824" y="940038"/>
                </a:lnTo>
                <a:close/>
              </a:path>
              <a:path w="560069" h="1050289">
                <a:moveTo>
                  <a:pt x="557657" y="922401"/>
                </a:moveTo>
                <a:lnTo>
                  <a:pt x="523824" y="940038"/>
                </a:lnTo>
                <a:lnTo>
                  <a:pt x="532638" y="956944"/>
                </a:lnTo>
                <a:lnTo>
                  <a:pt x="498856" y="974470"/>
                </a:lnTo>
                <a:lnTo>
                  <a:pt x="558536" y="974470"/>
                </a:lnTo>
                <a:lnTo>
                  <a:pt x="557657" y="922401"/>
                </a:lnTo>
                <a:close/>
              </a:path>
              <a:path w="560069" h="1050289">
                <a:moveTo>
                  <a:pt x="33781" y="0"/>
                </a:moveTo>
                <a:lnTo>
                  <a:pt x="0" y="17525"/>
                </a:lnTo>
                <a:lnTo>
                  <a:pt x="490077" y="957630"/>
                </a:lnTo>
                <a:lnTo>
                  <a:pt x="523824" y="940038"/>
                </a:lnTo>
                <a:lnTo>
                  <a:pt x="3378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40379" y="1815845"/>
            <a:ext cx="1151255" cy="889000"/>
          </a:xfrm>
          <a:custGeom>
            <a:avLst/>
            <a:gdLst/>
            <a:ahLst/>
            <a:cxnLst/>
            <a:rect l="l" t="t" r="r" b="b"/>
            <a:pathLst>
              <a:path w="1151254" h="889000">
                <a:moveTo>
                  <a:pt x="38100" y="659002"/>
                </a:moveTo>
                <a:lnTo>
                  <a:pt x="0" y="661924"/>
                </a:lnTo>
                <a:lnTo>
                  <a:pt x="776" y="671829"/>
                </a:lnTo>
                <a:lnTo>
                  <a:pt x="1015" y="673862"/>
                </a:lnTo>
                <a:lnTo>
                  <a:pt x="1396" y="674877"/>
                </a:lnTo>
                <a:lnTo>
                  <a:pt x="3809" y="684783"/>
                </a:lnTo>
                <a:lnTo>
                  <a:pt x="22859" y="720216"/>
                </a:lnTo>
                <a:lnTo>
                  <a:pt x="54356" y="751839"/>
                </a:lnTo>
                <a:lnTo>
                  <a:pt x="96393" y="780541"/>
                </a:lnTo>
                <a:lnTo>
                  <a:pt x="147574" y="806576"/>
                </a:lnTo>
                <a:lnTo>
                  <a:pt x="186055" y="822325"/>
                </a:lnTo>
                <a:lnTo>
                  <a:pt x="227710" y="836676"/>
                </a:lnTo>
                <a:lnTo>
                  <a:pt x="272033" y="849629"/>
                </a:lnTo>
                <a:lnTo>
                  <a:pt x="318896" y="861059"/>
                </a:lnTo>
                <a:lnTo>
                  <a:pt x="367537" y="870712"/>
                </a:lnTo>
                <a:lnTo>
                  <a:pt x="417956" y="878458"/>
                </a:lnTo>
                <a:lnTo>
                  <a:pt x="469519" y="884301"/>
                </a:lnTo>
                <a:lnTo>
                  <a:pt x="522350" y="887856"/>
                </a:lnTo>
                <a:lnTo>
                  <a:pt x="575309" y="889000"/>
                </a:lnTo>
                <a:lnTo>
                  <a:pt x="602107" y="888364"/>
                </a:lnTo>
                <a:lnTo>
                  <a:pt x="655700" y="883412"/>
                </a:lnTo>
                <a:lnTo>
                  <a:pt x="708786" y="873505"/>
                </a:lnTo>
                <a:lnTo>
                  <a:pt x="760603" y="859281"/>
                </a:lnTo>
                <a:lnTo>
                  <a:pt x="784882" y="851026"/>
                </a:lnTo>
                <a:lnTo>
                  <a:pt x="575691" y="851026"/>
                </a:lnTo>
                <a:lnTo>
                  <a:pt x="550036" y="850645"/>
                </a:lnTo>
                <a:lnTo>
                  <a:pt x="498982" y="848359"/>
                </a:lnTo>
                <a:lnTo>
                  <a:pt x="423671" y="840739"/>
                </a:lnTo>
                <a:lnTo>
                  <a:pt x="374904" y="833374"/>
                </a:lnTo>
                <a:lnTo>
                  <a:pt x="327406" y="823976"/>
                </a:lnTo>
                <a:lnTo>
                  <a:pt x="282320" y="813053"/>
                </a:lnTo>
                <a:lnTo>
                  <a:pt x="239648" y="800480"/>
                </a:lnTo>
                <a:lnTo>
                  <a:pt x="199897" y="786891"/>
                </a:lnTo>
                <a:lnTo>
                  <a:pt x="163575" y="771905"/>
                </a:lnTo>
                <a:lnTo>
                  <a:pt x="116331" y="748029"/>
                </a:lnTo>
                <a:lnTo>
                  <a:pt x="79375" y="723011"/>
                </a:lnTo>
                <a:lnTo>
                  <a:pt x="48259" y="690371"/>
                </a:lnTo>
                <a:lnTo>
                  <a:pt x="39051" y="668781"/>
                </a:lnTo>
                <a:lnTo>
                  <a:pt x="38862" y="668781"/>
                </a:lnTo>
                <a:lnTo>
                  <a:pt x="38226" y="665606"/>
                </a:lnTo>
                <a:lnTo>
                  <a:pt x="38614" y="665606"/>
                </a:lnTo>
                <a:lnTo>
                  <a:pt x="38100" y="659002"/>
                </a:lnTo>
                <a:close/>
              </a:path>
              <a:path w="1151254" h="889000">
                <a:moveTo>
                  <a:pt x="1012243" y="81466"/>
                </a:moveTo>
                <a:lnTo>
                  <a:pt x="1034415" y="115824"/>
                </a:lnTo>
                <a:lnTo>
                  <a:pt x="1056132" y="159003"/>
                </a:lnTo>
                <a:lnTo>
                  <a:pt x="1075055" y="207517"/>
                </a:lnTo>
                <a:lnTo>
                  <a:pt x="1095247" y="278891"/>
                </a:lnTo>
                <a:lnTo>
                  <a:pt x="1102741" y="316864"/>
                </a:lnTo>
                <a:lnTo>
                  <a:pt x="1108329" y="355726"/>
                </a:lnTo>
                <a:lnTo>
                  <a:pt x="1111631" y="395096"/>
                </a:lnTo>
                <a:lnTo>
                  <a:pt x="1112900" y="434213"/>
                </a:lnTo>
                <a:lnTo>
                  <a:pt x="1112139" y="453136"/>
                </a:lnTo>
                <a:lnTo>
                  <a:pt x="1106423" y="491108"/>
                </a:lnTo>
                <a:lnTo>
                  <a:pt x="1094994" y="528827"/>
                </a:lnTo>
                <a:lnTo>
                  <a:pt x="1078230" y="566165"/>
                </a:lnTo>
                <a:lnTo>
                  <a:pt x="1056640" y="602614"/>
                </a:lnTo>
                <a:lnTo>
                  <a:pt x="1030223" y="638048"/>
                </a:lnTo>
                <a:lnTo>
                  <a:pt x="999744" y="671829"/>
                </a:lnTo>
                <a:lnTo>
                  <a:pt x="965072" y="703706"/>
                </a:lnTo>
                <a:lnTo>
                  <a:pt x="927354" y="733298"/>
                </a:lnTo>
                <a:lnTo>
                  <a:pt x="886332" y="760349"/>
                </a:lnTo>
                <a:lnTo>
                  <a:pt x="842898" y="784605"/>
                </a:lnTo>
                <a:lnTo>
                  <a:pt x="797306" y="805433"/>
                </a:lnTo>
                <a:lnTo>
                  <a:pt x="749681" y="822832"/>
                </a:lnTo>
                <a:lnTo>
                  <a:pt x="700912" y="836167"/>
                </a:lnTo>
                <a:lnTo>
                  <a:pt x="651256" y="845565"/>
                </a:lnTo>
                <a:lnTo>
                  <a:pt x="601091" y="850264"/>
                </a:lnTo>
                <a:lnTo>
                  <a:pt x="575691" y="851026"/>
                </a:lnTo>
                <a:lnTo>
                  <a:pt x="784882" y="851026"/>
                </a:lnTo>
                <a:lnTo>
                  <a:pt x="835406" y="830452"/>
                </a:lnTo>
                <a:lnTo>
                  <a:pt x="882777" y="806576"/>
                </a:lnTo>
                <a:lnTo>
                  <a:pt x="927481" y="779399"/>
                </a:lnTo>
                <a:lnTo>
                  <a:pt x="969518" y="749300"/>
                </a:lnTo>
                <a:lnTo>
                  <a:pt x="1008125" y="716533"/>
                </a:lnTo>
                <a:lnTo>
                  <a:pt x="1043178" y="681227"/>
                </a:lnTo>
                <a:lnTo>
                  <a:pt x="1073911" y="644016"/>
                </a:lnTo>
                <a:lnTo>
                  <a:pt x="1100200" y="604901"/>
                </a:lnTo>
                <a:lnTo>
                  <a:pt x="1121536" y="564261"/>
                </a:lnTo>
                <a:lnTo>
                  <a:pt x="1137539" y="522224"/>
                </a:lnTo>
                <a:lnTo>
                  <a:pt x="1147445" y="479298"/>
                </a:lnTo>
                <a:lnTo>
                  <a:pt x="1151000" y="435863"/>
                </a:lnTo>
                <a:lnTo>
                  <a:pt x="1150746" y="414400"/>
                </a:lnTo>
                <a:lnTo>
                  <a:pt x="1148333" y="372744"/>
                </a:lnTo>
                <a:lnTo>
                  <a:pt x="1140459" y="311403"/>
                </a:lnTo>
                <a:lnTo>
                  <a:pt x="1132585" y="271652"/>
                </a:lnTo>
                <a:lnTo>
                  <a:pt x="1122933" y="233044"/>
                </a:lnTo>
                <a:lnTo>
                  <a:pt x="1111504" y="196214"/>
                </a:lnTo>
                <a:lnTo>
                  <a:pt x="1091066" y="143890"/>
                </a:lnTo>
                <a:lnTo>
                  <a:pt x="1067943" y="97536"/>
                </a:lnTo>
                <a:lnTo>
                  <a:pt x="1059268" y="83057"/>
                </a:lnTo>
                <a:lnTo>
                  <a:pt x="1014221" y="83057"/>
                </a:lnTo>
                <a:lnTo>
                  <a:pt x="1012243" y="81466"/>
                </a:lnTo>
                <a:close/>
              </a:path>
              <a:path w="1151254" h="889000">
                <a:moveTo>
                  <a:pt x="38226" y="665606"/>
                </a:moveTo>
                <a:lnTo>
                  <a:pt x="38862" y="668781"/>
                </a:lnTo>
                <a:lnTo>
                  <a:pt x="38780" y="667738"/>
                </a:lnTo>
                <a:lnTo>
                  <a:pt x="38226" y="665606"/>
                </a:lnTo>
                <a:close/>
              </a:path>
              <a:path w="1151254" h="889000">
                <a:moveTo>
                  <a:pt x="38780" y="667738"/>
                </a:moveTo>
                <a:lnTo>
                  <a:pt x="38862" y="668781"/>
                </a:lnTo>
                <a:lnTo>
                  <a:pt x="39051" y="668781"/>
                </a:lnTo>
                <a:lnTo>
                  <a:pt x="38780" y="667738"/>
                </a:lnTo>
                <a:close/>
              </a:path>
              <a:path w="1151254" h="889000">
                <a:moveTo>
                  <a:pt x="38614" y="665606"/>
                </a:moveTo>
                <a:lnTo>
                  <a:pt x="38226" y="665606"/>
                </a:lnTo>
                <a:lnTo>
                  <a:pt x="38780" y="667738"/>
                </a:lnTo>
                <a:lnTo>
                  <a:pt x="38614" y="665606"/>
                </a:lnTo>
                <a:close/>
              </a:path>
              <a:path w="1151254" h="889000">
                <a:moveTo>
                  <a:pt x="922400" y="0"/>
                </a:moveTo>
                <a:lnTo>
                  <a:pt x="989710" y="108584"/>
                </a:lnTo>
                <a:lnTo>
                  <a:pt x="1008350" y="78334"/>
                </a:lnTo>
                <a:lnTo>
                  <a:pt x="991489" y="64769"/>
                </a:lnTo>
                <a:lnTo>
                  <a:pt x="1015492" y="35178"/>
                </a:lnTo>
                <a:lnTo>
                  <a:pt x="1034942" y="35178"/>
                </a:lnTo>
                <a:lnTo>
                  <a:pt x="1049655" y="11302"/>
                </a:lnTo>
                <a:lnTo>
                  <a:pt x="922400" y="0"/>
                </a:lnTo>
                <a:close/>
              </a:path>
              <a:path w="1151254" h="889000">
                <a:moveTo>
                  <a:pt x="1010666" y="79248"/>
                </a:moveTo>
                <a:lnTo>
                  <a:pt x="1012243" y="81466"/>
                </a:lnTo>
                <a:lnTo>
                  <a:pt x="1014221" y="83057"/>
                </a:lnTo>
                <a:lnTo>
                  <a:pt x="1010666" y="79248"/>
                </a:lnTo>
                <a:close/>
              </a:path>
              <a:path w="1151254" h="889000">
                <a:moveTo>
                  <a:pt x="1056788" y="79248"/>
                </a:moveTo>
                <a:lnTo>
                  <a:pt x="1010666" y="79248"/>
                </a:lnTo>
                <a:lnTo>
                  <a:pt x="1014221" y="83057"/>
                </a:lnTo>
                <a:lnTo>
                  <a:pt x="1059268" y="83057"/>
                </a:lnTo>
                <a:lnTo>
                  <a:pt x="1056788" y="79248"/>
                </a:lnTo>
                <a:close/>
              </a:path>
              <a:path w="1151254" h="889000">
                <a:moveTo>
                  <a:pt x="1028496" y="45640"/>
                </a:moveTo>
                <a:lnTo>
                  <a:pt x="1008350" y="78334"/>
                </a:lnTo>
                <a:lnTo>
                  <a:pt x="1012243" y="81466"/>
                </a:lnTo>
                <a:lnTo>
                  <a:pt x="1010666" y="79248"/>
                </a:lnTo>
                <a:lnTo>
                  <a:pt x="1056788" y="79248"/>
                </a:lnTo>
                <a:lnTo>
                  <a:pt x="1038224" y="53466"/>
                </a:lnTo>
                <a:lnTo>
                  <a:pt x="1028496" y="45640"/>
                </a:lnTo>
                <a:close/>
              </a:path>
              <a:path w="1151254" h="889000">
                <a:moveTo>
                  <a:pt x="1015492" y="35178"/>
                </a:moveTo>
                <a:lnTo>
                  <a:pt x="991489" y="64769"/>
                </a:lnTo>
                <a:lnTo>
                  <a:pt x="1008350" y="78334"/>
                </a:lnTo>
                <a:lnTo>
                  <a:pt x="1028496" y="45640"/>
                </a:lnTo>
                <a:lnTo>
                  <a:pt x="1015492" y="35178"/>
                </a:lnTo>
                <a:close/>
              </a:path>
              <a:path w="1151254" h="889000">
                <a:moveTo>
                  <a:pt x="1034942" y="35178"/>
                </a:moveTo>
                <a:lnTo>
                  <a:pt x="1015492" y="35178"/>
                </a:lnTo>
                <a:lnTo>
                  <a:pt x="1028496" y="45640"/>
                </a:lnTo>
                <a:lnTo>
                  <a:pt x="1034942" y="3517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0"/>
            <a:ext cx="8794750" cy="10414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900"/>
              </a:spcBef>
              <a:tabLst>
                <a:tab pos="707390" algn="l"/>
                <a:tab pos="2045335" algn="l"/>
                <a:tab pos="2554605" algn="l"/>
                <a:tab pos="5767070" algn="l"/>
                <a:tab pos="65303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从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项目集规范</a:t>
            </a:r>
            <a:r>
              <a:rPr dirty="0" u="heavy" sz="30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族</a:t>
            </a:r>
            <a:r>
              <a:rPr dirty="0" u="heavy" sz="3000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和</a:t>
            </a:r>
            <a:r>
              <a:rPr dirty="0" u="heavy" sz="3000" spc="-1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GO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函数构</a:t>
            </a:r>
            <a:r>
              <a:rPr dirty="0" u="heavy" sz="30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造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分析表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841" y="991057"/>
            <a:ext cx="1659255" cy="56197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41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0076" y="1030681"/>
            <a:ext cx="31089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349" y="1519943"/>
            <a:ext cx="7824470" cy="509841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4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输入：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目集规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范族</a:t>
            </a:r>
            <a:endParaRPr sz="3200">
              <a:latin typeface="宋体"/>
              <a:cs typeface="宋体"/>
            </a:endParaRPr>
          </a:p>
          <a:p>
            <a:pPr marL="1257300">
              <a:lnSpc>
                <a:spcPct val="100000"/>
              </a:lnSpc>
              <a:spcBef>
                <a:spcPts val="115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GO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endParaRPr sz="3200">
              <a:latin typeface="宋体"/>
              <a:cs typeface="宋体"/>
            </a:endParaRPr>
          </a:p>
          <a:p>
            <a:pPr marL="38100" marR="2771775">
              <a:lnSpc>
                <a:spcPct val="130000"/>
              </a:lnSpc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输出：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析表 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方法：</a:t>
            </a:r>
            <a:endParaRPr sz="3200">
              <a:latin typeface="宋体"/>
              <a:cs typeface="宋体"/>
            </a:endParaRPr>
          </a:p>
          <a:p>
            <a:pPr marL="446405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spc="-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｝，每个项目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endParaRPr baseline="-25132" sz="3150">
              <a:latin typeface="Times New Roman"/>
              <a:cs typeface="Times New Roman"/>
            </a:endParaRPr>
          </a:p>
          <a:p>
            <a:pPr marL="518159">
              <a:lnSpc>
                <a:spcPct val="100000"/>
              </a:lnSpc>
              <a:spcBef>
                <a:spcPts val="115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作为分析器的状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748030" marR="1557655" indent="-709295">
              <a:lnSpc>
                <a:spcPts val="4990"/>
              </a:lnSpc>
              <a:spcBef>
                <a:spcPts val="36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3200" spc="76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9841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baseline="-19841" sz="3150" spc="-7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7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baseline="-25132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-1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350" spc="-2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1164" sz="3150" spc="-3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则置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25132" sz="3150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-89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31035" algn="l"/>
                <a:tab pos="2440305" algn="l"/>
                <a:tab pos="5652770" algn="l"/>
                <a:tab pos="64160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721233"/>
            <a:ext cx="1759585" cy="561340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41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8457" y="760857"/>
            <a:ext cx="45332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3200" spc="-1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231" y="1224369"/>
            <a:ext cx="7876540" cy="455993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661670" marR="2248535" indent="-623570">
              <a:lnSpc>
                <a:spcPct val="141900"/>
              </a:lnSpc>
              <a:spcBef>
                <a:spcPts val="175"/>
              </a:spcBef>
              <a:tabLst>
                <a:tab pos="662940" algn="l"/>
              </a:tabLst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②	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baseline="-25525" sz="2775" spc="3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7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525" sz="2775" spc="-1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950" spc="-25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3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则置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1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216535" marR="30480" indent="-179070">
              <a:lnSpc>
                <a:spcPts val="4870"/>
              </a:lnSpc>
              <a:spcBef>
                <a:spcPts val="42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③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·∈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22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则对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所有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终结符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和结束符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“＃”，置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5525" sz="2775" spc="-7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7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5525" sz="2775" spc="-7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94970">
              <a:lnSpc>
                <a:spcPct val="100000"/>
              </a:lnSpc>
              <a:spcBef>
                <a:spcPts val="11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其中假设产生式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是文法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2800" spc="-6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个产生式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  <a:spcBef>
                <a:spcPts val="1650"/>
              </a:spcBef>
              <a:tabLst>
                <a:tab pos="664210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④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1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54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⑤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表中空白置出错标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761" y="2439161"/>
            <a:ext cx="744220" cy="914400"/>
          </a:xfrm>
          <a:custGeom>
            <a:avLst/>
            <a:gdLst/>
            <a:ahLst/>
            <a:cxnLst/>
            <a:rect l="l" t="t" r="r" b="b"/>
            <a:pathLst>
              <a:path w="744220" h="914400">
                <a:moveTo>
                  <a:pt x="0" y="457200"/>
                </a:moveTo>
                <a:lnTo>
                  <a:pt x="2501" y="403886"/>
                </a:lnTo>
                <a:lnTo>
                  <a:pt x="9821" y="352377"/>
                </a:lnTo>
                <a:lnTo>
                  <a:pt x="21679" y="303016"/>
                </a:lnTo>
                <a:lnTo>
                  <a:pt x="37797" y="256147"/>
                </a:lnTo>
                <a:lnTo>
                  <a:pt x="57896" y="212113"/>
                </a:lnTo>
                <a:lnTo>
                  <a:pt x="81696" y="171256"/>
                </a:lnTo>
                <a:lnTo>
                  <a:pt x="108918" y="133921"/>
                </a:lnTo>
                <a:lnTo>
                  <a:pt x="139283" y="100450"/>
                </a:lnTo>
                <a:lnTo>
                  <a:pt x="172513" y="71187"/>
                </a:lnTo>
                <a:lnTo>
                  <a:pt x="208328" y="46475"/>
                </a:lnTo>
                <a:lnTo>
                  <a:pt x="246448" y="26657"/>
                </a:lnTo>
                <a:lnTo>
                  <a:pt x="286596" y="12076"/>
                </a:lnTo>
                <a:lnTo>
                  <a:pt x="328491" y="3076"/>
                </a:lnTo>
                <a:lnTo>
                  <a:pt x="371855" y="0"/>
                </a:lnTo>
                <a:lnTo>
                  <a:pt x="415220" y="3076"/>
                </a:lnTo>
                <a:lnTo>
                  <a:pt x="457115" y="12076"/>
                </a:lnTo>
                <a:lnTo>
                  <a:pt x="497263" y="26657"/>
                </a:lnTo>
                <a:lnTo>
                  <a:pt x="535383" y="46475"/>
                </a:lnTo>
                <a:lnTo>
                  <a:pt x="571198" y="71187"/>
                </a:lnTo>
                <a:lnTo>
                  <a:pt x="604428" y="100450"/>
                </a:lnTo>
                <a:lnTo>
                  <a:pt x="634793" y="133921"/>
                </a:lnTo>
                <a:lnTo>
                  <a:pt x="662015" y="171256"/>
                </a:lnTo>
                <a:lnTo>
                  <a:pt x="685815" y="212113"/>
                </a:lnTo>
                <a:lnTo>
                  <a:pt x="705914" y="256147"/>
                </a:lnTo>
                <a:lnTo>
                  <a:pt x="722032" y="303016"/>
                </a:lnTo>
                <a:lnTo>
                  <a:pt x="733890" y="352377"/>
                </a:lnTo>
                <a:lnTo>
                  <a:pt x="741210" y="403886"/>
                </a:lnTo>
                <a:lnTo>
                  <a:pt x="743712" y="457200"/>
                </a:lnTo>
                <a:lnTo>
                  <a:pt x="741210" y="510513"/>
                </a:lnTo>
                <a:lnTo>
                  <a:pt x="733890" y="562022"/>
                </a:lnTo>
                <a:lnTo>
                  <a:pt x="722032" y="611383"/>
                </a:lnTo>
                <a:lnTo>
                  <a:pt x="705914" y="658252"/>
                </a:lnTo>
                <a:lnTo>
                  <a:pt x="685815" y="702286"/>
                </a:lnTo>
                <a:lnTo>
                  <a:pt x="662015" y="743143"/>
                </a:lnTo>
                <a:lnTo>
                  <a:pt x="634793" y="780478"/>
                </a:lnTo>
                <a:lnTo>
                  <a:pt x="604428" y="813949"/>
                </a:lnTo>
                <a:lnTo>
                  <a:pt x="571198" y="843212"/>
                </a:lnTo>
                <a:lnTo>
                  <a:pt x="535383" y="867924"/>
                </a:lnTo>
                <a:lnTo>
                  <a:pt x="497263" y="887742"/>
                </a:lnTo>
                <a:lnTo>
                  <a:pt x="457115" y="902323"/>
                </a:lnTo>
                <a:lnTo>
                  <a:pt x="415220" y="911323"/>
                </a:lnTo>
                <a:lnTo>
                  <a:pt x="371855" y="914400"/>
                </a:lnTo>
                <a:lnTo>
                  <a:pt x="328491" y="911323"/>
                </a:lnTo>
                <a:lnTo>
                  <a:pt x="286596" y="902323"/>
                </a:lnTo>
                <a:lnTo>
                  <a:pt x="246448" y="887742"/>
                </a:lnTo>
                <a:lnTo>
                  <a:pt x="208328" y="867924"/>
                </a:lnTo>
                <a:lnTo>
                  <a:pt x="172513" y="843212"/>
                </a:lnTo>
                <a:lnTo>
                  <a:pt x="139283" y="813949"/>
                </a:lnTo>
                <a:lnTo>
                  <a:pt x="108918" y="780478"/>
                </a:lnTo>
                <a:lnTo>
                  <a:pt x="81696" y="743143"/>
                </a:lnTo>
                <a:lnTo>
                  <a:pt x="57896" y="702286"/>
                </a:lnTo>
                <a:lnTo>
                  <a:pt x="37797" y="658252"/>
                </a:lnTo>
                <a:lnTo>
                  <a:pt x="21679" y="611383"/>
                </a:lnTo>
                <a:lnTo>
                  <a:pt x="9821" y="562022"/>
                </a:lnTo>
                <a:lnTo>
                  <a:pt x="2501" y="510513"/>
                </a:lnTo>
                <a:lnTo>
                  <a:pt x="0" y="457200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1140" y="0"/>
            <a:ext cx="8718550" cy="1099820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75"/>
              </a:spcBef>
              <a:tabLst>
                <a:tab pos="631190" algn="l"/>
                <a:tab pos="1969135" algn="l"/>
                <a:tab pos="2478405" algn="l"/>
                <a:tab pos="5690870" algn="l"/>
                <a:tab pos="64541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对例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5.12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的文法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目集规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范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族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为：</a:t>
            </a:r>
            <a:endParaRPr sz="26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59562" y="2957512"/>
          <a:ext cx="2087880" cy="3152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175"/>
                <a:gridCol w="549275"/>
                <a:gridCol w="473075"/>
                <a:gridCol w="511175"/>
              </a:tblGrid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474333" y="2373883"/>
            <a:ext cx="18846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GO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函数：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4203" y="2251710"/>
            <a:ext cx="2940050" cy="0"/>
          </a:xfrm>
          <a:custGeom>
            <a:avLst/>
            <a:gdLst/>
            <a:ahLst/>
            <a:cxnLst/>
            <a:rect l="l" t="t" r="r" b="b"/>
            <a:pathLst>
              <a:path w="2940050" h="0">
                <a:moveTo>
                  <a:pt x="0" y="0"/>
                </a:moveTo>
                <a:lnTo>
                  <a:pt x="2939796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10553" y="1195069"/>
            <a:ext cx="0" cy="1050290"/>
          </a:xfrm>
          <a:custGeom>
            <a:avLst/>
            <a:gdLst/>
            <a:ahLst/>
            <a:cxnLst/>
            <a:rect l="l" t="t" r="r" b="b"/>
            <a:pathLst>
              <a:path w="0" h="1050289">
                <a:moveTo>
                  <a:pt x="0" y="0"/>
                </a:moveTo>
                <a:lnTo>
                  <a:pt x="0" y="1050289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04203" y="1188719"/>
            <a:ext cx="2940050" cy="0"/>
          </a:xfrm>
          <a:custGeom>
            <a:avLst/>
            <a:gdLst/>
            <a:ahLst/>
            <a:cxnLst/>
            <a:rect l="l" t="t" r="r" b="b"/>
            <a:pathLst>
              <a:path w="2940050" h="0">
                <a:moveTo>
                  <a:pt x="0" y="0"/>
                </a:moveTo>
                <a:lnTo>
                  <a:pt x="2939796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29603" y="2219960"/>
            <a:ext cx="2914650" cy="0"/>
          </a:xfrm>
          <a:custGeom>
            <a:avLst/>
            <a:gdLst/>
            <a:ahLst/>
            <a:cxnLst/>
            <a:rect l="l" t="t" r="r" b="b"/>
            <a:pathLst>
              <a:path w="2914650" h="0">
                <a:moveTo>
                  <a:pt x="0" y="0"/>
                </a:moveTo>
                <a:lnTo>
                  <a:pt x="2914396" y="0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42303" y="1233169"/>
            <a:ext cx="0" cy="974090"/>
          </a:xfrm>
          <a:custGeom>
            <a:avLst/>
            <a:gdLst/>
            <a:ahLst/>
            <a:cxnLst/>
            <a:rect l="l" t="t" r="r" b="b"/>
            <a:pathLst>
              <a:path w="0" h="974089">
                <a:moveTo>
                  <a:pt x="0" y="0"/>
                </a:moveTo>
                <a:lnTo>
                  <a:pt x="0" y="974089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29603" y="1220469"/>
            <a:ext cx="2914650" cy="0"/>
          </a:xfrm>
          <a:custGeom>
            <a:avLst/>
            <a:gdLst/>
            <a:ahLst/>
            <a:cxnLst/>
            <a:rect l="l" t="t" r="r" b="b"/>
            <a:pathLst>
              <a:path w="2914650" h="0">
                <a:moveTo>
                  <a:pt x="0" y="0"/>
                </a:moveTo>
                <a:lnTo>
                  <a:pt x="2914396" y="0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67703" y="2188210"/>
            <a:ext cx="2876550" cy="0"/>
          </a:xfrm>
          <a:custGeom>
            <a:avLst/>
            <a:gdLst/>
            <a:ahLst/>
            <a:cxnLst/>
            <a:rect l="l" t="t" r="r" b="b"/>
            <a:pathLst>
              <a:path w="2876550" h="0">
                <a:moveTo>
                  <a:pt x="0" y="0"/>
                </a:moveTo>
                <a:lnTo>
                  <a:pt x="2876296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74053" y="1258569"/>
            <a:ext cx="0" cy="923290"/>
          </a:xfrm>
          <a:custGeom>
            <a:avLst/>
            <a:gdLst/>
            <a:ahLst/>
            <a:cxnLst/>
            <a:rect l="l" t="t" r="r" b="b"/>
            <a:pathLst>
              <a:path w="0" h="923289">
                <a:moveTo>
                  <a:pt x="0" y="0"/>
                </a:moveTo>
                <a:lnTo>
                  <a:pt x="0" y="923289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67703" y="1252219"/>
            <a:ext cx="2876550" cy="0"/>
          </a:xfrm>
          <a:custGeom>
            <a:avLst/>
            <a:gdLst/>
            <a:ahLst/>
            <a:cxnLst/>
            <a:rect l="l" t="t" r="r" b="b"/>
            <a:pathLst>
              <a:path w="2876550" h="0">
                <a:moveTo>
                  <a:pt x="0" y="0"/>
                </a:moveTo>
                <a:lnTo>
                  <a:pt x="2876296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321933" y="1063941"/>
            <a:ext cx="2458720" cy="114109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①｜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7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0540" y="940395"/>
            <a:ext cx="5285105" cy="25146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385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0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：｛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4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2400" spc="-2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2400">
              <a:latin typeface="宋体"/>
              <a:cs typeface="宋体"/>
            </a:endParaRPr>
          </a:p>
          <a:p>
            <a:pPr marL="39370">
              <a:lnSpc>
                <a:spcPct val="100000"/>
              </a:lnSpc>
              <a:spcBef>
                <a:spcPts val="285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： 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4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2400" spc="-3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·｝</a:t>
            </a:r>
            <a:endParaRPr sz="24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spc="-8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endParaRPr sz="2400">
              <a:latin typeface="宋体"/>
              <a:cs typeface="宋体"/>
            </a:endParaRPr>
          </a:p>
          <a:p>
            <a:pPr marL="39370">
              <a:lnSpc>
                <a:spcPct val="100000"/>
              </a:lnSpc>
              <a:spcBef>
                <a:spcPts val="285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3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spc="-7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·｝</a:t>
            </a:r>
            <a:endParaRPr sz="2400">
              <a:latin typeface="宋体"/>
              <a:cs typeface="宋体"/>
            </a:endParaRPr>
          </a:p>
          <a:p>
            <a:pPr marL="39370">
              <a:lnSpc>
                <a:spcPts val="2840"/>
              </a:lnSpc>
              <a:spcBef>
                <a:spcPts val="290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4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spc="-7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·｝</a:t>
            </a:r>
            <a:endParaRPr sz="2400">
              <a:latin typeface="宋体"/>
              <a:cs typeface="宋体"/>
            </a:endParaRPr>
          </a:p>
          <a:p>
            <a:pPr marL="330200">
              <a:lnSpc>
                <a:spcPts val="3800"/>
              </a:lnSpc>
            </a:pP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分析表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51788" y="5762246"/>
            <a:ext cx="3112769" cy="10934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23265" y="3508247"/>
          <a:ext cx="5822950" cy="3310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235"/>
                <a:gridCol w="1008380"/>
                <a:gridCol w="1010920"/>
                <a:gridCol w="991235"/>
                <a:gridCol w="988060"/>
                <a:gridCol w="1666875"/>
              </a:tblGrid>
              <a:tr h="524256">
                <a:tc gridSpan="2" rowSpan="2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1939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6379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800" spc="-1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2800" spc="-15" b="1">
                          <a:solidFill>
                            <a:srgbClr val="00FF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1270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800" spc="-2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dirty="0" sz="2800" spc="-15" b="1">
                          <a:solidFill>
                            <a:srgbClr val="00FF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1270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54151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46379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ts val="322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ts val="322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5725">
                        <a:lnSpc>
                          <a:spcPts val="32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ts val="322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35101">
                <a:tc gridSpan="2">
                  <a:txBody>
                    <a:bodyPr/>
                    <a:lstStyle/>
                    <a:p>
                      <a:pPr algn="ctr" marL="99695">
                        <a:lnSpc>
                          <a:spcPts val="329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7655">
                        <a:lnSpc>
                          <a:spcPts val="30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9240">
                        <a:lnSpc>
                          <a:spcPts val="30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925">
                        <a:lnSpc>
                          <a:spcPts val="315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59486">
                <a:tc gridSpan="2">
                  <a:txBody>
                    <a:bodyPr/>
                    <a:lstStyle/>
                    <a:p>
                      <a:pPr algn="ctr" marL="99060">
                        <a:lnSpc>
                          <a:spcPts val="352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4629">
                        <a:lnSpc>
                          <a:spcPts val="291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80822">
                <a:tc gridSpan="2">
                  <a:txBody>
                    <a:bodyPr/>
                    <a:lstStyle/>
                    <a:p>
                      <a:pPr algn="ctr" marL="99060">
                        <a:lnSpc>
                          <a:spcPts val="3595"/>
                        </a:lnSpc>
                        <a:spcBef>
                          <a:spcPts val="9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ts val="318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2575">
                        <a:lnSpc>
                          <a:spcPts val="318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5775">
                        <a:lnSpc>
                          <a:spcPts val="3329"/>
                        </a:lnSpc>
                        <a:spcBef>
                          <a:spcPts val="35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29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54"/>
                        </a:lnSpc>
                        <a:spcBef>
                          <a:spcPts val="14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ts val="31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ts val="31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1140">
                        <a:lnSpc>
                          <a:spcPts val="31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2290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762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40"/>
                        </a:lnSpc>
                        <a:spcBef>
                          <a:spcPts val="8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5755">
                        <a:lnSpc>
                          <a:spcPts val="3229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8925">
                        <a:lnSpc>
                          <a:spcPts val="3229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0340">
                        <a:lnSpc>
                          <a:spcPts val="3229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latin typeface="Times New Roman"/>
                <a:cs typeface="Times New Roman"/>
              </a:rPr>
              <a:t>5.1	</a:t>
            </a:r>
            <a:r>
              <a:rPr dirty="0" spc="-10"/>
              <a:t>“移近</a:t>
            </a:r>
            <a:r>
              <a:rPr dirty="0" spc="-10">
                <a:latin typeface="Times New Roman"/>
                <a:cs typeface="Times New Roman"/>
              </a:rPr>
              <a:t>—</a:t>
            </a:r>
            <a:r>
              <a:rPr dirty="0" spc="-10"/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5654040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7244" indent="-803910">
              <a:lnSpc>
                <a:spcPct val="100000"/>
              </a:lnSpc>
              <a:spcBef>
                <a:spcPts val="1275"/>
              </a:spcBef>
              <a:buFont typeface="Times New Roman"/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分析鸟瞰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Clr>
                <a:srgbClr val="FFFF00"/>
              </a:buClr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5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73473" y="3185922"/>
            <a:ext cx="1562100" cy="536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73473" y="3185922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7"/>
                </a:lnTo>
                <a:lnTo>
                  <a:pt x="0" y="26822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1070" y="26923"/>
            <a:ext cx="766190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0805" algn="l"/>
                <a:tab pos="4643120" algn="l"/>
                <a:tab pos="54051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-825" b="1">
                <a:solidFill>
                  <a:srgbClr val="A15100"/>
                </a:solidFill>
                <a:latin typeface="Times New Roman"/>
                <a:cs typeface="Times New Roman"/>
              </a:rPr>
              <a:t>R</a:t>
            </a:r>
            <a:r>
              <a:rPr dirty="0" baseline="2777" sz="3000" spc="-930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spc="-139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baseline="2777" sz="3000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baseline="2777" sz="3000" spc="-1087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-30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baseline="2777" sz="3000" spc="-2542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spc="-305" b="1">
                <a:solidFill>
                  <a:srgbClr val="A15100"/>
                </a:solidFill>
                <a:latin typeface="宋体"/>
                <a:cs typeface="宋体"/>
              </a:rPr>
              <a:t>鸟</a:t>
            </a:r>
            <a:r>
              <a:rPr dirty="0" baseline="2777" sz="3000" spc="-2542" b="1">
                <a:solidFill>
                  <a:srgbClr val="A15100"/>
                </a:solidFill>
                <a:latin typeface="华文新魏"/>
                <a:cs typeface="华文新魏"/>
              </a:rPr>
              <a:t>法</a:t>
            </a:r>
            <a:r>
              <a:rPr dirty="0" sz="2000" spc="-320" b="1">
                <a:solidFill>
                  <a:srgbClr val="A15100"/>
                </a:solidFill>
                <a:latin typeface="宋体"/>
                <a:cs typeface="宋体"/>
              </a:rPr>
              <a:t>瞰</a:t>
            </a:r>
            <a:r>
              <a:rPr dirty="0" baseline="2777" sz="30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r>
              <a:rPr dirty="0" baseline="2777" sz="3000" b="1">
                <a:solidFill>
                  <a:srgbClr val="A15100"/>
                </a:solidFill>
                <a:latin typeface="华文新魏"/>
                <a:cs typeface="华文新魏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38452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12058" y="26923"/>
            <a:ext cx="44818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析表的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4850" y="1049223"/>
            <a:ext cx="848677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39875" algn="l"/>
              </a:tabLst>
            </a:pPr>
            <a:r>
              <a:rPr dirty="0" sz="3200" spc="-5">
                <a:solidFill>
                  <a:srgbClr val="FFFF00"/>
                </a:solidFill>
              </a:rPr>
              <a:t>例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5.13	</a:t>
            </a:r>
            <a:r>
              <a:rPr dirty="0" sz="3200" spc="-5">
                <a:solidFill>
                  <a:srgbClr val="FFFFFF"/>
                </a:solidFill>
              </a:rPr>
              <a:t>设有文法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</a:rPr>
              <a:t>，</a:t>
            </a:r>
            <a:r>
              <a:rPr dirty="0" sz="3200" spc="-5">
                <a:solidFill>
                  <a:srgbClr val="FFFFFF"/>
                </a:solidFill>
              </a:rPr>
              <a:t>试构</a:t>
            </a:r>
            <a:r>
              <a:rPr dirty="0" sz="3200">
                <a:solidFill>
                  <a:srgbClr val="FFFFFF"/>
                </a:solidFill>
              </a:rPr>
              <a:t>造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>
                <a:solidFill>
                  <a:srgbClr val="FFFFFF"/>
                </a:solidFill>
              </a:rPr>
              <a:t>的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FFFFFF"/>
                </a:solidFill>
              </a:rPr>
              <a:t>分</a:t>
            </a:r>
            <a:r>
              <a:rPr dirty="0" sz="3200" spc="-10">
                <a:solidFill>
                  <a:srgbClr val="FFFFFF"/>
                </a:solidFill>
              </a:rPr>
              <a:t>析</a:t>
            </a:r>
            <a:r>
              <a:rPr dirty="0" sz="3200">
                <a:solidFill>
                  <a:srgbClr val="FFFFFF"/>
                </a:solidFill>
              </a:rPr>
              <a:t>表</a:t>
            </a:r>
            <a:r>
              <a:rPr dirty="0" sz="3200" spc="-10">
                <a:solidFill>
                  <a:srgbClr val="FFFFFF"/>
                </a:solidFill>
              </a:rPr>
              <a:t>。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240" y="1679194"/>
            <a:ext cx="3589654" cy="1504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84250">
              <a:lnSpc>
                <a:spcPct val="100000"/>
              </a:lnSpc>
              <a:spcBef>
                <a:spcPts val="105"/>
              </a:spcBef>
              <a:tabLst>
                <a:tab pos="192786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首先文法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拓广为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894" y="3299917"/>
            <a:ext cx="7588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4075" y="3150870"/>
            <a:ext cx="1233170" cy="19348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>
              <a:lnSpc>
                <a:spcPct val="130300"/>
              </a:lnSpc>
              <a:spcBef>
                <a:spcPts val="114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spc="-1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25236" y="3792227"/>
            <a:ext cx="433070" cy="129349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51152" y="26923"/>
            <a:ext cx="66427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80390" algn="l"/>
                <a:tab pos="2172970" algn="l"/>
                <a:tab pos="26809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析表的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570" y="2292857"/>
            <a:ext cx="1632585" cy="10763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106680">
              <a:lnSpc>
                <a:spcPts val="3840"/>
              </a:lnSpc>
              <a:spcBef>
                <a:spcPts val="80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|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57" y="181025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6633" y="260464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63773" y="3045714"/>
            <a:ext cx="1572895" cy="1298575"/>
          </a:xfrm>
          <a:custGeom>
            <a:avLst/>
            <a:gdLst/>
            <a:ahLst/>
            <a:cxnLst/>
            <a:rect l="l" t="t" r="r" b="b"/>
            <a:pathLst>
              <a:path w="1572895" h="1298575">
                <a:moveTo>
                  <a:pt x="0" y="1298448"/>
                </a:moveTo>
                <a:lnTo>
                  <a:pt x="1572768" y="1298448"/>
                </a:lnTo>
                <a:lnTo>
                  <a:pt x="1572768" y="0"/>
                </a:lnTo>
                <a:lnTo>
                  <a:pt x="0" y="0"/>
                </a:lnTo>
                <a:lnTo>
                  <a:pt x="0" y="129844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39973" y="3098368"/>
            <a:ext cx="1400810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b="1" i="1">
                <a:solidFill>
                  <a:srgbClr val="66FF66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66FF66"/>
                </a:solidFill>
                <a:latin typeface="Times New Roman"/>
                <a:cs typeface="Times New Roman"/>
              </a:rPr>
              <a:t>·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2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spc="-20" b="1">
                <a:solidFill>
                  <a:srgbClr val="66FF66"/>
                </a:solidFill>
                <a:latin typeface="Times New Roman"/>
                <a:cs typeface="Times New Roman"/>
              </a:rPr>
              <a:t>·</a:t>
            </a:r>
            <a:r>
              <a:rPr dirty="0" sz="2400" b="1" i="1">
                <a:solidFill>
                  <a:srgbClr val="66FF66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 i="1">
                <a:solidFill>
                  <a:srgbClr val="66FF66"/>
                </a:solidFill>
                <a:latin typeface="Times New Roman"/>
                <a:cs typeface="Times New Roman"/>
              </a:rPr>
              <a:t>A</a:t>
            </a:r>
            <a:r>
              <a:rPr dirty="0" sz="2400" spc="20" b="1">
                <a:solidFill>
                  <a:srgbClr val="66FF66"/>
                </a:solidFill>
                <a:latin typeface="宋体"/>
                <a:cs typeface="宋体"/>
              </a:rPr>
              <a:t>|</a:t>
            </a:r>
            <a:r>
              <a:rPr dirty="0" sz="2400" spc="-20" b="1">
                <a:solidFill>
                  <a:srgbClr val="66FF66"/>
                </a:solidFill>
                <a:latin typeface="Times New Roman"/>
                <a:cs typeface="Times New Roman"/>
              </a:rPr>
              <a:t>·</a:t>
            </a:r>
            <a:r>
              <a:rPr dirty="0" sz="2400" b="1" i="1">
                <a:solidFill>
                  <a:srgbClr val="66FF66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3554" y="270433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12442" y="3165348"/>
            <a:ext cx="741045" cy="114300"/>
          </a:xfrm>
          <a:custGeom>
            <a:avLst/>
            <a:gdLst/>
            <a:ahLst/>
            <a:cxnLst/>
            <a:rect l="l" t="t" r="r" b="b"/>
            <a:pathLst>
              <a:path w="741044" h="114300">
                <a:moveTo>
                  <a:pt x="550163" y="0"/>
                </a:moveTo>
                <a:lnTo>
                  <a:pt x="550163" y="114300"/>
                </a:lnTo>
                <a:lnTo>
                  <a:pt x="677163" y="76200"/>
                </a:lnTo>
                <a:lnTo>
                  <a:pt x="569213" y="76200"/>
                </a:lnTo>
                <a:lnTo>
                  <a:pt x="569213" y="38100"/>
                </a:lnTo>
                <a:lnTo>
                  <a:pt x="677163" y="38100"/>
                </a:lnTo>
                <a:lnTo>
                  <a:pt x="550163" y="0"/>
                </a:lnTo>
                <a:close/>
              </a:path>
              <a:path w="741044" h="114300">
                <a:moveTo>
                  <a:pt x="5501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0163" y="76200"/>
                </a:lnTo>
                <a:lnTo>
                  <a:pt x="550163" y="38100"/>
                </a:lnTo>
                <a:close/>
              </a:path>
              <a:path w="741044" h="114300">
                <a:moveTo>
                  <a:pt x="677163" y="38100"/>
                </a:moveTo>
                <a:lnTo>
                  <a:pt x="569213" y="38100"/>
                </a:lnTo>
                <a:lnTo>
                  <a:pt x="569213" y="76200"/>
                </a:lnTo>
                <a:lnTo>
                  <a:pt x="677163" y="76200"/>
                </a:lnTo>
                <a:lnTo>
                  <a:pt x="740663" y="57150"/>
                </a:lnTo>
                <a:lnTo>
                  <a:pt x="67716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55675" y="347789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6205" y="3960114"/>
            <a:ext cx="1115695" cy="50292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6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5270" y="3653485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17014" y="4043171"/>
            <a:ext cx="746760" cy="114300"/>
          </a:xfrm>
          <a:custGeom>
            <a:avLst/>
            <a:gdLst/>
            <a:ahLst/>
            <a:cxnLst/>
            <a:rect l="l" t="t" r="r" b="b"/>
            <a:pathLst>
              <a:path w="74676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74676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746760" h="114300">
                <a:moveTo>
                  <a:pt x="746760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746760" y="76200"/>
                </a:lnTo>
                <a:lnTo>
                  <a:pt x="74676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236470" y="1992579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04541" y="168529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0729" y="2458211"/>
            <a:ext cx="741045" cy="114300"/>
          </a:xfrm>
          <a:custGeom>
            <a:avLst/>
            <a:gdLst/>
            <a:ahLst/>
            <a:cxnLst/>
            <a:rect l="l" t="t" r="r" b="b"/>
            <a:pathLst>
              <a:path w="741044" h="114300">
                <a:moveTo>
                  <a:pt x="550163" y="0"/>
                </a:moveTo>
                <a:lnTo>
                  <a:pt x="550163" y="114300"/>
                </a:lnTo>
                <a:lnTo>
                  <a:pt x="677163" y="76200"/>
                </a:lnTo>
                <a:lnTo>
                  <a:pt x="569213" y="76200"/>
                </a:lnTo>
                <a:lnTo>
                  <a:pt x="569213" y="38100"/>
                </a:lnTo>
                <a:lnTo>
                  <a:pt x="677163" y="38100"/>
                </a:lnTo>
                <a:lnTo>
                  <a:pt x="550163" y="0"/>
                </a:lnTo>
                <a:close/>
              </a:path>
              <a:path w="741044" h="114300">
                <a:moveTo>
                  <a:pt x="5501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0163" y="76200"/>
                </a:lnTo>
                <a:lnTo>
                  <a:pt x="550163" y="38100"/>
                </a:lnTo>
                <a:close/>
              </a:path>
              <a:path w="741044" h="114300">
                <a:moveTo>
                  <a:pt x="677163" y="38100"/>
                </a:moveTo>
                <a:lnTo>
                  <a:pt x="569213" y="38100"/>
                </a:lnTo>
                <a:lnTo>
                  <a:pt x="569213" y="76200"/>
                </a:lnTo>
                <a:lnTo>
                  <a:pt x="677163" y="76200"/>
                </a:lnTo>
                <a:lnTo>
                  <a:pt x="740663" y="57150"/>
                </a:lnTo>
                <a:lnTo>
                  <a:pt x="67716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780538" y="2096261"/>
            <a:ext cx="1183005" cy="5016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93345">
              <a:lnSpc>
                <a:spcPts val="3710"/>
              </a:lnSpc>
              <a:spcBef>
                <a:spcPts val="23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6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66285" y="4049267"/>
            <a:ext cx="537845" cy="596265"/>
          </a:xfrm>
          <a:custGeom>
            <a:avLst/>
            <a:gdLst/>
            <a:ahLst/>
            <a:cxnLst/>
            <a:rect l="l" t="t" r="r" b="b"/>
            <a:pathLst>
              <a:path w="537845" h="596264">
                <a:moveTo>
                  <a:pt x="77282" y="406604"/>
                </a:moveTo>
                <a:lnTo>
                  <a:pt x="39526" y="413515"/>
                </a:lnTo>
                <a:lnTo>
                  <a:pt x="46609" y="436625"/>
                </a:lnTo>
                <a:lnTo>
                  <a:pt x="46989" y="437768"/>
                </a:lnTo>
                <a:lnTo>
                  <a:pt x="47371" y="438784"/>
                </a:lnTo>
                <a:lnTo>
                  <a:pt x="48005" y="439927"/>
                </a:lnTo>
                <a:lnTo>
                  <a:pt x="60960" y="464311"/>
                </a:lnTo>
                <a:lnTo>
                  <a:pt x="92583" y="508380"/>
                </a:lnTo>
                <a:lnTo>
                  <a:pt x="131190" y="544956"/>
                </a:lnTo>
                <a:lnTo>
                  <a:pt x="163702" y="566292"/>
                </a:lnTo>
                <a:lnTo>
                  <a:pt x="199389" y="582421"/>
                </a:lnTo>
                <a:lnTo>
                  <a:pt x="237616" y="592581"/>
                </a:lnTo>
                <a:lnTo>
                  <a:pt x="277749" y="595883"/>
                </a:lnTo>
                <a:lnTo>
                  <a:pt x="291084" y="595375"/>
                </a:lnTo>
                <a:lnTo>
                  <a:pt x="330708" y="589660"/>
                </a:lnTo>
                <a:lnTo>
                  <a:pt x="368046" y="577214"/>
                </a:lnTo>
                <a:lnTo>
                  <a:pt x="403225" y="558799"/>
                </a:lnTo>
                <a:lnTo>
                  <a:pt x="404659" y="557783"/>
                </a:lnTo>
                <a:lnTo>
                  <a:pt x="276478" y="557783"/>
                </a:lnTo>
                <a:lnTo>
                  <a:pt x="265302" y="557402"/>
                </a:lnTo>
                <a:lnTo>
                  <a:pt x="221614" y="549655"/>
                </a:lnTo>
                <a:lnTo>
                  <a:pt x="181228" y="532510"/>
                </a:lnTo>
                <a:lnTo>
                  <a:pt x="135889" y="498728"/>
                </a:lnTo>
                <a:lnTo>
                  <a:pt x="105790" y="463676"/>
                </a:lnTo>
                <a:lnTo>
                  <a:pt x="83380" y="425449"/>
                </a:lnTo>
                <a:lnTo>
                  <a:pt x="83058" y="425449"/>
                </a:lnTo>
                <a:lnTo>
                  <a:pt x="81661" y="422147"/>
                </a:lnTo>
                <a:lnTo>
                  <a:pt x="82046" y="422147"/>
                </a:lnTo>
                <a:lnTo>
                  <a:pt x="77282" y="406604"/>
                </a:lnTo>
                <a:close/>
              </a:path>
              <a:path w="537845" h="596264">
                <a:moveTo>
                  <a:pt x="277749" y="0"/>
                </a:moveTo>
                <a:lnTo>
                  <a:pt x="276478" y="38099"/>
                </a:lnTo>
                <a:lnTo>
                  <a:pt x="289051" y="38480"/>
                </a:lnTo>
                <a:lnTo>
                  <a:pt x="300100" y="39496"/>
                </a:lnTo>
                <a:lnTo>
                  <a:pt x="342900" y="49656"/>
                </a:lnTo>
                <a:lnTo>
                  <a:pt x="382650" y="69087"/>
                </a:lnTo>
                <a:lnTo>
                  <a:pt x="418338" y="97154"/>
                </a:lnTo>
                <a:lnTo>
                  <a:pt x="448563" y="132333"/>
                </a:lnTo>
                <a:lnTo>
                  <a:pt x="472693" y="173862"/>
                </a:lnTo>
                <a:lnTo>
                  <a:pt x="489585" y="220725"/>
                </a:lnTo>
                <a:lnTo>
                  <a:pt x="497077" y="258444"/>
                </a:lnTo>
                <a:lnTo>
                  <a:pt x="499617" y="298449"/>
                </a:lnTo>
                <a:lnTo>
                  <a:pt x="499363" y="311911"/>
                </a:lnTo>
                <a:lnTo>
                  <a:pt x="494918" y="351154"/>
                </a:lnTo>
                <a:lnTo>
                  <a:pt x="481584" y="400811"/>
                </a:lnTo>
                <a:lnTo>
                  <a:pt x="460628" y="445007"/>
                </a:lnTo>
                <a:lnTo>
                  <a:pt x="432942" y="483361"/>
                </a:lnTo>
                <a:lnTo>
                  <a:pt x="399796" y="514730"/>
                </a:lnTo>
                <a:lnTo>
                  <a:pt x="362330" y="538098"/>
                </a:lnTo>
                <a:lnTo>
                  <a:pt x="320801" y="552830"/>
                </a:lnTo>
                <a:lnTo>
                  <a:pt x="276478" y="557783"/>
                </a:lnTo>
                <a:lnTo>
                  <a:pt x="404659" y="557783"/>
                </a:lnTo>
                <a:lnTo>
                  <a:pt x="444500" y="526287"/>
                </a:lnTo>
                <a:lnTo>
                  <a:pt x="479551" y="485774"/>
                </a:lnTo>
                <a:lnTo>
                  <a:pt x="507111" y="438276"/>
                </a:lnTo>
                <a:lnTo>
                  <a:pt x="526288" y="385444"/>
                </a:lnTo>
                <a:lnTo>
                  <a:pt x="534797" y="342518"/>
                </a:lnTo>
                <a:lnTo>
                  <a:pt x="537717" y="297433"/>
                </a:lnTo>
                <a:lnTo>
                  <a:pt x="537337" y="282447"/>
                </a:lnTo>
                <a:lnTo>
                  <a:pt x="532384" y="237997"/>
                </a:lnTo>
                <a:lnTo>
                  <a:pt x="517271" y="181990"/>
                </a:lnTo>
                <a:lnTo>
                  <a:pt x="493394" y="131698"/>
                </a:lnTo>
                <a:lnTo>
                  <a:pt x="461644" y="87629"/>
                </a:lnTo>
                <a:lnTo>
                  <a:pt x="423163" y="51053"/>
                </a:lnTo>
                <a:lnTo>
                  <a:pt x="390651" y="29717"/>
                </a:lnTo>
                <a:lnTo>
                  <a:pt x="354964" y="13588"/>
                </a:lnTo>
                <a:lnTo>
                  <a:pt x="316738" y="3428"/>
                </a:lnTo>
                <a:lnTo>
                  <a:pt x="290194" y="380"/>
                </a:lnTo>
                <a:lnTo>
                  <a:pt x="277749" y="0"/>
                </a:lnTo>
                <a:close/>
              </a:path>
              <a:path w="537845" h="596264">
                <a:moveTo>
                  <a:pt x="81661" y="422147"/>
                </a:moveTo>
                <a:lnTo>
                  <a:pt x="83058" y="425449"/>
                </a:lnTo>
                <a:lnTo>
                  <a:pt x="82596" y="423945"/>
                </a:lnTo>
                <a:lnTo>
                  <a:pt x="81661" y="422147"/>
                </a:lnTo>
                <a:close/>
              </a:path>
              <a:path w="537845" h="596264">
                <a:moveTo>
                  <a:pt x="82596" y="423945"/>
                </a:moveTo>
                <a:lnTo>
                  <a:pt x="83058" y="425449"/>
                </a:lnTo>
                <a:lnTo>
                  <a:pt x="83380" y="425449"/>
                </a:lnTo>
                <a:lnTo>
                  <a:pt x="82596" y="423945"/>
                </a:lnTo>
                <a:close/>
              </a:path>
              <a:path w="537845" h="596264">
                <a:moveTo>
                  <a:pt x="82046" y="422147"/>
                </a:moveTo>
                <a:lnTo>
                  <a:pt x="81661" y="422147"/>
                </a:lnTo>
                <a:lnTo>
                  <a:pt x="82596" y="423945"/>
                </a:lnTo>
                <a:lnTo>
                  <a:pt x="82046" y="422147"/>
                </a:lnTo>
                <a:close/>
              </a:path>
              <a:path w="537845" h="596264">
                <a:moveTo>
                  <a:pt x="35560" y="298068"/>
                </a:moveTo>
                <a:lnTo>
                  <a:pt x="0" y="420750"/>
                </a:lnTo>
                <a:lnTo>
                  <a:pt x="39526" y="413515"/>
                </a:lnTo>
                <a:lnTo>
                  <a:pt x="34543" y="397255"/>
                </a:lnTo>
                <a:lnTo>
                  <a:pt x="70992" y="386079"/>
                </a:lnTo>
                <a:lnTo>
                  <a:pt x="101787" y="386079"/>
                </a:lnTo>
                <a:lnTo>
                  <a:pt x="35560" y="298068"/>
                </a:lnTo>
                <a:close/>
              </a:path>
              <a:path w="537845" h="596264">
                <a:moveTo>
                  <a:pt x="70992" y="386079"/>
                </a:moveTo>
                <a:lnTo>
                  <a:pt x="34543" y="397255"/>
                </a:lnTo>
                <a:lnTo>
                  <a:pt x="39526" y="413515"/>
                </a:lnTo>
                <a:lnTo>
                  <a:pt x="77282" y="406604"/>
                </a:lnTo>
                <a:lnTo>
                  <a:pt x="70992" y="386079"/>
                </a:lnTo>
                <a:close/>
              </a:path>
              <a:path w="537845" h="596264">
                <a:moveTo>
                  <a:pt x="101787" y="386079"/>
                </a:moveTo>
                <a:lnTo>
                  <a:pt x="70992" y="386079"/>
                </a:lnTo>
                <a:lnTo>
                  <a:pt x="77282" y="406604"/>
                </a:lnTo>
                <a:lnTo>
                  <a:pt x="112394" y="400176"/>
                </a:lnTo>
                <a:lnTo>
                  <a:pt x="101787" y="38607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53364" y="610946"/>
            <a:ext cx="57181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构造文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法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3200" spc="5" b="1">
                <a:solidFill>
                  <a:srgbClr val="66FFFF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识别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活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前缀</a:t>
            </a:r>
            <a:r>
              <a:rPr dirty="0" sz="3200" spc="10" b="1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dirty="0" sz="3200" spc="-80" b="1">
                <a:solidFill>
                  <a:srgbClr val="66FFFF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20798" y="4601717"/>
            <a:ext cx="4566920" cy="1458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13435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567690" algn="l"/>
              </a:tabLst>
            </a:pPr>
            <a:r>
              <a:rPr dirty="0" u="heavy" sz="3200" spc="-8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Symbol"/>
                <a:cs typeface="Symbol"/>
              </a:rPr>
              <a:t></a:t>
            </a:r>
            <a:r>
              <a:rPr dirty="0" u="heavy" sz="320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3200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200" spc="-90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Symbol"/>
                <a:cs typeface="Symbol"/>
              </a:rPr>
              <a:t>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是</a:t>
            </a:r>
            <a:r>
              <a:rPr dirty="0" u="heavy" sz="3200" spc="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非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文法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38621" y="3769614"/>
            <a:ext cx="1403985" cy="737870"/>
          </a:xfrm>
          <a:custGeom>
            <a:avLst/>
            <a:gdLst/>
            <a:ahLst/>
            <a:cxnLst/>
            <a:rect l="l" t="t" r="r" b="b"/>
            <a:pathLst>
              <a:path w="1403984" h="737870">
                <a:moveTo>
                  <a:pt x="0" y="368808"/>
                </a:moveTo>
                <a:lnTo>
                  <a:pt x="10163" y="305910"/>
                </a:lnTo>
                <a:lnTo>
                  <a:pt x="39530" y="246464"/>
                </a:lnTo>
                <a:lnTo>
                  <a:pt x="86415" y="191355"/>
                </a:lnTo>
                <a:lnTo>
                  <a:pt x="115900" y="165703"/>
                </a:lnTo>
                <a:lnTo>
                  <a:pt x="149133" y="141468"/>
                </a:lnTo>
                <a:lnTo>
                  <a:pt x="185903" y="118760"/>
                </a:lnTo>
                <a:lnTo>
                  <a:pt x="226000" y="97689"/>
                </a:lnTo>
                <a:lnTo>
                  <a:pt x="269212" y="78367"/>
                </a:lnTo>
                <a:lnTo>
                  <a:pt x="315330" y="60903"/>
                </a:lnTo>
                <a:lnTo>
                  <a:pt x="364141" y="45409"/>
                </a:lnTo>
                <a:lnTo>
                  <a:pt x="415437" y="31995"/>
                </a:lnTo>
                <a:lnTo>
                  <a:pt x="469006" y="20772"/>
                </a:lnTo>
                <a:lnTo>
                  <a:pt x="524638" y="11850"/>
                </a:lnTo>
                <a:lnTo>
                  <a:pt x="582121" y="5340"/>
                </a:lnTo>
                <a:lnTo>
                  <a:pt x="641246" y="1353"/>
                </a:lnTo>
                <a:lnTo>
                  <a:pt x="701801" y="0"/>
                </a:lnTo>
                <a:lnTo>
                  <a:pt x="762357" y="1353"/>
                </a:lnTo>
                <a:lnTo>
                  <a:pt x="821482" y="5340"/>
                </a:lnTo>
                <a:lnTo>
                  <a:pt x="878965" y="11850"/>
                </a:lnTo>
                <a:lnTo>
                  <a:pt x="934597" y="20772"/>
                </a:lnTo>
                <a:lnTo>
                  <a:pt x="988166" y="31995"/>
                </a:lnTo>
                <a:lnTo>
                  <a:pt x="1039462" y="45409"/>
                </a:lnTo>
                <a:lnTo>
                  <a:pt x="1088273" y="60903"/>
                </a:lnTo>
                <a:lnTo>
                  <a:pt x="1134391" y="78367"/>
                </a:lnTo>
                <a:lnTo>
                  <a:pt x="1177603" y="97689"/>
                </a:lnTo>
                <a:lnTo>
                  <a:pt x="1217700" y="118760"/>
                </a:lnTo>
                <a:lnTo>
                  <a:pt x="1254470" y="141468"/>
                </a:lnTo>
                <a:lnTo>
                  <a:pt x="1287703" y="165703"/>
                </a:lnTo>
                <a:lnTo>
                  <a:pt x="1317188" y="191355"/>
                </a:lnTo>
                <a:lnTo>
                  <a:pt x="1364073" y="246464"/>
                </a:lnTo>
                <a:lnTo>
                  <a:pt x="1393440" y="305910"/>
                </a:lnTo>
                <a:lnTo>
                  <a:pt x="1403603" y="368808"/>
                </a:lnTo>
                <a:lnTo>
                  <a:pt x="1401028" y="400633"/>
                </a:lnTo>
                <a:lnTo>
                  <a:pt x="1381052" y="461915"/>
                </a:lnTo>
                <a:lnTo>
                  <a:pt x="1342715" y="519303"/>
                </a:lnTo>
                <a:lnTo>
                  <a:pt x="1287703" y="571912"/>
                </a:lnTo>
                <a:lnTo>
                  <a:pt x="1254470" y="596147"/>
                </a:lnTo>
                <a:lnTo>
                  <a:pt x="1217700" y="618855"/>
                </a:lnTo>
                <a:lnTo>
                  <a:pt x="1177603" y="639926"/>
                </a:lnTo>
                <a:lnTo>
                  <a:pt x="1134391" y="659248"/>
                </a:lnTo>
                <a:lnTo>
                  <a:pt x="1088273" y="676712"/>
                </a:lnTo>
                <a:lnTo>
                  <a:pt x="1039462" y="692206"/>
                </a:lnTo>
                <a:lnTo>
                  <a:pt x="988166" y="705620"/>
                </a:lnTo>
                <a:lnTo>
                  <a:pt x="934597" y="716843"/>
                </a:lnTo>
                <a:lnTo>
                  <a:pt x="878965" y="725765"/>
                </a:lnTo>
                <a:lnTo>
                  <a:pt x="821482" y="732275"/>
                </a:lnTo>
                <a:lnTo>
                  <a:pt x="762357" y="736262"/>
                </a:lnTo>
                <a:lnTo>
                  <a:pt x="701801" y="737616"/>
                </a:lnTo>
                <a:lnTo>
                  <a:pt x="641246" y="736262"/>
                </a:lnTo>
                <a:lnTo>
                  <a:pt x="582121" y="732275"/>
                </a:lnTo>
                <a:lnTo>
                  <a:pt x="524638" y="725765"/>
                </a:lnTo>
                <a:lnTo>
                  <a:pt x="469006" y="716843"/>
                </a:lnTo>
                <a:lnTo>
                  <a:pt x="415437" y="705620"/>
                </a:lnTo>
                <a:lnTo>
                  <a:pt x="364141" y="692206"/>
                </a:lnTo>
                <a:lnTo>
                  <a:pt x="315330" y="676712"/>
                </a:lnTo>
                <a:lnTo>
                  <a:pt x="269212" y="659248"/>
                </a:lnTo>
                <a:lnTo>
                  <a:pt x="226000" y="639926"/>
                </a:lnTo>
                <a:lnTo>
                  <a:pt x="185903" y="618855"/>
                </a:lnTo>
                <a:lnTo>
                  <a:pt x="149133" y="596147"/>
                </a:lnTo>
                <a:lnTo>
                  <a:pt x="115900" y="571912"/>
                </a:lnTo>
                <a:lnTo>
                  <a:pt x="86415" y="546260"/>
                </a:lnTo>
                <a:lnTo>
                  <a:pt x="39530" y="491151"/>
                </a:lnTo>
                <a:lnTo>
                  <a:pt x="10163" y="431705"/>
                </a:lnTo>
                <a:lnTo>
                  <a:pt x="0" y="36880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89753" y="4475098"/>
            <a:ext cx="1163955" cy="1108075"/>
          </a:xfrm>
          <a:custGeom>
            <a:avLst/>
            <a:gdLst/>
            <a:ahLst/>
            <a:cxnLst/>
            <a:rect l="l" t="t" r="r" b="b"/>
            <a:pathLst>
              <a:path w="1163954" h="1108075">
                <a:moveTo>
                  <a:pt x="43434" y="987932"/>
                </a:moveTo>
                <a:lnTo>
                  <a:pt x="0" y="1108075"/>
                </a:lnTo>
                <a:lnTo>
                  <a:pt x="122174" y="1070737"/>
                </a:lnTo>
                <a:lnTo>
                  <a:pt x="108406" y="1056259"/>
                </a:lnTo>
                <a:lnTo>
                  <a:pt x="82169" y="1056259"/>
                </a:lnTo>
                <a:lnTo>
                  <a:pt x="55880" y="1028572"/>
                </a:lnTo>
                <a:lnTo>
                  <a:pt x="69638" y="1015489"/>
                </a:lnTo>
                <a:lnTo>
                  <a:pt x="43434" y="987932"/>
                </a:lnTo>
                <a:close/>
              </a:path>
              <a:path w="1163954" h="1108075">
                <a:moveTo>
                  <a:pt x="69638" y="1015489"/>
                </a:moveTo>
                <a:lnTo>
                  <a:pt x="55880" y="1028572"/>
                </a:lnTo>
                <a:lnTo>
                  <a:pt x="82169" y="1056259"/>
                </a:lnTo>
                <a:lnTo>
                  <a:pt x="95946" y="1043155"/>
                </a:lnTo>
                <a:lnTo>
                  <a:pt x="69638" y="1015489"/>
                </a:lnTo>
                <a:close/>
              </a:path>
              <a:path w="1163954" h="1108075">
                <a:moveTo>
                  <a:pt x="95946" y="1043155"/>
                </a:moveTo>
                <a:lnTo>
                  <a:pt x="82169" y="1056259"/>
                </a:lnTo>
                <a:lnTo>
                  <a:pt x="108406" y="1056259"/>
                </a:lnTo>
                <a:lnTo>
                  <a:pt x="95946" y="1043155"/>
                </a:lnTo>
                <a:close/>
              </a:path>
              <a:path w="1163954" h="1108075">
                <a:moveTo>
                  <a:pt x="1137539" y="0"/>
                </a:moveTo>
                <a:lnTo>
                  <a:pt x="69638" y="1015489"/>
                </a:lnTo>
                <a:lnTo>
                  <a:pt x="95946" y="1043155"/>
                </a:lnTo>
                <a:lnTo>
                  <a:pt x="1163701" y="27686"/>
                </a:lnTo>
                <a:lnTo>
                  <a:pt x="1137539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75026" y="3428238"/>
            <a:ext cx="1884045" cy="996950"/>
          </a:xfrm>
          <a:custGeom>
            <a:avLst/>
            <a:gdLst/>
            <a:ahLst/>
            <a:cxnLst/>
            <a:rect l="l" t="t" r="r" b="b"/>
            <a:pathLst>
              <a:path w="1884045" h="996950">
                <a:moveTo>
                  <a:pt x="0" y="498348"/>
                </a:moveTo>
                <a:lnTo>
                  <a:pt x="7930" y="433385"/>
                </a:lnTo>
                <a:lnTo>
                  <a:pt x="31058" y="370947"/>
                </a:lnTo>
                <a:lnTo>
                  <a:pt x="68393" y="311560"/>
                </a:lnTo>
                <a:lnTo>
                  <a:pt x="118940" y="255748"/>
                </a:lnTo>
                <a:lnTo>
                  <a:pt x="148859" y="229348"/>
                </a:lnTo>
                <a:lnTo>
                  <a:pt x="181709" y="204039"/>
                </a:lnTo>
                <a:lnTo>
                  <a:pt x="217366" y="179886"/>
                </a:lnTo>
                <a:lnTo>
                  <a:pt x="255706" y="156956"/>
                </a:lnTo>
                <a:lnTo>
                  <a:pt x="296605" y="135314"/>
                </a:lnTo>
                <a:lnTo>
                  <a:pt x="339939" y="115026"/>
                </a:lnTo>
                <a:lnTo>
                  <a:pt x="385584" y="96158"/>
                </a:lnTo>
                <a:lnTo>
                  <a:pt x="433415" y="78775"/>
                </a:lnTo>
                <a:lnTo>
                  <a:pt x="483309" y="62942"/>
                </a:lnTo>
                <a:lnTo>
                  <a:pt x="535142" y="48726"/>
                </a:lnTo>
                <a:lnTo>
                  <a:pt x="588789" y="36193"/>
                </a:lnTo>
                <a:lnTo>
                  <a:pt x="644127" y="25408"/>
                </a:lnTo>
                <a:lnTo>
                  <a:pt x="701032" y="16436"/>
                </a:lnTo>
                <a:lnTo>
                  <a:pt x="759378" y="9343"/>
                </a:lnTo>
                <a:lnTo>
                  <a:pt x="819043" y="4196"/>
                </a:lnTo>
                <a:lnTo>
                  <a:pt x="879902" y="1060"/>
                </a:lnTo>
                <a:lnTo>
                  <a:pt x="941832" y="0"/>
                </a:lnTo>
                <a:lnTo>
                  <a:pt x="1003761" y="1060"/>
                </a:lnTo>
                <a:lnTo>
                  <a:pt x="1064620" y="4196"/>
                </a:lnTo>
                <a:lnTo>
                  <a:pt x="1124285" y="9343"/>
                </a:lnTo>
                <a:lnTo>
                  <a:pt x="1182631" y="16436"/>
                </a:lnTo>
                <a:lnTo>
                  <a:pt x="1239536" y="25408"/>
                </a:lnTo>
                <a:lnTo>
                  <a:pt x="1294874" y="36193"/>
                </a:lnTo>
                <a:lnTo>
                  <a:pt x="1348521" y="48726"/>
                </a:lnTo>
                <a:lnTo>
                  <a:pt x="1400354" y="62942"/>
                </a:lnTo>
                <a:lnTo>
                  <a:pt x="1450248" y="78775"/>
                </a:lnTo>
                <a:lnTo>
                  <a:pt x="1498079" y="96158"/>
                </a:lnTo>
                <a:lnTo>
                  <a:pt x="1543724" y="115026"/>
                </a:lnTo>
                <a:lnTo>
                  <a:pt x="1587058" y="135314"/>
                </a:lnTo>
                <a:lnTo>
                  <a:pt x="1627957" y="156956"/>
                </a:lnTo>
                <a:lnTo>
                  <a:pt x="1666297" y="179886"/>
                </a:lnTo>
                <a:lnTo>
                  <a:pt x="1701954" y="204039"/>
                </a:lnTo>
                <a:lnTo>
                  <a:pt x="1734804" y="229348"/>
                </a:lnTo>
                <a:lnTo>
                  <a:pt x="1764723" y="255748"/>
                </a:lnTo>
                <a:lnTo>
                  <a:pt x="1791586" y="283174"/>
                </a:lnTo>
                <a:lnTo>
                  <a:pt x="1835651" y="340839"/>
                </a:lnTo>
                <a:lnTo>
                  <a:pt x="1866007" y="401817"/>
                </a:lnTo>
                <a:lnTo>
                  <a:pt x="1881660" y="465583"/>
                </a:lnTo>
                <a:lnTo>
                  <a:pt x="1883664" y="498348"/>
                </a:lnTo>
                <a:lnTo>
                  <a:pt x="1881660" y="531112"/>
                </a:lnTo>
                <a:lnTo>
                  <a:pt x="1866007" y="594878"/>
                </a:lnTo>
                <a:lnTo>
                  <a:pt x="1835651" y="655856"/>
                </a:lnTo>
                <a:lnTo>
                  <a:pt x="1791586" y="713521"/>
                </a:lnTo>
                <a:lnTo>
                  <a:pt x="1764723" y="740947"/>
                </a:lnTo>
                <a:lnTo>
                  <a:pt x="1734804" y="767347"/>
                </a:lnTo>
                <a:lnTo>
                  <a:pt x="1701954" y="792656"/>
                </a:lnTo>
                <a:lnTo>
                  <a:pt x="1666297" y="816809"/>
                </a:lnTo>
                <a:lnTo>
                  <a:pt x="1627957" y="839739"/>
                </a:lnTo>
                <a:lnTo>
                  <a:pt x="1587058" y="861381"/>
                </a:lnTo>
                <a:lnTo>
                  <a:pt x="1543724" y="881669"/>
                </a:lnTo>
                <a:lnTo>
                  <a:pt x="1498079" y="900537"/>
                </a:lnTo>
                <a:lnTo>
                  <a:pt x="1450248" y="917920"/>
                </a:lnTo>
                <a:lnTo>
                  <a:pt x="1400354" y="933753"/>
                </a:lnTo>
                <a:lnTo>
                  <a:pt x="1348521" y="947969"/>
                </a:lnTo>
                <a:lnTo>
                  <a:pt x="1294874" y="960502"/>
                </a:lnTo>
                <a:lnTo>
                  <a:pt x="1239536" y="971287"/>
                </a:lnTo>
                <a:lnTo>
                  <a:pt x="1182631" y="980259"/>
                </a:lnTo>
                <a:lnTo>
                  <a:pt x="1124285" y="987352"/>
                </a:lnTo>
                <a:lnTo>
                  <a:pt x="1064620" y="992499"/>
                </a:lnTo>
                <a:lnTo>
                  <a:pt x="1003761" y="995635"/>
                </a:lnTo>
                <a:lnTo>
                  <a:pt x="941832" y="996695"/>
                </a:lnTo>
                <a:lnTo>
                  <a:pt x="879902" y="995635"/>
                </a:lnTo>
                <a:lnTo>
                  <a:pt x="819043" y="992499"/>
                </a:lnTo>
                <a:lnTo>
                  <a:pt x="759378" y="987352"/>
                </a:lnTo>
                <a:lnTo>
                  <a:pt x="701032" y="980259"/>
                </a:lnTo>
                <a:lnTo>
                  <a:pt x="644127" y="971287"/>
                </a:lnTo>
                <a:lnTo>
                  <a:pt x="588789" y="960502"/>
                </a:lnTo>
                <a:lnTo>
                  <a:pt x="535142" y="947969"/>
                </a:lnTo>
                <a:lnTo>
                  <a:pt x="483309" y="933753"/>
                </a:lnTo>
                <a:lnTo>
                  <a:pt x="433415" y="917920"/>
                </a:lnTo>
                <a:lnTo>
                  <a:pt x="385584" y="900537"/>
                </a:lnTo>
                <a:lnTo>
                  <a:pt x="339939" y="881669"/>
                </a:lnTo>
                <a:lnTo>
                  <a:pt x="296605" y="861381"/>
                </a:lnTo>
                <a:lnTo>
                  <a:pt x="255706" y="839739"/>
                </a:lnTo>
                <a:lnTo>
                  <a:pt x="217366" y="816809"/>
                </a:lnTo>
                <a:lnTo>
                  <a:pt x="181709" y="792656"/>
                </a:lnTo>
                <a:lnTo>
                  <a:pt x="148859" y="767347"/>
                </a:lnTo>
                <a:lnTo>
                  <a:pt x="118940" y="740947"/>
                </a:lnTo>
                <a:lnTo>
                  <a:pt x="92077" y="713521"/>
                </a:lnTo>
                <a:lnTo>
                  <a:pt x="48012" y="655856"/>
                </a:lnTo>
                <a:lnTo>
                  <a:pt x="17656" y="594878"/>
                </a:lnTo>
                <a:lnTo>
                  <a:pt x="2003" y="531112"/>
                </a:lnTo>
                <a:lnTo>
                  <a:pt x="0" y="498348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208519" y="463295"/>
            <a:ext cx="1935480" cy="1191895"/>
          </a:xfrm>
          <a:custGeom>
            <a:avLst/>
            <a:gdLst/>
            <a:ahLst/>
            <a:cxnLst/>
            <a:rect l="l" t="t" r="r" b="b"/>
            <a:pathLst>
              <a:path w="1935479" h="1191895">
                <a:moveTo>
                  <a:pt x="0" y="1191767"/>
                </a:moveTo>
                <a:lnTo>
                  <a:pt x="1935479" y="1191767"/>
                </a:lnTo>
                <a:lnTo>
                  <a:pt x="1935479" y="0"/>
                </a:lnTo>
                <a:lnTo>
                  <a:pt x="0" y="0"/>
                </a:lnTo>
                <a:lnTo>
                  <a:pt x="0" y="1191767"/>
                </a:lnTo>
                <a:close/>
              </a:path>
            </a:pathLst>
          </a:custGeom>
          <a:solidFill>
            <a:srgbClr val="641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70419" y="1686560"/>
            <a:ext cx="1973580" cy="0"/>
          </a:xfrm>
          <a:custGeom>
            <a:avLst/>
            <a:gdLst/>
            <a:ahLst/>
            <a:cxnLst/>
            <a:rect l="l" t="t" r="r" b="b"/>
            <a:pathLst>
              <a:path w="1973579" h="0">
                <a:moveTo>
                  <a:pt x="0" y="0"/>
                </a:moveTo>
                <a:lnTo>
                  <a:pt x="1973579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76769" y="438150"/>
            <a:ext cx="0" cy="1242060"/>
          </a:xfrm>
          <a:custGeom>
            <a:avLst/>
            <a:gdLst/>
            <a:ahLst/>
            <a:cxnLst/>
            <a:rect l="l" t="t" r="r" b="b"/>
            <a:pathLst>
              <a:path w="0" h="1242060">
                <a:moveTo>
                  <a:pt x="0" y="0"/>
                </a:moveTo>
                <a:lnTo>
                  <a:pt x="0" y="1242059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70419" y="431800"/>
            <a:ext cx="1973580" cy="0"/>
          </a:xfrm>
          <a:custGeom>
            <a:avLst/>
            <a:gdLst/>
            <a:ahLst/>
            <a:cxnLst/>
            <a:rect l="l" t="t" r="r" b="b"/>
            <a:pathLst>
              <a:path w="1973579" h="0">
                <a:moveTo>
                  <a:pt x="0" y="0"/>
                </a:moveTo>
                <a:lnTo>
                  <a:pt x="1973579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95819" y="1654810"/>
            <a:ext cx="1948180" cy="0"/>
          </a:xfrm>
          <a:custGeom>
            <a:avLst/>
            <a:gdLst/>
            <a:ahLst/>
            <a:cxnLst/>
            <a:rect l="l" t="t" r="r" b="b"/>
            <a:pathLst>
              <a:path w="1948179" h="0">
                <a:moveTo>
                  <a:pt x="0" y="0"/>
                </a:moveTo>
                <a:lnTo>
                  <a:pt x="1948179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208519" y="476250"/>
            <a:ext cx="0" cy="1165860"/>
          </a:xfrm>
          <a:custGeom>
            <a:avLst/>
            <a:gdLst/>
            <a:ahLst/>
            <a:cxnLst/>
            <a:rect l="l" t="t" r="r" b="b"/>
            <a:pathLst>
              <a:path w="0" h="1165860">
                <a:moveTo>
                  <a:pt x="0" y="0"/>
                </a:moveTo>
                <a:lnTo>
                  <a:pt x="0" y="1165859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195819" y="463550"/>
            <a:ext cx="1948180" cy="0"/>
          </a:xfrm>
          <a:custGeom>
            <a:avLst/>
            <a:gdLst/>
            <a:ahLst/>
            <a:cxnLst/>
            <a:rect l="l" t="t" r="r" b="b"/>
            <a:pathLst>
              <a:path w="1948179" h="0">
                <a:moveTo>
                  <a:pt x="0" y="0"/>
                </a:moveTo>
                <a:lnTo>
                  <a:pt x="1948179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137650" y="475995"/>
            <a:ext cx="0" cy="1166495"/>
          </a:xfrm>
          <a:custGeom>
            <a:avLst/>
            <a:gdLst/>
            <a:ahLst/>
            <a:cxnLst/>
            <a:rect l="l" t="t" r="r" b="b"/>
            <a:pathLst>
              <a:path w="0" h="1166495">
                <a:moveTo>
                  <a:pt x="0" y="0"/>
                </a:moveTo>
                <a:lnTo>
                  <a:pt x="0" y="1166367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233919" y="1623060"/>
            <a:ext cx="1884680" cy="0"/>
          </a:xfrm>
          <a:custGeom>
            <a:avLst/>
            <a:gdLst/>
            <a:ahLst/>
            <a:cxnLst/>
            <a:rect l="l" t="t" r="r" b="b"/>
            <a:pathLst>
              <a:path w="1884679" h="0">
                <a:moveTo>
                  <a:pt x="0" y="0"/>
                </a:moveTo>
                <a:lnTo>
                  <a:pt x="1884679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240269" y="501650"/>
            <a:ext cx="0" cy="1115060"/>
          </a:xfrm>
          <a:custGeom>
            <a:avLst/>
            <a:gdLst/>
            <a:ahLst/>
            <a:cxnLst/>
            <a:rect l="l" t="t" r="r" b="b"/>
            <a:pathLst>
              <a:path w="0" h="1115060">
                <a:moveTo>
                  <a:pt x="0" y="0"/>
                </a:moveTo>
                <a:lnTo>
                  <a:pt x="0" y="1115059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233919" y="495300"/>
            <a:ext cx="1884680" cy="0"/>
          </a:xfrm>
          <a:custGeom>
            <a:avLst/>
            <a:gdLst/>
            <a:ahLst/>
            <a:cxnLst/>
            <a:rect l="l" t="t" r="r" b="b"/>
            <a:pathLst>
              <a:path w="1884679" h="0">
                <a:moveTo>
                  <a:pt x="0" y="0"/>
                </a:moveTo>
                <a:lnTo>
                  <a:pt x="1884679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112250" y="501395"/>
            <a:ext cx="0" cy="1115695"/>
          </a:xfrm>
          <a:custGeom>
            <a:avLst/>
            <a:gdLst/>
            <a:ahLst/>
            <a:cxnLst/>
            <a:rect l="l" t="t" r="r" b="b"/>
            <a:pathLst>
              <a:path w="0" h="1115695">
                <a:moveTo>
                  <a:pt x="0" y="0"/>
                </a:moveTo>
                <a:lnTo>
                  <a:pt x="0" y="1115567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301483" y="451484"/>
            <a:ext cx="1537335" cy="11264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4610">
              <a:lnSpc>
                <a:spcPct val="100800"/>
              </a:lnSpc>
              <a:spcBef>
                <a:spcPts val="75"/>
              </a:spcBef>
              <a:tabLst>
                <a:tab pos="1169035" algn="l"/>
              </a:tabLst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4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  </a:t>
            </a:r>
            <a:r>
              <a:rPr dirty="0" sz="24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1219200" algn="l"/>
              </a:tabLst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	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14494" y="1835657"/>
            <a:ext cx="4386580" cy="3209925"/>
          </a:xfrm>
          <a:custGeom>
            <a:avLst/>
            <a:gdLst/>
            <a:ahLst/>
            <a:cxnLst/>
            <a:rect l="l" t="t" r="r" b="b"/>
            <a:pathLst>
              <a:path w="4386580" h="3209925">
                <a:moveTo>
                  <a:pt x="0" y="3209544"/>
                </a:moveTo>
                <a:lnTo>
                  <a:pt x="4386072" y="3209544"/>
                </a:lnTo>
                <a:lnTo>
                  <a:pt x="4386072" y="0"/>
                </a:lnTo>
                <a:lnTo>
                  <a:pt x="0" y="0"/>
                </a:lnTo>
                <a:lnTo>
                  <a:pt x="0" y="320954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4714494" y="1835657"/>
          <a:ext cx="4430395" cy="3228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850"/>
                <a:gridCol w="1350010"/>
                <a:gridCol w="977900"/>
                <a:gridCol w="1144905"/>
              </a:tblGrid>
              <a:tr h="502157">
                <a:tc rowSpan="2"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0025"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82625">
                        <a:lnSpc>
                          <a:spcPts val="364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3704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43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00025"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ts val="2580"/>
                        </a:lnSpc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264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ts val="2580"/>
                        </a:lnSpc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8076">
                <a:tc>
                  <a:txBody>
                    <a:bodyPr/>
                    <a:lstStyle/>
                    <a:p>
                      <a:pPr algn="r" marR="3073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132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>
                    <a:lnL w="381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84631">
                <a:tc>
                  <a:txBody>
                    <a:bodyPr/>
                    <a:lstStyle/>
                    <a:p>
                      <a:pPr algn="r" marR="3073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79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803147">
                <a:tc>
                  <a:txBody>
                    <a:bodyPr/>
                    <a:lstStyle/>
                    <a:p>
                      <a:pPr algn="r" marR="3073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715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5895">
                        <a:lnSpc>
                          <a:spcPts val="2125"/>
                        </a:lnSpc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132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  <a:p>
                      <a:pPr algn="ctr" marL="78740">
                        <a:lnSpc>
                          <a:spcPts val="3279"/>
                        </a:lnSpc>
                      </a:pPr>
                      <a:r>
                        <a:rPr dirty="0" sz="3200" b="1">
                          <a:solidFill>
                            <a:srgbClr val="66FF66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132" sz="3150" b="1">
                          <a:solidFill>
                            <a:srgbClr val="66FF66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6865">
                        <a:lnSpc>
                          <a:spcPts val="348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132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ts val="304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r" marR="307340">
                        <a:lnSpc>
                          <a:spcPts val="28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2660"/>
                        </a:lnSpc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132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2660"/>
                        </a:lnSpc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132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8462" y="4627626"/>
            <a:ext cx="8077200" cy="1440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8462" y="4627626"/>
            <a:ext cx="8077200" cy="1440180"/>
          </a:xfrm>
          <a:custGeom>
            <a:avLst/>
            <a:gdLst/>
            <a:ahLst/>
            <a:cxnLst/>
            <a:rect l="l" t="t" r="r" b="b"/>
            <a:pathLst>
              <a:path w="8077200" h="1440179">
                <a:moveTo>
                  <a:pt x="0" y="1440180"/>
                </a:moveTo>
                <a:lnTo>
                  <a:pt x="8077200" y="1440180"/>
                </a:lnTo>
                <a:lnTo>
                  <a:pt x="8077200" y="0"/>
                </a:lnTo>
                <a:lnTo>
                  <a:pt x="0" y="0"/>
                </a:lnTo>
                <a:lnTo>
                  <a:pt x="0" y="144018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3400" y="4465320"/>
            <a:ext cx="1227582" cy="12291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7042" y="26923"/>
            <a:ext cx="8188325" cy="592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3755">
              <a:lnSpc>
                <a:spcPct val="100000"/>
              </a:lnSpc>
              <a:spcBef>
                <a:spcPts val="100"/>
              </a:spcBef>
              <a:tabLst>
                <a:tab pos="1414145" algn="l"/>
                <a:tab pos="3007360" algn="l"/>
                <a:tab pos="351472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析表的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700">
              <a:latin typeface="宋体"/>
              <a:cs typeface="宋体"/>
            </a:endParaRPr>
          </a:p>
          <a:p>
            <a:pPr marL="12700" marR="5080" indent="819785">
              <a:lnSpc>
                <a:spcPct val="1207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在识别活前缀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范族的某一项目集）中，若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既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含有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点不在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最后的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移进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项目，又含有圆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的归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项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目，则称该项目集存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移进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－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归</a:t>
            </a:r>
            <a:r>
              <a:rPr dirty="0" sz="3200" spc="10" b="1">
                <a:solidFill>
                  <a:srgbClr val="66FFFF"/>
                </a:solidFill>
                <a:latin typeface="宋体"/>
                <a:cs typeface="宋体"/>
              </a:rPr>
              <a:t>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冲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突。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若含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有两个或两个以上圆点在最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的归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称该项目集存在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归约－归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冲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361950">
              <a:lnSpc>
                <a:spcPct val="100000"/>
              </a:lnSpc>
              <a:spcBef>
                <a:spcPts val="2465"/>
              </a:spcBef>
            </a:pPr>
            <a:r>
              <a:rPr dirty="0" sz="4400" spc="5">
                <a:solidFill>
                  <a:srgbClr val="540413"/>
                </a:solidFill>
                <a:latin typeface="Wingdings"/>
                <a:cs typeface="Wingdings"/>
              </a:rPr>
              <a:t></a:t>
            </a:r>
            <a:r>
              <a:rPr dirty="0" sz="4400" spc="285">
                <a:solidFill>
                  <a:srgbClr val="540413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algn="ctr" marR="394335">
              <a:lnSpc>
                <a:spcPct val="100000"/>
              </a:lnSpc>
              <a:spcBef>
                <a:spcPts val="1225"/>
              </a:spcBef>
            </a:pPr>
            <a:r>
              <a:rPr dirty="0" sz="3200" b="1">
                <a:latin typeface="宋体"/>
                <a:cs typeface="宋体"/>
              </a:rPr>
              <a:t>冲突情况都与归约动作</a:t>
            </a:r>
            <a:r>
              <a:rPr dirty="0" sz="3200" spc="-15" b="1">
                <a:latin typeface="宋体"/>
                <a:cs typeface="宋体"/>
              </a:rPr>
              <a:t>相</a:t>
            </a:r>
            <a:r>
              <a:rPr dirty="0" sz="3200" b="1">
                <a:latin typeface="宋体"/>
                <a:cs typeface="宋体"/>
              </a:rPr>
              <a:t>关。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74040" y="0"/>
            <a:ext cx="7419975" cy="1294130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776605">
              <a:lnSpc>
                <a:spcPct val="100000"/>
              </a:lnSpc>
              <a:spcBef>
                <a:spcPts val="1325"/>
              </a:spcBef>
              <a:tabLst>
                <a:tab pos="1357630" algn="l"/>
                <a:tab pos="2950210" algn="l"/>
                <a:tab pos="34575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析表的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宋体"/>
              <a:cs typeface="宋体"/>
            </a:endParaRPr>
          </a:p>
          <a:p>
            <a:pPr marL="318770" indent="-306705">
              <a:lnSpc>
                <a:spcPct val="100000"/>
              </a:lnSpc>
              <a:buClr>
                <a:srgbClr val="FFFF00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分析：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0076" y="1156509"/>
            <a:ext cx="7412990" cy="2811145"/>
          </a:xfrm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algn="just" marL="25400" marR="17780" indent="607695">
              <a:lnSpc>
                <a:spcPct val="112400"/>
              </a:lnSpc>
              <a:spcBef>
                <a:spcPts val="10"/>
              </a:spcBef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FFFFFF"/>
                </a:solidFill>
              </a:rPr>
              <a:t>分析表构</a:t>
            </a:r>
            <a:r>
              <a:rPr dirty="0" sz="3200" spc="-10">
                <a:solidFill>
                  <a:srgbClr val="FFFFFF"/>
                </a:solidFill>
              </a:rPr>
              <a:t>造</a:t>
            </a:r>
            <a:r>
              <a:rPr dirty="0" sz="3200" spc="-5">
                <a:solidFill>
                  <a:srgbClr val="FFFFFF"/>
                </a:solidFill>
              </a:rPr>
              <a:t>算法对</a:t>
            </a:r>
            <a:r>
              <a:rPr dirty="0" sz="3200" spc="-10">
                <a:solidFill>
                  <a:srgbClr val="FFFFFF"/>
                </a:solidFill>
              </a:rPr>
              <a:t>含</a:t>
            </a:r>
            <a:r>
              <a:rPr dirty="0" sz="3200" spc="-5">
                <a:solidFill>
                  <a:srgbClr val="FFFFFF"/>
                </a:solidFill>
              </a:rPr>
              <a:t>有归</a:t>
            </a:r>
            <a:r>
              <a:rPr dirty="0" sz="3200" spc="-10">
                <a:solidFill>
                  <a:srgbClr val="FFFFFF"/>
                </a:solidFill>
              </a:rPr>
              <a:t>约</a:t>
            </a:r>
            <a:r>
              <a:rPr dirty="0" sz="3200" spc="-5">
                <a:solidFill>
                  <a:srgbClr val="FFFFFF"/>
                </a:solidFill>
              </a:rPr>
              <a:t>项</a:t>
            </a:r>
            <a:r>
              <a:rPr dirty="0" sz="3200" spc="-10">
                <a:solidFill>
                  <a:srgbClr val="FFFFFF"/>
                </a:solidFill>
              </a:rPr>
              <a:t>目 </a:t>
            </a:r>
            <a:r>
              <a:rPr dirty="0" sz="3200" spc="-20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0">
                <a:solidFill>
                  <a:srgbClr val="FFFFFF"/>
                </a:solidFill>
              </a:rPr>
              <a:t>→</a:t>
            </a:r>
            <a:r>
              <a:rPr dirty="0" sz="3350" spc="-20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 spc="-20">
                <a:solidFill>
                  <a:srgbClr val="FFFFFF"/>
                </a:solidFill>
                <a:latin typeface="Book Antiqua"/>
                <a:cs typeface="Book Antiqua"/>
              </a:rPr>
              <a:t>·</a:t>
            </a:r>
            <a:r>
              <a:rPr dirty="0" sz="3200" spc="75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dirty="0" sz="3200">
                <a:solidFill>
                  <a:srgbClr val="FFFFFF"/>
                </a:solidFill>
              </a:rPr>
              <a:t>的项目集（状态）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046" sz="36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046" sz="3600" spc="-157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</a:rPr>
              <a:t>，不管当前输 </a:t>
            </a:r>
            <a:r>
              <a:rPr dirty="0" sz="3200" spc="-5">
                <a:solidFill>
                  <a:srgbClr val="FFFFFF"/>
                </a:solidFill>
              </a:rPr>
              <a:t>入符号为何，皆</a:t>
            </a:r>
            <a:r>
              <a:rPr dirty="0" sz="3200">
                <a:solidFill>
                  <a:srgbClr val="FFFFFF"/>
                </a:solidFill>
              </a:rPr>
              <a:t>把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dirty="0" sz="3200" spc="-10">
                <a:solidFill>
                  <a:srgbClr val="FFFFFF"/>
                </a:solidFill>
              </a:rPr>
              <a:t>子</a:t>
            </a:r>
            <a:r>
              <a:rPr dirty="0" sz="3200" spc="5">
                <a:solidFill>
                  <a:srgbClr val="FFFFFF"/>
                </a:solidFill>
              </a:rPr>
              <a:t>表</a:t>
            </a:r>
            <a:r>
              <a:rPr dirty="0" sz="3200" spc="-10">
                <a:solidFill>
                  <a:srgbClr val="FFFFFF"/>
                </a:solidFill>
              </a:rPr>
              <a:t>相应</a:t>
            </a:r>
            <a:r>
              <a:rPr dirty="0" sz="3200">
                <a:solidFill>
                  <a:srgbClr val="FFFFFF"/>
                </a:solidFill>
              </a:rPr>
              <a:t>于</a:t>
            </a:r>
            <a:r>
              <a:rPr dirty="0" sz="3200" spc="-10">
                <a:solidFill>
                  <a:srgbClr val="FFFFFF"/>
                </a:solidFill>
              </a:rPr>
              <a:t>状态</a:t>
            </a:r>
            <a:endParaRPr sz="3200">
              <a:latin typeface="Times New Roman"/>
              <a:cs typeface="Times New Roman"/>
            </a:endParaRPr>
          </a:p>
          <a:p>
            <a:pPr algn="just" marL="26670" marR="29845">
              <a:lnSpc>
                <a:spcPct val="111100"/>
              </a:lnSpc>
              <a:spcBef>
                <a:spcPts val="150"/>
              </a:spcBef>
            </a:pP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>
                <a:solidFill>
                  <a:srgbClr val="FFFFFF"/>
                </a:solidFill>
              </a:rPr>
              <a:t>的那一行的诸元素都指定</a:t>
            </a:r>
            <a:r>
              <a:rPr dirty="0" sz="3200" spc="-10">
                <a:solidFill>
                  <a:srgbClr val="FFFFFF"/>
                </a:solidFill>
              </a:rPr>
              <a:t>为</a:t>
            </a:r>
            <a:r>
              <a:rPr dirty="0" sz="3200" spc="-50">
                <a:solidFill>
                  <a:srgbClr val="FFFFFF"/>
                </a:solidFill>
              </a:rPr>
              <a:t> </a:t>
            </a: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15873" sz="3150" spc="7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5873" sz="3150" spc="794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</a:rPr>
              <a:t>其中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spc="-2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FFFFFF"/>
                </a:solidFill>
              </a:rPr>
              <a:t>为 </a:t>
            </a:r>
            <a:r>
              <a:rPr dirty="0" sz="3200">
                <a:solidFill>
                  <a:srgbClr val="FFFFFF"/>
                </a:solidFill>
              </a:rPr>
              <a:t>产生式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>
                <a:solidFill>
                  <a:srgbClr val="FFFFFF"/>
                </a:solidFill>
              </a:rPr>
              <a:t>→</a:t>
            </a:r>
            <a:r>
              <a:rPr dirty="0" sz="3200" spc="-25">
                <a:solidFill>
                  <a:srgbClr val="FFFFFF"/>
                </a:solidFill>
              </a:rPr>
              <a:t> </a:t>
            </a:r>
            <a:r>
              <a:rPr dirty="0" sz="3350" spc="-85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350" spc="-3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Book Antiqua"/>
                <a:cs typeface="Book Antiqua"/>
              </a:rPr>
              <a:t>· </a:t>
            </a:r>
            <a:r>
              <a:rPr dirty="0" sz="3200">
                <a:solidFill>
                  <a:srgbClr val="FFFFFF"/>
                </a:solidFill>
              </a:rPr>
              <a:t>的编号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>
                <a:solidFill>
                  <a:srgbClr val="FFFFFF"/>
                </a:solidFill>
              </a:rPr>
              <a:t>。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20774" y="5106161"/>
            <a:ext cx="6210300" cy="0"/>
          </a:xfrm>
          <a:custGeom>
            <a:avLst/>
            <a:gdLst/>
            <a:ahLst/>
            <a:cxnLst/>
            <a:rect l="l" t="t" r="r" b="b"/>
            <a:pathLst>
              <a:path w="6210300" h="0">
                <a:moveTo>
                  <a:pt x="0" y="0"/>
                </a:moveTo>
                <a:lnTo>
                  <a:pt x="62103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49473" y="4403597"/>
            <a:ext cx="0" cy="2303145"/>
          </a:xfrm>
          <a:custGeom>
            <a:avLst/>
            <a:gdLst/>
            <a:ahLst/>
            <a:cxnLst/>
            <a:rect l="l" t="t" r="r" b="b"/>
            <a:pathLst>
              <a:path w="0" h="2303145">
                <a:moveTo>
                  <a:pt x="0" y="0"/>
                </a:moveTo>
                <a:lnTo>
                  <a:pt x="0" y="230276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291966" y="4362069"/>
            <a:ext cx="149161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100455" algn="l"/>
              </a:tabLst>
            </a:pP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1	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95696" y="4598289"/>
            <a:ext cx="29718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92901" y="4362069"/>
            <a:ext cx="43180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8117" y="4948559"/>
            <a:ext cx="433070" cy="170942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8761" y="5563361"/>
            <a:ext cx="4000500" cy="668020"/>
          </a:xfrm>
          <a:prstGeom prst="rect">
            <a:avLst/>
          </a:prstGeom>
          <a:ln w="38100">
            <a:solidFill>
              <a:srgbClr val="FF66C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93370">
              <a:lnSpc>
                <a:spcPts val="3625"/>
              </a:lnSpc>
              <a:tabLst>
                <a:tab pos="1278255" algn="l"/>
                <a:tab pos="1990089" algn="l"/>
                <a:tab pos="3277870" algn="l"/>
              </a:tabLst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15873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j	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15873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j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	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15873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endParaRPr baseline="-15873"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62634" y="26923"/>
            <a:ext cx="38696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6747" y="26923"/>
            <a:ext cx="27978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5.6.1	SLR(1)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分析的缺陷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2494" y="449671"/>
            <a:ext cx="397510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action(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 = {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3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35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44228" y="471677"/>
            <a:ext cx="272732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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∈</a:t>
            </a:r>
            <a:r>
              <a:rPr dirty="0" sz="3200" spc="-9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3200" spc="5" b="1">
                <a:solidFill>
                  <a:srgbClr val="FFFF00"/>
                </a:solidFill>
                <a:latin typeface="Symbol"/>
                <a:cs typeface="Symbol"/>
              </a:rPr>
              <a:t>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{#})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1261" y="1070610"/>
            <a:ext cx="1696720" cy="0"/>
          </a:xfrm>
          <a:custGeom>
            <a:avLst/>
            <a:gdLst/>
            <a:ahLst/>
            <a:cxnLst/>
            <a:rect l="l" t="t" r="r" b="b"/>
            <a:pathLst>
              <a:path w="1696720" h="0">
                <a:moveTo>
                  <a:pt x="0" y="0"/>
                </a:moveTo>
                <a:lnTo>
                  <a:pt x="1696212" y="0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02640" y="928217"/>
            <a:ext cx="8101330" cy="5524500"/>
          </a:xfrm>
          <a:prstGeom prst="rect">
            <a:avLst/>
          </a:prstGeom>
        </p:spPr>
        <p:txBody>
          <a:bodyPr wrap="square" lIns="0" tIns="267970" rIns="0" bIns="0" rtlCol="0" vert="horz">
            <a:spAutoFit/>
          </a:bodyPr>
          <a:lstStyle/>
          <a:p>
            <a:pPr marL="3346450">
              <a:lnSpc>
                <a:spcPct val="100000"/>
              </a:lnSpc>
              <a:spcBef>
                <a:spcPts val="2110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归约未必有效！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201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∵</a:t>
            </a:r>
            <a:r>
              <a:rPr dirty="0" sz="3200" spc="-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可能不存在一个规范句型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形式。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000"/>
              </a:spcBef>
              <a:tabLst>
                <a:tab pos="692785" algn="l"/>
                <a:tab pos="2084705" algn="l"/>
              </a:tabLst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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	</a:t>
            </a:r>
            <a:r>
              <a:rPr dirty="0" sz="3350" spc="-70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归约不一定有效。</a:t>
            </a:r>
            <a:endParaRPr sz="3200">
              <a:latin typeface="宋体"/>
              <a:cs typeface="宋体"/>
            </a:endParaRPr>
          </a:p>
          <a:p>
            <a:pPr marL="354965" indent="-317500">
              <a:lnSpc>
                <a:spcPct val="100000"/>
              </a:lnSpc>
              <a:spcBef>
                <a:spcPts val="234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556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4.5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（回顾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38100" marR="86360" indent="101600">
              <a:lnSpc>
                <a:spcPts val="4990"/>
              </a:lnSpc>
              <a:spcBef>
                <a:spcPts val="36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设上下文无关文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始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对于文法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的任何非终结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139700" marR="121920" indent="406400">
              <a:lnSpc>
                <a:spcPct val="121000"/>
              </a:lnSpc>
              <a:spcBef>
                <a:spcPts val="76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＝｛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|</a:t>
            </a:r>
            <a:r>
              <a:rPr dirty="0" sz="3200" spc="-9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=&gt;…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Aa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…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∈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｝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则令＃∈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2400" y="6193790"/>
            <a:ext cx="8560435" cy="0"/>
          </a:xfrm>
          <a:custGeom>
            <a:avLst/>
            <a:gdLst/>
            <a:ahLst/>
            <a:cxnLst/>
            <a:rect l="l" t="t" r="r" b="b"/>
            <a:pathLst>
              <a:path w="8560435" h="0">
                <a:moveTo>
                  <a:pt x="0" y="0"/>
                </a:moveTo>
                <a:lnTo>
                  <a:pt x="8560308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8750" y="5453379"/>
            <a:ext cx="0" cy="734060"/>
          </a:xfrm>
          <a:custGeom>
            <a:avLst/>
            <a:gdLst/>
            <a:ahLst/>
            <a:cxnLst/>
            <a:rect l="l" t="t" r="r" b="b"/>
            <a:pathLst>
              <a:path w="0" h="734060">
                <a:moveTo>
                  <a:pt x="0" y="0"/>
                </a:moveTo>
                <a:lnTo>
                  <a:pt x="0" y="73406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2400" y="5447029"/>
            <a:ext cx="8560435" cy="0"/>
          </a:xfrm>
          <a:custGeom>
            <a:avLst/>
            <a:gdLst/>
            <a:ahLst/>
            <a:cxnLst/>
            <a:rect l="l" t="t" r="r" b="b"/>
            <a:pathLst>
              <a:path w="8560435" h="0">
                <a:moveTo>
                  <a:pt x="0" y="0"/>
                </a:moveTo>
                <a:lnTo>
                  <a:pt x="8560308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06357" y="5453379"/>
            <a:ext cx="0" cy="734060"/>
          </a:xfrm>
          <a:custGeom>
            <a:avLst/>
            <a:gdLst/>
            <a:ahLst/>
            <a:cxnLst/>
            <a:rect l="l" t="t" r="r" b="b"/>
            <a:pathLst>
              <a:path w="0" h="734060">
                <a:moveTo>
                  <a:pt x="0" y="0"/>
                </a:moveTo>
                <a:lnTo>
                  <a:pt x="0" y="733552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7800" y="6162040"/>
            <a:ext cx="8509635" cy="0"/>
          </a:xfrm>
          <a:custGeom>
            <a:avLst/>
            <a:gdLst/>
            <a:ahLst/>
            <a:cxnLst/>
            <a:rect l="l" t="t" r="r" b="b"/>
            <a:pathLst>
              <a:path w="8509635" h="0">
                <a:moveTo>
                  <a:pt x="0" y="0"/>
                </a:moveTo>
                <a:lnTo>
                  <a:pt x="8509508" y="0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0500" y="5491479"/>
            <a:ext cx="0" cy="657860"/>
          </a:xfrm>
          <a:custGeom>
            <a:avLst/>
            <a:gdLst/>
            <a:ahLst/>
            <a:cxnLst/>
            <a:rect l="l" t="t" r="r" b="b"/>
            <a:pathLst>
              <a:path w="0" h="657860">
                <a:moveTo>
                  <a:pt x="0" y="0"/>
                </a:moveTo>
                <a:lnTo>
                  <a:pt x="0" y="657860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7800" y="5478779"/>
            <a:ext cx="8509635" cy="0"/>
          </a:xfrm>
          <a:custGeom>
            <a:avLst/>
            <a:gdLst/>
            <a:ahLst/>
            <a:cxnLst/>
            <a:rect l="l" t="t" r="r" b="b"/>
            <a:pathLst>
              <a:path w="8509635" h="0">
                <a:moveTo>
                  <a:pt x="0" y="0"/>
                </a:moveTo>
                <a:lnTo>
                  <a:pt x="8509508" y="0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74607" y="5491479"/>
            <a:ext cx="0" cy="657860"/>
          </a:xfrm>
          <a:custGeom>
            <a:avLst/>
            <a:gdLst/>
            <a:ahLst/>
            <a:cxnLst/>
            <a:rect l="l" t="t" r="r" b="b"/>
            <a:pathLst>
              <a:path w="0" h="657860">
                <a:moveTo>
                  <a:pt x="0" y="0"/>
                </a:moveTo>
                <a:lnTo>
                  <a:pt x="0" y="657352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5900" y="6130290"/>
            <a:ext cx="8433435" cy="0"/>
          </a:xfrm>
          <a:custGeom>
            <a:avLst/>
            <a:gdLst/>
            <a:ahLst/>
            <a:cxnLst/>
            <a:rect l="l" t="t" r="r" b="b"/>
            <a:pathLst>
              <a:path w="8433435" h="0">
                <a:moveTo>
                  <a:pt x="0" y="0"/>
                </a:moveTo>
                <a:lnTo>
                  <a:pt x="8433308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2250" y="5516879"/>
            <a:ext cx="0" cy="607060"/>
          </a:xfrm>
          <a:custGeom>
            <a:avLst/>
            <a:gdLst/>
            <a:ahLst/>
            <a:cxnLst/>
            <a:rect l="l" t="t" r="r" b="b"/>
            <a:pathLst>
              <a:path w="0" h="607060">
                <a:moveTo>
                  <a:pt x="0" y="0"/>
                </a:moveTo>
                <a:lnTo>
                  <a:pt x="0" y="60706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5900" y="5510529"/>
            <a:ext cx="8433435" cy="0"/>
          </a:xfrm>
          <a:custGeom>
            <a:avLst/>
            <a:gdLst/>
            <a:ahLst/>
            <a:cxnLst/>
            <a:rect l="l" t="t" r="r" b="b"/>
            <a:pathLst>
              <a:path w="8433435" h="0">
                <a:moveTo>
                  <a:pt x="0" y="0"/>
                </a:moveTo>
                <a:lnTo>
                  <a:pt x="8433308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642857" y="5516879"/>
            <a:ext cx="0" cy="607060"/>
          </a:xfrm>
          <a:custGeom>
            <a:avLst/>
            <a:gdLst/>
            <a:ahLst/>
            <a:cxnLst/>
            <a:rect l="l" t="t" r="r" b="b"/>
            <a:pathLst>
              <a:path w="0" h="607060">
                <a:moveTo>
                  <a:pt x="0" y="0"/>
                </a:moveTo>
                <a:lnTo>
                  <a:pt x="0" y="606552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0500" y="0"/>
            <a:ext cx="8670290" cy="608139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160145">
              <a:lnSpc>
                <a:spcPct val="100000"/>
              </a:lnSpc>
              <a:spcBef>
                <a:spcPts val="710"/>
              </a:spcBef>
              <a:tabLst>
                <a:tab pos="1741170" algn="l"/>
                <a:tab pos="3333750" algn="l"/>
                <a:tab pos="384111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析表的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  <a:p>
            <a:pPr marL="72390">
              <a:lnSpc>
                <a:spcPct val="100000"/>
              </a:lnSpc>
              <a:spcBef>
                <a:spcPts val="98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对含有归约项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的项目集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-5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72390" marR="910590" indent="1218565">
              <a:lnSpc>
                <a:spcPts val="4040"/>
              </a:lnSpc>
              <a:spcBef>
                <a:spcPts val="160"/>
              </a:spcBef>
              <a:tabLst>
                <a:tab pos="3147695" algn="l"/>
              </a:tabLst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40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｛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	</a:t>
            </a:r>
            <a:r>
              <a:rPr dirty="0" sz="3350" spc="-25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200" spc="-25" b="1">
                <a:solidFill>
                  <a:srgbClr val="FFFF00"/>
                </a:solidFill>
                <a:latin typeface="宋体"/>
                <a:cs typeface="宋体"/>
              </a:rPr>
              <a:t>·，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350" spc="-10" b="1" i="1">
                <a:solidFill>
                  <a:srgbClr val="FFFF00"/>
                </a:solidFill>
                <a:latin typeface="Symbol"/>
                <a:cs typeface="Symbol"/>
              </a:rPr>
              <a:t>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·，</a:t>
            </a:r>
            <a:r>
              <a:rPr dirty="0" sz="3200" spc="-10" b="1">
                <a:solidFill>
                  <a:srgbClr val="FFFF00"/>
                </a:solidFill>
                <a:latin typeface="Symbol"/>
                <a:cs typeface="Symbol"/>
              </a:rPr>
              <a:t>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｝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填写归约动作时，首先求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  <a:p>
            <a:pPr marL="72390">
              <a:lnSpc>
                <a:spcPct val="100000"/>
              </a:lnSpc>
              <a:spcBef>
                <a:spcPts val="2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，再对任何输入符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055370" indent="-575310">
              <a:lnSpc>
                <a:spcPct val="100000"/>
              </a:lnSpc>
              <a:spcBef>
                <a:spcPts val="190"/>
              </a:spcBef>
              <a:buFont typeface="Times New Roman"/>
              <a:buAutoNum type="arabicParenBoth"/>
              <a:tabLst>
                <a:tab pos="105600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76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27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089025">
              <a:lnSpc>
                <a:spcPct val="100000"/>
              </a:lnSpc>
              <a:spcBef>
                <a:spcPts val="45"/>
              </a:spcBef>
              <a:tabLst>
                <a:tab pos="427164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按产生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3200" spc="-819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	</a:t>
            </a:r>
            <a:r>
              <a:rPr dirty="0" sz="3350" spc="-85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350" spc="-3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归约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｝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055370" indent="-575310">
              <a:lnSpc>
                <a:spcPct val="100000"/>
              </a:lnSpc>
              <a:spcBef>
                <a:spcPts val="165"/>
              </a:spcBef>
              <a:buFont typeface="Times New Roman"/>
              <a:buAutoNum type="arabicParenBoth" startAt="2"/>
              <a:tabLst>
                <a:tab pos="105600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770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28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089025">
              <a:lnSpc>
                <a:spcPct val="100000"/>
              </a:lnSpc>
              <a:spcBef>
                <a:spcPts val="4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按产生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3200" spc="-8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350" spc="-75" b="1" i="1">
                <a:solidFill>
                  <a:srgbClr val="FFFF00"/>
                </a:solidFill>
                <a:latin typeface="Symbol"/>
                <a:cs typeface="Symbol"/>
              </a:rPr>
              <a:t></a:t>
            </a:r>
            <a:r>
              <a:rPr dirty="0" sz="3350" spc="-4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归约｝；</a:t>
            </a:r>
            <a:endParaRPr sz="3200">
              <a:latin typeface="宋体"/>
              <a:cs typeface="宋体"/>
            </a:endParaRPr>
          </a:p>
          <a:p>
            <a:pPr marL="1055370" indent="-575310">
              <a:lnSpc>
                <a:spcPct val="100000"/>
              </a:lnSpc>
              <a:spcBef>
                <a:spcPts val="165"/>
              </a:spcBef>
              <a:buFont typeface="Times New Roman"/>
              <a:buAutoNum type="arabicParenBoth" startAt="3"/>
              <a:tabLst>
                <a:tab pos="105600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不属于上述情况时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不填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25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SLR(1)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冲突解决方法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66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SLR(1)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规则。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0"/>
            <a:ext cx="8750300" cy="1104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algn="ctr" marL="275590">
              <a:lnSpc>
                <a:spcPct val="100000"/>
              </a:lnSpc>
              <a:spcBef>
                <a:spcPts val="1100"/>
              </a:spcBef>
              <a:tabLst>
                <a:tab pos="855980" algn="l"/>
                <a:tab pos="2194560" algn="l"/>
                <a:tab pos="270319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表的构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造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从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项目集规范</a:t>
            </a:r>
            <a:r>
              <a:rPr dirty="0" u="heavy" sz="30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族</a:t>
            </a:r>
            <a:r>
              <a:rPr dirty="0" sz="3000" b="1" i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和</a:t>
            </a:r>
            <a:r>
              <a:rPr dirty="0" u="heavy" sz="3000" spc="-1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GO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函数构</a:t>
            </a:r>
            <a:r>
              <a:rPr dirty="0" u="heavy" sz="30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造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S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LR(1)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分析表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2943" y="1054989"/>
            <a:ext cx="1658620" cy="561340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41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2004" y="1094613"/>
            <a:ext cx="33343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SLR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451" y="1582168"/>
            <a:ext cx="7824470" cy="509968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5"/>
              </a:spcBef>
            </a:pP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输入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和文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规范族</a:t>
            </a:r>
            <a:endParaRPr sz="3200">
              <a:latin typeface="宋体"/>
              <a:cs typeface="宋体"/>
            </a:endParaRPr>
          </a:p>
          <a:p>
            <a:pPr marL="1257300">
              <a:lnSpc>
                <a:spcPct val="100000"/>
              </a:lnSpc>
              <a:spcBef>
                <a:spcPts val="1155"/>
              </a:spcBef>
            </a:pP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GO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endParaRPr sz="3200">
              <a:latin typeface="宋体"/>
              <a:cs typeface="宋体"/>
            </a:endParaRPr>
          </a:p>
          <a:p>
            <a:pPr marL="38100" marR="2546350">
              <a:lnSpc>
                <a:spcPts val="4990"/>
              </a:lnSpc>
              <a:spcBef>
                <a:spcPts val="360"/>
              </a:spcBef>
            </a:pP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输出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分析表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方法：</a:t>
            </a:r>
            <a:endParaRPr sz="3200">
              <a:latin typeface="宋体"/>
              <a:cs typeface="宋体"/>
            </a:endParaRPr>
          </a:p>
          <a:p>
            <a:pPr marL="446405">
              <a:lnSpc>
                <a:spcPct val="100000"/>
              </a:lnSpc>
              <a:spcBef>
                <a:spcPts val="80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spc="-8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｝，每个项目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8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endParaRPr baseline="-25132" sz="3150">
              <a:latin typeface="Times New Roman"/>
              <a:cs typeface="Times New Roman"/>
            </a:endParaRPr>
          </a:p>
          <a:p>
            <a:pPr marL="518159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作为分析器的状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748030" marR="1557655" indent="-709295">
              <a:lnSpc>
                <a:spcPts val="4990"/>
              </a:lnSpc>
              <a:spcBef>
                <a:spcPts val="36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3200" spc="76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9841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baseline="-19841" sz="3150" spc="-7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7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baseline="-25132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-1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350" spc="-2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1164" sz="3150" spc="-3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则置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25132" sz="3150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-82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23053" y="2667761"/>
            <a:ext cx="3455035" cy="495300"/>
          </a:xfrm>
          <a:custGeom>
            <a:avLst/>
            <a:gdLst/>
            <a:ahLst/>
            <a:cxnLst/>
            <a:rect l="l" t="t" r="r" b="b"/>
            <a:pathLst>
              <a:path w="3455034" h="495300">
                <a:moveTo>
                  <a:pt x="0" y="495300"/>
                </a:moveTo>
                <a:lnTo>
                  <a:pt x="3454907" y="495300"/>
                </a:lnTo>
                <a:lnTo>
                  <a:pt x="3454907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540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23053" y="2667761"/>
            <a:ext cx="3455035" cy="495300"/>
          </a:xfrm>
          <a:custGeom>
            <a:avLst/>
            <a:gdLst/>
            <a:ahLst/>
            <a:cxnLst/>
            <a:rect l="l" t="t" r="r" b="b"/>
            <a:pathLst>
              <a:path w="3455034" h="495300">
                <a:moveTo>
                  <a:pt x="0" y="495300"/>
                </a:moveTo>
                <a:lnTo>
                  <a:pt x="3454907" y="495300"/>
                </a:lnTo>
                <a:lnTo>
                  <a:pt x="3454907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721233"/>
            <a:ext cx="1759585" cy="561340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41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8457" y="760857"/>
            <a:ext cx="47574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SLR(1)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3200" spc="-1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687070" marR="1894205" indent="-623570">
              <a:lnSpc>
                <a:spcPct val="141900"/>
              </a:lnSpc>
              <a:spcBef>
                <a:spcPts val="175"/>
              </a:spcBef>
              <a:tabLst>
                <a:tab pos="688340" algn="l"/>
              </a:tabLst>
            </a:pPr>
            <a:r>
              <a:rPr dirty="0" spc="-15">
                <a:solidFill>
                  <a:srgbClr val="FFFF00"/>
                </a:solidFill>
              </a:rPr>
              <a:t>②		</a:t>
            </a:r>
            <a:r>
              <a:rPr dirty="0" spc="-5"/>
              <a:t>若</a:t>
            </a:r>
            <a:r>
              <a:rPr dirty="0" spc="-10">
                <a:latin typeface="Times New Roman"/>
                <a:cs typeface="Times New Roman"/>
              </a:rPr>
              <a:t>GO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dirty="0" i="1">
                <a:latin typeface="Times New Roman"/>
                <a:cs typeface="Times New Roman"/>
              </a:rPr>
              <a:t>I</a:t>
            </a:r>
            <a:r>
              <a:rPr dirty="0" baseline="-25525" sz="2775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baseline="-25525" sz="2775" spc="31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,</a:t>
            </a:r>
            <a:r>
              <a:rPr dirty="0" sz="2800" spc="-5" i="1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)</a:t>
            </a:r>
            <a:r>
              <a:rPr dirty="0" sz="2800" spc="-5"/>
              <a:t>＝</a:t>
            </a:r>
            <a:r>
              <a:rPr dirty="0" sz="2800" spc="-5" i="1">
                <a:latin typeface="Times New Roman"/>
                <a:cs typeface="Times New Roman"/>
              </a:rPr>
              <a:t>I</a:t>
            </a:r>
            <a:r>
              <a:rPr dirty="0" baseline="-25525" sz="2775" spc="-7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525" sz="2775" spc="-15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(</a:t>
            </a:r>
            <a:r>
              <a:rPr dirty="0" sz="2800" spc="-25" i="1">
                <a:latin typeface="Times New Roman"/>
                <a:cs typeface="Times New Roman"/>
              </a:rPr>
              <a:t>A</a:t>
            </a:r>
            <a:r>
              <a:rPr dirty="0" sz="2800" spc="-25"/>
              <a:t>∈</a:t>
            </a:r>
            <a:r>
              <a:rPr dirty="0" sz="2950" spc="-25" i="1">
                <a:latin typeface="宋体"/>
                <a:cs typeface="宋体"/>
              </a:rPr>
              <a:t>Ｖ</a:t>
            </a:r>
            <a:r>
              <a:rPr dirty="0" baseline="-25525" sz="2775" spc="-37" i="1">
                <a:latin typeface="Times New Roman"/>
                <a:cs typeface="Times New Roman"/>
              </a:rPr>
              <a:t>N</a:t>
            </a:r>
            <a:r>
              <a:rPr dirty="0" sz="2800" spc="-25">
                <a:latin typeface="Times New Roman"/>
                <a:cs typeface="Times New Roman"/>
              </a:rPr>
              <a:t>)</a:t>
            </a:r>
            <a:r>
              <a:rPr dirty="0" sz="2800" spc="-25"/>
              <a:t>，</a:t>
            </a:r>
            <a:r>
              <a:rPr dirty="0" sz="2800" spc="-5"/>
              <a:t>则置 </a:t>
            </a:r>
            <a:r>
              <a:rPr dirty="0" sz="2800" spc="-15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dirty="0" sz="2800" spc="-15">
                <a:latin typeface="Times New Roman"/>
                <a:cs typeface="Times New Roman"/>
              </a:rPr>
              <a:t>(</a:t>
            </a:r>
            <a:r>
              <a:rPr dirty="0" sz="2800" spc="-15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/>
              <a:t>，</a:t>
            </a:r>
            <a:r>
              <a:rPr dirty="0" sz="2800" spc="-15" i="1">
                <a:latin typeface="Times New Roman"/>
                <a:cs typeface="Times New Roman"/>
              </a:rPr>
              <a:t>A</a:t>
            </a:r>
            <a:r>
              <a:rPr dirty="0" sz="2800" spc="-15">
                <a:latin typeface="Times New Roman"/>
                <a:cs typeface="Times New Roman"/>
              </a:rPr>
              <a:t>)</a:t>
            </a:r>
            <a:r>
              <a:rPr dirty="0" sz="2800" spc="-15"/>
              <a:t>＝</a:t>
            </a:r>
            <a:r>
              <a:rPr dirty="0" sz="2800" spc="-15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15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/>
              <a:t>；</a:t>
            </a:r>
            <a:endParaRPr sz="2800">
              <a:latin typeface="Times New Roman"/>
              <a:cs typeface="Times New Roman"/>
            </a:endParaRPr>
          </a:p>
          <a:p>
            <a:pPr marL="508634" marR="65405" indent="-445770">
              <a:lnSpc>
                <a:spcPts val="4870"/>
              </a:lnSpc>
              <a:spcBef>
                <a:spcPts val="420"/>
              </a:spcBef>
            </a:pPr>
            <a:r>
              <a:rPr dirty="0" spc="-15">
                <a:solidFill>
                  <a:srgbClr val="FF00FF"/>
                </a:solidFill>
              </a:rPr>
              <a:t>③</a:t>
            </a:r>
            <a:r>
              <a:rPr dirty="0" spc="-55">
                <a:solidFill>
                  <a:srgbClr val="FF00FF"/>
                </a:solidFill>
              </a:rPr>
              <a:t> </a:t>
            </a:r>
            <a:r>
              <a:rPr dirty="0" spc="-5"/>
              <a:t>若</a:t>
            </a:r>
            <a:r>
              <a:rPr dirty="0" spc="-10" i="1">
                <a:latin typeface="Times New Roman"/>
                <a:cs typeface="Times New Roman"/>
              </a:rPr>
              <a:t>A</a:t>
            </a:r>
            <a:r>
              <a:rPr dirty="0" spc="-10">
                <a:latin typeface="Times New Roman"/>
                <a:cs typeface="Times New Roman"/>
              </a:rPr>
              <a:t>→</a:t>
            </a:r>
            <a:r>
              <a:rPr dirty="0" spc="-20">
                <a:latin typeface="Times New Roman"/>
                <a:cs typeface="Times New Roman"/>
              </a:rPr>
              <a:t> </a:t>
            </a:r>
            <a:r>
              <a:rPr dirty="0" sz="2950" spc="-15" i="1">
                <a:latin typeface="Symbol"/>
                <a:cs typeface="Symbol"/>
              </a:rPr>
              <a:t></a:t>
            </a:r>
            <a:r>
              <a:rPr dirty="0" spc="-15"/>
              <a:t>·∈</a:t>
            </a:r>
            <a:r>
              <a:rPr dirty="0" spc="-15" i="1">
                <a:latin typeface="Times New Roman"/>
                <a:cs typeface="Times New Roman"/>
              </a:rPr>
              <a:t>I</a:t>
            </a:r>
            <a:r>
              <a:rPr dirty="0" baseline="-25525" sz="2775" spc="-22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/>
              <a:t>，</a:t>
            </a:r>
            <a:r>
              <a:rPr dirty="0" sz="2800" spc="-5"/>
              <a:t>则对</a:t>
            </a:r>
            <a:r>
              <a:rPr dirty="0" sz="2800" spc="-5">
                <a:solidFill>
                  <a:srgbClr val="66FFFF"/>
                </a:solidFill>
              </a:rPr>
              <a:t>所有</a:t>
            </a:r>
            <a:r>
              <a:rPr dirty="0" sz="2800" spc="-5" i="1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Symbol"/>
                <a:cs typeface="Symbol"/>
              </a:rPr>
              <a:t></a:t>
            </a:r>
            <a:r>
              <a:rPr dirty="0" sz="2800" spc="-5">
                <a:latin typeface="Times New Roman"/>
                <a:cs typeface="Times New Roman"/>
              </a:rPr>
              <a:t>FOLLOW(</a:t>
            </a:r>
            <a:r>
              <a:rPr dirty="0" sz="2800" spc="-5" i="1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)</a:t>
            </a:r>
            <a:r>
              <a:rPr dirty="0" sz="2800" spc="-5"/>
              <a:t>，  </a:t>
            </a:r>
            <a:r>
              <a:rPr dirty="0" sz="2800" spc="-10"/>
              <a:t>置</a:t>
            </a:r>
            <a:r>
              <a:rPr dirty="0" sz="2800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>
                <a:latin typeface="Times New Roman"/>
                <a:cs typeface="Times New Roman"/>
              </a:rPr>
              <a:t>(</a:t>
            </a:r>
            <a:r>
              <a:rPr dirty="0" sz="2800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,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)</a:t>
            </a:r>
            <a:r>
              <a:rPr dirty="0" sz="2800" spc="-5"/>
              <a:t>＝</a:t>
            </a:r>
            <a:r>
              <a:rPr dirty="0" sz="2800" spc="-5">
                <a:latin typeface="Times New Roman"/>
                <a:cs typeface="Times New Roman"/>
              </a:rPr>
              <a:t>r</a:t>
            </a:r>
            <a:r>
              <a:rPr dirty="0" baseline="-25525" sz="2775" spc="-7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/>
              <a:t>。</a:t>
            </a:r>
            <a:endParaRPr sz="2800">
              <a:latin typeface="Times New Roman"/>
              <a:cs typeface="Times New Roman"/>
            </a:endParaRPr>
          </a:p>
          <a:p>
            <a:pPr marL="420370">
              <a:lnSpc>
                <a:spcPct val="100000"/>
              </a:lnSpc>
              <a:spcBef>
                <a:spcPts val="1190"/>
              </a:spcBef>
            </a:pPr>
            <a:r>
              <a:rPr dirty="0" spc="-5">
                <a:latin typeface="Times New Roman"/>
                <a:cs typeface="Times New Roman"/>
              </a:rPr>
              <a:t>(</a:t>
            </a:r>
            <a:r>
              <a:rPr dirty="0" spc="-5"/>
              <a:t>其中假设产生式</a:t>
            </a:r>
            <a:r>
              <a:rPr dirty="0" spc="-30" i="1">
                <a:latin typeface="Times New Roman"/>
                <a:cs typeface="Times New Roman"/>
              </a:rPr>
              <a:t>A</a:t>
            </a:r>
            <a:r>
              <a:rPr dirty="0" spc="-30">
                <a:latin typeface="Times New Roman"/>
                <a:cs typeface="Times New Roman"/>
              </a:rPr>
              <a:t>→</a:t>
            </a:r>
            <a:r>
              <a:rPr dirty="0" sz="3350" spc="-30" i="1">
                <a:latin typeface="Symbol"/>
                <a:cs typeface="Symbol"/>
              </a:rPr>
              <a:t></a:t>
            </a:r>
            <a:r>
              <a:rPr dirty="0" spc="-30"/>
              <a:t>·</a:t>
            </a:r>
            <a:r>
              <a:rPr dirty="0" spc="-5"/>
              <a:t>是文法</a:t>
            </a:r>
            <a:r>
              <a:rPr dirty="0" spc="-15"/>
              <a:t>第</a:t>
            </a:r>
            <a:r>
              <a:rPr dirty="0" spc="-675"/>
              <a:t> </a:t>
            </a:r>
            <a:r>
              <a:rPr dirty="0" spc="-5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pc="-30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pc="-5"/>
              <a:t>个产生式</a:t>
            </a:r>
            <a:r>
              <a:rPr dirty="0" spc="-5">
                <a:latin typeface="Times New Roman"/>
                <a:cs typeface="Times New Roman"/>
              </a:rPr>
              <a:t>)</a:t>
            </a:r>
            <a:endParaRPr sz="3350">
              <a:latin typeface="Times New Roman"/>
              <a:cs typeface="Times New Roman"/>
            </a:endParaRPr>
          </a:p>
          <a:p>
            <a:pPr marL="64769">
              <a:lnSpc>
                <a:spcPct val="100000"/>
              </a:lnSpc>
              <a:spcBef>
                <a:spcPts val="1650"/>
              </a:spcBef>
              <a:tabLst>
                <a:tab pos="689610" algn="l"/>
              </a:tabLst>
            </a:pPr>
            <a:r>
              <a:rPr dirty="0" spc="-15"/>
              <a:t>④	</a:t>
            </a:r>
            <a:r>
              <a:rPr dirty="0" spc="-10"/>
              <a:t>若</a:t>
            </a:r>
            <a:r>
              <a:rPr dirty="0" spc="-5" i="1">
                <a:latin typeface="Times New Roman"/>
                <a:cs typeface="Times New Roman"/>
              </a:rPr>
              <a:t>S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sz="3200">
                <a:latin typeface="Symbol"/>
                <a:cs typeface="Symbol"/>
              </a:rPr>
              <a:t></a:t>
            </a:r>
            <a:r>
              <a:rPr dirty="0" sz="3200" spc="-105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→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 spc="-5" i="1">
                <a:latin typeface="Times New Roman"/>
                <a:cs typeface="Times New Roman"/>
              </a:rPr>
              <a:t>S</a:t>
            </a:r>
            <a:r>
              <a:rPr dirty="0" spc="125" i="1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·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pc="-5"/>
              <a:t>∈</a:t>
            </a:r>
            <a:r>
              <a:rPr dirty="0" spc="-5" i="1">
                <a:latin typeface="Times New Roman"/>
                <a:cs typeface="Times New Roman"/>
              </a:rPr>
              <a:t>I</a:t>
            </a:r>
            <a:r>
              <a:rPr dirty="0" baseline="-25525" sz="2775" spc="-7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5"/>
              <a:t>，</a:t>
            </a:r>
            <a:r>
              <a:rPr dirty="0" sz="2800" spc="-10"/>
              <a:t>则</a:t>
            </a:r>
            <a:r>
              <a:rPr dirty="0" sz="2800" spc="-5"/>
              <a:t>置</a:t>
            </a:r>
            <a:r>
              <a:rPr dirty="0" sz="2800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>
                <a:latin typeface="Times New Roman"/>
                <a:cs typeface="Times New Roman"/>
              </a:rPr>
              <a:t>(</a:t>
            </a:r>
            <a:r>
              <a:rPr dirty="0" sz="2800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,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10"/>
              <a:t>＃</a:t>
            </a:r>
            <a:r>
              <a:rPr dirty="0" sz="2800" spc="-10">
                <a:latin typeface="Times New Roman"/>
                <a:cs typeface="Times New Roman"/>
              </a:rPr>
              <a:t>)</a:t>
            </a:r>
            <a:r>
              <a:rPr dirty="0" sz="2800" spc="-10"/>
              <a:t>＝</a:t>
            </a:r>
            <a:r>
              <a:rPr dirty="0" sz="2800" spc="-10">
                <a:latin typeface="Times New Roman"/>
                <a:cs typeface="Times New Roman"/>
              </a:rPr>
              <a:t>acc</a:t>
            </a:r>
            <a:r>
              <a:rPr dirty="0" sz="2800" spc="-10"/>
              <a:t>；</a:t>
            </a:r>
            <a:endParaRPr sz="2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540"/>
              </a:spcBef>
            </a:pPr>
            <a:r>
              <a:rPr dirty="0" spc="-15"/>
              <a:t>⑤</a:t>
            </a:r>
            <a:r>
              <a:rPr dirty="0"/>
              <a:t> </a:t>
            </a:r>
            <a:r>
              <a:rPr dirty="0" spc="-5"/>
              <a:t>表中空白置出错标</a:t>
            </a:r>
            <a:r>
              <a:rPr dirty="0"/>
              <a:t>志</a:t>
            </a:r>
            <a:r>
              <a:rPr dirty="0" spc="-15"/>
              <a:t>。</a:t>
            </a: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66469" y="26923"/>
            <a:ext cx="6403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31670" algn="l"/>
                <a:tab pos="244030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表的构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7741" y="26923"/>
            <a:ext cx="8807450" cy="6439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  <a:tabLst>
                <a:tab pos="694690" algn="l"/>
                <a:tab pos="2032635" algn="l"/>
                <a:tab pos="2541905" algn="l"/>
                <a:tab pos="5754370" algn="l"/>
                <a:tab pos="65176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</a:pP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从识别活前缀的</a:t>
            </a:r>
            <a:r>
              <a:rPr dirty="0" u="heavy" sz="3000" spc="-7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构造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heavy" sz="30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分析表</a:t>
            </a:r>
            <a:endParaRPr sz="3000">
              <a:latin typeface="宋体"/>
              <a:cs typeface="宋体"/>
            </a:endParaRPr>
          </a:p>
          <a:p>
            <a:pPr marL="483870" indent="-306705">
              <a:lnSpc>
                <a:spcPct val="100000"/>
              </a:lnSpc>
              <a:spcBef>
                <a:spcPts val="2850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484505" algn="l"/>
                <a:tab pos="211645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5.7’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SLR(1)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  <a:p>
            <a:pPr marL="584200" marR="1399540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输入：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及其识别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活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前缀</a:t>
            </a:r>
            <a:r>
              <a:rPr dirty="0" sz="3200" spc="2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-25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输出：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析表</a:t>
            </a:r>
            <a:endParaRPr sz="3200">
              <a:latin typeface="宋体"/>
              <a:cs typeface="宋体"/>
            </a:endParaRPr>
          </a:p>
          <a:p>
            <a:pPr marL="584200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方法：</a:t>
            </a:r>
            <a:endParaRPr sz="3200">
              <a:latin typeface="宋体"/>
              <a:cs typeface="宋体"/>
            </a:endParaRPr>
          </a:p>
          <a:p>
            <a:pPr marL="1294765" marR="2101215" indent="-302260">
              <a:lnSpc>
                <a:spcPct val="13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分析表的状态集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态集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1294765" marR="2429510" indent="-709295">
              <a:lnSpc>
                <a:spcPts val="4990"/>
              </a:lnSpc>
              <a:spcBef>
                <a:spcPts val="360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3200" spc="7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3200" spc="-29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350" spc="-2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1164" sz="3150" spc="-3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则置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25132" sz="3150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-89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34661" y="2667761"/>
            <a:ext cx="3455035" cy="495300"/>
          </a:xfrm>
          <a:custGeom>
            <a:avLst/>
            <a:gdLst/>
            <a:ahLst/>
            <a:cxnLst/>
            <a:rect l="l" t="t" r="r" b="b"/>
            <a:pathLst>
              <a:path w="3455034" h="495300">
                <a:moveTo>
                  <a:pt x="0" y="495300"/>
                </a:moveTo>
                <a:lnTo>
                  <a:pt x="3454908" y="495300"/>
                </a:lnTo>
                <a:lnTo>
                  <a:pt x="3454908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540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34661" y="2667761"/>
            <a:ext cx="3455035" cy="495300"/>
          </a:xfrm>
          <a:custGeom>
            <a:avLst/>
            <a:gdLst/>
            <a:ahLst/>
            <a:cxnLst/>
            <a:rect l="l" t="t" r="r" b="b"/>
            <a:pathLst>
              <a:path w="3455034" h="495300">
                <a:moveTo>
                  <a:pt x="0" y="495300"/>
                </a:moveTo>
                <a:lnTo>
                  <a:pt x="3454908" y="495300"/>
                </a:lnTo>
                <a:lnTo>
                  <a:pt x="3454908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9240" y="26923"/>
            <a:ext cx="2263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310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97226" y="26923"/>
            <a:ext cx="62522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24530" algn="l"/>
                <a:tab pos="398780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3540" y="721233"/>
            <a:ext cx="1895475" cy="561340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41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’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4475" y="760857"/>
            <a:ext cx="47567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SLR(1)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3200" spc="-1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108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60"/>
              </a:spcBef>
              <a:tabLst>
                <a:tab pos="688340" algn="l"/>
              </a:tabLst>
            </a:pPr>
            <a:r>
              <a:rPr dirty="0" spc="-15">
                <a:solidFill>
                  <a:srgbClr val="FFFF00"/>
                </a:solidFill>
              </a:rPr>
              <a:t>②	</a:t>
            </a:r>
            <a:r>
              <a:rPr dirty="0" spc="-5"/>
              <a:t>若</a:t>
            </a:r>
            <a:r>
              <a:rPr dirty="0" spc="-5" i="1">
                <a:latin typeface="Times New Roman"/>
                <a:cs typeface="Times New Roman"/>
              </a:rPr>
              <a:t>f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(</a:t>
            </a:r>
            <a:r>
              <a:rPr dirty="0" spc="-5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pc="-5"/>
              <a:t>，</a:t>
            </a:r>
            <a:r>
              <a:rPr dirty="0" spc="-5" i="1">
                <a:latin typeface="Times New Roman"/>
                <a:cs typeface="Times New Roman"/>
              </a:rPr>
              <a:t>A</a:t>
            </a:r>
            <a:r>
              <a:rPr dirty="0" spc="-5">
                <a:latin typeface="Times New Roman"/>
                <a:cs typeface="Times New Roman"/>
              </a:rPr>
              <a:t>)</a:t>
            </a:r>
            <a:r>
              <a:rPr dirty="0" spc="-5"/>
              <a:t>＝</a:t>
            </a:r>
            <a:r>
              <a:rPr dirty="0" spc="-5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pc="5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(</a:t>
            </a:r>
            <a:r>
              <a:rPr dirty="0" spc="-10" i="1">
                <a:latin typeface="Times New Roman"/>
                <a:cs typeface="Times New Roman"/>
              </a:rPr>
              <a:t>A</a:t>
            </a:r>
            <a:r>
              <a:rPr dirty="0" spc="-10"/>
              <a:t>∈</a:t>
            </a:r>
            <a:r>
              <a:rPr dirty="0" spc="-695"/>
              <a:t> </a:t>
            </a:r>
            <a:r>
              <a:rPr dirty="0" sz="2950" spc="-40" i="1">
                <a:latin typeface="宋体"/>
                <a:cs typeface="宋体"/>
              </a:rPr>
              <a:t>Ｖ</a:t>
            </a:r>
            <a:r>
              <a:rPr dirty="0" baseline="-25525" sz="2775" spc="-60" i="1">
                <a:latin typeface="Times New Roman"/>
                <a:cs typeface="Times New Roman"/>
              </a:rPr>
              <a:t>N</a:t>
            </a:r>
            <a:r>
              <a:rPr dirty="0" sz="2800" spc="-40">
                <a:latin typeface="Times New Roman"/>
                <a:cs typeface="Times New Roman"/>
              </a:rPr>
              <a:t>)</a:t>
            </a:r>
            <a:r>
              <a:rPr dirty="0" sz="2800" spc="-40"/>
              <a:t>，</a:t>
            </a:r>
            <a:r>
              <a:rPr dirty="0" sz="2800" spc="-5"/>
              <a:t>则置</a:t>
            </a:r>
            <a:endParaRPr sz="2800">
              <a:latin typeface="Times New Roman"/>
              <a:cs typeface="Times New Roman"/>
            </a:endParaRPr>
          </a:p>
          <a:p>
            <a:pPr marL="687070">
              <a:lnSpc>
                <a:spcPct val="100000"/>
              </a:lnSpc>
              <a:spcBef>
                <a:spcPts val="1480"/>
              </a:spcBef>
            </a:pPr>
            <a:r>
              <a:rPr dirty="0" spc="-15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dirty="0" spc="-15">
                <a:latin typeface="Times New Roman"/>
                <a:cs typeface="Times New Roman"/>
              </a:rPr>
              <a:t>(</a:t>
            </a:r>
            <a:r>
              <a:rPr dirty="0" spc="-15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pc="-15"/>
              <a:t>，</a:t>
            </a:r>
            <a:r>
              <a:rPr dirty="0" spc="-15" i="1">
                <a:latin typeface="Times New Roman"/>
                <a:cs typeface="Times New Roman"/>
              </a:rPr>
              <a:t>A</a:t>
            </a:r>
            <a:r>
              <a:rPr dirty="0" spc="-15">
                <a:latin typeface="Times New Roman"/>
                <a:cs typeface="Times New Roman"/>
              </a:rPr>
              <a:t>)</a:t>
            </a:r>
            <a:r>
              <a:rPr dirty="0" spc="-15"/>
              <a:t>＝</a:t>
            </a:r>
            <a:r>
              <a:rPr dirty="0" spc="-15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pc="15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pc="-15"/>
              <a:t>；</a:t>
            </a:r>
          </a:p>
          <a:p>
            <a:pPr marL="508634" marR="144145" indent="-445770">
              <a:lnSpc>
                <a:spcPts val="4870"/>
              </a:lnSpc>
              <a:spcBef>
                <a:spcPts val="420"/>
              </a:spcBef>
            </a:pPr>
            <a:r>
              <a:rPr dirty="0" spc="-15">
                <a:solidFill>
                  <a:srgbClr val="FFFF00"/>
                </a:solidFill>
              </a:rPr>
              <a:t>③</a:t>
            </a:r>
            <a:r>
              <a:rPr dirty="0" spc="-50">
                <a:solidFill>
                  <a:srgbClr val="FFFF00"/>
                </a:solidFill>
              </a:rPr>
              <a:t> </a:t>
            </a:r>
            <a:r>
              <a:rPr dirty="0" spc="-5"/>
              <a:t>若</a:t>
            </a:r>
            <a:r>
              <a:rPr dirty="0" spc="-10" i="1">
                <a:latin typeface="Times New Roman"/>
                <a:cs typeface="Times New Roman"/>
              </a:rPr>
              <a:t>A</a:t>
            </a:r>
            <a:r>
              <a:rPr dirty="0" spc="-10">
                <a:latin typeface="Times New Roman"/>
                <a:cs typeface="Times New Roman"/>
              </a:rPr>
              <a:t>→</a:t>
            </a:r>
            <a:r>
              <a:rPr dirty="0" spc="-20">
                <a:latin typeface="Times New Roman"/>
                <a:cs typeface="Times New Roman"/>
              </a:rPr>
              <a:t> </a:t>
            </a:r>
            <a:r>
              <a:rPr dirty="0" sz="2950" spc="-20" i="1">
                <a:latin typeface="Symbol"/>
                <a:cs typeface="Symbol"/>
              </a:rPr>
              <a:t></a:t>
            </a:r>
            <a:r>
              <a:rPr dirty="0" spc="-20"/>
              <a:t>·∈</a:t>
            </a:r>
            <a:r>
              <a:rPr dirty="0" spc="-20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pc="-20"/>
              <a:t>，</a:t>
            </a:r>
            <a:r>
              <a:rPr dirty="0" spc="-5"/>
              <a:t>则对</a:t>
            </a:r>
            <a:r>
              <a:rPr dirty="0" spc="-5">
                <a:solidFill>
                  <a:srgbClr val="66FFFF"/>
                </a:solidFill>
              </a:rPr>
              <a:t>所有</a:t>
            </a:r>
            <a:r>
              <a:rPr dirty="0" spc="-5" i="1">
                <a:latin typeface="Times New Roman"/>
                <a:cs typeface="Times New Roman"/>
              </a:rPr>
              <a:t>a</a:t>
            </a:r>
            <a:r>
              <a:rPr dirty="0" spc="-5">
                <a:latin typeface="Symbol"/>
                <a:cs typeface="Symbol"/>
              </a:rPr>
              <a:t></a:t>
            </a:r>
            <a:r>
              <a:rPr dirty="0" spc="-5">
                <a:latin typeface="Times New Roman"/>
                <a:cs typeface="Times New Roman"/>
              </a:rPr>
              <a:t>FOLLOW(</a:t>
            </a:r>
            <a:r>
              <a:rPr dirty="0" spc="-5" i="1">
                <a:latin typeface="Times New Roman"/>
                <a:cs typeface="Times New Roman"/>
              </a:rPr>
              <a:t>A</a:t>
            </a:r>
            <a:r>
              <a:rPr dirty="0" spc="-5">
                <a:latin typeface="Times New Roman"/>
                <a:cs typeface="Times New Roman"/>
              </a:rPr>
              <a:t>)</a:t>
            </a:r>
            <a:r>
              <a:rPr dirty="0" spc="-5"/>
              <a:t>，  </a:t>
            </a:r>
            <a:r>
              <a:rPr dirty="0" spc="-10"/>
              <a:t>置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dirty="0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pc="-1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,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 spc="-5" i="1">
                <a:latin typeface="Times New Roman"/>
                <a:cs typeface="Times New Roman"/>
              </a:rPr>
              <a:t>a</a:t>
            </a:r>
            <a:r>
              <a:rPr dirty="0" spc="-5">
                <a:latin typeface="Times New Roman"/>
                <a:cs typeface="Times New Roman"/>
              </a:rPr>
              <a:t>)</a:t>
            </a:r>
            <a:r>
              <a:rPr dirty="0" spc="-5"/>
              <a:t>＝</a:t>
            </a:r>
            <a:r>
              <a:rPr dirty="0" spc="-5">
                <a:latin typeface="Times New Roman"/>
                <a:cs typeface="Times New Roman"/>
              </a:rPr>
              <a:t>r</a:t>
            </a:r>
            <a:r>
              <a:rPr dirty="0" baseline="-25525" sz="2775" spc="-7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/>
              <a:t>。</a:t>
            </a:r>
            <a:endParaRPr sz="2800">
              <a:latin typeface="Times New Roman"/>
              <a:cs typeface="Times New Roman"/>
            </a:endParaRPr>
          </a:p>
          <a:p>
            <a:pPr marL="420370">
              <a:lnSpc>
                <a:spcPct val="100000"/>
              </a:lnSpc>
              <a:spcBef>
                <a:spcPts val="1190"/>
              </a:spcBef>
            </a:pPr>
            <a:r>
              <a:rPr dirty="0" spc="-5">
                <a:latin typeface="Times New Roman"/>
                <a:cs typeface="Times New Roman"/>
              </a:rPr>
              <a:t>(</a:t>
            </a:r>
            <a:r>
              <a:rPr dirty="0" spc="-5"/>
              <a:t>其中假设产生式</a:t>
            </a:r>
            <a:r>
              <a:rPr dirty="0" spc="-30" i="1">
                <a:latin typeface="Times New Roman"/>
                <a:cs typeface="Times New Roman"/>
              </a:rPr>
              <a:t>A</a:t>
            </a:r>
            <a:r>
              <a:rPr dirty="0" spc="-30">
                <a:latin typeface="Times New Roman"/>
                <a:cs typeface="Times New Roman"/>
              </a:rPr>
              <a:t>→</a:t>
            </a:r>
            <a:r>
              <a:rPr dirty="0" sz="3350" spc="-30" i="1">
                <a:latin typeface="Symbol"/>
                <a:cs typeface="Symbol"/>
              </a:rPr>
              <a:t></a:t>
            </a:r>
            <a:r>
              <a:rPr dirty="0" spc="-30"/>
              <a:t>·</a:t>
            </a:r>
            <a:r>
              <a:rPr dirty="0" spc="-5"/>
              <a:t>是文法</a:t>
            </a:r>
            <a:r>
              <a:rPr dirty="0" spc="-15"/>
              <a:t>第</a:t>
            </a:r>
            <a:r>
              <a:rPr dirty="0" spc="-675"/>
              <a:t> </a:t>
            </a:r>
            <a:r>
              <a:rPr dirty="0" spc="-5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pc="-30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pc="-5"/>
              <a:t>个产生式</a:t>
            </a:r>
            <a:r>
              <a:rPr dirty="0" spc="-5">
                <a:latin typeface="Times New Roman"/>
                <a:cs typeface="Times New Roman"/>
              </a:rPr>
              <a:t>)</a:t>
            </a:r>
            <a:endParaRPr sz="3350">
              <a:latin typeface="Times New Roman"/>
              <a:cs typeface="Times New Roman"/>
            </a:endParaRPr>
          </a:p>
          <a:p>
            <a:pPr marL="64769">
              <a:lnSpc>
                <a:spcPct val="100000"/>
              </a:lnSpc>
              <a:spcBef>
                <a:spcPts val="1650"/>
              </a:spcBef>
              <a:tabLst>
                <a:tab pos="689610" algn="l"/>
              </a:tabLst>
            </a:pPr>
            <a:r>
              <a:rPr dirty="0" spc="-15"/>
              <a:t>④	</a:t>
            </a:r>
            <a:r>
              <a:rPr dirty="0" spc="-10"/>
              <a:t>若</a:t>
            </a:r>
            <a:r>
              <a:rPr dirty="0" spc="-5" i="1">
                <a:latin typeface="Times New Roman"/>
                <a:cs typeface="Times New Roman"/>
              </a:rPr>
              <a:t>S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sz="3200">
                <a:latin typeface="Symbol"/>
                <a:cs typeface="Symbol"/>
              </a:rPr>
              <a:t></a:t>
            </a:r>
            <a:r>
              <a:rPr dirty="0" sz="3200" spc="-105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→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 spc="-5" i="1">
                <a:latin typeface="Times New Roman"/>
                <a:cs typeface="Times New Roman"/>
              </a:rPr>
              <a:t>S</a:t>
            </a:r>
            <a:r>
              <a:rPr dirty="0" spc="130" i="1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·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pc="-10"/>
              <a:t>∈</a:t>
            </a:r>
            <a:r>
              <a:rPr dirty="0" spc="-10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pc="-10"/>
              <a:t>，则</a:t>
            </a:r>
            <a:r>
              <a:rPr dirty="0" spc="-5"/>
              <a:t>置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dirty="0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pc="10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,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 spc="-10"/>
              <a:t>＃</a:t>
            </a:r>
            <a:r>
              <a:rPr dirty="0" spc="-10">
                <a:latin typeface="Times New Roman"/>
                <a:cs typeface="Times New Roman"/>
              </a:rPr>
              <a:t>)</a:t>
            </a:r>
            <a:r>
              <a:rPr dirty="0" spc="-10"/>
              <a:t>＝</a:t>
            </a:r>
            <a:r>
              <a:rPr dirty="0" spc="-10">
                <a:latin typeface="Times New Roman"/>
                <a:cs typeface="Times New Roman"/>
              </a:rPr>
              <a:t>acc</a:t>
            </a:r>
            <a:r>
              <a:rPr dirty="0" spc="-10"/>
              <a:t>；</a:t>
            </a:r>
            <a:endParaRPr sz="3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540"/>
              </a:spcBef>
            </a:pPr>
            <a:r>
              <a:rPr dirty="0" spc="-15"/>
              <a:t>⑤</a:t>
            </a:r>
            <a:r>
              <a:rPr dirty="0"/>
              <a:t> </a:t>
            </a:r>
            <a:r>
              <a:rPr dirty="0" spc="-5"/>
              <a:t>表中空白置出错标</a:t>
            </a:r>
            <a:r>
              <a:rPr dirty="0"/>
              <a:t>志</a:t>
            </a:r>
            <a:r>
              <a:rPr dirty="0" spc="-15"/>
              <a:t>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38452" y="26923"/>
            <a:ext cx="66554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2693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析表的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640" y="465353"/>
            <a:ext cx="8268334" cy="3599815"/>
          </a:xfrm>
          <a:prstGeom prst="rect"/>
        </p:spPr>
        <p:txBody>
          <a:bodyPr wrap="square" lIns="0" tIns="17208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35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</a:tabLst>
            </a:pPr>
            <a:r>
              <a:rPr dirty="0" sz="3200">
                <a:solidFill>
                  <a:srgbClr val="FFFF00"/>
                </a:solidFill>
              </a:rPr>
              <a:t>定</a:t>
            </a:r>
            <a:r>
              <a:rPr dirty="0" sz="3200" spc="-5">
                <a:solidFill>
                  <a:srgbClr val="FFFF00"/>
                </a:solidFill>
              </a:rPr>
              <a:t>义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5.12</a:t>
            </a:r>
            <a:endParaRPr sz="3200">
              <a:latin typeface="Times New Roman"/>
              <a:cs typeface="Times New Roman"/>
            </a:endParaRPr>
          </a:p>
          <a:p>
            <a:pPr algn="just" marL="12700" marR="5080" indent="914400">
              <a:lnSpc>
                <a:spcPct val="120000"/>
              </a:lnSpc>
            </a:pPr>
            <a:r>
              <a:rPr dirty="0" sz="3200">
                <a:solidFill>
                  <a:srgbClr val="FFFFFF"/>
                </a:solidFill>
              </a:rPr>
              <a:t>按照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SLR(1)</a:t>
            </a:r>
            <a:r>
              <a:rPr dirty="0" sz="3200" spc="-5">
                <a:solidFill>
                  <a:srgbClr val="FFFFFF"/>
                </a:solidFill>
              </a:rPr>
              <a:t>方法构</a:t>
            </a:r>
            <a:r>
              <a:rPr dirty="0" sz="3200" spc="-10">
                <a:solidFill>
                  <a:srgbClr val="FFFFFF"/>
                </a:solidFill>
              </a:rPr>
              <a:t>造</a:t>
            </a:r>
            <a:r>
              <a:rPr dirty="0" sz="3200" spc="-5">
                <a:solidFill>
                  <a:srgbClr val="FFFFFF"/>
                </a:solidFill>
              </a:rPr>
              <a:t>的文</a:t>
            </a:r>
            <a:r>
              <a:rPr dirty="0" sz="3200" spc="15">
                <a:solidFill>
                  <a:srgbClr val="FFFFFF"/>
                </a:solidFill>
              </a:rPr>
              <a:t>法</a:t>
            </a:r>
            <a:r>
              <a:rPr dirty="0" sz="3200" spc="-1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</a:rPr>
              <a:t>的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>
                <a:solidFill>
                  <a:srgbClr val="FFFFFF"/>
                </a:solidFill>
              </a:rPr>
              <a:t>分析 </a:t>
            </a:r>
            <a:r>
              <a:rPr dirty="0" sz="3200" spc="-5">
                <a:solidFill>
                  <a:srgbClr val="FFFFFF"/>
                </a:solidFill>
              </a:rPr>
              <a:t>表</a:t>
            </a:r>
            <a:r>
              <a:rPr dirty="0" sz="3200">
                <a:solidFill>
                  <a:srgbClr val="FFFFFF"/>
                </a:solidFill>
              </a:rPr>
              <a:t>，</a:t>
            </a:r>
            <a:r>
              <a:rPr dirty="0" sz="3200" spc="-5">
                <a:solidFill>
                  <a:srgbClr val="FFFFFF"/>
                </a:solidFill>
              </a:rPr>
              <a:t>如果每个入口不含多重</a:t>
            </a:r>
            <a:r>
              <a:rPr dirty="0" sz="3200" spc="-15">
                <a:solidFill>
                  <a:srgbClr val="FFFFFF"/>
                </a:solidFill>
              </a:rPr>
              <a:t>定</a:t>
            </a:r>
            <a:r>
              <a:rPr dirty="0" sz="3200" spc="5">
                <a:solidFill>
                  <a:srgbClr val="FFFFFF"/>
                </a:solidFill>
              </a:rPr>
              <a:t>义</a:t>
            </a:r>
            <a:r>
              <a:rPr dirty="0" sz="3200">
                <a:solidFill>
                  <a:srgbClr val="FFFFFF"/>
                </a:solidFill>
              </a:rPr>
              <a:t>，</a:t>
            </a:r>
            <a:r>
              <a:rPr dirty="0" sz="3200" spc="-10">
                <a:solidFill>
                  <a:srgbClr val="FFFFFF"/>
                </a:solidFill>
              </a:rPr>
              <a:t>则称</a:t>
            </a:r>
            <a:r>
              <a:rPr dirty="0" sz="3200">
                <a:solidFill>
                  <a:srgbClr val="FFFFFF"/>
                </a:solidFill>
              </a:rPr>
              <a:t>它</a:t>
            </a:r>
            <a:r>
              <a:rPr dirty="0" sz="3200" spc="-10">
                <a:solidFill>
                  <a:srgbClr val="FFFFFF"/>
                </a:solidFill>
              </a:rPr>
              <a:t>为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  </a:t>
            </a:r>
            <a:r>
              <a:rPr dirty="0" sz="3200">
                <a:solidFill>
                  <a:srgbClr val="FFFFFF"/>
                </a:solidFill>
              </a:rPr>
              <a:t>的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>
                <a:solidFill>
                  <a:srgbClr val="FFFFFF"/>
                </a:solidFill>
              </a:rPr>
              <a:t>分析</a:t>
            </a:r>
            <a:r>
              <a:rPr dirty="0" sz="3200" spc="5">
                <a:solidFill>
                  <a:srgbClr val="FFFFFF"/>
                </a:solidFill>
              </a:rPr>
              <a:t>表</a:t>
            </a:r>
            <a:r>
              <a:rPr dirty="0" sz="3200">
                <a:solidFill>
                  <a:srgbClr val="FFFFFF"/>
                </a:solidFill>
              </a:rPr>
              <a:t>。</a:t>
            </a:r>
            <a:r>
              <a:rPr dirty="0" u="heavy" sz="3200" spc="-1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具</a:t>
            </a: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有</a:t>
            </a: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SLR</a:t>
            </a:r>
            <a:r>
              <a:rPr dirty="0" u="heavy" sz="3200" spc="-1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3200" spc="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3200" spc="-1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z="3200" spc="-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分析</a:t>
            </a:r>
            <a:r>
              <a:rPr dirty="0" u="heavy" sz="3200" spc="-1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表</a:t>
            </a:r>
            <a:r>
              <a:rPr dirty="0" u="heavy" sz="3200" spc="-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的文</a:t>
            </a:r>
            <a:r>
              <a:rPr dirty="0" u="heavy" sz="3200" spc="1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法</a:t>
            </a:r>
            <a:r>
              <a:rPr dirty="0" u="heavy" sz="3200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200" spc="-233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称 </a:t>
            </a: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为</a:t>
            </a: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SLR</a:t>
            </a:r>
            <a:r>
              <a:rPr dirty="0" u="heavy" sz="3200" spc="-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3200" spc="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文法。</a:t>
            </a:r>
            <a:r>
              <a:rPr dirty="0" sz="3200" spc="-10">
                <a:solidFill>
                  <a:srgbClr val="FFFFFF"/>
                </a:solidFill>
              </a:rPr>
              <a:t>使</a:t>
            </a:r>
            <a:r>
              <a:rPr dirty="0" sz="3200">
                <a:solidFill>
                  <a:srgbClr val="FFFFFF"/>
                </a:solidFill>
              </a:rPr>
              <a:t>用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3200" spc="-1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1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FF"/>
                </a:solidFill>
              </a:rPr>
              <a:t>分析</a:t>
            </a:r>
            <a:r>
              <a:rPr dirty="0" sz="3200" spc="-10">
                <a:solidFill>
                  <a:srgbClr val="FFFFFF"/>
                </a:solidFill>
              </a:rPr>
              <a:t>表</a:t>
            </a:r>
            <a:r>
              <a:rPr dirty="0" sz="3200" spc="-5">
                <a:solidFill>
                  <a:srgbClr val="FFFFFF"/>
                </a:solidFill>
              </a:rPr>
              <a:t>的语法</a:t>
            </a:r>
            <a:r>
              <a:rPr dirty="0" sz="3200" spc="-10">
                <a:solidFill>
                  <a:srgbClr val="FFFFFF"/>
                </a:solidFill>
              </a:rPr>
              <a:t>分</a:t>
            </a:r>
            <a:r>
              <a:rPr dirty="0" sz="3200">
                <a:solidFill>
                  <a:srgbClr val="FFFFFF"/>
                </a:solidFill>
              </a:rPr>
              <a:t>析 </a:t>
            </a:r>
            <a:r>
              <a:rPr dirty="0" sz="3200">
                <a:solidFill>
                  <a:srgbClr val="FFFFFF"/>
                </a:solidFill>
              </a:rPr>
              <a:t>器称作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SLR(1)</a:t>
            </a:r>
            <a:r>
              <a:rPr dirty="0" sz="3200" spc="-5">
                <a:solidFill>
                  <a:srgbClr val="FFFFFF"/>
                </a:solidFill>
              </a:rPr>
              <a:t>分</a:t>
            </a:r>
            <a:r>
              <a:rPr dirty="0" sz="3200" spc="-10">
                <a:solidFill>
                  <a:srgbClr val="FFFFFF"/>
                </a:solidFill>
              </a:rPr>
              <a:t>析</a:t>
            </a:r>
            <a:r>
              <a:rPr dirty="0" sz="3200">
                <a:solidFill>
                  <a:srgbClr val="FFFFFF"/>
                </a:solidFill>
              </a:rPr>
              <a:t>器</a:t>
            </a:r>
            <a:r>
              <a:rPr dirty="0" sz="3200" spc="-10">
                <a:solidFill>
                  <a:srgbClr val="FFFFFF"/>
                </a:solidFill>
              </a:rPr>
              <a:t>。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661" y="4540758"/>
            <a:ext cx="8472170" cy="1758950"/>
          </a:xfrm>
          <a:prstGeom prst="rect">
            <a:avLst/>
          </a:prstGeom>
          <a:solidFill>
            <a:srgbClr val="FFFFBE"/>
          </a:solidFill>
          <a:ln w="38100">
            <a:solidFill>
              <a:srgbClr val="FFAC83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590"/>
              </a:spcBef>
            </a:pPr>
            <a:r>
              <a:rPr dirty="0" sz="2800" b="1">
                <a:latin typeface="Times New Roman"/>
                <a:cs typeface="Times New Roman"/>
              </a:rPr>
              <a:t>SLR(1)</a:t>
            </a:r>
            <a:r>
              <a:rPr dirty="0" sz="2800" spc="-5" b="1">
                <a:latin typeface="宋体"/>
                <a:cs typeface="宋体"/>
              </a:rPr>
              <a:t>分析表构造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SLR(1)</a:t>
            </a:r>
            <a:r>
              <a:rPr dirty="0" sz="2800" spc="-5" b="1">
                <a:latin typeface="宋体"/>
                <a:cs typeface="宋体"/>
              </a:rPr>
              <a:t>方法</a:t>
            </a:r>
            <a:r>
              <a:rPr dirty="0" sz="2800" spc="-5" b="1">
                <a:latin typeface="Times New Roman"/>
                <a:cs typeface="Times New Roman"/>
              </a:rPr>
              <a:t>+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LR(0)</a:t>
            </a:r>
            <a:r>
              <a:rPr dirty="0" sz="2800" spc="-5" b="1">
                <a:latin typeface="宋体"/>
                <a:cs typeface="宋体"/>
              </a:rPr>
              <a:t>分析表构造</a:t>
            </a:r>
            <a:endParaRPr sz="2800">
              <a:latin typeface="宋体"/>
              <a:cs typeface="宋体"/>
            </a:endParaRPr>
          </a:p>
          <a:p>
            <a:pPr marL="9017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Times New Roman"/>
                <a:cs typeface="Times New Roman"/>
              </a:rPr>
              <a:t>SLR(1)</a:t>
            </a:r>
            <a:r>
              <a:rPr dirty="0" sz="2800" spc="-5" b="1">
                <a:latin typeface="宋体"/>
                <a:cs typeface="宋体"/>
              </a:rPr>
              <a:t>方</a:t>
            </a:r>
            <a:r>
              <a:rPr dirty="0" sz="2800" spc="-15" b="1">
                <a:latin typeface="宋体"/>
                <a:cs typeface="宋体"/>
              </a:rPr>
              <a:t>法</a:t>
            </a:r>
            <a:r>
              <a:rPr dirty="0" sz="2800" spc="-710" b="1">
                <a:latin typeface="宋体"/>
                <a:cs typeface="宋体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-5" b="1">
                <a:latin typeface="宋体"/>
                <a:cs typeface="宋体"/>
              </a:rPr>
              <a:t>有归约项目的状态中归约动</a:t>
            </a:r>
            <a:r>
              <a:rPr dirty="0" sz="2800" spc="5" b="1">
                <a:latin typeface="宋体"/>
                <a:cs typeface="宋体"/>
              </a:rPr>
              <a:t>作</a:t>
            </a:r>
            <a:r>
              <a:rPr dirty="0" sz="2800" spc="-5" b="1">
                <a:latin typeface="宋体"/>
                <a:cs typeface="宋体"/>
              </a:rPr>
              <a:t>的</a:t>
            </a:r>
            <a:r>
              <a:rPr dirty="0" sz="2800" spc="5" b="1">
                <a:latin typeface="宋体"/>
                <a:cs typeface="宋体"/>
              </a:rPr>
              <a:t>设</a:t>
            </a:r>
            <a:r>
              <a:rPr dirty="0" sz="2800" spc="-5" b="1">
                <a:latin typeface="宋体"/>
                <a:cs typeface="宋体"/>
              </a:rPr>
              <a:t>置。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81727" y="2510154"/>
            <a:ext cx="30289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31542" y="4318253"/>
            <a:ext cx="1572895" cy="1298575"/>
          </a:xfrm>
          <a:custGeom>
            <a:avLst/>
            <a:gdLst/>
            <a:ahLst/>
            <a:cxnLst/>
            <a:rect l="l" t="t" r="r" b="b"/>
            <a:pathLst>
              <a:path w="1572895" h="1298575">
                <a:moveTo>
                  <a:pt x="0" y="1298448"/>
                </a:moveTo>
                <a:lnTo>
                  <a:pt x="1572768" y="1298448"/>
                </a:lnTo>
                <a:lnTo>
                  <a:pt x="1572768" y="0"/>
                </a:lnTo>
                <a:lnTo>
                  <a:pt x="0" y="0"/>
                </a:lnTo>
                <a:lnTo>
                  <a:pt x="0" y="1298448"/>
                </a:lnTo>
                <a:close/>
              </a:path>
            </a:pathLst>
          </a:custGeom>
          <a:solidFill>
            <a:srgbClr val="540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74392" y="4261103"/>
            <a:ext cx="1687068" cy="1412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38452" y="26923"/>
            <a:ext cx="66554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2693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5.5	SLR(1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析表的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0439" y="398221"/>
            <a:ext cx="80632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FFFF00"/>
                </a:solidFill>
              </a:rPr>
              <a:t>例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5.14</a:t>
            </a:r>
            <a:r>
              <a:rPr dirty="0" sz="3200" spc="-4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FFFF"/>
                </a:solidFill>
              </a:rPr>
              <a:t>设有文</a:t>
            </a:r>
            <a:r>
              <a:rPr dirty="0" sz="3200">
                <a:solidFill>
                  <a:srgbClr val="FFFFFF"/>
                </a:solidFill>
              </a:rPr>
              <a:t>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>
                <a:solidFill>
                  <a:srgbClr val="FFFFFF"/>
                </a:solidFill>
              </a:rPr>
              <a:t>以及识别活前缀</a:t>
            </a:r>
            <a:r>
              <a:rPr dirty="0" sz="3200" spc="-10">
                <a:solidFill>
                  <a:srgbClr val="FFFFFF"/>
                </a:solidFill>
              </a:rPr>
              <a:t>的</a:t>
            </a:r>
            <a:r>
              <a:rPr dirty="0" sz="3200" spc="-85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5">
                <a:solidFill>
                  <a:srgbClr val="FFFFFF"/>
                </a:solidFill>
              </a:rPr>
              <a:t>如下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0705" y="1520446"/>
            <a:ext cx="433070" cy="129476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4052" y="4751019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4655" y="387807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5144" y="878342"/>
            <a:ext cx="2094864" cy="247205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  <a:tabLst>
                <a:tab pos="92646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’: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’→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927100" marR="5080">
              <a:lnSpc>
                <a:spcPct val="130100"/>
              </a:lnSpc>
              <a:spcBef>
                <a:spcPts val="3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algn="r" marR="474345">
              <a:lnSpc>
                <a:spcPct val="100000"/>
              </a:lnSpc>
              <a:spcBef>
                <a:spcPts val="133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38" y="3566921"/>
            <a:ext cx="1632585" cy="10763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06680" marR="116839">
              <a:lnSpc>
                <a:spcPts val="3229"/>
              </a:lnSpc>
              <a:spcBef>
                <a:spcPts val="61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2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20" b="1">
                <a:solidFill>
                  <a:srgbClr val="FFFFFF"/>
                </a:solidFill>
                <a:latin typeface="宋体"/>
                <a:cs typeface="宋体"/>
              </a:rPr>
              <a:t>|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31542" y="4318253"/>
            <a:ext cx="1572895" cy="1298575"/>
          </a:xfrm>
          <a:custGeom>
            <a:avLst/>
            <a:gdLst/>
            <a:ahLst/>
            <a:cxnLst/>
            <a:rect l="l" t="t" r="r" b="b"/>
            <a:pathLst>
              <a:path w="1572895" h="1298575">
                <a:moveTo>
                  <a:pt x="0" y="1298448"/>
                </a:moveTo>
                <a:lnTo>
                  <a:pt x="1572768" y="1298448"/>
                </a:lnTo>
                <a:lnTo>
                  <a:pt x="1572768" y="0"/>
                </a:lnTo>
                <a:lnTo>
                  <a:pt x="0" y="0"/>
                </a:lnTo>
                <a:lnTo>
                  <a:pt x="0" y="129844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08250" y="4367225"/>
            <a:ext cx="1310640" cy="1153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2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20" b="1">
                <a:solidFill>
                  <a:srgbClr val="66FF66"/>
                </a:solidFill>
                <a:latin typeface="Times New Roman"/>
                <a:cs typeface="Times New Roman"/>
              </a:rPr>
              <a:t>·</a:t>
            </a:r>
            <a:r>
              <a:rPr dirty="0" sz="2400" b="1" i="1">
                <a:solidFill>
                  <a:srgbClr val="66FF66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 i="1">
                <a:solidFill>
                  <a:srgbClr val="66FF66"/>
                </a:solidFill>
                <a:latin typeface="Times New Roman"/>
                <a:cs typeface="Times New Roman"/>
              </a:rPr>
              <a:t>A</a:t>
            </a:r>
            <a:r>
              <a:rPr dirty="0" sz="2400" spc="5" b="1">
                <a:solidFill>
                  <a:srgbClr val="66FF66"/>
                </a:solidFill>
                <a:latin typeface="Times New Roman"/>
                <a:cs typeface="Times New Roman"/>
              </a:rPr>
              <a:t>|</a:t>
            </a:r>
            <a:r>
              <a:rPr dirty="0" sz="2400" spc="-20" b="1">
                <a:solidFill>
                  <a:srgbClr val="66FF66"/>
                </a:solidFill>
                <a:latin typeface="Times New Roman"/>
                <a:cs typeface="Times New Roman"/>
              </a:rPr>
              <a:t>·</a:t>
            </a:r>
            <a:r>
              <a:rPr dirty="0" sz="2400" b="1" i="1">
                <a:solidFill>
                  <a:srgbClr val="66FF66"/>
                </a:solidFill>
                <a:latin typeface="Times New Roman"/>
                <a:cs typeface="Times New Roman"/>
              </a:rPr>
              <a:t>a </a:t>
            </a:r>
            <a:r>
              <a:rPr dirty="0" sz="2400" b="1" i="1">
                <a:solidFill>
                  <a:srgbClr val="66FF66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" b="1" i="1">
                <a:solidFill>
                  <a:srgbClr val="66FF66"/>
                </a:solidFill>
                <a:latin typeface="Times New Roman"/>
                <a:cs typeface="Times New Roman"/>
              </a:rPr>
              <a:t>a</a:t>
            </a:r>
            <a:r>
              <a:rPr dirty="0" sz="2600" spc="10" b="1" i="1">
                <a:solidFill>
                  <a:srgbClr val="66FF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66FF66"/>
                </a:solidFill>
                <a:latin typeface="Times New Roman"/>
                <a:cs typeface="Times New Roman"/>
              </a:rPr>
              <a:t>·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5498" y="5232653"/>
            <a:ext cx="1114425" cy="5048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8255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6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4745" y="3266008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00022" y="3730752"/>
            <a:ext cx="739140" cy="114300"/>
          </a:xfrm>
          <a:custGeom>
            <a:avLst/>
            <a:gdLst/>
            <a:ahLst/>
            <a:cxnLst/>
            <a:rect l="l" t="t" r="r" b="b"/>
            <a:pathLst>
              <a:path w="739139" h="114300">
                <a:moveTo>
                  <a:pt x="548639" y="0"/>
                </a:moveTo>
                <a:lnTo>
                  <a:pt x="548639" y="114300"/>
                </a:lnTo>
                <a:lnTo>
                  <a:pt x="675639" y="76200"/>
                </a:lnTo>
                <a:lnTo>
                  <a:pt x="567689" y="76200"/>
                </a:lnTo>
                <a:lnTo>
                  <a:pt x="567689" y="38100"/>
                </a:lnTo>
                <a:lnTo>
                  <a:pt x="675639" y="38100"/>
                </a:lnTo>
                <a:lnTo>
                  <a:pt x="548639" y="0"/>
                </a:lnTo>
                <a:close/>
              </a:path>
              <a:path w="739139" h="114300">
                <a:moveTo>
                  <a:pt x="5486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48639" y="76200"/>
                </a:lnTo>
                <a:lnTo>
                  <a:pt x="548639" y="38100"/>
                </a:lnTo>
                <a:close/>
              </a:path>
              <a:path w="739139" h="114300">
                <a:moveTo>
                  <a:pt x="675639" y="38100"/>
                </a:moveTo>
                <a:lnTo>
                  <a:pt x="567689" y="38100"/>
                </a:lnTo>
                <a:lnTo>
                  <a:pt x="567689" y="76200"/>
                </a:lnTo>
                <a:lnTo>
                  <a:pt x="675639" y="76200"/>
                </a:lnTo>
                <a:lnTo>
                  <a:pt x="739139" y="57150"/>
                </a:lnTo>
                <a:lnTo>
                  <a:pt x="67563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8435" y="308381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41957" y="397776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80210" y="4437888"/>
            <a:ext cx="742315" cy="114300"/>
          </a:xfrm>
          <a:custGeom>
            <a:avLst/>
            <a:gdLst/>
            <a:ahLst/>
            <a:cxnLst/>
            <a:rect l="l" t="t" r="r" b="b"/>
            <a:pathLst>
              <a:path w="742314" h="114300">
                <a:moveTo>
                  <a:pt x="551688" y="0"/>
                </a:moveTo>
                <a:lnTo>
                  <a:pt x="551688" y="114300"/>
                </a:lnTo>
                <a:lnTo>
                  <a:pt x="678688" y="76200"/>
                </a:lnTo>
                <a:lnTo>
                  <a:pt x="570738" y="76200"/>
                </a:lnTo>
                <a:lnTo>
                  <a:pt x="570738" y="38100"/>
                </a:lnTo>
                <a:lnTo>
                  <a:pt x="678688" y="38100"/>
                </a:lnTo>
                <a:lnTo>
                  <a:pt x="551688" y="0"/>
                </a:lnTo>
                <a:close/>
              </a:path>
              <a:path w="742314" h="114300">
                <a:moveTo>
                  <a:pt x="551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688" y="76200"/>
                </a:lnTo>
                <a:lnTo>
                  <a:pt x="551688" y="38100"/>
                </a:lnTo>
                <a:close/>
              </a:path>
              <a:path w="742314" h="114300">
                <a:moveTo>
                  <a:pt x="678688" y="38100"/>
                </a:moveTo>
                <a:lnTo>
                  <a:pt x="570738" y="38100"/>
                </a:lnTo>
                <a:lnTo>
                  <a:pt x="570738" y="76200"/>
                </a:lnTo>
                <a:lnTo>
                  <a:pt x="678688" y="76200"/>
                </a:lnTo>
                <a:lnTo>
                  <a:pt x="742188" y="57150"/>
                </a:lnTo>
                <a:lnTo>
                  <a:pt x="6786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63292" y="4926914"/>
            <a:ext cx="2457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84782" y="5315711"/>
            <a:ext cx="746760" cy="114300"/>
          </a:xfrm>
          <a:custGeom>
            <a:avLst/>
            <a:gdLst/>
            <a:ahLst/>
            <a:cxnLst/>
            <a:rect l="l" t="t" r="r" b="b"/>
            <a:pathLst>
              <a:path w="74676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74676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746760" h="114300">
                <a:moveTo>
                  <a:pt x="746760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746760" y="76200"/>
                </a:lnTo>
                <a:lnTo>
                  <a:pt x="74676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448305" y="3368802"/>
            <a:ext cx="1183005" cy="50292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4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33927" y="5321808"/>
            <a:ext cx="539750" cy="597535"/>
          </a:xfrm>
          <a:custGeom>
            <a:avLst/>
            <a:gdLst/>
            <a:ahLst/>
            <a:cxnLst/>
            <a:rect l="l" t="t" r="r" b="b"/>
            <a:pathLst>
              <a:path w="539750" h="597535">
                <a:moveTo>
                  <a:pt x="77301" y="407380"/>
                </a:moveTo>
                <a:lnTo>
                  <a:pt x="39537" y="414284"/>
                </a:lnTo>
                <a:lnTo>
                  <a:pt x="46736" y="437641"/>
                </a:lnTo>
                <a:lnTo>
                  <a:pt x="47498" y="439902"/>
                </a:lnTo>
                <a:lnTo>
                  <a:pt x="48133" y="440956"/>
                </a:lnTo>
                <a:lnTo>
                  <a:pt x="61087" y="465442"/>
                </a:lnTo>
                <a:lnTo>
                  <a:pt x="92837" y="509714"/>
                </a:lnTo>
                <a:lnTo>
                  <a:pt x="131572" y="546239"/>
                </a:lnTo>
                <a:lnTo>
                  <a:pt x="164084" y="567715"/>
                </a:lnTo>
                <a:lnTo>
                  <a:pt x="200025" y="583857"/>
                </a:lnTo>
                <a:lnTo>
                  <a:pt x="238378" y="593966"/>
                </a:lnTo>
                <a:lnTo>
                  <a:pt x="278638" y="597395"/>
                </a:lnTo>
                <a:lnTo>
                  <a:pt x="292100" y="596963"/>
                </a:lnTo>
                <a:lnTo>
                  <a:pt x="331724" y="591083"/>
                </a:lnTo>
                <a:lnTo>
                  <a:pt x="369315" y="578726"/>
                </a:lnTo>
                <a:lnTo>
                  <a:pt x="404495" y="560247"/>
                </a:lnTo>
                <a:lnTo>
                  <a:pt x="405806" y="559320"/>
                </a:lnTo>
                <a:lnTo>
                  <a:pt x="277368" y="559320"/>
                </a:lnTo>
                <a:lnTo>
                  <a:pt x="266064" y="558939"/>
                </a:lnTo>
                <a:lnTo>
                  <a:pt x="222376" y="551192"/>
                </a:lnTo>
                <a:lnTo>
                  <a:pt x="181737" y="533946"/>
                </a:lnTo>
                <a:lnTo>
                  <a:pt x="136271" y="500113"/>
                </a:lnTo>
                <a:lnTo>
                  <a:pt x="106045" y="464870"/>
                </a:lnTo>
                <a:lnTo>
                  <a:pt x="83521" y="426465"/>
                </a:lnTo>
                <a:lnTo>
                  <a:pt x="83185" y="426465"/>
                </a:lnTo>
                <a:lnTo>
                  <a:pt x="81787" y="423151"/>
                </a:lnTo>
                <a:lnTo>
                  <a:pt x="82163" y="423151"/>
                </a:lnTo>
                <a:lnTo>
                  <a:pt x="77301" y="407380"/>
                </a:lnTo>
                <a:close/>
              </a:path>
              <a:path w="539750" h="597535">
                <a:moveTo>
                  <a:pt x="278638" y="0"/>
                </a:moveTo>
                <a:lnTo>
                  <a:pt x="277368" y="38099"/>
                </a:lnTo>
                <a:lnTo>
                  <a:pt x="289940" y="38480"/>
                </a:lnTo>
                <a:lnTo>
                  <a:pt x="301117" y="39496"/>
                </a:lnTo>
                <a:lnTo>
                  <a:pt x="344170" y="49656"/>
                </a:lnTo>
                <a:lnTo>
                  <a:pt x="383921" y="69214"/>
                </a:lnTo>
                <a:lnTo>
                  <a:pt x="419735" y="97408"/>
                </a:lnTo>
                <a:lnTo>
                  <a:pt x="449961" y="132587"/>
                </a:lnTo>
                <a:lnTo>
                  <a:pt x="474218" y="174243"/>
                </a:lnTo>
                <a:lnTo>
                  <a:pt x="491363" y="221360"/>
                </a:lnTo>
                <a:lnTo>
                  <a:pt x="498728" y="259079"/>
                </a:lnTo>
                <a:lnTo>
                  <a:pt x="501269" y="299084"/>
                </a:lnTo>
                <a:lnTo>
                  <a:pt x="501014" y="312712"/>
                </a:lnTo>
                <a:lnTo>
                  <a:pt x="496570" y="352107"/>
                </a:lnTo>
                <a:lnTo>
                  <a:pt x="483108" y="401789"/>
                </a:lnTo>
                <a:lnTo>
                  <a:pt x="462152" y="446252"/>
                </a:lnTo>
                <a:lnTo>
                  <a:pt x="434339" y="484644"/>
                </a:lnTo>
                <a:lnTo>
                  <a:pt x="401065" y="516216"/>
                </a:lnTo>
                <a:lnTo>
                  <a:pt x="363600" y="539445"/>
                </a:lnTo>
                <a:lnTo>
                  <a:pt x="322072" y="554202"/>
                </a:lnTo>
                <a:lnTo>
                  <a:pt x="277368" y="559320"/>
                </a:lnTo>
                <a:lnTo>
                  <a:pt x="405806" y="559320"/>
                </a:lnTo>
                <a:lnTo>
                  <a:pt x="446024" y="527646"/>
                </a:lnTo>
                <a:lnTo>
                  <a:pt x="480949" y="487019"/>
                </a:lnTo>
                <a:lnTo>
                  <a:pt x="508635" y="439381"/>
                </a:lnTo>
                <a:lnTo>
                  <a:pt x="527938" y="386384"/>
                </a:lnTo>
                <a:lnTo>
                  <a:pt x="536448" y="343344"/>
                </a:lnTo>
                <a:lnTo>
                  <a:pt x="539369" y="298322"/>
                </a:lnTo>
                <a:lnTo>
                  <a:pt x="538988" y="283044"/>
                </a:lnTo>
                <a:lnTo>
                  <a:pt x="534035" y="238632"/>
                </a:lnTo>
                <a:lnTo>
                  <a:pt x="518795" y="182498"/>
                </a:lnTo>
                <a:lnTo>
                  <a:pt x="494919" y="131952"/>
                </a:lnTo>
                <a:lnTo>
                  <a:pt x="463169" y="87883"/>
                </a:lnTo>
                <a:lnTo>
                  <a:pt x="424561" y="51307"/>
                </a:lnTo>
                <a:lnTo>
                  <a:pt x="391922" y="29844"/>
                </a:lnTo>
                <a:lnTo>
                  <a:pt x="356108" y="13588"/>
                </a:lnTo>
                <a:lnTo>
                  <a:pt x="317753" y="3428"/>
                </a:lnTo>
                <a:lnTo>
                  <a:pt x="291084" y="380"/>
                </a:lnTo>
                <a:lnTo>
                  <a:pt x="278638" y="0"/>
                </a:lnTo>
                <a:close/>
              </a:path>
              <a:path w="539750" h="597535">
                <a:moveTo>
                  <a:pt x="81787" y="423151"/>
                </a:moveTo>
                <a:lnTo>
                  <a:pt x="83185" y="426465"/>
                </a:lnTo>
                <a:lnTo>
                  <a:pt x="82701" y="424899"/>
                </a:lnTo>
                <a:lnTo>
                  <a:pt x="81787" y="423151"/>
                </a:lnTo>
                <a:close/>
              </a:path>
              <a:path w="539750" h="597535">
                <a:moveTo>
                  <a:pt x="82701" y="424899"/>
                </a:moveTo>
                <a:lnTo>
                  <a:pt x="83185" y="426465"/>
                </a:lnTo>
                <a:lnTo>
                  <a:pt x="83521" y="426465"/>
                </a:lnTo>
                <a:lnTo>
                  <a:pt x="82701" y="424899"/>
                </a:lnTo>
                <a:close/>
              </a:path>
              <a:path w="539750" h="597535">
                <a:moveTo>
                  <a:pt x="82163" y="423151"/>
                </a:moveTo>
                <a:lnTo>
                  <a:pt x="81787" y="423151"/>
                </a:lnTo>
                <a:lnTo>
                  <a:pt x="82701" y="424899"/>
                </a:lnTo>
                <a:lnTo>
                  <a:pt x="82163" y="423151"/>
                </a:lnTo>
                <a:close/>
              </a:path>
              <a:path w="539750" h="597535">
                <a:moveTo>
                  <a:pt x="35687" y="298805"/>
                </a:moveTo>
                <a:lnTo>
                  <a:pt x="0" y="421512"/>
                </a:lnTo>
                <a:lnTo>
                  <a:pt x="39537" y="414284"/>
                </a:lnTo>
                <a:lnTo>
                  <a:pt x="34544" y="398081"/>
                </a:lnTo>
                <a:lnTo>
                  <a:pt x="70993" y="386918"/>
                </a:lnTo>
                <a:lnTo>
                  <a:pt x="101848" y="386918"/>
                </a:lnTo>
                <a:lnTo>
                  <a:pt x="35687" y="298805"/>
                </a:lnTo>
                <a:close/>
              </a:path>
              <a:path w="539750" h="597535">
                <a:moveTo>
                  <a:pt x="70993" y="386918"/>
                </a:moveTo>
                <a:lnTo>
                  <a:pt x="34544" y="398081"/>
                </a:lnTo>
                <a:lnTo>
                  <a:pt x="39537" y="414284"/>
                </a:lnTo>
                <a:lnTo>
                  <a:pt x="77301" y="407380"/>
                </a:lnTo>
                <a:lnTo>
                  <a:pt x="70993" y="386918"/>
                </a:lnTo>
                <a:close/>
              </a:path>
              <a:path w="539750" h="597535">
                <a:moveTo>
                  <a:pt x="101848" y="386918"/>
                </a:moveTo>
                <a:lnTo>
                  <a:pt x="70993" y="386918"/>
                </a:lnTo>
                <a:lnTo>
                  <a:pt x="77301" y="407380"/>
                </a:lnTo>
                <a:lnTo>
                  <a:pt x="112395" y="400964"/>
                </a:lnTo>
                <a:lnTo>
                  <a:pt x="101848" y="3869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840351" y="1645157"/>
            <a:ext cx="392620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｛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#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0439" y="5875121"/>
            <a:ext cx="4149090" cy="902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1369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该文法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SLR(1)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文</a:t>
            </a:r>
            <a:r>
              <a:rPr dirty="0" sz="3200" spc="-15" b="1">
                <a:solidFill>
                  <a:srgbClr val="00FFFF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00194" y="3156966"/>
            <a:ext cx="4386580" cy="3209925"/>
          </a:xfrm>
          <a:custGeom>
            <a:avLst/>
            <a:gdLst/>
            <a:ahLst/>
            <a:cxnLst/>
            <a:rect l="l" t="t" r="r" b="b"/>
            <a:pathLst>
              <a:path w="4386580" h="3209925">
                <a:moveTo>
                  <a:pt x="0" y="3209544"/>
                </a:moveTo>
                <a:lnTo>
                  <a:pt x="4386072" y="3209544"/>
                </a:lnTo>
                <a:lnTo>
                  <a:pt x="4386072" y="0"/>
                </a:lnTo>
                <a:lnTo>
                  <a:pt x="0" y="0"/>
                </a:lnTo>
                <a:lnTo>
                  <a:pt x="0" y="320954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4600194" y="3156966"/>
          <a:ext cx="4430395" cy="3227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850"/>
                <a:gridCol w="1350010"/>
                <a:gridCol w="977900"/>
                <a:gridCol w="1144905"/>
              </a:tblGrid>
              <a:tr h="502158">
                <a:tc rowSpan="2"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26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6845"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8295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381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675">
                    <a:lnL w="381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280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6845"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ts val="2580"/>
                        </a:lnSpc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6050">
                        <a:lnSpc>
                          <a:spcPts val="2660"/>
                        </a:lnSpc>
                        <a:spcBef>
                          <a:spcPts val="1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3180">
                        <a:lnSpc>
                          <a:spcPts val="2680"/>
                        </a:lnSpc>
                      </a:pPr>
                      <a:r>
                        <a:rPr dirty="0" sz="24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8076">
                <a:tc>
                  <a:txBody>
                    <a:bodyPr/>
                    <a:lstStyle/>
                    <a:p>
                      <a:pPr algn="r" marR="3200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0655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0020">
                    <a:lnL w="381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86156">
                <a:tc>
                  <a:txBody>
                    <a:bodyPr/>
                    <a:lstStyle/>
                    <a:p>
                      <a:pPr algn="r" marR="320040">
                        <a:lnSpc>
                          <a:spcPts val="2810"/>
                        </a:lnSpc>
                        <a:spcBef>
                          <a:spcPts val="91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6205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3254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803910">
                <a:tc>
                  <a:txBody>
                    <a:bodyPr/>
                    <a:lstStyle/>
                    <a:p>
                      <a:pPr algn="r" marR="32004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0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132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381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540413"/>
                    </a:solidFill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132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762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540413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9860">
                    <a:lnL w="381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914">
                <a:tc>
                  <a:txBody>
                    <a:bodyPr/>
                    <a:lstStyle/>
                    <a:p>
                      <a:pPr algn="r" marR="320040">
                        <a:lnSpc>
                          <a:spcPts val="2860"/>
                        </a:lnSpc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39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  <a:solidFill>
                      <a:srgbClr val="540413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3354"/>
                        </a:lnSpc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132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132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  <a:solidFill>
                      <a:srgbClr val="5404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latin typeface="Times New Roman"/>
                <a:cs typeface="Times New Roman"/>
              </a:rPr>
              <a:t>5.1	</a:t>
            </a:r>
            <a:r>
              <a:rPr dirty="0" spc="-10"/>
              <a:t>“移近</a:t>
            </a:r>
            <a:r>
              <a:rPr dirty="0" spc="-10">
                <a:latin typeface="Times New Roman"/>
                <a:cs typeface="Times New Roman"/>
              </a:rPr>
              <a:t>—</a:t>
            </a:r>
            <a:r>
              <a:rPr dirty="0" spc="-10"/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5654040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7244" indent="-803910">
              <a:lnSpc>
                <a:spcPct val="100000"/>
              </a:lnSpc>
              <a:spcBef>
                <a:spcPts val="1275"/>
              </a:spcBef>
              <a:buFont typeface="Times New Roman"/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分析鸟瞰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5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73473" y="3722370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73473" y="3722370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3"/>
                </a:moveTo>
                <a:lnTo>
                  <a:pt x="390398" y="0"/>
                </a:lnTo>
                <a:lnTo>
                  <a:pt x="390398" y="134111"/>
                </a:lnTo>
                <a:lnTo>
                  <a:pt x="1562100" y="134111"/>
                </a:lnTo>
                <a:lnTo>
                  <a:pt x="1562100" y="402335"/>
                </a:lnTo>
                <a:lnTo>
                  <a:pt x="390398" y="402335"/>
                </a:lnTo>
                <a:lnTo>
                  <a:pt x="390398" y="536447"/>
                </a:lnTo>
                <a:lnTo>
                  <a:pt x="0" y="26822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1070" y="26923"/>
            <a:ext cx="766190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0805" algn="l"/>
                <a:tab pos="4643120" algn="l"/>
                <a:tab pos="54051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-825" b="1">
                <a:solidFill>
                  <a:srgbClr val="A15100"/>
                </a:solidFill>
                <a:latin typeface="Times New Roman"/>
                <a:cs typeface="Times New Roman"/>
              </a:rPr>
              <a:t>R</a:t>
            </a:r>
            <a:r>
              <a:rPr dirty="0" baseline="2777" sz="3000" spc="-930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spc="-139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baseline="2777" sz="3000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baseline="2777" sz="3000" spc="-1087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-30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baseline="2777" sz="3000" spc="-2542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spc="-305" b="1">
                <a:solidFill>
                  <a:srgbClr val="A15100"/>
                </a:solidFill>
                <a:latin typeface="宋体"/>
                <a:cs typeface="宋体"/>
              </a:rPr>
              <a:t>鸟</a:t>
            </a:r>
            <a:r>
              <a:rPr dirty="0" baseline="2777" sz="3000" spc="-2542" b="1">
                <a:solidFill>
                  <a:srgbClr val="A15100"/>
                </a:solidFill>
                <a:latin typeface="华文新魏"/>
                <a:cs typeface="华文新魏"/>
              </a:rPr>
              <a:t>法</a:t>
            </a:r>
            <a:r>
              <a:rPr dirty="0" sz="2000" spc="-320" b="1">
                <a:solidFill>
                  <a:srgbClr val="A15100"/>
                </a:solidFill>
                <a:latin typeface="宋体"/>
                <a:cs typeface="宋体"/>
              </a:rPr>
              <a:t>瞰</a:t>
            </a:r>
            <a:r>
              <a:rPr dirty="0" baseline="2777" sz="30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r>
              <a:rPr dirty="0" baseline="2777" sz="3000" b="1">
                <a:solidFill>
                  <a:srgbClr val="A15100"/>
                </a:solidFill>
                <a:latin typeface="华文新魏"/>
                <a:cs typeface="华文新魏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分析与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4666" y="1725244"/>
            <a:ext cx="497586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0805" algn="l"/>
              </a:tabLst>
            </a:pPr>
            <a:r>
              <a:rPr dirty="0" sz="3600" spc="-5">
                <a:solidFill>
                  <a:srgbClr val="FFFF00"/>
                </a:solidFill>
                <a:latin typeface="Times New Roman"/>
                <a:cs typeface="Times New Roman"/>
              </a:rPr>
              <a:t>5.6.1	</a:t>
            </a:r>
            <a:r>
              <a:rPr dirty="0" sz="3400" spc="-5">
                <a:solidFill>
                  <a:srgbClr val="FFFFFF"/>
                </a:solidFill>
                <a:latin typeface="Times New Roman"/>
                <a:cs typeface="Times New Roman"/>
              </a:rPr>
              <a:t>SLR(</a:t>
            </a:r>
            <a:r>
              <a:rPr dirty="0" sz="3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FF"/>
                </a:solidFill>
              </a:rPr>
              <a:t>分析的缺陷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2524" y="2795778"/>
            <a:ext cx="6408420" cy="271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60805" indent="-1348740">
              <a:lnSpc>
                <a:spcPct val="100000"/>
              </a:lnSpc>
              <a:spcBef>
                <a:spcPts val="100"/>
              </a:spcBef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400" spc="-10" b="1">
                <a:solidFill>
                  <a:srgbClr val="FFFFFF"/>
                </a:solidFill>
                <a:latin typeface="宋体"/>
                <a:cs typeface="宋体"/>
              </a:rPr>
              <a:t>分析的实现思想</a:t>
            </a:r>
            <a:endParaRPr sz="34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60805" indent="-1348740">
              <a:lnSpc>
                <a:spcPct val="100000"/>
              </a:lnSpc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400" spc="-10" b="1">
                <a:solidFill>
                  <a:srgbClr val="FFFFFF"/>
                </a:solidFill>
                <a:latin typeface="宋体"/>
                <a:cs typeface="宋体"/>
              </a:rPr>
              <a:t>项目集规范族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的构造</a:t>
            </a:r>
            <a:endParaRPr sz="32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60805" indent="-1348740">
              <a:lnSpc>
                <a:spcPct val="100000"/>
              </a:lnSpc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33294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677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92061" y="1803654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92061" y="1803654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62634" y="26923"/>
            <a:ext cx="38696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76747" y="26923"/>
            <a:ext cx="27978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5.6.1	SLR(1)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分析的缺陷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6443" y="423497"/>
            <a:ext cx="8366125" cy="562419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670"/>
              </a:spcBef>
              <a:tabLst>
                <a:tab pos="1588135" algn="l"/>
              </a:tabLst>
            </a:pPr>
            <a:r>
              <a:rPr dirty="0" u="heavy" sz="3200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3" action="ppaction://hlinksldjump"/>
              </a:rPr>
              <a:t>例</a:t>
            </a:r>
            <a:r>
              <a:rPr dirty="0" u="heavy" sz="3200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3" action="ppaction://hlinksldjump"/>
              </a:rPr>
              <a:t>5.15</a:t>
            </a:r>
            <a:r>
              <a:rPr dirty="0" u="heavy" sz="3200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  <a:p>
            <a:pPr marL="2066289" indent="-779780">
              <a:lnSpc>
                <a:spcPct val="100000"/>
              </a:lnSpc>
              <a:spcBef>
                <a:spcPts val="575"/>
              </a:spcBef>
              <a:buFont typeface="Times New Roman"/>
              <a:buAutoNum type="arabicParenBoth"/>
              <a:tabLst>
                <a:tab pos="2065655" algn="l"/>
                <a:tab pos="2066925" algn="l"/>
              </a:tabLst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2066289" indent="-779780">
              <a:lnSpc>
                <a:spcPct val="100000"/>
              </a:lnSpc>
              <a:spcBef>
                <a:spcPts val="580"/>
              </a:spcBef>
              <a:buFont typeface="Times New Roman"/>
              <a:buAutoNum type="arabicParenBoth"/>
              <a:tabLst>
                <a:tab pos="2065655" algn="l"/>
                <a:tab pos="2066925" algn="l"/>
              </a:tabLst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2066289" indent="-779780">
              <a:lnSpc>
                <a:spcPct val="100000"/>
              </a:lnSpc>
              <a:spcBef>
                <a:spcPts val="575"/>
              </a:spcBef>
              <a:buFont typeface="Times New Roman"/>
              <a:buAutoNum type="arabicParenBoth"/>
              <a:tabLst>
                <a:tab pos="2065655" algn="l"/>
                <a:tab pos="206692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2066289" indent="-779780">
              <a:lnSpc>
                <a:spcPct val="100000"/>
              </a:lnSpc>
              <a:spcBef>
                <a:spcPts val="580"/>
              </a:spcBef>
              <a:buFont typeface="Times New Roman"/>
              <a:buAutoNum type="arabicParenBoth"/>
              <a:tabLst>
                <a:tab pos="2065655" algn="l"/>
                <a:tab pos="206692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2066289" indent="-779780">
              <a:lnSpc>
                <a:spcPct val="100000"/>
              </a:lnSpc>
              <a:spcBef>
                <a:spcPts val="575"/>
              </a:spcBef>
              <a:buFont typeface="Times New Roman"/>
              <a:buAutoNum type="arabicParenBoth"/>
              <a:tabLst>
                <a:tab pos="2065655" algn="l"/>
                <a:tab pos="206692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82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构造文法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25132" sz="315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识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别活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前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3200" spc="1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spc="-2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宋体"/>
              <a:cs typeface="宋体"/>
            </a:endParaRPr>
          </a:p>
          <a:p>
            <a:pPr marL="177800">
              <a:lnSpc>
                <a:spcPct val="100000"/>
              </a:lnSpc>
              <a:spcBef>
                <a:spcPts val="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开始符号的候选式不唯一，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行拓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广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  <a:p>
            <a:pPr marL="177800">
              <a:lnSpc>
                <a:spcPct val="100000"/>
              </a:lnSpc>
              <a:spcBef>
                <a:spcPts val="153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’)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，增加一产生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S’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37965" y="1386077"/>
            <a:ext cx="2438400" cy="1163320"/>
          </a:xfrm>
          <a:custGeom>
            <a:avLst/>
            <a:gdLst/>
            <a:ahLst/>
            <a:cxnLst/>
            <a:rect l="l" t="t" r="r" b="b"/>
            <a:pathLst>
              <a:path w="2438400" h="1163320">
                <a:moveTo>
                  <a:pt x="0" y="1162812"/>
                </a:moveTo>
                <a:lnTo>
                  <a:pt x="2438400" y="1162812"/>
                </a:lnTo>
                <a:lnTo>
                  <a:pt x="2438400" y="0"/>
                </a:lnTo>
                <a:lnTo>
                  <a:pt x="0" y="0"/>
                </a:lnTo>
                <a:lnTo>
                  <a:pt x="0" y="1162812"/>
                </a:lnTo>
                <a:close/>
              </a:path>
            </a:pathLst>
          </a:custGeom>
          <a:ln w="1270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2634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47366" y="896111"/>
            <a:ext cx="1085215" cy="114300"/>
          </a:xfrm>
          <a:custGeom>
            <a:avLst/>
            <a:gdLst/>
            <a:ahLst/>
            <a:cxnLst/>
            <a:rect l="l" t="t" r="r" b="b"/>
            <a:pathLst>
              <a:path w="1085214" h="114300">
                <a:moveTo>
                  <a:pt x="970787" y="0"/>
                </a:moveTo>
                <a:lnTo>
                  <a:pt x="970787" y="114300"/>
                </a:lnTo>
                <a:lnTo>
                  <a:pt x="1046987" y="76200"/>
                </a:lnTo>
                <a:lnTo>
                  <a:pt x="989837" y="76200"/>
                </a:lnTo>
                <a:lnTo>
                  <a:pt x="989837" y="38100"/>
                </a:lnTo>
                <a:lnTo>
                  <a:pt x="1046987" y="38100"/>
                </a:lnTo>
                <a:lnTo>
                  <a:pt x="970787" y="0"/>
                </a:lnTo>
                <a:close/>
              </a:path>
              <a:path w="1085214" h="114300">
                <a:moveTo>
                  <a:pt x="9707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0787" y="76200"/>
                </a:lnTo>
                <a:lnTo>
                  <a:pt x="970787" y="38100"/>
                </a:lnTo>
                <a:close/>
              </a:path>
              <a:path w="1085214" h="114300">
                <a:moveTo>
                  <a:pt x="1046987" y="38100"/>
                </a:moveTo>
                <a:lnTo>
                  <a:pt x="989837" y="38100"/>
                </a:lnTo>
                <a:lnTo>
                  <a:pt x="989837" y="76200"/>
                </a:lnTo>
                <a:lnTo>
                  <a:pt x="1046987" y="76200"/>
                </a:lnTo>
                <a:lnTo>
                  <a:pt x="1085087" y="57150"/>
                </a:lnTo>
                <a:lnTo>
                  <a:pt x="104698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39619" y="1393063"/>
            <a:ext cx="998855" cy="462280"/>
          </a:xfrm>
          <a:custGeom>
            <a:avLst/>
            <a:gdLst/>
            <a:ahLst/>
            <a:cxnLst/>
            <a:rect l="l" t="t" r="r" b="b"/>
            <a:pathLst>
              <a:path w="998854" h="462280">
                <a:moveTo>
                  <a:pt x="886152" y="427370"/>
                </a:moveTo>
                <a:lnTo>
                  <a:pt x="870711" y="462279"/>
                </a:lnTo>
                <a:lnTo>
                  <a:pt x="998346" y="456311"/>
                </a:lnTo>
                <a:lnTo>
                  <a:pt x="980827" y="435101"/>
                </a:lnTo>
                <a:lnTo>
                  <a:pt x="903605" y="435101"/>
                </a:lnTo>
                <a:lnTo>
                  <a:pt x="886152" y="427370"/>
                </a:lnTo>
                <a:close/>
              </a:path>
              <a:path w="998854" h="462280">
                <a:moveTo>
                  <a:pt x="901539" y="392580"/>
                </a:moveTo>
                <a:lnTo>
                  <a:pt x="886152" y="427370"/>
                </a:lnTo>
                <a:lnTo>
                  <a:pt x="903605" y="435101"/>
                </a:lnTo>
                <a:lnTo>
                  <a:pt x="918971" y="400303"/>
                </a:lnTo>
                <a:lnTo>
                  <a:pt x="901539" y="392580"/>
                </a:lnTo>
                <a:close/>
              </a:path>
              <a:path w="998854" h="462280">
                <a:moveTo>
                  <a:pt x="916940" y="357759"/>
                </a:moveTo>
                <a:lnTo>
                  <a:pt x="901539" y="392580"/>
                </a:lnTo>
                <a:lnTo>
                  <a:pt x="918971" y="400303"/>
                </a:lnTo>
                <a:lnTo>
                  <a:pt x="903605" y="435101"/>
                </a:lnTo>
                <a:lnTo>
                  <a:pt x="980827" y="435101"/>
                </a:lnTo>
                <a:lnTo>
                  <a:pt x="916940" y="357759"/>
                </a:lnTo>
                <a:close/>
              </a:path>
              <a:path w="998854" h="462280">
                <a:moveTo>
                  <a:pt x="15493" y="0"/>
                </a:moveTo>
                <a:lnTo>
                  <a:pt x="0" y="34798"/>
                </a:lnTo>
                <a:lnTo>
                  <a:pt x="886152" y="427370"/>
                </a:lnTo>
                <a:lnTo>
                  <a:pt x="901539" y="392580"/>
                </a:lnTo>
                <a:lnTo>
                  <a:pt x="15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39898" y="449072"/>
            <a:ext cx="375920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  <a:spcBef>
                <a:spcPts val="2039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36951" y="2191639"/>
            <a:ext cx="1001394" cy="666750"/>
          </a:xfrm>
          <a:custGeom>
            <a:avLst/>
            <a:gdLst/>
            <a:ahLst/>
            <a:cxnLst/>
            <a:rect l="l" t="t" r="r" b="b"/>
            <a:pathLst>
              <a:path w="1001395" h="666750">
                <a:moveTo>
                  <a:pt x="895035" y="619830"/>
                </a:moveTo>
                <a:lnTo>
                  <a:pt x="874140" y="651637"/>
                </a:lnTo>
                <a:lnTo>
                  <a:pt x="1001013" y="666623"/>
                </a:lnTo>
                <a:lnTo>
                  <a:pt x="979930" y="630301"/>
                </a:lnTo>
                <a:lnTo>
                  <a:pt x="910971" y="630301"/>
                </a:lnTo>
                <a:lnTo>
                  <a:pt x="895035" y="619830"/>
                </a:lnTo>
                <a:close/>
              </a:path>
              <a:path w="1001395" h="666750">
                <a:moveTo>
                  <a:pt x="915978" y="587949"/>
                </a:moveTo>
                <a:lnTo>
                  <a:pt x="895035" y="619830"/>
                </a:lnTo>
                <a:lnTo>
                  <a:pt x="910971" y="630301"/>
                </a:lnTo>
                <a:lnTo>
                  <a:pt x="931926" y="598424"/>
                </a:lnTo>
                <a:lnTo>
                  <a:pt x="915978" y="587949"/>
                </a:lnTo>
                <a:close/>
              </a:path>
              <a:path w="1001395" h="666750">
                <a:moveTo>
                  <a:pt x="936878" y="556133"/>
                </a:moveTo>
                <a:lnTo>
                  <a:pt x="915978" y="587949"/>
                </a:lnTo>
                <a:lnTo>
                  <a:pt x="931926" y="598424"/>
                </a:lnTo>
                <a:lnTo>
                  <a:pt x="910971" y="630301"/>
                </a:lnTo>
                <a:lnTo>
                  <a:pt x="979930" y="630301"/>
                </a:lnTo>
                <a:lnTo>
                  <a:pt x="936878" y="556133"/>
                </a:lnTo>
                <a:close/>
              </a:path>
              <a:path w="1001395" h="666750">
                <a:moveTo>
                  <a:pt x="20828" y="0"/>
                </a:moveTo>
                <a:lnTo>
                  <a:pt x="0" y="31750"/>
                </a:lnTo>
                <a:lnTo>
                  <a:pt x="895035" y="619830"/>
                </a:lnTo>
                <a:lnTo>
                  <a:pt x="915978" y="587949"/>
                </a:lnTo>
                <a:lnTo>
                  <a:pt x="208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20898" y="2179700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37460" y="3360165"/>
            <a:ext cx="1000760" cy="622935"/>
          </a:xfrm>
          <a:custGeom>
            <a:avLst/>
            <a:gdLst/>
            <a:ahLst/>
            <a:cxnLst/>
            <a:rect l="l" t="t" r="r" b="b"/>
            <a:pathLst>
              <a:path w="1000760" h="622935">
                <a:moveTo>
                  <a:pt x="893054" y="579320"/>
                </a:moveTo>
                <a:lnTo>
                  <a:pt x="873125" y="611886"/>
                </a:lnTo>
                <a:lnTo>
                  <a:pt x="1000505" y="622808"/>
                </a:lnTo>
                <a:lnTo>
                  <a:pt x="979580" y="589280"/>
                </a:lnTo>
                <a:lnTo>
                  <a:pt x="909319" y="589280"/>
                </a:lnTo>
                <a:lnTo>
                  <a:pt x="893054" y="579320"/>
                </a:lnTo>
                <a:close/>
              </a:path>
              <a:path w="1000760" h="622935">
                <a:moveTo>
                  <a:pt x="912961" y="546790"/>
                </a:moveTo>
                <a:lnTo>
                  <a:pt x="893054" y="579320"/>
                </a:lnTo>
                <a:lnTo>
                  <a:pt x="909319" y="589280"/>
                </a:lnTo>
                <a:lnTo>
                  <a:pt x="929259" y="556768"/>
                </a:lnTo>
                <a:lnTo>
                  <a:pt x="912961" y="546790"/>
                </a:lnTo>
                <a:close/>
              </a:path>
              <a:path w="1000760" h="622935">
                <a:moveTo>
                  <a:pt x="932814" y="514350"/>
                </a:moveTo>
                <a:lnTo>
                  <a:pt x="912961" y="546790"/>
                </a:lnTo>
                <a:lnTo>
                  <a:pt x="929259" y="556768"/>
                </a:lnTo>
                <a:lnTo>
                  <a:pt x="909319" y="589280"/>
                </a:lnTo>
                <a:lnTo>
                  <a:pt x="979580" y="589280"/>
                </a:lnTo>
                <a:lnTo>
                  <a:pt x="932814" y="514350"/>
                </a:lnTo>
                <a:close/>
              </a:path>
              <a:path w="1000760" h="622935">
                <a:moveTo>
                  <a:pt x="19812" y="0"/>
                </a:moveTo>
                <a:lnTo>
                  <a:pt x="0" y="32512"/>
                </a:lnTo>
                <a:lnTo>
                  <a:pt x="893054" y="579320"/>
                </a:lnTo>
                <a:lnTo>
                  <a:pt x="912961" y="546790"/>
                </a:lnTo>
                <a:lnTo>
                  <a:pt x="198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20873" y="3968369"/>
            <a:ext cx="1079500" cy="909319"/>
          </a:xfrm>
          <a:custGeom>
            <a:avLst/>
            <a:gdLst/>
            <a:ahLst/>
            <a:cxnLst/>
            <a:rect l="l" t="t" r="r" b="b"/>
            <a:pathLst>
              <a:path w="1079500" h="909320">
                <a:moveTo>
                  <a:pt x="979197" y="850359"/>
                </a:moveTo>
                <a:lnTo>
                  <a:pt x="954659" y="879601"/>
                </a:lnTo>
                <a:lnTo>
                  <a:pt x="1078991" y="909192"/>
                </a:lnTo>
                <a:lnTo>
                  <a:pt x="1058793" y="862583"/>
                </a:lnTo>
                <a:lnTo>
                  <a:pt x="993775" y="862583"/>
                </a:lnTo>
                <a:lnTo>
                  <a:pt x="979197" y="850359"/>
                </a:lnTo>
                <a:close/>
              </a:path>
              <a:path w="1079500" h="909320">
                <a:moveTo>
                  <a:pt x="1003707" y="821150"/>
                </a:moveTo>
                <a:lnTo>
                  <a:pt x="979197" y="850359"/>
                </a:lnTo>
                <a:lnTo>
                  <a:pt x="993775" y="862583"/>
                </a:lnTo>
                <a:lnTo>
                  <a:pt x="1018286" y="833373"/>
                </a:lnTo>
                <a:lnTo>
                  <a:pt x="1003707" y="821150"/>
                </a:lnTo>
                <a:close/>
              </a:path>
              <a:path w="1079500" h="909320">
                <a:moveTo>
                  <a:pt x="1028191" y="791971"/>
                </a:moveTo>
                <a:lnTo>
                  <a:pt x="1003707" y="821150"/>
                </a:lnTo>
                <a:lnTo>
                  <a:pt x="1018286" y="833373"/>
                </a:lnTo>
                <a:lnTo>
                  <a:pt x="993775" y="862583"/>
                </a:lnTo>
                <a:lnTo>
                  <a:pt x="1058793" y="862583"/>
                </a:lnTo>
                <a:lnTo>
                  <a:pt x="1028191" y="791971"/>
                </a:lnTo>
                <a:close/>
              </a:path>
              <a:path w="1079500" h="909320">
                <a:moveTo>
                  <a:pt x="24383" y="0"/>
                </a:moveTo>
                <a:lnTo>
                  <a:pt x="0" y="29209"/>
                </a:lnTo>
                <a:lnTo>
                  <a:pt x="979197" y="850359"/>
                </a:lnTo>
                <a:lnTo>
                  <a:pt x="1003707" y="821150"/>
                </a:lnTo>
                <a:lnTo>
                  <a:pt x="243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77998" y="3954602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40958" y="4820411"/>
            <a:ext cx="445134" cy="114300"/>
          </a:xfrm>
          <a:custGeom>
            <a:avLst/>
            <a:gdLst/>
            <a:ahLst/>
            <a:cxnLst/>
            <a:rect l="l" t="t" r="r" b="b"/>
            <a:pathLst>
              <a:path w="445134" h="114300">
                <a:moveTo>
                  <a:pt x="330707" y="0"/>
                </a:moveTo>
                <a:lnTo>
                  <a:pt x="330707" y="114300"/>
                </a:lnTo>
                <a:lnTo>
                  <a:pt x="406908" y="76200"/>
                </a:lnTo>
                <a:lnTo>
                  <a:pt x="349757" y="76200"/>
                </a:lnTo>
                <a:lnTo>
                  <a:pt x="349757" y="38100"/>
                </a:lnTo>
                <a:lnTo>
                  <a:pt x="406908" y="38100"/>
                </a:lnTo>
                <a:lnTo>
                  <a:pt x="330707" y="0"/>
                </a:lnTo>
                <a:close/>
              </a:path>
              <a:path w="445134" h="114300">
                <a:moveTo>
                  <a:pt x="33070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30707" y="76200"/>
                </a:lnTo>
                <a:lnTo>
                  <a:pt x="330707" y="38100"/>
                </a:lnTo>
                <a:close/>
              </a:path>
              <a:path w="445134" h="114300">
                <a:moveTo>
                  <a:pt x="406908" y="38100"/>
                </a:moveTo>
                <a:lnTo>
                  <a:pt x="349757" y="38100"/>
                </a:lnTo>
                <a:lnTo>
                  <a:pt x="349757" y="76200"/>
                </a:lnTo>
                <a:lnTo>
                  <a:pt x="406908" y="76200"/>
                </a:lnTo>
                <a:lnTo>
                  <a:pt x="445008" y="57150"/>
                </a:lnTo>
                <a:lnTo>
                  <a:pt x="4069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40958" y="3353561"/>
            <a:ext cx="445134" cy="210820"/>
          </a:xfrm>
          <a:custGeom>
            <a:avLst/>
            <a:gdLst/>
            <a:ahLst/>
            <a:cxnLst/>
            <a:rect l="l" t="t" r="r" b="b"/>
            <a:pathLst>
              <a:path w="445134" h="210820">
                <a:moveTo>
                  <a:pt x="445008" y="0"/>
                </a:moveTo>
                <a:lnTo>
                  <a:pt x="0" y="2103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40958" y="3563873"/>
            <a:ext cx="0" cy="1333500"/>
          </a:xfrm>
          <a:custGeom>
            <a:avLst/>
            <a:gdLst/>
            <a:ahLst/>
            <a:cxnLst/>
            <a:rect l="l" t="t" r="r" b="b"/>
            <a:pathLst>
              <a:path w="0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883655" y="3831082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2816" y="3388614"/>
            <a:ext cx="114300" cy="403860"/>
          </a:xfrm>
          <a:custGeom>
            <a:avLst/>
            <a:gdLst/>
            <a:ahLst/>
            <a:cxnLst/>
            <a:rect l="l" t="t" r="r" b="b"/>
            <a:pathLst>
              <a:path w="114300" h="403860">
                <a:moveTo>
                  <a:pt x="38100" y="289560"/>
                </a:moveTo>
                <a:lnTo>
                  <a:pt x="0" y="289560"/>
                </a:lnTo>
                <a:lnTo>
                  <a:pt x="57150" y="403860"/>
                </a:lnTo>
                <a:lnTo>
                  <a:pt x="104775" y="308610"/>
                </a:lnTo>
                <a:lnTo>
                  <a:pt x="38100" y="308610"/>
                </a:lnTo>
                <a:lnTo>
                  <a:pt x="38100" y="289560"/>
                </a:lnTo>
                <a:close/>
              </a:path>
              <a:path w="114300" h="403860">
                <a:moveTo>
                  <a:pt x="76200" y="0"/>
                </a:moveTo>
                <a:lnTo>
                  <a:pt x="38100" y="0"/>
                </a:lnTo>
                <a:lnTo>
                  <a:pt x="38100" y="308610"/>
                </a:lnTo>
                <a:lnTo>
                  <a:pt x="76200" y="308610"/>
                </a:lnTo>
                <a:lnTo>
                  <a:pt x="76200" y="0"/>
                </a:lnTo>
                <a:close/>
              </a:path>
              <a:path w="114300" h="403860">
                <a:moveTo>
                  <a:pt x="114300" y="289560"/>
                </a:moveTo>
                <a:lnTo>
                  <a:pt x="76200" y="289560"/>
                </a:lnTo>
                <a:lnTo>
                  <a:pt x="76200" y="308610"/>
                </a:lnTo>
                <a:lnTo>
                  <a:pt x="104775" y="308610"/>
                </a:lnTo>
                <a:lnTo>
                  <a:pt x="114300" y="2895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29742" y="3348050"/>
            <a:ext cx="177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66454" y="2362961"/>
            <a:ext cx="0" cy="1219200"/>
          </a:xfrm>
          <a:custGeom>
            <a:avLst/>
            <a:gdLst/>
            <a:ahLst/>
            <a:cxnLst/>
            <a:rect l="l" t="t" r="r" b="b"/>
            <a:pathLst>
              <a:path w="0"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585454" y="3565525"/>
            <a:ext cx="390525" cy="227329"/>
          </a:xfrm>
          <a:custGeom>
            <a:avLst/>
            <a:gdLst/>
            <a:ahLst/>
            <a:cxnLst/>
            <a:rect l="l" t="t" r="r" b="b"/>
            <a:pathLst>
              <a:path w="390525" h="227329">
                <a:moveTo>
                  <a:pt x="72390" y="121666"/>
                </a:moveTo>
                <a:lnTo>
                  <a:pt x="0" y="226949"/>
                </a:lnTo>
                <a:lnTo>
                  <a:pt x="127635" y="221742"/>
                </a:lnTo>
                <a:lnTo>
                  <a:pt x="114314" y="197612"/>
                </a:lnTo>
                <a:lnTo>
                  <a:pt x="92582" y="197612"/>
                </a:lnTo>
                <a:lnTo>
                  <a:pt x="74168" y="164211"/>
                </a:lnTo>
                <a:lnTo>
                  <a:pt x="90808" y="155031"/>
                </a:lnTo>
                <a:lnTo>
                  <a:pt x="72390" y="121666"/>
                </a:lnTo>
                <a:close/>
              </a:path>
              <a:path w="390525" h="227329">
                <a:moveTo>
                  <a:pt x="90808" y="155031"/>
                </a:moveTo>
                <a:lnTo>
                  <a:pt x="74168" y="164211"/>
                </a:lnTo>
                <a:lnTo>
                  <a:pt x="92582" y="197612"/>
                </a:lnTo>
                <a:lnTo>
                  <a:pt x="109237" y="188414"/>
                </a:lnTo>
                <a:lnTo>
                  <a:pt x="90808" y="155031"/>
                </a:lnTo>
                <a:close/>
              </a:path>
              <a:path w="390525" h="227329">
                <a:moveTo>
                  <a:pt x="109237" y="188414"/>
                </a:moveTo>
                <a:lnTo>
                  <a:pt x="92582" y="197612"/>
                </a:lnTo>
                <a:lnTo>
                  <a:pt x="114314" y="197612"/>
                </a:lnTo>
                <a:lnTo>
                  <a:pt x="109237" y="188414"/>
                </a:lnTo>
                <a:close/>
              </a:path>
              <a:path w="390525" h="227329">
                <a:moveTo>
                  <a:pt x="371855" y="0"/>
                </a:moveTo>
                <a:lnTo>
                  <a:pt x="90808" y="155031"/>
                </a:lnTo>
                <a:lnTo>
                  <a:pt x="109237" y="188414"/>
                </a:lnTo>
                <a:lnTo>
                  <a:pt x="390144" y="33274"/>
                </a:lnTo>
                <a:lnTo>
                  <a:pt x="3718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789669" y="2207514"/>
            <a:ext cx="177165" cy="155575"/>
          </a:xfrm>
          <a:custGeom>
            <a:avLst/>
            <a:gdLst/>
            <a:ahLst/>
            <a:cxnLst/>
            <a:rect l="l" t="t" r="r" b="b"/>
            <a:pathLst>
              <a:path w="177165" h="155575">
                <a:moveTo>
                  <a:pt x="176783" y="15544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866123" y="2626563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76365" y="1792223"/>
            <a:ext cx="551815" cy="114300"/>
          </a:xfrm>
          <a:custGeom>
            <a:avLst/>
            <a:gdLst/>
            <a:ahLst/>
            <a:cxnLst/>
            <a:rect l="l" t="t" r="r" b="b"/>
            <a:pathLst>
              <a:path w="551815" h="114300">
                <a:moveTo>
                  <a:pt x="437388" y="0"/>
                </a:moveTo>
                <a:lnTo>
                  <a:pt x="437388" y="114300"/>
                </a:lnTo>
                <a:lnTo>
                  <a:pt x="513588" y="76200"/>
                </a:lnTo>
                <a:lnTo>
                  <a:pt x="456438" y="76200"/>
                </a:lnTo>
                <a:lnTo>
                  <a:pt x="456438" y="38100"/>
                </a:lnTo>
                <a:lnTo>
                  <a:pt x="513588" y="38100"/>
                </a:lnTo>
                <a:lnTo>
                  <a:pt x="437388" y="0"/>
                </a:lnTo>
                <a:close/>
              </a:path>
              <a:path w="551815" h="114300">
                <a:moveTo>
                  <a:pt x="4373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7388" y="76200"/>
                </a:lnTo>
                <a:lnTo>
                  <a:pt x="437388" y="38100"/>
                </a:lnTo>
                <a:close/>
              </a:path>
              <a:path w="551815" h="114300">
                <a:moveTo>
                  <a:pt x="513588" y="38100"/>
                </a:moveTo>
                <a:lnTo>
                  <a:pt x="456438" y="38100"/>
                </a:lnTo>
                <a:lnTo>
                  <a:pt x="456438" y="76200"/>
                </a:lnTo>
                <a:lnTo>
                  <a:pt x="513588" y="76200"/>
                </a:lnTo>
                <a:lnTo>
                  <a:pt x="551688" y="57150"/>
                </a:lnTo>
                <a:lnTo>
                  <a:pt x="5135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080505" y="1491818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3537" y="724662"/>
            <a:ext cx="2433955" cy="2664460"/>
          </a:xfrm>
          <a:custGeom>
            <a:avLst/>
            <a:gdLst/>
            <a:ahLst/>
            <a:cxnLst/>
            <a:rect l="l" t="t" r="r" b="b"/>
            <a:pathLst>
              <a:path w="2433955" h="2664460">
                <a:moveTo>
                  <a:pt x="0" y="2663952"/>
                </a:moveTo>
                <a:lnTo>
                  <a:pt x="2433828" y="2663952"/>
                </a:lnTo>
                <a:lnTo>
                  <a:pt x="2433828" y="0"/>
                </a:lnTo>
                <a:lnTo>
                  <a:pt x="0" y="0"/>
                </a:lnTo>
                <a:lnTo>
                  <a:pt x="0" y="266395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0076" y="706958"/>
            <a:ext cx="152400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’→·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3080" y="1095222"/>
            <a:ext cx="1343660" cy="220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6520" marR="5080" indent="-83820">
              <a:lnSpc>
                <a:spcPct val="111200"/>
              </a:lnSpc>
              <a:spcBef>
                <a:spcPts val="9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6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94615" marR="60960">
              <a:lnSpc>
                <a:spcPts val="3440"/>
              </a:lnSpc>
              <a:spcBef>
                <a:spcPts val="12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→·*</a:t>
            </a:r>
            <a:r>
              <a:rPr dirty="0" sz="26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14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632453" y="724662"/>
            <a:ext cx="2344420" cy="439420"/>
          </a:xfrm>
          <a:custGeom>
            <a:avLst/>
            <a:gdLst/>
            <a:ahLst/>
            <a:cxnLst/>
            <a:rect l="l" t="t" r="r" b="b"/>
            <a:pathLst>
              <a:path w="2344420" h="439419">
                <a:moveTo>
                  <a:pt x="0" y="438912"/>
                </a:moveTo>
                <a:lnTo>
                  <a:pt x="2343912" y="438912"/>
                </a:lnTo>
                <a:lnTo>
                  <a:pt x="2343912" y="0"/>
                </a:lnTo>
                <a:lnTo>
                  <a:pt x="0" y="0"/>
                </a:lnTo>
                <a:lnTo>
                  <a:pt x="0" y="438912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236214" y="26923"/>
            <a:ext cx="5038725" cy="1103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980" algn="l"/>
                <a:tab pos="295084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5.6.1	SLR(1)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分析的缺陷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00">
              <a:latin typeface="宋体"/>
              <a:cs typeface="宋体"/>
            </a:endParaRPr>
          </a:p>
          <a:p>
            <a:pPr marL="770255">
              <a:lnSpc>
                <a:spcPct val="100000"/>
              </a:lnSpc>
              <a:spcBef>
                <a:spcPts val="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0154" y="3792473"/>
            <a:ext cx="1963420" cy="1682750"/>
          </a:xfrm>
          <a:custGeom>
            <a:avLst/>
            <a:gdLst/>
            <a:ahLst/>
            <a:cxnLst/>
            <a:rect l="l" t="t" r="r" b="b"/>
            <a:pathLst>
              <a:path w="1963420" h="1682750">
                <a:moveTo>
                  <a:pt x="0" y="1682495"/>
                </a:moveTo>
                <a:lnTo>
                  <a:pt x="1962912" y="1682495"/>
                </a:lnTo>
                <a:lnTo>
                  <a:pt x="1962912" y="0"/>
                </a:lnTo>
                <a:lnTo>
                  <a:pt x="0" y="0"/>
                </a:lnTo>
                <a:lnTo>
                  <a:pt x="0" y="168249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61441" y="3711651"/>
            <a:ext cx="155765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4: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-1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9449" y="4107535"/>
            <a:ext cx="1217295" cy="13944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1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→·*</a:t>
            </a:r>
            <a:r>
              <a:rPr dirty="0" sz="26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99865" y="4470653"/>
            <a:ext cx="1861185" cy="585470"/>
          </a:xfrm>
          <a:custGeom>
            <a:avLst/>
            <a:gdLst/>
            <a:ahLst/>
            <a:cxnLst/>
            <a:rect l="l" t="t" r="r" b="b"/>
            <a:pathLst>
              <a:path w="1861185" h="585470">
                <a:moveTo>
                  <a:pt x="0" y="585216"/>
                </a:moveTo>
                <a:lnTo>
                  <a:pt x="1860804" y="585216"/>
                </a:lnTo>
                <a:lnTo>
                  <a:pt x="1860804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486658" y="4527880"/>
            <a:ext cx="172275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spc="-100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spc="5" b="1">
                <a:solidFill>
                  <a:srgbClr val="00FFFF"/>
                </a:solidFill>
                <a:latin typeface="Times New Roman"/>
                <a:cs typeface="Times New Roman"/>
              </a:rPr>
              <a:t>→*</a:t>
            </a:r>
            <a:r>
              <a:rPr dirty="0" sz="2600" spc="5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spc="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37965" y="3754373"/>
            <a:ext cx="1823085" cy="373380"/>
          </a:xfrm>
          <a:custGeom>
            <a:avLst/>
            <a:gdLst/>
            <a:ahLst/>
            <a:cxnLst/>
            <a:rect l="l" t="t" r="r" b="b"/>
            <a:pathLst>
              <a:path w="1823085" h="373379">
                <a:moveTo>
                  <a:pt x="0" y="373380"/>
                </a:moveTo>
                <a:lnTo>
                  <a:pt x="1822704" y="373380"/>
                </a:lnTo>
                <a:lnTo>
                  <a:pt x="1822704" y="0"/>
                </a:lnTo>
                <a:lnTo>
                  <a:pt x="0" y="0"/>
                </a:lnTo>
                <a:lnTo>
                  <a:pt x="0" y="3733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524758" y="3705859"/>
            <a:ext cx="142684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537965" y="2785110"/>
            <a:ext cx="2032000" cy="530860"/>
          </a:xfrm>
          <a:custGeom>
            <a:avLst/>
            <a:gdLst/>
            <a:ahLst/>
            <a:cxnLst/>
            <a:rect l="l" t="t" r="r" b="b"/>
            <a:pathLst>
              <a:path w="2032000" h="530860">
                <a:moveTo>
                  <a:pt x="0" y="530351"/>
                </a:moveTo>
                <a:lnTo>
                  <a:pt x="2031491" y="530351"/>
                </a:lnTo>
                <a:lnTo>
                  <a:pt x="2031491" y="0"/>
                </a:lnTo>
                <a:lnTo>
                  <a:pt x="0" y="0"/>
                </a:lnTo>
                <a:lnTo>
                  <a:pt x="0" y="530351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743325" y="2814650"/>
            <a:ext cx="153987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8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528054" y="3792473"/>
            <a:ext cx="2476500" cy="373380"/>
          </a:xfrm>
          <a:custGeom>
            <a:avLst/>
            <a:gdLst/>
            <a:ahLst/>
            <a:cxnLst/>
            <a:rect l="l" t="t" r="r" b="b"/>
            <a:pathLst>
              <a:path w="2476500" h="373379">
                <a:moveTo>
                  <a:pt x="0" y="373380"/>
                </a:moveTo>
                <a:lnTo>
                  <a:pt x="2476500" y="373380"/>
                </a:lnTo>
                <a:lnTo>
                  <a:pt x="2476500" y="0"/>
                </a:lnTo>
                <a:lnTo>
                  <a:pt x="0" y="0"/>
                </a:lnTo>
                <a:lnTo>
                  <a:pt x="0" y="3733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842252" y="3743959"/>
            <a:ext cx="1850389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585966" y="4623053"/>
            <a:ext cx="2204085" cy="585470"/>
          </a:xfrm>
          <a:custGeom>
            <a:avLst/>
            <a:gdLst/>
            <a:ahLst/>
            <a:cxnLst/>
            <a:rect l="l" t="t" r="r" b="b"/>
            <a:pathLst>
              <a:path w="2204084" h="585470">
                <a:moveTo>
                  <a:pt x="0" y="585216"/>
                </a:moveTo>
                <a:lnTo>
                  <a:pt x="2203704" y="585216"/>
                </a:lnTo>
                <a:lnTo>
                  <a:pt x="2203704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867525" y="4680965"/>
            <a:ext cx="16402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66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9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528054" y="1597913"/>
            <a:ext cx="2299970" cy="1790700"/>
          </a:xfrm>
          <a:custGeom>
            <a:avLst/>
            <a:gdLst/>
            <a:ahLst/>
            <a:cxnLst/>
            <a:rect l="l" t="t" r="r" b="b"/>
            <a:pathLst>
              <a:path w="2299970" h="1790700">
                <a:moveTo>
                  <a:pt x="0" y="1790700"/>
                </a:moveTo>
                <a:lnTo>
                  <a:pt x="2299716" y="1790700"/>
                </a:lnTo>
                <a:lnTo>
                  <a:pt x="2299716" y="0"/>
                </a:lnTo>
                <a:lnTo>
                  <a:pt x="0" y="0"/>
                </a:lnTo>
                <a:lnTo>
                  <a:pt x="0" y="17907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715759" y="1574647"/>
            <a:ext cx="1922780" cy="1757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3865" marR="5080" indent="-431800">
              <a:lnSpc>
                <a:spcPct val="108500"/>
              </a:lnSpc>
              <a:spcBef>
                <a:spcPts val="9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spc="1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10" b="1">
                <a:solidFill>
                  <a:srgbClr val="FFFFFF"/>
                </a:solidFill>
                <a:latin typeface="Times New Roman"/>
                <a:cs typeface="Times New Roman"/>
              </a:rPr>
              <a:t>=·</a:t>
            </a:r>
            <a:r>
              <a:rPr dirty="0" sz="2600" spc="-1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  <a:p>
            <a:pPr marL="509270" marR="189230" indent="-64135">
              <a:lnSpc>
                <a:spcPct val="110000"/>
              </a:lnSpc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537965" y="1398269"/>
            <a:ext cx="2464435" cy="1161415"/>
          </a:xfrm>
          <a:custGeom>
            <a:avLst/>
            <a:gdLst/>
            <a:ahLst/>
            <a:cxnLst/>
            <a:rect l="l" t="t" r="r" b="b"/>
            <a:pathLst>
              <a:path w="2464435" h="1161414">
                <a:moveTo>
                  <a:pt x="0" y="1161288"/>
                </a:moveTo>
                <a:lnTo>
                  <a:pt x="2464308" y="1161288"/>
                </a:lnTo>
                <a:lnTo>
                  <a:pt x="2464308" y="0"/>
                </a:lnTo>
                <a:lnTo>
                  <a:pt x="0" y="0"/>
                </a:lnTo>
                <a:lnTo>
                  <a:pt x="0" y="11612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524758" y="1465347"/>
            <a:ext cx="2122805" cy="443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4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spc="-4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40" b="1" i="1">
                <a:solidFill>
                  <a:srgbClr val="FFFFFF"/>
                </a:solidFill>
                <a:latin typeface="宋体"/>
                <a:cs typeface="宋体"/>
              </a:rPr>
              <a:t>Ｒ</a:t>
            </a:r>
            <a:endParaRPr sz="2750">
              <a:latin typeface="宋体"/>
              <a:cs typeface="宋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02353" y="1998040"/>
            <a:ext cx="106172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 i="1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dirty="0" sz="2600" spc="-7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66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28600" y="5803390"/>
            <a:ext cx="8699500" cy="937260"/>
          </a:xfrm>
          <a:custGeom>
            <a:avLst/>
            <a:gdLst/>
            <a:ahLst/>
            <a:cxnLst/>
            <a:rect l="l" t="t" r="r" b="b"/>
            <a:pathLst>
              <a:path w="8699500" h="937259">
                <a:moveTo>
                  <a:pt x="0" y="937260"/>
                </a:moveTo>
                <a:lnTo>
                  <a:pt x="8698992" y="937260"/>
                </a:lnTo>
                <a:lnTo>
                  <a:pt x="8698992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2800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90500" y="6772909"/>
            <a:ext cx="8775700" cy="0"/>
          </a:xfrm>
          <a:custGeom>
            <a:avLst/>
            <a:gdLst/>
            <a:ahLst/>
            <a:cxnLst/>
            <a:rect l="l" t="t" r="r" b="b"/>
            <a:pathLst>
              <a:path w="8775700" h="0">
                <a:moveTo>
                  <a:pt x="0" y="0"/>
                </a:moveTo>
                <a:lnTo>
                  <a:pt x="8775192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96850" y="5778500"/>
            <a:ext cx="0" cy="988060"/>
          </a:xfrm>
          <a:custGeom>
            <a:avLst/>
            <a:gdLst/>
            <a:ahLst/>
            <a:cxnLst/>
            <a:rect l="l" t="t" r="r" b="b"/>
            <a:pathLst>
              <a:path w="0" h="988059">
                <a:moveTo>
                  <a:pt x="0" y="0"/>
                </a:moveTo>
                <a:lnTo>
                  <a:pt x="0" y="98806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90500" y="5772150"/>
            <a:ext cx="8775700" cy="0"/>
          </a:xfrm>
          <a:custGeom>
            <a:avLst/>
            <a:gdLst/>
            <a:ahLst/>
            <a:cxnLst/>
            <a:rect l="l" t="t" r="r" b="b"/>
            <a:pathLst>
              <a:path w="8775700" h="0">
                <a:moveTo>
                  <a:pt x="0" y="0"/>
                </a:moveTo>
                <a:lnTo>
                  <a:pt x="8775192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959342" y="5777991"/>
            <a:ext cx="0" cy="988060"/>
          </a:xfrm>
          <a:custGeom>
            <a:avLst/>
            <a:gdLst/>
            <a:ahLst/>
            <a:cxnLst/>
            <a:rect l="l" t="t" r="r" b="b"/>
            <a:pathLst>
              <a:path w="0" h="988059">
                <a:moveTo>
                  <a:pt x="0" y="0"/>
                </a:moveTo>
                <a:lnTo>
                  <a:pt x="0" y="988057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15900" y="6741159"/>
            <a:ext cx="8724900" cy="0"/>
          </a:xfrm>
          <a:custGeom>
            <a:avLst/>
            <a:gdLst/>
            <a:ahLst/>
            <a:cxnLst/>
            <a:rect l="l" t="t" r="r" b="b"/>
            <a:pathLst>
              <a:path w="8724900" h="0">
                <a:moveTo>
                  <a:pt x="0" y="0"/>
                </a:moveTo>
                <a:lnTo>
                  <a:pt x="8724392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8600" y="5816600"/>
            <a:ext cx="0" cy="911860"/>
          </a:xfrm>
          <a:custGeom>
            <a:avLst/>
            <a:gdLst/>
            <a:ahLst/>
            <a:cxnLst/>
            <a:rect l="l" t="t" r="r" b="b"/>
            <a:pathLst>
              <a:path w="0" h="911859">
                <a:moveTo>
                  <a:pt x="0" y="0"/>
                </a:moveTo>
                <a:lnTo>
                  <a:pt x="0" y="91186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15900" y="5803900"/>
            <a:ext cx="8724900" cy="0"/>
          </a:xfrm>
          <a:custGeom>
            <a:avLst/>
            <a:gdLst/>
            <a:ahLst/>
            <a:cxnLst/>
            <a:rect l="l" t="t" r="r" b="b"/>
            <a:pathLst>
              <a:path w="8724900" h="0">
                <a:moveTo>
                  <a:pt x="0" y="0"/>
                </a:moveTo>
                <a:lnTo>
                  <a:pt x="8724392" y="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927592" y="5816091"/>
            <a:ext cx="0" cy="911860"/>
          </a:xfrm>
          <a:custGeom>
            <a:avLst/>
            <a:gdLst/>
            <a:ahLst/>
            <a:cxnLst/>
            <a:rect l="l" t="t" r="r" b="b"/>
            <a:pathLst>
              <a:path w="0" h="911859">
                <a:moveTo>
                  <a:pt x="0" y="0"/>
                </a:moveTo>
                <a:lnTo>
                  <a:pt x="0" y="911860"/>
                </a:lnTo>
              </a:path>
            </a:pathLst>
          </a:custGeom>
          <a:ln w="254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54000" y="6709409"/>
            <a:ext cx="8648700" cy="0"/>
          </a:xfrm>
          <a:custGeom>
            <a:avLst/>
            <a:gdLst/>
            <a:ahLst/>
            <a:cxnLst/>
            <a:rect l="l" t="t" r="r" b="b"/>
            <a:pathLst>
              <a:path w="8648700" h="0">
                <a:moveTo>
                  <a:pt x="0" y="0"/>
                </a:moveTo>
                <a:lnTo>
                  <a:pt x="8648192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0350" y="5842000"/>
            <a:ext cx="0" cy="861060"/>
          </a:xfrm>
          <a:custGeom>
            <a:avLst/>
            <a:gdLst/>
            <a:ahLst/>
            <a:cxnLst/>
            <a:rect l="l" t="t" r="r" b="b"/>
            <a:pathLst>
              <a:path w="0" h="861059">
                <a:moveTo>
                  <a:pt x="0" y="0"/>
                </a:moveTo>
                <a:lnTo>
                  <a:pt x="0" y="86106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54000" y="5835650"/>
            <a:ext cx="8648700" cy="0"/>
          </a:xfrm>
          <a:custGeom>
            <a:avLst/>
            <a:gdLst/>
            <a:ahLst/>
            <a:cxnLst/>
            <a:rect l="l" t="t" r="r" b="b"/>
            <a:pathLst>
              <a:path w="8648700" h="0">
                <a:moveTo>
                  <a:pt x="0" y="0"/>
                </a:moveTo>
                <a:lnTo>
                  <a:pt x="8648192" y="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895842" y="5841491"/>
            <a:ext cx="0" cy="861060"/>
          </a:xfrm>
          <a:custGeom>
            <a:avLst/>
            <a:gdLst/>
            <a:ahLst/>
            <a:cxnLst/>
            <a:rect l="l" t="t" r="r" b="b"/>
            <a:pathLst>
              <a:path w="0" h="861059">
                <a:moveTo>
                  <a:pt x="0" y="0"/>
                </a:moveTo>
                <a:lnTo>
                  <a:pt x="0" y="861060"/>
                </a:lnTo>
              </a:path>
            </a:pathLst>
          </a:custGeom>
          <a:ln w="127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307340" y="5686864"/>
            <a:ext cx="1532255" cy="97663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96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59626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(3)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8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857626" y="5686864"/>
            <a:ext cx="1724025" cy="97663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59626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(1)	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  <a:spcBef>
                <a:spcPts val="865"/>
              </a:spcBef>
              <a:tabLst>
                <a:tab pos="62039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(4)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96509" y="5686864"/>
            <a:ext cx="1501775" cy="97663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59626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(2)	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56515">
              <a:lnSpc>
                <a:spcPct val="100000"/>
              </a:lnSpc>
              <a:spcBef>
                <a:spcPts val="865"/>
              </a:spcBef>
              <a:tabLst>
                <a:tab pos="64008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(5)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360670" y="2843148"/>
            <a:ext cx="1236980" cy="949325"/>
          </a:xfrm>
          <a:custGeom>
            <a:avLst/>
            <a:gdLst/>
            <a:ahLst/>
            <a:cxnLst/>
            <a:rect l="l" t="t" r="r" b="b"/>
            <a:pathLst>
              <a:path w="1236979" h="949325">
                <a:moveTo>
                  <a:pt x="56260" y="834517"/>
                </a:moveTo>
                <a:lnTo>
                  <a:pt x="0" y="949325"/>
                </a:lnTo>
                <a:lnTo>
                  <a:pt x="125602" y="925449"/>
                </a:lnTo>
                <a:lnTo>
                  <a:pt x="111366" y="906780"/>
                </a:lnTo>
                <a:lnTo>
                  <a:pt x="87249" y="906780"/>
                </a:lnTo>
                <a:lnTo>
                  <a:pt x="64134" y="876426"/>
                </a:lnTo>
                <a:lnTo>
                  <a:pt x="79365" y="864815"/>
                </a:lnTo>
                <a:lnTo>
                  <a:pt x="56260" y="834517"/>
                </a:lnTo>
                <a:close/>
              </a:path>
              <a:path w="1236979" h="949325">
                <a:moveTo>
                  <a:pt x="79365" y="864815"/>
                </a:moveTo>
                <a:lnTo>
                  <a:pt x="64134" y="876426"/>
                </a:lnTo>
                <a:lnTo>
                  <a:pt x="87249" y="906780"/>
                </a:lnTo>
                <a:lnTo>
                  <a:pt x="102499" y="895151"/>
                </a:lnTo>
                <a:lnTo>
                  <a:pt x="79365" y="864815"/>
                </a:lnTo>
                <a:close/>
              </a:path>
              <a:path w="1236979" h="949325">
                <a:moveTo>
                  <a:pt x="102499" y="895151"/>
                </a:moveTo>
                <a:lnTo>
                  <a:pt x="87249" y="906780"/>
                </a:lnTo>
                <a:lnTo>
                  <a:pt x="111366" y="906780"/>
                </a:lnTo>
                <a:lnTo>
                  <a:pt x="102499" y="895151"/>
                </a:lnTo>
                <a:close/>
              </a:path>
              <a:path w="1236979" h="949325">
                <a:moveTo>
                  <a:pt x="1213738" y="0"/>
                </a:moveTo>
                <a:lnTo>
                  <a:pt x="79365" y="864815"/>
                </a:lnTo>
                <a:lnTo>
                  <a:pt x="102499" y="895151"/>
                </a:lnTo>
                <a:lnTo>
                  <a:pt x="1236852" y="30225"/>
                </a:lnTo>
                <a:lnTo>
                  <a:pt x="121373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5712078" y="3022549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633465" y="3050285"/>
            <a:ext cx="952500" cy="807720"/>
          </a:xfrm>
          <a:custGeom>
            <a:avLst/>
            <a:gdLst/>
            <a:ahLst/>
            <a:cxnLst/>
            <a:rect l="l" t="t" r="r" b="b"/>
            <a:pathLst>
              <a:path w="952500" h="807720">
                <a:moveTo>
                  <a:pt x="952500" y="0"/>
                </a:moveTo>
                <a:lnTo>
                  <a:pt x="0" y="80771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671565" y="3810761"/>
            <a:ext cx="0" cy="1447800"/>
          </a:xfrm>
          <a:custGeom>
            <a:avLst/>
            <a:gdLst/>
            <a:ahLst/>
            <a:cxnLst/>
            <a:rect l="l" t="t" r="r" b="b"/>
            <a:pathLst>
              <a:path w="0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433066" y="5201411"/>
            <a:ext cx="3238500" cy="114300"/>
          </a:xfrm>
          <a:custGeom>
            <a:avLst/>
            <a:gdLst/>
            <a:ahLst/>
            <a:cxnLst/>
            <a:rect l="l" t="t" r="r" b="b"/>
            <a:pathLst>
              <a:path w="32385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32385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3238500" h="114300">
                <a:moveTo>
                  <a:pt x="3238499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238499" y="76200"/>
                </a:lnTo>
                <a:lnTo>
                  <a:pt x="323849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5648705" y="435355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429764" y="3773678"/>
            <a:ext cx="1070610" cy="245745"/>
          </a:xfrm>
          <a:custGeom>
            <a:avLst/>
            <a:gdLst/>
            <a:ahLst/>
            <a:cxnLst/>
            <a:rect l="l" t="t" r="r" b="b"/>
            <a:pathLst>
              <a:path w="1070610" h="245745">
                <a:moveTo>
                  <a:pt x="954235" y="207986"/>
                </a:moveTo>
                <a:lnTo>
                  <a:pt x="947547" y="245491"/>
                </a:lnTo>
                <a:lnTo>
                  <a:pt x="1063221" y="211328"/>
                </a:lnTo>
                <a:lnTo>
                  <a:pt x="972947" y="211328"/>
                </a:lnTo>
                <a:lnTo>
                  <a:pt x="954235" y="207986"/>
                </a:lnTo>
                <a:close/>
              </a:path>
              <a:path w="1070610" h="245745">
                <a:moveTo>
                  <a:pt x="960939" y="170390"/>
                </a:moveTo>
                <a:lnTo>
                  <a:pt x="954235" y="207986"/>
                </a:lnTo>
                <a:lnTo>
                  <a:pt x="972947" y="211328"/>
                </a:lnTo>
                <a:lnTo>
                  <a:pt x="979677" y="173736"/>
                </a:lnTo>
                <a:lnTo>
                  <a:pt x="960939" y="170390"/>
                </a:lnTo>
                <a:close/>
              </a:path>
              <a:path w="1070610" h="245745">
                <a:moveTo>
                  <a:pt x="967613" y="132969"/>
                </a:moveTo>
                <a:lnTo>
                  <a:pt x="960939" y="170390"/>
                </a:lnTo>
                <a:lnTo>
                  <a:pt x="979677" y="173736"/>
                </a:lnTo>
                <a:lnTo>
                  <a:pt x="972947" y="211328"/>
                </a:lnTo>
                <a:lnTo>
                  <a:pt x="1063221" y="211328"/>
                </a:lnTo>
                <a:lnTo>
                  <a:pt x="1070102" y="209296"/>
                </a:lnTo>
                <a:lnTo>
                  <a:pt x="967613" y="132969"/>
                </a:lnTo>
                <a:close/>
              </a:path>
              <a:path w="1070610" h="245745">
                <a:moveTo>
                  <a:pt x="6604" y="0"/>
                </a:moveTo>
                <a:lnTo>
                  <a:pt x="0" y="37592"/>
                </a:lnTo>
                <a:lnTo>
                  <a:pt x="954235" y="207986"/>
                </a:lnTo>
                <a:lnTo>
                  <a:pt x="960939" y="170390"/>
                </a:lnTo>
                <a:lnTo>
                  <a:pt x="66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2701798" y="3154806"/>
            <a:ext cx="295910" cy="731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>
              <a:lnSpc>
                <a:spcPts val="278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780"/>
              </a:lnSpc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433066" y="5423153"/>
            <a:ext cx="4768850" cy="0"/>
          </a:xfrm>
          <a:custGeom>
            <a:avLst/>
            <a:gdLst/>
            <a:ahLst/>
            <a:cxnLst/>
            <a:rect l="l" t="t" r="r" b="b"/>
            <a:pathLst>
              <a:path w="4768850" h="0">
                <a:moveTo>
                  <a:pt x="0" y="0"/>
                </a:moveTo>
                <a:lnTo>
                  <a:pt x="476859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144511" y="5208270"/>
            <a:ext cx="114300" cy="2148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5928105" y="5014086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96172" y="4581016"/>
            <a:ext cx="378460" cy="327660"/>
          </a:xfrm>
          <a:custGeom>
            <a:avLst/>
            <a:gdLst/>
            <a:ahLst/>
            <a:cxnLst/>
            <a:rect l="l" t="t" r="r" b="b"/>
            <a:pathLst>
              <a:path w="378459" h="327660">
                <a:moveTo>
                  <a:pt x="246918" y="36138"/>
                </a:moveTo>
                <a:lnTo>
                  <a:pt x="198403" y="53339"/>
                </a:lnTo>
                <a:lnTo>
                  <a:pt x="142511" y="74802"/>
                </a:lnTo>
                <a:lnTo>
                  <a:pt x="105071" y="90804"/>
                </a:lnTo>
                <a:lnTo>
                  <a:pt x="62145" y="112267"/>
                </a:lnTo>
                <a:lnTo>
                  <a:pt x="28628" y="134365"/>
                </a:lnTo>
                <a:lnTo>
                  <a:pt x="3590" y="164591"/>
                </a:lnTo>
                <a:lnTo>
                  <a:pt x="3095" y="165480"/>
                </a:lnTo>
                <a:lnTo>
                  <a:pt x="2691" y="166623"/>
                </a:lnTo>
                <a:lnTo>
                  <a:pt x="2381" y="167639"/>
                </a:lnTo>
                <a:lnTo>
                  <a:pt x="1048" y="172338"/>
                </a:lnTo>
                <a:lnTo>
                  <a:pt x="705" y="173481"/>
                </a:lnTo>
                <a:lnTo>
                  <a:pt x="480" y="174751"/>
                </a:lnTo>
                <a:lnTo>
                  <a:pt x="98" y="179450"/>
                </a:lnTo>
                <a:lnTo>
                  <a:pt x="0" y="184022"/>
                </a:lnTo>
                <a:lnTo>
                  <a:pt x="986" y="190880"/>
                </a:lnTo>
                <a:lnTo>
                  <a:pt x="1301" y="192150"/>
                </a:lnTo>
                <a:lnTo>
                  <a:pt x="1736" y="193293"/>
                </a:lnTo>
                <a:lnTo>
                  <a:pt x="3767" y="198881"/>
                </a:lnTo>
                <a:lnTo>
                  <a:pt x="33608" y="229361"/>
                </a:lnTo>
                <a:lnTo>
                  <a:pt x="68216" y="247014"/>
                </a:lnTo>
                <a:lnTo>
                  <a:pt x="112513" y="263397"/>
                </a:lnTo>
                <a:lnTo>
                  <a:pt x="151439" y="275081"/>
                </a:lnTo>
                <a:lnTo>
                  <a:pt x="208792" y="290321"/>
                </a:lnTo>
                <a:lnTo>
                  <a:pt x="369828" y="327278"/>
                </a:lnTo>
                <a:lnTo>
                  <a:pt x="378134" y="290194"/>
                </a:lnTo>
                <a:lnTo>
                  <a:pt x="248175" y="260603"/>
                </a:lnTo>
                <a:lnTo>
                  <a:pt x="217796" y="253237"/>
                </a:lnTo>
                <a:lnTo>
                  <a:pt x="161421" y="238378"/>
                </a:lnTo>
                <a:lnTo>
                  <a:pt x="124146" y="227075"/>
                </a:lnTo>
                <a:lnTo>
                  <a:pt x="82719" y="211835"/>
                </a:lnTo>
                <a:lnTo>
                  <a:pt x="48137" y="193166"/>
                </a:lnTo>
                <a:lnTo>
                  <a:pt x="39507" y="184784"/>
                </a:lnTo>
                <a:lnTo>
                  <a:pt x="39183" y="184784"/>
                </a:lnTo>
                <a:lnTo>
                  <a:pt x="38826" y="184022"/>
                </a:lnTo>
                <a:lnTo>
                  <a:pt x="38498" y="184022"/>
                </a:lnTo>
                <a:lnTo>
                  <a:pt x="38434" y="183768"/>
                </a:lnTo>
                <a:lnTo>
                  <a:pt x="37977" y="183768"/>
                </a:lnTo>
                <a:lnTo>
                  <a:pt x="37944" y="182752"/>
                </a:lnTo>
                <a:lnTo>
                  <a:pt x="37685" y="182752"/>
                </a:lnTo>
                <a:lnTo>
                  <a:pt x="37812" y="182058"/>
                </a:lnTo>
                <a:lnTo>
                  <a:pt x="37697" y="181618"/>
                </a:lnTo>
                <a:lnTo>
                  <a:pt x="37634" y="181482"/>
                </a:lnTo>
                <a:lnTo>
                  <a:pt x="37858" y="181482"/>
                </a:lnTo>
                <a:lnTo>
                  <a:pt x="37571" y="180339"/>
                </a:lnTo>
                <a:lnTo>
                  <a:pt x="37866" y="180339"/>
                </a:lnTo>
                <a:lnTo>
                  <a:pt x="37837" y="179450"/>
                </a:lnTo>
                <a:lnTo>
                  <a:pt x="38288" y="179450"/>
                </a:lnTo>
                <a:lnTo>
                  <a:pt x="38358" y="179069"/>
                </a:lnTo>
                <a:lnTo>
                  <a:pt x="38666" y="179069"/>
                </a:lnTo>
                <a:lnTo>
                  <a:pt x="39018" y="178180"/>
                </a:lnTo>
                <a:lnTo>
                  <a:pt x="39336" y="178180"/>
                </a:lnTo>
                <a:lnTo>
                  <a:pt x="40098" y="176656"/>
                </a:lnTo>
                <a:lnTo>
                  <a:pt x="72978" y="149986"/>
                </a:lnTo>
                <a:lnTo>
                  <a:pt x="110151" y="130428"/>
                </a:lnTo>
                <a:lnTo>
                  <a:pt x="157205" y="109981"/>
                </a:lnTo>
                <a:lnTo>
                  <a:pt x="211802" y="89026"/>
                </a:lnTo>
                <a:lnTo>
                  <a:pt x="259094" y="72301"/>
                </a:lnTo>
                <a:lnTo>
                  <a:pt x="246918" y="36138"/>
                </a:lnTo>
                <a:close/>
              </a:path>
              <a:path w="378459" h="327660">
                <a:moveTo>
                  <a:pt x="38333" y="182879"/>
                </a:moveTo>
                <a:lnTo>
                  <a:pt x="38352" y="183012"/>
                </a:lnTo>
                <a:lnTo>
                  <a:pt x="39183" y="184784"/>
                </a:lnTo>
                <a:lnTo>
                  <a:pt x="38853" y="183875"/>
                </a:lnTo>
                <a:lnTo>
                  <a:pt x="38333" y="182879"/>
                </a:lnTo>
                <a:close/>
              </a:path>
              <a:path w="378459" h="327660">
                <a:moveTo>
                  <a:pt x="38853" y="183875"/>
                </a:moveTo>
                <a:lnTo>
                  <a:pt x="39183" y="184784"/>
                </a:lnTo>
                <a:lnTo>
                  <a:pt x="39507" y="184784"/>
                </a:lnTo>
                <a:lnTo>
                  <a:pt x="38853" y="183875"/>
                </a:lnTo>
                <a:close/>
              </a:path>
              <a:path w="378459" h="327660">
                <a:moveTo>
                  <a:pt x="38118" y="182513"/>
                </a:moveTo>
                <a:lnTo>
                  <a:pt x="38498" y="184022"/>
                </a:lnTo>
                <a:lnTo>
                  <a:pt x="38352" y="183012"/>
                </a:lnTo>
                <a:lnTo>
                  <a:pt x="38118" y="182513"/>
                </a:lnTo>
                <a:close/>
              </a:path>
              <a:path w="378459" h="327660">
                <a:moveTo>
                  <a:pt x="38352" y="183012"/>
                </a:moveTo>
                <a:lnTo>
                  <a:pt x="38498" y="184022"/>
                </a:lnTo>
                <a:lnTo>
                  <a:pt x="38826" y="184022"/>
                </a:lnTo>
                <a:lnTo>
                  <a:pt x="38352" y="183012"/>
                </a:lnTo>
                <a:close/>
              </a:path>
              <a:path w="378459" h="327660">
                <a:moveTo>
                  <a:pt x="38227" y="182149"/>
                </a:moveTo>
                <a:lnTo>
                  <a:pt x="38280" y="182513"/>
                </a:lnTo>
                <a:lnTo>
                  <a:pt x="38399" y="183012"/>
                </a:lnTo>
                <a:lnTo>
                  <a:pt x="38777" y="183768"/>
                </a:lnTo>
                <a:lnTo>
                  <a:pt x="38227" y="182149"/>
                </a:lnTo>
                <a:close/>
              </a:path>
              <a:path w="378459" h="327660">
                <a:moveTo>
                  <a:pt x="38084" y="182442"/>
                </a:moveTo>
                <a:lnTo>
                  <a:pt x="37977" y="183768"/>
                </a:lnTo>
                <a:lnTo>
                  <a:pt x="38434" y="183768"/>
                </a:lnTo>
                <a:lnTo>
                  <a:pt x="38118" y="182513"/>
                </a:lnTo>
                <a:close/>
              </a:path>
              <a:path w="378459" h="327660">
                <a:moveTo>
                  <a:pt x="38089" y="182392"/>
                </a:moveTo>
                <a:lnTo>
                  <a:pt x="38352" y="183012"/>
                </a:lnTo>
                <a:lnTo>
                  <a:pt x="38269" y="182752"/>
                </a:lnTo>
                <a:lnTo>
                  <a:pt x="38089" y="182392"/>
                </a:lnTo>
                <a:close/>
              </a:path>
              <a:path w="378459" h="327660">
                <a:moveTo>
                  <a:pt x="38130" y="181881"/>
                </a:moveTo>
                <a:lnTo>
                  <a:pt x="38149" y="182513"/>
                </a:lnTo>
                <a:lnTo>
                  <a:pt x="38333" y="182879"/>
                </a:lnTo>
                <a:lnTo>
                  <a:pt x="38209" y="182098"/>
                </a:lnTo>
                <a:lnTo>
                  <a:pt x="38130" y="181881"/>
                </a:lnTo>
                <a:close/>
              </a:path>
              <a:path w="378459" h="327660">
                <a:moveTo>
                  <a:pt x="37838" y="181916"/>
                </a:moveTo>
                <a:lnTo>
                  <a:pt x="37685" y="182752"/>
                </a:lnTo>
                <a:lnTo>
                  <a:pt x="37792" y="182386"/>
                </a:lnTo>
                <a:lnTo>
                  <a:pt x="37838" y="181916"/>
                </a:lnTo>
                <a:close/>
              </a:path>
              <a:path w="378459" h="327660">
                <a:moveTo>
                  <a:pt x="37894" y="182036"/>
                </a:moveTo>
                <a:lnTo>
                  <a:pt x="37685" y="182752"/>
                </a:lnTo>
                <a:lnTo>
                  <a:pt x="37944" y="182752"/>
                </a:lnTo>
                <a:lnTo>
                  <a:pt x="37894" y="182036"/>
                </a:lnTo>
                <a:close/>
              </a:path>
              <a:path w="378459" h="327660">
                <a:moveTo>
                  <a:pt x="37922" y="182058"/>
                </a:moveTo>
                <a:lnTo>
                  <a:pt x="38084" y="182442"/>
                </a:lnTo>
                <a:lnTo>
                  <a:pt x="37922" y="182058"/>
                </a:lnTo>
                <a:close/>
              </a:path>
              <a:path w="378459" h="327660">
                <a:moveTo>
                  <a:pt x="38024" y="181589"/>
                </a:moveTo>
                <a:lnTo>
                  <a:pt x="37963" y="181897"/>
                </a:lnTo>
                <a:lnTo>
                  <a:pt x="38089" y="182392"/>
                </a:lnTo>
                <a:lnTo>
                  <a:pt x="38024" y="181589"/>
                </a:lnTo>
                <a:close/>
              </a:path>
              <a:path w="378459" h="327660">
                <a:moveTo>
                  <a:pt x="37950" y="181845"/>
                </a:moveTo>
                <a:lnTo>
                  <a:pt x="37967" y="182149"/>
                </a:lnTo>
                <a:lnTo>
                  <a:pt x="38086" y="182386"/>
                </a:lnTo>
                <a:lnTo>
                  <a:pt x="37950" y="181845"/>
                </a:lnTo>
                <a:close/>
              </a:path>
              <a:path w="378459" h="327660">
                <a:moveTo>
                  <a:pt x="37858" y="181482"/>
                </a:moveTo>
                <a:lnTo>
                  <a:pt x="37634" y="181482"/>
                </a:lnTo>
                <a:lnTo>
                  <a:pt x="37841" y="181897"/>
                </a:lnTo>
                <a:lnTo>
                  <a:pt x="37858" y="181482"/>
                </a:lnTo>
                <a:close/>
              </a:path>
              <a:path w="378459" h="327660">
                <a:moveTo>
                  <a:pt x="37893" y="181228"/>
                </a:moveTo>
                <a:lnTo>
                  <a:pt x="37892" y="181618"/>
                </a:lnTo>
                <a:lnTo>
                  <a:pt x="37893" y="181228"/>
                </a:lnTo>
                <a:close/>
              </a:path>
              <a:path w="378459" h="327660">
                <a:moveTo>
                  <a:pt x="38255" y="180343"/>
                </a:moveTo>
                <a:lnTo>
                  <a:pt x="38167" y="180517"/>
                </a:lnTo>
                <a:lnTo>
                  <a:pt x="38106" y="181309"/>
                </a:lnTo>
                <a:lnTo>
                  <a:pt x="38225" y="180706"/>
                </a:lnTo>
                <a:lnTo>
                  <a:pt x="38255" y="180343"/>
                </a:lnTo>
                <a:close/>
              </a:path>
              <a:path w="378459" h="327660">
                <a:moveTo>
                  <a:pt x="37571" y="180339"/>
                </a:moveTo>
                <a:lnTo>
                  <a:pt x="37794" y="181228"/>
                </a:lnTo>
                <a:lnTo>
                  <a:pt x="37704" y="180706"/>
                </a:lnTo>
                <a:lnTo>
                  <a:pt x="37571" y="180339"/>
                </a:lnTo>
                <a:close/>
              </a:path>
              <a:path w="378459" h="327660">
                <a:moveTo>
                  <a:pt x="37859" y="181134"/>
                </a:moveTo>
                <a:close/>
              </a:path>
              <a:path w="378459" h="327660">
                <a:moveTo>
                  <a:pt x="37866" y="180339"/>
                </a:moveTo>
                <a:lnTo>
                  <a:pt x="37571" y="180339"/>
                </a:lnTo>
                <a:lnTo>
                  <a:pt x="37854" y="181121"/>
                </a:lnTo>
                <a:lnTo>
                  <a:pt x="37866" y="180339"/>
                </a:lnTo>
                <a:close/>
              </a:path>
              <a:path w="378459" h="327660">
                <a:moveTo>
                  <a:pt x="38019" y="180706"/>
                </a:moveTo>
                <a:lnTo>
                  <a:pt x="37890" y="181073"/>
                </a:lnTo>
                <a:lnTo>
                  <a:pt x="38012" y="180829"/>
                </a:lnTo>
                <a:close/>
              </a:path>
              <a:path w="378459" h="327660">
                <a:moveTo>
                  <a:pt x="37837" y="179450"/>
                </a:moveTo>
                <a:lnTo>
                  <a:pt x="37888" y="181035"/>
                </a:lnTo>
                <a:lnTo>
                  <a:pt x="38001" y="180751"/>
                </a:lnTo>
                <a:lnTo>
                  <a:pt x="37837" y="179450"/>
                </a:lnTo>
                <a:close/>
              </a:path>
              <a:path w="378459" h="327660">
                <a:moveTo>
                  <a:pt x="38574" y="179704"/>
                </a:moveTo>
                <a:lnTo>
                  <a:pt x="38256" y="180339"/>
                </a:lnTo>
                <a:lnTo>
                  <a:pt x="38203" y="180974"/>
                </a:lnTo>
                <a:lnTo>
                  <a:pt x="38574" y="179704"/>
                </a:lnTo>
                <a:close/>
              </a:path>
              <a:path w="378459" h="327660">
                <a:moveTo>
                  <a:pt x="38278" y="180050"/>
                </a:moveTo>
                <a:lnTo>
                  <a:pt x="38164" y="180339"/>
                </a:lnTo>
                <a:lnTo>
                  <a:pt x="38051" y="180751"/>
                </a:lnTo>
                <a:lnTo>
                  <a:pt x="38167" y="180517"/>
                </a:lnTo>
                <a:lnTo>
                  <a:pt x="38278" y="180050"/>
                </a:lnTo>
                <a:close/>
              </a:path>
              <a:path w="378459" h="327660">
                <a:moveTo>
                  <a:pt x="38288" y="179450"/>
                </a:moveTo>
                <a:lnTo>
                  <a:pt x="37837" y="179450"/>
                </a:lnTo>
                <a:lnTo>
                  <a:pt x="38019" y="180706"/>
                </a:lnTo>
                <a:lnTo>
                  <a:pt x="38126" y="180339"/>
                </a:lnTo>
                <a:lnTo>
                  <a:pt x="38288" y="179450"/>
                </a:lnTo>
                <a:close/>
              </a:path>
              <a:path w="378459" h="327660">
                <a:moveTo>
                  <a:pt x="38358" y="179069"/>
                </a:moveTo>
                <a:lnTo>
                  <a:pt x="38093" y="180517"/>
                </a:lnTo>
                <a:lnTo>
                  <a:pt x="38278" y="180050"/>
                </a:lnTo>
                <a:lnTo>
                  <a:pt x="38358" y="179069"/>
                </a:lnTo>
                <a:close/>
              </a:path>
              <a:path w="378459" h="327660">
                <a:moveTo>
                  <a:pt x="39018" y="178180"/>
                </a:moveTo>
                <a:lnTo>
                  <a:pt x="38278" y="180050"/>
                </a:lnTo>
                <a:lnTo>
                  <a:pt x="38255" y="180343"/>
                </a:lnTo>
                <a:lnTo>
                  <a:pt x="38574" y="179704"/>
                </a:lnTo>
                <a:lnTo>
                  <a:pt x="39018" y="178180"/>
                </a:lnTo>
                <a:close/>
              </a:path>
              <a:path w="378459" h="327660">
                <a:moveTo>
                  <a:pt x="38666" y="179069"/>
                </a:moveTo>
                <a:lnTo>
                  <a:pt x="38358" y="179069"/>
                </a:lnTo>
                <a:lnTo>
                  <a:pt x="38278" y="180050"/>
                </a:lnTo>
                <a:lnTo>
                  <a:pt x="38666" y="179069"/>
                </a:lnTo>
                <a:close/>
              </a:path>
              <a:path w="378459" h="327660">
                <a:moveTo>
                  <a:pt x="39336" y="178180"/>
                </a:moveTo>
                <a:lnTo>
                  <a:pt x="39018" y="178180"/>
                </a:lnTo>
                <a:lnTo>
                  <a:pt x="38574" y="179704"/>
                </a:lnTo>
                <a:lnTo>
                  <a:pt x="39336" y="178180"/>
                </a:lnTo>
                <a:close/>
              </a:path>
              <a:path w="378459" h="327660">
                <a:moveTo>
                  <a:pt x="349068" y="29971"/>
                </a:moveTo>
                <a:lnTo>
                  <a:pt x="264862" y="29971"/>
                </a:lnTo>
                <a:lnTo>
                  <a:pt x="277232" y="66039"/>
                </a:lnTo>
                <a:lnTo>
                  <a:pt x="259094" y="72301"/>
                </a:lnTo>
                <a:lnTo>
                  <a:pt x="271225" y="108330"/>
                </a:lnTo>
                <a:lnTo>
                  <a:pt x="349068" y="29971"/>
                </a:lnTo>
                <a:close/>
              </a:path>
              <a:path w="378459" h="327660">
                <a:moveTo>
                  <a:pt x="264862" y="29971"/>
                </a:moveTo>
                <a:lnTo>
                  <a:pt x="246918" y="36138"/>
                </a:lnTo>
                <a:lnTo>
                  <a:pt x="259094" y="72301"/>
                </a:lnTo>
                <a:lnTo>
                  <a:pt x="277232" y="66039"/>
                </a:lnTo>
                <a:lnTo>
                  <a:pt x="264862" y="29971"/>
                </a:lnTo>
                <a:close/>
              </a:path>
              <a:path w="378459" h="327660">
                <a:moveTo>
                  <a:pt x="234751" y="0"/>
                </a:moveTo>
                <a:lnTo>
                  <a:pt x="246918" y="36138"/>
                </a:lnTo>
                <a:lnTo>
                  <a:pt x="264862" y="29971"/>
                </a:lnTo>
                <a:lnTo>
                  <a:pt x="349068" y="29971"/>
                </a:lnTo>
                <a:lnTo>
                  <a:pt x="361306" y="17652"/>
                </a:lnTo>
                <a:lnTo>
                  <a:pt x="23475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123240" y="433920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232647" y="580644"/>
            <a:ext cx="782320" cy="287020"/>
          </a:xfrm>
          <a:custGeom>
            <a:avLst/>
            <a:gdLst/>
            <a:ahLst/>
            <a:cxnLst/>
            <a:rect l="l" t="t" r="r" b="b"/>
            <a:pathLst>
              <a:path w="782320" h="287019">
                <a:moveTo>
                  <a:pt x="781811" y="0"/>
                </a:moveTo>
                <a:lnTo>
                  <a:pt x="0" y="0"/>
                </a:lnTo>
                <a:lnTo>
                  <a:pt x="0" y="286511"/>
                </a:lnTo>
                <a:lnTo>
                  <a:pt x="781811" y="286511"/>
                </a:lnTo>
                <a:lnTo>
                  <a:pt x="781811" y="250697"/>
                </a:lnTo>
                <a:lnTo>
                  <a:pt x="498348" y="250697"/>
                </a:lnTo>
                <a:lnTo>
                  <a:pt x="283463" y="143255"/>
                </a:lnTo>
                <a:lnTo>
                  <a:pt x="498348" y="35813"/>
                </a:lnTo>
                <a:lnTo>
                  <a:pt x="781811" y="35813"/>
                </a:lnTo>
                <a:lnTo>
                  <a:pt x="781811" y="0"/>
                </a:lnTo>
                <a:close/>
              </a:path>
              <a:path w="782320" h="287019">
                <a:moveTo>
                  <a:pt x="781811" y="35813"/>
                </a:moveTo>
                <a:lnTo>
                  <a:pt x="498348" y="35813"/>
                </a:lnTo>
                <a:lnTo>
                  <a:pt x="498348" y="250697"/>
                </a:lnTo>
                <a:lnTo>
                  <a:pt x="781811" y="250697"/>
                </a:lnTo>
                <a:lnTo>
                  <a:pt x="781811" y="35813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516111" y="616458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214884" y="0"/>
                </a:moveTo>
                <a:lnTo>
                  <a:pt x="0" y="107441"/>
                </a:lnTo>
                <a:lnTo>
                  <a:pt x="214884" y="214883"/>
                </a:lnTo>
                <a:lnTo>
                  <a:pt x="214884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432418" y="614933"/>
            <a:ext cx="3854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分析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5434" y="0"/>
            <a:ext cx="7669530" cy="3564254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375"/>
              </a:spcBef>
              <a:tabLst>
                <a:tab pos="1050290" algn="l"/>
                <a:tab pos="2642870" algn="l"/>
                <a:tab pos="4883785" algn="l"/>
                <a:tab pos="55816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5.6.1	SLR(1)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分析的缺陷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3200" spc="-8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368935">
              <a:lnSpc>
                <a:spcPct val="100000"/>
              </a:lnSpc>
              <a:spcBef>
                <a:spcPts val="107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存在移进－归约冲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突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SLR(1)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法求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algn="r" marR="16002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｛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，＃｝</a:t>
            </a:r>
            <a:endParaRPr sz="2800">
              <a:latin typeface="宋体"/>
              <a:cs typeface="宋体"/>
            </a:endParaRPr>
          </a:p>
          <a:p>
            <a:pPr algn="r" marR="1525905">
              <a:lnSpc>
                <a:spcPct val="100000"/>
              </a:lnSpc>
              <a:spcBef>
                <a:spcPts val="860"/>
              </a:spcBef>
              <a:tabLst>
                <a:tab pos="1071245" algn="l"/>
                <a:tab pos="4869815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LOW(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∩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｛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≠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950" spc="-120" b="1" i="1">
                <a:solidFill>
                  <a:srgbClr val="FFFF00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  <a:p>
            <a:pPr marL="3061335">
              <a:lnSpc>
                <a:spcPct val="100000"/>
              </a:lnSpc>
              <a:spcBef>
                <a:spcPts val="1260"/>
              </a:spcBef>
              <a:tabLst>
                <a:tab pos="3616325" algn="l"/>
              </a:tabLst>
            </a:pPr>
            <a:r>
              <a:rPr dirty="0" u="heavy" sz="3200" spc="-8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Symbol"/>
                <a:cs typeface="Symbol"/>
              </a:rPr>
              <a:t></a:t>
            </a:r>
            <a:r>
              <a:rPr dirty="0" u="heavy" sz="320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32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文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2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是非</a:t>
            </a:r>
            <a:r>
              <a:rPr dirty="0" u="heavy" sz="32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SLR(1)</a:t>
            </a:r>
            <a:r>
              <a:rPr dirty="0" u="heavy" sz="32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文法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042" y="3647313"/>
            <a:ext cx="37433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SLR(1)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分析，存在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7991" y="3625306"/>
            <a:ext cx="222948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3227" sz="3150" spc="7" b="1" i="1">
                <a:solidFill>
                  <a:srgbClr val="66FF99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350" spc="-85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350" spc="-38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25873" y="3684270"/>
            <a:ext cx="2647315" cy="556260"/>
          </a:xfrm>
          <a:custGeom>
            <a:avLst/>
            <a:gdLst/>
            <a:ahLst/>
            <a:cxnLst/>
            <a:rect l="l" t="t" r="r" b="b"/>
            <a:pathLst>
              <a:path w="2647315" h="556260">
                <a:moveTo>
                  <a:pt x="0" y="556259"/>
                </a:moveTo>
                <a:lnTo>
                  <a:pt x="2647187" y="556259"/>
                </a:lnTo>
                <a:lnTo>
                  <a:pt x="2647187" y="0"/>
                </a:lnTo>
                <a:lnTo>
                  <a:pt x="0" y="0"/>
                </a:lnTo>
                <a:lnTo>
                  <a:pt x="0" y="556259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5940" y="4609810"/>
            <a:ext cx="803148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93770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23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	</a:t>
            </a:r>
            <a:r>
              <a:rPr dirty="0" sz="3200" b="1">
                <a:solidFill>
                  <a:srgbClr val="66FF99"/>
                </a:solidFill>
                <a:latin typeface="Wingdings 3"/>
                <a:cs typeface="Wingdings 3"/>
              </a:rPr>
              <a:t></a:t>
            </a:r>
            <a:r>
              <a:rPr dirty="0" sz="3200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 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 = {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3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35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63617" y="4386707"/>
            <a:ext cx="1120140" cy="4024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3653" y="4312110"/>
            <a:ext cx="560070" cy="149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3653" y="4341907"/>
            <a:ext cx="560070" cy="298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63617" y="4386707"/>
            <a:ext cx="1120140" cy="402590"/>
          </a:xfrm>
          <a:custGeom>
            <a:avLst/>
            <a:gdLst/>
            <a:ahLst/>
            <a:cxnLst/>
            <a:rect l="l" t="t" r="r" b="b"/>
            <a:pathLst>
              <a:path w="1120139" h="402589">
                <a:moveTo>
                  <a:pt x="1120140" y="283210"/>
                </a:moveTo>
                <a:lnTo>
                  <a:pt x="840105" y="283210"/>
                </a:lnTo>
                <a:lnTo>
                  <a:pt x="840105" y="0"/>
                </a:lnTo>
                <a:lnTo>
                  <a:pt x="280035" y="0"/>
                </a:lnTo>
                <a:lnTo>
                  <a:pt x="280035" y="283210"/>
                </a:lnTo>
                <a:lnTo>
                  <a:pt x="0" y="283210"/>
                </a:lnTo>
                <a:lnTo>
                  <a:pt x="560070" y="402463"/>
                </a:lnTo>
                <a:lnTo>
                  <a:pt x="1120140" y="28321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24603" y="4346066"/>
            <a:ext cx="598170" cy="45085"/>
          </a:xfrm>
          <a:custGeom>
            <a:avLst/>
            <a:gdLst/>
            <a:ahLst/>
            <a:cxnLst/>
            <a:rect l="l" t="t" r="r" b="b"/>
            <a:pathLst>
              <a:path w="598170" h="45085">
                <a:moveTo>
                  <a:pt x="0" y="44703"/>
                </a:moveTo>
                <a:lnTo>
                  <a:pt x="598170" y="44703"/>
                </a:lnTo>
                <a:lnTo>
                  <a:pt x="598170" y="0"/>
                </a:lnTo>
                <a:lnTo>
                  <a:pt x="0" y="0"/>
                </a:lnTo>
                <a:lnTo>
                  <a:pt x="0" y="447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24603" y="4293060"/>
            <a:ext cx="598170" cy="53340"/>
          </a:xfrm>
          <a:custGeom>
            <a:avLst/>
            <a:gdLst/>
            <a:ahLst/>
            <a:cxnLst/>
            <a:rect l="l" t="t" r="r" b="b"/>
            <a:pathLst>
              <a:path w="598170" h="53339">
                <a:moveTo>
                  <a:pt x="0" y="53005"/>
                </a:moveTo>
                <a:lnTo>
                  <a:pt x="598170" y="53005"/>
                </a:lnTo>
                <a:lnTo>
                  <a:pt x="598170" y="0"/>
                </a:lnTo>
                <a:lnTo>
                  <a:pt x="0" y="0"/>
                </a:lnTo>
                <a:lnTo>
                  <a:pt x="0" y="5300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15900" y="5803900"/>
          <a:ext cx="8724900" cy="96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940"/>
                <a:gridCol w="1583690"/>
                <a:gridCol w="1003934"/>
                <a:gridCol w="1736725"/>
                <a:gridCol w="1012189"/>
                <a:gridCol w="2826385"/>
              </a:tblGrid>
              <a:tr h="4445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FF"/>
                      </a:solidFill>
                      <a:prstDash val="solid"/>
                    </a:lnL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’→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R w="28575">
                      <a:solidFill>
                        <a:srgbClr val="FF00FF"/>
                      </a:solidFill>
                      <a:prstDash val="solid"/>
                    </a:lnR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</a:tr>
              <a:tr h="49271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28575">
                      <a:solidFill>
                        <a:srgbClr val="FF00FF"/>
                      </a:solidFill>
                      <a:prstDash val="solid"/>
                    </a:lnL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2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→*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R w="28575">
                      <a:solidFill>
                        <a:srgbClr val="FF00FF"/>
                      </a:solidFill>
                      <a:prstDash val="solid"/>
                    </a:lnR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85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76747" y="26923"/>
            <a:ext cx="27978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5.6.1	SLR(1)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分析的缺陷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2634" y="0"/>
            <a:ext cx="4415155" cy="102806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  <a:p>
            <a:pPr marL="361950">
              <a:lnSpc>
                <a:spcPct val="100000"/>
              </a:lnSpc>
              <a:spcBef>
                <a:spcPts val="93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action(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 = {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3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35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01261" y="1070610"/>
            <a:ext cx="1696720" cy="0"/>
          </a:xfrm>
          <a:custGeom>
            <a:avLst/>
            <a:gdLst/>
            <a:ahLst/>
            <a:cxnLst/>
            <a:rect l="l" t="t" r="r" b="b"/>
            <a:pathLst>
              <a:path w="1696720" h="0">
                <a:moveTo>
                  <a:pt x="0" y="0"/>
                </a:moveTo>
                <a:lnTo>
                  <a:pt x="1696212" y="0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44161" y="3990594"/>
            <a:ext cx="2171700" cy="0"/>
          </a:xfrm>
          <a:custGeom>
            <a:avLst/>
            <a:gdLst/>
            <a:ahLst/>
            <a:cxnLst/>
            <a:rect l="l" t="t" r="r" b="b"/>
            <a:pathLst>
              <a:path w="2171700" h="0">
                <a:moveTo>
                  <a:pt x="0" y="0"/>
                </a:moveTo>
                <a:lnTo>
                  <a:pt x="217169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4540" y="962167"/>
            <a:ext cx="7647940" cy="3935729"/>
          </a:xfrm>
          <a:prstGeom prst="rect">
            <a:avLst/>
          </a:prstGeom>
        </p:spPr>
        <p:txBody>
          <a:bodyPr wrap="square" lIns="0" tIns="233679" rIns="0" bIns="0" rtlCol="0" vert="horz">
            <a:spAutoFit/>
          </a:bodyPr>
          <a:lstStyle/>
          <a:p>
            <a:pPr marL="2985135">
              <a:lnSpc>
                <a:spcPct val="100000"/>
              </a:lnSpc>
              <a:spcBef>
                <a:spcPts val="1839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归约未必有效！</a:t>
            </a:r>
            <a:endParaRPr sz="32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86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∵</a:t>
            </a:r>
            <a:r>
              <a:rPr dirty="0" sz="3200" spc="-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可能不存在一个规范句型含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3350" spc="-30" b="1" i="1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3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75"/>
              </a:spcBef>
              <a:tabLst>
                <a:tab pos="706120" algn="l"/>
              </a:tabLst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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70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归约不一定有效。</a:t>
            </a:r>
            <a:endParaRPr sz="3200">
              <a:latin typeface="宋体"/>
              <a:cs typeface="宋体"/>
            </a:endParaRPr>
          </a:p>
          <a:p>
            <a:pPr marL="2108835" marR="43180" indent="-2038985">
              <a:lnSpc>
                <a:spcPts val="7500"/>
              </a:lnSpc>
              <a:spcBef>
                <a:spcPts val="19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＝｛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|</a:t>
            </a:r>
            <a:r>
              <a:rPr dirty="0" sz="3200" spc="-8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114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baseline="21701" sz="4800" spc="-172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r>
              <a:rPr dirty="0" sz="3200" spc="-114" b="1">
                <a:solidFill>
                  <a:srgbClr val="66FFFF"/>
                </a:solidFill>
                <a:latin typeface="Times New Roman"/>
                <a:cs typeface="Times New Roman"/>
              </a:rPr>
              <a:t>=&gt;…</a:t>
            </a:r>
            <a:r>
              <a:rPr dirty="0" sz="3200" spc="-114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114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114" b="1">
                <a:solidFill>
                  <a:srgbClr val="66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114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spc="-114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114" b="1">
                <a:solidFill>
                  <a:srgbClr val="66FFFF"/>
                </a:solidFill>
                <a:latin typeface="宋体"/>
                <a:cs typeface="宋体"/>
              </a:rPr>
              <a:t>∈</a:t>
            </a:r>
            <a:r>
              <a:rPr dirty="0" sz="3200" spc="-114" b="1" i="1">
                <a:solidFill>
                  <a:srgbClr val="66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spc="-172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3200" spc="-114" b="1">
                <a:solidFill>
                  <a:srgbClr val="66FFFF"/>
                </a:solidFill>
                <a:latin typeface="宋体"/>
                <a:cs typeface="宋体"/>
              </a:rPr>
              <a:t>｝ 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此推导不考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虑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前面的符号串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23282" y="3990594"/>
            <a:ext cx="790955" cy="4297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23282" y="3990594"/>
            <a:ext cx="791210" cy="429895"/>
          </a:xfrm>
          <a:custGeom>
            <a:avLst/>
            <a:gdLst/>
            <a:ahLst/>
            <a:cxnLst/>
            <a:rect l="l" t="t" r="r" b="b"/>
            <a:pathLst>
              <a:path w="791210" h="429895">
                <a:moveTo>
                  <a:pt x="0" y="322325"/>
                </a:moveTo>
                <a:lnTo>
                  <a:pt x="197738" y="322325"/>
                </a:lnTo>
                <a:lnTo>
                  <a:pt x="197738" y="0"/>
                </a:lnTo>
                <a:lnTo>
                  <a:pt x="593216" y="0"/>
                </a:lnTo>
                <a:lnTo>
                  <a:pt x="593216" y="322325"/>
                </a:lnTo>
                <a:lnTo>
                  <a:pt x="790955" y="322325"/>
                </a:lnTo>
                <a:lnTo>
                  <a:pt x="395477" y="429767"/>
                </a:lnTo>
                <a:lnTo>
                  <a:pt x="0" y="32232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070098" y="5332272"/>
            <a:ext cx="19913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4990" algn="l"/>
              </a:tabLst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$:	…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200" spc="-95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…#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78808" y="5837682"/>
            <a:ext cx="114300" cy="588645"/>
          </a:xfrm>
          <a:custGeom>
            <a:avLst/>
            <a:gdLst/>
            <a:ahLst/>
            <a:cxnLst/>
            <a:rect l="l" t="t" r="r" b="b"/>
            <a:pathLst>
              <a:path w="114300" h="588645">
                <a:moveTo>
                  <a:pt x="76200" y="95250"/>
                </a:moveTo>
                <a:lnTo>
                  <a:pt x="38100" y="95250"/>
                </a:lnTo>
                <a:lnTo>
                  <a:pt x="38100" y="588264"/>
                </a:lnTo>
                <a:lnTo>
                  <a:pt x="76200" y="588264"/>
                </a:lnTo>
                <a:lnTo>
                  <a:pt x="76200" y="95250"/>
                </a:lnTo>
                <a:close/>
              </a:path>
              <a:path w="114300" h="58864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8864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8273" y="4980432"/>
            <a:ext cx="419100" cy="114300"/>
          </a:xfrm>
          <a:custGeom>
            <a:avLst/>
            <a:gdLst/>
            <a:ahLst/>
            <a:cxnLst/>
            <a:rect l="l" t="t" r="r" b="b"/>
            <a:pathLst>
              <a:path w="4191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4191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419100" h="114300">
                <a:moveTo>
                  <a:pt x="4191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19100" y="4210811"/>
          <a:ext cx="2306320" cy="2278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720"/>
                <a:gridCol w="779780"/>
                <a:gridCol w="723264"/>
                <a:gridCol w="247014"/>
              </a:tblGrid>
              <a:tr h="559307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334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40258">
                <a:tc rowSpan="3">
                  <a:txBody>
                    <a:bodyPr/>
                    <a:lstStyle/>
                    <a:p>
                      <a:pPr>
                        <a:lnSpc>
                          <a:spcPts val="3635"/>
                        </a:lnSpc>
                      </a:pPr>
                      <a:r>
                        <a:rPr dirty="0" sz="3200" b="1" i="1">
                          <a:solidFill>
                            <a:srgbClr val="FF66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3350" b="1" i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3350">
                        <a:latin typeface="Symbol"/>
                        <a:cs typeface="Symbol"/>
                      </a:endParaRPr>
                    </a:p>
                  </a:txBody>
                  <a:tcPr marL="0" marR="0" marB="0" marT="13335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06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..</a:t>
                      </a: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58064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3350" b="1" i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</a:t>
                      </a:r>
                      <a:endParaRPr sz="3350">
                        <a:latin typeface="Symbol"/>
                        <a:cs typeface="Symbol"/>
                      </a:endParaRPr>
                    </a:p>
                  </a:txBody>
                  <a:tcPr marL="0" marR="0" marB="0" marT="5334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731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5791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494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96305" y="5146014"/>
            <a:ext cx="2744470" cy="13201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8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得到</a:t>
            </a:r>
            <a:r>
              <a:rPr dirty="0" sz="3350" spc="-65" b="1" i="1">
                <a:solidFill>
                  <a:srgbClr val="FFFF00"/>
                </a:solidFill>
                <a:latin typeface="Symbol"/>
                <a:cs typeface="Symbol"/>
              </a:rPr>
              <a:t>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形式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的规范句型。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4666" y="1725244"/>
            <a:ext cx="497586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0805" algn="l"/>
              </a:tabLst>
            </a:pPr>
            <a:r>
              <a:rPr dirty="0" sz="3600" spc="-5">
                <a:solidFill>
                  <a:srgbClr val="FFFF99"/>
                </a:solidFill>
                <a:latin typeface="Times New Roman"/>
                <a:cs typeface="Times New Roman"/>
              </a:rPr>
              <a:t>5.6.1	</a:t>
            </a:r>
            <a:r>
              <a:rPr dirty="0" sz="3400" spc="-5">
                <a:solidFill>
                  <a:srgbClr val="FFFF99"/>
                </a:solidFill>
                <a:latin typeface="Times New Roman"/>
                <a:cs typeface="Times New Roman"/>
              </a:rPr>
              <a:t>SLR(</a:t>
            </a:r>
            <a:r>
              <a:rPr dirty="0" sz="3400" spc="-3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400" spc="-5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3400" spc="-2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FFFF99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99"/>
                </a:solidFill>
              </a:rPr>
              <a:t>分析的缺陷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2524" y="2795778"/>
            <a:ext cx="6408420" cy="271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60805" indent="-1348740">
              <a:lnSpc>
                <a:spcPct val="100000"/>
              </a:lnSpc>
              <a:spcBef>
                <a:spcPts val="100"/>
              </a:spcBef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400" spc="-10" b="1">
                <a:solidFill>
                  <a:srgbClr val="FFFFFF"/>
                </a:solidFill>
                <a:latin typeface="宋体"/>
                <a:cs typeface="宋体"/>
              </a:rPr>
              <a:t>分析的实现思想</a:t>
            </a:r>
            <a:endParaRPr sz="34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60805" indent="-1348740">
              <a:lnSpc>
                <a:spcPct val="100000"/>
              </a:lnSpc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400" spc="-10" b="1">
                <a:solidFill>
                  <a:srgbClr val="FFFFFF"/>
                </a:solidFill>
                <a:latin typeface="宋体"/>
                <a:cs typeface="宋体"/>
              </a:rPr>
              <a:t>项目集规范族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的构造</a:t>
            </a:r>
            <a:endParaRPr sz="32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60805" indent="-1348740">
              <a:lnSpc>
                <a:spcPct val="100000"/>
              </a:lnSpc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33294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677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99554" y="2858261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99554" y="2858261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6542" y="705103"/>
            <a:ext cx="1975485" cy="58737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5.13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8429" y="766063"/>
            <a:ext cx="27997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88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722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830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6142" y="1287964"/>
            <a:ext cx="6390640" cy="3427095"/>
          </a:xfrm>
          <a:prstGeom prst="rect">
            <a:avLst/>
          </a:prstGeom>
        </p:spPr>
        <p:txBody>
          <a:bodyPr wrap="square" lIns="0" tIns="22288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7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的一个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endParaRPr sz="3200">
              <a:latin typeface="宋体"/>
              <a:cs typeface="宋体"/>
            </a:endParaRPr>
          </a:p>
          <a:p>
            <a:pPr marL="50800" marR="617220" indent="1181100">
              <a:lnSpc>
                <a:spcPts val="5950"/>
              </a:lnSpc>
              <a:spcBef>
                <a:spcPts val="360"/>
              </a:spcBef>
              <a:tabLst>
                <a:tab pos="4205605" algn="l"/>
                <a:tab pos="4815205" algn="l"/>
                <a:tab pos="535813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350" spc="-7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4550" sz="3150" spc="22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spc="-1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4550" sz="3150" spc="22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baseline="-14550" sz="315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…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4550" sz="3150" spc="22" b="1" i="1">
                <a:solidFill>
                  <a:srgbClr val="66FFFF"/>
                </a:solidFill>
                <a:latin typeface="Times New Roman"/>
                <a:cs typeface="Times New Roman"/>
              </a:rPr>
              <a:t>k</a:t>
            </a:r>
            <a:r>
              <a:rPr dirty="0" baseline="-14550" sz="3150" b="1" i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］ 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其中：</a:t>
            </a:r>
            <a:endParaRPr sz="3200">
              <a:latin typeface="宋体"/>
              <a:cs typeface="宋体"/>
            </a:endParaRPr>
          </a:p>
          <a:p>
            <a:pPr marL="1167765">
              <a:lnSpc>
                <a:spcPct val="100000"/>
              </a:lnSpc>
              <a:spcBef>
                <a:spcPts val="26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95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3350" spc="-3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r>
              <a:rPr dirty="0" sz="3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是一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167765">
              <a:lnSpc>
                <a:spcPct val="100000"/>
              </a:lnSpc>
              <a:spcBef>
                <a:spcPts val="905"/>
              </a:spcBef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4550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16516" sz="2775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{#}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2200" y="2845307"/>
            <a:ext cx="1772920" cy="0"/>
          </a:xfrm>
          <a:custGeom>
            <a:avLst/>
            <a:gdLst/>
            <a:ahLst/>
            <a:cxnLst/>
            <a:rect l="l" t="t" r="r" b="b"/>
            <a:pathLst>
              <a:path w="1772920" h="0">
                <a:moveTo>
                  <a:pt x="0" y="0"/>
                </a:moveTo>
                <a:lnTo>
                  <a:pt x="1772412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63211" y="2863595"/>
            <a:ext cx="2152015" cy="0"/>
          </a:xfrm>
          <a:custGeom>
            <a:avLst/>
            <a:gdLst/>
            <a:ahLst/>
            <a:cxnLst/>
            <a:rect l="l" t="t" r="r" b="b"/>
            <a:pathLst>
              <a:path w="2152015" h="0">
                <a:moveTo>
                  <a:pt x="0" y="0"/>
                </a:moveTo>
                <a:lnTo>
                  <a:pt x="2151888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91689" y="4858368"/>
            <a:ext cx="1311910" cy="518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spc="1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4550" sz="3150" spc="15" b="1">
                <a:solidFill>
                  <a:srgbClr val="66FFFF"/>
                </a:solidFill>
                <a:latin typeface="Times New Roman"/>
                <a:cs typeface="Times New Roman"/>
              </a:rPr>
              <a:t>1 </a:t>
            </a:r>
            <a:r>
              <a:rPr dirty="0" sz="3200" spc="1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4550" sz="3150" spc="15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baseline="-14550" sz="3150" spc="-16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0638" y="4858368"/>
            <a:ext cx="2883535" cy="518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spc="1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4550" sz="3150" spc="15" b="1" i="1">
                <a:solidFill>
                  <a:srgbClr val="66FFFF"/>
                </a:solidFill>
                <a:latin typeface="Times New Roman"/>
                <a:cs typeface="Times New Roman"/>
              </a:rPr>
              <a:t>k</a:t>
            </a:r>
            <a:r>
              <a:rPr dirty="0" baseline="-14550" sz="3150" spc="-104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搜索符串；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6542" y="960831"/>
            <a:ext cx="1975485" cy="58737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5.14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8429" y="1021791"/>
            <a:ext cx="36169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869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有效项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650" y="1515487"/>
            <a:ext cx="8040370" cy="1390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07365">
              <a:lnSpc>
                <a:spcPct val="133700"/>
              </a:lnSpc>
              <a:spcBef>
                <a:spcPts val="9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的一个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95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3350" spc="-4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］  对活前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3350" spc="-55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是有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效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仅当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spc="-15" b="1">
                <a:solidFill>
                  <a:srgbClr val="66FFFF"/>
                </a:solidFill>
                <a:latin typeface="宋体"/>
                <a:cs typeface="宋体"/>
              </a:rPr>
              <a:t>规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范推导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142" y="3563041"/>
            <a:ext cx="7950834" cy="1391920"/>
          </a:xfrm>
          <a:prstGeom prst="rect">
            <a:avLst/>
          </a:prstGeom>
        </p:spPr>
        <p:txBody>
          <a:bodyPr wrap="square" lIns="0" tIns="184785" rIns="0" bIns="0" rtlCol="0" vert="horz">
            <a:spAutoFit/>
          </a:bodyPr>
          <a:lstStyle/>
          <a:p>
            <a:pPr marL="952500">
              <a:lnSpc>
                <a:spcPct val="100000"/>
              </a:lnSpc>
              <a:spcBef>
                <a:spcPts val="145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1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350" spc="-25" b="1" i="1">
                <a:solidFill>
                  <a:srgbClr val="FFFF00"/>
                </a:solidFill>
                <a:latin typeface="Symbol"/>
                <a:cs typeface="Symbol"/>
              </a:rPr>
              <a:t>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3350" spc="-25" b="1" i="1">
                <a:solidFill>
                  <a:srgbClr val="FFFF00"/>
                </a:solidFill>
                <a:latin typeface="Symbol"/>
                <a:cs typeface="Symbol"/>
              </a:rPr>
              <a:t>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2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2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355"/>
              </a:spcBef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3350" spc="-4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350" spc="-4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4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为搜索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0298" y="3045932"/>
            <a:ext cx="317944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200" spc="-40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40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20833" sz="4800" spc="-60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40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15" b="1" i="1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dirty="0" sz="3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Aω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u="heavy" sz="32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350" spc="-7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ymbol"/>
                <a:cs typeface="Symbol"/>
              </a:rPr>
              <a:t></a:t>
            </a:r>
            <a:r>
              <a:rPr dirty="0" u="heavy" sz="3350" spc="-835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350" spc="-55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Symbol"/>
                <a:cs typeface="Symbol"/>
              </a:rPr>
              <a:t></a:t>
            </a:r>
            <a:r>
              <a:rPr dirty="0" sz="3350" spc="-55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200" spc="-5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04722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830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14900" y="6534911"/>
            <a:ext cx="927100" cy="323215"/>
          </a:xfrm>
          <a:custGeom>
            <a:avLst/>
            <a:gdLst/>
            <a:ahLst/>
            <a:cxnLst/>
            <a:rect l="l" t="t" r="r" b="b"/>
            <a:pathLst>
              <a:path w="927100" h="323215">
                <a:moveTo>
                  <a:pt x="926591" y="0"/>
                </a:moveTo>
                <a:lnTo>
                  <a:pt x="0" y="0"/>
                </a:lnTo>
                <a:lnTo>
                  <a:pt x="0" y="323087"/>
                </a:lnTo>
                <a:lnTo>
                  <a:pt x="926591" y="323087"/>
                </a:lnTo>
                <a:lnTo>
                  <a:pt x="926591" y="282700"/>
                </a:lnTo>
                <a:lnTo>
                  <a:pt x="342138" y="282700"/>
                </a:lnTo>
                <a:lnTo>
                  <a:pt x="342138" y="40386"/>
                </a:lnTo>
                <a:lnTo>
                  <a:pt x="926591" y="40386"/>
                </a:lnTo>
                <a:lnTo>
                  <a:pt x="926591" y="0"/>
                </a:lnTo>
                <a:close/>
              </a:path>
              <a:path w="927100" h="323215">
                <a:moveTo>
                  <a:pt x="926591" y="40386"/>
                </a:moveTo>
                <a:lnTo>
                  <a:pt x="342138" y="40386"/>
                </a:lnTo>
                <a:lnTo>
                  <a:pt x="584453" y="161544"/>
                </a:lnTo>
                <a:lnTo>
                  <a:pt x="342138" y="282700"/>
                </a:lnTo>
                <a:lnTo>
                  <a:pt x="926591" y="282700"/>
                </a:lnTo>
                <a:lnTo>
                  <a:pt x="926591" y="40386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57038" y="6575297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0"/>
                </a:moveTo>
                <a:lnTo>
                  <a:pt x="0" y="242314"/>
                </a:lnTo>
                <a:lnTo>
                  <a:pt x="242315" y="121157"/>
                </a:lnTo>
                <a:lnTo>
                  <a:pt x="0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96744" y="3281883"/>
            <a:ext cx="163448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27150" algn="l"/>
              </a:tabLst>
            </a:pP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7188" y="6613428"/>
            <a:ext cx="385445" cy="20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85"/>
              </a:lnSpc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90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74040" y="1317116"/>
            <a:ext cx="7788909" cy="19329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86815">
              <a:lnSpc>
                <a:spcPct val="100000"/>
              </a:lnSpc>
              <a:spcBef>
                <a:spcPts val="105"/>
              </a:spcBef>
              <a:tabLst>
                <a:tab pos="327660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	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  <a:tabLst>
                <a:tab pos="4170679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对活前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aaa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有效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515"/>
              </a:spcBef>
              <a:tabLst>
                <a:tab pos="599440" algn="l"/>
              </a:tabLst>
            </a:pPr>
            <a:r>
              <a:rPr dirty="0" sz="2800" spc="-10" b="1">
                <a:solidFill>
                  <a:srgbClr val="FFFF00"/>
                </a:solidFill>
                <a:latin typeface="MT Extra"/>
                <a:cs typeface="MT Extra"/>
              </a:rPr>
              <a:t></a:t>
            </a:r>
            <a:r>
              <a:rPr dirty="0" sz="2800" spc="-1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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规范推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导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BaB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Bab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aBab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0802" y="3380359"/>
            <a:ext cx="15754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1442" y="3432175"/>
            <a:ext cx="21151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a a B</a:t>
            </a:r>
            <a:r>
              <a:rPr dirty="0" u="heavy" sz="2800" spc="650" b="1" i="1">
                <a:solidFill>
                  <a:srgbClr val="FFFF00"/>
                </a:solidFill>
                <a:uFill>
                  <a:solidFill>
                    <a:srgbClr val="FF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00FF"/>
                  </a:solidFill>
                </a:uFill>
                <a:latin typeface="Times New Roman"/>
                <a:cs typeface="Times New Roman"/>
              </a:rPr>
              <a:t>ab</a:t>
            </a:r>
            <a:r>
              <a:rPr dirty="0" u="heavy" sz="2800" spc="190" b="1" i="1">
                <a:solidFill>
                  <a:srgbClr val="FFFF00"/>
                </a:solidFill>
                <a:uFill>
                  <a:solidFill>
                    <a:srgbClr val="FF00FF"/>
                  </a:solidFill>
                </a:uFill>
                <a:latin typeface="Times New Roman"/>
                <a:cs typeface="Times New Roman"/>
              </a:rPr>
              <a:t> 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634" y="4770631"/>
            <a:ext cx="7857490" cy="128397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  <a:tabLst>
                <a:tab pos="4170679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	#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对活前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Baa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有效</a:t>
            </a:r>
            <a:endParaRPr sz="3200">
              <a:latin typeface="宋体"/>
              <a:cs typeface="宋体"/>
            </a:endParaRPr>
          </a:p>
          <a:p>
            <a:pPr marL="317500">
              <a:lnSpc>
                <a:spcPct val="100000"/>
              </a:lnSpc>
              <a:spcBef>
                <a:spcPts val="1115"/>
              </a:spcBef>
              <a:tabLst>
                <a:tab pos="891540" algn="l"/>
              </a:tabLst>
            </a:pPr>
            <a:r>
              <a:rPr dirty="0" sz="2800" spc="-5" b="1">
                <a:solidFill>
                  <a:srgbClr val="FFFF00"/>
                </a:solidFill>
                <a:latin typeface="MT Extra"/>
                <a:cs typeface="MT Extra"/>
              </a:rPr>
              <a:t>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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规范推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导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BaB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BaaB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23354" y="5478017"/>
            <a:ext cx="460375" cy="862965"/>
          </a:xfrm>
          <a:custGeom>
            <a:avLst/>
            <a:gdLst/>
            <a:ahLst/>
            <a:cxnLst/>
            <a:rect l="l" t="t" r="r" b="b"/>
            <a:pathLst>
              <a:path w="460375" h="862964">
                <a:moveTo>
                  <a:pt x="0" y="862583"/>
                </a:moveTo>
                <a:lnTo>
                  <a:pt x="460248" y="862583"/>
                </a:lnTo>
                <a:lnTo>
                  <a:pt x="460248" y="0"/>
                </a:lnTo>
                <a:lnTo>
                  <a:pt x="0" y="0"/>
                </a:lnTo>
                <a:lnTo>
                  <a:pt x="0" y="862583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337428" y="3820795"/>
            <a:ext cx="32004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48961" y="3312414"/>
            <a:ext cx="495300" cy="864235"/>
          </a:xfrm>
          <a:custGeom>
            <a:avLst/>
            <a:gdLst/>
            <a:ahLst/>
            <a:cxnLst/>
            <a:rect l="l" t="t" r="r" b="b"/>
            <a:pathLst>
              <a:path w="495300" h="864235">
                <a:moveTo>
                  <a:pt x="0" y="864108"/>
                </a:moveTo>
                <a:lnTo>
                  <a:pt x="495300" y="864108"/>
                </a:lnTo>
                <a:lnTo>
                  <a:pt x="495300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35373" y="3868673"/>
            <a:ext cx="589915" cy="17145"/>
          </a:xfrm>
          <a:custGeom>
            <a:avLst/>
            <a:gdLst/>
            <a:ahLst/>
            <a:cxnLst/>
            <a:rect l="l" t="t" r="r" b="b"/>
            <a:pathLst>
              <a:path w="589914" h="17145">
                <a:moveTo>
                  <a:pt x="0" y="0"/>
                </a:moveTo>
                <a:lnTo>
                  <a:pt x="589788" y="16763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174873" y="4250282"/>
            <a:ext cx="42164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105" b="1" i="1">
                <a:solidFill>
                  <a:srgbClr val="66FFFF"/>
                </a:solidFill>
                <a:latin typeface="Symbol"/>
                <a:cs typeface="Symbol"/>
              </a:rPr>
              <a:t>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82161" y="3885438"/>
            <a:ext cx="782320" cy="448309"/>
          </a:xfrm>
          <a:custGeom>
            <a:avLst/>
            <a:gdLst/>
            <a:ahLst/>
            <a:cxnLst/>
            <a:rect l="l" t="t" r="r" b="b"/>
            <a:pathLst>
              <a:path w="782320" h="448310">
                <a:moveTo>
                  <a:pt x="781812" y="0"/>
                </a:moveTo>
                <a:lnTo>
                  <a:pt x="0" y="448056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68190" y="3949446"/>
            <a:ext cx="554990" cy="17145"/>
          </a:xfrm>
          <a:custGeom>
            <a:avLst/>
            <a:gdLst/>
            <a:ahLst/>
            <a:cxnLst/>
            <a:rect l="l" t="t" r="r" b="b"/>
            <a:pathLst>
              <a:path w="554989" h="17145">
                <a:moveTo>
                  <a:pt x="0" y="0"/>
                </a:moveTo>
                <a:lnTo>
                  <a:pt x="554736" y="16763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334002" y="4199354"/>
            <a:ext cx="44767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85" b="1" i="1">
                <a:solidFill>
                  <a:srgbClr val="00FFFF"/>
                </a:solidFill>
                <a:latin typeface="Symbol"/>
                <a:cs typeface="Symbol"/>
              </a:rPr>
              <a:t>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30673" y="3966209"/>
            <a:ext cx="178435" cy="315595"/>
          </a:xfrm>
          <a:custGeom>
            <a:avLst/>
            <a:gdLst/>
            <a:ahLst/>
            <a:cxnLst/>
            <a:rect l="l" t="t" r="r" b="b"/>
            <a:pathLst>
              <a:path w="178435" h="315595">
                <a:moveTo>
                  <a:pt x="178308" y="0"/>
                </a:moveTo>
                <a:lnTo>
                  <a:pt x="0" y="315467"/>
                </a:lnTo>
              </a:path>
            </a:pathLst>
          </a:custGeom>
          <a:ln w="38099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28650" y="26923"/>
            <a:ext cx="4445635" cy="117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8645">
              <a:lnSpc>
                <a:spcPct val="100000"/>
              </a:lnSpc>
              <a:spcBef>
                <a:spcPts val="100"/>
              </a:spcBef>
              <a:tabLst>
                <a:tab pos="1169035" algn="l"/>
                <a:tab pos="2762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187642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5.16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设有文法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06873" y="4927853"/>
            <a:ext cx="513715" cy="530860"/>
          </a:xfrm>
          <a:custGeom>
            <a:avLst/>
            <a:gdLst/>
            <a:ahLst/>
            <a:cxnLst/>
            <a:rect l="l" t="t" r="r" b="b"/>
            <a:pathLst>
              <a:path w="513714" h="530860">
                <a:moveTo>
                  <a:pt x="0" y="265176"/>
                </a:moveTo>
                <a:lnTo>
                  <a:pt x="4136" y="217515"/>
                </a:lnTo>
                <a:lnTo>
                  <a:pt x="16061" y="172656"/>
                </a:lnTo>
                <a:lnTo>
                  <a:pt x="35052" y="131346"/>
                </a:lnTo>
                <a:lnTo>
                  <a:pt x="60383" y="94335"/>
                </a:lnTo>
                <a:lnTo>
                  <a:pt x="91330" y="62373"/>
                </a:lnTo>
                <a:lnTo>
                  <a:pt x="127169" y="36209"/>
                </a:lnTo>
                <a:lnTo>
                  <a:pt x="167175" y="16592"/>
                </a:lnTo>
                <a:lnTo>
                  <a:pt x="210625" y="4273"/>
                </a:lnTo>
                <a:lnTo>
                  <a:pt x="256793" y="0"/>
                </a:lnTo>
                <a:lnTo>
                  <a:pt x="302962" y="4273"/>
                </a:lnTo>
                <a:lnTo>
                  <a:pt x="346412" y="16592"/>
                </a:lnTo>
                <a:lnTo>
                  <a:pt x="386418" y="36209"/>
                </a:lnTo>
                <a:lnTo>
                  <a:pt x="422257" y="62373"/>
                </a:lnTo>
                <a:lnTo>
                  <a:pt x="453204" y="94335"/>
                </a:lnTo>
                <a:lnTo>
                  <a:pt x="478536" y="131346"/>
                </a:lnTo>
                <a:lnTo>
                  <a:pt x="497526" y="172656"/>
                </a:lnTo>
                <a:lnTo>
                  <a:pt x="509451" y="217515"/>
                </a:lnTo>
                <a:lnTo>
                  <a:pt x="513588" y="265176"/>
                </a:lnTo>
                <a:lnTo>
                  <a:pt x="509451" y="312836"/>
                </a:lnTo>
                <a:lnTo>
                  <a:pt x="497526" y="357695"/>
                </a:lnTo>
                <a:lnTo>
                  <a:pt x="478535" y="399005"/>
                </a:lnTo>
                <a:lnTo>
                  <a:pt x="453204" y="436016"/>
                </a:lnTo>
                <a:lnTo>
                  <a:pt x="422257" y="467978"/>
                </a:lnTo>
                <a:lnTo>
                  <a:pt x="386418" y="494142"/>
                </a:lnTo>
                <a:lnTo>
                  <a:pt x="346412" y="513759"/>
                </a:lnTo>
                <a:lnTo>
                  <a:pt x="302962" y="526078"/>
                </a:lnTo>
                <a:lnTo>
                  <a:pt x="256793" y="530352"/>
                </a:lnTo>
                <a:lnTo>
                  <a:pt x="210625" y="526078"/>
                </a:lnTo>
                <a:lnTo>
                  <a:pt x="167175" y="513759"/>
                </a:lnTo>
                <a:lnTo>
                  <a:pt x="127169" y="494142"/>
                </a:lnTo>
                <a:lnTo>
                  <a:pt x="91330" y="467978"/>
                </a:lnTo>
                <a:lnTo>
                  <a:pt x="60383" y="436016"/>
                </a:lnTo>
                <a:lnTo>
                  <a:pt x="35051" y="399005"/>
                </a:lnTo>
                <a:lnTo>
                  <a:pt x="16061" y="357695"/>
                </a:lnTo>
                <a:lnTo>
                  <a:pt x="4136" y="312836"/>
                </a:lnTo>
                <a:lnTo>
                  <a:pt x="0" y="26517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51447" y="4053840"/>
            <a:ext cx="1388745" cy="485140"/>
          </a:xfrm>
          <a:custGeom>
            <a:avLst/>
            <a:gdLst/>
            <a:ahLst/>
            <a:cxnLst/>
            <a:rect l="l" t="t" r="r" b="b"/>
            <a:pathLst>
              <a:path w="1388745" h="485139">
                <a:moveTo>
                  <a:pt x="0" y="484631"/>
                </a:moveTo>
                <a:lnTo>
                  <a:pt x="1388363" y="484631"/>
                </a:lnTo>
                <a:lnTo>
                  <a:pt x="1388363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331458" y="3996908"/>
            <a:ext cx="112458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b="1">
                <a:latin typeface="宋体"/>
                <a:cs typeface="宋体"/>
              </a:rPr>
              <a:t>当</a:t>
            </a:r>
            <a:r>
              <a:rPr dirty="0" sz="3350" spc="-100" b="1" i="1">
                <a:latin typeface="Symbol"/>
                <a:cs typeface="Symbol"/>
              </a:rPr>
              <a:t></a:t>
            </a:r>
            <a:r>
              <a:rPr dirty="0" sz="3200" spc="-5" b="1">
                <a:latin typeface="Times New Roman"/>
                <a:cs typeface="Times New Roman"/>
              </a:rPr>
              <a:t>=</a:t>
            </a:r>
            <a:r>
              <a:rPr dirty="0" sz="3350" spc="-70" b="1" i="1"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85841" y="4312920"/>
            <a:ext cx="1109345" cy="685165"/>
          </a:xfrm>
          <a:custGeom>
            <a:avLst/>
            <a:gdLst/>
            <a:ahLst/>
            <a:cxnLst/>
            <a:rect l="l" t="t" r="r" b="b"/>
            <a:pathLst>
              <a:path w="1109345" h="685164">
                <a:moveTo>
                  <a:pt x="893501" y="84732"/>
                </a:moveTo>
                <a:lnTo>
                  <a:pt x="0" y="619632"/>
                </a:lnTo>
                <a:lnTo>
                  <a:pt x="39116" y="684910"/>
                </a:lnTo>
                <a:lnTo>
                  <a:pt x="932646" y="150115"/>
                </a:lnTo>
                <a:lnTo>
                  <a:pt x="893501" y="84732"/>
                </a:lnTo>
                <a:close/>
              </a:path>
              <a:path w="1109345" h="685164">
                <a:moveTo>
                  <a:pt x="1067677" y="65150"/>
                </a:moveTo>
                <a:lnTo>
                  <a:pt x="926211" y="65150"/>
                </a:lnTo>
                <a:lnTo>
                  <a:pt x="965327" y="130555"/>
                </a:lnTo>
                <a:lnTo>
                  <a:pt x="932646" y="150115"/>
                </a:lnTo>
                <a:lnTo>
                  <a:pt x="971804" y="215518"/>
                </a:lnTo>
                <a:lnTo>
                  <a:pt x="1067677" y="65150"/>
                </a:lnTo>
                <a:close/>
              </a:path>
              <a:path w="1109345" h="685164">
                <a:moveTo>
                  <a:pt x="926211" y="65150"/>
                </a:moveTo>
                <a:lnTo>
                  <a:pt x="893501" y="84732"/>
                </a:lnTo>
                <a:lnTo>
                  <a:pt x="932646" y="150115"/>
                </a:lnTo>
                <a:lnTo>
                  <a:pt x="965327" y="130555"/>
                </a:lnTo>
                <a:lnTo>
                  <a:pt x="926211" y="65150"/>
                </a:lnTo>
                <a:close/>
              </a:path>
              <a:path w="1109345" h="685164">
                <a:moveTo>
                  <a:pt x="1109218" y="0"/>
                </a:moveTo>
                <a:lnTo>
                  <a:pt x="854329" y="19303"/>
                </a:lnTo>
                <a:lnTo>
                  <a:pt x="893501" y="84732"/>
                </a:lnTo>
                <a:lnTo>
                  <a:pt x="926211" y="65150"/>
                </a:lnTo>
                <a:lnTo>
                  <a:pt x="1067677" y="65150"/>
                </a:lnTo>
                <a:lnTo>
                  <a:pt x="110921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53311" y="6573011"/>
            <a:ext cx="780415" cy="285115"/>
          </a:xfrm>
          <a:custGeom>
            <a:avLst/>
            <a:gdLst/>
            <a:ahLst/>
            <a:cxnLst/>
            <a:rect l="l" t="t" r="r" b="b"/>
            <a:pathLst>
              <a:path w="780414" h="285115">
                <a:moveTo>
                  <a:pt x="780288" y="0"/>
                </a:moveTo>
                <a:lnTo>
                  <a:pt x="0" y="0"/>
                </a:lnTo>
                <a:lnTo>
                  <a:pt x="0" y="284987"/>
                </a:lnTo>
                <a:lnTo>
                  <a:pt x="780288" y="284987"/>
                </a:lnTo>
                <a:lnTo>
                  <a:pt x="780288" y="249363"/>
                </a:lnTo>
                <a:lnTo>
                  <a:pt x="497077" y="249363"/>
                </a:lnTo>
                <a:lnTo>
                  <a:pt x="283210" y="142494"/>
                </a:lnTo>
                <a:lnTo>
                  <a:pt x="497077" y="35623"/>
                </a:lnTo>
                <a:lnTo>
                  <a:pt x="780288" y="35623"/>
                </a:lnTo>
                <a:lnTo>
                  <a:pt x="780288" y="0"/>
                </a:lnTo>
                <a:close/>
              </a:path>
              <a:path w="780414" h="285115">
                <a:moveTo>
                  <a:pt x="780288" y="35623"/>
                </a:moveTo>
                <a:lnTo>
                  <a:pt x="497077" y="35623"/>
                </a:lnTo>
                <a:lnTo>
                  <a:pt x="497077" y="249363"/>
                </a:lnTo>
                <a:lnTo>
                  <a:pt x="780288" y="249363"/>
                </a:lnTo>
                <a:lnTo>
                  <a:pt x="780288" y="35623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36522" y="6608635"/>
            <a:ext cx="213995" cy="213995"/>
          </a:xfrm>
          <a:custGeom>
            <a:avLst/>
            <a:gdLst/>
            <a:ahLst/>
            <a:cxnLst/>
            <a:rect l="l" t="t" r="r" b="b"/>
            <a:pathLst>
              <a:path w="213994" h="213995">
                <a:moveTo>
                  <a:pt x="213867" y="0"/>
                </a:moveTo>
                <a:lnTo>
                  <a:pt x="0" y="106870"/>
                </a:lnTo>
                <a:lnTo>
                  <a:pt x="213867" y="213739"/>
                </a:lnTo>
                <a:lnTo>
                  <a:pt x="213867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550924" y="6606946"/>
            <a:ext cx="3860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0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概念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012442" y="3850385"/>
            <a:ext cx="490855" cy="18415"/>
          </a:xfrm>
          <a:custGeom>
            <a:avLst/>
            <a:gdLst/>
            <a:ahLst/>
            <a:cxnLst/>
            <a:rect l="l" t="t" r="r" b="b"/>
            <a:pathLst>
              <a:path w="490855" h="18414">
                <a:moveTo>
                  <a:pt x="-19050" y="9143"/>
                </a:moveTo>
                <a:lnTo>
                  <a:pt x="509777" y="9143"/>
                </a:lnTo>
              </a:path>
            </a:pathLst>
          </a:custGeom>
          <a:ln w="56387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228445" y="4232180"/>
            <a:ext cx="20129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80" b="1" i="1">
                <a:solidFill>
                  <a:srgbClr val="66FFFF"/>
                </a:solidFill>
                <a:latin typeface="Symbol"/>
                <a:cs typeface="Symbol"/>
              </a:rPr>
              <a:t>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53717" y="3868673"/>
            <a:ext cx="647700" cy="447040"/>
          </a:xfrm>
          <a:custGeom>
            <a:avLst/>
            <a:gdLst/>
            <a:ahLst/>
            <a:cxnLst/>
            <a:rect l="l" t="t" r="r" b="b"/>
            <a:pathLst>
              <a:path w="647700" h="447039">
                <a:moveTo>
                  <a:pt x="647700" y="0"/>
                </a:moveTo>
                <a:lnTo>
                  <a:pt x="0" y="446531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701289" y="3902202"/>
            <a:ext cx="398145" cy="18415"/>
          </a:xfrm>
          <a:custGeom>
            <a:avLst/>
            <a:gdLst/>
            <a:ahLst/>
            <a:cxnLst/>
            <a:rect l="l" t="t" r="r" b="b"/>
            <a:pathLst>
              <a:path w="398144" h="18414">
                <a:moveTo>
                  <a:pt x="-19050" y="9143"/>
                </a:moveTo>
                <a:lnTo>
                  <a:pt x="416814" y="9143"/>
                </a:lnTo>
              </a:path>
            </a:pathLst>
          </a:custGeom>
          <a:ln w="56387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555494" y="4159758"/>
            <a:ext cx="32004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747010" y="3920490"/>
            <a:ext cx="128270" cy="318770"/>
          </a:xfrm>
          <a:custGeom>
            <a:avLst/>
            <a:gdLst/>
            <a:ahLst/>
            <a:cxnLst/>
            <a:rect l="l" t="t" r="r" b="b"/>
            <a:pathLst>
              <a:path w="128269" h="318770">
                <a:moveTo>
                  <a:pt x="128015" y="0"/>
                </a:moveTo>
                <a:lnTo>
                  <a:pt x="0" y="318516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442" y="738073"/>
            <a:ext cx="328612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FFFFFF"/>
                </a:solidFill>
              </a:rPr>
              <a:t>例如，对</a:t>
            </a:r>
            <a:r>
              <a:rPr dirty="0" sz="3200">
                <a:solidFill>
                  <a:srgbClr val="FFFFFF"/>
                </a:solidFill>
              </a:rPr>
              <a:t>例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5.15</a:t>
            </a:r>
            <a:r>
              <a:rPr dirty="0" sz="32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FFFFFF"/>
                </a:solidFill>
              </a:rPr>
              <a:t>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4722" y="26923"/>
            <a:ext cx="73266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4426585" algn="l"/>
                <a:tab pos="512445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743" y="1271992"/>
            <a:ext cx="7552690" cy="3075305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856615">
              <a:lnSpc>
                <a:spcPct val="100000"/>
              </a:lnSpc>
              <a:spcBef>
                <a:spcPts val="1340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r>
              <a:rPr dirty="0" baseline="-13227" sz="3150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＝｛</a:t>
            </a:r>
            <a:r>
              <a:rPr dirty="0" sz="3200" spc="-835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= 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856615">
              <a:lnSpc>
                <a:spcPct val="100000"/>
              </a:lnSpc>
              <a:spcBef>
                <a:spcPts val="10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｛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＃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endParaRPr sz="2800">
              <a:latin typeface="宋体"/>
              <a:cs typeface="宋体"/>
            </a:endParaRPr>
          </a:p>
          <a:p>
            <a:pPr marL="25400" marR="17780">
              <a:lnSpc>
                <a:spcPts val="4990"/>
              </a:lnSpc>
              <a:spcBef>
                <a:spcPts val="340"/>
              </a:spcBef>
              <a:tabLst>
                <a:tab pos="2715260" algn="l"/>
                <a:tab pos="2788285" algn="l"/>
              </a:tabLst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从</a:t>
            </a:r>
            <a:r>
              <a:rPr dirty="0" sz="3200" spc="-8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[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·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项目考察知，它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效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[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Courier New"/>
                <a:cs typeface="Courier New"/>
              </a:rPr>
              <a:t>·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=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]	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项目考察知，它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无效。</a:t>
            </a:r>
            <a:endParaRPr sz="3200">
              <a:latin typeface="宋体"/>
              <a:cs typeface="宋体"/>
            </a:endParaRPr>
          </a:p>
          <a:p>
            <a:pPr marL="107950">
              <a:lnSpc>
                <a:spcPct val="100000"/>
              </a:lnSpc>
              <a:spcBef>
                <a:spcPts val="33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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‘</a:t>
            </a:r>
            <a:r>
              <a:rPr dirty="0" sz="3200" b="1">
                <a:solidFill>
                  <a:srgbClr val="66FFFF"/>
                </a:solidFill>
                <a:latin typeface="Symbol"/>
                <a:cs typeface="Symbol"/>
              </a:rPr>
              <a:t>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5" b="1">
                <a:solidFill>
                  <a:srgbClr val="66FFFF"/>
                </a:solidFill>
                <a:latin typeface="Symbol"/>
                <a:cs typeface="Symbol"/>
              </a:rPr>
              <a:t></a:t>
            </a:r>
            <a:r>
              <a:rPr dirty="0" sz="3200" spc="5" b="1" i="1">
                <a:solidFill>
                  <a:srgbClr val="FF00FF"/>
                </a:solidFill>
                <a:latin typeface="Times New Roman"/>
                <a:cs typeface="Times New Roman"/>
              </a:rPr>
              <a:t>R</a:t>
            </a:r>
            <a:r>
              <a:rPr dirty="0" sz="3200" spc="-40" b="1" i="1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Symbol"/>
                <a:cs typeface="Symbol"/>
              </a:rPr>
              <a:t>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044" y="4469968"/>
            <a:ext cx="2668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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‘</a:t>
            </a:r>
            <a:r>
              <a:rPr dirty="0" sz="3200" b="1">
                <a:solidFill>
                  <a:srgbClr val="66FFFF"/>
                </a:solidFill>
                <a:latin typeface="Symbol"/>
                <a:cs typeface="Symbol"/>
              </a:rPr>
              <a:t>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10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Symbol"/>
                <a:cs typeface="Symbol"/>
              </a:rPr>
              <a:t>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00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77200" y="774191"/>
            <a:ext cx="782320" cy="287020"/>
          </a:xfrm>
          <a:custGeom>
            <a:avLst/>
            <a:gdLst/>
            <a:ahLst/>
            <a:cxnLst/>
            <a:rect l="l" t="t" r="r" b="b"/>
            <a:pathLst>
              <a:path w="782320" h="287019">
                <a:moveTo>
                  <a:pt x="781811" y="0"/>
                </a:moveTo>
                <a:lnTo>
                  <a:pt x="0" y="0"/>
                </a:lnTo>
                <a:lnTo>
                  <a:pt x="0" y="286512"/>
                </a:lnTo>
                <a:lnTo>
                  <a:pt x="781811" y="286512"/>
                </a:lnTo>
                <a:lnTo>
                  <a:pt x="781811" y="250698"/>
                </a:lnTo>
                <a:lnTo>
                  <a:pt x="498348" y="250698"/>
                </a:lnTo>
                <a:lnTo>
                  <a:pt x="283464" y="143256"/>
                </a:lnTo>
                <a:lnTo>
                  <a:pt x="498348" y="35813"/>
                </a:lnTo>
                <a:lnTo>
                  <a:pt x="781811" y="35813"/>
                </a:lnTo>
                <a:lnTo>
                  <a:pt x="781811" y="0"/>
                </a:lnTo>
                <a:close/>
              </a:path>
              <a:path w="782320" h="287019">
                <a:moveTo>
                  <a:pt x="781811" y="35813"/>
                </a:moveTo>
                <a:lnTo>
                  <a:pt x="498348" y="35813"/>
                </a:lnTo>
                <a:lnTo>
                  <a:pt x="498348" y="250698"/>
                </a:lnTo>
                <a:lnTo>
                  <a:pt x="781811" y="250698"/>
                </a:lnTo>
                <a:lnTo>
                  <a:pt x="781811" y="35813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60664" y="810005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214883" y="0"/>
                </a:moveTo>
                <a:lnTo>
                  <a:pt x="0" y="107442"/>
                </a:lnTo>
                <a:lnTo>
                  <a:pt x="214883" y="214884"/>
                </a:lnTo>
                <a:lnTo>
                  <a:pt x="214883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281543" y="806957"/>
            <a:ext cx="3771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A73737"/>
                </a:solidFill>
                <a:latin typeface="Times New Roman"/>
                <a:cs typeface="Times New Roman"/>
                <a:hlinkClick r:id="rId3" action="ppaction://hlinksldjump"/>
              </a:rPr>
              <a:t>D</a:t>
            </a:r>
            <a:r>
              <a:rPr dirty="0" sz="1400" spc="-114" b="1">
                <a:solidFill>
                  <a:srgbClr val="A73737"/>
                </a:solidFill>
                <a:latin typeface="Times New Roman"/>
                <a:cs typeface="Times New Roman"/>
                <a:hlinkClick r:id="rId3" action="ppaction://hlinksldjump"/>
              </a:rPr>
              <a:t>F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3" action="ppaction://hlinksldjump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94252" y="4127125"/>
            <a:ext cx="4790440" cy="12700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26099"/>
              </a:lnSpc>
              <a:spcBef>
                <a:spcPts val="25"/>
              </a:spcBef>
            </a:pPr>
            <a:r>
              <a:rPr dirty="0" sz="3200" b="1">
                <a:solidFill>
                  <a:srgbClr val="FFFF00"/>
                </a:solidFill>
                <a:latin typeface="方正姚体"/>
                <a:cs typeface="方正姚体"/>
              </a:rPr>
              <a:t>等号前不可能只出现一</a:t>
            </a:r>
            <a:r>
              <a:rPr dirty="0" sz="3200" spc="5" b="1">
                <a:solidFill>
                  <a:srgbClr val="FFFF00"/>
                </a:solidFill>
                <a:latin typeface="方正姚体"/>
                <a:cs typeface="方正姚体"/>
              </a:rPr>
              <a:t>个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00"/>
                </a:solidFill>
                <a:latin typeface="方正姚体"/>
                <a:cs typeface="方正姚体"/>
              </a:rPr>
              <a:t>即不可能有规范句</a:t>
            </a:r>
            <a:r>
              <a:rPr dirty="0" sz="3200" spc="5" b="1">
                <a:solidFill>
                  <a:srgbClr val="FFFF00"/>
                </a:solidFill>
                <a:latin typeface="方正姚体"/>
                <a:cs typeface="方正姚体"/>
              </a:rPr>
              <a:t>型</a:t>
            </a:r>
            <a:r>
              <a:rPr dirty="0" sz="3200" spc="-3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spc="-35" b="1">
                <a:solidFill>
                  <a:srgbClr val="FFFF00"/>
                </a:solidFill>
                <a:latin typeface="方正姚体"/>
                <a:cs typeface="方正姚体"/>
              </a:rPr>
              <a:t>＝</a:t>
            </a:r>
            <a:r>
              <a:rPr dirty="0" sz="3350" spc="-35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endParaRPr sz="3350">
              <a:latin typeface="Symbol"/>
              <a:cs typeface="Symbo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15900" y="5803900"/>
          <a:ext cx="8724900" cy="96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940"/>
                <a:gridCol w="1583690"/>
                <a:gridCol w="1003934"/>
                <a:gridCol w="1736725"/>
                <a:gridCol w="1012189"/>
                <a:gridCol w="2826385"/>
              </a:tblGrid>
              <a:tr h="4445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FF"/>
                      </a:solidFill>
                      <a:prstDash val="solid"/>
                    </a:lnL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’→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R w="28575">
                      <a:solidFill>
                        <a:srgbClr val="FF00FF"/>
                      </a:solidFill>
                      <a:prstDash val="solid"/>
                    </a:lnR>
                    <a:lnT w="28575">
                      <a:solidFill>
                        <a:srgbClr val="FF00FF"/>
                      </a:solidFill>
                      <a:prstDash val="solid"/>
                    </a:lnT>
                    <a:solidFill>
                      <a:srgbClr val="280028"/>
                    </a:solidFill>
                  </a:tcPr>
                </a:tc>
              </a:tr>
              <a:tr h="49271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28575">
                      <a:solidFill>
                        <a:srgbClr val="FF00FF"/>
                      </a:solidFill>
                      <a:prstDash val="solid"/>
                    </a:lnL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400" spc="-2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→*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R w="28575">
                      <a:solidFill>
                        <a:srgbClr val="FF00FF"/>
                      </a:solidFill>
                      <a:prstDash val="solid"/>
                    </a:lnR>
                    <a:lnB w="28575">
                      <a:solidFill>
                        <a:srgbClr val="FF00FF"/>
                      </a:solidFill>
                      <a:prstDash val="solid"/>
                    </a:lnB>
                    <a:solidFill>
                      <a:srgbClr val="2800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142" y="1075131"/>
            <a:ext cx="7903209" cy="2922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5295" indent="-417830">
              <a:lnSpc>
                <a:spcPct val="100000"/>
              </a:lnSpc>
              <a:spcBef>
                <a:spcPts val="100"/>
              </a:spcBef>
              <a:buClr>
                <a:srgbClr val="99FF99"/>
              </a:buClr>
              <a:buSzPct val="101388"/>
              <a:buFont typeface="Wingdings"/>
              <a:buChar char=""/>
              <a:tabLst>
                <a:tab pos="455295" algn="l"/>
                <a:tab pos="455930" algn="l"/>
              </a:tabLst>
            </a:pP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有效项目</a:t>
            </a:r>
            <a:endParaRPr sz="3600">
              <a:latin typeface="宋体"/>
              <a:cs typeface="宋体"/>
            </a:endParaRPr>
          </a:p>
          <a:p>
            <a:pPr marL="139700" marR="30480" indent="507365">
              <a:lnSpc>
                <a:spcPct val="156400"/>
              </a:lnSpc>
              <a:spcBef>
                <a:spcPts val="1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的一个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14550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baseline="-14550" sz="3150" spc="3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14550" sz="3150" spc="7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］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对活前缀</a:t>
            </a:r>
            <a:r>
              <a:rPr dirty="0" sz="3350" spc="-15" b="1" i="1">
                <a:solidFill>
                  <a:srgbClr val="FFFF00"/>
                </a:solidFill>
                <a:latin typeface="Symbol"/>
                <a:cs typeface="Symbol"/>
              </a:rPr>
              <a:t></a:t>
            </a:r>
            <a:r>
              <a:rPr dirty="0" sz="3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14550" sz="3150" spc="-22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效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当且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仅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当存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规范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推导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0298" y="4242526"/>
            <a:ext cx="338518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200" spc="-40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40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13888" sz="4800" spc="-60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40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3200" spc="-5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280" b="1" i="1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dirty="0" sz="3200" spc="-280" b="1" i="1">
                <a:solidFill>
                  <a:srgbClr val="FFFFFF"/>
                </a:solidFill>
                <a:latin typeface="Times New Roman"/>
                <a:cs typeface="Times New Roman"/>
              </a:rPr>
              <a:t>Aω</a:t>
            </a:r>
            <a:r>
              <a:rPr dirty="0" sz="3200" spc="-28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15625" sz="4800" spc="-419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28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u="heavy" sz="3200" spc="-28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350" spc="-7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ymbol"/>
                <a:cs typeface="Symbol"/>
              </a:rPr>
              <a:t></a:t>
            </a:r>
            <a:r>
              <a:rPr dirty="0" u="heavy" sz="3350" spc="-70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5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β</a:t>
            </a:r>
            <a:r>
              <a:rPr dirty="0" u="heavy" baseline="-14550" sz="3150" spc="7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14550" sz="3150" spc="7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722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7830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6744" y="4534661"/>
            <a:ext cx="281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9802" y="4559934"/>
            <a:ext cx="281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47109" y="2399538"/>
            <a:ext cx="1571625" cy="431800"/>
          </a:xfrm>
          <a:custGeom>
            <a:avLst/>
            <a:gdLst/>
            <a:ahLst/>
            <a:cxnLst/>
            <a:rect l="l" t="t" r="r" b="b"/>
            <a:pathLst>
              <a:path w="1571625" h="431800">
                <a:moveTo>
                  <a:pt x="0" y="431291"/>
                </a:moveTo>
                <a:lnTo>
                  <a:pt x="1571243" y="431291"/>
                </a:lnTo>
                <a:lnTo>
                  <a:pt x="1571243" y="0"/>
                </a:lnTo>
                <a:lnTo>
                  <a:pt x="0" y="0"/>
                </a:lnTo>
                <a:lnTo>
                  <a:pt x="0" y="431291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47109" y="2399538"/>
            <a:ext cx="1571625" cy="431800"/>
          </a:xfrm>
          <a:custGeom>
            <a:avLst/>
            <a:gdLst/>
            <a:ahLst/>
            <a:cxnLst/>
            <a:rect l="l" t="t" r="r" b="b"/>
            <a:pathLst>
              <a:path w="1571625" h="431800">
                <a:moveTo>
                  <a:pt x="0" y="431291"/>
                </a:moveTo>
                <a:lnTo>
                  <a:pt x="1571243" y="431291"/>
                </a:lnTo>
                <a:lnTo>
                  <a:pt x="1571243" y="0"/>
                </a:lnTo>
                <a:lnTo>
                  <a:pt x="0" y="0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9240" y="26923"/>
            <a:ext cx="8680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31035" algn="l"/>
                <a:tab pos="2440305" algn="l"/>
                <a:tab pos="5652770" algn="l"/>
                <a:tab pos="64160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5.4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分析与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LR(0)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5.4.3	LR(0</a:t>
            </a:r>
            <a:r>
              <a:rPr dirty="0" u="sng" sz="2000" spc="-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0413" y="526745"/>
            <a:ext cx="746442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</a:rPr>
              <a:t>例</a:t>
            </a:r>
            <a:r>
              <a:rPr dirty="0" sz="3200" spc="-5">
                <a:solidFill>
                  <a:srgbClr val="FFFFFF"/>
                </a:solidFill>
              </a:rPr>
              <a:t>如，对</a:t>
            </a:r>
            <a:r>
              <a:rPr dirty="0" sz="3200">
                <a:solidFill>
                  <a:srgbClr val="FFFFFF"/>
                </a:solidFill>
              </a:rPr>
              <a:t>例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5.12</a:t>
            </a:r>
            <a:r>
              <a:rPr dirty="0" sz="3200" spc="-5">
                <a:solidFill>
                  <a:srgbClr val="FFFFFF"/>
                </a:solidFill>
              </a:rPr>
              <a:t>的文</a:t>
            </a:r>
            <a:r>
              <a:rPr dirty="0" sz="3200" spc="-15">
                <a:solidFill>
                  <a:srgbClr val="FFFFFF"/>
                </a:solidFill>
              </a:rPr>
              <a:t>法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G(S</a:t>
            </a:r>
            <a:r>
              <a:rPr dirty="0" sz="32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FF"/>
                </a:solidFill>
              </a:rPr>
              <a:t>有</a:t>
            </a:r>
            <a:r>
              <a:rPr dirty="0" sz="3200" spc="-10">
                <a:solidFill>
                  <a:srgbClr val="FFFFFF"/>
                </a:solidFill>
              </a:rPr>
              <a:t>识</a:t>
            </a:r>
            <a:r>
              <a:rPr dirty="0" sz="3200" spc="5">
                <a:solidFill>
                  <a:srgbClr val="FFFFFF"/>
                </a:solidFill>
              </a:rPr>
              <a:t>别</a:t>
            </a:r>
            <a:r>
              <a:rPr dirty="0" sz="3200" spc="-10">
                <a:solidFill>
                  <a:srgbClr val="FFFFFF"/>
                </a:solidFill>
              </a:rPr>
              <a:t>活前缀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413" y="1063878"/>
            <a:ext cx="24657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如下：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30795" y="2258060"/>
            <a:ext cx="2013585" cy="0"/>
          </a:xfrm>
          <a:custGeom>
            <a:avLst/>
            <a:gdLst/>
            <a:ahLst/>
            <a:cxnLst/>
            <a:rect l="l" t="t" r="r" b="b"/>
            <a:pathLst>
              <a:path w="2013584" h="0">
                <a:moveTo>
                  <a:pt x="0" y="0"/>
                </a:moveTo>
                <a:lnTo>
                  <a:pt x="2013203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37145" y="1134110"/>
            <a:ext cx="0" cy="1117600"/>
          </a:xfrm>
          <a:custGeom>
            <a:avLst/>
            <a:gdLst/>
            <a:ahLst/>
            <a:cxnLst/>
            <a:rect l="l" t="t" r="r" b="b"/>
            <a:pathLst>
              <a:path w="0" h="1117600">
                <a:moveTo>
                  <a:pt x="0" y="0"/>
                </a:moveTo>
                <a:lnTo>
                  <a:pt x="0" y="111760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30795" y="1127760"/>
            <a:ext cx="2013585" cy="0"/>
          </a:xfrm>
          <a:custGeom>
            <a:avLst/>
            <a:gdLst/>
            <a:ahLst/>
            <a:cxnLst/>
            <a:rect l="l" t="t" r="r" b="b"/>
            <a:pathLst>
              <a:path w="2013584" h="0">
                <a:moveTo>
                  <a:pt x="0" y="0"/>
                </a:moveTo>
                <a:lnTo>
                  <a:pt x="2013203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56195" y="2226310"/>
            <a:ext cx="1988185" cy="0"/>
          </a:xfrm>
          <a:custGeom>
            <a:avLst/>
            <a:gdLst/>
            <a:ahLst/>
            <a:cxnLst/>
            <a:rect l="l" t="t" r="r" b="b"/>
            <a:pathLst>
              <a:path w="1988184" h="0">
                <a:moveTo>
                  <a:pt x="0" y="0"/>
                </a:moveTo>
                <a:lnTo>
                  <a:pt x="1987803" y="0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68895" y="1172210"/>
            <a:ext cx="0" cy="1041400"/>
          </a:xfrm>
          <a:custGeom>
            <a:avLst/>
            <a:gdLst/>
            <a:ahLst/>
            <a:cxnLst/>
            <a:rect l="l" t="t" r="r" b="b"/>
            <a:pathLst>
              <a:path w="0" h="1041400">
                <a:moveTo>
                  <a:pt x="0" y="0"/>
                </a:moveTo>
                <a:lnTo>
                  <a:pt x="0" y="1041400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56195" y="1159510"/>
            <a:ext cx="1988185" cy="0"/>
          </a:xfrm>
          <a:custGeom>
            <a:avLst/>
            <a:gdLst/>
            <a:ahLst/>
            <a:cxnLst/>
            <a:rect l="l" t="t" r="r" b="b"/>
            <a:pathLst>
              <a:path w="1988184" h="0">
                <a:moveTo>
                  <a:pt x="0" y="0"/>
                </a:moveTo>
                <a:lnTo>
                  <a:pt x="1987803" y="0"/>
                </a:lnTo>
              </a:path>
            </a:pathLst>
          </a:custGeom>
          <a:ln w="254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33078" y="1172463"/>
            <a:ext cx="0" cy="1041400"/>
          </a:xfrm>
          <a:custGeom>
            <a:avLst/>
            <a:gdLst/>
            <a:ahLst/>
            <a:cxnLst/>
            <a:rect l="l" t="t" r="r" b="b"/>
            <a:pathLst>
              <a:path w="0" h="1041400">
                <a:moveTo>
                  <a:pt x="0" y="0"/>
                </a:moveTo>
                <a:lnTo>
                  <a:pt x="0" y="1041400"/>
                </a:lnTo>
              </a:path>
            </a:pathLst>
          </a:custGeom>
          <a:ln w="21844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94295" y="2194560"/>
            <a:ext cx="1915160" cy="0"/>
          </a:xfrm>
          <a:custGeom>
            <a:avLst/>
            <a:gdLst/>
            <a:ahLst/>
            <a:cxnLst/>
            <a:rect l="l" t="t" r="r" b="b"/>
            <a:pathLst>
              <a:path w="1915159" h="0">
                <a:moveTo>
                  <a:pt x="0" y="0"/>
                </a:moveTo>
                <a:lnTo>
                  <a:pt x="1915159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00645" y="1197610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94295" y="1191260"/>
            <a:ext cx="1915160" cy="0"/>
          </a:xfrm>
          <a:custGeom>
            <a:avLst/>
            <a:gdLst/>
            <a:ahLst/>
            <a:cxnLst/>
            <a:rect l="l" t="t" r="r" b="b"/>
            <a:pathLst>
              <a:path w="1915159" h="0">
                <a:moveTo>
                  <a:pt x="0" y="0"/>
                </a:moveTo>
                <a:lnTo>
                  <a:pt x="1915159" y="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103106" y="1197863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127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181595" y="1002944"/>
            <a:ext cx="1927860" cy="1141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 marR="209550">
              <a:lnSpc>
                <a:spcPct val="1308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r>
              <a:rPr dirty="0" sz="2800" spc="-9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｜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8916" y="324104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99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45002" y="2164842"/>
            <a:ext cx="1769745" cy="1803400"/>
          </a:xfrm>
          <a:custGeom>
            <a:avLst/>
            <a:gdLst/>
            <a:ahLst/>
            <a:cxnLst/>
            <a:rect l="l" t="t" r="r" b="b"/>
            <a:pathLst>
              <a:path w="1769745" h="1803400">
                <a:moveTo>
                  <a:pt x="0" y="1802892"/>
                </a:moveTo>
                <a:lnTo>
                  <a:pt x="1769364" y="1802892"/>
                </a:lnTo>
                <a:lnTo>
                  <a:pt x="1769364" y="0"/>
                </a:lnTo>
                <a:lnTo>
                  <a:pt x="0" y="0"/>
                </a:lnTo>
                <a:lnTo>
                  <a:pt x="0" y="18028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611117" y="2324226"/>
            <a:ext cx="136906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6675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11117" y="3177667"/>
            <a:ext cx="9740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36698" y="294571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57425" y="3003042"/>
            <a:ext cx="1188085" cy="852169"/>
          </a:xfrm>
          <a:custGeom>
            <a:avLst/>
            <a:gdLst/>
            <a:ahLst/>
            <a:cxnLst/>
            <a:rect l="l" t="t" r="r" b="b"/>
            <a:pathLst>
              <a:path w="1188085" h="852170">
                <a:moveTo>
                  <a:pt x="1021271" y="94883"/>
                </a:moveTo>
                <a:lnTo>
                  <a:pt x="0" y="821182"/>
                </a:lnTo>
                <a:lnTo>
                  <a:pt x="22098" y="852170"/>
                </a:lnTo>
                <a:lnTo>
                  <a:pt x="1043380" y="125988"/>
                </a:lnTo>
                <a:lnTo>
                  <a:pt x="1021271" y="94883"/>
                </a:lnTo>
                <a:close/>
              </a:path>
              <a:path w="1188085" h="852170">
                <a:moveTo>
                  <a:pt x="1122338" y="83820"/>
                </a:moveTo>
                <a:lnTo>
                  <a:pt x="1036827" y="83820"/>
                </a:lnTo>
                <a:lnTo>
                  <a:pt x="1058926" y="114935"/>
                </a:lnTo>
                <a:lnTo>
                  <a:pt x="1043380" y="125988"/>
                </a:lnTo>
                <a:lnTo>
                  <a:pt x="1065402" y="156972"/>
                </a:lnTo>
                <a:lnTo>
                  <a:pt x="1122338" y="83820"/>
                </a:lnTo>
                <a:close/>
              </a:path>
              <a:path w="1188085" h="852170">
                <a:moveTo>
                  <a:pt x="1036827" y="83820"/>
                </a:moveTo>
                <a:lnTo>
                  <a:pt x="1021271" y="94883"/>
                </a:lnTo>
                <a:lnTo>
                  <a:pt x="1043380" y="125988"/>
                </a:lnTo>
                <a:lnTo>
                  <a:pt x="1058926" y="114935"/>
                </a:lnTo>
                <a:lnTo>
                  <a:pt x="1036827" y="83820"/>
                </a:lnTo>
                <a:close/>
              </a:path>
              <a:path w="1188085" h="852170">
                <a:moveTo>
                  <a:pt x="1187577" y="0"/>
                </a:moveTo>
                <a:lnTo>
                  <a:pt x="999236" y="63881"/>
                </a:lnTo>
                <a:lnTo>
                  <a:pt x="1021271" y="94883"/>
                </a:lnTo>
                <a:lnTo>
                  <a:pt x="1036827" y="83820"/>
                </a:lnTo>
                <a:lnTo>
                  <a:pt x="1122338" y="83820"/>
                </a:lnTo>
                <a:lnTo>
                  <a:pt x="118757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832352" y="1725625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3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13735" y="419569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68473" y="4640579"/>
            <a:ext cx="1176655" cy="114300"/>
          </a:xfrm>
          <a:custGeom>
            <a:avLst/>
            <a:gdLst/>
            <a:ahLst/>
            <a:cxnLst/>
            <a:rect l="l" t="t" r="r" b="b"/>
            <a:pathLst>
              <a:path w="1176654" h="114300">
                <a:moveTo>
                  <a:pt x="986027" y="0"/>
                </a:moveTo>
                <a:lnTo>
                  <a:pt x="986027" y="114300"/>
                </a:lnTo>
                <a:lnTo>
                  <a:pt x="1113027" y="76200"/>
                </a:lnTo>
                <a:lnTo>
                  <a:pt x="1005077" y="76200"/>
                </a:lnTo>
                <a:lnTo>
                  <a:pt x="1005077" y="38100"/>
                </a:lnTo>
                <a:lnTo>
                  <a:pt x="1113027" y="38100"/>
                </a:lnTo>
                <a:lnTo>
                  <a:pt x="986027" y="0"/>
                </a:lnTo>
                <a:close/>
              </a:path>
              <a:path w="1176654" h="114300">
                <a:moveTo>
                  <a:pt x="98602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86027" y="76200"/>
                </a:lnTo>
                <a:lnTo>
                  <a:pt x="986027" y="38100"/>
                </a:lnTo>
                <a:close/>
              </a:path>
              <a:path w="1176654" h="114300">
                <a:moveTo>
                  <a:pt x="1113027" y="38100"/>
                </a:moveTo>
                <a:lnTo>
                  <a:pt x="1005077" y="38100"/>
                </a:lnTo>
                <a:lnTo>
                  <a:pt x="1005077" y="76200"/>
                </a:lnTo>
                <a:lnTo>
                  <a:pt x="1113027" y="76200"/>
                </a:lnTo>
                <a:lnTo>
                  <a:pt x="1176527" y="57150"/>
                </a:lnTo>
                <a:lnTo>
                  <a:pt x="111302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58717" y="4501134"/>
            <a:ext cx="1767839" cy="558165"/>
          </a:xfrm>
          <a:custGeom>
            <a:avLst/>
            <a:gdLst/>
            <a:ahLst/>
            <a:cxnLst/>
            <a:rect l="l" t="t" r="r" b="b"/>
            <a:pathLst>
              <a:path w="1767839" h="558164">
                <a:moveTo>
                  <a:pt x="0" y="557783"/>
                </a:moveTo>
                <a:lnTo>
                  <a:pt x="1767839" y="557783"/>
                </a:lnTo>
                <a:lnTo>
                  <a:pt x="1767839" y="0"/>
                </a:lnTo>
                <a:lnTo>
                  <a:pt x="0" y="0"/>
                </a:lnTo>
                <a:lnTo>
                  <a:pt x="0" y="55778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547109" y="4563617"/>
            <a:ext cx="1571625" cy="431800"/>
          </a:xfrm>
          <a:prstGeom prst="rect">
            <a:avLst/>
          </a:prstGeom>
          <a:solidFill>
            <a:srgbClr val="FF00FF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19405">
              <a:lnSpc>
                <a:spcPts val="2810"/>
              </a:lnSpc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29885" y="4081983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4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80792" y="4930902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257298" y="4938395"/>
            <a:ext cx="1163320" cy="854075"/>
          </a:xfrm>
          <a:custGeom>
            <a:avLst/>
            <a:gdLst/>
            <a:ahLst/>
            <a:cxnLst/>
            <a:rect l="l" t="t" r="r" b="b"/>
            <a:pathLst>
              <a:path w="1163320" h="854075">
                <a:moveTo>
                  <a:pt x="998049" y="756896"/>
                </a:moveTo>
                <a:lnTo>
                  <a:pt x="975613" y="787704"/>
                </a:lnTo>
                <a:lnTo>
                  <a:pt x="1163319" y="853566"/>
                </a:lnTo>
                <a:lnTo>
                  <a:pt x="1098321" y="768108"/>
                </a:lnTo>
                <a:lnTo>
                  <a:pt x="1013460" y="768108"/>
                </a:lnTo>
                <a:lnTo>
                  <a:pt x="998049" y="756896"/>
                </a:lnTo>
                <a:close/>
              </a:path>
              <a:path w="1163320" h="854075">
                <a:moveTo>
                  <a:pt x="1020499" y="726067"/>
                </a:moveTo>
                <a:lnTo>
                  <a:pt x="998049" y="756896"/>
                </a:lnTo>
                <a:lnTo>
                  <a:pt x="1013460" y="768108"/>
                </a:lnTo>
                <a:lnTo>
                  <a:pt x="1035938" y="737298"/>
                </a:lnTo>
                <a:lnTo>
                  <a:pt x="1020499" y="726067"/>
                </a:lnTo>
                <a:close/>
              </a:path>
              <a:path w="1163320" h="854075">
                <a:moveTo>
                  <a:pt x="1042924" y="695274"/>
                </a:moveTo>
                <a:lnTo>
                  <a:pt x="1020499" y="726067"/>
                </a:lnTo>
                <a:lnTo>
                  <a:pt x="1035938" y="737298"/>
                </a:lnTo>
                <a:lnTo>
                  <a:pt x="1013460" y="768108"/>
                </a:lnTo>
                <a:lnTo>
                  <a:pt x="1098321" y="768108"/>
                </a:lnTo>
                <a:lnTo>
                  <a:pt x="1042924" y="695274"/>
                </a:lnTo>
                <a:close/>
              </a:path>
              <a:path w="1163320" h="854075">
                <a:moveTo>
                  <a:pt x="22351" y="0"/>
                </a:moveTo>
                <a:lnTo>
                  <a:pt x="0" y="30733"/>
                </a:lnTo>
                <a:lnTo>
                  <a:pt x="998049" y="756896"/>
                </a:lnTo>
                <a:lnTo>
                  <a:pt x="1020499" y="726067"/>
                </a:lnTo>
                <a:lnTo>
                  <a:pt x="2235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420617" y="5791961"/>
            <a:ext cx="1767839" cy="55943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58445">
              <a:lnSpc>
                <a:spcPts val="380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39970" y="5360619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340605" y="1787651"/>
            <a:ext cx="1090930" cy="772160"/>
          </a:xfrm>
          <a:custGeom>
            <a:avLst/>
            <a:gdLst/>
            <a:ahLst/>
            <a:cxnLst/>
            <a:rect l="l" t="t" r="r" b="b"/>
            <a:pathLst>
              <a:path w="1090929" h="772160">
                <a:moveTo>
                  <a:pt x="961263" y="603758"/>
                </a:moveTo>
                <a:lnTo>
                  <a:pt x="855218" y="771906"/>
                </a:lnTo>
                <a:lnTo>
                  <a:pt x="1036320" y="689863"/>
                </a:lnTo>
                <a:lnTo>
                  <a:pt x="1022039" y="673481"/>
                </a:lnTo>
                <a:lnTo>
                  <a:pt x="997204" y="673481"/>
                </a:lnTo>
                <a:lnTo>
                  <a:pt x="971804" y="645160"/>
                </a:lnTo>
                <a:lnTo>
                  <a:pt x="985511" y="632811"/>
                </a:lnTo>
                <a:lnTo>
                  <a:pt x="985990" y="632125"/>
                </a:lnTo>
                <a:lnTo>
                  <a:pt x="961263" y="603758"/>
                </a:lnTo>
                <a:close/>
              </a:path>
              <a:path w="1090929" h="772160">
                <a:moveTo>
                  <a:pt x="985511" y="632811"/>
                </a:moveTo>
                <a:lnTo>
                  <a:pt x="971804" y="645160"/>
                </a:lnTo>
                <a:lnTo>
                  <a:pt x="997204" y="673481"/>
                </a:lnTo>
                <a:lnTo>
                  <a:pt x="1011115" y="660949"/>
                </a:lnTo>
                <a:lnTo>
                  <a:pt x="988163" y="634619"/>
                </a:lnTo>
                <a:lnTo>
                  <a:pt x="984250" y="634619"/>
                </a:lnTo>
                <a:lnTo>
                  <a:pt x="985511" y="632811"/>
                </a:lnTo>
                <a:close/>
              </a:path>
              <a:path w="1090929" h="772160">
                <a:moveTo>
                  <a:pt x="1011115" y="660949"/>
                </a:moveTo>
                <a:lnTo>
                  <a:pt x="997204" y="673481"/>
                </a:lnTo>
                <a:lnTo>
                  <a:pt x="1022039" y="673481"/>
                </a:lnTo>
                <a:lnTo>
                  <a:pt x="1011115" y="660949"/>
                </a:lnTo>
                <a:close/>
              </a:path>
              <a:path w="1090929" h="772160">
                <a:moveTo>
                  <a:pt x="1032568" y="631317"/>
                </a:moveTo>
                <a:lnTo>
                  <a:pt x="987171" y="631317"/>
                </a:lnTo>
                <a:lnTo>
                  <a:pt x="986221" y="632390"/>
                </a:lnTo>
                <a:lnTo>
                  <a:pt x="1011115" y="660949"/>
                </a:lnTo>
                <a:lnTo>
                  <a:pt x="1012571" y="659638"/>
                </a:lnTo>
                <a:lnTo>
                  <a:pt x="1013714" y="658749"/>
                </a:lnTo>
                <a:lnTo>
                  <a:pt x="1014730" y="657606"/>
                </a:lnTo>
                <a:lnTo>
                  <a:pt x="1015492" y="656336"/>
                </a:lnTo>
                <a:lnTo>
                  <a:pt x="1030986" y="633984"/>
                </a:lnTo>
                <a:lnTo>
                  <a:pt x="1032568" y="631317"/>
                </a:lnTo>
                <a:close/>
              </a:path>
              <a:path w="1090929" h="772160">
                <a:moveTo>
                  <a:pt x="986114" y="632268"/>
                </a:moveTo>
                <a:lnTo>
                  <a:pt x="985511" y="632811"/>
                </a:lnTo>
                <a:lnTo>
                  <a:pt x="984250" y="634619"/>
                </a:lnTo>
                <a:lnTo>
                  <a:pt x="986221" y="632390"/>
                </a:lnTo>
                <a:close/>
              </a:path>
              <a:path w="1090929" h="772160">
                <a:moveTo>
                  <a:pt x="986221" y="632390"/>
                </a:moveTo>
                <a:lnTo>
                  <a:pt x="984250" y="634619"/>
                </a:lnTo>
                <a:lnTo>
                  <a:pt x="988163" y="634619"/>
                </a:lnTo>
                <a:lnTo>
                  <a:pt x="986221" y="632390"/>
                </a:lnTo>
                <a:close/>
              </a:path>
              <a:path w="1090929" h="772160">
                <a:moveTo>
                  <a:pt x="985990" y="632125"/>
                </a:moveTo>
                <a:lnTo>
                  <a:pt x="985511" y="632811"/>
                </a:lnTo>
                <a:lnTo>
                  <a:pt x="986114" y="632268"/>
                </a:lnTo>
                <a:lnTo>
                  <a:pt x="985990" y="632125"/>
                </a:lnTo>
                <a:close/>
              </a:path>
              <a:path w="1090929" h="772160">
                <a:moveTo>
                  <a:pt x="987171" y="631317"/>
                </a:moveTo>
                <a:lnTo>
                  <a:pt x="986273" y="632125"/>
                </a:lnTo>
                <a:lnTo>
                  <a:pt x="986221" y="632390"/>
                </a:lnTo>
                <a:lnTo>
                  <a:pt x="987171" y="631317"/>
                </a:lnTo>
                <a:close/>
              </a:path>
              <a:path w="1090929" h="772160">
                <a:moveTo>
                  <a:pt x="767747" y="38100"/>
                </a:moveTo>
                <a:lnTo>
                  <a:pt x="544322" y="38100"/>
                </a:lnTo>
                <a:lnTo>
                  <a:pt x="570738" y="38608"/>
                </a:lnTo>
                <a:lnTo>
                  <a:pt x="596900" y="40259"/>
                </a:lnTo>
                <a:lnTo>
                  <a:pt x="647700" y="46355"/>
                </a:lnTo>
                <a:lnTo>
                  <a:pt x="696849" y="56387"/>
                </a:lnTo>
                <a:lnTo>
                  <a:pt x="743712" y="69976"/>
                </a:lnTo>
                <a:lnTo>
                  <a:pt x="788543" y="86995"/>
                </a:lnTo>
                <a:lnTo>
                  <a:pt x="830580" y="107187"/>
                </a:lnTo>
                <a:lnTo>
                  <a:pt x="869696" y="130428"/>
                </a:lnTo>
                <a:lnTo>
                  <a:pt x="905891" y="156337"/>
                </a:lnTo>
                <a:lnTo>
                  <a:pt x="938657" y="184785"/>
                </a:lnTo>
                <a:lnTo>
                  <a:pt x="967613" y="215519"/>
                </a:lnTo>
                <a:lnTo>
                  <a:pt x="992759" y="248285"/>
                </a:lnTo>
                <a:lnTo>
                  <a:pt x="1013841" y="282956"/>
                </a:lnTo>
                <a:lnTo>
                  <a:pt x="1030605" y="319150"/>
                </a:lnTo>
                <a:lnTo>
                  <a:pt x="1042797" y="356997"/>
                </a:lnTo>
                <a:lnTo>
                  <a:pt x="1050290" y="395986"/>
                </a:lnTo>
                <a:lnTo>
                  <a:pt x="1052830" y="436245"/>
                </a:lnTo>
                <a:lnTo>
                  <a:pt x="1051941" y="459739"/>
                </a:lnTo>
                <a:lnTo>
                  <a:pt x="1044829" y="505713"/>
                </a:lnTo>
                <a:lnTo>
                  <a:pt x="1030986" y="550418"/>
                </a:lnTo>
                <a:lnTo>
                  <a:pt x="1010793" y="593598"/>
                </a:lnTo>
                <a:lnTo>
                  <a:pt x="985990" y="632125"/>
                </a:lnTo>
                <a:lnTo>
                  <a:pt x="986114" y="632268"/>
                </a:lnTo>
                <a:lnTo>
                  <a:pt x="987171" y="631317"/>
                </a:lnTo>
                <a:lnTo>
                  <a:pt x="1032568" y="631317"/>
                </a:lnTo>
                <a:lnTo>
                  <a:pt x="1044702" y="610870"/>
                </a:lnTo>
                <a:lnTo>
                  <a:pt x="1067054" y="562990"/>
                </a:lnTo>
                <a:lnTo>
                  <a:pt x="1082294" y="512825"/>
                </a:lnTo>
                <a:lnTo>
                  <a:pt x="1089914" y="461137"/>
                </a:lnTo>
                <a:lnTo>
                  <a:pt x="1090930" y="434848"/>
                </a:lnTo>
                <a:lnTo>
                  <a:pt x="1090041" y="412369"/>
                </a:lnTo>
                <a:lnTo>
                  <a:pt x="1084326" y="367919"/>
                </a:lnTo>
                <a:lnTo>
                  <a:pt x="1073150" y="325120"/>
                </a:lnTo>
                <a:lnTo>
                  <a:pt x="1056894" y="283718"/>
                </a:lnTo>
                <a:lnTo>
                  <a:pt x="1035812" y="244601"/>
                </a:lnTo>
                <a:lnTo>
                  <a:pt x="1010285" y="207518"/>
                </a:lnTo>
                <a:lnTo>
                  <a:pt x="980567" y="172974"/>
                </a:lnTo>
                <a:lnTo>
                  <a:pt x="946912" y="140843"/>
                </a:lnTo>
                <a:lnTo>
                  <a:pt x="909574" y="111506"/>
                </a:lnTo>
                <a:lnTo>
                  <a:pt x="869188" y="85217"/>
                </a:lnTo>
                <a:lnTo>
                  <a:pt x="825627" y="61975"/>
                </a:lnTo>
                <a:lnTo>
                  <a:pt x="779272" y="42163"/>
                </a:lnTo>
                <a:lnTo>
                  <a:pt x="767747" y="38100"/>
                </a:lnTo>
                <a:close/>
              </a:path>
              <a:path w="1090929" h="772160">
                <a:moveTo>
                  <a:pt x="543687" y="0"/>
                </a:moveTo>
                <a:lnTo>
                  <a:pt x="491871" y="1905"/>
                </a:lnTo>
                <a:lnTo>
                  <a:pt x="441579" y="7620"/>
                </a:lnTo>
                <a:lnTo>
                  <a:pt x="392811" y="16890"/>
                </a:lnTo>
                <a:lnTo>
                  <a:pt x="345567" y="29590"/>
                </a:lnTo>
                <a:lnTo>
                  <a:pt x="300482" y="45465"/>
                </a:lnTo>
                <a:lnTo>
                  <a:pt x="257429" y="64515"/>
                </a:lnTo>
                <a:lnTo>
                  <a:pt x="216789" y="86360"/>
                </a:lnTo>
                <a:lnTo>
                  <a:pt x="178943" y="111125"/>
                </a:lnTo>
                <a:lnTo>
                  <a:pt x="143764" y="138557"/>
                </a:lnTo>
                <a:lnTo>
                  <a:pt x="111760" y="168528"/>
                </a:lnTo>
                <a:lnTo>
                  <a:pt x="83185" y="200660"/>
                </a:lnTo>
                <a:lnTo>
                  <a:pt x="58166" y="235076"/>
                </a:lnTo>
                <a:lnTo>
                  <a:pt x="37084" y="271525"/>
                </a:lnTo>
                <a:lnTo>
                  <a:pt x="20193" y="309880"/>
                </a:lnTo>
                <a:lnTo>
                  <a:pt x="7620" y="349885"/>
                </a:lnTo>
                <a:lnTo>
                  <a:pt x="0" y="390144"/>
                </a:lnTo>
                <a:lnTo>
                  <a:pt x="37592" y="396239"/>
                </a:lnTo>
                <a:lnTo>
                  <a:pt x="40767" y="376427"/>
                </a:lnTo>
                <a:lnTo>
                  <a:pt x="44831" y="358013"/>
                </a:lnTo>
                <a:lnTo>
                  <a:pt x="63373" y="304926"/>
                </a:lnTo>
                <a:lnTo>
                  <a:pt x="90678" y="255015"/>
                </a:lnTo>
                <a:lnTo>
                  <a:pt x="113411" y="223774"/>
                </a:lnTo>
                <a:lnTo>
                  <a:pt x="139573" y="194437"/>
                </a:lnTo>
                <a:lnTo>
                  <a:pt x="169037" y="167005"/>
                </a:lnTo>
                <a:lnTo>
                  <a:pt x="201549" y="141732"/>
                </a:lnTo>
                <a:lnTo>
                  <a:pt x="236855" y="118745"/>
                </a:lnTo>
                <a:lnTo>
                  <a:pt x="274701" y="98425"/>
                </a:lnTo>
                <a:lnTo>
                  <a:pt x="315087" y="80645"/>
                </a:lnTo>
                <a:lnTo>
                  <a:pt x="357632" y="65659"/>
                </a:lnTo>
                <a:lnTo>
                  <a:pt x="401828" y="53848"/>
                </a:lnTo>
                <a:lnTo>
                  <a:pt x="447929" y="45212"/>
                </a:lnTo>
                <a:lnTo>
                  <a:pt x="495554" y="39877"/>
                </a:lnTo>
                <a:lnTo>
                  <a:pt x="544322" y="38100"/>
                </a:lnTo>
                <a:lnTo>
                  <a:pt x="767747" y="38100"/>
                </a:lnTo>
                <a:lnTo>
                  <a:pt x="755142" y="33655"/>
                </a:lnTo>
                <a:lnTo>
                  <a:pt x="705104" y="19176"/>
                </a:lnTo>
                <a:lnTo>
                  <a:pt x="653034" y="8636"/>
                </a:lnTo>
                <a:lnTo>
                  <a:pt x="599186" y="2286"/>
                </a:lnTo>
                <a:lnTo>
                  <a:pt x="571500" y="635"/>
                </a:lnTo>
                <a:lnTo>
                  <a:pt x="54368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373370" y="145669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86805" y="353669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188458" y="3262884"/>
            <a:ext cx="353060" cy="1236980"/>
          </a:xfrm>
          <a:custGeom>
            <a:avLst/>
            <a:gdLst/>
            <a:ahLst/>
            <a:cxnLst/>
            <a:rect l="l" t="t" r="r" b="b"/>
            <a:pathLst>
              <a:path w="353060" h="1236979">
                <a:moveTo>
                  <a:pt x="181101" y="1123695"/>
                </a:moveTo>
                <a:lnTo>
                  <a:pt x="0" y="1205738"/>
                </a:lnTo>
                <a:lnTo>
                  <a:pt x="196468" y="1236979"/>
                </a:lnTo>
                <a:lnTo>
                  <a:pt x="191645" y="1201420"/>
                </a:lnTo>
                <a:lnTo>
                  <a:pt x="174116" y="1201420"/>
                </a:lnTo>
                <a:lnTo>
                  <a:pt x="165734" y="1164335"/>
                </a:lnTo>
                <a:lnTo>
                  <a:pt x="180211" y="1160981"/>
                </a:lnTo>
                <a:lnTo>
                  <a:pt x="185312" y="1154733"/>
                </a:lnTo>
                <a:lnTo>
                  <a:pt x="181101" y="1123695"/>
                </a:lnTo>
                <a:close/>
              </a:path>
              <a:path w="353060" h="1236979">
                <a:moveTo>
                  <a:pt x="180211" y="1160981"/>
                </a:moveTo>
                <a:lnTo>
                  <a:pt x="165734" y="1164335"/>
                </a:lnTo>
                <a:lnTo>
                  <a:pt x="174116" y="1201420"/>
                </a:lnTo>
                <a:lnTo>
                  <a:pt x="191124" y="1197582"/>
                </a:lnTo>
                <a:lnTo>
                  <a:pt x="186856" y="1166114"/>
                </a:lnTo>
                <a:lnTo>
                  <a:pt x="176021" y="1166114"/>
                </a:lnTo>
                <a:lnTo>
                  <a:pt x="180211" y="1160981"/>
                </a:lnTo>
                <a:close/>
              </a:path>
              <a:path w="353060" h="1236979">
                <a:moveTo>
                  <a:pt x="191124" y="1197582"/>
                </a:moveTo>
                <a:lnTo>
                  <a:pt x="174116" y="1201420"/>
                </a:lnTo>
                <a:lnTo>
                  <a:pt x="191645" y="1201420"/>
                </a:lnTo>
                <a:lnTo>
                  <a:pt x="191124" y="1197582"/>
                </a:lnTo>
                <a:close/>
              </a:path>
              <a:path w="353060" h="1236979">
                <a:moveTo>
                  <a:pt x="228795" y="1159509"/>
                </a:moveTo>
                <a:lnTo>
                  <a:pt x="186562" y="1159509"/>
                </a:lnTo>
                <a:lnTo>
                  <a:pt x="186007" y="1159858"/>
                </a:lnTo>
                <a:lnTo>
                  <a:pt x="191124" y="1197582"/>
                </a:lnTo>
                <a:lnTo>
                  <a:pt x="194944" y="1196720"/>
                </a:lnTo>
                <a:lnTo>
                  <a:pt x="199136" y="1195832"/>
                </a:lnTo>
                <a:lnTo>
                  <a:pt x="202945" y="1193418"/>
                </a:lnTo>
                <a:lnTo>
                  <a:pt x="217169" y="1175765"/>
                </a:lnTo>
                <a:lnTo>
                  <a:pt x="228218" y="1160398"/>
                </a:lnTo>
                <a:lnTo>
                  <a:pt x="228795" y="1159509"/>
                </a:lnTo>
                <a:close/>
              </a:path>
              <a:path w="353060" h="1236979">
                <a:moveTo>
                  <a:pt x="185978" y="1159645"/>
                </a:moveTo>
                <a:lnTo>
                  <a:pt x="180211" y="1160981"/>
                </a:lnTo>
                <a:lnTo>
                  <a:pt x="176021" y="1166114"/>
                </a:lnTo>
                <a:lnTo>
                  <a:pt x="186007" y="1159858"/>
                </a:lnTo>
                <a:lnTo>
                  <a:pt x="185978" y="1159645"/>
                </a:lnTo>
                <a:close/>
              </a:path>
              <a:path w="353060" h="1236979">
                <a:moveTo>
                  <a:pt x="186007" y="1159858"/>
                </a:moveTo>
                <a:lnTo>
                  <a:pt x="176021" y="1166114"/>
                </a:lnTo>
                <a:lnTo>
                  <a:pt x="186856" y="1166114"/>
                </a:lnTo>
                <a:lnTo>
                  <a:pt x="186007" y="1159858"/>
                </a:lnTo>
                <a:close/>
              </a:path>
              <a:path w="353060" h="1236979">
                <a:moveTo>
                  <a:pt x="185312" y="1154733"/>
                </a:moveTo>
                <a:lnTo>
                  <a:pt x="180211" y="1160981"/>
                </a:lnTo>
                <a:lnTo>
                  <a:pt x="185978" y="1159645"/>
                </a:lnTo>
                <a:lnTo>
                  <a:pt x="185312" y="1154733"/>
                </a:lnTo>
                <a:close/>
              </a:path>
              <a:path w="353060" h="1236979">
                <a:moveTo>
                  <a:pt x="186562" y="1159509"/>
                </a:moveTo>
                <a:lnTo>
                  <a:pt x="185978" y="1159645"/>
                </a:lnTo>
                <a:lnTo>
                  <a:pt x="186007" y="1159858"/>
                </a:lnTo>
                <a:lnTo>
                  <a:pt x="186562" y="1159509"/>
                </a:lnTo>
                <a:close/>
              </a:path>
              <a:path w="353060" h="1236979">
                <a:moveTo>
                  <a:pt x="82422" y="0"/>
                </a:moveTo>
                <a:lnTo>
                  <a:pt x="80263" y="38100"/>
                </a:lnTo>
                <a:lnTo>
                  <a:pt x="93217" y="38862"/>
                </a:lnTo>
                <a:lnTo>
                  <a:pt x="103631" y="40893"/>
                </a:lnTo>
                <a:lnTo>
                  <a:pt x="145668" y="62229"/>
                </a:lnTo>
                <a:lnTo>
                  <a:pt x="176783" y="91948"/>
                </a:lnTo>
                <a:lnTo>
                  <a:pt x="206501" y="133603"/>
                </a:lnTo>
                <a:lnTo>
                  <a:pt x="225043" y="167131"/>
                </a:lnTo>
                <a:lnTo>
                  <a:pt x="242315" y="205231"/>
                </a:lnTo>
                <a:lnTo>
                  <a:pt x="258190" y="247268"/>
                </a:lnTo>
                <a:lnTo>
                  <a:pt x="272414" y="293242"/>
                </a:lnTo>
                <a:lnTo>
                  <a:pt x="284733" y="342518"/>
                </a:lnTo>
                <a:lnTo>
                  <a:pt x="295275" y="394842"/>
                </a:lnTo>
                <a:lnTo>
                  <a:pt x="303529" y="450088"/>
                </a:lnTo>
                <a:lnTo>
                  <a:pt x="309625" y="507618"/>
                </a:lnTo>
                <a:lnTo>
                  <a:pt x="313436" y="567308"/>
                </a:lnTo>
                <a:lnTo>
                  <a:pt x="314705" y="628776"/>
                </a:lnTo>
                <a:lnTo>
                  <a:pt x="314439" y="660145"/>
                </a:lnTo>
                <a:lnTo>
                  <a:pt x="311784" y="720470"/>
                </a:lnTo>
                <a:lnTo>
                  <a:pt x="306831" y="779271"/>
                </a:lnTo>
                <a:lnTo>
                  <a:pt x="299592" y="835659"/>
                </a:lnTo>
                <a:lnTo>
                  <a:pt x="290194" y="889507"/>
                </a:lnTo>
                <a:lnTo>
                  <a:pt x="278638" y="940307"/>
                </a:lnTo>
                <a:lnTo>
                  <a:pt x="265429" y="987932"/>
                </a:lnTo>
                <a:lnTo>
                  <a:pt x="250316" y="1032128"/>
                </a:lnTo>
                <a:lnTo>
                  <a:pt x="233552" y="1072260"/>
                </a:lnTo>
                <a:lnTo>
                  <a:pt x="215518" y="1108328"/>
                </a:lnTo>
                <a:lnTo>
                  <a:pt x="186181" y="1153667"/>
                </a:lnTo>
                <a:lnTo>
                  <a:pt x="185312" y="1154733"/>
                </a:lnTo>
                <a:lnTo>
                  <a:pt x="185978" y="1159645"/>
                </a:lnTo>
                <a:lnTo>
                  <a:pt x="186562" y="1159509"/>
                </a:lnTo>
                <a:lnTo>
                  <a:pt x="228795" y="1159509"/>
                </a:lnTo>
                <a:lnTo>
                  <a:pt x="239013" y="1143761"/>
                </a:lnTo>
                <a:lnTo>
                  <a:pt x="259079" y="1107313"/>
                </a:lnTo>
                <a:lnTo>
                  <a:pt x="277621" y="1066799"/>
                </a:lnTo>
                <a:lnTo>
                  <a:pt x="294258" y="1022349"/>
                </a:lnTo>
                <a:lnTo>
                  <a:pt x="309117" y="974343"/>
                </a:lnTo>
                <a:lnTo>
                  <a:pt x="321944" y="923289"/>
                </a:lnTo>
                <a:lnTo>
                  <a:pt x="332739" y="868933"/>
                </a:lnTo>
                <a:lnTo>
                  <a:pt x="341375" y="812164"/>
                </a:lnTo>
                <a:lnTo>
                  <a:pt x="347599" y="752855"/>
                </a:lnTo>
                <a:lnTo>
                  <a:pt x="351408" y="691641"/>
                </a:lnTo>
                <a:lnTo>
                  <a:pt x="352805" y="628522"/>
                </a:lnTo>
                <a:lnTo>
                  <a:pt x="352551" y="596645"/>
                </a:lnTo>
                <a:lnTo>
                  <a:pt x="349757" y="534415"/>
                </a:lnTo>
                <a:lnTo>
                  <a:pt x="344804" y="474090"/>
                </a:lnTo>
                <a:lnTo>
                  <a:pt x="337184" y="416051"/>
                </a:lnTo>
                <a:lnTo>
                  <a:pt x="327532" y="360425"/>
                </a:lnTo>
                <a:lnTo>
                  <a:pt x="315594" y="307848"/>
                </a:lnTo>
                <a:lnTo>
                  <a:pt x="301751" y="258063"/>
                </a:lnTo>
                <a:lnTo>
                  <a:pt x="285876" y="211708"/>
                </a:lnTo>
                <a:lnTo>
                  <a:pt x="268224" y="169290"/>
                </a:lnTo>
                <a:lnTo>
                  <a:pt x="248919" y="130682"/>
                </a:lnTo>
                <a:lnTo>
                  <a:pt x="227711" y="96265"/>
                </a:lnTo>
                <a:lnTo>
                  <a:pt x="192786" y="53212"/>
                </a:lnTo>
                <a:lnTo>
                  <a:pt x="153796" y="21716"/>
                </a:lnTo>
                <a:lnTo>
                  <a:pt x="110616" y="3428"/>
                </a:lnTo>
                <a:lnTo>
                  <a:pt x="95376" y="762"/>
                </a:lnTo>
                <a:lnTo>
                  <a:pt x="8242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392417" y="2722626"/>
            <a:ext cx="1766570" cy="559435"/>
          </a:xfrm>
          <a:custGeom>
            <a:avLst/>
            <a:gdLst/>
            <a:ahLst/>
            <a:cxnLst/>
            <a:rect l="l" t="t" r="r" b="b"/>
            <a:pathLst>
              <a:path w="1766570" h="559435">
                <a:moveTo>
                  <a:pt x="0" y="559308"/>
                </a:moveTo>
                <a:lnTo>
                  <a:pt x="1766315" y="559308"/>
                </a:lnTo>
                <a:lnTo>
                  <a:pt x="1766315" y="0"/>
                </a:lnTo>
                <a:lnTo>
                  <a:pt x="0" y="0"/>
                </a:lnTo>
                <a:lnTo>
                  <a:pt x="0" y="55930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493002" y="2786633"/>
            <a:ext cx="1572895" cy="431800"/>
          </a:xfrm>
          <a:prstGeom prst="rect">
            <a:avLst/>
          </a:prstGeom>
          <a:solidFill>
            <a:srgbClr val="FF00FF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9865">
              <a:lnSpc>
                <a:spcPts val="276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91936" y="2515311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214365" y="2941320"/>
            <a:ext cx="1178560" cy="114300"/>
          </a:xfrm>
          <a:custGeom>
            <a:avLst/>
            <a:gdLst/>
            <a:ahLst/>
            <a:cxnLst/>
            <a:rect l="l" t="t" r="r" b="b"/>
            <a:pathLst>
              <a:path w="1178560" h="114300">
                <a:moveTo>
                  <a:pt x="987551" y="0"/>
                </a:moveTo>
                <a:lnTo>
                  <a:pt x="987551" y="114300"/>
                </a:lnTo>
                <a:lnTo>
                  <a:pt x="1114552" y="76200"/>
                </a:lnTo>
                <a:lnTo>
                  <a:pt x="1006601" y="76200"/>
                </a:lnTo>
                <a:lnTo>
                  <a:pt x="1006601" y="38100"/>
                </a:lnTo>
                <a:lnTo>
                  <a:pt x="1114552" y="38100"/>
                </a:lnTo>
                <a:lnTo>
                  <a:pt x="987551" y="0"/>
                </a:lnTo>
                <a:close/>
              </a:path>
              <a:path w="1178560" h="114300">
                <a:moveTo>
                  <a:pt x="98755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87551" y="76200"/>
                </a:lnTo>
                <a:lnTo>
                  <a:pt x="987551" y="38100"/>
                </a:lnTo>
                <a:close/>
              </a:path>
              <a:path w="1178560" h="114300">
                <a:moveTo>
                  <a:pt x="1114552" y="38100"/>
                </a:moveTo>
                <a:lnTo>
                  <a:pt x="1006601" y="38100"/>
                </a:lnTo>
                <a:lnTo>
                  <a:pt x="1006601" y="76200"/>
                </a:lnTo>
                <a:lnTo>
                  <a:pt x="1114552" y="76200"/>
                </a:lnTo>
                <a:lnTo>
                  <a:pt x="1178052" y="57150"/>
                </a:lnTo>
                <a:lnTo>
                  <a:pt x="11145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782559" y="2294077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66FF99"/>
                </a:solidFill>
                <a:latin typeface="Times New Roman"/>
                <a:cs typeface="Times New Roman"/>
              </a:rPr>
              <a:t>5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00633" y="3687317"/>
            <a:ext cx="1767839" cy="15240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algn="just" marL="177800" marR="307340" indent="27305">
              <a:lnSpc>
                <a:spcPct val="93400"/>
              </a:lnSpc>
              <a:spcBef>
                <a:spcPts val="129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4666" y="1725244"/>
            <a:ext cx="497586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0805" algn="l"/>
              </a:tabLst>
            </a:pPr>
            <a:r>
              <a:rPr dirty="0" sz="3600" spc="-5">
                <a:solidFill>
                  <a:srgbClr val="FFFF99"/>
                </a:solidFill>
                <a:latin typeface="Times New Roman"/>
                <a:cs typeface="Times New Roman"/>
              </a:rPr>
              <a:t>5.6.1	</a:t>
            </a:r>
            <a:r>
              <a:rPr dirty="0" sz="3400" spc="-5">
                <a:solidFill>
                  <a:srgbClr val="FFFF99"/>
                </a:solidFill>
                <a:latin typeface="Times New Roman"/>
                <a:cs typeface="Times New Roman"/>
              </a:rPr>
              <a:t>SLR(</a:t>
            </a:r>
            <a:r>
              <a:rPr dirty="0" sz="3400" spc="-3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400" spc="-5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3400" spc="-2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FFFF99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99"/>
                </a:solidFill>
              </a:rPr>
              <a:t>分析的缺陷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2524" y="2795778"/>
            <a:ext cx="6408420" cy="271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60805" indent="-1348740">
              <a:lnSpc>
                <a:spcPct val="100000"/>
              </a:lnSpc>
              <a:spcBef>
                <a:spcPts val="100"/>
              </a:spcBef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99"/>
                </a:solidFill>
                <a:latin typeface="Times New Roman"/>
                <a:cs typeface="Times New Roman"/>
              </a:rPr>
              <a:t>LR(1)</a:t>
            </a:r>
            <a:r>
              <a:rPr dirty="0" sz="3400" spc="-10" b="1">
                <a:solidFill>
                  <a:srgbClr val="FFFF99"/>
                </a:solidFill>
                <a:latin typeface="宋体"/>
                <a:cs typeface="宋体"/>
              </a:rPr>
              <a:t>分析的实现思想</a:t>
            </a:r>
            <a:endParaRPr sz="34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60805" indent="-1348740">
              <a:lnSpc>
                <a:spcPct val="100000"/>
              </a:lnSpc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400" spc="-10" b="1">
                <a:solidFill>
                  <a:srgbClr val="FFFFFF"/>
                </a:solidFill>
                <a:latin typeface="宋体"/>
                <a:cs typeface="宋体"/>
              </a:rPr>
              <a:t>项目集规范族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的构造</a:t>
            </a:r>
            <a:endParaRPr sz="32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60805" indent="-1348740">
              <a:lnSpc>
                <a:spcPct val="100000"/>
              </a:lnSpc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33294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677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22869" y="3975353"/>
            <a:ext cx="1371600" cy="536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22869" y="3975353"/>
            <a:ext cx="1371600" cy="536575"/>
          </a:xfrm>
          <a:custGeom>
            <a:avLst/>
            <a:gdLst/>
            <a:ahLst/>
            <a:cxnLst/>
            <a:rect l="l" t="t" r="r" b="b"/>
            <a:pathLst>
              <a:path w="1371600" h="536575">
                <a:moveTo>
                  <a:pt x="0" y="268224"/>
                </a:moveTo>
                <a:lnTo>
                  <a:pt x="342773" y="0"/>
                </a:lnTo>
                <a:lnTo>
                  <a:pt x="342773" y="134112"/>
                </a:lnTo>
                <a:lnTo>
                  <a:pt x="1371600" y="134112"/>
                </a:lnTo>
                <a:lnTo>
                  <a:pt x="1371600" y="402336"/>
                </a:lnTo>
                <a:lnTo>
                  <a:pt x="342773" y="402336"/>
                </a:lnTo>
                <a:lnTo>
                  <a:pt x="342773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706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50285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0820" y="26923"/>
            <a:ext cx="31642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8942" y="1060450"/>
            <a:ext cx="5654040" cy="335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1170" indent="-459105">
              <a:lnSpc>
                <a:spcPct val="100000"/>
              </a:lnSpc>
              <a:spcBef>
                <a:spcPts val="100"/>
              </a:spcBef>
              <a:buClr>
                <a:srgbClr val="66FFFF"/>
              </a:buClr>
              <a:buSzPct val="109722"/>
              <a:buFont typeface="Wingdings"/>
              <a:buChar char=""/>
              <a:tabLst>
                <a:tab pos="471170" algn="l"/>
                <a:tab pos="47180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LR(1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项目集规范</a:t>
            </a:r>
            <a:r>
              <a:rPr dirty="0" sz="3600" b="1">
                <a:solidFill>
                  <a:srgbClr val="FFFF00"/>
                </a:solidFill>
                <a:latin typeface="宋体"/>
                <a:cs typeface="宋体"/>
              </a:rPr>
              <a:t>族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500">
              <a:latin typeface="Times New Roman"/>
              <a:cs typeface="Times New Roman"/>
            </a:endParaRPr>
          </a:p>
          <a:p>
            <a:pPr marL="882015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需要的两个函数</a:t>
            </a:r>
            <a:endParaRPr sz="3200">
              <a:latin typeface="宋体"/>
              <a:cs typeface="宋体"/>
            </a:endParaRPr>
          </a:p>
          <a:p>
            <a:pPr marL="1054100" marR="1160780">
              <a:lnSpc>
                <a:spcPct val="145000"/>
              </a:lnSpc>
              <a:spcBef>
                <a:spcPts val="166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：函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closure(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;  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3200" spc="76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706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50285" y="26923"/>
            <a:ext cx="54044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980" algn="l"/>
                <a:tab pos="295084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9740" y="446658"/>
            <a:ext cx="1816100" cy="708025"/>
          </a:xfrm>
          <a:prstGeom prst="rect"/>
        </p:spPr>
        <p:txBody>
          <a:bodyPr wrap="square" lIns="0" tIns="174625" rIns="0" bIns="0" rtlCol="0" vert="horz">
            <a:spAutoFit/>
          </a:bodyPr>
          <a:lstStyle/>
          <a:p>
            <a:pPr marL="476250" indent="-464184">
              <a:lnSpc>
                <a:spcPct val="100000"/>
              </a:lnSpc>
              <a:spcBef>
                <a:spcPts val="1375"/>
              </a:spcBef>
              <a:buClr>
                <a:srgbClr val="99FF99"/>
              </a:buClr>
              <a:buSzPct val="139062"/>
              <a:buFont typeface="Wingdings"/>
              <a:buChar char=""/>
              <a:tabLst>
                <a:tab pos="476884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8" y="1091690"/>
            <a:ext cx="7796530" cy="531876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closure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455930">
              <a:lnSpc>
                <a:spcPct val="100000"/>
              </a:lnSpc>
              <a:spcBef>
                <a:spcPts val="335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do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 marR="5080" indent="888365">
              <a:lnSpc>
                <a:spcPct val="123400"/>
              </a:lnSpc>
              <a:spcBef>
                <a:spcPts val="6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if (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的每个项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 每个产生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950" spc="-25" b="1" i="1">
                <a:solidFill>
                  <a:srgbClr val="66FFFF"/>
                </a:solidFill>
                <a:latin typeface="Symbol"/>
                <a:cs typeface="Symbol"/>
              </a:rPr>
              <a:t></a:t>
            </a:r>
            <a:r>
              <a:rPr dirty="0" sz="2800" spc="-2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的每个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→•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不在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[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→•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γ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加到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189230" marR="979169" indent="711835">
              <a:lnSpc>
                <a:spcPct val="129000"/>
              </a:lnSpc>
              <a:spcBef>
                <a:spcPts val="35"/>
              </a:spcBef>
              <a:tabLst>
                <a:tab pos="134937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while</a:t>
            </a:r>
            <a:r>
              <a:rPr dirty="0" sz="2800" spc="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没有更多的项目可以加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6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  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return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9000" y="777240"/>
            <a:ext cx="5562600" cy="1120140"/>
          </a:xfrm>
          <a:prstGeom prst="rect">
            <a:avLst/>
          </a:prstGeom>
          <a:solidFill>
            <a:srgbClr val="FFFF99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164465">
              <a:lnSpc>
                <a:spcPts val="3665"/>
              </a:lnSpc>
            </a:pPr>
            <a:r>
              <a:rPr dirty="0" sz="3200" b="1">
                <a:latin typeface="Times New Roman"/>
                <a:cs typeface="Times New Roman"/>
              </a:rPr>
              <a:t>*</a:t>
            </a:r>
            <a:r>
              <a:rPr dirty="0" sz="3200" spc="-5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宋体"/>
                <a:cs typeface="宋体"/>
              </a:rPr>
              <a:t>注意：待约项目扩展的项目</a:t>
            </a:r>
            <a:endParaRPr sz="3200">
              <a:latin typeface="宋体"/>
              <a:cs typeface="宋体"/>
            </a:endParaRPr>
          </a:p>
          <a:p>
            <a:pPr algn="ctr" marL="528955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latin typeface="宋体"/>
                <a:cs typeface="宋体"/>
              </a:rPr>
              <a:t>的搜索符的求法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706" y="26923"/>
            <a:ext cx="7578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4426585" algn="l"/>
                <a:tab pos="512445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640" y="443610"/>
            <a:ext cx="2069464" cy="1033780"/>
          </a:xfrm>
          <a:prstGeom prst="rect"/>
        </p:spPr>
        <p:txBody>
          <a:bodyPr wrap="square" lIns="0" tIns="113664" rIns="0" bIns="0" rtlCol="0" vert="horz">
            <a:spAutoFit/>
          </a:bodyPr>
          <a:lstStyle/>
          <a:p>
            <a:pPr marL="215265" marR="5080" indent="-203200">
              <a:lnSpc>
                <a:spcPts val="3610"/>
              </a:lnSpc>
              <a:spcBef>
                <a:spcPts val="894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5.8 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66FFFF"/>
                </a:solidFill>
                <a:latin typeface="Times New Roman"/>
                <a:cs typeface="Times New Roman"/>
              </a:rPr>
              <a:t>GO 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( </a:t>
            </a:r>
            <a:r>
              <a:rPr dirty="0" sz="3200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, </a:t>
            </a:r>
            <a:r>
              <a:rPr dirty="0" sz="3200" i="1">
                <a:solidFill>
                  <a:srgbClr val="66FFFF"/>
                </a:solidFill>
                <a:latin typeface="Times New Roman"/>
                <a:cs typeface="Times New Roman"/>
              </a:rPr>
              <a:t>X</a:t>
            </a:r>
            <a:r>
              <a:rPr dirty="0" sz="3200" spc="-125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00" y="4108703"/>
            <a:ext cx="8801100" cy="2389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1140" y="1328298"/>
            <a:ext cx="8263890" cy="516128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609600">
              <a:lnSpc>
                <a:spcPct val="100000"/>
              </a:lnSpc>
              <a:spcBef>
                <a:spcPts val="88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  <a:p>
            <a:pPr marL="1219835" marR="249554" indent="-102235">
              <a:lnSpc>
                <a:spcPts val="4800"/>
              </a:lnSpc>
              <a:spcBef>
                <a:spcPts val="355"/>
              </a:spcBef>
              <a:tabLst>
                <a:tab pos="264795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令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{[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]|[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Xβ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; 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return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closure(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);</a:t>
            </a:r>
            <a:endParaRPr sz="3200">
              <a:latin typeface="Times New Roman"/>
              <a:cs typeface="Times New Roman"/>
            </a:endParaRPr>
          </a:p>
          <a:p>
            <a:pPr marL="609600">
              <a:lnSpc>
                <a:spcPts val="3704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latin typeface="Times New Roman"/>
                <a:cs typeface="Times New Roman"/>
              </a:rPr>
              <a:t>LR(1)</a:t>
            </a:r>
            <a:r>
              <a:rPr dirty="0" sz="3200" spc="-5" b="1">
                <a:latin typeface="宋体"/>
                <a:cs typeface="宋体"/>
              </a:rPr>
              <a:t>项目集</a:t>
            </a:r>
            <a:r>
              <a:rPr dirty="0" sz="3200" b="1" i="1">
                <a:latin typeface="Times New Roman"/>
                <a:cs typeface="Times New Roman"/>
              </a:rPr>
              <a:t>I</a:t>
            </a:r>
            <a:r>
              <a:rPr dirty="0" sz="3200" b="1">
                <a:latin typeface="宋体"/>
                <a:cs typeface="宋体"/>
              </a:rPr>
              <a:t>的</a:t>
            </a:r>
            <a:r>
              <a:rPr dirty="0" sz="3200" b="1">
                <a:latin typeface="Times New Roman"/>
                <a:cs typeface="Times New Roman"/>
              </a:rPr>
              <a:t>GO</a:t>
            </a:r>
            <a:r>
              <a:rPr dirty="0" sz="3200" spc="-10" b="1">
                <a:latin typeface="宋体"/>
                <a:cs typeface="宋体"/>
              </a:rPr>
              <a:t>函数</a:t>
            </a:r>
            <a:r>
              <a:rPr dirty="0" sz="3200" spc="-5" b="1">
                <a:latin typeface="宋体"/>
                <a:cs typeface="宋体"/>
              </a:rPr>
              <a:t>：</a:t>
            </a:r>
            <a:r>
              <a:rPr dirty="0" sz="3200" spc="-5" b="1">
                <a:latin typeface="Times New Roman"/>
                <a:cs typeface="Times New Roman"/>
              </a:rPr>
              <a:t>GO(</a:t>
            </a: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Times New Roman"/>
                <a:cs typeface="Times New Roman"/>
              </a:rPr>
              <a:t>,</a:t>
            </a:r>
            <a:r>
              <a:rPr dirty="0" sz="3200" spc="-30" b="1">
                <a:latin typeface="Times New Roman"/>
                <a:cs typeface="Times New Roman"/>
              </a:rPr>
              <a:t> </a:t>
            </a:r>
            <a:r>
              <a:rPr dirty="0" sz="3200" b="1" i="1">
                <a:latin typeface="Times New Roman"/>
                <a:cs typeface="Times New Roman"/>
              </a:rPr>
              <a:t>X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是</a:t>
            </a:r>
            <a:r>
              <a:rPr dirty="0" sz="3200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宋体"/>
                <a:cs typeface="宋体"/>
              </a:rPr>
              <a:t>中</a:t>
            </a:r>
            <a:r>
              <a:rPr dirty="0" sz="3200" b="1">
                <a:latin typeface="Times New Roman"/>
                <a:cs typeface="Times New Roman"/>
              </a:rPr>
              <a:t>LR(0)</a:t>
            </a:r>
            <a:endParaRPr sz="3200">
              <a:latin typeface="Times New Roman"/>
              <a:cs typeface="Times New Roman"/>
            </a:endParaRPr>
          </a:p>
          <a:p>
            <a:pPr algn="just" marL="12700" marR="894080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latin typeface="宋体"/>
                <a:cs typeface="宋体"/>
              </a:rPr>
              <a:t>的项目圆点右移一个位置的</a:t>
            </a:r>
            <a:r>
              <a:rPr dirty="0" sz="3200" spc="-15" b="1">
                <a:latin typeface="宋体"/>
                <a:cs typeface="宋体"/>
              </a:rPr>
              <a:t>项</a:t>
            </a:r>
            <a:r>
              <a:rPr dirty="0" sz="3200" b="1">
                <a:latin typeface="宋体"/>
                <a:cs typeface="宋体"/>
              </a:rPr>
              <a:t>目且</a:t>
            </a:r>
            <a:r>
              <a:rPr dirty="0" sz="3200" spc="-15" b="1">
                <a:latin typeface="宋体"/>
                <a:cs typeface="宋体"/>
              </a:rPr>
              <a:t>搜</a:t>
            </a:r>
            <a:r>
              <a:rPr dirty="0" sz="3200" b="1">
                <a:latin typeface="宋体"/>
                <a:cs typeface="宋体"/>
              </a:rPr>
              <a:t>索符 不变，加入的项目若是待约</a:t>
            </a:r>
            <a:r>
              <a:rPr dirty="0" sz="3200" spc="-15" b="1">
                <a:latin typeface="宋体"/>
                <a:cs typeface="宋体"/>
              </a:rPr>
              <a:t>项</a:t>
            </a:r>
            <a:r>
              <a:rPr dirty="0" sz="3200" b="1">
                <a:latin typeface="宋体"/>
                <a:cs typeface="宋体"/>
              </a:rPr>
              <a:t>目则</a:t>
            </a:r>
            <a:r>
              <a:rPr dirty="0" sz="3200" spc="-15" b="1">
                <a:latin typeface="宋体"/>
                <a:cs typeface="宋体"/>
              </a:rPr>
              <a:t>对</a:t>
            </a:r>
            <a:r>
              <a:rPr dirty="0" sz="3200" b="1">
                <a:latin typeface="宋体"/>
                <a:cs typeface="宋体"/>
              </a:rPr>
              <a:t>该项 </a:t>
            </a:r>
            <a:r>
              <a:rPr dirty="0" sz="3200" b="1">
                <a:latin typeface="宋体"/>
                <a:cs typeface="宋体"/>
              </a:rPr>
              <a:t>目求</a:t>
            </a:r>
            <a:r>
              <a:rPr dirty="0" sz="3200" spc="-10" b="1">
                <a:latin typeface="Times New Roman"/>
                <a:cs typeface="Times New Roman"/>
              </a:rPr>
              <a:t>closure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706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50285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0820" y="26923"/>
            <a:ext cx="31642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89067" y="1217498"/>
            <a:ext cx="31972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//LR(1)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142" y="422221"/>
            <a:ext cx="1823085" cy="191770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15265" marR="5080" indent="-203200">
              <a:lnSpc>
                <a:spcPct val="125000"/>
              </a:lnSpc>
              <a:spcBef>
                <a:spcPts val="60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5.9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items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3200" spc="10" b="1">
                <a:solidFill>
                  <a:srgbClr val="66FFFF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1733" y="2436952"/>
            <a:ext cx="147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//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初始化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050" y="2316756"/>
            <a:ext cx="7267575" cy="36817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60625">
              <a:lnSpc>
                <a:spcPct val="124800"/>
              </a:lnSpc>
              <a:spcBef>
                <a:spcPts val="100"/>
              </a:spcBef>
              <a:tabLst>
                <a:tab pos="644525" algn="l"/>
                <a:tab pos="395986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closure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→•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	# }</a:t>
            </a:r>
            <a:r>
              <a:rPr dirty="0" sz="32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); 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do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969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的每个项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和每个文法符号</a:t>
            </a:r>
            <a:endParaRPr sz="3200">
              <a:latin typeface="宋体"/>
              <a:cs typeface="宋体"/>
            </a:endParaRPr>
          </a:p>
          <a:p>
            <a:pPr marL="1637030" marR="1056640" indent="-812800">
              <a:lnSpc>
                <a:spcPct val="125000"/>
              </a:lnSpc>
              <a:spcBef>
                <a:spcPts val="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非空且不在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加入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;</a:t>
            </a:r>
            <a:endParaRPr sz="3200">
              <a:latin typeface="宋体"/>
              <a:cs typeface="宋体"/>
            </a:endParaRPr>
          </a:p>
          <a:p>
            <a:pPr marL="722630">
              <a:lnSpc>
                <a:spcPct val="100000"/>
              </a:lnSpc>
              <a:spcBef>
                <a:spcPts val="9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没有更多的项目集可以加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7250" y="6094272"/>
            <a:ext cx="1860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706" y="26923"/>
            <a:ext cx="7578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4426585" algn="l"/>
                <a:tab pos="512445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5142" y="547242"/>
            <a:ext cx="190627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’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07909" y="2436952"/>
            <a:ext cx="14770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//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初始化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142" y="1097428"/>
            <a:ext cx="6770370" cy="246253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构造识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别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项</a:t>
            </a:r>
            <a:r>
              <a:rPr dirty="0" sz="3200" spc="5" b="1">
                <a:solidFill>
                  <a:srgbClr val="66FFFF"/>
                </a:solidFill>
                <a:latin typeface="宋体"/>
                <a:cs typeface="宋体"/>
              </a:rPr>
              <a:t>目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有效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活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前缀</a:t>
            </a:r>
            <a:r>
              <a:rPr dirty="0" sz="3200" spc="15" b="1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dirty="0" sz="3200" spc="-85" b="1">
                <a:solidFill>
                  <a:srgbClr val="66FFFF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  <a:p>
            <a:pPr marL="419100" marR="911225">
              <a:lnSpc>
                <a:spcPct val="124800"/>
              </a:lnSpc>
              <a:spcBef>
                <a:spcPts val="20"/>
              </a:spcBef>
              <a:tabLst>
                <a:tab pos="105156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初态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0=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closure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→•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#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); 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do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250" y="3534938"/>
            <a:ext cx="7544434" cy="30734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algn="ctr" marL="519430">
              <a:lnSpc>
                <a:spcPct val="100000"/>
              </a:lnSpc>
              <a:spcBef>
                <a:spcPts val="1060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对每个状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和每个文法符号</a:t>
            </a:r>
            <a:endParaRPr sz="3200">
              <a:latin typeface="宋体"/>
              <a:cs typeface="宋体"/>
            </a:endParaRPr>
          </a:p>
          <a:p>
            <a:pPr algn="ctr" marL="1103630">
              <a:lnSpc>
                <a:spcPct val="100000"/>
              </a:lnSpc>
              <a:spcBef>
                <a:spcPts val="9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非空且不在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algn="ctr" marL="816610">
              <a:lnSpc>
                <a:spcPct val="100000"/>
              </a:lnSpc>
              <a:spcBef>
                <a:spcPts val="96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加入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中且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;</a:t>
            </a:r>
            <a:endParaRPr sz="3200">
              <a:latin typeface="宋体"/>
              <a:cs typeface="宋体"/>
            </a:endParaRPr>
          </a:p>
          <a:p>
            <a:pPr algn="ctr" marL="1014730">
              <a:lnSpc>
                <a:spcPct val="100000"/>
              </a:lnSpc>
              <a:spcBef>
                <a:spcPts val="9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没有更多的状态可以加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);</a:t>
            </a:r>
            <a:endParaRPr sz="2800">
              <a:latin typeface="Times New Roman"/>
              <a:cs typeface="Times New Roman"/>
            </a:endParaRPr>
          </a:p>
          <a:p>
            <a:pPr algn="ctr" marR="7350125">
              <a:lnSpc>
                <a:spcPct val="100000"/>
              </a:lnSpc>
              <a:spcBef>
                <a:spcPts val="96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706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0285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0820" y="26923"/>
            <a:ext cx="31642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LR(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项目集族的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743" y="814273"/>
            <a:ext cx="11480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5.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1566" y="668276"/>
            <a:ext cx="2289175" cy="3830954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821690">
              <a:lnSpc>
                <a:spcPct val="100000"/>
              </a:lnSpc>
              <a:spcBef>
                <a:spcPts val="125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1155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1150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1155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1150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1155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743" y="4619371"/>
            <a:ext cx="71774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构造识别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效活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654" y="877061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905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 marR="199390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>
              <a:lnSpc>
                <a:spcPts val="3629"/>
              </a:lnSpc>
            </a:pPr>
            <a:r>
              <a:rPr dirty="0" sz="3200" spc="3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3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3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3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3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35" b="1">
                <a:solidFill>
                  <a:srgbClr val="FFFF99"/>
                </a:solidFill>
                <a:latin typeface="宋体"/>
                <a:cs typeface="宋体"/>
              </a:rPr>
              <a:t>＝</a:t>
            </a:r>
            <a:r>
              <a:rPr dirty="0" baseline="4340" sz="4800" spc="52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baseline="4340" sz="4800" spc="52" b="1">
                <a:solidFill>
                  <a:srgbClr val="66FFFF"/>
                </a:solidFill>
                <a:latin typeface="Times New Roman"/>
                <a:cs typeface="Times New Roman"/>
              </a:rPr>
              <a:t>#</a:t>
            </a:r>
            <a:endParaRPr baseline="4340" sz="4800">
              <a:latin typeface="Times New Roman"/>
              <a:cs typeface="Times New Roman"/>
            </a:endParaRPr>
          </a:p>
          <a:p>
            <a:pPr marL="90805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baseline="4340" sz="4800" spc="-7" b="1">
                <a:solidFill>
                  <a:srgbClr val="66FFFF"/>
                </a:solidFill>
                <a:latin typeface="Times New Roman"/>
                <a:cs typeface="Times New Roman"/>
              </a:rPr>
              <a:t>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39364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1053" y="546354"/>
            <a:ext cx="20332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4461" y="8199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934583" y="46710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2202" y="1584451"/>
            <a:ext cx="1849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34461" y="1632204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41675" y="390906"/>
            <a:ext cx="378460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61053" y="1157477"/>
            <a:ext cx="2476500" cy="948055"/>
          </a:xfrm>
          <a:custGeom>
            <a:avLst/>
            <a:gdLst/>
            <a:ahLst/>
            <a:cxnLst/>
            <a:rect l="l" t="t" r="r" b="b"/>
            <a:pathLst>
              <a:path w="2476500" h="948055">
                <a:moveTo>
                  <a:pt x="0" y="947927"/>
                </a:moveTo>
                <a:lnTo>
                  <a:pt x="2476500" y="947927"/>
                </a:lnTo>
                <a:lnTo>
                  <a:pt x="2476500" y="0"/>
                </a:lnTo>
                <a:lnTo>
                  <a:pt x="0" y="0"/>
                </a:lnTo>
                <a:lnTo>
                  <a:pt x="0" y="9479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876802" y="1121156"/>
            <a:ext cx="275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909" sz="4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baseline="-26909" sz="4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1053" y="2334005"/>
            <a:ext cx="19951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334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34461" y="2572511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1" y="0"/>
                </a:moveTo>
                <a:lnTo>
                  <a:pt x="774191" y="114300"/>
                </a:lnTo>
                <a:lnTo>
                  <a:pt x="850391" y="76200"/>
                </a:lnTo>
                <a:lnTo>
                  <a:pt x="793241" y="76200"/>
                </a:lnTo>
                <a:lnTo>
                  <a:pt x="793241" y="38100"/>
                </a:lnTo>
                <a:lnTo>
                  <a:pt x="850391" y="38100"/>
                </a:lnTo>
                <a:lnTo>
                  <a:pt x="774191" y="0"/>
                </a:lnTo>
                <a:close/>
              </a:path>
              <a:path w="889000" h="114300">
                <a:moveTo>
                  <a:pt x="7741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1" y="76200"/>
                </a:lnTo>
                <a:lnTo>
                  <a:pt x="774191" y="38100"/>
                </a:lnTo>
                <a:close/>
              </a:path>
              <a:path w="889000" h="114300">
                <a:moveTo>
                  <a:pt x="850391" y="38100"/>
                </a:moveTo>
                <a:lnTo>
                  <a:pt x="793241" y="38100"/>
                </a:lnTo>
                <a:lnTo>
                  <a:pt x="793241" y="76200"/>
                </a:lnTo>
                <a:lnTo>
                  <a:pt x="850391" y="76200"/>
                </a:lnTo>
                <a:lnTo>
                  <a:pt x="888491" y="57150"/>
                </a:lnTo>
                <a:lnTo>
                  <a:pt x="8503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197098" y="2155063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08928" y="22678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76547" y="5203037"/>
            <a:ext cx="2474595" cy="146240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 indent="25400">
              <a:lnSpc>
                <a:spcPct val="97200"/>
              </a:lnSpc>
              <a:spcBef>
                <a:spcPts val="21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22953" y="4728209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7"/>
                </a:moveTo>
                <a:lnTo>
                  <a:pt x="2781300" y="1915667"/>
                </a:lnTo>
                <a:lnTo>
                  <a:pt x="2781300" y="0"/>
                </a:lnTo>
                <a:lnTo>
                  <a:pt x="0" y="0"/>
                </a:lnTo>
                <a:lnTo>
                  <a:pt x="0" y="191566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626732" y="5170423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4162" y="4271009"/>
            <a:ext cx="240030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55419" y="3786378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2"/>
                </a:moveTo>
                <a:lnTo>
                  <a:pt x="0" y="370332"/>
                </a:lnTo>
                <a:lnTo>
                  <a:pt x="57150" y="484632"/>
                </a:lnTo>
                <a:lnTo>
                  <a:pt x="104775" y="389382"/>
                </a:lnTo>
                <a:lnTo>
                  <a:pt x="38100" y="389382"/>
                </a:lnTo>
                <a:lnTo>
                  <a:pt x="38100" y="370332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2"/>
                </a:lnTo>
                <a:lnTo>
                  <a:pt x="76200" y="389382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2"/>
                </a:moveTo>
                <a:lnTo>
                  <a:pt x="76200" y="370332"/>
                </a:lnTo>
                <a:lnTo>
                  <a:pt x="76200" y="389382"/>
                </a:lnTo>
                <a:lnTo>
                  <a:pt x="104775" y="389382"/>
                </a:lnTo>
                <a:lnTo>
                  <a:pt x="114300" y="3703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90294" y="3746119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46273" y="420331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93306" y="499109"/>
            <a:ext cx="193040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93306" y="1193749"/>
            <a:ext cx="1456690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281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810"/>
              </a:lnSpc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90183" y="877061"/>
            <a:ext cx="512445" cy="297180"/>
          </a:xfrm>
          <a:custGeom>
            <a:avLst/>
            <a:gdLst/>
            <a:ahLst/>
            <a:cxnLst/>
            <a:rect l="l" t="t" r="r" b="b"/>
            <a:pathLst>
              <a:path w="512445" h="297180">
                <a:moveTo>
                  <a:pt x="403100" y="38993"/>
                </a:moveTo>
                <a:lnTo>
                  <a:pt x="0" y="263778"/>
                </a:lnTo>
                <a:lnTo>
                  <a:pt x="18541" y="297052"/>
                </a:lnTo>
                <a:lnTo>
                  <a:pt x="421642" y="72267"/>
                </a:lnTo>
                <a:lnTo>
                  <a:pt x="403100" y="38993"/>
                </a:lnTo>
                <a:close/>
              </a:path>
              <a:path w="512445" h="297180">
                <a:moveTo>
                  <a:pt x="491914" y="29717"/>
                </a:moveTo>
                <a:lnTo>
                  <a:pt x="419735" y="29717"/>
                </a:lnTo>
                <a:lnTo>
                  <a:pt x="438276" y="62991"/>
                </a:lnTo>
                <a:lnTo>
                  <a:pt x="421642" y="72267"/>
                </a:lnTo>
                <a:lnTo>
                  <a:pt x="440182" y="105537"/>
                </a:lnTo>
                <a:lnTo>
                  <a:pt x="491914" y="29717"/>
                </a:lnTo>
                <a:close/>
              </a:path>
              <a:path w="512445" h="297180">
                <a:moveTo>
                  <a:pt x="419735" y="29717"/>
                </a:moveTo>
                <a:lnTo>
                  <a:pt x="403100" y="38993"/>
                </a:lnTo>
                <a:lnTo>
                  <a:pt x="421642" y="72267"/>
                </a:lnTo>
                <a:lnTo>
                  <a:pt x="438276" y="62991"/>
                </a:lnTo>
                <a:lnTo>
                  <a:pt x="419735" y="29717"/>
                </a:lnTo>
                <a:close/>
              </a:path>
              <a:path w="512445" h="297180">
                <a:moveTo>
                  <a:pt x="512190" y="0"/>
                </a:moveTo>
                <a:lnTo>
                  <a:pt x="384556" y="5714"/>
                </a:lnTo>
                <a:lnTo>
                  <a:pt x="403100" y="38993"/>
                </a:lnTo>
                <a:lnTo>
                  <a:pt x="419735" y="29717"/>
                </a:lnTo>
                <a:lnTo>
                  <a:pt x="491914" y="29717"/>
                </a:lnTo>
                <a:lnTo>
                  <a:pt x="5121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417055" y="568274"/>
            <a:ext cx="2578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802373" y="508254"/>
            <a:ext cx="2178050" cy="1430020"/>
          </a:xfrm>
          <a:custGeom>
            <a:avLst/>
            <a:gdLst/>
            <a:ahLst/>
            <a:cxnLst/>
            <a:rect l="l" t="t" r="r" b="b"/>
            <a:pathLst>
              <a:path w="2178050" h="1430020">
                <a:moveTo>
                  <a:pt x="0" y="1429512"/>
                </a:moveTo>
                <a:lnTo>
                  <a:pt x="2177796" y="1429512"/>
                </a:lnTo>
                <a:lnTo>
                  <a:pt x="21777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728836" y="1116583"/>
            <a:ext cx="21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7754" y="5080253"/>
            <a:ext cx="291846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755">
              <a:lnSpc>
                <a:spcPts val="37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9465" y="5944361"/>
            <a:ext cx="256794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922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38245" y="5052822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940" y="5996127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94906" y="2299842"/>
            <a:ext cx="2019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741670" y="4509770"/>
            <a:ext cx="979805" cy="438784"/>
          </a:xfrm>
          <a:custGeom>
            <a:avLst/>
            <a:gdLst/>
            <a:ahLst/>
            <a:cxnLst/>
            <a:rect l="l" t="t" r="r" b="b"/>
            <a:pathLst>
              <a:path w="979804" h="438785">
                <a:moveTo>
                  <a:pt x="943728" y="38099"/>
                </a:moveTo>
                <a:lnTo>
                  <a:pt x="811656" y="38099"/>
                </a:lnTo>
                <a:lnTo>
                  <a:pt x="828801" y="38353"/>
                </a:lnTo>
                <a:lnTo>
                  <a:pt x="844423" y="39115"/>
                </a:lnTo>
                <a:lnTo>
                  <a:pt x="883030" y="46227"/>
                </a:lnTo>
                <a:lnTo>
                  <a:pt x="921765" y="69976"/>
                </a:lnTo>
                <a:lnTo>
                  <a:pt x="939546" y="109854"/>
                </a:lnTo>
                <a:lnTo>
                  <a:pt x="941704" y="130936"/>
                </a:lnTo>
                <a:lnTo>
                  <a:pt x="941624" y="144652"/>
                </a:lnTo>
                <a:lnTo>
                  <a:pt x="935608" y="194944"/>
                </a:lnTo>
                <a:lnTo>
                  <a:pt x="920241" y="255269"/>
                </a:lnTo>
                <a:lnTo>
                  <a:pt x="898398" y="320928"/>
                </a:lnTo>
                <a:lnTo>
                  <a:pt x="872489" y="389762"/>
                </a:lnTo>
                <a:lnTo>
                  <a:pt x="858774" y="424941"/>
                </a:lnTo>
                <a:lnTo>
                  <a:pt x="894333" y="438657"/>
                </a:lnTo>
                <a:lnTo>
                  <a:pt x="921384" y="368553"/>
                </a:lnTo>
                <a:lnTo>
                  <a:pt x="945896" y="299973"/>
                </a:lnTo>
                <a:lnTo>
                  <a:pt x="965580" y="234441"/>
                </a:lnTo>
                <a:lnTo>
                  <a:pt x="975486" y="187959"/>
                </a:lnTo>
                <a:lnTo>
                  <a:pt x="979804" y="144652"/>
                </a:lnTo>
                <a:lnTo>
                  <a:pt x="979804" y="130936"/>
                </a:lnTo>
                <a:lnTo>
                  <a:pt x="974598" y="92201"/>
                </a:lnTo>
                <a:lnTo>
                  <a:pt x="952373" y="47370"/>
                </a:lnTo>
                <a:lnTo>
                  <a:pt x="943728" y="38099"/>
                </a:lnTo>
                <a:close/>
              </a:path>
              <a:path w="979804" h="438785">
                <a:moveTo>
                  <a:pt x="91058" y="138683"/>
                </a:moveTo>
                <a:lnTo>
                  <a:pt x="0" y="228345"/>
                </a:lnTo>
                <a:lnTo>
                  <a:pt x="126364" y="247268"/>
                </a:lnTo>
                <a:lnTo>
                  <a:pt x="116537" y="217042"/>
                </a:lnTo>
                <a:lnTo>
                  <a:pt x="96519" y="217042"/>
                </a:lnTo>
                <a:lnTo>
                  <a:pt x="84708" y="180720"/>
                </a:lnTo>
                <a:lnTo>
                  <a:pt x="102823" y="174866"/>
                </a:lnTo>
                <a:lnTo>
                  <a:pt x="91058" y="138683"/>
                </a:lnTo>
                <a:close/>
              </a:path>
              <a:path w="979804" h="438785">
                <a:moveTo>
                  <a:pt x="102823" y="174866"/>
                </a:moveTo>
                <a:lnTo>
                  <a:pt x="84708" y="180720"/>
                </a:lnTo>
                <a:lnTo>
                  <a:pt x="96519" y="217042"/>
                </a:lnTo>
                <a:lnTo>
                  <a:pt x="114609" y="211113"/>
                </a:lnTo>
                <a:lnTo>
                  <a:pt x="102823" y="174866"/>
                </a:lnTo>
                <a:close/>
              </a:path>
              <a:path w="979804" h="438785">
                <a:moveTo>
                  <a:pt x="114609" y="211113"/>
                </a:moveTo>
                <a:lnTo>
                  <a:pt x="96519" y="217042"/>
                </a:lnTo>
                <a:lnTo>
                  <a:pt x="116537" y="217042"/>
                </a:lnTo>
                <a:lnTo>
                  <a:pt x="114609" y="211113"/>
                </a:lnTo>
                <a:close/>
              </a:path>
              <a:path w="979804" h="438785">
                <a:moveTo>
                  <a:pt x="812164" y="0"/>
                </a:moveTo>
                <a:lnTo>
                  <a:pt x="771525" y="2031"/>
                </a:lnTo>
                <a:lnTo>
                  <a:pt x="726947" y="6857"/>
                </a:lnTo>
                <a:lnTo>
                  <a:pt x="678941" y="14350"/>
                </a:lnTo>
                <a:lnTo>
                  <a:pt x="627506" y="24383"/>
                </a:lnTo>
                <a:lnTo>
                  <a:pt x="573024" y="36575"/>
                </a:lnTo>
                <a:lnTo>
                  <a:pt x="515746" y="50799"/>
                </a:lnTo>
                <a:lnTo>
                  <a:pt x="456056" y="66801"/>
                </a:lnTo>
                <a:lnTo>
                  <a:pt x="394207" y="84327"/>
                </a:lnTo>
                <a:lnTo>
                  <a:pt x="330326" y="103250"/>
                </a:lnTo>
                <a:lnTo>
                  <a:pt x="264921" y="123316"/>
                </a:lnTo>
                <a:lnTo>
                  <a:pt x="102823" y="174866"/>
                </a:lnTo>
                <a:lnTo>
                  <a:pt x="114609" y="211113"/>
                </a:lnTo>
                <a:lnTo>
                  <a:pt x="142239" y="202056"/>
                </a:lnTo>
                <a:lnTo>
                  <a:pt x="276097" y="159638"/>
                </a:lnTo>
                <a:lnTo>
                  <a:pt x="404621" y="121030"/>
                </a:lnTo>
                <a:lnTo>
                  <a:pt x="465963" y="103631"/>
                </a:lnTo>
                <a:lnTo>
                  <a:pt x="525144" y="87756"/>
                </a:lnTo>
                <a:lnTo>
                  <a:pt x="581532" y="73786"/>
                </a:lnTo>
                <a:lnTo>
                  <a:pt x="635126" y="61721"/>
                </a:lnTo>
                <a:lnTo>
                  <a:pt x="685291" y="51942"/>
                </a:lnTo>
                <a:lnTo>
                  <a:pt x="731646" y="44703"/>
                </a:lnTo>
                <a:lnTo>
                  <a:pt x="774064" y="40004"/>
                </a:lnTo>
                <a:lnTo>
                  <a:pt x="811656" y="38099"/>
                </a:lnTo>
                <a:lnTo>
                  <a:pt x="943728" y="38099"/>
                </a:lnTo>
                <a:lnTo>
                  <a:pt x="910081" y="15747"/>
                </a:lnTo>
                <a:lnTo>
                  <a:pt x="865758" y="3428"/>
                </a:lnTo>
                <a:lnTo>
                  <a:pt x="830960" y="253"/>
                </a:lnTo>
                <a:lnTo>
                  <a:pt x="8121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480428" y="409963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716011" y="1937766"/>
            <a:ext cx="114300" cy="396240"/>
          </a:xfrm>
          <a:custGeom>
            <a:avLst/>
            <a:gdLst/>
            <a:ahLst/>
            <a:cxnLst/>
            <a:rect l="l" t="t" r="r" b="b"/>
            <a:pathLst>
              <a:path w="114300" h="396239">
                <a:moveTo>
                  <a:pt x="38100" y="281939"/>
                </a:moveTo>
                <a:lnTo>
                  <a:pt x="0" y="281939"/>
                </a:lnTo>
                <a:lnTo>
                  <a:pt x="57150" y="396239"/>
                </a:lnTo>
                <a:lnTo>
                  <a:pt x="104775" y="300989"/>
                </a:lnTo>
                <a:lnTo>
                  <a:pt x="38100" y="300989"/>
                </a:lnTo>
                <a:lnTo>
                  <a:pt x="38100" y="281939"/>
                </a:lnTo>
                <a:close/>
              </a:path>
              <a:path w="114300" h="396239">
                <a:moveTo>
                  <a:pt x="76200" y="0"/>
                </a:moveTo>
                <a:lnTo>
                  <a:pt x="38100" y="0"/>
                </a:lnTo>
                <a:lnTo>
                  <a:pt x="38100" y="300989"/>
                </a:lnTo>
                <a:lnTo>
                  <a:pt x="76200" y="300989"/>
                </a:lnTo>
                <a:lnTo>
                  <a:pt x="76200" y="0"/>
                </a:lnTo>
                <a:close/>
              </a:path>
              <a:path w="114300" h="396239">
                <a:moveTo>
                  <a:pt x="114300" y="281939"/>
                </a:moveTo>
                <a:lnTo>
                  <a:pt x="76200" y="281939"/>
                </a:lnTo>
                <a:lnTo>
                  <a:pt x="76200" y="300989"/>
                </a:lnTo>
                <a:lnTo>
                  <a:pt x="104775" y="300989"/>
                </a:lnTo>
                <a:lnTo>
                  <a:pt x="114300" y="281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801736" y="1807210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928866" y="2695194"/>
            <a:ext cx="2215515" cy="0"/>
          </a:xfrm>
          <a:custGeom>
            <a:avLst/>
            <a:gdLst/>
            <a:ahLst/>
            <a:cxnLst/>
            <a:rect l="l" t="t" r="r" b="b"/>
            <a:pathLst>
              <a:path w="2215515" h="0">
                <a:moveTo>
                  <a:pt x="0" y="0"/>
                </a:moveTo>
                <a:lnTo>
                  <a:pt x="221513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928866" y="2309622"/>
            <a:ext cx="2215515" cy="386080"/>
          </a:xfrm>
          <a:custGeom>
            <a:avLst/>
            <a:gdLst/>
            <a:ahLst/>
            <a:cxnLst/>
            <a:rect l="l" t="t" r="r" b="b"/>
            <a:pathLst>
              <a:path w="2215515" h="386080">
                <a:moveTo>
                  <a:pt x="2215133" y="0"/>
                </a:moveTo>
                <a:lnTo>
                  <a:pt x="0" y="0"/>
                </a:lnTo>
                <a:lnTo>
                  <a:pt x="0" y="3855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7058659" y="3992371"/>
            <a:ext cx="1469390" cy="1433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979157" y="4001261"/>
            <a:ext cx="1720850" cy="1430020"/>
          </a:xfrm>
          <a:custGeom>
            <a:avLst/>
            <a:gdLst/>
            <a:ahLst/>
            <a:cxnLst/>
            <a:rect l="l" t="t" r="r" b="b"/>
            <a:pathLst>
              <a:path w="1720850" h="1430020">
                <a:moveTo>
                  <a:pt x="0" y="1429512"/>
                </a:moveTo>
                <a:lnTo>
                  <a:pt x="1720596" y="1429512"/>
                </a:lnTo>
                <a:lnTo>
                  <a:pt x="17205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703309" y="4295394"/>
            <a:ext cx="3975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75" b="1">
                <a:solidFill>
                  <a:srgbClr val="66FFFF"/>
                </a:solidFill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04946" y="3869816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923667" y="3770629"/>
            <a:ext cx="1420495" cy="985519"/>
          </a:xfrm>
          <a:custGeom>
            <a:avLst/>
            <a:gdLst/>
            <a:ahLst/>
            <a:cxnLst/>
            <a:rect l="l" t="t" r="r" b="b"/>
            <a:pathLst>
              <a:path w="1420495" h="985520">
                <a:moveTo>
                  <a:pt x="1315461" y="935954"/>
                </a:moveTo>
                <a:lnTo>
                  <a:pt x="1293875" y="967359"/>
                </a:lnTo>
                <a:lnTo>
                  <a:pt x="1420495" y="985012"/>
                </a:lnTo>
                <a:lnTo>
                  <a:pt x="1399363" y="946785"/>
                </a:lnTo>
                <a:lnTo>
                  <a:pt x="1331213" y="946785"/>
                </a:lnTo>
                <a:lnTo>
                  <a:pt x="1315461" y="935954"/>
                </a:lnTo>
                <a:close/>
              </a:path>
              <a:path w="1420495" h="985520">
                <a:moveTo>
                  <a:pt x="1337091" y="904485"/>
                </a:moveTo>
                <a:lnTo>
                  <a:pt x="1315461" y="935954"/>
                </a:lnTo>
                <a:lnTo>
                  <a:pt x="1331213" y="946785"/>
                </a:lnTo>
                <a:lnTo>
                  <a:pt x="1352804" y="915289"/>
                </a:lnTo>
                <a:lnTo>
                  <a:pt x="1337091" y="904485"/>
                </a:lnTo>
                <a:close/>
              </a:path>
              <a:path w="1420495" h="985520">
                <a:moveTo>
                  <a:pt x="1358645" y="873125"/>
                </a:moveTo>
                <a:lnTo>
                  <a:pt x="1337091" y="904485"/>
                </a:lnTo>
                <a:lnTo>
                  <a:pt x="1352804" y="915289"/>
                </a:lnTo>
                <a:lnTo>
                  <a:pt x="1331213" y="946785"/>
                </a:lnTo>
                <a:lnTo>
                  <a:pt x="1399363" y="946785"/>
                </a:lnTo>
                <a:lnTo>
                  <a:pt x="1358645" y="873125"/>
                </a:lnTo>
                <a:close/>
              </a:path>
              <a:path w="1420495" h="985520">
                <a:moveTo>
                  <a:pt x="21589" y="0"/>
                </a:moveTo>
                <a:lnTo>
                  <a:pt x="0" y="31496"/>
                </a:lnTo>
                <a:lnTo>
                  <a:pt x="1315461" y="935954"/>
                </a:lnTo>
                <a:lnTo>
                  <a:pt x="1337091" y="904485"/>
                </a:lnTo>
                <a:lnTo>
                  <a:pt x="215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136773" y="5827267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867405" y="6220967"/>
            <a:ext cx="955675" cy="114300"/>
          </a:xfrm>
          <a:custGeom>
            <a:avLst/>
            <a:gdLst/>
            <a:ahLst/>
            <a:cxnLst/>
            <a:rect l="l" t="t" r="r" b="b"/>
            <a:pathLst>
              <a:path w="95567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5567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55675" h="114300">
                <a:moveTo>
                  <a:pt x="955547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55547" y="76199"/>
                </a:lnTo>
                <a:lnTo>
                  <a:pt x="955547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432047" y="4718761"/>
            <a:ext cx="29444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8680" sz="48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8680" sz="4800" spc="44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227070" y="5081015"/>
            <a:ext cx="596265" cy="114300"/>
          </a:xfrm>
          <a:custGeom>
            <a:avLst/>
            <a:gdLst/>
            <a:ahLst/>
            <a:cxnLst/>
            <a:rect l="l" t="t" r="r" b="b"/>
            <a:pathLst>
              <a:path w="596264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596264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596264" h="114300">
                <a:moveTo>
                  <a:pt x="595883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595883" y="76199"/>
                </a:lnTo>
                <a:lnTo>
                  <a:pt x="595883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422650" y="4258513"/>
            <a:ext cx="1390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934461" y="4648072"/>
            <a:ext cx="890269" cy="127000"/>
          </a:xfrm>
          <a:custGeom>
            <a:avLst/>
            <a:gdLst/>
            <a:ahLst/>
            <a:cxnLst/>
            <a:rect l="l" t="t" r="r" b="b"/>
            <a:pathLst>
              <a:path w="890270" h="127000">
                <a:moveTo>
                  <a:pt x="115272" y="38068"/>
                </a:moveTo>
                <a:lnTo>
                  <a:pt x="112823" y="76041"/>
                </a:lnTo>
                <a:lnTo>
                  <a:pt x="887222" y="126618"/>
                </a:lnTo>
                <a:lnTo>
                  <a:pt x="889762" y="88518"/>
                </a:lnTo>
                <a:lnTo>
                  <a:pt x="115272" y="38068"/>
                </a:lnTo>
                <a:close/>
              </a:path>
              <a:path w="890270" h="127000">
                <a:moveTo>
                  <a:pt x="117729" y="0"/>
                </a:moveTo>
                <a:lnTo>
                  <a:pt x="0" y="49656"/>
                </a:lnTo>
                <a:lnTo>
                  <a:pt x="110362" y="114172"/>
                </a:lnTo>
                <a:lnTo>
                  <a:pt x="112823" y="76041"/>
                </a:lnTo>
                <a:lnTo>
                  <a:pt x="93852" y="74802"/>
                </a:lnTo>
                <a:lnTo>
                  <a:pt x="96265" y="36829"/>
                </a:lnTo>
                <a:lnTo>
                  <a:pt x="115352" y="36829"/>
                </a:lnTo>
                <a:lnTo>
                  <a:pt x="117729" y="0"/>
                </a:lnTo>
                <a:close/>
              </a:path>
              <a:path w="890270" h="127000">
                <a:moveTo>
                  <a:pt x="96265" y="36829"/>
                </a:moveTo>
                <a:lnTo>
                  <a:pt x="93852" y="74802"/>
                </a:lnTo>
                <a:lnTo>
                  <a:pt x="112823" y="76041"/>
                </a:lnTo>
                <a:lnTo>
                  <a:pt x="115272" y="38068"/>
                </a:lnTo>
                <a:lnTo>
                  <a:pt x="96265" y="36829"/>
                </a:lnTo>
                <a:close/>
              </a:path>
              <a:path w="890270" h="127000">
                <a:moveTo>
                  <a:pt x="115352" y="36829"/>
                </a:moveTo>
                <a:lnTo>
                  <a:pt x="96265" y="36829"/>
                </a:lnTo>
                <a:lnTo>
                  <a:pt x="115272" y="38068"/>
                </a:lnTo>
                <a:lnTo>
                  <a:pt x="115352" y="368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198870" y="1642110"/>
            <a:ext cx="603885" cy="1419225"/>
          </a:xfrm>
          <a:custGeom>
            <a:avLst/>
            <a:gdLst/>
            <a:ahLst/>
            <a:cxnLst/>
            <a:rect l="l" t="t" r="r" b="b"/>
            <a:pathLst>
              <a:path w="603884" h="1419225">
                <a:moveTo>
                  <a:pt x="603503" y="0"/>
                </a:moveTo>
                <a:lnTo>
                  <a:pt x="0" y="14188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410961" y="3042411"/>
            <a:ext cx="792480" cy="241935"/>
          </a:xfrm>
          <a:custGeom>
            <a:avLst/>
            <a:gdLst/>
            <a:ahLst/>
            <a:cxnLst/>
            <a:rect l="l" t="t" r="r" b="b"/>
            <a:pathLst>
              <a:path w="792479" h="241935">
                <a:moveTo>
                  <a:pt x="97154" y="130683"/>
                </a:moveTo>
                <a:lnTo>
                  <a:pt x="0" y="213613"/>
                </a:lnTo>
                <a:lnTo>
                  <a:pt x="124713" y="241680"/>
                </a:lnTo>
                <a:lnTo>
                  <a:pt x="116641" y="209168"/>
                </a:lnTo>
                <a:lnTo>
                  <a:pt x="97027" y="209168"/>
                </a:lnTo>
                <a:lnTo>
                  <a:pt x="87884" y="172212"/>
                </a:lnTo>
                <a:lnTo>
                  <a:pt x="106331" y="167643"/>
                </a:lnTo>
                <a:lnTo>
                  <a:pt x="97154" y="130683"/>
                </a:lnTo>
                <a:close/>
              </a:path>
              <a:path w="792479" h="241935">
                <a:moveTo>
                  <a:pt x="106331" y="167643"/>
                </a:moveTo>
                <a:lnTo>
                  <a:pt x="87884" y="172212"/>
                </a:lnTo>
                <a:lnTo>
                  <a:pt x="97027" y="209168"/>
                </a:lnTo>
                <a:lnTo>
                  <a:pt x="115506" y="204596"/>
                </a:lnTo>
                <a:lnTo>
                  <a:pt x="106331" y="167643"/>
                </a:lnTo>
                <a:close/>
              </a:path>
              <a:path w="792479" h="241935">
                <a:moveTo>
                  <a:pt x="115506" y="204596"/>
                </a:moveTo>
                <a:lnTo>
                  <a:pt x="97027" y="209168"/>
                </a:lnTo>
                <a:lnTo>
                  <a:pt x="116641" y="209168"/>
                </a:lnTo>
                <a:lnTo>
                  <a:pt x="115506" y="204596"/>
                </a:lnTo>
                <a:close/>
              </a:path>
              <a:path w="792479" h="241935">
                <a:moveTo>
                  <a:pt x="783336" y="0"/>
                </a:moveTo>
                <a:lnTo>
                  <a:pt x="106331" y="167643"/>
                </a:lnTo>
                <a:lnTo>
                  <a:pt x="115506" y="204596"/>
                </a:lnTo>
                <a:lnTo>
                  <a:pt x="792479" y="37084"/>
                </a:lnTo>
                <a:lnTo>
                  <a:pt x="783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705602" y="2713431"/>
            <a:ext cx="1390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016502" y="3086861"/>
            <a:ext cx="1394460" cy="386080"/>
          </a:xfrm>
          <a:custGeom>
            <a:avLst/>
            <a:gdLst/>
            <a:ahLst/>
            <a:cxnLst/>
            <a:rect l="l" t="t" r="r" b="b"/>
            <a:pathLst>
              <a:path w="1394460" h="386079">
                <a:moveTo>
                  <a:pt x="0" y="385572"/>
                </a:moveTo>
                <a:lnTo>
                  <a:pt x="1394460" y="385572"/>
                </a:lnTo>
                <a:lnTo>
                  <a:pt x="139446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606800" y="2984957"/>
            <a:ext cx="16884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12</a:t>
            </a:r>
            <a:r>
              <a:rPr dirty="0" sz="3200" spc="-2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baseline="2314" sz="3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578858" y="3786378"/>
            <a:ext cx="1758950" cy="355600"/>
          </a:xfrm>
          <a:custGeom>
            <a:avLst/>
            <a:gdLst/>
            <a:ahLst/>
            <a:cxnLst/>
            <a:rect l="l" t="t" r="r" b="b"/>
            <a:pathLst>
              <a:path w="1758950" h="355600">
                <a:moveTo>
                  <a:pt x="0" y="355092"/>
                </a:moveTo>
                <a:lnTo>
                  <a:pt x="1758695" y="355092"/>
                </a:lnTo>
                <a:lnTo>
                  <a:pt x="1758695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7044308" y="3065145"/>
            <a:ext cx="131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989826" y="3124961"/>
            <a:ext cx="1626235" cy="344805"/>
          </a:xfrm>
          <a:custGeom>
            <a:avLst/>
            <a:gdLst/>
            <a:ahLst/>
            <a:cxnLst/>
            <a:rect l="l" t="t" r="r" b="b"/>
            <a:pathLst>
              <a:path w="1626234" h="344804">
                <a:moveTo>
                  <a:pt x="0" y="344424"/>
                </a:moveTo>
                <a:lnTo>
                  <a:pt x="1626107" y="344424"/>
                </a:lnTo>
                <a:lnTo>
                  <a:pt x="162610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8308213" y="2662885"/>
            <a:ext cx="763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10</a:t>
            </a:r>
            <a:r>
              <a:rPr dirty="0" sz="3200" spc="-2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baseline="13888" sz="4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22869" y="3853434"/>
            <a:ext cx="1252220" cy="454025"/>
          </a:xfrm>
          <a:custGeom>
            <a:avLst/>
            <a:gdLst/>
            <a:ahLst/>
            <a:cxnLst/>
            <a:rect l="l" t="t" r="r" b="b"/>
            <a:pathLst>
              <a:path w="1252220" h="454025">
                <a:moveTo>
                  <a:pt x="1251670" y="94107"/>
                </a:moveTo>
                <a:lnTo>
                  <a:pt x="1213484" y="94107"/>
                </a:lnTo>
                <a:lnTo>
                  <a:pt x="1213865" y="97155"/>
                </a:lnTo>
                <a:lnTo>
                  <a:pt x="1204468" y="141097"/>
                </a:lnTo>
                <a:lnTo>
                  <a:pt x="1184655" y="178054"/>
                </a:lnTo>
                <a:lnTo>
                  <a:pt x="1155573" y="219329"/>
                </a:lnTo>
                <a:lnTo>
                  <a:pt x="1118870" y="264033"/>
                </a:lnTo>
                <a:lnTo>
                  <a:pt x="1091183" y="295275"/>
                </a:lnTo>
                <a:lnTo>
                  <a:pt x="1061338" y="327279"/>
                </a:lnTo>
                <a:lnTo>
                  <a:pt x="1029843" y="360172"/>
                </a:lnTo>
                <a:lnTo>
                  <a:pt x="964437" y="427101"/>
                </a:lnTo>
                <a:lnTo>
                  <a:pt x="991615" y="453771"/>
                </a:lnTo>
                <a:lnTo>
                  <a:pt x="1057148" y="386715"/>
                </a:lnTo>
                <a:lnTo>
                  <a:pt x="1088771" y="353695"/>
                </a:lnTo>
                <a:lnTo>
                  <a:pt x="1118997" y="321183"/>
                </a:lnTo>
                <a:lnTo>
                  <a:pt x="1147572" y="289179"/>
                </a:lnTo>
                <a:lnTo>
                  <a:pt x="1173479" y="258191"/>
                </a:lnTo>
                <a:lnTo>
                  <a:pt x="1196721" y="227965"/>
                </a:lnTo>
                <a:lnTo>
                  <a:pt x="1225041" y="184912"/>
                </a:lnTo>
                <a:lnTo>
                  <a:pt x="1244219" y="143891"/>
                </a:lnTo>
                <a:lnTo>
                  <a:pt x="1252093" y="104775"/>
                </a:lnTo>
                <a:lnTo>
                  <a:pt x="1251670" y="94107"/>
                </a:lnTo>
                <a:close/>
              </a:path>
              <a:path w="1252220" h="454025">
                <a:moveTo>
                  <a:pt x="103504" y="73406"/>
                </a:moveTo>
                <a:lnTo>
                  <a:pt x="0" y="148336"/>
                </a:lnTo>
                <a:lnTo>
                  <a:pt x="122047" y="186182"/>
                </a:lnTo>
                <a:lnTo>
                  <a:pt x="116367" y="151638"/>
                </a:lnTo>
                <a:lnTo>
                  <a:pt x="97027" y="151638"/>
                </a:lnTo>
                <a:lnTo>
                  <a:pt x="90931" y="114046"/>
                </a:lnTo>
                <a:lnTo>
                  <a:pt x="109684" y="110992"/>
                </a:lnTo>
                <a:lnTo>
                  <a:pt x="103504" y="73406"/>
                </a:lnTo>
                <a:close/>
              </a:path>
              <a:path w="1252220" h="454025">
                <a:moveTo>
                  <a:pt x="109684" y="110992"/>
                </a:moveTo>
                <a:lnTo>
                  <a:pt x="90931" y="114046"/>
                </a:lnTo>
                <a:lnTo>
                  <a:pt x="97027" y="151638"/>
                </a:lnTo>
                <a:lnTo>
                  <a:pt x="115862" y="148567"/>
                </a:lnTo>
                <a:lnTo>
                  <a:pt x="109684" y="110992"/>
                </a:lnTo>
                <a:close/>
              </a:path>
              <a:path w="1252220" h="454025">
                <a:moveTo>
                  <a:pt x="115862" y="148567"/>
                </a:moveTo>
                <a:lnTo>
                  <a:pt x="97027" y="151638"/>
                </a:lnTo>
                <a:lnTo>
                  <a:pt x="116367" y="151638"/>
                </a:lnTo>
                <a:lnTo>
                  <a:pt x="115862" y="148567"/>
                </a:lnTo>
                <a:close/>
              </a:path>
              <a:path w="1252220" h="454025">
                <a:moveTo>
                  <a:pt x="1016126" y="0"/>
                </a:moveTo>
                <a:lnTo>
                  <a:pt x="956945" y="1397"/>
                </a:lnTo>
                <a:lnTo>
                  <a:pt x="857757" y="7747"/>
                </a:lnTo>
                <a:lnTo>
                  <a:pt x="708913" y="22733"/>
                </a:lnTo>
                <a:lnTo>
                  <a:pt x="669162" y="27559"/>
                </a:lnTo>
                <a:lnTo>
                  <a:pt x="501396" y="50038"/>
                </a:lnTo>
                <a:lnTo>
                  <a:pt x="245998" y="89038"/>
                </a:lnTo>
                <a:lnTo>
                  <a:pt x="109684" y="110992"/>
                </a:lnTo>
                <a:lnTo>
                  <a:pt x="115862" y="148567"/>
                </a:lnTo>
                <a:lnTo>
                  <a:pt x="418846" y="100711"/>
                </a:lnTo>
                <a:lnTo>
                  <a:pt x="498866" y="89027"/>
                </a:lnTo>
                <a:lnTo>
                  <a:pt x="633222" y="70485"/>
                </a:lnTo>
                <a:lnTo>
                  <a:pt x="751712" y="56261"/>
                </a:lnTo>
                <a:lnTo>
                  <a:pt x="825500" y="48768"/>
                </a:lnTo>
                <a:lnTo>
                  <a:pt x="894460" y="43180"/>
                </a:lnTo>
                <a:lnTo>
                  <a:pt x="958214" y="39497"/>
                </a:lnTo>
                <a:lnTo>
                  <a:pt x="1015873" y="38100"/>
                </a:lnTo>
                <a:lnTo>
                  <a:pt x="1219952" y="38100"/>
                </a:lnTo>
                <a:lnTo>
                  <a:pt x="1217802" y="36322"/>
                </a:lnTo>
                <a:lnTo>
                  <a:pt x="1174750" y="16002"/>
                </a:lnTo>
                <a:lnTo>
                  <a:pt x="1137411" y="7620"/>
                </a:lnTo>
                <a:lnTo>
                  <a:pt x="1093724" y="2413"/>
                </a:lnTo>
                <a:lnTo>
                  <a:pt x="1043558" y="254"/>
                </a:lnTo>
                <a:lnTo>
                  <a:pt x="1016126" y="0"/>
                </a:lnTo>
                <a:close/>
              </a:path>
              <a:path w="1252220" h="454025">
                <a:moveTo>
                  <a:pt x="1213655" y="96156"/>
                </a:moveTo>
                <a:lnTo>
                  <a:pt x="1213738" y="97155"/>
                </a:lnTo>
                <a:lnTo>
                  <a:pt x="1213655" y="96156"/>
                </a:lnTo>
                <a:close/>
              </a:path>
              <a:path w="1252220" h="454025">
                <a:moveTo>
                  <a:pt x="1213484" y="94107"/>
                </a:moveTo>
                <a:lnTo>
                  <a:pt x="1213655" y="96156"/>
                </a:lnTo>
                <a:lnTo>
                  <a:pt x="1213865" y="97155"/>
                </a:lnTo>
                <a:lnTo>
                  <a:pt x="1213484" y="94107"/>
                </a:lnTo>
                <a:close/>
              </a:path>
              <a:path w="1252220" h="454025">
                <a:moveTo>
                  <a:pt x="1212157" y="89038"/>
                </a:moveTo>
                <a:lnTo>
                  <a:pt x="1213655" y="96156"/>
                </a:lnTo>
                <a:lnTo>
                  <a:pt x="1213484" y="94107"/>
                </a:lnTo>
                <a:lnTo>
                  <a:pt x="1251670" y="94107"/>
                </a:lnTo>
                <a:lnTo>
                  <a:pt x="1251584" y="91948"/>
                </a:lnTo>
                <a:lnTo>
                  <a:pt x="1251419" y="90678"/>
                </a:lnTo>
                <a:lnTo>
                  <a:pt x="1212850" y="90678"/>
                </a:lnTo>
                <a:lnTo>
                  <a:pt x="1212157" y="89038"/>
                </a:lnTo>
                <a:close/>
              </a:path>
              <a:path w="1252220" h="454025">
                <a:moveTo>
                  <a:pt x="1211833" y="87503"/>
                </a:moveTo>
                <a:lnTo>
                  <a:pt x="1212157" y="89038"/>
                </a:lnTo>
                <a:lnTo>
                  <a:pt x="1212850" y="90678"/>
                </a:lnTo>
                <a:lnTo>
                  <a:pt x="1211833" y="87503"/>
                </a:lnTo>
                <a:close/>
              </a:path>
              <a:path w="1252220" h="454025">
                <a:moveTo>
                  <a:pt x="1250863" y="87503"/>
                </a:moveTo>
                <a:lnTo>
                  <a:pt x="1211833" y="87503"/>
                </a:lnTo>
                <a:lnTo>
                  <a:pt x="1212850" y="90678"/>
                </a:lnTo>
                <a:lnTo>
                  <a:pt x="1251419" y="90678"/>
                </a:lnTo>
                <a:lnTo>
                  <a:pt x="1251203" y="89027"/>
                </a:lnTo>
                <a:lnTo>
                  <a:pt x="1250863" y="87503"/>
                </a:lnTo>
                <a:close/>
              </a:path>
              <a:path w="1252220" h="454025">
                <a:moveTo>
                  <a:pt x="1209490" y="82726"/>
                </a:moveTo>
                <a:lnTo>
                  <a:pt x="1212157" y="89038"/>
                </a:lnTo>
                <a:lnTo>
                  <a:pt x="1211833" y="87503"/>
                </a:lnTo>
                <a:lnTo>
                  <a:pt x="1250863" y="87503"/>
                </a:lnTo>
                <a:lnTo>
                  <a:pt x="1250181" y="84455"/>
                </a:lnTo>
                <a:lnTo>
                  <a:pt x="1210563" y="84455"/>
                </a:lnTo>
                <a:lnTo>
                  <a:pt x="1209490" y="82726"/>
                </a:lnTo>
                <a:close/>
              </a:path>
              <a:path w="1252220" h="454025">
                <a:moveTo>
                  <a:pt x="1209039" y="81661"/>
                </a:moveTo>
                <a:lnTo>
                  <a:pt x="1209490" y="82726"/>
                </a:lnTo>
                <a:lnTo>
                  <a:pt x="1210563" y="84455"/>
                </a:lnTo>
                <a:lnTo>
                  <a:pt x="1209039" y="81661"/>
                </a:lnTo>
                <a:close/>
              </a:path>
              <a:path w="1252220" h="454025">
                <a:moveTo>
                  <a:pt x="1249556" y="81661"/>
                </a:moveTo>
                <a:lnTo>
                  <a:pt x="1209039" y="81661"/>
                </a:lnTo>
                <a:lnTo>
                  <a:pt x="1210563" y="84455"/>
                </a:lnTo>
                <a:lnTo>
                  <a:pt x="1250181" y="84455"/>
                </a:lnTo>
                <a:lnTo>
                  <a:pt x="1249556" y="81661"/>
                </a:lnTo>
                <a:close/>
              </a:path>
              <a:path w="1252220" h="454025">
                <a:moveTo>
                  <a:pt x="1206182" y="77401"/>
                </a:moveTo>
                <a:lnTo>
                  <a:pt x="1209490" y="82726"/>
                </a:lnTo>
                <a:lnTo>
                  <a:pt x="1209039" y="81661"/>
                </a:lnTo>
                <a:lnTo>
                  <a:pt x="1249556" y="81661"/>
                </a:lnTo>
                <a:lnTo>
                  <a:pt x="1249045" y="79375"/>
                </a:lnTo>
                <a:lnTo>
                  <a:pt x="1248886" y="78740"/>
                </a:lnTo>
                <a:lnTo>
                  <a:pt x="1207388" y="78740"/>
                </a:lnTo>
                <a:lnTo>
                  <a:pt x="1206182" y="77401"/>
                </a:lnTo>
                <a:close/>
              </a:path>
              <a:path w="1252220" h="454025">
                <a:moveTo>
                  <a:pt x="1205356" y="76073"/>
                </a:moveTo>
                <a:lnTo>
                  <a:pt x="1206182" y="77401"/>
                </a:lnTo>
                <a:lnTo>
                  <a:pt x="1207388" y="78740"/>
                </a:lnTo>
                <a:lnTo>
                  <a:pt x="1205356" y="76073"/>
                </a:lnTo>
                <a:close/>
              </a:path>
              <a:path w="1252220" h="454025">
                <a:moveTo>
                  <a:pt x="1247977" y="76073"/>
                </a:moveTo>
                <a:lnTo>
                  <a:pt x="1205356" y="76073"/>
                </a:lnTo>
                <a:lnTo>
                  <a:pt x="1207388" y="78740"/>
                </a:lnTo>
                <a:lnTo>
                  <a:pt x="1248886" y="78740"/>
                </a:lnTo>
                <a:lnTo>
                  <a:pt x="1248536" y="77216"/>
                </a:lnTo>
                <a:lnTo>
                  <a:pt x="1247977" y="76073"/>
                </a:lnTo>
                <a:close/>
              </a:path>
              <a:path w="1252220" h="454025">
                <a:moveTo>
                  <a:pt x="1201690" y="72420"/>
                </a:moveTo>
                <a:lnTo>
                  <a:pt x="1206182" y="77401"/>
                </a:lnTo>
                <a:lnTo>
                  <a:pt x="1205356" y="76073"/>
                </a:lnTo>
                <a:lnTo>
                  <a:pt x="1247977" y="76073"/>
                </a:lnTo>
                <a:lnTo>
                  <a:pt x="1246732" y="73025"/>
                </a:lnTo>
                <a:lnTo>
                  <a:pt x="1202435" y="73025"/>
                </a:lnTo>
                <a:lnTo>
                  <a:pt x="1201690" y="72420"/>
                </a:lnTo>
                <a:close/>
              </a:path>
              <a:path w="1252220" h="454025">
                <a:moveTo>
                  <a:pt x="1200403" y="70993"/>
                </a:moveTo>
                <a:lnTo>
                  <a:pt x="1201690" y="72420"/>
                </a:lnTo>
                <a:lnTo>
                  <a:pt x="1202435" y="73025"/>
                </a:lnTo>
                <a:lnTo>
                  <a:pt x="1200403" y="70993"/>
                </a:lnTo>
                <a:close/>
              </a:path>
              <a:path w="1252220" h="454025">
                <a:moveTo>
                  <a:pt x="1245902" y="70993"/>
                </a:moveTo>
                <a:lnTo>
                  <a:pt x="1200403" y="70993"/>
                </a:lnTo>
                <a:lnTo>
                  <a:pt x="1202435" y="73025"/>
                </a:lnTo>
                <a:lnTo>
                  <a:pt x="1246732" y="73025"/>
                </a:lnTo>
                <a:lnTo>
                  <a:pt x="1245902" y="70993"/>
                </a:lnTo>
                <a:close/>
              </a:path>
              <a:path w="1252220" h="454025">
                <a:moveTo>
                  <a:pt x="1219952" y="38100"/>
                </a:moveTo>
                <a:lnTo>
                  <a:pt x="1015873" y="38100"/>
                </a:lnTo>
                <a:lnTo>
                  <a:pt x="1042415" y="38227"/>
                </a:lnTo>
                <a:lnTo>
                  <a:pt x="1067180" y="38989"/>
                </a:lnTo>
                <a:lnTo>
                  <a:pt x="1111250" y="42418"/>
                </a:lnTo>
                <a:lnTo>
                  <a:pt x="1162303" y="51943"/>
                </a:lnTo>
                <a:lnTo>
                  <a:pt x="1201690" y="72420"/>
                </a:lnTo>
                <a:lnTo>
                  <a:pt x="1200403" y="70993"/>
                </a:lnTo>
                <a:lnTo>
                  <a:pt x="1245902" y="70993"/>
                </a:lnTo>
                <a:lnTo>
                  <a:pt x="1244346" y="67183"/>
                </a:lnTo>
                <a:lnTo>
                  <a:pt x="1243964" y="66167"/>
                </a:lnTo>
                <a:lnTo>
                  <a:pt x="1243456" y="65151"/>
                </a:lnTo>
                <a:lnTo>
                  <a:pt x="1242822" y="64262"/>
                </a:lnTo>
                <a:lnTo>
                  <a:pt x="1237614" y="55880"/>
                </a:lnTo>
                <a:lnTo>
                  <a:pt x="1237106" y="54991"/>
                </a:lnTo>
                <a:lnTo>
                  <a:pt x="1235582" y="53213"/>
                </a:lnTo>
                <a:lnTo>
                  <a:pt x="1228725" y="45593"/>
                </a:lnTo>
                <a:lnTo>
                  <a:pt x="1228089" y="44831"/>
                </a:lnTo>
                <a:lnTo>
                  <a:pt x="12199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093709" y="359150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118102" y="3644010"/>
            <a:ext cx="261493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305050" algn="l"/>
              </a:tabLst>
            </a:pPr>
            <a:r>
              <a:rPr dirty="0" baseline="-6076" sz="4800" b="1">
                <a:solidFill>
                  <a:srgbClr val="66FFFF"/>
                </a:solidFill>
                <a:latin typeface="Times New Roman"/>
                <a:cs typeface="Times New Roman"/>
              </a:rPr>
              <a:t>13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	</a:t>
            </a:r>
            <a:r>
              <a:rPr dirty="0" baseline="2604" sz="48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baseline="2604" sz="4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337553" y="3970782"/>
            <a:ext cx="654050" cy="545465"/>
          </a:xfrm>
          <a:custGeom>
            <a:avLst/>
            <a:gdLst/>
            <a:ahLst/>
            <a:cxnLst/>
            <a:rect l="l" t="t" r="r" b="b"/>
            <a:pathLst>
              <a:path w="654050" h="545464">
                <a:moveTo>
                  <a:pt x="100262" y="58094"/>
                </a:moveTo>
                <a:lnTo>
                  <a:pt x="76002" y="87435"/>
                </a:lnTo>
                <a:lnTo>
                  <a:pt x="629412" y="545084"/>
                </a:lnTo>
                <a:lnTo>
                  <a:pt x="653796" y="515620"/>
                </a:lnTo>
                <a:lnTo>
                  <a:pt x="100262" y="58094"/>
                </a:lnTo>
                <a:close/>
              </a:path>
              <a:path w="654050" h="545464">
                <a:moveTo>
                  <a:pt x="0" y="0"/>
                </a:moveTo>
                <a:lnTo>
                  <a:pt x="51688" y="116840"/>
                </a:lnTo>
                <a:lnTo>
                  <a:pt x="76002" y="87435"/>
                </a:lnTo>
                <a:lnTo>
                  <a:pt x="61341" y="75311"/>
                </a:lnTo>
                <a:lnTo>
                  <a:pt x="85598" y="45974"/>
                </a:lnTo>
                <a:lnTo>
                  <a:pt x="110283" y="45974"/>
                </a:lnTo>
                <a:lnTo>
                  <a:pt x="124460" y="28829"/>
                </a:lnTo>
                <a:lnTo>
                  <a:pt x="0" y="0"/>
                </a:lnTo>
                <a:close/>
              </a:path>
              <a:path w="654050" h="545464">
                <a:moveTo>
                  <a:pt x="85598" y="45974"/>
                </a:moveTo>
                <a:lnTo>
                  <a:pt x="61341" y="75311"/>
                </a:lnTo>
                <a:lnTo>
                  <a:pt x="76002" y="87435"/>
                </a:lnTo>
                <a:lnTo>
                  <a:pt x="100262" y="58094"/>
                </a:lnTo>
                <a:lnTo>
                  <a:pt x="85598" y="45974"/>
                </a:lnTo>
                <a:close/>
              </a:path>
              <a:path w="654050" h="545464">
                <a:moveTo>
                  <a:pt x="110283" y="45974"/>
                </a:moveTo>
                <a:lnTo>
                  <a:pt x="85598" y="45974"/>
                </a:lnTo>
                <a:lnTo>
                  <a:pt x="100262" y="58094"/>
                </a:lnTo>
                <a:lnTo>
                  <a:pt x="110283" y="459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5959855" y="3074288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410961" y="3277615"/>
            <a:ext cx="1576705" cy="741045"/>
          </a:xfrm>
          <a:custGeom>
            <a:avLst/>
            <a:gdLst/>
            <a:ahLst/>
            <a:cxnLst/>
            <a:rect l="l" t="t" r="r" b="b"/>
            <a:pathLst>
              <a:path w="1576704" h="741045">
                <a:moveTo>
                  <a:pt x="111843" y="34631"/>
                </a:moveTo>
                <a:lnTo>
                  <a:pt x="95917" y="69278"/>
                </a:lnTo>
                <a:lnTo>
                  <a:pt x="1560194" y="740918"/>
                </a:lnTo>
                <a:lnTo>
                  <a:pt x="1576196" y="706374"/>
                </a:lnTo>
                <a:lnTo>
                  <a:pt x="111843" y="34631"/>
                </a:lnTo>
                <a:close/>
              </a:path>
              <a:path w="1576704" h="741045">
                <a:moveTo>
                  <a:pt x="127762" y="0"/>
                </a:moveTo>
                <a:lnTo>
                  <a:pt x="0" y="4318"/>
                </a:lnTo>
                <a:lnTo>
                  <a:pt x="80010" y="103886"/>
                </a:lnTo>
                <a:lnTo>
                  <a:pt x="95917" y="69278"/>
                </a:lnTo>
                <a:lnTo>
                  <a:pt x="78612" y="61341"/>
                </a:lnTo>
                <a:lnTo>
                  <a:pt x="94487" y="26670"/>
                </a:lnTo>
                <a:lnTo>
                  <a:pt x="115502" y="26670"/>
                </a:lnTo>
                <a:lnTo>
                  <a:pt x="127762" y="0"/>
                </a:lnTo>
                <a:close/>
              </a:path>
              <a:path w="1576704" h="741045">
                <a:moveTo>
                  <a:pt x="94487" y="26670"/>
                </a:moveTo>
                <a:lnTo>
                  <a:pt x="78612" y="61341"/>
                </a:lnTo>
                <a:lnTo>
                  <a:pt x="95917" y="69278"/>
                </a:lnTo>
                <a:lnTo>
                  <a:pt x="111843" y="34631"/>
                </a:lnTo>
                <a:lnTo>
                  <a:pt x="94487" y="26670"/>
                </a:lnTo>
                <a:close/>
              </a:path>
              <a:path w="1576704" h="741045">
                <a:moveTo>
                  <a:pt x="115502" y="26670"/>
                </a:moveTo>
                <a:lnTo>
                  <a:pt x="94487" y="26670"/>
                </a:lnTo>
                <a:lnTo>
                  <a:pt x="111843" y="34631"/>
                </a:lnTo>
                <a:lnTo>
                  <a:pt x="115502" y="26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417055" y="3147441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401561" y="1937766"/>
            <a:ext cx="381000" cy="1088390"/>
          </a:xfrm>
          <a:custGeom>
            <a:avLst/>
            <a:gdLst/>
            <a:ahLst/>
            <a:cxnLst/>
            <a:rect l="l" t="t" r="r" b="b"/>
            <a:pathLst>
              <a:path w="381000" h="1088389">
                <a:moveTo>
                  <a:pt x="380999" y="0"/>
                </a:moveTo>
                <a:lnTo>
                  <a:pt x="0" y="1088136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391909" y="3015233"/>
            <a:ext cx="674370" cy="986155"/>
          </a:xfrm>
          <a:custGeom>
            <a:avLst/>
            <a:gdLst/>
            <a:ahLst/>
            <a:cxnLst/>
            <a:rect l="l" t="t" r="r" b="b"/>
            <a:pathLst>
              <a:path w="674370" h="986154">
                <a:moveTo>
                  <a:pt x="594373" y="901916"/>
                </a:moveTo>
                <a:lnTo>
                  <a:pt x="562737" y="923289"/>
                </a:lnTo>
                <a:lnTo>
                  <a:pt x="674115" y="986027"/>
                </a:lnTo>
                <a:lnTo>
                  <a:pt x="665147" y="917701"/>
                </a:lnTo>
                <a:lnTo>
                  <a:pt x="605028" y="917701"/>
                </a:lnTo>
                <a:lnTo>
                  <a:pt x="594373" y="901916"/>
                </a:lnTo>
                <a:close/>
              </a:path>
              <a:path w="674370" h="986154">
                <a:moveTo>
                  <a:pt x="625981" y="880561"/>
                </a:moveTo>
                <a:lnTo>
                  <a:pt x="594373" y="901916"/>
                </a:lnTo>
                <a:lnTo>
                  <a:pt x="605028" y="917701"/>
                </a:lnTo>
                <a:lnTo>
                  <a:pt x="636650" y="896365"/>
                </a:lnTo>
                <a:lnTo>
                  <a:pt x="625981" y="880561"/>
                </a:lnTo>
                <a:close/>
              </a:path>
              <a:path w="674370" h="986154">
                <a:moveTo>
                  <a:pt x="657479" y="859282"/>
                </a:moveTo>
                <a:lnTo>
                  <a:pt x="625981" y="880561"/>
                </a:lnTo>
                <a:lnTo>
                  <a:pt x="636650" y="896365"/>
                </a:lnTo>
                <a:lnTo>
                  <a:pt x="605028" y="917701"/>
                </a:lnTo>
                <a:lnTo>
                  <a:pt x="665147" y="917701"/>
                </a:lnTo>
                <a:lnTo>
                  <a:pt x="657479" y="859282"/>
                </a:lnTo>
                <a:close/>
              </a:path>
              <a:path w="674370" h="986154">
                <a:moveTo>
                  <a:pt x="31495" y="0"/>
                </a:moveTo>
                <a:lnTo>
                  <a:pt x="0" y="21336"/>
                </a:lnTo>
                <a:lnTo>
                  <a:pt x="594373" y="901916"/>
                </a:lnTo>
                <a:lnTo>
                  <a:pt x="625981" y="880561"/>
                </a:lnTo>
                <a:lnTo>
                  <a:pt x="314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668261" y="1937766"/>
            <a:ext cx="260985" cy="881380"/>
          </a:xfrm>
          <a:custGeom>
            <a:avLst/>
            <a:gdLst/>
            <a:ahLst/>
            <a:cxnLst/>
            <a:rect l="l" t="t" r="r" b="b"/>
            <a:pathLst>
              <a:path w="260984" h="881380">
                <a:moveTo>
                  <a:pt x="260604" y="0"/>
                </a:moveTo>
                <a:lnTo>
                  <a:pt x="0" y="8808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652259" y="2782442"/>
            <a:ext cx="313690" cy="473709"/>
          </a:xfrm>
          <a:custGeom>
            <a:avLst/>
            <a:gdLst/>
            <a:ahLst/>
            <a:cxnLst/>
            <a:rect l="l" t="t" r="r" b="b"/>
            <a:pathLst>
              <a:path w="313690" h="473710">
                <a:moveTo>
                  <a:pt x="235404" y="387610"/>
                </a:moveTo>
                <a:lnTo>
                  <a:pt x="203326" y="408178"/>
                </a:lnTo>
                <a:lnTo>
                  <a:pt x="313182" y="473583"/>
                </a:lnTo>
                <a:lnTo>
                  <a:pt x="305715" y="403733"/>
                </a:lnTo>
                <a:lnTo>
                  <a:pt x="245745" y="403733"/>
                </a:lnTo>
                <a:lnTo>
                  <a:pt x="235404" y="387610"/>
                </a:lnTo>
                <a:close/>
              </a:path>
              <a:path w="313690" h="473710">
                <a:moveTo>
                  <a:pt x="267433" y="367075"/>
                </a:moveTo>
                <a:lnTo>
                  <a:pt x="235404" y="387610"/>
                </a:lnTo>
                <a:lnTo>
                  <a:pt x="245745" y="403733"/>
                </a:lnTo>
                <a:lnTo>
                  <a:pt x="277749" y="383159"/>
                </a:lnTo>
                <a:lnTo>
                  <a:pt x="267433" y="367075"/>
                </a:lnTo>
                <a:close/>
              </a:path>
              <a:path w="313690" h="473710">
                <a:moveTo>
                  <a:pt x="299593" y="346456"/>
                </a:moveTo>
                <a:lnTo>
                  <a:pt x="267433" y="367075"/>
                </a:lnTo>
                <a:lnTo>
                  <a:pt x="277749" y="383159"/>
                </a:lnTo>
                <a:lnTo>
                  <a:pt x="245745" y="403733"/>
                </a:lnTo>
                <a:lnTo>
                  <a:pt x="305715" y="403733"/>
                </a:lnTo>
                <a:lnTo>
                  <a:pt x="299593" y="346456"/>
                </a:lnTo>
                <a:close/>
              </a:path>
              <a:path w="313690" h="473710">
                <a:moveTo>
                  <a:pt x="32004" y="0"/>
                </a:moveTo>
                <a:lnTo>
                  <a:pt x="0" y="20574"/>
                </a:lnTo>
                <a:lnTo>
                  <a:pt x="235404" y="387610"/>
                </a:lnTo>
                <a:lnTo>
                  <a:pt x="267433" y="367075"/>
                </a:lnTo>
                <a:lnTo>
                  <a:pt x="320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6802881" y="2625089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271004" y="3460241"/>
            <a:ext cx="114300" cy="541020"/>
          </a:xfrm>
          <a:custGeom>
            <a:avLst/>
            <a:gdLst/>
            <a:ahLst/>
            <a:cxnLst/>
            <a:rect l="l" t="t" r="r" b="b"/>
            <a:pathLst>
              <a:path w="114300" h="541020">
                <a:moveTo>
                  <a:pt x="76200" y="95250"/>
                </a:moveTo>
                <a:lnTo>
                  <a:pt x="38100" y="95250"/>
                </a:lnTo>
                <a:lnTo>
                  <a:pt x="38100" y="541020"/>
                </a:lnTo>
                <a:lnTo>
                  <a:pt x="76200" y="541020"/>
                </a:lnTo>
                <a:lnTo>
                  <a:pt x="76200" y="95250"/>
                </a:lnTo>
                <a:close/>
              </a:path>
              <a:path w="114300" h="54102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102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319009" y="3465067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0"/>
                </a:moveTo>
                <a:lnTo>
                  <a:pt x="0" y="385572"/>
                </a:lnTo>
                <a:lnTo>
                  <a:pt x="9143999" y="385572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540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940" y="0"/>
            <a:ext cx="56248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9825" algn="l"/>
                <a:tab pos="2940050" algn="l"/>
                <a:tab pos="4382135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	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	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	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③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064758" y="0"/>
            <a:ext cx="2901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0515" algn="l"/>
              </a:tabLst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④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⑤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4666" y="1725244"/>
            <a:ext cx="497586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0805" algn="l"/>
              </a:tabLst>
            </a:pPr>
            <a:r>
              <a:rPr dirty="0" sz="3600" spc="-5">
                <a:solidFill>
                  <a:srgbClr val="FFFF99"/>
                </a:solidFill>
                <a:latin typeface="Times New Roman"/>
                <a:cs typeface="Times New Roman"/>
              </a:rPr>
              <a:t>5.6.1	</a:t>
            </a:r>
            <a:r>
              <a:rPr dirty="0" sz="3400" spc="-5">
                <a:solidFill>
                  <a:srgbClr val="FFFF99"/>
                </a:solidFill>
                <a:latin typeface="Times New Roman"/>
                <a:cs typeface="Times New Roman"/>
              </a:rPr>
              <a:t>SLR(</a:t>
            </a:r>
            <a:r>
              <a:rPr dirty="0" sz="3400" spc="-3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400" spc="-5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3400" spc="-20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FFFF99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99"/>
                </a:solidFill>
              </a:rPr>
              <a:t>分析的缺陷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2524" y="2795778"/>
            <a:ext cx="6408420" cy="271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60805" indent="-1348740">
              <a:lnSpc>
                <a:spcPct val="100000"/>
              </a:lnSpc>
              <a:spcBef>
                <a:spcPts val="100"/>
              </a:spcBef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99"/>
                </a:solidFill>
                <a:latin typeface="Times New Roman"/>
                <a:cs typeface="Times New Roman"/>
              </a:rPr>
              <a:t>LR(1)</a:t>
            </a:r>
            <a:r>
              <a:rPr dirty="0" sz="3400" spc="-10" b="1">
                <a:solidFill>
                  <a:srgbClr val="FFFF99"/>
                </a:solidFill>
                <a:latin typeface="宋体"/>
                <a:cs typeface="宋体"/>
              </a:rPr>
              <a:t>分析的实现思想</a:t>
            </a:r>
            <a:endParaRPr sz="34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60805" indent="-1348740">
              <a:lnSpc>
                <a:spcPct val="100000"/>
              </a:lnSpc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3400" spc="-6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400" spc="-5" b="1">
                <a:solidFill>
                  <a:srgbClr val="FFFF99"/>
                </a:solidFill>
                <a:latin typeface="Times New Roman"/>
                <a:cs typeface="Times New Roman"/>
              </a:rPr>
              <a:t>(1)</a:t>
            </a:r>
            <a:r>
              <a:rPr dirty="0" sz="3400" spc="-10" b="1">
                <a:solidFill>
                  <a:srgbClr val="FFFF99"/>
                </a:solidFill>
                <a:latin typeface="宋体"/>
                <a:cs typeface="宋体"/>
              </a:rPr>
              <a:t>项目集规范族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的构造</a:t>
            </a:r>
            <a:endParaRPr sz="32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AutoNum type="arabicPeriod" startAt="2"/>
            </a:pPr>
            <a:endParaRPr sz="3200">
              <a:latin typeface="宋体"/>
              <a:cs typeface="宋体"/>
            </a:endParaRPr>
          </a:p>
          <a:p>
            <a:pPr lvl="2" marL="1360805" indent="-1348740">
              <a:lnSpc>
                <a:spcPct val="100000"/>
              </a:lnSpc>
              <a:buClr>
                <a:srgbClr val="FFFF00"/>
              </a:buClr>
              <a:buSzPct val="105882"/>
              <a:buAutoNum type="arabicPeriod" startAt="2"/>
              <a:tabLst>
                <a:tab pos="1360805" algn="l"/>
                <a:tab pos="1361440" algn="l"/>
              </a:tabLst>
            </a:pP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33294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677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37069" y="4991861"/>
            <a:ext cx="1371600" cy="536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37069" y="4991861"/>
            <a:ext cx="1371600" cy="536575"/>
          </a:xfrm>
          <a:custGeom>
            <a:avLst/>
            <a:gdLst/>
            <a:ahLst/>
            <a:cxnLst/>
            <a:rect l="l" t="t" r="r" b="b"/>
            <a:pathLst>
              <a:path w="1371600" h="536575">
                <a:moveTo>
                  <a:pt x="0" y="268224"/>
                </a:moveTo>
                <a:lnTo>
                  <a:pt x="342773" y="0"/>
                </a:lnTo>
                <a:lnTo>
                  <a:pt x="342773" y="134112"/>
                </a:lnTo>
                <a:lnTo>
                  <a:pt x="1371600" y="134112"/>
                </a:lnTo>
                <a:lnTo>
                  <a:pt x="1371600" y="402335"/>
                </a:lnTo>
                <a:lnTo>
                  <a:pt x="342773" y="402335"/>
                </a:lnTo>
                <a:lnTo>
                  <a:pt x="342773" y="536447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4722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640" y="547242"/>
            <a:ext cx="187452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58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10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1317" y="0"/>
            <a:ext cx="5659755" cy="1268095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519430">
              <a:lnSpc>
                <a:spcPct val="100000"/>
              </a:lnSpc>
              <a:spcBef>
                <a:spcPts val="1460"/>
              </a:spcBef>
              <a:tabLst>
                <a:tab pos="2759710" algn="l"/>
                <a:tab pos="345757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7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 LR(1)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分析表构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240" y="1105238"/>
            <a:ext cx="8177530" cy="488124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181100" marR="30480" indent="-1143635">
              <a:lnSpc>
                <a:spcPct val="122400"/>
              </a:lnSpc>
              <a:spcBef>
                <a:spcPts val="16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输入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拓广的文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项目集规 范族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endParaRPr sz="30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19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输出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30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93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方法：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集规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范族</a:t>
            </a:r>
            <a:endParaRPr sz="3200">
              <a:latin typeface="宋体"/>
              <a:cs typeface="宋体"/>
            </a:endParaRPr>
          </a:p>
          <a:p>
            <a:pPr algn="ctr" marR="885190">
              <a:lnSpc>
                <a:spcPct val="100000"/>
              </a:lnSpc>
              <a:spcBef>
                <a:spcPts val="944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342900">
              <a:lnSpc>
                <a:spcPct val="100000"/>
              </a:lnSpc>
              <a:spcBef>
                <a:spcPts val="8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令每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4550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的下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3350" spc="-150" b="1" i="1">
                <a:solidFill>
                  <a:srgbClr val="FFFFFF"/>
                </a:solidFill>
                <a:latin typeface="宋体"/>
                <a:cs typeface="宋体"/>
              </a:rPr>
              <a:t>Ｋ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为分析表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200" spc="-8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并含有</a:t>
            </a:r>
            <a:endParaRPr sz="3200">
              <a:latin typeface="宋体"/>
              <a:cs typeface="宋体"/>
            </a:endParaRPr>
          </a:p>
          <a:p>
            <a:pPr marL="240665" marR="92075" indent="-100965">
              <a:lnSpc>
                <a:spcPts val="4810"/>
              </a:lnSpc>
              <a:spcBef>
                <a:spcPts val="27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，＃］的项目集为分析表的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初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则有：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4722" y="26923"/>
            <a:ext cx="73266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4426585" algn="l"/>
                <a:tab pos="512445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1931" y="608202"/>
            <a:ext cx="29813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43710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>
                <a:solidFill>
                  <a:srgbClr val="FFFF00"/>
                </a:solidFill>
              </a:rPr>
              <a:t>（</a:t>
            </a:r>
            <a:r>
              <a:rPr dirty="0" sz="3200" spc="5">
                <a:solidFill>
                  <a:srgbClr val="FFFF00"/>
                </a:solidFill>
              </a:rPr>
              <a:t>续</a:t>
            </a:r>
            <a:r>
              <a:rPr dirty="0" sz="3200" spc="-10">
                <a:solidFill>
                  <a:srgbClr val="FFFF00"/>
                </a:solidFill>
              </a:rPr>
              <a:t>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148" y="1126369"/>
            <a:ext cx="8109584" cy="54838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5400" marR="271780" indent="431165">
              <a:lnSpc>
                <a:spcPct val="125600"/>
              </a:lnSpc>
              <a:spcBef>
                <a:spcPts val="15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对于每个项目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2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950" spc="-2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］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项目，若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01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015" sz="2775" spc="-2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01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，且</a:t>
            </a: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V</a:t>
            </a:r>
            <a:r>
              <a:rPr dirty="0" baseline="-16516" sz="2775" spc="-7" b="1" i="1">
                <a:solidFill>
                  <a:srgbClr val="FFCCCC"/>
                </a:solidFill>
                <a:latin typeface="Times New Roman"/>
                <a:cs typeface="Times New Roman"/>
              </a:rPr>
              <a:t>T</a:t>
            </a:r>
            <a:r>
              <a:rPr dirty="0" baseline="-16516" sz="2775" spc="15" b="1" i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endParaRPr sz="28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4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］＝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1501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0365">
              <a:lnSpc>
                <a:spcPct val="100000"/>
              </a:lnSpc>
              <a:spcBef>
                <a:spcPts val="840"/>
              </a:spcBef>
              <a:tabLst>
                <a:tab pos="3553460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2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］＝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5400" marR="17780" indent="354965">
              <a:lnSpc>
                <a:spcPts val="4300"/>
              </a:lnSpc>
              <a:spcBef>
                <a:spcPts val="70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若归约项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］∈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01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3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为文法的 第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个产生式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229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］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=r</a:t>
            </a:r>
            <a:r>
              <a:rPr dirty="0" baseline="-12012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2270">
              <a:lnSpc>
                <a:spcPct val="100000"/>
              </a:lnSpc>
              <a:spcBef>
                <a:spcPts val="54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若接受项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'→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］∈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6516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-6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8255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］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“acc”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825500" marR="49530" indent="-445134">
              <a:lnSpc>
                <a:spcPct val="125000"/>
              </a:lnSpc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④</a:t>
            </a:r>
            <a:r>
              <a:rPr dirty="0" sz="2800" spc="-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对分析表中不能按上述规则填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800" spc="20" b="1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则置“出错”标志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48961" y="3411473"/>
            <a:ext cx="477520" cy="513715"/>
          </a:xfrm>
          <a:custGeom>
            <a:avLst/>
            <a:gdLst/>
            <a:ahLst/>
            <a:cxnLst/>
            <a:rect l="l" t="t" r="r" b="b"/>
            <a:pathLst>
              <a:path w="477520" h="513714">
                <a:moveTo>
                  <a:pt x="0" y="256794"/>
                </a:moveTo>
                <a:lnTo>
                  <a:pt x="4846" y="205030"/>
                </a:lnTo>
                <a:lnTo>
                  <a:pt x="18746" y="156823"/>
                </a:lnTo>
                <a:lnTo>
                  <a:pt x="40739" y="113202"/>
                </a:lnTo>
                <a:lnTo>
                  <a:pt x="69865" y="75199"/>
                </a:lnTo>
                <a:lnTo>
                  <a:pt x="105165" y="43846"/>
                </a:lnTo>
                <a:lnTo>
                  <a:pt x="145678" y="20175"/>
                </a:lnTo>
                <a:lnTo>
                  <a:pt x="190445" y="5215"/>
                </a:lnTo>
                <a:lnTo>
                  <a:pt x="238505" y="0"/>
                </a:lnTo>
                <a:lnTo>
                  <a:pt x="286566" y="5215"/>
                </a:lnTo>
                <a:lnTo>
                  <a:pt x="331333" y="20175"/>
                </a:lnTo>
                <a:lnTo>
                  <a:pt x="371846" y="43846"/>
                </a:lnTo>
                <a:lnTo>
                  <a:pt x="407146" y="75199"/>
                </a:lnTo>
                <a:lnTo>
                  <a:pt x="436272" y="113202"/>
                </a:lnTo>
                <a:lnTo>
                  <a:pt x="458265" y="156823"/>
                </a:lnTo>
                <a:lnTo>
                  <a:pt x="472165" y="205030"/>
                </a:lnTo>
                <a:lnTo>
                  <a:pt x="477012" y="256794"/>
                </a:lnTo>
                <a:lnTo>
                  <a:pt x="472165" y="308557"/>
                </a:lnTo>
                <a:lnTo>
                  <a:pt x="458265" y="356764"/>
                </a:lnTo>
                <a:lnTo>
                  <a:pt x="436272" y="400385"/>
                </a:lnTo>
                <a:lnTo>
                  <a:pt x="407146" y="438388"/>
                </a:lnTo>
                <a:lnTo>
                  <a:pt x="371846" y="469741"/>
                </a:lnTo>
                <a:lnTo>
                  <a:pt x="331333" y="493412"/>
                </a:lnTo>
                <a:lnTo>
                  <a:pt x="286566" y="508372"/>
                </a:lnTo>
                <a:lnTo>
                  <a:pt x="238505" y="513588"/>
                </a:lnTo>
                <a:lnTo>
                  <a:pt x="190445" y="508372"/>
                </a:lnTo>
                <a:lnTo>
                  <a:pt x="145678" y="493412"/>
                </a:lnTo>
                <a:lnTo>
                  <a:pt x="105165" y="469741"/>
                </a:lnTo>
                <a:lnTo>
                  <a:pt x="69865" y="438388"/>
                </a:lnTo>
                <a:lnTo>
                  <a:pt x="40739" y="400385"/>
                </a:lnTo>
                <a:lnTo>
                  <a:pt x="18746" y="356764"/>
                </a:lnTo>
                <a:lnTo>
                  <a:pt x="4846" y="308557"/>
                </a:lnTo>
                <a:lnTo>
                  <a:pt x="0" y="25679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96661" y="3982973"/>
            <a:ext cx="477520" cy="513715"/>
          </a:xfrm>
          <a:custGeom>
            <a:avLst/>
            <a:gdLst/>
            <a:ahLst/>
            <a:cxnLst/>
            <a:rect l="l" t="t" r="r" b="b"/>
            <a:pathLst>
              <a:path w="477520" h="513714">
                <a:moveTo>
                  <a:pt x="0" y="256794"/>
                </a:moveTo>
                <a:lnTo>
                  <a:pt x="4846" y="205030"/>
                </a:lnTo>
                <a:lnTo>
                  <a:pt x="18746" y="156823"/>
                </a:lnTo>
                <a:lnTo>
                  <a:pt x="40739" y="113202"/>
                </a:lnTo>
                <a:lnTo>
                  <a:pt x="69865" y="75199"/>
                </a:lnTo>
                <a:lnTo>
                  <a:pt x="105165" y="43846"/>
                </a:lnTo>
                <a:lnTo>
                  <a:pt x="145678" y="20175"/>
                </a:lnTo>
                <a:lnTo>
                  <a:pt x="190445" y="5215"/>
                </a:lnTo>
                <a:lnTo>
                  <a:pt x="238505" y="0"/>
                </a:lnTo>
                <a:lnTo>
                  <a:pt x="286566" y="5215"/>
                </a:lnTo>
                <a:lnTo>
                  <a:pt x="331333" y="20175"/>
                </a:lnTo>
                <a:lnTo>
                  <a:pt x="371846" y="43846"/>
                </a:lnTo>
                <a:lnTo>
                  <a:pt x="407146" y="75199"/>
                </a:lnTo>
                <a:lnTo>
                  <a:pt x="436272" y="113202"/>
                </a:lnTo>
                <a:lnTo>
                  <a:pt x="458265" y="156823"/>
                </a:lnTo>
                <a:lnTo>
                  <a:pt x="472165" y="205030"/>
                </a:lnTo>
                <a:lnTo>
                  <a:pt x="477012" y="256794"/>
                </a:lnTo>
                <a:lnTo>
                  <a:pt x="472165" y="308557"/>
                </a:lnTo>
                <a:lnTo>
                  <a:pt x="458265" y="356764"/>
                </a:lnTo>
                <a:lnTo>
                  <a:pt x="436272" y="400385"/>
                </a:lnTo>
                <a:lnTo>
                  <a:pt x="407146" y="438388"/>
                </a:lnTo>
                <a:lnTo>
                  <a:pt x="371846" y="469741"/>
                </a:lnTo>
                <a:lnTo>
                  <a:pt x="331333" y="493412"/>
                </a:lnTo>
                <a:lnTo>
                  <a:pt x="286566" y="508372"/>
                </a:lnTo>
                <a:lnTo>
                  <a:pt x="238505" y="513588"/>
                </a:lnTo>
                <a:lnTo>
                  <a:pt x="190445" y="508372"/>
                </a:lnTo>
                <a:lnTo>
                  <a:pt x="145678" y="493412"/>
                </a:lnTo>
                <a:lnTo>
                  <a:pt x="105165" y="469741"/>
                </a:lnTo>
                <a:lnTo>
                  <a:pt x="69865" y="438388"/>
                </a:lnTo>
                <a:lnTo>
                  <a:pt x="40739" y="400385"/>
                </a:lnTo>
                <a:lnTo>
                  <a:pt x="18746" y="356764"/>
                </a:lnTo>
                <a:lnTo>
                  <a:pt x="4846" y="308557"/>
                </a:lnTo>
                <a:lnTo>
                  <a:pt x="0" y="25679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4722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640" y="539622"/>
            <a:ext cx="2118995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58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5.10</a:t>
            </a:r>
            <a:r>
              <a:rPr dirty="0" sz="3200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17063" y="0"/>
            <a:ext cx="5414010" cy="125539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273685">
              <a:lnSpc>
                <a:spcPct val="100000"/>
              </a:lnSpc>
              <a:spcBef>
                <a:spcPts val="1425"/>
              </a:spcBef>
              <a:tabLst>
                <a:tab pos="2513965" algn="l"/>
                <a:tab pos="321183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640" y="1105238"/>
            <a:ext cx="8126730" cy="55149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ct val="122400"/>
              </a:lnSpc>
              <a:spcBef>
                <a:spcPts val="16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输入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拓广的文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的识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项目 有效活前缀的</a:t>
            </a:r>
            <a:r>
              <a:rPr dirty="0" sz="3000" spc="-7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输出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方法：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识别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效活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endParaRPr sz="3200">
              <a:latin typeface="宋体"/>
              <a:cs typeface="宋体"/>
            </a:endParaRPr>
          </a:p>
          <a:p>
            <a:pPr algn="ctr" marL="426720">
              <a:lnSpc>
                <a:spcPct val="100000"/>
              </a:lnSpc>
              <a:spcBef>
                <a:spcPts val="109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0, 1,</a:t>
            </a:r>
            <a:r>
              <a:rPr dirty="0" sz="3200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12700" marR="59690" indent="304800">
              <a:lnSpc>
                <a:spcPts val="4800"/>
              </a:lnSpc>
              <a:spcBef>
                <a:spcPts val="38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令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的每个状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350" spc="-155" b="1" i="1">
                <a:solidFill>
                  <a:srgbClr val="FFFFFF"/>
                </a:solidFill>
                <a:latin typeface="宋体"/>
                <a:cs typeface="宋体"/>
              </a:rPr>
              <a:t>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200" spc="-8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令初始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为分析表的初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215265">
              <a:lnSpc>
                <a:spcPct val="100000"/>
              </a:lnSpc>
              <a:spcBef>
                <a:spcPts val="64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则有：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4722" y="26923"/>
            <a:ext cx="73266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4426585" algn="l"/>
                <a:tab pos="512445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1931" y="570102"/>
            <a:ext cx="298450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00"/>
                </a:solidFill>
              </a:rPr>
              <a:t>算法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5.10’</a:t>
            </a:r>
            <a:r>
              <a:rPr dirty="0" sz="3200" spc="-33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</a:rPr>
              <a:t>（</a:t>
            </a:r>
            <a:r>
              <a:rPr dirty="0" sz="3200" spc="5">
                <a:solidFill>
                  <a:srgbClr val="FFFF00"/>
                </a:solidFill>
              </a:rPr>
              <a:t>续</a:t>
            </a:r>
            <a:r>
              <a:rPr dirty="0" sz="3200" spc="-10">
                <a:solidFill>
                  <a:srgbClr val="FFFF00"/>
                </a:solidFill>
              </a:rPr>
              <a:t>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440" y="921641"/>
            <a:ext cx="8491220" cy="5497830"/>
          </a:xfrm>
          <a:prstGeom prst="rect">
            <a:avLst/>
          </a:prstGeom>
        </p:spPr>
        <p:txBody>
          <a:bodyPr wrap="square" lIns="0" tIns="2203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7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对于每个状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229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950" spc="-25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1021" sz="2775" spc="-3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50800" marR="643890" indent="266700">
              <a:lnSpc>
                <a:spcPct val="141900"/>
              </a:lnSpc>
              <a:spcBef>
                <a:spcPts val="1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则置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25525" sz="277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525" sz="2775" spc="-7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950" spc="-25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3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GOTO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2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2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②若归约项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］∈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action[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]=r</a:t>
            </a:r>
            <a:r>
              <a:rPr dirty="0" baseline="-12012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95300">
              <a:lnSpc>
                <a:spcPct val="100000"/>
              </a:lnSpc>
              <a:spcBef>
                <a:spcPts val="150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其中假设产生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是文法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2800" spc="-6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个产生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1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800" spc="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若接受项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'→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］∈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，则置</a:t>
            </a:r>
            <a:endParaRPr sz="2800">
              <a:latin typeface="宋体"/>
              <a:cs typeface="宋体"/>
            </a:endParaRPr>
          </a:p>
          <a:p>
            <a:pPr marL="939165">
              <a:lnSpc>
                <a:spcPct val="100000"/>
              </a:lnSpc>
              <a:spcBef>
                <a:spcPts val="168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action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029335" marR="760730" indent="-979169">
              <a:lnSpc>
                <a:spcPct val="125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④</a:t>
            </a:r>
            <a:r>
              <a:rPr dirty="0" sz="2800" spc="-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对分析表中不能按上述规则填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800" spc="20" b="1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则置“出错”标志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96961" y="3080766"/>
            <a:ext cx="477520" cy="513715"/>
          </a:xfrm>
          <a:custGeom>
            <a:avLst/>
            <a:gdLst/>
            <a:ahLst/>
            <a:cxnLst/>
            <a:rect l="l" t="t" r="r" b="b"/>
            <a:pathLst>
              <a:path w="477520" h="513714">
                <a:moveTo>
                  <a:pt x="0" y="256794"/>
                </a:moveTo>
                <a:lnTo>
                  <a:pt x="4846" y="205030"/>
                </a:lnTo>
                <a:lnTo>
                  <a:pt x="18746" y="156823"/>
                </a:lnTo>
                <a:lnTo>
                  <a:pt x="40739" y="113202"/>
                </a:lnTo>
                <a:lnTo>
                  <a:pt x="69865" y="75199"/>
                </a:lnTo>
                <a:lnTo>
                  <a:pt x="105165" y="43846"/>
                </a:lnTo>
                <a:lnTo>
                  <a:pt x="145678" y="20175"/>
                </a:lnTo>
                <a:lnTo>
                  <a:pt x="190445" y="5215"/>
                </a:lnTo>
                <a:lnTo>
                  <a:pt x="238506" y="0"/>
                </a:lnTo>
                <a:lnTo>
                  <a:pt x="286566" y="5215"/>
                </a:lnTo>
                <a:lnTo>
                  <a:pt x="331333" y="20175"/>
                </a:lnTo>
                <a:lnTo>
                  <a:pt x="371846" y="43846"/>
                </a:lnTo>
                <a:lnTo>
                  <a:pt x="407146" y="75199"/>
                </a:lnTo>
                <a:lnTo>
                  <a:pt x="436272" y="113202"/>
                </a:lnTo>
                <a:lnTo>
                  <a:pt x="458265" y="156823"/>
                </a:lnTo>
                <a:lnTo>
                  <a:pt x="472165" y="205030"/>
                </a:lnTo>
                <a:lnTo>
                  <a:pt x="477012" y="256794"/>
                </a:lnTo>
                <a:lnTo>
                  <a:pt x="472165" y="308557"/>
                </a:lnTo>
                <a:lnTo>
                  <a:pt x="458265" y="356764"/>
                </a:lnTo>
                <a:lnTo>
                  <a:pt x="436272" y="400385"/>
                </a:lnTo>
                <a:lnTo>
                  <a:pt x="407146" y="438388"/>
                </a:lnTo>
                <a:lnTo>
                  <a:pt x="371846" y="469741"/>
                </a:lnTo>
                <a:lnTo>
                  <a:pt x="331333" y="493412"/>
                </a:lnTo>
                <a:lnTo>
                  <a:pt x="286566" y="508372"/>
                </a:lnTo>
                <a:lnTo>
                  <a:pt x="238506" y="513588"/>
                </a:lnTo>
                <a:lnTo>
                  <a:pt x="190445" y="508372"/>
                </a:lnTo>
                <a:lnTo>
                  <a:pt x="145678" y="493412"/>
                </a:lnTo>
                <a:lnTo>
                  <a:pt x="105165" y="469741"/>
                </a:lnTo>
                <a:lnTo>
                  <a:pt x="69865" y="438388"/>
                </a:lnTo>
                <a:lnTo>
                  <a:pt x="40739" y="400385"/>
                </a:lnTo>
                <a:lnTo>
                  <a:pt x="18746" y="356764"/>
                </a:lnTo>
                <a:lnTo>
                  <a:pt x="4846" y="308557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77461" y="3080766"/>
            <a:ext cx="477520" cy="513715"/>
          </a:xfrm>
          <a:custGeom>
            <a:avLst/>
            <a:gdLst/>
            <a:ahLst/>
            <a:cxnLst/>
            <a:rect l="l" t="t" r="r" b="b"/>
            <a:pathLst>
              <a:path w="477520" h="513714">
                <a:moveTo>
                  <a:pt x="0" y="256794"/>
                </a:moveTo>
                <a:lnTo>
                  <a:pt x="4846" y="205030"/>
                </a:lnTo>
                <a:lnTo>
                  <a:pt x="18746" y="156823"/>
                </a:lnTo>
                <a:lnTo>
                  <a:pt x="40739" y="113202"/>
                </a:lnTo>
                <a:lnTo>
                  <a:pt x="69865" y="75199"/>
                </a:lnTo>
                <a:lnTo>
                  <a:pt x="105165" y="43846"/>
                </a:lnTo>
                <a:lnTo>
                  <a:pt x="145678" y="20175"/>
                </a:lnTo>
                <a:lnTo>
                  <a:pt x="190445" y="5215"/>
                </a:lnTo>
                <a:lnTo>
                  <a:pt x="238505" y="0"/>
                </a:lnTo>
                <a:lnTo>
                  <a:pt x="286566" y="5215"/>
                </a:lnTo>
                <a:lnTo>
                  <a:pt x="331333" y="20175"/>
                </a:lnTo>
                <a:lnTo>
                  <a:pt x="371846" y="43846"/>
                </a:lnTo>
                <a:lnTo>
                  <a:pt x="407146" y="75199"/>
                </a:lnTo>
                <a:lnTo>
                  <a:pt x="436272" y="113202"/>
                </a:lnTo>
                <a:lnTo>
                  <a:pt x="458265" y="156823"/>
                </a:lnTo>
                <a:lnTo>
                  <a:pt x="472165" y="205030"/>
                </a:lnTo>
                <a:lnTo>
                  <a:pt x="477012" y="256794"/>
                </a:lnTo>
                <a:lnTo>
                  <a:pt x="472165" y="308557"/>
                </a:lnTo>
                <a:lnTo>
                  <a:pt x="458265" y="356764"/>
                </a:lnTo>
                <a:lnTo>
                  <a:pt x="436272" y="400385"/>
                </a:lnTo>
                <a:lnTo>
                  <a:pt x="407146" y="438388"/>
                </a:lnTo>
                <a:lnTo>
                  <a:pt x="371846" y="469741"/>
                </a:lnTo>
                <a:lnTo>
                  <a:pt x="331333" y="493412"/>
                </a:lnTo>
                <a:lnTo>
                  <a:pt x="286566" y="508372"/>
                </a:lnTo>
                <a:lnTo>
                  <a:pt x="238505" y="513588"/>
                </a:lnTo>
                <a:lnTo>
                  <a:pt x="190445" y="508372"/>
                </a:lnTo>
                <a:lnTo>
                  <a:pt x="145678" y="493412"/>
                </a:lnTo>
                <a:lnTo>
                  <a:pt x="105165" y="469741"/>
                </a:lnTo>
                <a:lnTo>
                  <a:pt x="69865" y="438388"/>
                </a:lnTo>
                <a:lnTo>
                  <a:pt x="40739" y="400385"/>
                </a:lnTo>
                <a:lnTo>
                  <a:pt x="18746" y="356764"/>
                </a:lnTo>
                <a:lnTo>
                  <a:pt x="4846" y="308557"/>
                </a:lnTo>
                <a:lnTo>
                  <a:pt x="0" y="25679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4722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830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1053019"/>
            <a:ext cx="8208645" cy="4199255"/>
          </a:xfrm>
          <a:prstGeom prst="rect">
            <a:avLst/>
          </a:prstGeom>
        </p:spPr>
        <p:txBody>
          <a:bodyPr wrap="square" lIns="0" tIns="28384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223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5.15</a:t>
            </a:r>
            <a:endParaRPr sz="3200">
              <a:latin typeface="Times New Roman"/>
              <a:cs typeface="Times New Roman"/>
            </a:endParaRPr>
          </a:p>
          <a:p>
            <a:pPr marL="12700" marR="5080" indent="914400">
              <a:lnSpc>
                <a:spcPct val="14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按照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的项目集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范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造的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如果每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入口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含多重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3200" spc="25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则称它为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具有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 表的文法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析表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的语法分析器称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8858" y="3938778"/>
            <a:ext cx="1758950" cy="355600"/>
          </a:xfrm>
          <a:custGeom>
            <a:avLst/>
            <a:gdLst/>
            <a:ahLst/>
            <a:cxnLst/>
            <a:rect l="l" t="t" r="r" b="b"/>
            <a:pathLst>
              <a:path w="1758950" h="355600">
                <a:moveTo>
                  <a:pt x="0" y="355092"/>
                </a:moveTo>
                <a:lnTo>
                  <a:pt x="1758695" y="355092"/>
                </a:lnTo>
                <a:lnTo>
                  <a:pt x="1758695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89826" y="3277361"/>
            <a:ext cx="1626235" cy="344805"/>
          </a:xfrm>
          <a:custGeom>
            <a:avLst/>
            <a:gdLst/>
            <a:ahLst/>
            <a:cxnLst/>
            <a:rect l="l" t="t" r="r" b="b"/>
            <a:pathLst>
              <a:path w="1626234" h="344804">
                <a:moveTo>
                  <a:pt x="0" y="344424"/>
                </a:moveTo>
                <a:lnTo>
                  <a:pt x="1626107" y="344424"/>
                </a:lnTo>
                <a:lnTo>
                  <a:pt x="162610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4162" y="4423409"/>
            <a:ext cx="240030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9654" y="1029461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905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 marR="199390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>
              <a:lnSpc>
                <a:spcPts val="3629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13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90805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54604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1053" y="698754"/>
            <a:ext cx="20332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34461" y="9723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34583" y="61950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02202" y="1736851"/>
            <a:ext cx="1849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4461" y="1784604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241675" y="543306"/>
            <a:ext cx="378460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61053" y="1309877"/>
            <a:ext cx="2476500" cy="948055"/>
          </a:xfrm>
          <a:custGeom>
            <a:avLst/>
            <a:gdLst/>
            <a:ahLst/>
            <a:cxnLst/>
            <a:rect l="l" t="t" r="r" b="b"/>
            <a:pathLst>
              <a:path w="2476500" h="948055">
                <a:moveTo>
                  <a:pt x="0" y="947927"/>
                </a:moveTo>
                <a:lnTo>
                  <a:pt x="2476500" y="947927"/>
                </a:lnTo>
                <a:lnTo>
                  <a:pt x="2476500" y="0"/>
                </a:lnTo>
                <a:lnTo>
                  <a:pt x="0" y="0"/>
                </a:lnTo>
                <a:lnTo>
                  <a:pt x="0" y="9479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876802" y="1273556"/>
            <a:ext cx="275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909" sz="4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baseline="-26909" sz="4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1053" y="2486405"/>
            <a:ext cx="19951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334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34461" y="2724911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1" y="0"/>
                </a:moveTo>
                <a:lnTo>
                  <a:pt x="774191" y="114300"/>
                </a:lnTo>
                <a:lnTo>
                  <a:pt x="850391" y="76200"/>
                </a:lnTo>
                <a:lnTo>
                  <a:pt x="793241" y="76200"/>
                </a:lnTo>
                <a:lnTo>
                  <a:pt x="793241" y="38100"/>
                </a:lnTo>
                <a:lnTo>
                  <a:pt x="850391" y="38100"/>
                </a:lnTo>
                <a:lnTo>
                  <a:pt x="774191" y="0"/>
                </a:lnTo>
                <a:close/>
              </a:path>
              <a:path w="889000" h="114300">
                <a:moveTo>
                  <a:pt x="7741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1" y="76200"/>
                </a:lnTo>
                <a:lnTo>
                  <a:pt x="774191" y="38100"/>
                </a:lnTo>
                <a:close/>
              </a:path>
              <a:path w="889000" h="114300">
                <a:moveTo>
                  <a:pt x="850391" y="38100"/>
                </a:moveTo>
                <a:lnTo>
                  <a:pt x="793241" y="38100"/>
                </a:lnTo>
                <a:lnTo>
                  <a:pt x="793241" y="76200"/>
                </a:lnTo>
                <a:lnTo>
                  <a:pt x="850391" y="76200"/>
                </a:lnTo>
                <a:lnTo>
                  <a:pt x="888491" y="57150"/>
                </a:lnTo>
                <a:lnTo>
                  <a:pt x="8503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197098" y="2307463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08928" y="24202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76547" y="5355437"/>
            <a:ext cx="2474595" cy="146240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 indent="25400">
              <a:lnSpc>
                <a:spcPct val="97200"/>
              </a:lnSpc>
              <a:spcBef>
                <a:spcPts val="21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22953" y="4880609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8"/>
                </a:moveTo>
                <a:lnTo>
                  <a:pt x="2781300" y="1915668"/>
                </a:lnTo>
                <a:lnTo>
                  <a:pt x="2781300" y="0"/>
                </a:lnTo>
                <a:lnTo>
                  <a:pt x="0" y="0"/>
                </a:lnTo>
                <a:lnTo>
                  <a:pt x="0" y="19156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626732" y="5322823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55419" y="3938778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2"/>
                </a:moveTo>
                <a:lnTo>
                  <a:pt x="0" y="370332"/>
                </a:lnTo>
                <a:lnTo>
                  <a:pt x="57150" y="484632"/>
                </a:lnTo>
                <a:lnTo>
                  <a:pt x="104775" y="389382"/>
                </a:lnTo>
                <a:lnTo>
                  <a:pt x="38100" y="389382"/>
                </a:lnTo>
                <a:lnTo>
                  <a:pt x="38100" y="370332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2"/>
                </a:lnTo>
                <a:lnTo>
                  <a:pt x="76200" y="389382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2"/>
                </a:moveTo>
                <a:lnTo>
                  <a:pt x="76200" y="370332"/>
                </a:lnTo>
                <a:lnTo>
                  <a:pt x="76200" y="389382"/>
                </a:lnTo>
                <a:lnTo>
                  <a:pt x="104775" y="389382"/>
                </a:lnTo>
                <a:lnTo>
                  <a:pt x="114300" y="3703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590294" y="3898519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46273" y="435571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93306" y="651509"/>
            <a:ext cx="193040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93306" y="1346708"/>
            <a:ext cx="145669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90183" y="1029461"/>
            <a:ext cx="512445" cy="297180"/>
          </a:xfrm>
          <a:custGeom>
            <a:avLst/>
            <a:gdLst/>
            <a:ahLst/>
            <a:cxnLst/>
            <a:rect l="l" t="t" r="r" b="b"/>
            <a:pathLst>
              <a:path w="512445" h="297180">
                <a:moveTo>
                  <a:pt x="403100" y="38993"/>
                </a:moveTo>
                <a:lnTo>
                  <a:pt x="0" y="263778"/>
                </a:lnTo>
                <a:lnTo>
                  <a:pt x="18541" y="297052"/>
                </a:lnTo>
                <a:lnTo>
                  <a:pt x="421642" y="72267"/>
                </a:lnTo>
                <a:lnTo>
                  <a:pt x="403100" y="38993"/>
                </a:lnTo>
                <a:close/>
              </a:path>
              <a:path w="512445" h="297180">
                <a:moveTo>
                  <a:pt x="491914" y="29717"/>
                </a:moveTo>
                <a:lnTo>
                  <a:pt x="419735" y="29717"/>
                </a:lnTo>
                <a:lnTo>
                  <a:pt x="438276" y="62991"/>
                </a:lnTo>
                <a:lnTo>
                  <a:pt x="421642" y="72267"/>
                </a:lnTo>
                <a:lnTo>
                  <a:pt x="440182" y="105537"/>
                </a:lnTo>
                <a:lnTo>
                  <a:pt x="491914" y="29717"/>
                </a:lnTo>
                <a:close/>
              </a:path>
              <a:path w="512445" h="297180">
                <a:moveTo>
                  <a:pt x="419735" y="29717"/>
                </a:moveTo>
                <a:lnTo>
                  <a:pt x="403100" y="38993"/>
                </a:lnTo>
                <a:lnTo>
                  <a:pt x="421642" y="72267"/>
                </a:lnTo>
                <a:lnTo>
                  <a:pt x="438276" y="62991"/>
                </a:lnTo>
                <a:lnTo>
                  <a:pt x="419735" y="29717"/>
                </a:lnTo>
                <a:close/>
              </a:path>
              <a:path w="512445" h="297180">
                <a:moveTo>
                  <a:pt x="512190" y="0"/>
                </a:moveTo>
                <a:lnTo>
                  <a:pt x="384556" y="5714"/>
                </a:lnTo>
                <a:lnTo>
                  <a:pt x="403100" y="38993"/>
                </a:lnTo>
                <a:lnTo>
                  <a:pt x="419735" y="29717"/>
                </a:lnTo>
                <a:lnTo>
                  <a:pt x="491914" y="29717"/>
                </a:lnTo>
                <a:lnTo>
                  <a:pt x="5121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417055" y="721232"/>
            <a:ext cx="257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802373" y="660654"/>
            <a:ext cx="2178050" cy="1430020"/>
          </a:xfrm>
          <a:custGeom>
            <a:avLst/>
            <a:gdLst/>
            <a:ahLst/>
            <a:cxnLst/>
            <a:rect l="l" t="t" r="r" b="b"/>
            <a:pathLst>
              <a:path w="2178050" h="1430020">
                <a:moveTo>
                  <a:pt x="0" y="1429512"/>
                </a:moveTo>
                <a:lnTo>
                  <a:pt x="2177796" y="1429512"/>
                </a:lnTo>
                <a:lnTo>
                  <a:pt x="21777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728836" y="1268983"/>
            <a:ext cx="21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7754" y="5232653"/>
            <a:ext cx="291846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755">
              <a:lnSpc>
                <a:spcPts val="37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9465" y="6096761"/>
            <a:ext cx="256794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9220">
              <a:lnSpc>
                <a:spcPts val="36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38245" y="520486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40" y="6148527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94906" y="2452242"/>
            <a:ext cx="2019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41670" y="4662170"/>
            <a:ext cx="979805" cy="438784"/>
          </a:xfrm>
          <a:custGeom>
            <a:avLst/>
            <a:gdLst/>
            <a:ahLst/>
            <a:cxnLst/>
            <a:rect l="l" t="t" r="r" b="b"/>
            <a:pathLst>
              <a:path w="979804" h="438785">
                <a:moveTo>
                  <a:pt x="943728" y="38099"/>
                </a:moveTo>
                <a:lnTo>
                  <a:pt x="811656" y="38099"/>
                </a:lnTo>
                <a:lnTo>
                  <a:pt x="828801" y="38353"/>
                </a:lnTo>
                <a:lnTo>
                  <a:pt x="844423" y="39115"/>
                </a:lnTo>
                <a:lnTo>
                  <a:pt x="883030" y="46227"/>
                </a:lnTo>
                <a:lnTo>
                  <a:pt x="921765" y="69976"/>
                </a:lnTo>
                <a:lnTo>
                  <a:pt x="939546" y="109854"/>
                </a:lnTo>
                <a:lnTo>
                  <a:pt x="941704" y="130936"/>
                </a:lnTo>
                <a:lnTo>
                  <a:pt x="941624" y="144652"/>
                </a:lnTo>
                <a:lnTo>
                  <a:pt x="935608" y="194944"/>
                </a:lnTo>
                <a:lnTo>
                  <a:pt x="920241" y="255269"/>
                </a:lnTo>
                <a:lnTo>
                  <a:pt x="898398" y="320928"/>
                </a:lnTo>
                <a:lnTo>
                  <a:pt x="872489" y="389762"/>
                </a:lnTo>
                <a:lnTo>
                  <a:pt x="858774" y="424941"/>
                </a:lnTo>
                <a:lnTo>
                  <a:pt x="894333" y="438657"/>
                </a:lnTo>
                <a:lnTo>
                  <a:pt x="921384" y="368553"/>
                </a:lnTo>
                <a:lnTo>
                  <a:pt x="945896" y="299973"/>
                </a:lnTo>
                <a:lnTo>
                  <a:pt x="965580" y="234441"/>
                </a:lnTo>
                <a:lnTo>
                  <a:pt x="975486" y="187959"/>
                </a:lnTo>
                <a:lnTo>
                  <a:pt x="979804" y="144652"/>
                </a:lnTo>
                <a:lnTo>
                  <a:pt x="979804" y="130936"/>
                </a:lnTo>
                <a:lnTo>
                  <a:pt x="974598" y="92201"/>
                </a:lnTo>
                <a:lnTo>
                  <a:pt x="952373" y="47370"/>
                </a:lnTo>
                <a:lnTo>
                  <a:pt x="943728" y="38099"/>
                </a:lnTo>
                <a:close/>
              </a:path>
              <a:path w="979804" h="438785">
                <a:moveTo>
                  <a:pt x="91058" y="138683"/>
                </a:moveTo>
                <a:lnTo>
                  <a:pt x="0" y="228345"/>
                </a:lnTo>
                <a:lnTo>
                  <a:pt x="126364" y="247268"/>
                </a:lnTo>
                <a:lnTo>
                  <a:pt x="116537" y="217042"/>
                </a:lnTo>
                <a:lnTo>
                  <a:pt x="96519" y="217042"/>
                </a:lnTo>
                <a:lnTo>
                  <a:pt x="84708" y="180720"/>
                </a:lnTo>
                <a:lnTo>
                  <a:pt x="102823" y="174866"/>
                </a:lnTo>
                <a:lnTo>
                  <a:pt x="91058" y="138683"/>
                </a:lnTo>
                <a:close/>
              </a:path>
              <a:path w="979804" h="438785">
                <a:moveTo>
                  <a:pt x="102823" y="174866"/>
                </a:moveTo>
                <a:lnTo>
                  <a:pt x="84708" y="180720"/>
                </a:lnTo>
                <a:lnTo>
                  <a:pt x="96519" y="217042"/>
                </a:lnTo>
                <a:lnTo>
                  <a:pt x="114609" y="211113"/>
                </a:lnTo>
                <a:lnTo>
                  <a:pt x="102823" y="174866"/>
                </a:lnTo>
                <a:close/>
              </a:path>
              <a:path w="979804" h="438785">
                <a:moveTo>
                  <a:pt x="114609" y="211113"/>
                </a:moveTo>
                <a:lnTo>
                  <a:pt x="96519" y="217042"/>
                </a:lnTo>
                <a:lnTo>
                  <a:pt x="116537" y="217042"/>
                </a:lnTo>
                <a:lnTo>
                  <a:pt x="114609" y="211113"/>
                </a:lnTo>
                <a:close/>
              </a:path>
              <a:path w="979804" h="438785">
                <a:moveTo>
                  <a:pt x="812164" y="0"/>
                </a:moveTo>
                <a:lnTo>
                  <a:pt x="771525" y="2031"/>
                </a:lnTo>
                <a:lnTo>
                  <a:pt x="726947" y="6857"/>
                </a:lnTo>
                <a:lnTo>
                  <a:pt x="678941" y="14350"/>
                </a:lnTo>
                <a:lnTo>
                  <a:pt x="627506" y="24383"/>
                </a:lnTo>
                <a:lnTo>
                  <a:pt x="573024" y="36575"/>
                </a:lnTo>
                <a:lnTo>
                  <a:pt x="515746" y="50799"/>
                </a:lnTo>
                <a:lnTo>
                  <a:pt x="456056" y="66801"/>
                </a:lnTo>
                <a:lnTo>
                  <a:pt x="394207" y="84327"/>
                </a:lnTo>
                <a:lnTo>
                  <a:pt x="330326" y="103250"/>
                </a:lnTo>
                <a:lnTo>
                  <a:pt x="264921" y="123316"/>
                </a:lnTo>
                <a:lnTo>
                  <a:pt x="102823" y="174866"/>
                </a:lnTo>
                <a:lnTo>
                  <a:pt x="114609" y="211113"/>
                </a:lnTo>
                <a:lnTo>
                  <a:pt x="142239" y="202056"/>
                </a:lnTo>
                <a:lnTo>
                  <a:pt x="276097" y="159638"/>
                </a:lnTo>
                <a:lnTo>
                  <a:pt x="404621" y="121030"/>
                </a:lnTo>
                <a:lnTo>
                  <a:pt x="465963" y="103631"/>
                </a:lnTo>
                <a:lnTo>
                  <a:pt x="525144" y="87756"/>
                </a:lnTo>
                <a:lnTo>
                  <a:pt x="581532" y="73786"/>
                </a:lnTo>
                <a:lnTo>
                  <a:pt x="635126" y="61721"/>
                </a:lnTo>
                <a:lnTo>
                  <a:pt x="685291" y="51942"/>
                </a:lnTo>
                <a:lnTo>
                  <a:pt x="731646" y="44703"/>
                </a:lnTo>
                <a:lnTo>
                  <a:pt x="774064" y="40004"/>
                </a:lnTo>
                <a:lnTo>
                  <a:pt x="811656" y="38099"/>
                </a:lnTo>
                <a:lnTo>
                  <a:pt x="943728" y="38099"/>
                </a:lnTo>
                <a:lnTo>
                  <a:pt x="910081" y="15747"/>
                </a:lnTo>
                <a:lnTo>
                  <a:pt x="865758" y="3428"/>
                </a:lnTo>
                <a:lnTo>
                  <a:pt x="830960" y="253"/>
                </a:lnTo>
                <a:lnTo>
                  <a:pt x="8121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858002" y="4468495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16011" y="2090166"/>
            <a:ext cx="114300" cy="396240"/>
          </a:xfrm>
          <a:custGeom>
            <a:avLst/>
            <a:gdLst/>
            <a:ahLst/>
            <a:cxnLst/>
            <a:rect l="l" t="t" r="r" b="b"/>
            <a:pathLst>
              <a:path w="114300" h="396239">
                <a:moveTo>
                  <a:pt x="38100" y="281939"/>
                </a:moveTo>
                <a:lnTo>
                  <a:pt x="0" y="281939"/>
                </a:lnTo>
                <a:lnTo>
                  <a:pt x="57150" y="396239"/>
                </a:lnTo>
                <a:lnTo>
                  <a:pt x="104775" y="300989"/>
                </a:lnTo>
                <a:lnTo>
                  <a:pt x="38100" y="300989"/>
                </a:lnTo>
                <a:lnTo>
                  <a:pt x="38100" y="281939"/>
                </a:lnTo>
                <a:close/>
              </a:path>
              <a:path w="114300" h="396239">
                <a:moveTo>
                  <a:pt x="76200" y="0"/>
                </a:moveTo>
                <a:lnTo>
                  <a:pt x="38100" y="0"/>
                </a:lnTo>
                <a:lnTo>
                  <a:pt x="38100" y="300989"/>
                </a:lnTo>
                <a:lnTo>
                  <a:pt x="76200" y="300989"/>
                </a:lnTo>
                <a:lnTo>
                  <a:pt x="76200" y="0"/>
                </a:lnTo>
                <a:close/>
              </a:path>
              <a:path w="114300" h="396239">
                <a:moveTo>
                  <a:pt x="114300" y="281939"/>
                </a:moveTo>
                <a:lnTo>
                  <a:pt x="76200" y="281939"/>
                </a:lnTo>
                <a:lnTo>
                  <a:pt x="76200" y="300989"/>
                </a:lnTo>
                <a:lnTo>
                  <a:pt x="104775" y="300989"/>
                </a:lnTo>
                <a:lnTo>
                  <a:pt x="114300" y="281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801736" y="1959610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928866" y="2847594"/>
            <a:ext cx="2215515" cy="0"/>
          </a:xfrm>
          <a:custGeom>
            <a:avLst/>
            <a:gdLst/>
            <a:ahLst/>
            <a:cxnLst/>
            <a:rect l="l" t="t" r="r" b="b"/>
            <a:pathLst>
              <a:path w="2215515" h="0">
                <a:moveTo>
                  <a:pt x="0" y="0"/>
                </a:moveTo>
                <a:lnTo>
                  <a:pt x="221513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28866" y="2462022"/>
            <a:ext cx="2215515" cy="386080"/>
          </a:xfrm>
          <a:custGeom>
            <a:avLst/>
            <a:gdLst/>
            <a:ahLst/>
            <a:cxnLst/>
            <a:rect l="l" t="t" r="r" b="b"/>
            <a:pathLst>
              <a:path w="2215515" h="386080">
                <a:moveTo>
                  <a:pt x="2215133" y="0"/>
                </a:moveTo>
                <a:lnTo>
                  <a:pt x="0" y="0"/>
                </a:lnTo>
                <a:lnTo>
                  <a:pt x="0" y="3855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308213" y="2815285"/>
            <a:ext cx="763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10</a:t>
            </a:r>
            <a:r>
              <a:rPr dirty="0" sz="3200" spc="-2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baseline="13888" sz="4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58659" y="4491939"/>
            <a:ext cx="1468755" cy="10871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979157" y="4153661"/>
            <a:ext cx="1720850" cy="1430020"/>
          </a:xfrm>
          <a:custGeom>
            <a:avLst/>
            <a:gdLst/>
            <a:ahLst/>
            <a:cxnLst/>
            <a:rect l="l" t="t" r="r" b="b"/>
            <a:pathLst>
              <a:path w="1720850" h="1430020">
                <a:moveTo>
                  <a:pt x="0" y="1429512"/>
                </a:moveTo>
                <a:lnTo>
                  <a:pt x="1720596" y="1429512"/>
                </a:lnTo>
                <a:lnTo>
                  <a:pt x="17205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703309" y="4447488"/>
            <a:ext cx="3981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75" b="1">
                <a:solidFill>
                  <a:srgbClr val="66FFFF"/>
                </a:solidFill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04946" y="4022216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923667" y="3923029"/>
            <a:ext cx="1420495" cy="985519"/>
          </a:xfrm>
          <a:custGeom>
            <a:avLst/>
            <a:gdLst/>
            <a:ahLst/>
            <a:cxnLst/>
            <a:rect l="l" t="t" r="r" b="b"/>
            <a:pathLst>
              <a:path w="1420495" h="985520">
                <a:moveTo>
                  <a:pt x="1315461" y="935954"/>
                </a:moveTo>
                <a:lnTo>
                  <a:pt x="1293875" y="967359"/>
                </a:lnTo>
                <a:lnTo>
                  <a:pt x="1420495" y="985012"/>
                </a:lnTo>
                <a:lnTo>
                  <a:pt x="1399363" y="946785"/>
                </a:lnTo>
                <a:lnTo>
                  <a:pt x="1331213" y="946785"/>
                </a:lnTo>
                <a:lnTo>
                  <a:pt x="1315461" y="935954"/>
                </a:lnTo>
                <a:close/>
              </a:path>
              <a:path w="1420495" h="985520">
                <a:moveTo>
                  <a:pt x="1337091" y="904485"/>
                </a:moveTo>
                <a:lnTo>
                  <a:pt x="1315461" y="935954"/>
                </a:lnTo>
                <a:lnTo>
                  <a:pt x="1331213" y="946785"/>
                </a:lnTo>
                <a:lnTo>
                  <a:pt x="1352804" y="915289"/>
                </a:lnTo>
                <a:lnTo>
                  <a:pt x="1337091" y="904485"/>
                </a:lnTo>
                <a:close/>
              </a:path>
              <a:path w="1420495" h="985520">
                <a:moveTo>
                  <a:pt x="1358645" y="873125"/>
                </a:moveTo>
                <a:lnTo>
                  <a:pt x="1337091" y="904485"/>
                </a:lnTo>
                <a:lnTo>
                  <a:pt x="1352804" y="915289"/>
                </a:lnTo>
                <a:lnTo>
                  <a:pt x="1331213" y="946785"/>
                </a:lnTo>
                <a:lnTo>
                  <a:pt x="1399363" y="946785"/>
                </a:lnTo>
                <a:lnTo>
                  <a:pt x="1358645" y="873125"/>
                </a:lnTo>
                <a:close/>
              </a:path>
              <a:path w="1420495" h="985520">
                <a:moveTo>
                  <a:pt x="21589" y="0"/>
                </a:moveTo>
                <a:lnTo>
                  <a:pt x="0" y="31496"/>
                </a:lnTo>
                <a:lnTo>
                  <a:pt x="1315461" y="935954"/>
                </a:lnTo>
                <a:lnTo>
                  <a:pt x="1337091" y="904485"/>
                </a:lnTo>
                <a:lnTo>
                  <a:pt x="215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136773" y="5979667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867405" y="6373367"/>
            <a:ext cx="955675" cy="114300"/>
          </a:xfrm>
          <a:custGeom>
            <a:avLst/>
            <a:gdLst/>
            <a:ahLst/>
            <a:cxnLst/>
            <a:rect l="l" t="t" r="r" b="b"/>
            <a:pathLst>
              <a:path w="95567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5567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55675" h="114300">
                <a:moveTo>
                  <a:pt x="955547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55547" y="76199"/>
                </a:lnTo>
                <a:lnTo>
                  <a:pt x="955547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432047" y="4871720"/>
            <a:ext cx="29444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8680" sz="48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8680" sz="4800" spc="4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227070" y="5233415"/>
            <a:ext cx="596265" cy="114300"/>
          </a:xfrm>
          <a:custGeom>
            <a:avLst/>
            <a:gdLst/>
            <a:ahLst/>
            <a:cxnLst/>
            <a:rect l="l" t="t" r="r" b="b"/>
            <a:pathLst>
              <a:path w="59626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9626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96264" h="114300">
                <a:moveTo>
                  <a:pt x="59588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95883" y="76200"/>
                </a:lnTo>
                <a:lnTo>
                  <a:pt x="59588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3422650" y="4410913"/>
            <a:ext cx="1390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34461" y="4800472"/>
            <a:ext cx="890269" cy="127000"/>
          </a:xfrm>
          <a:custGeom>
            <a:avLst/>
            <a:gdLst/>
            <a:ahLst/>
            <a:cxnLst/>
            <a:rect l="l" t="t" r="r" b="b"/>
            <a:pathLst>
              <a:path w="890270" h="127000">
                <a:moveTo>
                  <a:pt x="115272" y="38068"/>
                </a:moveTo>
                <a:lnTo>
                  <a:pt x="112823" y="76041"/>
                </a:lnTo>
                <a:lnTo>
                  <a:pt x="887222" y="126618"/>
                </a:lnTo>
                <a:lnTo>
                  <a:pt x="889762" y="88518"/>
                </a:lnTo>
                <a:lnTo>
                  <a:pt x="115272" y="38068"/>
                </a:lnTo>
                <a:close/>
              </a:path>
              <a:path w="890270" h="127000">
                <a:moveTo>
                  <a:pt x="117729" y="0"/>
                </a:moveTo>
                <a:lnTo>
                  <a:pt x="0" y="49656"/>
                </a:lnTo>
                <a:lnTo>
                  <a:pt x="110362" y="114172"/>
                </a:lnTo>
                <a:lnTo>
                  <a:pt x="112823" y="76041"/>
                </a:lnTo>
                <a:lnTo>
                  <a:pt x="93852" y="74802"/>
                </a:lnTo>
                <a:lnTo>
                  <a:pt x="96265" y="36829"/>
                </a:lnTo>
                <a:lnTo>
                  <a:pt x="115352" y="36829"/>
                </a:lnTo>
                <a:lnTo>
                  <a:pt x="117729" y="0"/>
                </a:lnTo>
                <a:close/>
              </a:path>
              <a:path w="890270" h="127000">
                <a:moveTo>
                  <a:pt x="96265" y="36829"/>
                </a:moveTo>
                <a:lnTo>
                  <a:pt x="93852" y="74802"/>
                </a:lnTo>
                <a:lnTo>
                  <a:pt x="112823" y="76041"/>
                </a:lnTo>
                <a:lnTo>
                  <a:pt x="115272" y="38068"/>
                </a:lnTo>
                <a:lnTo>
                  <a:pt x="96265" y="36829"/>
                </a:lnTo>
                <a:close/>
              </a:path>
              <a:path w="890270" h="127000">
                <a:moveTo>
                  <a:pt x="115352" y="36829"/>
                </a:moveTo>
                <a:lnTo>
                  <a:pt x="96265" y="36829"/>
                </a:lnTo>
                <a:lnTo>
                  <a:pt x="115272" y="38068"/>
                </a:lnTo>
                <a:lnTo>
                  <a:pt x="115352" y="368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198870" y="1794510"/>
            <a:ext cx="603885" cy="1419225"/>
          </a:xfrm>
          <a:custGeom>
            <a:avLst/>
            <a:gdLst/>
            <a:ahLst/>
            <a:cxnLst/>
            <a:rect l="l" t="t" r="r" b="b"/>
            <a:pathLst>
              <a:path w="603884" h="1419225">
                <a:moveTo>
                  <a:pt x="603503" y="0"/>
                </a:moveTo>
                <a:lnTo>
                  <a:pt x="0" y="14188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410961" y="3194811"/>
            <a:ext cx="792480" cy="241935"/>
          </a:xfrm>
          <a:custGeom>
            <a:avLst/>
            <a:gdLst/>
            <a:ahLst/>
            <a:cxnLst/>
            <a:rect l="l" t="t" r="r" b="b"/>
            <a:pathLst>
              <a:path w="792479" h="241935">
                <a:moveTo>
                  <a:pt x="97154" y="130683"/>
                </a:moveTo>
                <a:lnTo>
                  <a:pt x="0" y="213613"/>
                </a:lnTo>
                <a:lnTo>
                  <a:pt x="124713" y="241680"/>
                </a:lnTo>
                <a:lnTo>
                  <a:pt x="116641" y="209168"/>
                </a:lnTo>
                <a:lnTo>
                  <a:pt x="97027" y="209168"/>
                </a:lnTo>
                <a:lnTo>
                  <a:pt x="87884" y="172212"/>
                </a:lnTo>
                <a:lnTo>
                  <a:pt x="106331" y="167643"/>
                </a:lnTo>
                <a:lnTo>
                  <a:pt x="97154" y="130683"/>
                </a:lnTo>
                <a:close/>
              </a:path>
              <a:path w="792479" h="241935">
                <a:moveTo>
                  <a:pt x="106331" y="167643"/>
                </a:moveTo>
                <a:lnTo>
                  <a:pt x="87884" y="172212"/>
                </a:lnTo>
                <a:lnTo>
                  <a:pt x="97027" y="209168"/>
                </a:lnTo>
                <a:lnTo>
                  <a:pt x="115506" y="204596"/>
                </a:lnTo>
                <a:lnTo>
                  <a:pt x="106331" y="167643"/>
                </a:lnTo>
                <a:close/>
              </a:path>
              <a:path w="792479" h="241935">
                <a:moveTo>
                  <a:pt x="115506" y="204596"/>
                </a:moveTo>
                <a:lnTo>
                  <a:pt x="97027" y="209168"/>
                </a:lnTo>
                <a:lnTo>
                  <a:pt x="116641" y="209168"/>
                </a:lnTo>
                <a:lnTo>
                  <a:pt x="115506" y="204596"/>
                </a:lnTo>
                <a:close/>
              </a:path>
              <a:path w="792479" h="241935">
                <a:moveTo>
                  <a:pt x="783336" y="0"/>
                </a:moveTo>
                <a:lnTo>
                  <a:pt x="106331" y="167643"/>
                </a:lnTo>
                <a:lnTo>
                  <a:pt x="115506" y="204596"/>
                </a:lnTo>
                <a:lnTo>
                  <a:pt x="792479" y="37084"/>
                </a:lnTo>
                <a:lnTo>
                  <a:pt x="783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5705602" y="28663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016502" y="3239261"/>
            <a:ext cx="1394460" cy="386080"/>
          </a:xfrm>
          <a:custGeom>
            <a:avLst/>
            <a:gdLst/>
            <a:ahLst/>
            <a:cxnLst/>
            <a:rect l="l" t="t" r="r" b="b"/>
            <a:pathLst>
              <a:path w="1394460" h="386079">
                <a:moveTo>
                  <a:pt x="0" y="385571"/>
                </a:moveTo>
                <a:lnTo>
                  <a:pt x="1394460" y="385571"/>
                </a:lnTo>
                <a:lnTo>
                  <a:pt x="13944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606800" y="3137357"/>
            <a:ext cx="16884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12</a:t>
            </a:r>
            <a:r>
              <a:rPr dirty="0" sz="3200" spc="-2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baseline="2314" sz="3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118102" y="3796360"/>
            <a:ext cx="2185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076" sz="4800" b="1">
                <a:solidFill>
                  <a:srgbClr val="66FFFF"/>
                </a:solidFill>
                <a:latin typeface="Times New Roman"/>
                <a:cs typeface="Times New Roman"/>
              </a:rPr>
              <a:t>13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044308" y="3217545"/>
            <a:ext cx="131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22869" y="4005834"/>
            <a:ext cx="1252220" cy="454025"/>
          </a:xfrm>
          <a:custGeom>
            <a:avLst/>
            <a:gdLst/>
            <a:ahLst/>
            <a:cxnLst/>
            <a:rect l="l" t="t" r="r" b="b"/>
            <a:pathLst>
              <a:path w="1252220" h="454025">
                <a:moveTo>
                  <a:pt x="1251670" y="94107"/>
                </a:moveTo>
                <a:lnTo>
                  <a:pt x="1213484" y="94107"/>
                </a:lnTo>
                <a:lnTo>
                  <a:pt x="1213865" y="97155"/>
                </a:lnTo>
                <a:lnTo>
                  <a:pt x="1204468" y="141097"/>
                </a:lnTo>
                <a:lnTo>
                  <a:pt x="1184655" y="178054"/>
                </a:lnTo>
                <a:lnTo>
                  <a:pt x="1155573" y="219329"/>
                </a:lnTo>
                <a:lnTo>
                  <a:pt x="1118870" y="264033"/>
                </a:lnTo>
                <a:lnTo>
                  <a:pt x="1091183" y="295275"/>
                </a:lnTo>
                <a:lnTo>
                  <a:pt x="1061338" y="327279"/>
                </a:lnTo>
                <a:lnTo>
                  <a:pt x="1029843" y="360172"/>
                </a:lnTo>
                <a:lnTo>
                  <a:pt x="964437" y="427101"/>
                </a:lnTo>
                <a:lnTo>
                  <a:pt x="991615" y="453771"/>
                </a:lnTo>
                <a:lnTo>
                  <a:pt x="1057148" y="386715"/>
                </a:lnTo>
                <a:lnTo>
                  <a:pt x="1088771" y="353695"/>
                </a:lnTo>
                <a:lnTo>
                  <a:pt x="1118997" y="321183"/>
                </a:lnTo>
                <a:lnTo>
                  <a:pt x="1147572" y="289179"/>
                </a:lnTo>
                <a:lnTo>
                  <a:pt x="1173479" y="258191"/>
                </a:lnTo>
                <a:lnTo>
                  <a:pt x="1196721" y="227965"/>
                </a:lnTo>
                <a:lnTo>
                  <a:pt x="1225041" y="184912"/>
                </a:lnTo>
                <a:lnTo>
                  <a:pt x="1244219" y="143891"/>
                </a:lnTo>
                <a:lnTo>
                  <a:pt x="1252093" y="104775"/>
                </a:lnTo>
                <a:lnTo>
                  <a:pt x="1251670" y="94107"/>
                </a:lnTo>
                <a:close/>
              </a:path>
              <a:path w="1252220" h="454025">
                <a:moveTo>
                  <a:pt x="103504" y="73406"/>
                </a:moveTo>
                <a:lnTo>
                  <a:pt x="0" y="148336"/>
                </a:lnTo>
                <a:lnTo>
                  <a:pt x="122047" y="186182"/>
                </a:lnTo>
                <a:lnTo>
                  <a:pt x="116367" y="151638"/>
                </a:lnTo>
                <a:lnTo>
                  <a:pt x="97027" y="151638"/>
                </a:lnTo>
                <a:lnTo>
                  <a:pt x="90931" y="114046"/>
                </a:lnTo>
                <a:lnTo>
                  <a:pt x="109684" y="110992"/>
                </a:lnTo>
                <a:lnTo>
                  <a:pt x="103504" y="73406"/>
                </a:lnTo>
                <a:close/>
              </a:path>
              <a:path w="1252220" h="454025">
                <a:moveTo>
                  <a:pt x="109684" y="110992"/>
                </a:moveTo>
                <a:lnTo>
                  <a:pt x="90931" y="114046"/>
                </a:lnTo>
                <a:lnTo>
                  <a:pt x="97027" y="151638"/>
                </a:lnTo>
                <a:lnTo>
                  <a:pt x="115862" y="148567"/>
                </a:lnTo>
                <a:lnTo>
                  <a:pt x="109684" y="110992"/>
                </a:lnTo>
                <a:close/>
              </a:path>
              <a:path w="1252220" h="454025">
                <a:moveTo>
                  <a:pt x="115862" y="148567"/>
                </a:moveTo>
                <a:lnTo>
                  <a:pt x="97027" y="151638"/>
                </a:lnTo>
                <a:lnTo>
                  <a:pt x="116367" y="151638"/>
                </a:lnTo>
                <a:lnTo>
                  <a:pt x="115862" y="148567"/>
                </a:lnTo>
                <a:close/>
              </a:path>
              <a:path w="1252220" h="454025">
                <a:moveTo>
                  <a:pt x="1016126" y="0"/>
                </a:moveTo>
                <a:lnTo>
                  <a:pt x="956945" y="1397"/>
                </a:lnTo>
                <a:lnTo>
                  <a:pt x="857757" y="7747"/>
                </a:lnTo>
                <a:lnTo>
                  <a:pt x="708913" y="22733"/>
                </a:lnTo>
                <a:lnTo>
                  <a:pt x="669162" y="27559"/>
                </a:lnTo>
                <a:lnTo>
                  <a:pt x="501396" y="50038"/>
                </a:lnTo>
                <a:lnTo>
                  <a:pt x="245998" y="89038"/>
                </a:lnTo>
                <a:lnTo>
                  <a:pt x="109684" y="110992"/>
                </a:lnTo>
                <a:lnTo>
                  <a:pt x="115862" y="148567"/>
                </a:lnTo>
                <a:lnTo>
                  <a:pt x="418846" y="100711"/>
                </a:lnTo>
                <a:lnTo>
                  <a:pt x="498866" y="89027"/>
                </a:lnTo>
                <a:lnTo>
                  <a:pt x="633222" y="70485"/>
                </a:lnTo>
                <a:lnTo>
                  <a:pt x="751712" y="56261"/>
                </a:lnTo>
                <a:lnTo>
                  <a:pt x="825500" y="48768"/>
                </a:lnTo>
                <a:lnTo>
                  <a:pt x="894460" y="43180"/>
                </a:lnTo>
                <a:lnTo>
                  <a:pt x="958214" y="39497"/>
                </a:lnTo>
                <a:lnTo>
                  <a:pt x="1015873" y="38100"/>
                </a:lnTo>
                <a:lnTo>
                  <a:pt x="1219952" y="38100"/>
                </a:lnTo>
                <a:lnTo>
                  <a:pt x="1217802" y="36322"/>
                </a:lnTo>
                <a:lnTo>
                  <a:pt x="1174750" y="16002"/>
                </a:lnTo>
                <a:lnTo>
                  <a:pt x="1137411" y="7620"/>
                </a:lnTo>
                <a:lnTo>
                  <a:pt x="1093724" y="2413"/>
                </a:lnTo>
                <a:lnTo>
                  <a:pt x="1043558" y="254"/>
                </a:lnTo>
                <a:lnTo>
                  <a:pt x="1016126" y="0"/>
                </a:lnTo>
                <a:close/>
              </a:path>
              <a:path w="1252220" h="454025">
                <a:moveTo>
                  <a:pt x="1213655" y="96156"/>
                </a:moveTo>
                <a:lnTo>
                  <a:pt x="1213738" y="97155"/>
                </a:lnTo>
                <a:lnTo>
                  <a:pt x="1213655" y="96156"/>
                </a:lnTo>
                <a:close/>
              </a:path>
              <a:path w="1252220" h="454025">
                <a:moveTo>
                  <a:pt x="1213484" y="94107"/>
                </a:moveTo>
                <a:lnTo>
                  <a:pt x="1213655" y="96156"/>
                </a:lnTo>
                <a:lnTo>
                  <a:pt x="1213865" y="97155"/>
                </a:lnTo>
                <a:lnTo>
                  <a:pt x="1213484" y="94107"/>
                </a:lnTo>
                <a:close/>
              </a:path>
              <a:path w="1252220" h="454025">
                <a:moveTo>
                  <a:pt x="1212157" y="89038"/>
                </a:moveTo>
                <a:lnTo>
                  <a:pt x="1213655" y="96156"/>
                </a:lnTo>
                <a:lnTo>
                  <a:pt x="1213484" y="94107"/>
                </a:lnTo>
                <a:lnTo>
                  <a:pt x="1251670" y="94107"/>
                </a:lnTo>
                <a:lnTo>
                  <a:pt x="1251584" y="91948"/>
                </a:lnTo>
                <a:lnTo>
                  <a:pt x="1251419" y="90678"/>
                </a:lnTo>
                <a:lnTo>
                  <a:pt x="1212850" y="90678"/>
                </a:lnTo>
                <a:lnTo>
                  <a:pt x="1212157" y="89038"/>
                </a:lnTo>
                <a:close/>
              </a:path>
              <a:path w="1252220" h="454025">
                <a:moveTo>
                  <a:pt x="1211833" y="87503"/>
                </a:moveTo>
                <a:lnTo>
                  <a:pt x="1212157" y="89038"/>
                </a:lnTo>
                <a:lnTo>
                  <a:pt x="1212850" y="90678"/>
                </a:lnTo>
                <a:lnTo>
                  <a:pt x="1211833" y="87503"/>
                </a:lnTo>
                <a:close/>
              </a:path>
              <a:path w="1252220" h="454025">
                <a:moveTo>
                  <a:pt x="1250863" y="87503"/>
                </a:moveTo>
                <a:lnTo>
                  <a:pt x="1211833" y="87503"/>
                </a:lnTo>
                <a:lnTo>
                  <a:pt x="1212850" y="90678"/>
                </a:lnTo>
                <a:lnTo>
                  <a:pt x="1251419" y="90678"/>
                </a:lnTo>
                <a:lnTo>
                  <a:pt x="1251203" y="89027"/>
                </a:lnTo>
                <a:lnTo>
                  <a:pt x="1250863" y="87503"/>
                </a:lnTo>
                <a:close/>
              </a:path>
              <a:path w="1252220" h="454025">
                <a:moveTo>
                  <a:pt x="1209490" y="82726"/>
                </a:moveTo>
                <a:lnTo>
                  <a:pt x="1212157" y="89038"/>
                </a:lnTo>
                <a:lnTo>
                  <a:pt x="1211833" y="87503"/>
                </a:lnTo>
                <a:lnTo>
                  <a:pt x="1250863" y="87503"/>
                </a:lnTo>
                <a:lnTo>
                  <a:pt x="1250181" y="84455"/>
                </a:lnTo>
                <a:lnTo>
                  <a:pt x="1210563" y="84455"/>
                </a:lnTo>
                <a:lnTo>
                  <a:pt x="1209490" y="82726"/>
                </a:lnTo>
                <a:close/>
              </a:path>
              <a:path w="1252220" h="454025">
                <a:moveTo>
                  <a:pt x="1209039" y="81661"/>
                </a:moveTo>
                <a:lnTo>
                  <a:pt x="1209490" y="82726"/>
                </a:lnTo>
                <a:lnTo>
                  <a:pt x="1210563" y="84455"/>
                </a:lnTo>
                <a:lnTo>
                  <a:pt x="1209039" y="81661"/>
                </a:lnTo>
                <a:close/>
              </a:path>
              <a:path w="1252220" h="454025">
                <a:moveTo>
                  <a:pt x="1249556" y="81661"/>
                </a:moveTo>
                <a:lnTo>
                  <a:pt x="1209039" y="81661"/>
                </a:lnTo>
                <a:lnTo>
                  <a:pt x="1210563" y="84455"/>
                </a:lnTo>
                <a:lnTo>
                  <a:pt x="1250181" y="84455"/>
                </a:lnTo>
                <a:lnTo>
                  <a:pt x="1249556" y="81661"/>
                </a:lnTo>
                <a:close/>
              </a:path>
              <a:path w="1252220" h="454025">
                <a:moveTo>
                  <a:pt x="1206182" y="77401"/>
                </a:moveTo>
                <a:lnTo>
                  <a:pt x="1209490" y="82726"/>
                </a:lnTo>
                <a:lnTo>
                  <a:pt x="1209039" y="81661"/>
                </a:lnTo>
                <a:lnTo>
                  <a:pt x="1249556" y="81661"/>
                </a:lnTo>
                <a:lnTo>
                  <a:pt x="1249045" y="79375"/>
                </a:lnTo>
                <a:lnTo>
                  <a:pt x="1248886" y="78740"/>
                </a:lnTo>
                <a:lnTo>
                  <a:pt x="1207388" y="78740"/>
                </a:lnTo>
                <a:lnTo>
                  <a:pt x="1206182" y="77401"/>
                </a:lnTo>
                <a:close/>
              </a:path>
              <a:path w="1252220" h="454025">
                <a:moveTo>
                  <a:pt x="1205356" y="76073"/>
                </a:moveTo>
                <a:lnTo>
                  <a:pt x="1206182" y="77401"/>
                </a:lnTo>
                <a:lnTo>
                  <a:pt x="1207388" y="78740"/>
                </a:lnTo>
                <a:lnTo>
                  <a:pt x="1205356" y="76073"/>
                </a:lnTo>
                <a:close/>
              </a:path>
              <a:path w="1252220" h="454025">
                <a:moveTo>
                  <a:pt x="1247977" y="76073"/>
                </a:moveTo>
                <a:lnTo>
                  <a:pt x="1205356" y="76073"/>
                </a:lnTo>
                <a:lnTo>
                  <a:pt x="1207388" y="78740"/>
                </a:lnTo>
                <a:lnTo>
                  <a:pt x="1248886" y="78740"/>
                </a:lnTo>
                <a:lnTo>
                  <a:pt x="1248536" y="77216"/>
                </a:lnTo>
                <a:lnTo>
                  <a:pt x="1247977" y="76073"/>
                </a:lnTo>
                <a:close/>
              </a:path>
              <a:path w="1252220" h="454025">
                <a:moveTo>
                  <a:pt x="1201690" y="72420"/>
                </a:moveTo>
                <a:lnTo>
                  <a:pt x="1206182" y="77401"/>
                </a:lnTo>
                <a:lnTo>
                  <a:pt x="1205356" y="76073"/>
                </a:lnTo>
                <a:lnTo>
                  <a:pt x="1247977" y="76073"/>
                </a:lnTo>
                <a:lnTo>
                  <a:pt x="1246732" y="73025"/>
                </a:lnTo>
                <a:lnTo>
                  <a:pt x="1202435" y="73025"/>
                </a:lnTo>
                <a:lnTo>
                  <a:pt x="1201690" y="72420"/>
                </a:lnTo>
                <a:close/>
              </a:path>
              <a:path w="1252220" h="454025">
                <a:moveTo>
                  <a:pt x="1200403" y="70993"/>
                </a:moveTo>
                <a:lnTo>
                  <a:pt x="1201690" y="72420"/>
                </a:lnTo>
                <a:lnTo>
                  <a:pt x="1202435" y="73025"/>
                </a:lnTo>
                <a:lnTo>
                  <a:pt x="1200403" y="70993"/>
                </a:lnTo>
                <a:close/>
              </a:path>
              <a:path w="1252220" h="454025">
                <a:moveTo>
                  <a:pt x="1245902" y="70993"/>
                </a:moveTo>
                <a:lnTo>
                  <a:pt x="1200403" y="70993"/>
                </a:lnTo>
                <a:lnTo>
                  <a:pt x="1202435" y="73025"/>
                </a:lnTo>
                <a:lnTo>
                  <a:pt x="1246732" y="73025"/>
                </a:lnTo>
                <a:lnTo>
                  <a:pt x="1245902" y="70993"/>
                </a:lnTo>
                <a:close/>
              </a:path>
              <a:path w="1252220" h="454025">
                <a:moveTo>
                  <a:pt x="1219952" y="38100"/>
                </a:moveTo>
                <a:lnTo>
                  <a:pt x="1015873" y="38100"/>
                </a:lnTo>
                <a:lnTo>
                  <a:pt x="1042415" y="38227"/>
                </a:lnTo>
                <a:lnTo>
                  <a:pt x="1067180" y="38989"/>
                </a:lnTo>
                <a:lnTo>
                  <a:pt x="1111250" y="42418"/>
                </a:lnTo>
                <a:lnTo>
                  <a:pt x="1162303" y="51943"/>
                </a:lnTo>
                <a:lnTo>
                  <a:pt x="1201690" y="72420"/>
                </a:lnTo>
                <a:lnTo>
                  <a:pt x="1200403" y="70993"/>
                </a:lnTo>
                <a:lnTo>
                  <a:pt x="1245902" y="70993"/>
                </a:lnTo>
                <a:lnTo>
                  <a:pt x="1244346" y="67183"/>
                </a:lnTo>
                <a:lnTo>
                  <a:pt x="1243964" y="66167"/>
                </a:lnTo>
                <a:lnTo>
                  <a:pt x="1243456" y="65151"/>
                </a:lnTo>
                <a:lnTo>
                  <a:pt x="1242822" y="64262"/>
                </a:lnTo>
                <a:lnTo>
                  <a:pt x="1237614" y="55880"/>
                </a:lnTo>
                <a:lnTo>
                  <a:pt x="1237106" y="54991"/>
                </a:lnTo>
                <a:lnTo>
                  <a:pt x="1235582" y="53213"/>
                </a:lnTo>
                <a:lnTo>
                  <a:pt x="1228725" y="45593"/>
                </a:lnTo>
                <a:lnTo>
                  <a:pt x="1228089" y="44831"/>
                </a:lnTo>
                <a:lnTo>
                  <a:pt x="12199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8093709" y="374390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601206" y="4042664"/>
            <a:ext cx="1926589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dirty="0" baseline="-4340" sz="48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4340" sz="48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337553" y="4123182"/>
            <a:ext cx="654050" cy="545465"/>
          </a:xfrm>
          <a:custGeom>
            <a:avLst/>
            <a:gdLst/>
            <a:ahLst/>
            <a:cxnLst/>
            <a:rect l="l" t="t" r="r" b="b"/>
            <a:pathLst>
              <a:path w="654050" h="545464">
                <a:moveTo>
                  <a:pt x="100262" y="58094"/>
                </a:moveTo>
                <a:lnTo>
                  <a:pt x="76002" y="87435"/>
                </a:lnTo>
                <a:lnTo>
                  <a:pt x="629412" y="545084"/>
                </a:lnTo>
                <a:lnTo>
                  <a:pt x="653796" y="515620"/>
                </a:lnTo>
                <a:lnTo>
                  <a:pt x="100262" y="58094"/>
                </a:lnTo>
                <a:close/>
              </a:path>
              <a:path w="654050" h="545464">
                <a:moveTo>
                  <a:pt x="0" y="0"/>
                </a:moveTo>
                <a:lnTo>
                  <a:pt x="51688" y="116840"/>
                </a:lnTo>
                <a:lnTo>
                  <a:pt x="76002" y="87435"/>
                </a:lnTo>
                <a:lnTo>
                  <a:pt x="61341" y="75311"/>
                </a:lnTo>
                <a:lnTo>
                  <a:pt x="85598" y="45974"/>
                </a:lnTo>
                <a:lnTo>
                  <a:pt x="110283" y="45974"/>
                </a:lnTo>
                <a:lnTo>
                  <a:pt x="124460" y="28829"/>
                </a:lnTo>
                <a:lnTo>
                  <a:pt x="0" y="0"/>
                </a:lnTo>
                <a:close/>
              </a:path>
              <a:path w="654050" h="545464">
                <a:moveTo>
                  <a:pt x="85598" y="45974"/>
                </a:moveTo>
                <a:lnTo>
                  <a:pt x="61341" y="75311"/>
                </a:lnTo>
                <a:lnTo>
                  <a:pt x="76002" y="87435"/>
                </a:lnTo>
                <a:lnTo>
                  <a:pt x="100262" y="58094"/>
                </a:lnTo>
                <a:lnTo>
                  <a:pt x="85598" y="45974"/>
                </a:lnTo>
                <a:close/>
              </a:path>
              <a:path w="654050" h="545464">
                <a:moveTo>
                  <a:pt x="110283" y="45974"/>
                </a:moveTo>
                <a:lnTo>
                  <a:pt x="85598" y="45974"/>
                </a:lnTo>
                <a:lnTo>
                  <a:pt x="100262" y="58094"/>
                </a:lnTo>
                <a:lnTo>
                  <a:pt x="110283" y="459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5959855" y="32266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410961" y="3430015"/>
            <a:ext cx="1576705" cy="741045"/>
          </a:xfrm>
          <a:custGeom>
            <a:avLst/>
            <a:gdLst/>
            <a:ahLst/>
            <a:cxnLst/>
            <a:rect l="l" t="t" r="r" b="b"/>
            <a:pathLst>
              <a:path w="1576704" h="741045">
                <a:moveTo>
                  <a:pt x="111843" y="34631"/>
                </a:moveTo>
                <a:lnTo>
                  <a:pt x="95917" y="69278"/>
                </a:lnTo>
                <a:lnTo>
                  <a:pt x="1560194" y="740918"/>
                </a:lnTo>
                <a:lnTo>
                  <a:pt x="1576196" y="706374"/>
                </a:lnTo>
                <a:lnTo>
                  <a:pt x="111843" y="34631"/>
                </a:lnTo>
                <a:close/>
              </a:path>
              <a:path w="1576704" h="741045">
                <a:moveTo>
                  <a:pt x="127762" y="0"/>
                </a:moveTo>
                <a:lnTo>
                  <a:pt x="0" y="4318"/>
                </a:lnTo>
                <a:lnTo>
                  <a:pt x="80010" y="103886"/>
                </a:lnTo>
                <a:lnTo>
                  <a:pt x="95917" y="69278"/>
                </a:lnTo>
                <a:lnTo>
                  <a:pt x="78612" y="61341"/>
                </a:lnTo>
                <a:lnTo>
                  <a:pt x="94487" y="26670"/>
                </a:lnTo>
                <a:lnTo>
                  <a:pt x="115502" y="26670"/>
                </a:lnTo>
                <a:lnTo>
                  <a:pt x="127762" y="0"/>
                </a:lnTo>
                <a:close/>
              </a:path>
              <a:path w="1576704" h="741045">
                <a:moveTo>
                  <a:pt x="94487" y="26670"/>
                </a:moveTo>
                <a:lnTo>
                  <a:pt x="78612" y="61341"/>
                </a:lnTo>
                <a:lnTo>
                  <a:pt x="95917" y="69278"/>
                </a:lnTo>
                <a:lnTo>
                  <a:pt x="111843" y="34631"/>
                </a:lnTo>
                <a:lnTo>
                  <a:pt x="94487" y="26670"/>
                </a:lnTo>
                <a:close/>
              </a:path>
              <a:path w="1576704" h="741045">
                <a:moveTo>
                  <a:pt x="115502" y="26670"/>
                </a:moveTo>
                <a:lnTo>
                  <a:pt x="94487" y="26670"/>
                </a:lnTo>
                <a:lnTo>
                  <a:pt x="111843" y="34631"/>
                </a:lnTo>
                <a:lnTo>
                  <a:pt x="115502" y="26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6417055" y="329984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401561" y="2090166"/>
            <a:ext cx="381000" cy="1088390"/>
          </a:xfrm>
          <a:custGeom>
            <a:avLst/>
            <a:gdLst/>
            <a:ahLst/>
            <a:cxnLst/>
            <a:rect l="l" t="t" r="r" b="b"/>
            <a:pathLst>
              <a:path w="381000" h="1088389">
                <a:moveTo>
                  <a:pt x="380999" y="0"/>
                </a:moveTo>
                <a:lnTo>
                  <a:pt x="0" y="1088136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391909" y="3167633"/>
            <a:ext cx="674370" cy="986155"/>
          </a:xfrm>
          <a:custGeom>
            <a:avLst/>
            <a:gdLst/>
            <a:ahLst/>
            <a:cxnLst/>
            <a:rect l="l" t="t" r="r" b="b"/>
            <a:pathLst>
              <a:path w="674370" h="986154">
                <a:moveTo>
                  <a:pt x="594373" y="901916"/>
                </a:moveTo>
                <a:lnTo>
                  <a:pt x="562737" y="923289"/>
                </a:lnTo>
                <a:lnTo>
                  <a:pt x="674115" y="986027"/>
                </a:lnTo>
                <a:lnTo>
                  <a:pt x="665147" y="917701"/>
                </a:lnTo>
                <a:lnTo>
                  <a:pt x="605028" y="917701"/>
                </a:lnTo>
                <a:lnTo>
                  <a:pt x="594373" y="901916"/>
                </a:lnTo>
                <a:close/>
              </a:path>
              <a:path w="674370" h="986154">
                <a:moveTo>
                  <a:pt x="625981" y="880561"/>
                </a:moveTo>
                <a:lnTo>
                  <a:pt x="594373" y="901916"/>
                </a:lnTo>
                <a:lnTo>
                  <a:pt x="605028" y="917701"/>
                </a:lnTo>
                <a:lnTo>
                  <a:pt x="636650" y="896365"/>
                </a:lnTo>
                <a:lnTo>
                  <a:pt x="625981" y="880561"/>
                </a:lnTo>
                <a:close/>
              </a:path>
              <a:path w="674370" h="986154">
                <a:moveTo>
                  <a:pt x="657479" y="859282"/>
                </a:moveTo>
                <a:lnTo>
                  <a:pt x="625981" y="880561"/>
                </a:lnTo>
                <a:lnTo>
                  <a:pt x="636650" y="896365"/>
                </a:lnTo>
                <a:lnTo>
                  <a:pt x="605028" y="917701"/>
                </a:lnTo>
                <a:lnTo>
                  <a:pt x="665147" y="917701"/>
                </a:lnTo>
                <a:lnTo>
                  <a:pt x="657479" y="859282"/>
                </a:lnTo>
                <a:close/>
              </a:path>
              <a:path w="674370" h="986154">
                <a:moveTo>
                  <a:pt x="31495" y="0"/>
                </a:moveTo>
                <a:lnTo>
                  <a:pt x="0" y="21336"/>
                </a:lnTo>
                <a:lnTo>
                  <a:pt x="594373" y="901916"/>
                </a:lnTo>
                <a:lnTo>
                  <a:pt x="625981" y="880561"/>
                </a:lnTo>
                <a:lnTo>
                  <a:pt x="314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668261" y="2090166"/>
            <a:ext cx="260985" cy="881380"/>
          </a:xfrm>
          <a:custGeom>
            <a:avLst/>
            <a:gdLst/>
            <a:ahLst/>
            <a:cxnLst/>
            <a:rect l="l" t="t" r="r" b="b"/>
            <a:pathLst>
              <a:path w="260984" h="881380">
                <a:moveTo>
                  <a:pt x="260604" y="0"/>
                </a:moveTo>
                <a:lnTo>
                  <a:pt x="0" y="8808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652259" y="2934842"/>
            <a:ext cx="313690" cy="473709"/>
          </a:xfrm>
          <a:custGeom>
            <a:avLst/>
            <a:gdLst/>
            <a:ahLst/>
            <a:cxnLst/>
            <a:rect l="l" t="t" r="r" b="b"/>
            <a:pathLst>
              <a:path w="313690" h="473710">
                <a:moveTo>
                  <a:pt x="235404" y="387610"/>
                </a:moveTo>
                <a:lnTo>
                  <a:pt x="203326" y="408178"/>
                </a:lnTo>
                <a:lnTo>
                  <a:pt x="313182" y="473583"/>
                </a:lnTo>
                <a:lnTo>
                  <a:pt x="305715" y="403733"/>
                </a:lnTo>
                <a:lnTo>
                  <a:pt x="245745" y="403733"/>
                </a:lnTo>
                <a:lnTo>
                  <a:pt x="235404" y="387610"/>
                </a:lnTo>
                <a:close/>
              </a:path>
              <a:path w="313690" h="473710">
                <a:moveTo>
                  <a:pt x="267433" y="367075"/>
                </a:moveTo>
                <a:lnTo>
                  <a:pt x="235404" y="387610"/>
                </a:lnTo>
                <a:lnTo>
                  <a:pt x="245745" y="403733"/>
                </a:lnTo>
                <a:lnTo>
                  <a:pt x="277749" y="383159"/>
                </a:lnTo>
                <a:lnTo>
                  <a:pt x="267433" y="367075"/>
                </a:lnTo>
                <a:close/>
              </a:path>
              <a:path w="313690" h="473710">
                <a:moveTo>
                  <a:pt x="299593" y="346456"/>
                </a:moveTo>
                <a:lnTo>
                  <a:pt x="267433" y="367075"/>
                </a:lnTo>
                <a:lnTo>
                  <a:pt x="277749" y="383159"/>
                </a:lnTo>
                <a:lnTo>
                  <a:pt x="245745" y="403733"/>
                </a:lnTo>
                <a:lnTo>
                  <a:pt x="305715" y="403733"/>
                </a:lnTo>
                <a:lnTo>
                  <a:pt x="299593" y="346456"/>
                </a:lnTo>
                <a:close/>
              </a:path>
              <a:path w="313690" h="473710">
                <a:moveTo>
                  <a:pt x="32004" y="0"/>
                </a:moveTo>
                <a:lnTo>
                  <a:pt x="0" y="20574"/>
                </a:lnTo>
                <a:lnTo>
                  <a:pt x="235404" y="387610"/>
                </a:lnTo>
                <a:lnTo>
                  <a:pt x="267433" y="367075"/>
                </a:lnTo>
                <a:lnTo>
                  <a:pt x="320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6802881" y="2777489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271004" y="3612641"/>
            <a:ext cx="114300" cy="541020"/>
          </a:xfrm>
          <a:custGeom>
            <a:avLst/>
            <a:gdLst/>
            <a:ahLst/>
            <a:cxnLst/>
            <a:rect l="l" t="t" r="r" b="b"/>
            <a:pathLst>
              <a:path w="114300" h="541020">
                <a:moveTo>
                  <a:pt x="76200" y="95249"/>
                </a:moveTo>
                <a:lnTo>
                  <a:pt x="38100" y="95249"/>
                </a:lnTo>
                <a:lnTo>
                  <a:pt x="38100" y="541019"/>
                </a:lnTo>
                <a:lnTo>
                  <a:pt x="76200" y="541019"/>
                </a:lnTo>
                <a:lnTo>
                  <a:pt x="76200" y="95249"/>
                </a:lnTo>
                <a:close/>
              </a:path>
              <a:path w="114300" h="54102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54102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7319009" y="3617467"/>
            <a:ext cx="2743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345947" y="67336"/>
            <a:ext cx="8002270" cy="281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5"/>
              </a:lnSpc>
              <a:tabLst>
                <a:tab pos="2172970" algn="l"/>
                <a:tab pos="4634865" algn="l"/>
                <a:tab pos="53968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5.7.1	LALR(1</a:t>
            </a:r>
            <a:r>
              <a:rPr dirty="0" sz="2000" spc="-7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0"/>
                </a:moveTo>
                <a:lnTo>
                  <a:pt x="0" y="385572"/>
                </a:lnTo>
                <a:lnTo>
                  <a:pt x="9143999" y="385572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540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8940" y="0"/>
            <a:ext cx="56248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9825" algn="l"/>
                <a:tab pos="2940050" algn="l"/>
                <a:tab pos="4382135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	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①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	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	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③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064758" y="0"/>
            <a:ext cx="2901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0515" algn="l"/>
              </a:tabLst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④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⑤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548116" y="5943600"/>
            <a:ext cx="596265" cy="243840"/>
          </a:xfrm>
          <a:custGeom>
            <a:avLst/>
            <a:gdLst/>
            <a:ahLst/>
            <a:cxnLst/>
            <a:rect l="l" t="t" r="r" b="b"/>
            <a:pathLst>
              <a:path w="596265" h="243839">
                <a:moveTo>
                  <a:pt x="595883" y="0"/>
                </a:moveTo>
                <a:lnTo>
                  <a:pt x="0" y="0"/>
                </a:lnTo>
                <a:lnTo>
                  <a:pt x="0" y="243840"/>
                </a:lnTo>
                <a:lnTo>
                  <a:pt x="595883" y="243840"/>
                </a:lnTo>
                <a:lnTo>
                  <a:pt x="595883" y="213359"/>
                </a:lnTo>
                <a:lnTo>
                  <a:pt x="212598" y="213359"/>
                </a:lnTo>
                <a:lnTo>
                  <a:pt x="212598" y="30480"/>
                </a:lnTo>
                <a:lnTo>
                  <a:pt x="595883" y="30480"/>
                </a:lnTo>
                <a:lnTo>
                  <a:pt x="595883" y="0"/>
                </a:lnTo>
                <a:close/>
              </a:path>
              <a:path w="596265" h="243839">
                <a:moveTo>
                  <a:pt x="595883" y="30480"/>
                </a:moveTo>
                <a:lnTo>
                  <a:pt x="212598" y="30480"/>
                </a:lnTo>
                <a:lnTo>
                  <a:pt x="395477" y="121920"/>
                </a:lnTo>
                <a:lnTo>
                  <a:pt x="212598" y="213359"/>
                </a:lnTo>
                <a:lnTo>
                  <a:pt x="595883" y="213359"/>
                </a:lnTo>
                <a:lnTo>
                  <a:pt x="595883" y="30480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760714" y="597407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0"/>
                </a:moveTo>
                <a:lnTo>
                  <a:pt x="0" y="182880"/>
                </a:lnTo>
                <a:lnTo>
                  <a:pt x="182879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8572881" y="5958027"/>
            <a:ext cx="5664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分析表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108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613775" y="6678574"/>
            <a:ext cx="3790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04722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830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6568" y="809370"/>
            <a:ext cx="590550" cy="239331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12700" marR="5080">
              <a:lnSpc>
                <a:spcPts val="3650"/>
              </a:lnSpc>
              <a:spcBef>
                <a:spcPts val="384"/>
              </a:spcBef>
            </a:pP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LR 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(1)</a:t>
            </a:r>
            <a:endParaRPr sz="3200">
              <a:latin typeface="Times New Roman"/>
              <a:cs typeface="Times New Roman"/>
            </a:endParaRPr>
          </a:p>
          <a:p>
            <a:pPr algn="just" marL="12700" marR="162560">
              <a:lnSpc>
                <a:spcPct val="87800"/>
              </a:lnSpc>
              <a:spcBef>
                <a:spcPts val="940"/>
              </a:spcBef>
            </a:pP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分 析 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540252"/>
            <a:ext cx="617220" cy="230504"/>
          </a:xfrm>
          <a:custGeom>
            <a:avLst/>
            <a:gdLst/>
            <a:ahLst/>
            <a:cxnLst/>
            <a:rect l="l" t="t" r="r" b="b"/>
            <a:pathLst>
              <a:path w="617220" h="230504">
                <a:moveTo>
                  <a:pt x="617220" y="0"/>
                </a:moveTo>
                <a:lnTo>
                  <a:pt x="0" y="0"/>
                </a:lnTo>
                <a:lnTo>
                  <a:pt x="0" y="230124"/>
                </a:lnTo>
                <a:lnTo>
                  <a:pt x="617220" y="230124"/>
                </a:lnTo>
                <a:lnTo>
                  <a:pt x="617220" y="201295"/>
                </a:lnTo>
                <a:lnTo>
                  <a:pt x="394906" y="201295"/>
                </a:lnTo>
                <a:lnTo>
                  <a:pt x="222313" y="115062"/>
                </a:lnTo>
                <a:lnTo>
                  <a:pt x="394906" y="28701"/>
                </a:lnTo>
                <a:lnTo>
                  <a:pt x="617220" y="28701"/>
                </a:lnTo>
                <a:lnTo>
                  <a:pt x="617220" y="0"/>
                </a:lnTo>
                <a:close/>
              </a:path>
              <a:path w="617220" h="230504">
                <a:moveTo>
                  <a:pt x="617220" y="28701"/>
                </a:moveTo>
                <a:lnTo>
                  <a:pt x="394906" y="28701"/>
                </a:lnTo>
                <a:lnTo>
                  <a:pt x="394906" y="201295"/>
                </a:lnTo>
                <a:lnTo>
                  <a:pt x="617220" y="201295"/>
                </a:lnTo>
                <a:lnTo>
                  <a:pt x="617220" y="28701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2313" y="3568953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20" h="172720">
                <a:moveTo>
                  <a:pt x="172593" y="0"/>
                </a:moveTo>
                <a:lnTo>
                  <a:pt x="0" y="86360"/>
                </a:lnTo>
                <a:lnTo>
                  <a:pt x="172593" y="172593"/>
                </a:lnTo>
                <a:lnTo>
                  <a:pt x="172593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0497" y="3545204"/>
            <a:ext cx="3771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D</a:t>
            </a:r>
            <a:r>
              <a:rPr dirty="0" sz="1400" spc="-114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F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44925" y="836675"/>
            <a:ext cx="0" cy="6007100"/>
          </a:xfrm>
          <a:custGeom>
            <a:avLst/>
            <a:gdLst/>
            <a:ahLst/>
            <a:cxnLst/>
            <a:rect l="l" t="t" r="r" b="b"/>
            <a:pathLst>
              <a:path w="0" h="6007100">
                <a:moveTo>
                  <a:pt x="0" y="0"/>
                </a:moveTo>
                <a:lnTo>
                  <a:pt x="0" y="6007041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39812" y="444500"/>
            <a:ext cx="7470775" cy="0"/>
          </a:xfrm>
          <a:custGeom>
            <a:avLst/>
            <a:gdLst/>
            <a:ahLst/>
            <a:cxnLst/>
            <a:rect l="l" t="t" r="r" b="b"/>
            <a:pathLst>
              <a:path w="7470775" h="0">
                <a:moveTo>
                  <a:pt x="0" y="0"/>
                </a:moveTo>
                <a:lnTo>
                  <a:pt x="7470711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39812" y="6829431"/>
            <a:ext cx="7470775" cy="0"/>
          </a:xfrm>
          <a:custGeom>
            <a:avLst/>
            <a:gdLst/>
            <a:ahLst/>
            <a:cxnLst/>
            <a:rect l="l" t="t" r="r" b="b"/>
            <a:pathLst>
              <a:path w="7470775" h="0">
                <a:moveTo>
                  <a:pt x="0" y="0"/>
                </a:moveTo>
                <a:lnTo>
                  <a:pt x="7470711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025525" y="430276"/>
          <a:ext cx="7679055" cy="6399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069"/>
                <a:gridCol w="933450"/>
                <a:gridCol w="1340485"/>
                <a:gridCol w="547370"/>
                <a:gridCol w="929639"/>
                <a:gridCol w="929639"/>
                <a:gridCol w="929639"/>
                <a:gridCol w="1080769"/>
              </a:tblGrid>
              <a:tr h="4127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209550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7535" marR="2159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32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8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320" marR="2159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 marR="13081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3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2590" marR="21590">
                        <a:lnSpc>
                          <a:spcPts val="2810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164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10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164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4320">
                        <a:lnSpc>
                          <a:spcPts val="292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0010">
                        <a:lnSpc>
                          <a:spcPts val="3010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0" marR="130810">
                        <a:lnSpc>
                          <a:spcPts val="303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0825">
                        <a:lnSpc>
                          <a:spcPts val="2810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3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1615">
                        <a:lnSpc>
                          <a:spcPts val="2900"/>
                        </a:lnSpc>
                      </a:pPr>
                      <a:r>
                        <a:rPr dirty="0" sz="32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164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3035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2990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3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7495" marR="21590">
                        <a:lnSpc>
                          <a:spcPts val="296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164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35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1164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735">
                        <a:lnSpc>
                          <a:spcPts val="303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ts val="303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3075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3075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3040"/>
                        </a:lnSpc>
                        <a:tabLst>
                          <a:tab pos="1104900" algn="l"/>
                        </a:tabLst>
                      </a:pPr>
                      <a:r>
                        <a:rPr dirty="0" baseline="13888" sz="4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100" spc="-12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1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1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12152" sz="4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baseline="12152" sz="4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035"/>
                        </a:lnSpc>
                        <a:spcBef>
                          <a:spcPts val="1000"/>
                        </a:spcBef>
                      </a:pPr>
                      <a:r>
                        <a:rPr dirty="0" sz="21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0985">
                        <a:lnSpc>
                          <a:spcPts val="3040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ts val="3040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3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3035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3035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3040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3040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3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3035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462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0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3020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462"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000" spc="-10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 marR="21590">
                        <a:lnSpc>
                          <a:spcPts val="3040"/>
                        </a:lnSpc>
                      </a:pPr>
                      <a:r>
                        <a:rPr dirty="0" baseline="13888" sz="4800" spc="-112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100" spc="-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40"/>
                        </a:lnSpc>
                      </a:pPr>
                      <a:r>
                        <a:rPr dirty="0" baseline="13888" sz="480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1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8285">
                        <a:lnSpc>
                          <a:spcPts val="3040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ts val="3040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462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0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4950">
                        <a:lnSpc>
                          <a:spcPts val="2930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468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0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4950">
                        <a:lnSpc>
                          <a:spcPts val="2880"/>
                        </a:lnSpc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613410">
                        <a:lnSpc>
                          <a:spcPts val="985"/>
                        </a:lnSpc>
                      </a:pPr>
                      <a:r>
                        <a:rPr dirty="0" sz="14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第</a:t>
                      </a:r>
                      <a:r>
                        <a:rPr dirty="0" sz="1400" spc="-8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4722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110</a:t>
            </a:fld>
            <a:r>
              <a:rPr dirty="0" sz="1400" spc="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830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1144905"/>
            <a:ext cx="11493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0317" y="1144905"/>
            <a:ext cx="24961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3994" y="1632460"/>
            <a:ext cx="2267585" cy="256286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5"/>
              </a:spcBef>
              <a:tabLst>
                <a:tab pos="1035050" algn="l"/>
              </a:tabLst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⑴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155"/>
              </a:spcBef>
              <a:tabLst>
                <a:tab pos="1033780" algn="l"/>
              </a:tabLst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⑵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endParaRPr sz="32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150"/>
              </a:spcBef>
              <a:tabLst>
                <a:tab pos="1035050" algn="l"/>
              </a:tabLst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⑶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1030605" algn="l"/>
              </a:tabLst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⑷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0086" y="4431029"/>
            <a:ext cx="1689100" cy="399415"/>
          </a:xfrm>
          <a:custGeom>
            <a:avLst/>
            <a:gdLst/>
            <a:ahLst/>
            <a:cxnLst/>
            <a:rect l="l" t="t" r="r" b="b"/>
            <a:pathLst>
              <a:path w="1689100" h="399414">
                <a:moveTo>
                  <a:pt x="0" y="399288"/>
                </a:moveTo>
                <a:lnTo>
                  <a:pt x="1688592" y="399288"/>
                </a:lnTo>
                <a:lnTo>
                  <a:pt x="1688592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50086" y="4431029"/>
            <a:ext cx="1689100" cy="399415"/>
          </a:xfrm>
          <a:custGeom>
            <a:avLst/>
            <a:gdLst/>
            <a:ahLst/>
            <a:cxnLst/>
            <a:rect l="l" t="t" r="r" b="b"/>
            <a:pathLst>
              <a:path w="1689100" h="399414">
                <a:moveTo>
                  <a:pt x="0" y="399288"/>
                </a:moveTo>
                <a:lnTo>
                  <a:pt x="1688592" y="399288"/>
                </a:lnTo>
                <a:lnTo>
                  <a:pt x="1688592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1270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162294" y="2567177"/>
            <a:ext cx="1689100" cy="399415"/>
          </a:xfrm>
          <a:custGeom>
            <a:avLst/>
            <a:gdLst/>
            <a:ahLst/>
            <a:cxnLst/>
            <a:rect l="l" t="t" r="r" b="b"/>
            <a:pathLst>
              <a:path w="1689100" h="399414">
                <a:moveTo>
                  <a:pt x="0" y="399288"/>
                </a:moveTo>
                <a:lnTo>
                  <a:pt x="1688592" y="399288"/>
                </a:lnTo>
                <a:lnTo>
                  <a:pt x="1688592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62294" y="2567177"/>
            <a:ext cx="1689100" cy="399415"/>
          </a:xfrm>
          <a:custGeom>
            <a:avLst/>
            <a:gdLst/>
            <a:ahLst/>
            <a:cxnLst/>
            <a:rect l="l" t="t" r="r" b="b"/>
            <a:pathLst>
              <a:path w="1689100" h="399414">
                <a:moveTo>
                  <a:pt x="0" y="399288"/>
                </a:moveTo>
                <a:lnTo>
                  <a:pt x="1688592" y="399288"/>
                </a:lnTo>
                <a:lnTo>
                  <a:pt x="1688592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126999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39717" y="5586221"/>
            <a:ext cx="1870075" cy="398145"/>
          </a:xfrm>
          <a:custGeom>
            <a:avLst/>
            <a:gdLst/>
            <a:ahLst/>
            <a:cxnLst/>
            <a:rect l="l" t="t" r="r" b="b"/>
            <a:pathLst>
              <a:path w="1870075" h="398145">
                <a:moveTo>
                  <a:pt x="0" y="397763"/>
                </a:moveTo>
                <a:lnTo>
                  <a:pt x="1869948" y="397763"/>
                </a:lnTo>
                <a:lnTo>
                  <a:pt x="1869948" y="0"/>
                </a:lnTo>
                <a:lnTo>
                  <a:pt x="0" y="0"/>
                </a:lnTo>
                <a:lnTo>
                  <a:pt x="0" y="397763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39717" y="5586221"/>
            <a:ext cx="1870075" cy="398145"/>
          </a:xfrm>
          <a:custGeom>
            <a:avLst/>
            <a:gdLst/>
            <a:ahLst/>
            <a:cxnLst/>
            <a:rect l="l" t="t" r="r" b="b"/>
            <a:pathLst>
              <a:path w="1870075" h="398145">
                <a:moveTo>
                  <a:pt x="0" y="397763"/>
                </a:moveTo>
                <a:lnTo>
                  <a:pt x="1869948" y="397763"/>
                </a:lnTo>
                <a:lnTo>
                  <a:pt x="1869948" y="0"/>
                </a:lnTo>
                <a:lnTo>
                  <a:pt x="0" y="0"/>
                </a:lnTo>
                <a:lnTo>
                  <a:pt x="0" y="397763"/>
                </a:lnTo>
                <a:close/>
              </a:path>
            </a:pathLst>
          </a:custGeom>
          <a:ln w="1270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85153" y="5441441"/>
            <a:ext cx="1690370" cy="398145"/>
          </a:xfrm>
          <a:custGeom>
            <a:avLst/>
            <a:gdLst/>
            <a:ahLst/>
            <a:cxnLst/>
            <a:rect l="l" t="t" r="r" b="b"/>
            <a:pathLst>
              <a:path w="1690370" h="398145">
                <a:moveTo>
                  <a:pt x="0" y="397763"/>
                </a:moveTo>
                <a:lnTo>
                  <a:pt x="1690116" y="397763"/>
                </a:lnTo>
                <a:lnTo>
                  <a:pt x="1690116" y="0"/>
                </a:lnTo>
                <a:lnTo>
                  <a:pt x="0" y="0"/>
                </a:lnTo>
                <a:lnTo>
                  <a:pt x="0" y="397763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85153" y="5441441"/>
            <a:ext cx="1690370" cy="398145"/>
          </a:xfrm>
          <a:custGeom>
            <a:avLst/>
            <a:gdLst/>
            <a:ahLst/>
            <a:cxnLst/>
            <a:rect l="l" t="t" r="r" b="b"/>
            <a:pathLst>
              <a:path w="1690370" h="398145">
                <a:moveTo>
                  <a:pt x="0" y="397763"/>
                </a:moveTo>
                <a:lnTo>
                  <a:pt x="1690116" y="397763"/>
                </a:lnTo>
                <a:lnTo>
                  <a:pt x="1690116" y="0"/>
                </a:lnTo>
                <a:lnTo>
                  <a:pt x="0" y="0"/>
                </a:lnTo>
                <a:lnTo>
                  <a:pt x="0" y="397763"/>
                </a:lnTo>
                <a:close/>
              </a:path>
            </a:pathLst>
          </a:custGeom>
          <a:ln w="1270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36670" y="3944873"/>
            <a:ext cx="1689100" cy="398145"/>
          </a:xfrm>
          <a:custGeom>
            <a:avLst/>
            <a:gdLst/>
            <a:ahLst/>
            <a:cxnLst/>
            <a:rect l="l" t="t" r="r" b="b"/>
            <a:pathLst>
              <a:path w="1689100" h="398145">
                <a:moveTo>
                  <a:pt x="0" y="397763"/>
                </a:moveTo>
                <a:lnTo>
                  <a:pt x="1688592" y="397763"/>
                </a:lnTo>
                <a:lnTo>
                  <a:pt x="1688592" y="0"/>
                </a:lnTo>
                <a:lnTo>
                  <a:pt x="0" y="0"/>
                </a:lnTo>
                <a:lnTo>
                  <a:pt x="0" y="397763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36670" y="3944873"/>
            <a:ext cx="1689100" cy="398145"/>
          </a:xfrm>
          <a:custGeom>
            <a:avLst/>
            <a:gdLst/>
            <a:ahLst/>
            <a:cxnLst/>
            <a:rect l="l" t="t" r="r" b="b"/>
            <a:pathLst>
              <a:path w="1689100" h="398145">
                <a:moveTo>
                  <a:pt x="0" y="397763"/>
                </a:moveTo>
                <a:lnTo>
                  <a:pt x="1688592" y="397763"/>
                </a:lnTo>
                <a:lnTo>
                  <a:pt x="1688592" y="0"/>
                </a:lnTo>
                <a:lnTo>
                  <a:pt x="0" y="0"/>
                </a:lnTo>
                <a:lnTo>
                  <a:pt x="0" y="397763"/>
                </a:lnTo>
                <a:close/>
              </a:path>
            </a:pathLst>
          </a:custGeom>
          <a:ln w="1270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04722" y="26923"/>
            <a:ext cx="73266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4426585" algn="l"/>
                <a:tab pos="512445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764" y="583818"/>
            <a:ext cx="70104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的识别关于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LR(1)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项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目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活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前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缀</a:t>
            </a:r>
            <a:r>
              <a:rPr dirty="0" sz="2800" spc="15" b="1">
                <a:solidFill>
                  <a:srgbClr val="FFCCCC"/>
                </a:solidFill>
                <a:latin typeface="宋体"/>
                <a:cs typeface="宋体"/>
              </a:rPr>
              <a:t>的</a:t>
            </a:r>
            <a:r>
              <a:rPr dirty="0" sz="2800" spc="-70" b="1">
                <a:solidFill>
                  <a:srgbClr val="FFCCCC"/>
                </a:solidFill>
                <a:latin typeface="Times New Roman"/>
                <a:cs typeface="Times New Roman"/>
              </a:rPr>
              <a:t>DFA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1930" y="20617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25702" y="2507742"/>
            <a:ext cx="1664335" cy="1390015"/>
          </a:xfrm>
          <a:custGeom>
            <a:avLst/>
            <a:gdLst/>
            <a:ahLst/>
            <a:cxnLst/>
            <a:rect l="l" t="t" r="r" b="b"/>
            <a:pathLst>
              <a:path w="1664335" h="1390014">
                <a:moveTo>
                  <a:pt x="0" y="1389887"/>
                </a:moveTo>
                <a:lnTo>
                  <a:pt x="1664208" y="1389887"/>
                </a:lnTo>
                <a:lnTo>
                  <a:pt x="1664208" y="0"/>
                </a:lnTo>
                <a:lnTo>
                  <a:pt x="0" y="0"/>
                </a:lnTo>
                <a:lnTo>
                  <a:pt x="0" y="138988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83892" y="4866894"/>
            <a:ext cx="114300" cy="635635"/>
          </a:xfrm>
          <a:custGeom>
            <a:avLst/>
            <a:gdLst/>
            <a:ahLst/>
            <a:cxnLst/>
            <a:rect l="l" t="t" r="r" b="b"/>
            <a:pathLst>
              <a:path w="114300" h="635635">
                <a:moveTo>
                  <a:pt x="76200" y="171449"/>
                </a:moveTo>
                <a:lnTo>
                  <a:pt x="38100" y="171449"/>
                </a:lnTo>
                <a:lnTo>
                  <a:pt x="38100" y="635507"/>
                </a:lnTo>
                <a:lnTo>
                  <a:pt x="76200" y="635507"/>
                </a:lnTo>
                <a:lnTo>
                  <a:pt x="76200" y="171449"/>
                </a:lnTo>
                <a:close/>
              </a:path>
              <a:path w="114300" h="635635">
                <a:moveTo>
                  <a:pt x="57150" y="0"/>
                </a:moveTo>
                <a:lnTo>
                  <a:pt x="0" y="190499"/>
                </a:lnTo>
                <a:lnTo>
                  <a:pt x="38100" y="190499"/>
                </a:lnTo>
                <a:lnTo>
                  <a:pt x="38100" y="171449"/>
                </a:lnTo>
                <a:lnTo>
                  <a:pt x="108585" y="171449"/>
                </a:lnTo>
                <a:lnTo>
                  <a:pt x="57150" y="0"/>
                </a:lnTo>
                <a:close/>
              </a:path>
              <a:path w="114300" h="635635">
                <a:moveTo>
                  <a:pt x="108585" y="171449"/>
                </a:moveTo>
                <a:lnTo>
                  <a:pt x="76200" y="171449"/>
                </a:lnTo>
                <a:lnTo>
                  <a:pt x="76200" y="190499"/>
                </a:lnTo>
                <a:lnTo>
                  <a:pt x="114300" y="190499"/>
                </a:lnTo>
                <a:lnTo>
                  <a:pt x="108585" y="1714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41498" y="5174741"/>
            <a:ext cx="459105" cy="447040"/>
          </a:xfrm>
          <a:custGeom>
            <a:avLst/>
            <a:gdLst/>
            <a:ahLst/>
            <a:cxnLst/>
            <a:rect l="l" t="t" r="r" b="b"/>
            <a:pathLst>
              <a:path w="459104" h="447039">
                <a:moveTo>
                  <a:pt x="0" y="223265"/>
                </a:moveTo>
                <a:lnTo>
                  <a:pt x="4662" y="178267"/>
                </a:lnTo>
                <a:lnTo>
                  <a:pt x="18032" y="136356"/>
                </a:lnTo>
                <a:lnTo>
                  <a:pt x="39185" y="98431"/>
                </a:lnTo>
                <a:lnTo>
                  <a:pt x="67198" y="65389"/>
                </a:lnTo>
                <a:lnTo>
                  <a:pt x="101147" y="38127"/>
                </a:lnTo>
                <a:lnTo>
                  <a:pt x="140106" y="17543"/>
                </a:lnTo>
                <a:lnTo>
                  <a:pt x="183153" y="4535"/>
                </a:lnTo>
                <a:lnTo>
                  <a:pt x="229362" y="0"/>
                </a:lnTo>
                <a:lnTo>
                  <a:pt x="275570" y="4535"/>
                </a:lnTo>
                <a:lnTo>
                  <a:pt x="318617" y="17543"/>
                </a:lnTo>
                <a:lnTo>
                  <a:pt x="357576" y="38127"/>
                </a:lnTo>
                <a:lnTo>
                  <a:pt x="391525" y="65389"/>
                </a:lnTo>
                <a:lnTo>
                  <a:pt x="419538" y="98431"/>
                </a:lnTo>
                <a:lnTo>
                  <a:pt x="440691" y="136356"/>
                </a:lnTo>
                <a:lnTo>
                  <a:pt x="454061" y="178267"/>
                </a:lnTo>
                <a:lnTo>
                  <a:pt x="458724" y="223265"/>
                </a:lnTo>
                <a:lnTo>
                  <a:pt x="454061" y="268264"/>
                </a:lnTo>
                <a:lnTo>
                  <a:pt x="440691" y="310175"/>
                </a:lnTo>
                <a:lnTo>
                  <a:pt x="419538" y="348100"/>
                </a:lnTo>
                <a:lnTo>
                  <a:pt x="391525" y="381142"/>
                </a:lnTo>
                <a:lnTo>
                  <a:pt x="357576" y="408404"/>
                </a:lnTo>
                <a:lnTo>
                  <a:pt x="318617" y="428988"/>
                </a:lnTo>
                <a:lnTo>
                  <a:pt x="275570" y="441996"/>
                </a:lnTo>
                <a:lnTo>
                  <a:pt x="229362" y="446531"/>
                </a:lnTo>
                <a:lnTo>
                  <a:pt x="183153" y="441996"/>
                </a:lnTo>
                <a:lnTo>
                  <a:pt x="140106" y="428988"/>
                </a:lnTo>
                <a:lnTo>
                  <a:pt x="101147" y="408404"/>
                </a:lnTo>
                <a:lnTo>
                  <a:pt x="67198" y="381142"/>
                </a:lnTo>
                <a:lnTo>
                  <a:pt x="39185" y="348100"/>
                </a:lnTo>
                <a:lnTo>
                  <a:pt x="18032" y="310175"/>
                </a:lnTo>
                <a:lnTo>
                  <a:pt x="4662" y="268264"/>
                </a:lnTo>
                <a:lnTo>
                  <a:pt x="0" y="22326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72205" y="5442965"/>
            <a:ext cx="139700" cy="195580"/>
          </a:xfrm>
          <a:custGeom>
            <a:avLst/>
            <a:gdLst/>
            <a:ahLst/>
            <a:cxnLst/>
            <a:rect l="l" t="t" r="r" b="b"/>
            <a:pathLst>
              <a:path w="139700" h="195579">
                <a:moveTo>
                  <a:pt x="38735" y="0"/>
                </a:moveTo>
                <a:lnTo>
                  <a:pt x="0" y="195072"/>
                </a:lnTo>
                <a:lnTo>
                  <a:pt x="139699" y="53467"/>
                </a:lnTo>
                <a:lnTo>
                  <a:pt x="3873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25261" y="4201667"/>
            <a:ext cx="623570" cy="114300"/>
          </a:xfrm>
          <a:custGeom>
            <a:avLst/>
            <a:gdLst/>
            <a:ahLst/>
            <a:cxnLst/>
            <a:rect l="l" t="t" r="r" b="b"/>
            <a:pathLst>
              <a:path w="623570" h="114300">
                <a:moveTo>
                  <a:pt x="190500" y="0"/>
                </a:moveTo>
                <a:lnTo>
                  <a:pt x="0" y="57149"/>
                </a:lnTo>
                <a:lnTo>
                  <a:pt x="190500" y="114299"/>
                </a:lnTo>
                <a:lnTo>
                  <a:pt x="190500" y="76199"/>
                </a:lnTo>
                <a:lnTo>
                  <a:pt x="171450" y="76199"/>
                </a:lnTo>
                <a:lnTo>
                  <a:pt x="171450" y="38099"/>
                </a:lnTo>
                <a:lnTo>
                  <a:pt x="190500" y="38099"/>
                </a:lnTo>
                <a:lnTo>
                  <a:pt x="190500" y="0"/>
                </a:lnTo>
                <a:close/>
              </a:path>
              <a:path w="623570" h="114300">
                <a:moveTo>
                  <a:pt x="190500" y="38099"/>
                </a:moveTo>
                <a:lnTo>
                  <a:pt x="171450" y="38099"/>
                </a:lnTo>
                <a:lnTo>
                  <a:pt x="171450" y="76199"/>
                </a:lnTo>
                <a:lnTo>
                  <a:pt x="190500" y="76199"/>
                </a:lnTo>
                <a:lnTo>
                  <a:pt x="190500" y="38099"/>
                </a:lnTo>
                <a:close/>
              </a:path>
              <a:path w="623570" h="114300">
                <a:moveTo>
                  <a:pt x="623315" y="38099"/>
                </a:moveTo>
                <a:lnTo>
                  <a:pt x="190500" y="38099"/>
                </a:lnTo>
                <a:lnTo>
                  <a:pt x="190500" y="76199"/>
                </a:lnTo>
                <a:lnTo>
                  <a:pt x="623315" y="76199"/>
                </a:lnTo>
                <a:lnTo>
                  <a:pt x="623315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695315" y="430695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03997" y="3338321"/>
            <a:ext cx="457200" cy="445134"/>
          </a:xfrm>
          <a:custGeom>
            <a:avLst/>
            <a:gdLst/>
            <a:ahLst/>
            <a:cxnLst/>
            <a:rect l="l" t="t" r="r" b="b"/>
            <a:pathLst>
              <a:path w="457200" h="445135">
                <a:moveTo>
                  <a:pt x="0" y="222503"/>
                </a:moveTo>
                <a:lnTo>
                  <a:pt x="4644" y="177647"/>
                </a:lnTo>
                <a:lnTo>
                  <a:pt x="17966" y="135874"/>
                </a:lnTo>
                <a:lnTo>
                  <a:pt x="39045" y="98077"/>
                </a:lnTo>
                <a:lnTo>
                  <a:pt x="66960" y="65150"/>
                </a:lnTo>
                <a:lnTo>
                  <a:pt x="100793" y="37986"/>
                </a:lnTo>
                <a:lnTo>
                  <a:pt x="139624" y="17478"/>
                </a:lnTo>
                <a:lnTo>
                  <a:pt x="182533" y="4518"/>
                </a:lnTo>
                <a:lnTo>
                  <a:pt x="228600" y="0"/>
                </a:lnTo>
                <a:lnTo>
                  <a:pt x="274666" y="4518"/>
                </a:lnTo>
                <a:lnTo>
                  <a:pt x="317575" y="17478"/>
                </a:lnTo>
                <a:lnTo>
                  <a:pt x="356406" y="37986"/>
                </a:lnTo>
                <a:lnTo>
                  <a:pt x="390239" y="65150"/>
                </a:lnTo>
                <a:lnTo>
                  <a:pt x="418154" y="98077"/>
                </a:lnTo>
                <a:lnTo>
                  <a:pt x="439233" y="135874"/>
                </a:lnTo>
                <a:lnTo>
                  <a:pt x="452555" y="177647"/>
                </a:lnTo>
                <a:lnTo>
                  <a:pt x="457200" y="222503"/>
                </a:lnTo>
                <a:lnTo>
                  <a:pt x="452555" y="267360"/>
                </a:lnTo>
                <a:lnTo>
                  <a:pt x="439233" y="309133"/>
                </a:lnTo>
                <a:lnTo>
                  <a:pt x="418154" y="346930"/>
                </a:lnTo>
                <a:lnTo>
                  <a:pt x="390239" y="379856"/>
                </a:lnTo>
                <a:lnTo>
                  <a:pt x="356406" y="407021"/>
                </a:lnTo>
                <a:lnTo>
                  <a:pt x="317575" y="427529"/>
                </a:lnTo>
                <a:lnTo>
                  <a:pt x="274666" y="440489"/>
                </a:lnTo>
                <a:lnTo>
                  <a:pt x="228600" y="445007"/>
                </a:lnTo>
                <a:lnTo>
                  <a:pt x="182533" y="440489"/>
                </a:lnTo>
                <a:lnTo>
                  <a:pt x="139624" y="427529"/>
                </a:lnTo>
                <a:lnTo>
                  <a:pt x="100793" y="407021"/>
                </a:lnTo>
                <a:lnTo>
                  <a:pt x="66960" y="379856"/>
                </a:lnTo>
                <a:lnTo>
                  <a:pt x="39045" y="346930"/>
                </a:lnTo>
                <a:lnTo>
                  <a:pt x="17966" y="309133"/>
                </a:lnTo>
                <a:lnTo>
                  <a:pt x="4644" y="267360"/>
                </a:lnTo>
                <a:lnTo>
                  <a:pt x="0" y="222503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924038" y="3613403"/>
            <a:ext cx="151130" cy="191770"/>
          </a:xfrm>
          <a:custGeom>
            <a:avLst/>
            <a:gdLst/>
            <a:ahLst/>
            <a:cxnLst/>
            <a:rect l="l" t="t" r="r" b="b"/>
            <a:pathLst>
              <a:path w="151129" h="191770">
                <a:moveTo>
                  <a:pt x="54482" y="0"/>
                </a:moveTo>
                <a:lnTo>
                  <a:pt x="0" y="191262"/>
                </a:lnTo>
                <a:lnTo>
                  <a:pt x="150748" y="61595"/>
                </a:lnTo>
                <a:lnTo>
                  <a:pt x="5448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005318" y="307220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19882" y="132473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18382" y="1530858"/>
            <a:ext cx="1685925" cy="386080"/>
          </a:xfrm>
          <a:prstGeom prst="rect">
            <a:avLst/>
          </a:prstGeom>
          <a:solidFill>
            <a:srgbClr val="FF00FF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17475">
              <a:lnSpc>
                <a:spcPts val="2805"/>
              </a:lnSpc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3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100" spc="-130" b="1" i="1">
                <a:solidFill>
                  <a:srgbClr val="FFFFFF"/>
                </a:solidFill>
                <a:latin typeface="宋体"/>
                <a:cs typeface="宋体"/>
              </a:rPr>
              <a:t>Ａ</a:t>
            </a:r>
            <a:r>
              <a:rPr dirty="0" sz="2000" spc="-130" b="1">
                <a:solidFill>
                  <a:srgbClr val="FFFFFF"/>
                </a:solidFill>
                <a:latin typeface="Times New Roman"/>
                <a:cs typeface="Times New Roman"/>
              </a:rPr>
              <a:t>·,</a:t>
            </a:r>
            <a:r>
              <a:rPr dirty="0" sz="2000" spc="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1042" y="1655064"/>
            <a:ext cx="1577340" cy="114300"/>
          </a:xfrm>
          <a:custGeom>
            <a:avLst/>
            <a:gdLst/>
            <a:ahLst/>
            <a:cxnLst/>
            <a:rect l="l" t="t" r="r" b="b"/>
            <a:pathLst>
              <a:path w="1577339" h="114300">
                <a:moveTo>
                  <a:pt x="1386840" y="0"/>
                </a:moveTo>
                <a:lnTo>
                  <a:pt x="1386840" y="114300"/>
                </a:lnTo>
                <a:lnTo>
                  <a:pt x="1513840" y="76200"/>
                </a:lnTo>
                <a:lnTo>
                  <a:pt x="1405890" y="76200"/>
                </a:lnTo>
                <a:lnTo>
                  <a:pt x="1405890" y="38100"/>
                </a:lnTo>
                <a:lnTo>
                  <a:pt x="1513840" y="38100"/>
                </a:lnTo>
                <a:lnTo>
                  <a:pt x="1386840" y="0"/>
                </a:lnTo>
                <a:close/>
              </a:path>
              <a:path w="1577339" h="114300">
                <a:moveTo>
                  <a:pt x="13868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86840" y="76200"/>
                </a:lnTo>
                <a:lnTo>
                  <a:pt x="1386840" y="38100"/>
                </a:lnTo>
                <a:close/>
              </a:path>
              <a:path w="1577339" h="114300">
                <a:moveTo>
                  <a:pt x="1513840" y="38100"/>
                </a:moveTo>
                <a:lnTo>
                  <a:pt x="1405890" y="38100"/>
                </a:lnTo>
                <a:lnTo>
                  <a:pt x="1405890" y="76200"/>
                </a:lnTo>
                <a:lnTo>
                  <a:pt x="1513840" y="76200"/>
                </a:lnTo>
                <a:lnTo>
                  <a:pt x="1577340" y="57150"/>
                </a:lnTo>
                <a:lnTo>
                  <a:pt x="15138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41042" y="1712214"/>
            <a:ext cx="0" cy="815340"/>
          </a:xfrm>
          <a:custGeom>
            <a:avLst/>
            <a:gdLst/>
            <a:ahLst/>
            <a:cxnLst/>
            <a:rect l="l" t="t" r="r" b="b"/>
            <a:pathLst>
              <a:path w="0" h="815339">
                <a:moveTo>
                  <a:pt x="0" y="0"/>
                </a:moveTo>
                <a:lnTo>
                  <a:pt x="0" y="81533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823208" y="111048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12033" y="2577160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18382" y="2527554"/>
            <a:ext cx="1664335" cy="9772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3975">
              <a:lnSpc>
                <a:spcPts val="1964"/>
              </a:lnSpc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0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100" spc="-40" b="1" i="1">
                <a:solidFill>
                  <a:srgbClr val="FFFFFF"/>
                </a:solidFill>
                <a:latin typeface="宋体"/>
                <a:cs typeface="宋体"/>
              </a:rPr>
              <a:t>Ｂ</a:t>
            </a:r>
            <a:r>
              <a:rPr dirty="0" sz="2000" spc="-4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100" spc="-40" b="1" i="1">
                <a:solidFill>
                  <a:srgbClr val="66FFFF"/>
                </a:solidFill>
                <a:latin typeface="宋体"/>
                <a:cs typeface="宋体"/>
              </a:rPr>
              <a:t>Ｂ</a:t>
            </a:r>
            <a:r>
              <a:rPr dirty="0" sz="2000" spc="-4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  <a:p>
            <a:pPr marL="53975">
              <a:lnSpc>
                <a:spcPts val="2580"/>
              </a:lnSpc>
            </a:pPr>
            <a:r>
              <a:rPr dirty="0" sz="2000" b="1" i="1">
                <a:solidFill>
                  <a:srgbClr val="66FF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→·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6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  <a:p>
            <a:pPr marL="53975">
              <a:lnSpc>
                <a:spcPts val="2510"/>
              </a:lnSpc>
              <a:tabLst>
                <a:tab pos="1117600" algn="l"/>
              </a:tabLst>
            </a:pPr>
            <a:r>
              <a:rPr dirty="0" sz="2000" b="1" i="1">
                <a:solidFill>
                  <a:srgbClr val="66FF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1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2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#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92957" y="2959607"/>
            <a:ext cx="727075" cy="114300"/>
          </a:xfrm>
          <a:custGeom>
            <a:avLst/>
            <a:gdLst/>
            <a:ahLst/>
            <a:cxnLst/>
            <a:rect l="l" t="t" r="r" b="b"/>
            <a:pathLst>
              <a:path w="727075" h="114300">
                <a:moveTo>
                  <a:pt x="536447" y="0"/>
                </a:moveTo>
                <a:lnTo>
                  <a:pt x="536447" y="114300"/>
                </a:lnTo>
                <a:lnTo>
                  <a:pt x="663447" y="76200"/>
                </a:lnTo>
                <a:lnTo>
                  <a:pt x="555497" y="76200"/>
                </a:lnTo>
                <a:lnTo>
                  <a:pt x="555497" y="38100"/>
                </a:lnTo>
                <a:lnTo>
                  <a:pt x="663447" y="38100"/>
                </a:lnTo>
                <a:lnTo>
                  <a:pt x="536447" y="0"/>
                </a:lnTo>
                <a:close/>
              </a:path>
              <a:path w="727075" h="114300">
                <a:moveTo>
                  <a:pt x="5364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6447" y="76200"/>
                </a:lnTo>
                <a:lnTo>
                  <a:pt x="536447" y="38100"/>
                </a:lnTo>
                <a:close/>
              </a:path>
              <a:path w="727075" h="114300">
                <a:moveTo>
                  <a:pt x="663447" y="38100"/>
                </a:moveTo>
                <a:lnTo>
                  <a:pt x="555497" y="38100"/>
                </a:lnTo>
                <a:lnTo>
                  <a:pt x="555497" y="76200"/>
                </a:lnTo>
                <a:lnTo>
                  <a:pt x="663447" y="76200"/>
                </a:lnTo>
                <a:lnTo>
                  <a:pt x="726947" y="57150"/>
                </a:lnTo>
                <a:lnTo>
                  <a:pt x="6634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826509" y="21172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183892" y="3931158"/>
            <a:ext cx="114300" cy="530860"/>
          </a:xfrm>
          <a:custGeom>
            <a:avLst/>
            <a:gdLst/>
            <a:ahLst/>
            <a:cxnLst/>
            <a:rect l="l" t="t" r="r" b="b"/>
            <a:pathLst>
              <a:path w="114300" h="530860">
                <a:moveTo>
                  <a:pt x="38100" y="339852"/>
                </a:moveTo>
                <a:lnTo>
                  <a:pt x="0" y="339852"/>
                </a:lnTo>
                <a:lnTo>
                  <a:pt x="57150" y="530352"/>
                </a:lnTo>
                <a:lnTo>
                  <a:pt x="108585" y="358902"/>
                </a:lnTo>
                <a:lnTo>
                  <a:pt x="38100" y="358902"/>
                </a:lnTo>
                <a:lnTo>
                  <a:pt x="38100" y="339852"/>
                </a:lnTo>
                <a:close/>
              </a:path>
              <a:path w="114300" h="530860">
                <a:moveTo>
                  <a:pt x="76200" y="0"/>
                </a:moveTo>
                <a:lnTo>
                  <a:pt x="38100" y="0"/>
                </a:lnTo>
                <a:lnTo>
                  <a:pt x="38100" y="358902"/>
                </a:lnTo>
                <a:lnTo>
                  <a:pt x="76200" y="358902"/>
                </a:lnTo>
                <a:lnTo>
                  <a:pt x="76200" y="0"/>
                </a:lnTo>
                <a:close/>
              </a:path>
              <a:path w="114300" h="530860">
                <a:moveTo>
                  <a:pt x="114300" y="339852"/>
                </a:moveTo>
                <a:lnTo>
                  <a:pt x="76200" y="339852"/>
                </a:lnTo>
                <a:lnTo>
                  <a:pt x="76200" y="358902"/>
                </a:lnTo>
                <a:lnTo>
                  <a:pt x="108585" y="358902"/>
                </a:lnTo>
                <a:lnTo>
                  <a:pt x="114300" y="3398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451610" y="4446270"/>
            <a:ext cx="1666239" cy="384175"/>
          </a:xfrm>
          <a:custGeom>
            <a:avLst/>
            <a:gdLst/>
            <a:ahLst/>
            <a:cxnLst/>
            <a:rect l="l" t="t" r="r" b="b"/>
            <a:pathLst>
              <a:path w="1666239" h="384175">
                <a:moveTo>
                  <a:pt x="0" y="384047"/>
                </a:moveTo>
                <a:lnTo>
                  <a:pt x="1665731" y="384047"/>
                </a:lnTo>
                <a:lnTo>
                  <a:pt x="1665731" y="0"/>
                </a:lnTo>
                <a:lnTo>
                  <a:pt x="0" y="0"/>
                </a:lnTo>
                <a:lnTo>
                  <a:pt x="0" y="38404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470660" y="4465320"/>
            <a:ext cx="1628139" cy="301625"/>
          </a:xfrm>
          <a:prstGeom prst="rect">
            <a:avLst/>
          </a:prstGeom>
          <a:solidFill>
            <a:srgbClr val="FF00FF"/>
          </a:solidFill>
        </p:spPr>
        <p:txBody>
          <a:bodyPr wrap="square" lIns="0" tIns="0" rIns="0" bIns="0" rtlCol="0" vert="horz">
            <a:spAutoFit/>
          </a:bodyPr>
          <a:lstStyle/>
          <a:p>
            <a:pPr marL="98425">
              <a:lnSpc>
                <a:spcPts val="2375"/>
              </a:lnSpc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000" spc="-225" b="1">
                <a:solidFill>
                  <a:srgbClr val="FFFFFF"/>
                </a:solidFill>
                <a:latin typeface="Times New Roman"/>
                <a:cs typeface="Times New Roman"/>
              </a:rPr>
              <a:t>·,</a:t>
            </a:r>
            <a:r>
              <a:rPr dirty="0" sz="2000" spc="-2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200" b="1">
                <a:solidFill>
                  <a:srgbClr val="FFFF00"/>
                </a:solidFill>
                <a:latin typeface="Times New Roman"/>
                <a:cs typeface="Times New Roman"/>
              </a:rPr>
              <a:t>/</a:t>
            </a:r>
            <a:r>
              <a:rPr dirty="0" sz="2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71930" y="3979926"/>
            <a:ext cx="11112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011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baseline="1984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baseline="1984" sz="4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7854" y="517017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77061" y="3172205"/>
            <a:ext cx="573405" cy="332740"/>
          </a:xfrm>
          <a:custGeom>
            <a:avLst/>
            <a:gdLst/>
            <a:ahLst/>
            <a:cxnLst/>
            <a:rect l="l" t="t" r="r" b="b"/>
            <a:pathLst>
              <a:path w="573405" h="332739">
                <a:moveTo>
                  <a:pt x="573024" y="0"/>
                </a:moveTo>
                <a:lnTo>
                  <a:pt x="0" y="33223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77061" y="3504438"/>
            <a:ext cx="0" cy="2647315"/>
          </a:xfrm>
          <a:custGeom>
            <a:avLst/>
            <a:gdLst/>
            <a:ahLst/>
            <a:cxnLst/>
            <a:rect l="l" t="t" r="r" b="b"/>
            <a:pathLst>
              <a:path w="0" h="2647315">
                <a:moveTo>
                  <a:pt x="0" y="0"/>
                </a:moveTo>
                <a:lnTo>
                  <a:pt x="0" y="26471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77061" y="6094476"/>
            <a:ext cx="573405" cy="114300"/>
          </a:xfrm>
          <a:custGeom>
            <a:avLst/>
            <a:gdLst/>
            <a:ahLst/>
            <a:cxnLst/>
            <a:rect l="l" t="t" r="r" b="b"/>
            <a:pathLst>
              <a:path w="573405" h="114300">
                <a:moveTo>
                  <a:pt x="382524" y="0"/>
                </a:moveTo>
                <a:lnTo>
                  <a:pt x="382524" y="114300"/>
                </a:lnTo>
                <a:lnTo>
                  <a:pt x="509524" y="76200"/>
                </a:lnTo>
                <a:lnTo>
                  <a:pt x="401574" y="76200"/>
                </a:lnTo>
                <a:lnTo>
                  <a:pt x="401574" y="38100"/>
                </a:lnTo>
                <a:lnTo>
                  <a:pt x="509524" y="38100"/>
                </a:lnTo>
                <a:lnTo>
                  <a:pt x="382524" y="0"/>
                </a:lnTo>
                <a:close/>
              </a:path>
              <a:path w="573405" h="114300">
                <a:moveTo>
                  <a:pt x="38252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82524" y="76200"/>
                </a:lnTo>
                <a:lnTo>
                  <a:pt x="382524" y="38100"/>
                </a:lnTo>
                <a:close/>
              </a:path>
              <a:path w="573405" h="114300">
                <a:moveTo>
                  <a:pt x="509524" y="38100"/>
                </a:moveTo>
                <a:lnTo>
                  <a:pt x="401574" y="38100"/>
                </a:lnTo>
                <a:lnTo>
                  <a:pt x="401574" y="76200"/>
                </a:lnTo>
                <a:lnTo>
                  <a:pt x="509524" y="76200"/>
                </a:lnTo>
                <a:lnTo>
                  <a:pt x="573024" y="57150"/>
                </a:lnTo>
                <a:lnTo>
                  <a:pt x="50952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451610" y="5508497"/>
            <a:ext cx="1666239" cy="1141730"/>
          </a:xfrm>
          <a:prstGeom prst="rect">
            <a:avLst/>
          </a:prstGeom>
          <a:solidFill>
            <a:srgbClr val="1E2D52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3340">
              <a:lnSpc>
                <a:spcPts val="2560"/>
              </a:lnSpc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100" spc="-20" b="1" i="1">
                <a:solidFill>
                  <a:srgbClr val="66FFFF"/>
                </a:solidFill>
                <a:latin typeface="宋体"/>
                <a:cs typeface="宋体"/>
              </a:rPr>
              <a:t>Ｂ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  <a:p>
            <a:pPr marL="53340">
              <a:lnSpc>
                <a:spcPts val="2875"/>
              </a:lnSpc>
            </a:pPr>
            <a:r>
              <a:rPr dirty="0" sz="2000" b="1" i="1">
                <a:solidFill>
                  <a:srgbClr val="66FF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→·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200" b="1">
                <a:solidFill>
                  <a:srgbClr val="00FFFF"/>
                </a:solidFill>
                <a:latin typeface="Times New Roman"/>
                <a:cs typeface="Times New Roman"/>
              </a:rPr>
              <a:t>/</a:t>
            </a:r>
            <a:r>
              <a:rPr dirty="0" sz="2200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  <a:p>
            <a:pPr marL="53340">
              <a:lnSpc>
                <a:spcPct val="100000"/>
              </a:lnSpc>
              <a:spcBef>
                <a:spcPts val="10"/>
              </a:spcBef>
            </a:pPr>
            <a:r>
              <a:rPr dirty="0" sz="2000" b="1" i="1">
                <a:solidFill>
                  <a:srgbClr val="66FF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43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200" b="1">
                <a:solidFill>
                  <a:srgbClr val="00FFFF"/>
                </a:solidFill>
                <a:latin typeface="Times New Roman"/>
                <a:cs typeface="Times New Roman"/>
              </a:rPr>
              <a:t>/</a:t>
            </a:r>
            <a:r>
              <a:rPr dirty="0" sz="2200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90852" y="5072252"/>
            <a:ext cx="10661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5665" algn="l"/>
              </a:tabLst>
            </a:pPr>
            <a:r>
              <a:rPr dirty="0" baseline="1984" sz="4200" spc="-7" b="1">
                <a:solidFill>
                  <a:srgbClr val="00FFFF"/>
                </a:solidFill>
                <a:latin typeface="Times New Roman"/>
                <a:cs typeface="Times New Roman"/>
              </a:rPr>
              <a:t>3</a:t>
            </a:r>
            <a:r>
              <a:rPr dirty="0" baseline="1984" sz="4200" spc="-7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24910" y="4705623"/>
            <a:ext cx="323850" cy="1045210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125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784853" y="5586221"/>
            <a:ext cx="1925320" cy="386080"/>
          </a:xfrm>
          <a:custGeom>
            <a:avLst/>
            <a:gdLst/>
            <a:ahLst/>
            <a:cxnLst/>
            <a:rect l="l" t="t" r="r" b="b"/>
            <a:pathLst>
              <a:path w="1925320" h="386079">
                <a:moveTo>
                  <a:pt x="0" y="385571"/>
                </a:moveTo>
                <a:lnTo>
                  <a:pt x="1924812" y="385571"/>
                </a:lnTo>
                <a:lnTo>
                  <a:pt x="1924812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839717" y="5649721"/>
            <a:ext cx="1851025" cy="303530"/>
          </a:xfrm>
          <a:prstGeom prst="rect">
            <a:avLst/>
          </a:prstGeom>
          <a:solidFill>
            <a:srgbClr val="FF00FF"/>
          </a:solidFill>
        </p:spPr>
        <p:txBody>
          <a:bodyPr wrap="square" lIns="0" tIns="0" rIns="0" bIns="0" rtlCol="0" vert="horz">
            <a:spAutoFit/>
          </a:bodyPr>
          <a:lstStyle/>
          <a:p>
            <a:pPr marL="75565">
              <a:lnSpc>
                <a:spcPts val="2295"/>
              </a:lnSpc>
              <a:tabLst>
                <a:tab pos="1421130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400" spc="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70" b="1">
                <a:solidFill>
                  <a:srgbClr val="FFFFFF"/>
                </a:solidFill>
                <a:latin typeface="Times New Roman"/>
                <a:cs typeface="Times New Roman"/>
              </a:rPr>
              <a:t>·,	</a:t>
            </a:r>
            <a:r>
              <a:rPr dirty="0" sz="2400" spc="-5" b="1" i="1">
                <a:solidFill>
                  <a:srgbClr val="FFA77A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A77A"/>
                </a:solidFill>
                <a:latin typeface="Times New Roman"/>
                <a:cs typeface="Times New Roman"/>
              </a:rPr>
              <a:t>/</a:t>
            </a:r>
            <a:r>
              <a:rPr dirty="0" sz="2400" spc="-5" b="1" i="1">
                <a:solidFill>
                  <a:srgbClr val="FFA77A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109722" y="5756147"/>
            <a:ext cx="650875" cy="114300"/>
          </a:xfrm>
          <a:custGeom>
            <a:avLst/>
            <a:gdLst/>
            <a:ahLst/>
            <a:cxnLst/>
            <a:rect l="l" t="t" r="r" b="b"/>
            <a:pathLst>
              <a:path w="650875" h="114300">
                <a:moveTo>
                  <a:pt x="460248" y="0"/>
                </a:moveTo>
                <a:lnTo>
                  <a:pt x="460248" y="114299"/>
                </a:lnTo>
                <a:lnTo>
                  <a:pt x="587248" y="76199"/>
                </a:lnTo>
                <a:lnTo>
                  <a:pt x="479298" y="76199"/>
                </a:lnTo>
                <a:lnTo>
                  <a:pt x="479298" y="38099"/>
                </a:lnTo>
                <a:lnTo>
                  <a:pt x="587248" y="38099"/>
                </a:lnTo>
                <a:lnTo>
                  <a:pt x="460248" y="0"/>
                </a:lnTo>
                <a:close/>
              </a:path>
              <a:path w="650875" h="114300">
                <a:moveTo>
                  <a:pt x="46024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60248" y="76199"/>
                </a:lnTo>
                <a:lnTo>
                  <a:pt x="460248" y="38099"/>
                </a:lnTo>
                <a:close/>
              </a:path>
              <a:path w="650875" h="114300">
                <a:moveTo>
                  <a:pt x="587248" y="38099"/>
                </a:moveTo>
                <a:lnTo>
                  <a:pt x="479298" y="38099"/>
                </a:lnTo>
                <a:lnTo>
                  <a:pt x="479298" y="76199"/>
                </a:lnTo>
                <a:lnTo>
                  <a:pt x="587248" y="76199"/>
                </a:lnTo>
                <a:lnTo>
                  <a:pt x="650748" y="57149"/>
                </a:lnTo>
                <a:lnTo>
                  <a:pt x="58724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826509" y="513684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88885" y="474827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185153" y="5421629"/>
            <a:ext cx="1666239" cy="387350"/>
          </a:xfrm>
          <a:custGeom>
            <a:avLst/>
            <a:gdLst/>
            <a:ahLst/>
            <a:cxnLst/>
            <a:rect l="l" t="t" r="r" b="b"/>
            <a:pathLst>
              <a:path w="1666240" h="387350">
                <a:moveTo>
                  <a:pt x="0" y="387096"/>
                </a:moveTo>
                <a:lnTo>
                  <a:pt x="1665731" y="387096"/>
                </a:lnTo>
                <a:lnTo>
                  <a:pt x="1665731" y="0"/>
                </a:lnTo>
                <a:lnTo>
                  <a:pt x="0" y="0"/>
                </a:lnTo>
                <a:lnTo>
                  <a:pt x="0" y="38709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204203" y="5504941"/>
            <a:ext cx="1628139" cy="285115"/>
          </a:xfrm>
          <a:prstGeom prst="rect">
            <a:avLst/>
          </a:prstGeom>
          <a:solidFill>
            <a:srgbClr val="FF00FF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2150"/>
              </a:lnSpc>
            </a:pPr>
            <a:r>
              <a:rPr dirty="0" sz="2400" b="1" i="1">
                <a:solidFill>
                  <a:srgbClr val="FFA77A"/>
                </a:solidFill>
                <a:latin typeface="Times New Roman"/>
                <a:cs typeface="Times New Roman"/>
              </a:rPr>
              <a:t>B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A77A"/>
                </a:solidFill>
                <a:latin typeface="Times New Roman"/>
                <a:cs typeface="Times New Roman"/>
              </a:rPr>
              <a:t>aB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· ,</a:t>
            </a:r>
            <a:r>
              <a:rPr dirty="0" sz="24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917435" y="4609338"/>
            <a:ext cx="114300" cy="812800"/>
          </a:xfrm>
          <a:custGeom>
            <a:avLst/>
            <a:gdLst/>
            <a:ahLst/>
            <a:cxnLst/>
            <a:rect l="l" t="t" r="r" b="b"/>
            <a:pathLst>
              <a:path w="114300" h="812800">
                <a:moveTo>
                  <a:pt x="38100" y="621792"/>
                </a:moveTo>
                <a:lnTo>
                  <a:pt x="0" y="621792"/>
                </a:lnTo>
                <a:lnTo>
                  <a:pt x="57150" y="812292"/>
                </a:lnTo>
                <a:lnTo>
                  <a:pt x="108584" y="640842"/>
                </a:lnTo>
                <a:lnTo>
                  <a:pt x="38100" y="640842"/>
                </a:lnTo>
                <a:lnTo>
                  <a:pt x="38100" y="621792"/>
                </a:lnTo>
                <a:close/>
              </a:path>
              <a:path w="114300" h="812800">
                <a:moveTo>
                  <a:pt x="76200" y="0"/>
                </a:moveTo>
                <a:lnTo>
                  <a:pt x="38100" y="0"/>
                </a:lnTo>
                <a:lnTo>
                  <a:pt x="38100" y="640842"/>
                </a:lnTo>
                <a:lnTo>
                  <a:pt x="76200" y="640842"/>
                </a:lnTo>
                <a:lnTo>
                  <a:pt x="76200" y="0"/>
                </a:lnTo>
                <a:close/>
              </a:path>
              <a:path w="114300" h="812800">
                <a:moveTo>
                  <a:pt x="114300" y="621792"/>
                </a:moveTo>
                <a:lnTo>
                  <a:pt x="76200" y="621792"/>
                </a:lnTo>
                <a:lnTo>
                  <a:pt x="76200" y="640842"/>
                </a:lnTo>
                <a:lnTo>
                  <a:pt x="108584" y="640842"/>
                </a:lnTo>
                <a:lnTo>
                  <a:pt x="114300" y="62179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6171691" y="498444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35195" y="359702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836670" y="3955541"/>
            <a:ext cx="1663064" cy="387350"/>
          </a:xfrm>
          <a:custGeom>
            <a:avLst/>
            <a:gdLst/>
            <a:ahLst/>
            <a:cxnLst/>
            <a:rect l="l" t="t" r="r" b="b"/>
            <a:pathLst>
              <a:path w="1663064" h="387350">
                <a:moveTo>
                  <a:pt x="0" y="387095"/>
                </a:moveTo>
                <a:lnTo>
                  <a:pt x="1662683" y="387095"/>
                </a:lnTo>
                <a:lnTo>
                  <a:pt x="1662683" y="0"/>
                </a:lnTo>
                <a:lnTo>
                  <a:pt x="0" y="0"/>
                </a:lnTo>
                <a:lnTo>
                  <a:pt x="0" y="387095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3855720" y="3932046"/>
            <a:ext cx="1624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· ,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550664" y="3504438"/>
            <a:ext cx="114300" cy="454659"/>
          </a:xfrm>
          <a:custGeom>
            <a:avLst/>
            <a:gdLst/>
            <a:ahLst/>
            <a:cxnLst/>
            <a:rect l="l" t="t" r="r" b="b"/>
            <a:pathLst>
              <a:path w="114300" h="454660">
                <a:moveTo>
                  <a:pt x="38100" y="263651"/>
                </a:moveTo>
                <a:lnTo>
                  <a:pt x="0" y="263651"/>
                </a:lnTo>
                <a:lnTo>
                  <a:pt x="57150" y="454151"/>
                </a:lnTo>
                <a:lnTo>
                  <a:pt x="108585" y="282701"/>
                </a:lnTo>
                <a:lnTo>
                  <a:pt x="38100" y="282701"/>
                </a:lnTo>
                <a:lnTo>
                  <a:pt x="38100" y="263651"/>
                </a:lnTo>
                <a:close/>
              </a:path>
              <a:path w="114300" h="454660">
                <a:moveTo>
                  <a:pt x="76200" y="0"/>
                </a:moveTo>
                <a:lnTo>
                  <a:pt x="38100" y="0"/>
                </a:lnTo>
                <a:lnTo>
                  <a:pt x="38100" y="282701"/>
                </a:lnTo>
                <a:lnTo>
                  <a:pt x="76200" y="282701"/>
                </a:lnTo>
                <a:lnTo>
                  <a:pt x="76200" y="0"/>
                </a:lnTo>
                <a:close/>
              </a:path>
              <a:path w="114300" h="454660">
                <a:moveTo>
                  <a:pt x="114300" y="263651"/>
                </a:moveTo>
                <a:lnTo>
                  <a:pt x="76200" y="263651"/>
                </a:lnTo>
                <a:lnTo>
                  <a:pt x="76200" y="282701"/>
                </a:lnTo>
                <a:lnTo>
                  <a:pt x="108585" y="282701"/>
                </a:lnTo>
                <a:lnTo>
                  <a:pt x="114300" y="2636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3826509" y="357962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822441" y="336329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163817" y="3595878"/>
            <a:ext cx="1663064" cy="1005840"/>
          </a:xfrm>
          <a:custGeom>
            <a:avLst/>
            <a:gdLst/>
            <a:ahLst/>
            <a:cxnLst/>
            <a:rect l="l" t="t" r="r" b="b"/>
            <a:pathLst>
              <a:path w="1663065" h="1005839">
                <a:moveTo>
                  <a:pt x="0" y="1005840"/>
                </a:moveTo>
                <a:lnTo>
                  <a:pt x="1662684" y="1005840"/>
                </a:lnTo>
                <a:lnTo>
                  <a:pt x="1662684" y="0"/>
                </a:lnTo>
                <a:lnTo>
                  <a:pt x="0" y="0"/>
                </a:lnTo>
                <a:lnTo>
                  <a:pt x="0" y="100584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163817" y="3595878"/>
            <a:ext cx="1663064" cy="1005840"/>
          </a:xfrm>
          <a:custGeom>
            <a:avLst/>
            <a:gdLst/>
            <a:ahLst/>
            <a:cxnLst/>
            <a:rect l="l" t="t" r="r" b="b"/>
            <a:pathLst>
              <a:path w="1663065" h="1005839">
                <a:moveTo>
                  <a:pt x="0" y="1005840"/>
                </a:moveTo>
                <a:lnTo>
                  <a:pt x="1662684" y="1005840"/>
                </a:lnTo>
                <a:lnTo>
                  <a:pt x="1662684" y="0"/>
                </a:lnTo>
                <a:lnTo>
                  <a:pt x="0" y="0"/>
                </a:lnTo>
                <a:lnTo>
                  <a:pt x="0" y="100584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281165" y="3573271"/>
            <a:ext cx="130365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A77A"/>
                </a:solidFill>
                <a:latin typeface="Times New Roman"/>
                <a:cs typeface="Times New Roman"/>
              </a:rPr>
              <a:t>B 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100" spc="-20" b="1" i="1">
                <a:solidFill>
                  <a:srgbClr val="66FFFF"/>
                </a:solidFill>
                <a:latin typeface="宋体"/>
                <a:cs typeface="宋体"/>
              </a:rPr>
              <a:t>Ｂ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A77A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→· </a:t>
            </a:r>
            <a:r>
              <a:rPr dirty="0" sz="2400" spc="-5" b="1" i="1">
                <a:solidFill>
                  <a:srgbClr val="FFA77A"/>
                </a:solidFill>
                <a:latin typeface="Times New Roman"/>
                <a:cs typeface="Times New Roman"/>
              </a:rPr>
              <a:t>aB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-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A77A"/>
                </a:solidFill>
                <a:latin typeface="Times New Roman"/>
                <a:cs typeface="Times New Roman"/>
              </a:rPr>
              <a:t>B 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400" spc="-10" b="1" i="1">
                <a:solidFill>
                  <a:srgbClr val="FFA77A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2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447029" y="3488944"/>
            <a:ext cx="698500" cy="511175"/>
          </a:xfrm>
          <a:custGeom>
            <a:avLst/>
            <a:gdLst/>
            <a:ahLst/>
            <a:cxnLst/>
            <a:rect l="l" t="t" r="r" b="b"/>
            <a:pathLst>
              <a:path w="698500" h="511175">
                <a:moveTo>
                  <a:pt x="532826" y="414840"/>
                </a:moveTo>
                <a:lnTo>
                  <a:pt x="510540" y="445769"/>
                </a:lnTo>
                <a:lnTo>
                  <a:pt x="698500" y="510793"/>
                </a:lnTo>
                <a:lnTo>
                  <a:pt x="633336" y="425957"/>
                </a:lnTo>
                <a:lnTo>
                  <a:pt x="548259" y="425957"/>
                </a:lnTo>
                <a:lnTo>
                  <a:pt x="532826" y="414840"/>
                </a:lnTo>
                <a:close/>
              </a:path>
              <a:path w="698500" h="511175">
                <a:moveTo>
                  <a:pt x="555062" y="383980"/>
                </a:moveTo>
                <a:lnTo>
                  <a:pt x="532826" y="414840"/>
                </a:lnTo>
                <a:lnTo>
                  <a:pt x="548259" y="425957"/>
                </a:lnTo>
                <a:lnTo>
                  <a:pt x="570484" y="395096"/>
                </a:lnTo>
                <a:lnTo>
                  <a:pt x="555062" y="383980"/>
                </a:lnTo>
                <a:close/>
              </a:path>
              <a:path w="698500" h="511175">
                <a:moveTo>
                  <a:pt x="577342" y="353059"/>
                </a:moveTo>
                <a:lnTo>
                  <a:pt x="555062" y="383980"/>
                </a:lnTo>
                <a:lnTo>
                  <a:pt x="570484" y="395096"/>
                </a:lnTo>
                <a:lnTo>
                  <a:pt x="548259" y="425957"/>
                </a:lnTo>
                <a:lnTo>
                  <a:pt x="633336" y="425957"/>
                </a:lnTo>
                <a:lnTo>
                  <a:pt x="577342" y="353059"/>
                </a:lnTo>
                <a:close/>
              </a:path>
              <a:path w="698500" h="511175">
                <a:moveTo>
                  <a:pt x="22352" y="0"/>
                </a:moveTo>
                <a:lnTo>
                  <a:pt x="0" y="30987"/>
                </a:lnTo>
                <a:lnTo>
                  <a:pt x="532826" y="414840"/>
                </a:lnTo>
                <a:lnTo>
                  <a:pt x="555062" y="383980"/>
                </a:lnTo>
                <a:lnTo>
                  <a:pt x="2235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228715" y="312699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151626" y="2593085"/>
            <a:ext cx="1666239" cy="386080"/>
          </a:xfrm>
          <a:custGeom>
            <a:avLst/>
            <a:gdLst/>
            <a:ahLst/>
            <a:cxnLst/>
            <a:rect l="l" t="t" r="r" b="b"/>
            <a:pathLst>
              <a:path w="1666240" h="386080">
                <a:moveTo>
                  <a:pt x="0" y="385572"/>
                </a:moveTo>
                <a:lnTo>
                  <a:pt x="1665731" y="385572"/>
                </a:lnTo>
                <a:lnTo>
                  <a:pt x="1665731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6170676" y="2612135"/>
            <a:ext cx="1628139" cy="290830"/>
          </a:xfrm>
          <a:prstGeom prst="rect">
            <a:avLst/>
          </a:prstGeom>
          <a:solidFill>
            <a:srgbClr val="FF00FF"/>
          </a:solidFill>
        </p:spPr>
        <p:txBody>
          <a:bodyPr wrap="square" lIns="0" tIns="0" rIns="0" bIns="0" rtlCol="0" vert="horz">
            <a:spAutoFit/>
          </a:bodyPr>
          <a:lstStyle/>
          <a:p>
            <a:pPr marL="161925">
              <a:lnSpc>
                <a:spcPts val="2180"/>
              </a:lnSpc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BB</a:t>
            </a:r>
            <a:r>
              <a:rPr dirty="0" sz="20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5" b="1">
                <a:solidFill>
                  <a:srgbClr val="FFFFFF"/>
                </a:solidFill>
                <a:latin typeface="Times New Roman"/>
                <a:cs typeface="Times New Roman"/>
              </a:rPr>
              <a:t>·,#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494782" y="2711195"/>
            <a:ext cx="652780" cy="114300"/>
          </a:xfrm>
          <a:custGeom>
            <a:avLst/>
            <a:gdLst/>
            <a:ahLst/>
            <a:cxnLst/>
            <a:rect l="l" t="t" r="r" b="b"/>
            <a:pathLst>
              <a:path w="652779" h="114300">
                <a:moveTo>
                  <a:pt x="461771" y="0"/>
                </a:moveTo>
                <a:lnTo>
                  <a:pt x="461771" y="114300"/>
                </a:lnTo>
                <a:lnTo>
                  <a:pt x="588771" y="76200"/>
                </a:lnTo>
                <a:lnTo>
                  <a:pt x="480821" y="76200"/>
                </a:lnTo>
                <a:lnTo>
                  <a:pt x="480821" y="38100"/>
                </a:lnTo>
                <a:lnTo>
                  <a:pt x="588771" y="38100"/>
                </a:lnTo>
                <a:lnTo>
                  <a:pt x="461771" y="0"/>
                </a:lnTo>
                <a:close/>
              </a:path>
              <a:path w="652779" h="114300">
                <a:moveTo>
                  <a:pt x="46177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1771" y="76200"/>
                </a:lnTo>
                <a:lnTo>
                  <a:pt x="461771" y="38100"/>
                </a:lnTo>
                <a:close/>
              </a:path>
              <a:path w="652779" h="114300">
                <a:moveTo>
                  <a:pt x="588771" y="38100"/>
                </a:moveTo>
                <a:lnTo>
                  <a:pt x="480821" y="38100"/>
                </a:lnTo>
                <a:lnTo>
                  <a:pt x="480821" y="76200"/>
                </a:lnTo>
                <a:lnTo>
                  <a:pt x="588771" y="76200"/>
                </a:lnTo>
                <a:lnTo>
                  <a:pt x="652271" y="57150"/>
                </a:lnTo>
                <a:lnTo>
                  <a:pt x="58877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5696839" y="2380310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135115" y="216814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25702" y="2507742"/>
            <a:ext cx="1664335" cy="13900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4460">
              <a:lnSpc>
                <a:spcPts val="2735"/>
              </a:lnSpc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500" spc="-30" b="1" i="1">
                <a:solidFill>
                  <a:srgbClr val="66FFFF"/>
                </a:solidFill>
                <a:latin typeface="宋体"/>
                <a:cs typeface="宋体"/>
              </a:rPr>
              <a:t>Ａ</a:t>
            </a: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  <a:p>
            <a:pPr marL="137160">
              <a:lnSpc>
                <a:spcPts val="2135"/>
              </a:lnSpc>
              <a:tabLst>
                <a:tab pos="1239520" algn="l"/>
              </a:tabLst>
            </a:pPr>
            <a:r>
              <a:rPr dirty="0" sz="20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000" spc="-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000" b="1" i="1">
                <a:solidFill>
                  <a:srgbClr val="FF66FF"/>
                </a:solidFill>
                <a:latin typeface="Times New Roman"/>
                <a:cs typeface="Times New Roman"/>
              </a:rPr>
              <a:t>B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2000" b="1">
                <a:solidFill>
                  <a:srgbClr val="66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  <a:p>
            <a:pPr marL="117475" marR="95250">
              <a:lnSpc>
                <a:spcPts val="2500"/>
              </a:lnSpc>
              <a:spcBef>
                <a:spcPts val="245"/>
              </a:spcBef>
            </a:pPr>
            <a:r>
              <a:rPr dirty="0" sz="2000" b="1" i="1">
                <a:solidFill>
                  <a:srgbClr val="FF66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→·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66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66FF"/>
                </a:solidFill>
                <a:latin typeface="Times New Roman"/>
                <a:cs typeface="Times New Roman"/>
              </a:rPr>
              <a:t>/</a:t>
            </a:r>
            <a:r>
              <a:rPr dirty="0" sz="2000" b="1" i="1">
                <a:solidFill>
                  <a:srgbClr val="FF66FF"/>
                </a:solidFill>
                <a:latin typeface="Times New Roman"/>
                <a:cs typeface="Times New Roman"/>
              </a:rPr>
              <a:t>b  </a:t>
            </a:r>
            <a:r>
              <a:rPr dirty="0" sz="2000" b="1" i="1">
                <a:solidFill>
                  <a:srgbClr val="FF66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0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66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66FF"/>
                </a:solidFill>
                <a:latin typeface="Times New Roman"/>
                <a:cs typeface="Times New Roman"/>
              </a:rPr>
              <a:t>/</a:t>
            </a:r>
            <a:r>
              <a:rPr dirty="0" sz="2000" b="1" i="1">
                <a:solidFill>
                  <a:srgbClr val="FF66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535923" y="4460747"/>
            <a:ext cx="608330" cy="245745"/>
          </a:xfrm>
          <a:custGeom>
            <a:avLst/>
            <a:gdLst/>
            <a:ahLst/>
            <a:cxnLst/>
            <a:rect l="l" t="t" r="r" b="b"/>
            <a:pathLst>
              <a:path w="608329" h="245745">
                <a:moveTo>
                  <a:pt x="608076" y="0"/>
                </a:moveTo>
                <a:lnTo>
                  <a:pt x="0" y="0"/>
                </a:lnTo>
                <a:lnTo>
                  <a:pt x="0" y="245363"/>
                </a:lnTo>
                <a:lnTo>
                  <a:pt x="608076" y="245363"/>
                </a:lnTo>
                <a:lnTo>
                  <a:pt x="608076" y="214629"/>
                </a:lnTo>
                <a:lnTo>
                  <a:pt x="211962" y="214629"/>
                </a:lnTo>
                <a:lnTo>
                  <a:pt x="211962" y="30606"/>
                </a:lnTo>
                <a:lnTo>
                  <a:pt x="608076" y="30606"/>
                </a:lnTo>
                <a:lnTo>
                  <a:pt x="608076" y="0"/>
                </a:lnTo>
                <a:close/>
              </a:path>
              <a:path w="608329" h="245745">
                <a:moveTo>
                  <a:pt x="608076" y="30606"/>
                </a:moveTo>
                <a:lnTo>
                  <a:pt x="211962" y="30606"/>
                </a:lnTo>
                <a:lnTo>
                  <a:pt x="395985" y="122681"/>
                </a:lnTo>
                <a:lnTo>
                  <a:pt x="211962" y="214629"/>
                </a:lnTo>
                <a:lnTo>
                  <a:pt x="608076" y="214629"/>
                </a:lnTo>
                <a:lnTo>
                  <a:pt x="608076" y="30606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747886" y="4491354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84150" h="184150">
                <a:moveTo>
                  <a:pt x="0" y="0"/>
                </a:moveTo>
                <a:lnTo>
                  <a:pt x="0" y="184023"/>
                </a:lnTo>
                <a:lnTo>
                  <a:pt x="184023" y="92075"/>
                </a:lnTo>
                <a:lnTo>
                  <a:pt x="0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8560434" y="4474845"/>
            <a:ext cx="565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分析表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267193" y="435101"/>
            <a:ext cx="1877695" cy="1849120"/>
          </a:xfrm>
          <a:custGeom>
            <a:avLst/>
            <a:gdLst/>
            <a:ahLst/>
            <a:cxnLst/>
            <a:rect l="l" t="t" r="r" b="b"/>
            <a:pathLst>
              <a:path w="1877695" h="1849120">
                <a:moveTo>
                  <a:pt x="0" y="1848612"/>
                </a:moveTo>
                <a:lnTo>
                  <a:pt x="1877568" y="1848612"/>
                </a:lnTo>
                <a:lnTo>
                  <a:pt x="1877568" y="0"/>
                </a:lnTo>
                <a:lnTo>
                  <a:pt x="0" y="0"/>
                </a:lnTo>
                <a:lnTo>
                  <a:pt x="0" y="1848612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267193" y="435101"/>
            <a:ext cx="1877695" cy="1849120"/>
          </a:xfrm>
          <a:custGeom>
            <a:avLst/>
            <a:gdLst/>
            <a:ahLst/>
            <a:cxnLst/>
            <a:rect l="l" t="t" r="r" b="b"/>
            <a:pathLst>
              <a:path w="1877695" h="1849120">
                <a:moveTo>
                  <a:pt x="0" y="1848612"/>
                </a:moveTo>
                <a:lnTo>
                  <a:pt x="1877568" y="1848612"/>
                </a:lnTo>
                <a:lnTo>
                  <a:pt x="1877568" y="0"/>
                </a:lnTo>
                <a:lnTo>
                  <a:pt x="0" y="0"/>
                </a:lnTo>
                <a:lnTo>
                  <a:pt x="0" y="18486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345806" y="315622"/>
            <a:ext cx="1397635" cy="192849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2400" spc="-10" b="1">
                <a:latin typeface="宋体"/>
                <a:cs typeface="宋体"/>
              </a:rPr>
              <a:t>⑴</a:t>
            </a:r>
            <a:r>
              <a:rPr dirty="0" sz="2400" spc="-45" b="1">
                <a:latin typeface="宋体"/>
                <a:cs typeface="宋体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Symbol"/>
                <a:cs typeface="Symbol"/>
              </a:rPr>
              <a:t></a:t>
            </a:r>
            <a:r>
              <a:rPr dirty="0" sz="2400" spc="-5" b="1">
                <a:latin typeface="Times New Roman"/>
                <a:cs typeface="Times New Roman"/>
              </a:rPr>
              <a:t>→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dirty="0" sz="2400" spc="-10" b="1">
                <a:latin typeface="宋体"/>
                <a:cs typeface="宋体"/>
              </a:rPr>
              <a:t>⑵</a:t>
            </a:r>
            <a:r>
              <a:rPr dirty="0" sz="2400" spc="-90" b="1">
                <a:latin typeface="宋体"/>
                <a:cs typeface="宋体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Times New Roman"/>
                <a:cs typeface="Times New Roman"/>
              </a:rPr>
              <a:t>→</a:t>
            </a:r>
            <a:r>
              <a:rPr dirty="0" sz="2400" spc="-5" b="1" i="1">
                <a:latin typeface="Times New Roman"/>
                <a:cs typeface="Times New Roman"/>
              </a:rPr>
              <a:t>BB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400" spc="-10" b="1">
                <a:latin typeface="宋体"/>
                <a:cs typeface="宋体"/>
              </a:rPr>
              <a:t>⑶</a:t>
            </a:r>
            <a:r>
              <a:rPr dirty="0" sz="2400" spc="-60" b="1">
                <a:latin typeface="宋体"/>
                <a:cs typeface="宋体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→</a:t>
            </a:r>
            <a:r>
              <a:rPr dirty="0" sz="2400" spc="-5" b="1" i="1">
                <a:latin typeface="Times New Roman"/>
                <a:cs typeface="Times New Roman"/>
              </a:rPr>
              <a:t>aB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400" spc="-10" b="1">
                <a:latin typeface="宋体"/>
                <a:cs typeface="宋体"/>
              </a:rPr>
              <a:t>⑷ 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→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110</a:t>
            </a:fld>
            <a:r>
              <a:rPr dirty="0" sz="1400" spc="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71433" y="6678574"/>
            <a:ext cx="8172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112</a:t>
            </a:r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04722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830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588008" y="481583"/>
          <a:ext cx="6947534" cy="601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/>
                <a:gridCol w="1165859"/>
                <a:gridCol w="1162685"/>
                <a:gridCol w="1163955"/>
                <a:gridCol w="1163954"/>
                <a:gridCol w="1163954"/>
              </a:tblGrid>
              <a:tr h="458724">
                <a:tc rowSpan="2"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380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226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842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24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64769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2400" spc="-15" b="1">
                          <a:solidFill>
                            <a:srgbClr val="FFCC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dirty="0" sz="2400" spc="-10" b="1">
                          <a:solidFill>
                            <a:srgbClr val="FFCC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45719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540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0226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395"/>
                        </a:spcBef>
                        <a:tabLst>
                          <a:tab pos="1245235" algn="l"/>
                          <a:tab pos="2400300" algn="l"/>
                        </a:tabLst>
                      </a:pP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	b	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425"/>
                        </a:spcBef>
                        <a:tabLst>
                          <a:tab pos="1543685" algn="l"/>
                        </a:tabLst>
                      </a:pP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	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ts val="312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6550">
                        <a:lnSpc>
                          <a:spcPts val="312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9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7660">
                        <a:lnSpc>
                          <a:spcPts val="31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313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6550">
                        <a:lnSpc>
                          <a:spcPts val="327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3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313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6550">
                        <a:lnSpc>
                          <a:spcPts val="312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ts val="3210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785">
                        <a:lnSpc>
                          <a:spcPts val="3360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3210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299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00">
                        <a:lnSpc>
                          <a:spcPts val="31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2069">
                        <a:lnSpc>
                          <a:spcPts val="31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9570">
                        <a:lnSpc>
                          <a:spcPts val="336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1484">
                        <a:lnSpc>
                          <a:spcPts val="306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ts val="3279"/>
                        </a:lnSpc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8300">
                        <a:lnSpc>
                          <a:spcPts val="336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97840" y="2090674"/>
            <a:ext cx="590550" cy="239331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12700" marR="5080">
              <a:lnSpc>
                <a:spcPts val="3650"/>
              </a:lnSpc>
              <a:spcBef>
                <a:spcPts val="384"/>
              </a:spcBef>
            </a:pP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LR 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(1)</a:t>
            </a:r>
            <a:endParaRPr sz="3200">
              <a:latin typeface="Times New Roman"/>
              <a:cs typeface="Times New Roman"/>
            </a:endParaRPr>
          </a:p>
          <a:p>
            <a:pPr algn="just" marL="12700" marR="162560">
              <a:lnSpc>
                <a:spcPct val="87800"/>
              </a:lnSpc>
              <a:spcBef>
                <a:spcPts val="940"/>
              </a:spcBef>
            </a:pP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分 析 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85003" y="6627876"/>
            <a:ext cx="617220" cy="230504"/>
          </a:xfrm>
          <a:custGeom>
            <a:avLst/>
            <a:gdLst/>
            <a:ahLst/>
            <a:cxnLst/>
            <a:rect l="l" t="t" r="r" b="b"/>
            <a:pathLst>
              <a:path w="617220" h="230504">
                <a:moveTo>
                  <a:pt x="617220" y="0"/>
                </a:moveTo>
                <a:lnTo>
                  <a:pt x="0" y="0"/>
                </a:lnTo>
                <a:lnTo>
                  <a:pt x="0" y="230123"/>
                </a:lnTo>
                <a:lnTo>
                  <a:pt x="617220" y="230123"/>
                </a:lnTo>
                <a:lnTo>
                  <a:pt x="617220" y="201358"/>
                </a:lnTo>
                <a:lnTo>
                  <a:pt x="394843" y="201358"/>
                </a:lnTo>
                <a:lnTo>
                  <a:pt x="222376" y="115060"/>
                </a:lnTo>
                <a:lnTo>
                  <a:pt x="394843" y="28765"/>
                </a:lnTo>
                <a:lnTo>
                  <a:pt x="617220" y="28765"/>
                </a:lnTo>
                <a:lnTo>
                  <a:pt x="617220" y="0"/>
                </a:lnTo>
                <a:close/>
              </a:path>
              <a:path w="617220" h="230504">
                <a:moveTo>
                  <a:pt x="617220" y="28765"/>
                </a:moveTo>
                <a:lnTo>
                  <a:pt x="394843" y="28765"/>
                </a:lnTo>
                <a:lnTo>
                  <a:pt x="394843" y="201358"/>
                </a:lnTo>
                <a:lnTo>
                  <a:pt x="617220" y="201358"/>
                </a:lnTo>
                <a:lnTo>
                  <a:pt x="617220" y="28765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07380" y="6656641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20" h="172720">
                <a:moveTo>
                  <a:pt x="172466" y="0"/>
                </a:moveTo>
                <a:lnTo>
                  <a:pt x="0" y="86295"/>
                </a:lnTo>
                <a:lnTo>
                  <a:pt x="172466" y="172593"/>
                </a:lnTo>
                <a:lnTo>
                  <a:pt x="172466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106161" y="6633768"/>
            <a:ext cx="3771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D</a:t>
            </a:r>
            <a:r>
              <a:rPr dirty="0" sz="1400" spc="-114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F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71433" y="6678574"/>
            <a:ext cx="8172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113</a:t>
            </a:r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04722" y="26923"/>
            <a:ext cx="73266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  <a:tab pos="4426585" algn="l"/>
                <a:tab pos="512445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3941" y="538098"/>
            <a:ext cx="52279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00" spc="-5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3000" spc="-5" b="1" i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000" spc="-5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3000" spc="-5" b="1" i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3000" spc="-5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z="3000" spc="-5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000" spc="-5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Times New Roman"/>
                <a:cs typeface="Times New Roman"/>
              </a:rPr>
              <a:t>LR(1)</a:t>
            </a:r>
            <a:r>
              <a:rPr dirty="0" u="heavy" sz="3000" spc="-5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宋体"/>
                <a:cs typeface="宋体"/>
              </a:rPr>
              <a:t>项目集规范族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67193" y="435101"/>
            <a:ext cx="1877695" cy="1849120"/>
          </a:xfrm>
          <a:custGeom>
            <a:avLst/>
            <a:gdLst/>
            <a:ahLst/>
            <a:cxnLst/>
            <a:rect l="l" t="t" r="r" b="b"/>
            <a:pathLst>
              <a:path w="1877695" h="1849120">
                <a:moveTo>
                  <a:pt x="0" y="1848612"/>
                </a:moveTo>
                <a:lnTo>
                  <a:pt x="1877568" y="1848612"/>
                </a:lnTo>
                <a:lnTo>
                  <a:pt x="1877568" y="0"/>
                </a:lnTo>
                <a:lnTo>
                  <a:pt x="0" y="0"/>
                </a:lnTo>
                <a:lnTo>
                  <a:pt x="0" y="1848612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67193" y="435101"/>
            <a:ext cx="1877695" cy="1849120"/>
          </a:xfrm>
          <a:custGeom>
            <a:avLst/>
            <a:gdLst/>
            <a:ahLst/>
            <a:cxnLst/>
            <a:rect l="l" t="t" r="r" b="b"/>
            <a:pathLst>
              <a:path w="1877695" h="1849120">
                <a:moveTo>
                  <a:pt x="0" y="1848612"/>
                </a:moveTo>
                <a:lnTo>
                  <a:pt x="1877568" y="1848612"/>
                </a:lnTo>
                <a:lnTo>
                  <a:pt x="1877568" y="0"/>
                </a:lnTo>
                <a:lnTo>
                  <a:pt x="0" y="0"/>
                </a:lnTo>
                <a:lnTo>
                  <a:pt x="0" y="18486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345806" y="315622"/>
            <a:ext cx="1397635" cy="97726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2400" spc="-10" b="1">
                <a:latin typeface="宋体"/>
                <a:cs typeface="宋体"/>
              </a:rPr>
              <a:t>⑴</a:t>
            </a:r>
            <a:r>
              <a:rPr dirty="0" sz="2400" spc="-45" b="1">
                <a:latin typeface="宋体"/>
                <a:cs typeface="宋体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Symbol"/>
                <a:cs typeface="Symbol"/>
              </a:rPr>
              <a:t></a:t>
            </a:r>
            <a:r>
              <a:rPr dirty="0" sz="2400" spc="-5" b="1">
                <a:latin typeface="Times New Roman"/>
                <a:cs typeface="Times New Roman"/>
              </a:rPr>
              <a:t>→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dirty="0" sz="2400" spc="-10" b="1">
                <a:latin typeface="宋体"/>
                <a:cs typeface="宋体"/>
              </a:rPr>
              <a:t>⑵</a:t>
            </a:r>
            <a:r>
              <a:rPr dirty="0" sz="2400" spc="-90" b="1">
                <a:latin typeface="宋体"/>
                <a:cs typeface="宋体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Times New Roman"/>
                <a:cs typeface="Times New Roman"/>
              </a:rPr>
              <a:t>→</a:t>
            </a:r>
            <a:r>
              <a:rPr dirty="0" sz="2400" spc="-5" b="1" i="1">
                <a:latin typeface="Times New Roman"/>
                <a:cs typeface="Times New Roman"/>
              </a:rPr>
              <a:t>BB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45806" y="1852371"/>
            <a:ext cx="12211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宋体"/>
                <a:cs typeface="宋体"/>
              </a:rPr>
              <a:t>⑷ 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→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938" y="1292384"/>
            <a:ext cx="862774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950" spc="-45" b="1" i="1">
                <a:solidFill>
                  <a:srgbClr val="FFFFFF"/>
                </a:solidFill>
                <a:latin typeface="宋体"/>
                <a:cs typeface="宋体"/>
              </a:rPr>
              <a:t>Ａ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 </a:t>
            </a:r>
            <a:r>
              <a:rPr dirty="0" baseline="-2314" sz="3600" spc="-15" b="1">
                <a:latin typeface="宋体"/>
                <a:cs typeface="宋体"/>
              </a:rPr>
              <a:t>⑶</a:t>
            </a:r>
            <a:r>
              <a:rPr dirty="0" baseline="-2314" sz="3600" spc="37" b="1">
                <a:latin typeface="宋体"/>
                <a:cs typeface="宋体"/>
              </a:rPr>
              <a:t> </a:t>
            </a:r>
            <a:r>
              <a:rPr dirty="0" baseline="-2314" sz="3600" spc="-7" b="1" i="1">
                <a:latin typeface="Times New Roman"/>
                <a:cs typeface="Times New Roman"/>
              </a:rPr>
              <a:t>B</a:t>
            </a:r>
            <a:r>
              <a:rPr dirty="0" baseline="-2314" sz="3600" spc="-7" b="1">
                <a:latin typeface="Times New Roman"/>
                <a:cs typeface="Times New Roman"/>
              </a:rPr>
              <a:t>→</a:t>
            </a:r>
            <a:r>
              <a:rPr dirty="0" baseline="-2314" sz="3600" spc="-7" b="1" i="1">
                <a:latin typeface="Times New Roman"/>
                <a:cs typeface="Times New Roman"/>
              </a:rPr>
              <a:t>aB</a:t>
            </a:r>
            <a:endParaRPr baseline="-2314" sz="3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38" y="1805150"/>
            <a:ext cx="231140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200" b="1" i="1">
                <a:solidFill>
                  <a:srgbClr val="FFFFFF"/>
                </a:solidFill>
                <a:latin typeface="宋体"/>
                <a:cs typeface="宋体"/>
              </a:rPr>
              <a:t>Ａ</a:t>
            </a:r>
            <a:r>
              <a:rPr dirty="0" sz="2800" spc="-200" b="1">
                <a:solidFill>
                  <a:srgbClr val="FFFFFF"/>
                </a:solidFill>
                <a:latin typeface="Times New Roman"/>
                <a:cs typeface="Times New Roman"/>
              </a:rPr>
              <a:t>·,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4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938" y="2336418"/>
            <a:ext cx="57499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0159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938" y="2848178"/>
            <a:ext cx="652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9562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1" y="3417570"/>
            <a:ext cx="2717800" cy="469900"/>
          </a:xfrm>
          <a:prstGeom prst="rect">
            <a:avLst/>
          </a:prstGeom>
          <a:ln w="38100">
            <a:solidFill>
              <a:srgbClr val="FF00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7470">
              <a:lnSpc>
                <a:spcPts val="3010"/>
              </a:lnSpc>
              <a:tabLst>
                <a:tab pos="155130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315" b="1">
                <a:solidFill>
                  <a:srgbClr val="FFFFFF"/>
                </a:solidFill>
                <a:latin typeface="Times New Roman"/>
                <a:cs typeface="Times New Roman"/>
              </a:rPr>
              <a:t>·,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1" y="3886961"/>
            <a:ext cx="2489200" cy="445134"/>
          </a:xfrm>
          <a:prstGeom prst="rect">
            <a:avLst/>
          </a:prstGeom>
          <a:ln w="38100">
            <a:solidFill>
              <a:srgbClr val="FF00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7470">
              <a:lnSpc>
                <a:spcPts val="334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BB </a:t>
            </a:r>
            <a:r>
              <a:rPr dirty="0" sz="2800" spc="-215" b="1">
                <a:solidFill>
                  <a:srgbClr val="FFFFFF"/>
                </a:solidFill>
                <a:latin typeface="Times New Roman"/>
                <a:cs typeface="Times New Roman"/>
              </a:rPr>
              <a:t>·,#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938" y="4385309"/>
            <a:ext cx="6224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08600" algn="l"/>
                <a:tab pos="57531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→·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r>
              <a:rPr dirty="0" sz="2800" spc="1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1" y="4965953"/>
            <a:ext cx="2286000" cy="457200"/>
          </a:xfrm>
          <a:prstGeom prst="rect">
            <a:avLst/>
          </a:prstGeom>
          <a:ln w="38100">
            <a:solidFill>
              <a:srgbClr val="FF00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7470">
              <a:lnSpc>
                <a:spcPts val="291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· ,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#}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803326" y="3612070"/>
          <a:ext cx="2218055" cy="2624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705"/>
                <a:gridCol w="436245"/>
                <a:gridCol w="434975"/>
                <a:gridCol w="436244"/>
                <a:gridCol w="435609"/>
              </a:tblGrid>
              <a:tr h="5189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4769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96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4769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96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4769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9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4769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6960234" y="3075813"/>
            <a:ext cx="14763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GO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函数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938" y="5322811"/>
            <a:ext cx="8056880" cy="14154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  <a:tabLst>
                <a:tab pos="172275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315" b="1">
                <a:solidFill>
                  <a:srgbClr val="FFFFFF"/>
                </a:solidFill>
                <a:latin typeface="Times New Roman"/>
                <a:cs typeface="Times New Roman"/>
              </a:rPr>
              <a:t>·,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· ,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#}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  <a:p>
            <a:pPr marL="4274185">
              <a:lnSpc>
                <a:spcPts val="3354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1,4,5,7,8,9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458200" y="2651760"/>
            <a:ext cx="608330" cy="243840"/>
          </a:xfrm>
          <a:custGeom>
            <a:avLst/>
            <a:gdLst/>
            <a:ahLst/>
            <a:cxnLst/>
            <a:rect l="l" t="t" r="r" b="b"/>
            <a:pathLst>
              <a:path w="608329" h="243839">
                <a:moveTo>
                  <a:pt x="608076" y="0"/>
                </a:moveTo>
                <a:lnTo>
                  <a:pt x="0" y="0"/>
                </a:lnTo>
                <a:lnTo>
                  <a:pt x="0" y="243839"/>
                </a:lnTo>
                <a:lnTo>
                  <a:pt x="608076" y="243839"/>
                </a:lnTo>
                <a:lnTo>
                  <a:pt x="608076" y="213360"/>
                </a:lnTo>
                <a:lnTo>
                  <a:pt x="212598" y="213360"/>
                </a:lnTo>
                <a:lnTo>
                  <a:pt x="212598" y="30479"/>
                </a:lnTo>
                <a:lnTo>
                  <a:pt x="608076" y="30479"/>
                </a:lnTo>
                <a:lnTo>
                  <a:pt x="608076" y="0"/>
                </a:lnTo>
                <a:close/>
              </a:path>
              <a:path w="608329" h="243839">
                <a:moveTo>
                  <a:pt x="608076" y="30479"/>
                </a:moveTo>
                <a:lnTo>
                  <a:pt x="212598" y="30479"/>
                </a:lnTo>
                <a:lnTo>
                  <a:pt x="395477" y="121919"/>
                </a:lnTo>
                <a:lnTo>
                  <a:pt x="212598" y="213360"/>
                </a:lnTo>
                <a:lnTo>
                  <a:pt x="608076" y="213360"/>
                </a:lnTo>
                <a:lnTo>
                  <a:pt x="608076" y="30479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670797" y="26822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80">
                <a:moveTo>
                  <a:pt x="0" y="0"/>
                </a:moveTo>
                <a:lnTo>
                  <a:pt x="0" y="182880"/>
                </a:lnTo>
                <a:lnTo>
                  <a:pt x="182879" y="91439"/>
                </a:lnTo>
                <a:lnTo>
                  <a:pt x="0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482710" y="2664713"/>
            <a:ext cx="5651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分析表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61" y="1917954"/>
            <a:ext cx="2489200" cy="365760"/>
          </a:xfrm>
          <a:custGeom>
            <a:avLst/>
            <a:gdLst/>
            <a:ahLst/>
            <a:cxnLst/>
            <a:rect l="l" t="t" r="r" b="b"/>
            <a:pathLst>
              <a:path w="2489200" h="365760">
                <a:moveTo>
                  <a:pt x="0" y="365760"/>
                </a:moveTo>
                <a:lnTo>
                  <a:pt x="2488692" y="365760"/>
                </a:lnTo>
                <a:lnTo>
                  <a:pt x="2488692" y="0"/>
                </a:lnTo>
                <a:lnTo>
                  <a:pt x="0" y="0"/>
                </a:lnTo>
                <a:lnTo>
                  <a:pt x="0" y="365760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0" y="5423153"/>
            <a:ext cx="2718435" cy="521334"/>
          </a:xfrm>
          <a:custGeom>
            <a:avLst/>
            <a:gdLst/>
            <a:ahLst/>
            <a:cxnLst/>
            <a:rect l="l" t="t" r="r" b="b"/>
            <a:pathLst>
              <a:path w="2718435" h="521335">
                <a:moveTo>
                  <a:pt x="0" y="521208"/>
                </a:moveTo>
                <a:lnTo>
                  <a:pt x="2718054" y="521208"/>
                </a:lnTo>
                <a:lnTo>
                  <a:pt x="2718054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0" y="5944361"/>
            <a:ext cx="2489835" cy="480059"/>
          </a:xfrm>
          <a:custGeom>
            <a:avLst/>
            <a:gdLst/>
            <a:ahLst/>
            <a:cxnLst/>
            <a:rect l="l" t="t" r="r" b="b"/>
            <a:pathLst>
              <a:path w="2489835" h="480060">
                <a:moveTo>
                  <a:pt x="0" y="480059"/>
                </a:moveTo>
                <a:lnTo>
                  <a:pt x="2489454" y="480059"/>
                </a:lnTo>
                <a:lnTo>
                  <a:pt x="2489454" y="0"/>
                </a:lnTo>
                <a:lnTo>
                  <a:pt x="0" y="0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71433" y="6678574"/>
            <a:ext cx="8172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114</a:t>
            </a:r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04722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830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8835" y="26923"/>
            <a:ext cx="2912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10684" y="6608064"/>
            <a:ext cx="2525395" cy="250190"/>
          </a:xfrm>
          <a:custGeom>
            <a:avLst/>
            <a:gdLst/>
            <a:ahLst/>
            <a:cxnLst/>
            <a:rect l="l" t="t" r="r" b="b"/>
            <a:pathLst>
              <a:path w="2525395" h="250190">
                <a:moveTo>
                  <a:pt x="2525267" y="0"/>
                </a:moveTo>
                <a:lnTo>
                  <a:pt x="0" y="0"/>
                </a:lnTo>
                <a:lnTo>
                  <a:pt x="0" y="249935"/>
                </a:lnTo>
                <a:lnTo>
                  <a:pt x="2525267" y="249935"/>
                </a:lnTo>
                <a:lnTo>
                  <a:pt x="2525267" y="218692"/>
                </a:lnTo>
                <a:lnTo>
                  <a:pt x="1356360" y="218692"/>
                </a:lnTo>
                <a:lnTo>
                  <a:pt x="1168907" y="124967"/>
                </a:lnTo>
                <a:lnTo>
                  <a:pt x="1356360" y="31241"/>
                </a:lnTo>
                <a:lnTo>
                  <a:pt x="2525267" y="31241"/>
                </a:lnTo>
                <a:lnTo>
                  <a:pt x="2525267" y="0"/>
                </a:lnTo>
                <a:close/>
              </a:path>
              <a:path w="2525395" h="250190">
                <a:moveTo>
                  <a:pt x="2525267" y="31241"/>
                </a:moveTo>
                <a:lnTo>
                  <a:pt x="1356360" y="31241"/>
                </a:lnTo>
                <a:lnTo>
                  <a:pt x="1356360" y="218692"/>
                </a:lnTo>
                <a:lnTo>
                  <a:pt x="2525267" y="218692"/>
                </a:lnTo>
                <a:lnTo>
                  <a:pt x="2525267" y="31241"/>
                </a:lnTo>
                <a:close/>
              </a:path>
            </a:pathLst>
          </a:custGeom>
          <a:solidFill>
            <a:srgbClr val="66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79591" y="6639306"/>
            <a:ext cx="187960" cy="187960"/>
          </a:xfrm>
          <a:custGeom>
            <a:avLst/>
            <a:gdLst/>
            <a:ahLst/>
            <a:cxnLst/>
            <a:rect l="l" t="t" r="r" b="b"/>
            <a:pathLst>
              <a:path w="187960" h="187959">
                <a:moveTo>
                  <a:pt x="187452" y="0"/>
                </a:moveTo>
                <a:lnTo>
                  <a:pt x="0" y="93726"/>
                </a:lnTo>
                <a:lnTo>
                  <a:pt x="187452" y="187450"/>
                </a:lnTo>
                <a:lnTo>
                  <a:pt x="187452" y="0"/>
                </a:lnTo>
                <a:close/>
              </a:path>
            </a:pathLst>
          </a:custGeom>
          <a:solidFill>
            <a:srgbClr val="3C995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588008" y="481583"/>
          <a:ext cx="6947534" cy="601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/>
                <a:gridCol w="1165859"/>
                <a:gridCol w="1162685"/>
                <a:gridCol w="1163955"/>
                <a:gridCol w="1163954"/>
                <a:gridCol w="1163954"/>
              </a:tblGrid>
              <a:tr h="458724">
                <a:tc rowSpan="2"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380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226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842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24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64769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2400" spc="-15" b="1">
                          <a:solidFill>
                            <a:srgbClr val="FFCC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dirty="0" sz="2400" spc="-10" b="1">
                          <a:solidFill>
                            <a:srgbClr val="FFCC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45719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540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0226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395"/>
                        </a:spcBef>
                        <a:tabLst>
                          <a:tab pos="1245235" algn="l"/>
                          <a:tab pos="2400300" algn="l"/>
                        </a:tabLst>
                      </a:pP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	b	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425"/>
                        </a:spcBef>
                        <a:tabLst>
                          <a:tab pos="1543685" algn="l"/>
                        </a:tabLst>
                      </a:pP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	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ts val="312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6550">
                        <a:lnSpc>
                          <a:spcPts val="312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9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7660">
                        <a:lnSpc>
                          <a:spcPts val="31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313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6550">
                        <a:lnSpc>
                          <a:spcPts val="327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3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313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6550">
                        <a:lnSpc>
                          <a:spcPts val="312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ts val="3210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785">
                        <a:lnSpc>
                          <a:spcPts val="3360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3210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299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00">
                        <a:lnSpc>
                          <a:spcPts val="31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2069">
                        <a:lnSpc>
                          <a:spcPts val="31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9570">
                        <a:lnSpc>
                          <a:spcPts val="336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1484">
                        <a:lnSpc>
                          <a:spcPts val="306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444500">
                        <a:lnSpc>
                          <a:spcPts val="3279"/>
                        </a:lnSpc>
                      </a:pPr>
                      <a:r>
                        <a:rPr dirty="0" sz="2800" b="1">
                          <a:solidFill>
                            <a:srgbClr val="99FF99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8300">
                        <a:lnSpc>
                          <a:spcPts val="336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9519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9519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020436" y="6625538"/>
            <a:ext cx="19081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项目</a:t>
            </a: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集规</a:t>
            </a:r>
            <a:r>
              <a:rPr dirty="0" sz="1400" spc="-20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范</a:t>
            </a: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族</a:t>
            </a:r>
            <a:r>
              <a:rPr dirty="0" sz="1400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及</a:t>
            </a:r>
            <a:r>
              <a:rPr dirty="0" sz="1400" spc="-5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GO</a:t>
            </a:r>
            <a:r>
              <a:rPr dirty="0" sz="1400" spc="-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函数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840" y="2090674"/>
            <a:ext cx="590550" cy="239331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12700" marR="5080">
              <a:lnSpc>
                <a:spcPts val="3650"/>
              </a:lnSpc>
              <a:spcBef>
                <a:spcPts val="384"/>
              </a:spcBef>
            </a:pP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LR 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(1)</a:t>
            </a:r>
            <a:endParaRPr sz="3200">
              <a:latin typeface="Times New Roman"/>
              <a:cs typeface="Times New Roman"/>
            </a:endParaRPr>
          </a:p>
          <a:p>
            <a:pPr algn="just" marL="12700" marR="162560">
              <a:lnSpc>
                <a:spcPct val="87800"/>
              </a:lnSpc>
              <a:spcBef>
                <a:spcPts val="940"/>
              </a:spcBef>
            </a:pP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分 析 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71433" y="6678574"/>
            <a:ext cx="8172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115</a:t>
            </a:r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33294" y="26923"/>
            <a:ext cx="16306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6771" y="26923"/>
            <a:ext cx="1696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5.6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17267" y="2253742"/>
            <a:ext cx="4746625" cy="2145665"/>
          </a:xfrm>
          <a:custGeom>
            <a:avLst/>
            <a:gdLst/>
            <a:ahLst/>
            <a:cxnLst/>
            <a:rect l="l" t="t" r="r" b="b"/>
            <a:pathLst>
              <a:path w="4746625" h="2145665">
                <a:moveTo>
                  <a:pt x="655701" y="609092"/>
                </a:moveTo>
                <a:lnTo>
                  <a:pt x="608353" y="610867"/>
                </a:lnTo>
                <a:lnTo>
                  <a:pt x="562115" y="616194"/>
                </a:lnTo>
                <a:lnTo>
                  <a:pt x="516987" y="625072"/>
                </a:lnTo>
                <a:lnTo>
                  <a:pt x="472971" y="637500"/>
                </a:lnTo>
                <a:lnTo>
                  <a:pt x="430068" y="653477"/>
                </a:lnTo>
                <a:lnTo>
                  <a:pt x="388280" y="673003"/>
                </a:lnTo>
                <a:lnTo>
                  <a:pt x="347606" y="696078"/>
                </a:lnTo>
                <a:lnTo>
                  <a:pt x="308049" y="722700"/>
                </a:lnTo>
                <a:lnTo>
                  <a:pt x="269610" y="752870"/>
                </a:lnTo>
                <a:lnTo>
                  <a:pt x="232289" y="786586"/>
                </a:lnTo>
                <a:lnTo>
                  <a:pt x="196087" y="823849"/>
                </a:lnTo>
                <a:lnTo>
                  <a:pt x="167089" y="857753"/>
                </a:lnTo>
                <a:lnTo>
                  <a:pt x="140408" y="893407"/>
                </a:lnTo>
                <a:lnTo>
                  <a:pt x="116045" y="930812"/>
                </a:lnTo>
                <a:lnTo>
                  <a:pt x="94001" y="969967"/>
                </a:lnTo>
                <a:lnTo>
                  <a:pt x="74276" y="1010873"/>
                </a:lnTo>
                <a:lnTo>
                  <a:pt x="56870" y="1053530"/>
                </a:lnTo>
                <a:lnTo>
                  <a:pt x="41784" y="1097938"/>
                </a:lnTo>
                <a:lnTo>
                  <a:pt x="29018" y="1144098"/>
                </a:lnTo>
                <a:lnTo>
                  <a:pt x="18572" y="1192011"/>
                </a:lnTo>
                <a:lnTo>
                  <a:pt x="10447" y="1241676"/>
                </a:lnTo>
                <a:lnTo>
                  <a:pt x="4643" y="1293094"/>
                </a:lnTo>
                <a:lnTo>
                  <a:pt x="1160" y="1346266"/>
                </a:lnTo>
                <a:lnTo>
                  <a:pt x="0" y="1401191"/>
                </a:lnTo>
                <a:lnTo>
                  <a:pt x="1333" y="1459438"/>
                </a:lnTo>
                <a:lnTo>
                  <a:pt x="5333" y="1515765"/>
                </a:lnTo>
                <a:lnTo>
                  <a:pt x="12001" y="1570172"/>
                </a:lnTo>
                <a:lnTo>
                  <a:pt x="21336" y="1622658"/>
                </a:lnTo>
                <a:lnTo>
                  <a:pt x="33337" y="1673225"/>
                </a:lnTo>
                <a:lnTo>
                  <a:pt x="48006" y="1721871"/>
                </a:lnTo>
                <a:lnTo>
                  <a:pt x="65341" y="1768596"/>
                </a:lnTo>
                <a:lnTo>
                  <a:pt x="85343" y="1813402"/>
                </a:lnTo>
                <a:lnTo>
                  <a:pt x="108013" y="1856287"/>
                </a:lnTo>
                <a:lnTo>
                  <a:pt x="133350" y="1897253"/>
                </a:lnTo>
                <a:lnTo>
                  <a:pt x="162062" y="1936869"/>
                </a:lnTo>
                <a:lnTo>
                  <a:pt x="192954" y="1973040"/>
                </a:lnTo>
                <a:lnTo>
                  <a:pt x="226024" y="2005766"/>
                </a:lnTo>
                <a:lnTo>
                  <a:pt x="261271" y="2035047"/>
                </a:lnTo>
                <a:lnTo>
                  <a:pt x="298696" y="2060884"/>
                </a:lnTo>
                <a:lnTo>
                  <a:pt x="338296" y="2083276"/>
                </a:lnTo>
                <a:lnTo>
                  <a:pt x="380071" y="2102223"/>
                </a:lnTo>
                <a:lnTo>
                  <a:pt x="424020" y="2117725"/>
                </a:lnTo>
                <a:lnTo>
                  <a:pt x="470142" y="2129782"/>
                </a:lnTo>
                <a:lnTo>
                  <a:pt x="518436" y="2138394"/>
                </a:lnTo>
                <a:lnTo>
                  <a:pt x="568901" y="2143561"/>
                </a:lnTo>
                <a:lnTo>
                  <a:pt x="621538" y="2145284"/>
                </a:lnTo>
                <a:lnTo>
                  <a:pt x="674232" y="2143239"/>
                </a:lnTo>
                <a:lnTo>
                  <a:pt x="725089" y="2137107"/>
                </a:lnTo>
                <a:lnTo>
                  <a:pt x="774106" y="2126889"/>
                </a:lnTo>
                <a:lnTo>
                  <a:pt x="821282" y="2112588"/>
                </a:lnTo>
                <a:lnTo>
                  <a:pt x="866614" y="2094206"/>
                </a:lnTo>
                <a:lnTo>
                  <a:pt x="910100" y="2071745"/>
                </a:lnTo>
                <a:lnTo>
                  <a:pt x="951738" y="2045208"/>
                </a:lnTo>
                <a:lnTo>
                  <a:pt x="983135" y="2021289"/>
                </a:lnTo>
                <a:lnTo>
                  <a:pt x="1013914" y="1993900"/>
                </a:lnTo>
                <a:lnTo>
                  <a:pt x="1044076" y="1963039"/>
                </a:lnTo>
                <a:lnTo>
                  <a:pt x="1073623" y="1928706"/>
                </a:lnTo>
                <a:lnTo>
                  <a:pt x="1088172" y="1909699"/>
                </a:lnTo>
                <a:lnTo>
                  <a:pt x="827786" y="1909699"/>
                </a:lnTo>
                <a:lnTo>
                  <a:pt x="778837" y="1906122"/>
                </a:lnTo>
                <a:lnTo>
                  <a:pt x="732319" y="1895395"/>
                </a:lnTo>
                <a:lnTo>
                  <a:pt x="688228" y="1877520"/>
                </a:lnTo>
                <a:lnTo>
                  <a:pt x="646561" y="1852501"/>
                </a:lnTo>
                <a:lnTo>
                  <a:pt x="607314" y="1820343"/>
                </a:lnTo>
                <a:lnTo>
                  <a:pt x="570483" y="1781048"/>
                </a:lnTo>
                <a:lnTo>
                  <a:pt x="543817" y="1746350"/>
                </a:lnTo>
                <a:lnTo>
                  <a:pt x="519670" y="1709236"/>
                </a:lnTo>
                <a:lnTo>
                  <a:pt x="498041" y="1669704"/>
                </a:lnTo>
                <a:lnTo>
                  <a:pt x="478928" y="1627755"/>
                </a:lnTo>
                <a:lnTo>
                  <a:pt x="462327" y="1583388"/>
                </a:lnTo>
                <a:lnTo>
                  <a:pt x="448237" y="1536601"/>
                </a:lnTo>
                <a:lnTo>
                  <a:pt x="436656" y="1487394"/>
                </a:lnTo>
                <a:lnTo>
                  <a:pt x="427581" y="1435766"/>
                </a:lnTo>
                <a:lnTo>
                  <a:pt x="421010" y="1381716"/>
                </a:lnTo>
                <a:lnTo>
                  <a:pt x="416940" y="1325245"/>
                </a:lnTo>
                <a:lnTo>
                  <a:pt x="1212214" y="1325245"/>
                </a:lnTo>
                <a:lnTo>
                  <a:pt x="1209084" y="1267303"/>
                </a:lnTo>
                <a:lnTo>
                  <a:pt x="1204781" y="1221359"/>
                </a:lnTo>
                <a:lnTo>
                  <a:pt x="409194" y="1221359"/>
                </a:lnTo>
                <a:lnTo>
                  <a:pt x="409194" y="1167130"/>
                </a:lnTo>
                <a:lnTo>
                  <a:pt x="410622" y="1108670"/>
                </a:lnTo>
                <a:lnTo>
                  <a:pt x="414908" y="1053403"/>
                </a:lnTo>
                <a:lnTo>
                  <a:pt x="422052" y="1001330"/>
                </a:lnTo>
                <a:lnTo>
                  <a:pt x="432053" y="952452"/>
                </a:lnTo>
                <a:lnTo>
                  <a:pt x="444912" y="906771"/>
                </a:lnTo>
                <a:lnTo>
                  <a:pt x="460628" y="864288"/>
                </a:lnTo>
                <a:lnTo>
                  <a:pt x="479202" y="825005"/>
                </a:lnTo>
                <a:lnTo>
                  <a:pt x="500633" y="788924"/>
                </a:lnTo>
                <a:lnTo>
                  <a:pt x="528089" y="754346"/>
                </a:lnTo>
                <a:lnTo>
                  <a:pt x="559212" y="729662"/>
                </a:lnTo>
                <a:lnTo>
                  <a:pt x="632459" y="709930"/>
                </a:lnTo>
                <a:lnTo>
                  <a:pt x="951442" y="709930"/>
                </a:lnTo>
                <a:lnTo>
                  <a:pt x="923332" y="689356"/>
                </a:lnTo>
                <a:lnTo>
                  <a:pt x="882301" y="664830"/>
                </a:lnTo>
                <a:lnTo>
                  <a:pt x="839841" y="644764"/>
                </a:lnTo>
                <a:lnTo>
                  <a:pt x="795951" y="629158"/>
                </a:lnTo>
                <a:lnTo>
                  <a:pt x="750631" y="618010"/>
                </a:lnTo>
                <a:lnTo>
                  <a:pt x="703881" y="611321"/>
                </a:lnTo>
                <a:lnTo>
                  <a:pt x="655701" y="609092"/>
                </a:lnTo>
                <a:close/>
              </a:path>
              <a:path w="4746625" h="2145665">
                <a:moveTo>
                  <a:pt x="1159509" y="1670939"/>
                </a:moveTo>
                <a:lnTo>
                  <a:pt x="1125203" y="1721567"/>
                </a:lnTo>
                <a:lnTo>
                  <a:pt x="1091775" y="1765557"/>
                </a:lnTo>
                <a:lnTo>
                  <a:pt x="1059218" y="1802914"/>
                </a:lnTo>
                <a:lnTo>
                  <a:pt x="1027527" y="1833645"/>
                </a:lnTo>
                <a:lnTo>
                  <a:pt x="996695" y="1857756"/>
                </a:lnTo>
                <a:lnTo>
                  <a:pt x="957641" y="1880445"/>
                </a:lnTo>
                <a:lnTo>
                  <a:pt x="916479" y="1896681"/>
                </a:lnTo>
                <a:lnTo>
                  <a:pt x="873198" y="1906440"/>
                </a:lnTo>
                <a:lnTo>
                  <a:pt x="827786" y="1909699"/>
                </a:lnTo>
                <a:lnTo>
                  <a:pt x="1088172" y="1909699"/>
                </a:lnTo>
                <a:lnTo>
                  <a:pt x="1130883" y="1849628"/>
                </a:lnTo>
                <a:lnTo>
                  <a:pt x="1158599" y="1804881"/>
                </a:lnTo>
                <a:lnTo>
                  <a:pt x="1185709" y="1756664"/>
                </a:lnTo>
                <a:lnTo>
                  <a:pt x="1212214" y="1704975"/>
                </a:lnTo>
                <a:lnTo>
                  <a:pt x="1159509" y="1670939"/>
                </a:lnTo>
                <a:close/>
              </a:path>
              <a:path w="4746625" h="2145665">
                <a:moveTo>
                  <a:pt x="951442" y="709930"/>
                </a:moveTo>
                <a:lnTo>
                  <a:pt x="632459" y="709930"/>
                </a:lnTo>
                <a:lnTo>
                  <a:pt x="658229" y="711668"/>
                </a:lnTo>
                <a:lnTo>
                  <a:pt x="681259" y="716883"/>
                </a:lnTo>
                <a:lnTo>
                  <a:pt x="719201" y="737743"/>
                </a:lnTo>
                <a:lnTo>
                  <a:pt x="769016" y="797099"/>
                </a:lnTo>
                <a:lnTo>
                  <a:pt x="788281" y="835165"/>
                </a:lnTo>
                <a:lnTo>
                  <a:pt x="803782" y="878840"/>
                </a:lnTo>
                <a:lnTo>
                  <a:pt x="817032" y="944745"/>
                </a:lnTo>
                <a:lnTo>
                  <a:pt x="822001" y="987285"/>
                </a:lnTo>
                <a:lnTo>
                  <a:pt x="825865" y="1036216"/>
                </a:lnTo>
                <a:lnTo>
                  <a:pt x="828625" y="1091539"/>
                </a:lnTo>
                <a:lnTo>
                  <a:pt x="830281" y="1153253"/>
                </a:lnTo>
                <a:lnTo>
                  <a:pt x="830833" y="1221359"/>
                </a:lnTo>
                <a:lnTo>
                  <a:pt x="1204781" y="1221359"/>
                </a:lnTo>
                <a:lnTo>
                  <a:pt x="1196613" y="1158678"/>
                </a:lnTo>
                <a:lnTo>
                  <a:pt x="1187271" y="1107995"/>
                </a:lnTo>
                <a:lnTo>
                  <a:pt x="1175856" y="1059731"/>
                </a:lnTo>
                <a:lnTo>
                  <a:pt x="1162367" y="1013888"/>
                </a:lnTo>
                <a:lnTo>
                  <a:pt x="1146804" y="970466"/>
                </a:lnTo>
                <a:lnTo>
                  <a:pt x="1129166" y="929465"/>
                </a:lnTo>
                <a:lnTo>
                  <a:pt x="1109452" y="890887"/>
                </a:lnTo>
                <a:lnTo>
                  <a:pt x="1087660" y="854730"/>
                </a:lnTo>
                <a:lnTo>
                  <a:pt x="1063791" y="820996"/>
                </a:lnTo>
                <a:lnTo>
                  <a:pt x="1037844" y="789686"/>
                </a:lnTo>
                <a:lnTo>
                  <a:pt x="1001103" y="751783"/>
                </a:lnTo>
                <a:lnTo>
                  <a:pt x="962932" y="718340"/>
                </a:lnTo>
                <a:lnTo>
                  <a:pt x="951442" y="709930"/>
                </a:lnTo>
                <a:close/>
              </a:path>
              <a:path w="4746625" h="2145665">
                <a:moveTo>
                  <a:pt x="1986280" y="652526"/>
                </a:moveTo>
                <a:lnTo>
                  <a:pt x="1395730" y="652526"/>
                </a:lnTo>
                <a:lnTo>
                  <a:pt x="1395730" y="709930"/>
                </a:lnTo>
                <a:lnTo>
                  <a:pt x="1439691" y="717861"/>
                </a:lnTo>
                <a:lnTo>
                  <a:pt x="1475390" y="729281"/>
                </a:lnTo>
                <a:lnTo>
                  <a:pt x="1522095" y="762635"/>
                </a:lnTo>
                <a:lnTo>
                  <a:pt x="1544788" y="833964"/>
                </a:lnTo>
                <a:lnTo>
                  <a:pt x="1550437" y="892794"/>
                </a:lnTo>
                <a:lnTo>
                  <a:pt x="1552320" y="967232"/>
                </a:lnTo>
                <a:lnTo>
                  <a:pt x="1552320" y="1785620"/>
                </a:lnTo>
                <a:lnTo>
                  <a:pt x="1550710" y="1859528"/>
                </a:lnTo>
                <a:lnTo>
                  <a:pt x="1545748" y="1919732"/>
                </a:lnTo>
                <a:lnTo>
                  <a:pt x="1537533" y="1961784"/>
                </a:lnTo>
                <a:lnTo>
                  <a:pt x="1503314" y="2009431"/>
                </a:lnTo>
                <a:lnTo>
                  <a:pt x="1438163" y="2038907"/>
                </a:lnTo>
                <a:lnTo>
                  <a:pt x="1395730" y="2046097"/>
                </a:lnTo>
                <a:lnTo>
                  <a:pt x="1395730" y="2101850"/>
                </a:lnTo>
                <a:lnTo>
                  <a:pt x="2128901" y="2101850"/>
                </a:lnTo>
                <a:lnTo>
                  <a:pt x="2128901" y="2046097"/>
                </a:lnTo>
                <a:lnTo>
                  <a:pt x="2091086" y="2038621"/>
                </a:lnTo>
                <a:lnTo>
                  <a:pt x="2059749" y="2027062"/>
                </a:lnTo>
                <a:lnTo>
                  <a:pt x="2016506" y="1991741"/>
                </a:lnTo>
                <a:lnTo>
                  <a:pt x="1993868" y="1918541"/>
                </a:lnTo>
                <a:lnTo>
                  <a:pt x="1988181" y="1859528"/>
                </a:lnTo>
                <a:lnTo>
                  <a:pt x="1986280" y="1785620"/>
                </a:lnTo>
                <a:lnTo>
                  <a:pt x="1986280" y="1009015"/>
                </a:lnTo>
                <a:lnTo>
                  <a:pt x="2019473" y="958467"/>
                </a:lnTo>
                <a:lnTo>
                  <a:pt x="2053413" y="915683"/>
                </a:lnTo>
                <a:lnTo>
                  <a:pt x="2088100" y="880669"/>
                </a:lnTo>
                <a:lnTo>
                  <a:pt x="2123533" y="853427"/>
                </a:lnTo>
                <a:lnTo>
                  <a:pt x="2148298" y="840105"/>
                </a:lnTo>
                <a:lnTo>
                  <a:pt x="1986280" y="840105"/>
                </a:lnTo>
                <a:lnTo>
                  <a:pt x="1986280" y="652526"/>
                </a:lnTo>
                <a:close/>
              </a:path>
              <a:path w="4746625" h="2145665">
                <a:moveTo>
                  <a:pt x="2754743" y="818388"/>
                </a:moveTo>
                <a:lnTo>
                  <a:pt x="2234310" y="818388"/>
                </a:lnTo>
                <a:lnTo>
                  <a:pt x="2254053" y="819985"/>
                </a:lnTo>
                <a:lnTo>
                  <a:pt x="2272903" y="824785"/>
                </a:lnTo>
                <a:lnTo>
                  <a:pt x="2307971" y="844042"/>
                </a:lnTo>
                <a:lnTo>
                  <a:pt x="2336450" y="874807"/>
                </a:lnTo>
                <a:lnTo>
                  <a:pt x="2355215" y="916051"/>
                </a:lnTo>
                <a:lnTo>
                  <a:pt x="2365724" y="995489"/>
                </a:lnTo>
                <a:lnTo>
                  <a:pt x="2368323" y="1059926"/>
                </a:lnTo>
                <a:lnTo>
                  <a:pt x="2369185" y="1140841"/>
                </a:lnTo>
                <a:lnTo>
                  <a:pt x="2369185" y="1785620"/>
                </a:lnTo>
                <a:lnTo>
                  <a:pt x="2367637" y="1855204"/>
                </a:lnTo>
                <a:lnTo>
                  <a:pt x="2362993" y="1910429"/>
                </a:lnTo>
                <a:lnTo>
                  <a:pt x="2355254" y="1951319"/>
                </a:lnTo>
                <a:lnTo>
                  <a:pt x="2323701" y="2003663"/>
                </a:lnTo>
                <a:lnTo>
                  <a:pt x="2264785" y="2037762"/>
                </a:lnTo>
                <a:lnTo>
                  <a:pt x="2226564" y="2046097"/>
                </a:lnTo>
                <a:lnTo>
                  <a:pt x="2226564" y="2101850"/>
                </a:lnTo>
                <a:lnTo>
                  <a:pt x="2959735" y="2101850"/>
                </a:lnTo>
                <a:lnTo>
                  <a:pt x="2959735" y="2046097"/>
                </a:lnTo>
                <a:lnTo>
                  <a:pt x="2915828" y="2038766"/>
                </a:lnTo>
                <a:lnTo>
                  <a:pt x="2880137" y="2027650"/>
                </a:lnTo>
                <a:lnTo>
                  <a:pt x="2833497" y="1994154"/>
                </a:lnTo>
                <a:lnTo>
                  <a:pt x="2810811" y="1921462"/>
                </a:lnTo>
                <a:lnTo>
                  <a:pt x="2805154" y="1861440"/>
                </a:lnTo>
                <a:lnTo>
                  <a:pt x="2803271" y="1785620"/>
                </a:lnTo>
                <a:lnTo>
                  <a:pt x="2803271" y="1221359"/>
                </a:lnTo>
                <a:lnTo>
                  <a:pt x="2802758" y="1152942"/>
                </a:lnTo>
                <a:lnTo>
                  <a:pt x="2801224" y="1091168"/>
                </a:lnTo>
                <a:lnTo>
                  <a:pt x="2798672" y="1036039"/>
                </a:lnTo>
                <a:lnTo>
                  <a:pt x="2795107" y="987557"/>
                </a:lnTo>
                <a:lnTo>
                  <a:pt x="2790533" y="945724"/>
                </a:lnTo>
                <a:lnTo>
                  <a:pt x="2778379" y="882015"/>
                </a:lnTo>
                <a:lnTo>
                  <a:pt x="2763537" y="836994"/>
                </a:lnTo>
                <a:lnTo>
                  <a:pt x="2754743" y="818388"/>
                </a:lnTo>
                <a:close/>
              </a:path>
              <a:path w="4746625" h="2145665">
                <a:moveTo>
                  <a:pt x="2420366" y="609092"/>
                </a:moveTo>
                <a:lnTo>
                  <a:pt x="2373885" y="611300"/>
                </a:lnTo>
                <a:lnTo>
                  <a:pt x="2328629" y="617923"/>
                </a:lnTo>
                <a:lnTo>
                  <a:pt x="2284605" y="628952"/>
                </a:lnTo>
                <a:lnTo>
                  <a:pt x="2241818" y="644383"/>
                </a:lnTo>
                <a:lnTo>
                  <a:pt x="2200274" y="664210"/>
                </a:lnTo>
                <a:lnTo>
                  <a:pt x="2165911" y="684383"/>
                </a:lnTo>
                <a:lnTo>
                  <a:pt x="2131022" y="708203"/>
                </a:lnTo>
                <a:lnTo>
                  <a:pt x="2095611" y="735679"/>
                </a:lnTo>
                <a:lnTo>
                  <a:pt x="2059681" y="766816"/>
                </a:lnTo>
                <a:lnTo>
                  <a:pt x="2023236" y="801622"/>
                </a:lnTo>
                <a:lnTo>
                  <a:pt x="1986280" y="840105"/>
                </a:lnTo>
                <a:lnTo>
                  <a:pt x="2148298" y="840105"/>
                </a:lnTo>
                <a:lnTo>
                  <a:pt x="2159712" y="833964"/>
                </a:lnTo>
                <a:lnTo>
                  <a:pt x="2196638" y="822282"/>
                </a:lnTo>
                <a:lnTo>
                  <a:pt x="2234310" y="818388"/>
                </a:lnTo>
                <a:lnTo>
                  <a:pt x="2754743" y="818388"/>
                </a:lnTo>
                <a:lnTo>
                  <a:pt x="2743709" y="795039"/>
                </a:lnTo>
                <a:lnTo>
                  <a:pt x="2718906" y="756138"/>
                </a:lnTo>
                <a:lnTo>
                  <a:pt x="2689141" y="720279"/>
                </a:lnTo>
                <a:lnTo>
                  <a:pt x="2654427" y="687451"/>
                </a:lnTo>
                <a:lnTo>
                  <a:pt x="2615307" y="659258"/>
                </a:lnTo>
                <a:lnTo>
                  <a:pt x="2572330" y="637319"/>
                </a:lnTo>
                <a:lnTo>
                  <a:pt x="2525505" y="621641"/>
                </a:lnTo>
                <a:lnTo>
                  <a:pt x="2474846" y="612230"/>
                </a:lnTo>
                <a:lnTo>
                  <a:pt x="2420366" y="609092"/>
                </a:lnTo>
                <a:close/>
              </a:path>
              <a:path w="4746625" h="2145665">
                <a:moveTo>
                  <a:pt x="3777487" y="609092"/>
                </a:moveTo>
                <a:lnTo>
                  <a:pt x="3724339" y="611726"/>
                </a:lnTo>
                <a:lnTo>
                  <a:pt x="3672341" y="619623"/>
                </a:lnTo>
                <a:lnTo>
                  <a:pt x="3621500" y="632777"/>
                </a:lnTo>
                <a:lnTo>
                  <a:pt x="3571823" y="651180"/>
                </a:lnTo>
                <a:lnTo>
                  <a:pt x="3523317" y="674826"/>
                </a:lnTo>
                <a:lnTo>
                  <a:pt x="3475990" y="703707"/>
                </a:lnTo>
                <a:lnTo>
                  <a:pt x="3437143" y="732561"/>
                </a:lnTo>
                <a:lnTo>
                  <a:pt x="3400726" y="765127"/>
                </a:lnTo>
                <a:lnTo>
                  <a:pt x="3366738" y="801401"/>
                </a:lnTo>
                <a:lnTo>
                  <a:pt x="3335183" y="841379"/>
                </a:lnTo>
                <a:lnTo>
                  <a:pt x="3306063" y="885055"/>
                </a:lnTo>
                <a:lnTo>
                  <a:pt x="3279380" y="932426"/>
                </a:lnTo>
                <a:lnTo>
                  <a:pt x="3255136" y="983488"/>
                </a:lnTo>
                <a:lnTo>
                  <a:pt x="3238222" y="1025242"/>
                </a:lnTo>
                <a:lnTo>
                  <a:pt x="3223294" y="1068208"/>
                </a:lnTo>
                <a:lnTo>
                  <a:pt x="3210353" y="1112383"/>
                </a:lnTo>
                <a:lnTo>
                  <a:pt x="3199399" y="1157766"/>
                </a:lnTo>
                <a:lnTo>
                  <a:pt x="3190435" y="1204353"/>
                </a:lnTo>
                <a:lnTo>
                  <a:pt x="3183461" y="1252144"/>
                </a:lnTo>
                <a:lnTo>
                  <a:pt x="3178479" y="1301136"/>
                </a:lnTo>
                <a:lnTo>
                  <a:pt x="3175489" y="1351327"/>
                </a:lnTo>
                <a:lnTo>
                  <a:pt x="3174492" y="1402715"/>
                </a:lnTo>
                <a:lnTo>
                  <a:pt x="3175794" y="1460398"/>
                </a:lnTo>
                <a:lnTo>
                  <a:pt x="3179703" y="1516253"/>
                </a:lnTo>
                <a:lnTo>
                  <a:pt x="3186215" y="1570278"/>
                </a:lnTo>
                <a:lnTo>
                  <a:pt x="3195332" y="1622475"/>
                </a:lnTo>
                <a:lnTo>
                  <a:pt x="3207051" y="1672844"/>
                </a:lnTo>
                <a:lnTo>
                  <a:pt x="3221373" y="1721383"/>
                </a:lnTo>
                <a:lnTo>
                  <a:pt x="3238296" y="1768094"/>
                </a:lnTo>
                <a:lnTo>
                  <a:pt x="3257820" y="1812975"/>
                </a:lnTo>
                <a:lnTo>
                  <a:pt x="3279944" y="1856028"/>
                </a:lnTo>
                <a:lnTo>
                  <a:pt x="3304667" y="1897253"/>
                </a:lnTo>
                <a:lnTo>
                  <a:pt x="3334961" y="1940299"/>
                </a:lnTo>
                <a:lnTo>
                  <a:pt x="3367170" y="1979246"/>
                </a:lnTo>
                <a:lnTo>
                  <a:pt x="3401295" y="2014094"/>
                </a:lnTo>
                <a:lnTo>
                  <a:pt x="3437336" y="2044841"/>
                </a:lnTo>
                <a:lnTo>
                  <a:pt x="3475294" y="2071489"/>
                </a:lnTo>
                <a:lnTo>
                  <a:pt x="3515169" y="2094037"/>
                </a:lnTo>
                <a:lnTo>
                  <a:pt x="3556962" y="2112486"/>
                </a:lnTo>
                <a:lnTo>
                  <a:pt x="3600674" y="2126835"/>
                </a:lnTo>
                <a:lnTo>
                  <a:pt x="3646304" y="2137084"/>
                </a:lnTo>
                <a:lnTo>
                  <a:pt x="3693854" y="2143234"/>
                </a:lnTo>
                <a:lnTo>
                  <a:pt x="3743325" y="2145284"/>
                </a:lnTo>
                <a:lnTo>
                  <a:pt x="3796210" y="2142281"/>
                </a:lnTo>
                <a:lnTo>
                  <a:pt x="3846274" y="2133266"/>
                </a:lnTo>
                <a:lnTo>
                  <a:pt x="3893504" y="2118227"/>
                </a:lnTo>
                <a:lnTo>
                  <a:pt x="3937889" y="2097151"/>
                </a:lnTo>
                <a:lnTo>
                  <a:pt x="3973278" y="2074534"/>
                </a:lnTo>
                <a:lnTo>
                  <a:pt x="4010569" y="2045091"/>
                </a:lnTo>
                <a:lnTo>
                  <a:pt x="4049774" y="2008819"/>
                </a:lnTo>
                <a:lnTo>
                  <a:pt x="4090906" y="1965721"/>
                </a:lnTo>
                <a:lnTo>
                  <a:pt x="4096507" y="1959229"/>
                </a:lnTo>
                <a:lnTo>
                  <a:pt x="3876675" y="1959229"/>
                </a:lnTo>
                <a:lnTo>
                  <a:pt x="3847341" y="1957393"/>
                </a:lnTo>
                <a:lnTo>
                  <a:pt x="3798486" y="1942673"/>
                </a:lnTo>
                <a:lnTo>
                  <a:pt x="3745986" y="1895782"/>
                </a:lnTo>
                <a:lnTo>
                  <a:pt x="3716639" y="1852691"/>
                </a:lnTo>
                <a:lnTo>
                  <a:pt x="3690983" y="1800480"/>
                </a:lnTo>
                <a:lnTo>
                  <a:pt x="3669029" y="1739138"/>
                </a:lnTo>
                <a:lnTo>
                  <a:pt x="3651361" y="1664319"/>
                </a:lnTo>
                <a:lnTo>
                  <a:pt x="3644419" y="1620230"/>
                </a:lnTo>
                <a:lnTo>
                  <a:pt x="3638740" y="1571688"/>
                </a:lnTo>
                <a:lnTo>
                  <a:pt x="3634323" y="1518693"/>
                </a:lnTo>
                <a:lnTo>
                  <a:pt x="3631168" y="1461246"/>
                </a:lnTo>
                <a:lnTo>
                  <a:pt x="3629275" y="1399345"/>
                </a:lnTo>
                <a:lnTo>
                  <a:pt x="3628644" y="1332992"/>
                </a:lnTo>
                <a:lnTo>
                  <a:pt x="3629390" y="1264318"/>
                </a:lnTo>
                <a:lnTo>
                  <a:pt x="3631626" y="1200898"/>
                </a:lnTo>
                <a:lnTo>
                  <a:pt x="3635352" y="1142730"/>
                </a:lnTo>
                <a:lnTo>
                  <a:pt x="3640563" y="1089812"/>
                </a:lnTo>
                <a:lnTo>
                  <a:pt x="3647258" y="1042141"/>
                </a:lnTo>
                <a:lnTo>
                  <a:pt x="3655436" y="999715"/>
                </a:lnTo>
                <a:lnTo>
                  <a:pt x="3665093" y="962533"/>
                </a:lnTo>
                <a:lnTo>
                  <a:pt x="3684597" y="906672"/>
                </a:lnTo>
                <a:lnTo>
                  <a:pt x="3706733" y="859885"/>
                </a:lnTo>
                <a:lnTo>
                  <a:pt x="3731512" y="822194"/>
                </a:lnTo>
                <a:lnTo>
                  <a:pt x="3758946" y="793623"/>
                </a:lnTo>
                <a:lnTo>
                  <a:pt x="3801141" y="770366"/>
                </a:lnTo>
                <a:lnTo>
                  <a:pt x="3853433" y="762635"/>
                </a:lnTo>
                <a:lnTo>
                  <a:pt x="4107058" y="762635"/>
                </a:lnTo>
                <a:lnTo>
                  <a:pt x="4088925" y="743900"/>
                </a:lnTo>
                <a:lnTo>
                  <a:pt x="4045219" y="704865"/>
                </a:lnTo>
                <a:lnTo>
                  <a:pt x="4002871" y="673379"/>
                </a:lnTo>
                <a:lnTo>
                  <a:pt x="3961892" y="649478"/>
                </a:lnTo>
                <a:lnTo>
                  <a:pt x="3920148" y="631809"/>
                </a:lnTo>
                <a:lnTo>
                  <a:pt x="3875500" y="619188"/>
                </a:lnTo>
                <a:lnTo>
                  <a:pt x="3827946" y="611616"/>
                </a:lnTo>
                <a:lnTo>
                  <a:pt x="3777487" y="609092"/>
                </a:lnTo>
                <a:close/>
              </a:path>
              <a:path w="4746625" h="2145665">
                <a:moveTo>
                  <a:pt x="4597939" y="1915795"/>
                </a:moveTo>
                <a:lnTo>
                  <a:pt x="4133977" y="1915795"/>
                </a:lnTo>
                <a:lnTo>
                  <a:pt x="4133977" y="2145284"/>
                </a:lnTo>
                <a:lnTo>
                  <a:pt x="4746243" y="2025904"/>
                </a:lnTo>
                <a:lnTo>
                  <a:pt x="4746243" y="1974723"/>
                </a:lnTo>
                <a:lnTo>
                  <a:pt x="4706070" y="1970488"/>
                </a:lnTo>
                <a:lnTo>
                  <a:pt x="4672409" y="1963896"/>
                </a:lnTo>
                <a:lnTo>
                  <a:pt x="4645249" y="1954970"/>
                </a:lnTo>
                <a:lnTo>
                  <a:pt x="4624578" y="1943735"/>
                </a:lnTo>
                <a:lnTo>
                  <a:pt x="4608552" y="1929707"/>
                </a:lnTo>
                <a:lnTo>
                  <a:pt x="4597939" y="1915795"/>
                </a:lnTo>
                <a:close/>
              </a:path>
              <a:path w="4746625" h="2145665">
                <a:moveTo>
                  <a:pt x="4107058" y="762635"/>
                </a:moveTo>
                <a:lnTo>
                  <a:pt x="3853433" y="762635"/>
                </a:lnTo>
                <a:lnTo>
                  <a:pt x="3894111" y="766070"/>
                </a:lnTo>
                <a:lnTo>
                  <a:pt x="3933184" y="776378"/>
                </a:lnTo>
                <a:lnTo>
                  <a:pt x="3970651" y="793562"/>
                </a:lnTo>
                <a:lnTo>
                  <a:pt x="4006516" y="817626"/>
                </a:lnTo>
                <a:lnTo>
                  <a:pt x="4040780" y="848570"/>
                </a:lnTo>
                <a:lnTo>
                  <a:pt x="4073443" y="886400"/>
                </a:lnTo>
                <a:lnTo>
                  <a:pt x="4104508" y="931117"/>
                </a:lnTo>
                <a:lnTo>
                  <a:pt x="4133977" y="982726"/>
                </a:lnTo>
                <a:lnTo>
                  <a:pt x="4133977" y="1745361"/>
                </a:lnTo>
                <a:lnTo>
                  <a:pt x="4099103" y="1802114"/>
                </a:lnTo>
                <a:lnTo>
                  <a:pt x="4063605" y="1850131"/>
                </a:lnTo>
                <a:lnTo>
                  <a:pt x="4027481" y="1889412"/>
                </a:lnTo>
                <a:lnTo>
                  <a:pt x="3990728" y="1919960"/>
                </a:lnTo>
                <a:lnTo>
                  <a:pt x="3953344" y="1941777"/>
                </a:lnTo>
                <a:lnTo>
                  <a:pt x="3915327" y="1954866"/>
                </a:lnTo>
                <a:lnTo>
                  <a:pt x="3876675" y="1959229"/>
                </a:lnTo>
                <a:lnTo>
                  <a:pt x="4096507" y="1959229"/>
                </a:lnTo>
                <a:lnTo>
                  <a:pt x="4133977" y="1915795"/>
                </a:lnTo>
                <a:lnTo>
                  <a:pt x="4597939" y="1915795"/>
                </a:lnTo>
                <a:lnTo>
                  <a:pt x="4595336" y="1912381"/>
                </a:lnTo>
                <a:lnTo>
                  <a:pt x="4577333" y="1867789"/>
                </a:lnTo>
                <a:lnTo>
                  <a:pt x="4570364" y="1802272"/>
                </a:lnTo>
                <a:lnTo>
                  <a:pt x="4568685" y="1745361"/>
                </a:lnTo>
                <a:lnTo>
                  <a:pt x="4568100" y="1672844"/>
                </a:lnTo>
                <a:lnTo>
                  <a:pt x="4568062" y="790448"/>
                </a:lnTo>
                <a:lnTo>
                  <a:pt x="4133977" y="790448"/>
                </a:lnTo>
                <a:lnTo>
                  <a:pt x="4107058" y="762635"/>
                </a:lnTo>
                <a:close/>
              </a:path>
              <a:path w="4746625" h="2145665">
                <a:moveTo>
                  <a:pt x="4568062" y="0"/>
                </a:moveTo>
                <a:lnTo>
                  <a:pt x="3924680" y="0"/>
                </a:lnTo>
                <a:lnTo>
                  <a:pt x="3924680" y="65024"/>
                </a:lnTo>
                <a:lnTo>
                  <a:pt x="3971778" y="66381"/>
                </a:lnTo>
                <a:lnTo>
                  <a:pt x="4010755" y="70453"/>
                </a:lnTo>
                <a:lnTo>
                  <a:pt x="4064254" y="86741"/>
                </a:lnTo>
                <a:lnTo>
                  <a:pt x="4096797" y="114268"/>
                </a:lnTo>
                <a:lnTo>
                  <a:pt x="4120006" y="153416"/>
                </a:lnTo>
                <a:lnTo>
                  <a:pt x="4130516" y="220472"/>
                </a:lnTo>
                <a:lnTo>
                  <a:pt x="4133115" y="278717"/>
                </a:lnTo>
                <a:lnTo>
                  <a:pt x="4133977" y="353441"/>
                </a:lnTo>
                <a:lnTo>
                  <a:pt x="4133977" y="790448"/>
                </a:lnTo>
                <a:lnTo>
                  <a:pt x="4568062" y="790448"/>
                </a:lnTo>
                <a:lnTo>
                  <a:pt x="4568062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wgz</dc:creator>
  <dc:title>5.3   LR分析鸟瞰       5.4   LR(0)分析与LR(0)分析器          5.5   SLR(1 )分析与SLR(1)分析表的构造      5.6  LR(1 )分析</dc:title>
  <dcterms:created xsi:type="dcterms:W3CDTF">2025-05-20T06:43:17Z</dcterms:created>
  <dcterms:modified xsi:type="dcterms:W3CDTF">2025-05-20T06:43:17Z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2025-05-20T00:00:00Z</vt:filetime>
  </property>
</Properties>
</file>