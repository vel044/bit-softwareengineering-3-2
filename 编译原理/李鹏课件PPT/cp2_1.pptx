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926" y="849629"/>
            <a:ext cx="7680147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FFFF00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FFFF00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FFFF00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6105" y="460324"/>
            <a:ext cx="6431788" cy="1185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FFFF00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0840" y="1280566"/>
            <a:ext cx="8426450" cy="2240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068436" y="6602587"/>
            <a:ext cx="737234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" Target="slide44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30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37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37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37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37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37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37.png"/><Relationship Id="rId4" Type="http://schemas.openxmlformats.org/officeDocument/2006/relationships/image" Target="../media/image12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Relationship Id="rId3" Type="http://schemas.openxmlformats.org/officeDocument/2006/relationships/image" Target="../media/image1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37.png"/><Relationship Id="rId4" Type="http://schemas.openxmlformats.org/officeDocument/2006/relationships/image" Target="../media/image12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13.png"/><Relationship Id="rId4" Type="http://schemas.openxmlformats.org/officeDocument/2006/relationships/image" Target="../media/image37.png"/><Relationship Id="rId5" Type="http://schemas.openxmlformats.org/officeDocument/2006/relationships/image" Target="../media/image12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45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13.png"/><Relationship Id="rId4" Type="http://schemas.openxmlformats.org/officeDocument/2006/relationships/image" Target="../media/image37.png"/><Relationship Id="rId5" Type="http://schemas.openxmlformats.org/officeDocument/2006/relationships/image" Target="../media/image12.pn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37.png"/><Relationship Id="rId4" Type="http://schemas.openxmlformats.org/officeDocument/2006/relationships/image" Target="../media/image12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37.png"/><Relationship Id="rId4" Type="http://schemas.openxmlformats.org/officeDocument/2006/relationships/image" Target="../media/image12.pn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13.png"/><Relationship Id="rId4" Type="http://schemas.openxmlformats.org/officeDocument/2006/relationships/image" Target="../media/image37.png"/><Relationship Id="rId5" Type="http://schemas.openxmlformats.org/officeDocument/2006/relationships/image" Target="../media/image12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37.png"/><Relationship Id="rId4" Type="http://schemas.openxmlformats.org/officeDocument/2006/relationships/image" Target="../media/image12.pn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13.png"/><Relationship Id="rId4" Type="http://schemas.openxmlformats.org/officeDocument/2006/relationships/image" Target="../media/image37.png"/><Relationship Id="rId5" Type="http://schemas.openxmlformats.org/officeDocument/2006/relationships/image" Target="../media/image12.pn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37.png"/><Relationship Id="rId4" Type="http://schemas.openxmlformats.org/officeDocument/2006/relationships/image" Target="../media/image12.pn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13.png"/><Relationship Id="rId4" Type="http://schemas.openxmlformats.org/officeDocument/2006/relationships/image" Target="../media/image37.png"/><Relationship Id="rId5" Type="http://schemas.openxmlformats.org/officeDocument/2006/relationships/image" Target="../media/image12.png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13.png"/><Relationship Id="rId4" Type="http://schemas.openxmlformats.org/officeDocument/2006/relationships/image" Target="../media/image37.png"/><Relationship Id="rId5" Type="http://schemas.openxmlformats.org/officeDocument/2006/relationships/image" Target="../media/image12.pn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13.png"/><Relationship Id="rId4" Type="http://schemas.openxmlformats.org/officeDocument/2006/relationships/image" Target="../media/image37.png"/><Relationship Id="rId5" Type="http://schemas.openxmlformats.org/officeDocument/2006/relationships/image" Target="../media/image12.png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37.png"/><Relationship Id="rId4" Type="http://schemas.openxmlformats.org/officeDocument/2006/relationships/image" Target="../media/image12.png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37.png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13.png"/><Relationship Id="rId4" Type="http://schemas.openxmlformats.org/officeDocument/2006/relationships/image" Target="../media/image37.png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48.png"/><Relationship Id="rId4" Type="http://schemas.openxmlformats.org/officeDocument/2006/relationships/image" Target="../media/image55.png"/><Relationship Id="rId5" Type="http://schemas.openxmlformats.org/officeDocument/2006/relationships/image" Target="../media/image45.pn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871855"/>
          </a:xfrm>
          <a:custGeom>
            <a:avLst/>
            <a:gdLst/>
            <a:ahLst/>
            <a:cxnLst/>
            <a:rect l="l" t="t" r="r" b="b"/>
            <a:pathLst>
              <a:path w="9144000" h="871855">
                <a:moveTo>
                  <a:pt x="0" y="871728"/>
                </a:moveTo>
                <a:lnTo>
                  <a:pt x="9144000" y="871728"/>
                </a:lnTo>
                <a:lnTo>
                  <a:pt x="9144000" y="0"/>
                </a:lnTo>
                <a:lnTo>
                  <a:pt x="0" y="0"/>
                </a:lnTo>
                <a:lnTo>
                  <a:pt x="0" y="871728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871727"/>
            <a:ext cx="9144000" cy="5986780"/>
          </a:xfrm>
          <a:custGeom>
            <a:avLst/>
            <a:gdLst/>
            <a:ahLst/>
            <a:cxnLst/>
            <a:rect l="l" t="t" r="r" b="b"/>
            <a:pathLst>
              <a:path w="9144000" h="5986780">
                <a:moveTo>
                  <a:pt x="9144000" y="5986268"/>
                </a:moveTo>
                <a:lnTo>
                  <a:pt x="9144000" y="0"/>
                </a:lnTo>
                <a:lnTo>
                  <a:pt x="0" y="0"/>
                </a:lnTo>
                <a:lnTo>
                  <a:pt x="0" y="5986268"/>
                </a:lnTo>
                <a:lnTo>
                  <a:pt x="9144000" y="5986268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38527" y="0"/>
            <a:ext cx="1750314" cy="13693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87623" y="0"/>
            <a:ext cx="1750314" cy="13693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36720" y="0"/>
            <a:ext cx="1750314" cy="13693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85815" y="0"/>
            <a:ext cx="1750314" cy="13693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94966" y="0"/>
            <a:ext cx="423545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5">
                <a:solidFill>
                  <a:srgbClr val="FF5D5D"/>
                </a:solidFill>
                <a:latin typeface="隶书"/>
                <a:cs typeface="隶书"/>
              </a:rPr>
              <a:t>课 程 内</a:t>
            </a:r>
            <a:r>
              <a:rPr dirty="0" sz="6000" spc="25">
                <a:solidFill>
                  <a:srgbClr val="FF5D5D"/>
                </a:solidFill>
                <a:latin typeface="隶书"/>
                <a:cs typeface="隶书"/>
              </a:rPr>
              <a:t> </a:t>
            </a:r>
            <a:r>
              <a:rPr dirty="0" sz="6000" spc="-25">
                <a:solidFill>
                  <a:srgbClr val="FF5D5D"/>
                </a:solidFill>
                <a:latin typeface="隶书"/>
                <a:cs typeface="隶书"/>
              </a:rPr>
              <a:t>容</a:t>
            </a:r>
            <a:endParaRPr sz="6000">
              <a:latin typeface="隶书"/>
              <a:cs typeface="隶书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777240"/>
            <a:ext cx="9144000" cy="1341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29564" y="1233954"/>
            <a:ext cx="5485765" cy="49764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6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编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译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引</a:t>
            </a:r>
            <a:r>
              <a:rPr dirty="0" sz="2800" spc="-69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论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70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2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99"/>
                </a:solidFill>
                <a:latin typeface="宋体"/>
                <a:cs typeface="宋体"/>
              </a:rPr>
              <a:t> 形式语言与自动机基础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70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3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词法分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析</a:t>
            </a:r>
            <a:r>
              <a:rPr dirty="0" sz="2800" spc="-68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(Lexical</a:t>
            </a:r>
            <a:r>
              <a:rPr dirty="0" sz="2800" spc="-17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Analysis)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68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4</a:t>
            </a:r>
            <a:r>
              <a:rPr dirty="0" sz="2800" spc="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1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语法分析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——</a:t>
            </a: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自上而下分析法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68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5</a:t>
            </a:r>
            <a:r>
              <a:rPr dirty="0" sz="2800" spc="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1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语法分析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</a:pP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——</a:t>
            </a: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自下而上分析法</a:t>
            </a:r>
            <a:endParaRPr sz="2800">
              <a:latin typeface="宋体"/>
              <a:cs typeface="宋体"/>
            </a:endParaRPr>
          </a:p>
          <a:p>
            <a:pPr marL="12700" marR="293370">
              <a:lnSpc>
                <a:spcPct val="120000"/>
              </a:lnSpc>
              <a:spcBef>
                <a:spcPts val="5"/>
              </a:spcBef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71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6</a:t>
            </a:r>
            <a:r>
              <a:rPr dirty="0" sz="2800" spc="-2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-4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语义分析与中间代码生成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69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7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运</a:t>
            </a:r>
            <a:r>
              <a:rPr dirty="0" sz="2800" spc="-71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行</a:t>
            </a:r>
            <a:r>
              <a:rPr dirty="0" sz="2800" spc="-69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环</a:t>
            </a:r>
            <a:r>
              <a:rPr dirty="0" sz="2800" spc="-69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境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70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8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99"/>
                </a:solidFill>
                <a:latin typeface="宋体"/>
                <a:cs typeface="宋体"/>
              </a:rPr>
              <a:t> 代码优化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optimization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35167" y="1828800"/>
            <a:ext cx="2196465" cy="535305"/>
          </a:xfrm>
          <a:custGeom>
            <a:avLst/>
            <a:gdLst/>
            <a:ahLst/>
            <a:cxnLst/>
            <a:rect l="l" t="t" r="r" b="b"/>
            <a:pathLst>
              <a:path w="2196465" h="535305">
                <a:moveTo>
                  <a:pt x="548767" y="0"/>
                </a:moveTo>
                <a:lnTo>
                  <a:pt x="0" y="267462"/>
                </a:lnTo>
                <a:lnTo>
                  <a:pt x="548767" y="534924"/>
                </a:lnTo>
                <a:lnTo>
                  <a:pt x="548767" y="401192"/>
                </a:lnTo>
                <a:lnTo>
                  <a:pt x="2196084" y="401192"/>
                </a:lnTo>
                <a:lnTo>
                  <a:pt x="2196084" y="133730"/>
                </a:lnTo>
                <a:lnTo>
                  <a:pt x="548767" y="133730"/>
                </a:lnTo>
                <a:lnTo>
                  <a:pt x="548767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35167" y="1828800"/>
            <a:ext cx="2196465" cy="535305"/>
          </a:xfrm>
          <a:custGeom>
            <a:avLst/>
            <a:gdLst/>
            <a:ahLst/>
            <a:cxnLst/>
            <a:rect l="l" t="t" r="r" b="b"/>
            <a:pathLst>
              <a:path w="2196465" h="535305">
                <a:moveTo>
                  <a:pt x="0" y="267462"/>
                </a:moveTo>
                <a:lnTo>
                  <a:pt x="548767" y="0"/>
                </a:lnTo>
                <a:lnTo>
                  <a:pt x="548767" y="133730"/>
                </a:lnTo>
                <a:lnTo>
                  <a:pt x="2196084" y="133730"/>
                </a:lnTo>
                <a:lnTo>
                  <a:pt x="2196084" y="401192"/>
                </a:lnTo>
                <a:lnTo>
                  <a:pt x="548767" y="401192"/>
                </a:lnTo>
                <a:lnTo>
                  <a:pt x="548767" y="534924"/>
                </a:lnTo>
                <a:lnTo>
                  <a:pt x="0" y="267462"/>
                </a:lnTo>
                <a:close/>
              </a:path>
            </a:pathLst>
          </a:custGeom>
          <a:ln w="9524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994" y="460324"/>
            <a:ext cx="5351780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第</a:t>
            </a:r>
            <a:r>
              <a:rPr dirty="0" spc="-1000"/>
              <a:t> 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dirty="0" spc="-50">
                <a:latin typeface="Times New Roman"/>
                <a:cs typeface="Times New Roman"/>
              </a:rPr>
              <a:t> </a:t>
            </a:r>
            <a:r>
              <a:rPr dirty="0" spc="5"/>
              <a:t>章内</a:t>
            </a:r>
            <a:r>
              <a:rPr dirty="0" spc="-10"/>
              <a:t>容</a:t>
            </a:r>
            <a:r>
              <a:rPr dirty="0" spc="5"/>
              <a:t>、</a:t>
            </a:r>
            <a:r>
              <a:rPr dirty="0" spc="-10"/>
              <a:t>要</a:t>
            </a:r>
            <a:r>
              <a:rPr dirty="0" spc="5"/>
              <a:t>点</a:t>
            </a:r>
            <a:r>
              <a:rPr dirty="0" spc="-10"/>
              <a:t>与特点</a:t>
            </a:r>
          </a:p>
        </p:txBody>
      </p:sp>
      <p:sp>
        <p:nvSpPr>
          <p:cNvPr id="3" name="object 3"/>
          <p:cNvSpPr/>
          <p:nvPr/>
        </p:nvSpPr>
        <p:spPr>
          <a:xfrm>
            <a:off x="155447" y="5221223"/>
            <a:ext cx="904494" cy="790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5440" y="1689356"/>
            <a:ext cx="8273415" cy="482028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701675" indent="-689610">
              <a:lnSpc>
                <a:spcPct val="100000"/>
              </a:lnSpc>
              <a:spcBef>
                <a:spcPts val="1255"/>
              </a:spcBef>
              <a:buSzPct val="114062"/>
              <a:buFont typeface="Wingdings"/>
              <a:buChar char=""/>
              <a:tabLst>
                <a:tab pos="701675" algn="l"/>
                <a:tab pos="70231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形式语言理论</a:t>
            </a:r>
            <a:endParaRPr sz="3200">
              <a:latin typeface="宋体"/>
              <a:cs typeface="宋体"/>
            </a:endParaRPr>
          </a:p>
          <a:p>
            <a:pPr marL="12700" marR="5080" indent="1304290">
              <a:lnSpc>
                <a:spcPct val="130000"/>
              </a:lnSpc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编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译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程序的加工对</a:t>
            </a:r>
            <a:r>
              <a:rPr dirty="0" sz="3200" spc="20" b="1">
                <a:solidFill>
                  <a:srgbClr val="FFFFFF"/>
                </a:solidFill>
                <a:latin typeface="宋体"/>
                <a:cs typeface="宋体"/>
              </a:rPr>
              <a:t>象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（源语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）的形式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化描述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701675" indent="-689610">
              <a:lnSpc>
                <a:spcPct val="100000"/>
              </a:lnSpc>
              <a:spcBef>
                <a:spcPts val="1155"/>
              </a:spcBef>
              <a:buSzPct val="114062"/>
              <a:buFont typeface="Wingdings"/>
              <a:buChar char=""/>
              <a:tabLst>
                <a:tab pos="701675" algn="l"/>
                <a:tab pos="70231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自动机理论</a:t>
            </a:r>
            <a:endParaRPr sz="3200">
              <a:latin typeface="宋体"/>
              <a:cs typeface="宋体"/>
            </a:endParaRPr>
          </a:p>
          <a:p>
            <a:pPr algn="ctr" marR="732790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源程序的识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别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、处理工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具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50">
              <a:latin typeface="宋体"/>
              <a:cs typeface="宋体"/>
            </a:endParaRPr>
          </a:p>
          <a:p>
            <a:pPr marL="31750">
              <a:lnSpc>
                <a:spcPct val="100000"/>
              </a:lnSpc>
            </a:pPr>
            <a:r>
              <a:rPr dirty="0" sz="2800" spc="-5">
                <a:solidFill>
                  <a:srgbClr val="FFFF00"/>
                </a:solidFill>
                <a:latin typeface="Wingdings"/>
                <a:cs typeface="Wingdings"/>
              </a:rPr>
              <a:t></a:t>
            </a:r>
            <a:r>
              <a:rPr dirty="0" sz="2800" spc="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特点</a:t>
            </a:r>
            <a:endParaRPr sz="3200">
              <a:latin typeface="宋体"/>
              <a:cs typeface="宋体"/>
            </a:endParaRPr>
          </a:p>
          <a:p>
            <a:pPr marL="1048385">
              <a:lnSpc>
                <a:spcPct val="100000"/>
              </a:lnSpc>
              <a:spcBef>
                <a:spcPts val="192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形式化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、抽象的。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12632" y="6602587"/>
            <a:ext cx="64770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fld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2867" y="1003807"/>
            <a:ext cx="680085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275" algn="l"/>
              </a:tabLst>
            </a:pPr>
            <a:r>
              <a:rPr dirty="0" spc="-15"/>
              <a:t>第</a:t>
            </a:r>
            <a:r>
              <a:rPr dirty="0" spc="-955"/>
              <a:t> 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 spc="-15"/>
              <a:t>章	</a:t>
            </a:r>
            <a:r>
              <a:rPr dirty="0"/>
              <a:t>形式</a:t>
            </a:r>
            <a:r>
              <a:rPr dirty="0" spc="-10"/>
              <a:t>语言</a:t>
            </a:r>
            <a:r>
              <a:rPr dirty="0" spc="-15"/>
              <a:t>与</a:t>
            </a:r>
            <a:r>
              <a:rPr dirty="0" spc="-10"/>
              <a:t>自动</a:t>
            </a:r>
            <a:r>
              <a:rPr dirty="0" spc="-15"/>
              <a:t>机</a:t>
            </a:r>
            <a:r>
              <a:rPr dirty="0" spc="-10"/>
              <a:t>基</a:t>
            </a:r>
            <a:r>
              <a:rPr dirty="0" spc="-15"/>
              <a:t>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1716" y="2692400"/>
            <a:ext cx="5186045" cy="2330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1044575" indent="-1032510">
              <a:lnSpc>
                <a:spcPct val="100000"/>
              </a:lnSpc>
              <a:spcBef>
                <a:spcPts val="100"/>
              </a:spcBef>
              <a:buClr>
                <a:srgbClr val="FFFF00"/>
              </a:buClr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文法和语言</a:t>
            </a:r>
            <a:endParaRPr sz="3600">
              <a:latin typeface="宋体"/>
              <a:cs typeface="宋体"/>
            </a:endParaRPr>
          </a:p>
          <a:p>
            <a:pPr lvl="1" marL="1044575" indent="-1032510">
              <a:lnSpc>
                <a:spcPct val="100000"/>
              </a:lnSpc>
              <a:spcBef>
                <a:spcPts val="2590"/>
              </a:spcBef>
              <a:buClr>
                <a:srgbClr val="FFFF00"/>
              </a:buClr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有限自动机</a:t>
            </a:r>
            <a:endParaRPr sz="3600">
              <a:latin typeface="宋体"/>
              <a:cs typeface="宋体"/>
            </a:endParaRPr>
          </a:p>
          <a:p>
            <a:pPr lvl="1" marL="1044575" indent="-1032510">
              <a:lnSpc>
                <a:spcPct val="100000"/>
              </a:lnSpc>
              <a:spcBef>
                <a:spcPts val="2595"/>
              </a:spcBef>
              <a:buClr>
                <a:srgbClr val="FFFF00"/>
              </a:buClr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正规式与有限自动机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" y="2857500"/>
            <a:ext cx="1228725" cy="515620"/>
          </a:xfrm>
          <a:custGeom>
            <a:avLst/>
            <a:gdLst/>
            <a:ahLst/>
            <a:cxnLst/>
            <a:rect l="l" t="t" r="r" b="b"/>
            <a:pathLst>
              <a:path w="1228725" h="515620">
                <a:moveTo>
                  <a:pt x="920750" y="0"/>
                </a:moveTo>
                <a:lnTo>
                  <a:pt x="920750" y="128777"/>
                </a:lnTo>
                <a:lnTo>
                  <a:pt x="0" y="128777"/>
                </a:lnTo>
                <a:lnTo>
                  <a:pt x="0" y="386334"/>
                </a:lnTo>
                <a:lnTo>
                  <a:pt x="920750" y="386334"/>
                </a:lnTo>
                <a:lnTo>
                  <a:pt x="920750" y="515112"/>
                </a:lnTo>
                <a:lnTo>
                  <a:pt x="1228344" y="257555"/>
                </a:lnTo>
                <a:lnTo>
                  <a:pt x="920750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7200" y="2857500"/>
            <a:ext cx="1228725" cy="515620"/>
          </a:xfrm>
          <a:custGeom>
            <a:avLst/>
            <a:gdLst/>
            <a:ahLst/>
            <a:cxnLst/>
            <a:rect l="l" t="t" r="r" b="b"/>
            <a:pathLst>
              <a:path w="1228725" h="515620">
                <a:moveTo>
                  <a:pt x="0" y="128777"/>
                </a:moveTo>
                <a:lnTo>
                  <a:pt x="920750" y="128777"/>
                </a:lnTo>
                <a:lnTo>
                  <a:pt x="920750" y="0"/>
                </a:lnTo>
                <a:lnTo>
                  <a:pt x="1228344" y="257555"/>
                </a:lnTo>
                <a:lnTo>
                  <a:pt x="920750" y="515112"/>
                </a:lnTo>
                <a:lnTo>
                  <a:pt x="920750" y="386334"/>
                </a:lnTo>
                <a:lnTo>
                  <a:pt x="0" y="386334"/>
                </a:lnTo>
                <a:lnTo>
                  <a:pt x="0" y="128777"/>
                </a:lnTo>
                <a:close/>
              </a:path>
            </a:pathLst>
          </a:custGeom>
          <a:ln w="9525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112632" y="6602587"/>
            <a:ext cx="64770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fld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636" y="2982467"/>
            <a:ext cx="910589" cy="7962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86200" y="4262120"/>
            <a:ext cx="1201420" cy="450215"/>
          </a:xfrm>
          <a:custGeom>
            <a:avLst/>
            <a:gdLst/>
            <a:ahLst/>
            <a:cxnLst/>
            <a:rect l="l" t="t" r="r" b="b"/>
            <a:pathLst>
              <a:path w="1201420" h="450214">
                <a:moveTo>
                  <a:pt x="1200912" y="316737"/>
                </a:moveTo>
                <a:lnTo>
                  <a:pt x="0" y="316737"/>
                </a:lnTo>
                <a:lnTo>
                  <a:pt x="600455" y="450087"/>
                </a:lnTo>
                <a:lnTo>
                  <a:pt x="1200912" y="316737"/>
                </a:lnTo>
                <a:close/>
              </a:path>
              <a:path w="1201420" h="450214">
                <a:moveTo>
                  <a:pt x="900684" y="0"/>
                </a:moveTo>
                <a:lnTo>
                  <a:pt x="300227" y="0"/>
                </a:lnTo>
                <a:lnTo>
                  <a:pt x="300227" y="316737"/>
                </a:lnTo>
                <a:lnTo>
                  <a:pt x="900684" y="316737"/>
                </a:lnTo>
                <a:lnTo>
                  <a:pt x="900684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86428" y="4228814"/>
            <a:ext cx="600710" cy="0"/>
          </a:xfrm>
          <a:custGeom>
            <a:avLst/>
            <a:gdLst/>
            <a:ahLst/>
            <a:cxnLst/>
            <a:rect l="l" t="t" r="r" b="b"/>
            <a:pathLst>
              <a:path w="600710" h="0">
                <a:moveTo>
                  <a:pt x="0" y="0"/>
                </a:moveTo>
                <a:lnTo>
                  <a:pt x="600455" y="0"/>
                </a:lnTo>
              </a:path>
            </a:pathLst>
          </a:custGeom>
          <a:ln w="33337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86428" y="4187110"/>
            <a:ext cx="600710" cy="0"/>
          </a:xfrm>
          <a:custGeom>
            <a:avLst/>
            <a:gdLst/>
            <a:ahLst/>
            <a:cxnLst/>
            <a:rect l="l" t="t" r="r" b="b"/>
            <a:pathLst>
              <a:path w="600710" h="0">
                <a:moveTo>
                  <a:pt x="0" y="0"/>
                </a:moveTo>
                <a:lnTo>
                  <a:pt x="600455" y="0"/>
                </a:lnTo>
              </a:path>
            </a:pathLst>
          </a:custGeom>
          <a:ln w="16668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57855" y="5245608"/>
            <a:ext cx="2144395" cy="0"/>
          </a:xfrm>
          <a:custGeom>
            <a:avLst/>
            <a:gdLst/>
            <a:ahLst/>
            <a:cxnLst/>
            <a:rect l="l" t="t" r="r" b="b"/>
            <a:pathLst>
              <a:path w="2144395" h="0">
                <a:moveTo>
                  <a:pt x="0" y="0"/>
                </a:moveTo>
                <a:lnTo>
                  <a:pt x="2144268" y="0"/>
                </a:lnTo>
              </a:path>
            </a:pathLst>
          </a:custGeom>
          <a:ln w="57150">
            <a:solidFill>
              <a:srgbClr val="CAD5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53461" y="5302758"/>
            <a:ext cx="477520" cy="381000"/>
          </a:xfrm>
          <a:custGeom>
            <a:avLst/>
            <a:gdLst/>
            <a:ahLst/>
            <a:cxnLst/>
            <a:rect l="l" t="t" r="r" b="b"/>
            <a:pathLst>
              <a:path w="477519" h="381000">
                <a:moveTo>
                  <a:pt x="477012" y="0"/>
                </a:moveTo>
                <a:lnTo>
                  <a:pt x="0" y="380999"/>
                </a:lnTo>
              </a:path>
            </a:pathLst>
          </a:custGeom>
          <a:ln w="38100">
            <a:solidFill>
              <a:srgbClr val="FFAC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62705" y="5246370"/>
            <a:ext cx="571500" cy="437515"/>
          </a:xfrm>
          <a:custGeom>
            <a:avLst/>
            <a:gdLst/>
            <a:ahLst/>
            <a:cxnLst/>
            <a:rect l="l" t="t" r="r" b="b"/>
            <a:pathLst>
              <a:path w="571500" h="437514">
                <a:moveTo>
                  <a:pt x="0" y="0"/>
                </a:moveTo>
                <a:lnTo>
                  <a:pt x="571500" y="437387"/>
                </a:lnTo>
              </a:path>
            </a:pathLst>
          </a:custGeom>
          <a:ln w="38100">
            <a:solidFill>
              <a:srgbClr val="FFAC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29861" y="5302758"/>
            <a:ext cx="1887220" cy="381000"/>
          </a:xfrm>
          <a:custGeom>
            <a:avLst/>
            <a:gdLst/>
            <a:ahLst/>
            <a:cxnLst/>
            <a:rect l="l" t="t" r="r" b="b"/>
            <a:pathLst>
              <a:path w="1887220" h="381000">
                <a:moveTo>
                  <a:pt x="0" y="0"/>
                </a:moveTo>
                <a:lnTo>
                  <a:pt x="1886712" y="380999"/>
                </a:lnTo>
              </a:path>
            </a:pathLst>
          </a:custGeom>
          <a:ln w="38100">
            <a:solidFill>
              <a:srgbClr val="FFAC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74394" y="5785815"/>
            <a:ext cx="14522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表示方法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63290" y="5805322"/>
            <a:ext cx="7397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类型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1539" y="5805322"/>
            <a:ext cx="18103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二义性问题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5440" y="442596"/>
            <a:ext cx="7280909" cy="4681220"/>
          </a:xfrm>
          <a:prstGeom prst="rect">
            <a:avLst/>
          </a:prstGeom>
        </p:spPr>
        <p:txBody>
          <a:bodyPr wrap="square" lIns="0" tIns="290830" rIns="0" bIns="0" rtlCol="0" vert="horz">
            <a:spAutoFit/>
          </a:bodyPr>
          <a:lstStyle/>
          <a:p>
            <a:pPr marL="492759" indent="-477520">
              <a:lnSpc>
                <a:spcPct val="100000"/>
              </a:lnSpc>
              <a:spcBef>
                <a:spcPts val="2290"/>
              </a:spcBef>
              <a:buClr>
                <a:srgbClr val="FF99FF"/>
              </a:buClr>
              <a:buSzPct val="134722"/>
              <a:buFont typeface="Wingdings"/>
              <a:buChar char=""/>
              <a:tabLst>
                <a:tab pos="493395" algn="l"/>
              </a:tabLst>
            </a:pPr>
            <a:r>
              <a:rPr dirty="0" sz="3600" spc="-5" b="1">
                <a:solidFill>
                  <a:srgbClr val="66FFFF"/>
                </a:solidFill>
                <a:latin typeface="宋体"/>
                <a:cs typeface="宋体"/>
              </a:rPr>
              <a:t>关于语言：</a:t>
            </a:r>
            <a:endParaRPr sz="3600">
              <a:latin typeface="宋体"/>
              <a:cs typeface="宋体"/>
            </a:endParaRPr>
          </a:p>
          <a:p>
            <a:pPr marL="1381125" marR="5080" indent="-32384">
              <a:lnSpc>
                <a:spcPct val="150100"/>
              </a:lnSpc>
              <a:spcBef>
                <a:spcPts val="20"/>
              </a:spcBef>
              <a:tabLst>
                <a:tab pos="3846195" algn="l"/>
                <a:tab pos="441452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自然语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2800" spc="-6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——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人与人交互的工具；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程序设计语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——</a:t>
            </a: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人机交互的工具。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5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10">
                <a:solidFill>
                  <a:srgbClr val="FFFF00"/>
                </a:solidFill>
                <a:latin typeface="Wingdings"/>
                <a:cs typeface="Wingdings"/>
              </a:rPr>
              <a:t></a:t>
            </a:r>
            <a:r>
              <a:rPr dirty="0" sz="3600" spc="-5" b="1">
                <a:solidFill>
                  <a:srgbClr val="B0FFFF"/>
                </a:solidFill>
                <a:latin typeface="宋体"/>
                <a:cs typeface="宋体"/>
              </a:rPr>
              <a:t>本节展开思路</a:t>
            </a:r>
            <a:endParaRPr sz="3600">
              <a:latin typeface="宋体"/>
              <a:cs typeface="宋体"/>
            </a:endParaRPr>
          </a:p>
          <a:p>
            <a:pPr marL="2292350">
              <a:lnSpc>
                <a:spcPct val="100000"/>
              </a:lnSpc>
              <a:spcBef>
                <a:spcPts val="73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从文法和语言的直观概念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50">
              <a:latin typeface="宋体"/>
              <a:cs typeface="宋体"/>
            </a:endParaRPr>
          </a:p>
          <a:p>
            <a:pPr marL="2538730">
              <a:lnSpc>
                <a:spcPct val="100000"/>
              </a:lnSpc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文法、语言的形式定义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57122" y="1671066"/>
            <a:ext cx="161925" cy="777240"/>
          </a:xfrm>
          <a:custGeom>
            <a:avLst/>
            <a:gdLst/>
            <a:ahLst/>
            <a:cxnLst/>
            <a:rect l="l" t="t" r="r" b="b"/>
            <a:pathLst>
              <a:path w="161925" h="777239">
                <a:moveTo>
                  <a:pt x="161544" y="777239"/>
                </a:moveTo>
                <a:lnTo>
                  <a:pt x="130117" y="772158"/>
                </a:lnTo>
                <a:lnTo>
                  <a:pt x="104441" y="758301"/>
                </a:lnTo>
                <a:lnTo>
                  <a:pt x="87123" y="737752"/>
                </a:lnTo>
                <a:lnTo>
                  <a:pt x="80772" y="712597"/>
                </a:lnTo>
                <a:lnTo>
                  <a:pt x="80772" y="453263"/>
                </a:lnTo>
                <a:lnTo>
                  <a:pt x="74420" y="428107"/>
                </a:lnTo>
                <a:lnTo>
                  <a:pt x="57102" y="407558"/>
                </a:lnTo>
                <a:lnTo>
                  <a:pt x="31426" y="393701"/>
                </a:lnTo>
                <a:lnTo>
                  <a:pt x="0" y="388620"/>
                </a:lnTo>
                <a:lnTo>
                  <a:pt x="31426" y="383538"/>
                </a:lnTo>
                <a:lnTo>
                  <a:pt x="57102" y="369681"/>
                </a:lnTo>
                <a:lnTo>
                  <a:pt x="74420" y="349132"/>
                </a:lnTo>
                <a:lnTo>
                  <a:pt x="80772" y="323976"/>
                </a:lnTo>
                <a:lnTo>
                  <a:pt x="80772" y="64643"/>
                </a:lnTo>
                <a:lnTo>
                  <a:pt x="87123" y="39487"/>
                </a:lnTo>
                <a:lnTo>
                  <a:pt x="104441" y="18938"/>
                </a:lnTo>
                <a:lnTo>
                  <a:pt x="130117" y="5081"/>
                </a:lnTo>
                <a:lnTo>
                  <a:pt x="161544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1" y="761"/>
            <a:ext cx="9144000" cy="462280"/>
          </a:xfrm>
          <a:custGeom>
            <a:avLst/>
            <a:gdLst/>
            <a:ahLst/>
            <a:cxnLst/>
            <a:rect l="l" t="t" r="r" b="b"/>
            <a:pathLst>
              <a:path w="9144000" h="462280">
                <a:moveTo>
                  <a:pt x="0" y="461771"/>
                </a:moveTo>
                <a:lnTo>
                  <a:pt x="9144000" y="461771"/>
                </a:lnTo>
                <a:lnTo>
                  <a:pt x="9144000" y="0"/>
                </a:lnTo>
                <a:lnTo>
                  <a:pt x="0" y="0"/>
                </a:lnTo>
                <a:lnTo>
                  <a:pt x="0" y="461771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84985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84011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7785" y="460324"/>
            <a:ext cx="6802120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910" algn="l"/>
              </a:tabLst>
            </a:pPr>
            <a:r>
              <a:rPr dirty="0" spc="-10"/>
              <a:t>第</a:t>
            </a:r>
            <a:r>
              <a:rPr dirty="0" spc="-960"/>
              <a:t> 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 spc="-10"/>
              <a:t>章</a:t>
            </a:r>
            <a:r>
              <a:rPr dirty="0"/>
              <a:t>	</a:t>
            </a:r>
            <a:r>
              <a:rPr dirty="0" spc="5"/>
              <a:t>形式</a:t>
            </a:r>
            <a:r>
              <a:rPr dirty="0" spc="-10"/>
              <a:t>语</a:t>
            </a:r>
            <a:r>
              <a:rPr dirty="0" spc="5"/>
              <a:t>言</a:t>
            </a:r>
            <a:r>
              <a:rPr dirty="0" spc="-10"/>
              <a:t>与自</a:t>
            </a:r>
            <a:r>
              <a:rPr dirty="0"/>
              <a:t>动</a:t>
            </a:r>
            <a:r>
              <a:rPr dirty="0" spc="-10"/>
              <a:t>机基础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6966" y="1944624"/>
            <a:ext cx="5760720" cy="4142104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lvl="1" marL="1044575" indent="-1032510">
              <a:lnSpc>
                <a:spcPct val="100000"/>
              </a:lnSpc>
              <a:spcBef>
                <a:spcPts val="1180"/>
              </a:spcBef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文法和语言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5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语言的语法和语义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文法和语言的定义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文法的表示方法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语法树与二义性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5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文法和语言的类型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8744" y="2857500"/>
            <a:ext cx="1229995" cy="515620"/>
          </a:xfrm>
          <a:custGeom>
            <a:avLst/>
            <a:gdLst/>
            <a:ahLst/>
            <a:cxnLst/>
            <a:rect l="l" t="t" r="r" b="b"/>
            <a:pathLst>
              <a:path w="1229995" h="515620">
                <a:moveTo>
                  <a:pt x="922274" y="0"/>
                </a:moveTo>
                <a:lnTo>
                  <a:pt x="922274" y="128777"/>
                </a:lnTo>
                <a:lnTo>
                  <a:pt x="0" y="128777"/>
                </a:lnTo>
                <a:lnTo>
                  <a:pt x="0" y="386334"/>
                </a:lnTo>
                <a:lnTo>
                  <a:pt x="922274" y="386334"/>
                </a:lnTo>
                <a:lnTo>
                  <a:pt x="922274" y="515112"/>
                </a:lnTo>
                <a:lnTo>
                  <a:pt x="1229868" y="257555"/>
                </a:lnTo>
                <a:lnTo>
                  <a:pt x="922274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8744" y="2857500"/>
            <a:ext cx="1229995" cy="515620"/>
          </a:xfrm>
          <a:custGeom>
            <a:avLst/>
            <a:gdLst/>
            <a:ahLst/>
            <a:cxnLst/>
            <a:rect l="l" t="t" r="r" b="b"/>
            <a:pathLst>
              <a:path w="1229995" h="515620">
                <a:moveTo>
                  <a:pt x="0" y="128777"/>
                </a:moveTo>
                <a:lnTo>
                  <a:pt x="922274" y="128777"/>
                </a:lnTo>
                <a:lnTo>
                  <a:pt x="922274" y="0"/>
                </a:lnTo>
                <a:lnTo>
                  <a:pt x="1229868" y="257555"/>
                </a:lnTo>
                <a:lnTo>
                  <a:pt x="922274" y="515112"/>
                </a:lnTo>
                <a:lnTo>
                  <a:pt x="922274" y="386334"/>
                </a:lnTo>
                <a:lnTo>
                  <a:pt x="0" y="386334"/>
                </a:lnTo>
                <a:lnTo>
                  <a:pt x="0" y="128777"/>
                </a:lnTo>
                <a:close/>
              </a:path>
            </a:pathLst>
          </a:custGeom>
          <a:ln w="9525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112632" y="6602587"/>
            <a:ext cx="64770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fld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4304" y="708405"/>
            <a:ext cx="3689985" cy="1528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5455" indent="-381635">
              <a:lnSpc>
                <a:spcPct val="100000"/>
              </a:lnSpc>
              <a:spcBef>
                <a:spcPts val="100"/>
              </a:spcBef>
              <a:buClr>
                <a:srgbClr val="99FF66"/>
              </a:buClr>
              <a:buSzPct val="129166"/>
              <a:buFont typeface="Wingdings"/>
              <a:buChar char=""/>
              <a:tabLst>
                <a:tab pos="466090" algn="l"/>
              </a:tabLst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自然语言的问题</a:t>
            </a:r>
            <a:endParaRPr sz="3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675"/>
              </a:spcBef>
            </a:pPr>
            <a:r>
              <a:rPr dirty="0" baseline="1736" sz="4800" b="1">
                <a:solidFill>
                  <a:srgbClr val="FFFF45"/>
                </a:solidFill>
                <a:latin typeface="宋体"/>
                <a:cs typeface="宋体"/>
              </a:rPr>
              <a:t>打白</a:t>
            </a:r>
            <a:r>
              <a:rPr dirty="0" baseline="1736" sz="4800" spc="-15" b="1">
                <a:solidFill>
                  <a:srgbClr val="FFFF45"/>
                </a:solidFill>
                <a:latin typeface="宋体"/>
                <a:cs typeface="宋体"/>
              </a:rPr>
              <a:t>条</a:t>
            </a:r>
            <a:r>
              <a:rPr dirty="0" baseline="1736" sz="4800" spc="-382" b="1">
                <a:solidFill>
                  <a:srgbClr val="FFFF45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8EC9E1"/>
                </a:solidFill>
                <a:latin typeface="宋体"/>
                <a:cs typeface="宋体"/>
              </a:rPr>
              <a:t>傍大</a:t>
            </a:r>
            <a:r>
              <a:rPr dirty="0" sz="3200" spc="-10" b="1">
                <a:solidFill>
                  <a:srgbClr val="8EC9E1"/>
                </a:solidFill>
                <a:latin typeface="宋体"/>
                <a:cs typeface="宋体"/>
              </a:rPr>
              <a:t>款</a:t>
            </a:r>
            <a:r>
              <a:rPr dirty="0" sz="3200" spc="75" b="1">
                <a:solidFill>
                  <a:srgbClr val="8EC9E1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99FF"/>
                </a:solidFill>
                <a:latin typeface="宋体"/>
                <a:cs typeface="宋体"/>
              </a:rPr>
              <a:t>考托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8542" y="3074288"/>
            <a:ext cx="5463540" cy="1123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08350">
              <a:lnSpc>
                <a:spcPts val="3085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光阴似箭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ts val="2645"/>
              </a:lnSpc>
              <a:tabLst>
                <a:tab pos="117729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Bookman Old Style"/>
                <a:cs typeface="Bookman Old Style"/>
              </a:rPr>
              <a:t>Time	Flies</a:t>
            </a:r>
            <a:endParaRPr sz="2800">
              <a:latin typeface="Bookman Old Style"/>
              <a:cs typeface="Bookman Old Style"/>
            </a:endParaRPr>
          </a:p>
          <a:p>
            <a:pPr marL="3308350">
              <a:lnSpc>
                <a:spcPts val="2915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苍蝇飞的速度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72661" y="3201161"/>
            <a:ext cx="304800" cy="943610"/>
          </a:xfrm>
          <a:custGeom>
            <a:avLst/>
            <a:gdLst/>
            <a:ahLst/>
            <a:cxnLst/>
            <a:rect l="l" t="t" r="r" b="b"/>
            <a:pathLst>
              <a:path w="304800" h="943610">
                <a:moveTo>
                  <a:pt x="304800" y="943356"/>
                </a:moveTo>
                <a:lnTo>
                  <a:pt x="245465" y="937180"/>
                </a:lnTo>
                <a:lnTo>
                  <a:pt x="197024" y="920337"/>
                </a:lnTo>
                <a:lnTo>
                  <a:pt x="164371" y="895349"/>
                </a:lnTo>
                <a:lnTo>
                  <a:pt x="152400" y="864743"/>
                </a:lnTo>
                <a:lnTo>
                  <a:pt x="152400" y="550290"/>
                </a:lnTo>
                <a:lnTo>
                  <a:pt x="140428" y="519683"/>
                </a:lnTo>
                <a:lnTo>
                  <a:pt x="107775" y="494696"/>
                </a:lnTo>
                <a:lnTo>
                  <a:pt x="59334" y="477853"/>
                </a:lnTo>
                <a:lnTo>
                  <a:pt x="0" y="471677"/>
                </a:lnTo>
                <a:lnTo>
                  <a:pt x="59334" y="465502"/>
                </a:lnTo>
                <a:lnTo>
                  <a:pt x="107775" y="448659"/>
                </a:lnTo>
                <a:lnTo>
                  <a:pt x="140428" y="423672"/>
                </a:lnTo>
                <a:lnTo>
                  <a:pt x="152400" y="393064"/>
                </a:lnTo>
                <a:lnTo>
                  <a:pt x="152400" y="78612"/>
                </a:lnTo>
                <a:lnTo>
                  <a:pt x="164371" y="48005"/>
                </a:lnTo>
                <a:lnTo>
                  <a:pt x="197024" y="23018"/>
                </a:lnTo>
                <a:lnTo>
                  <a:pt x="245465" y="6175"/>
                </a:lnTo>
                <a:lnTo>
                  <a:pt x="304800" y="0"/>
                </a:lnTo>
              </a:path>
            </a:pathLst>
          </a:custGeom>
          <a:ln w="38100">
            <a:solidFill>
              <a:srgbClr val="FFFF4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45591" y="5289296"/>
            <a:ext cx="41097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8EC9E1"/>
                </a:solidFill>
                <a:latin typeface="宋体"/>
                <a:cs typeface="宋体"/>
              </a:rPr>
              <a:t>下雨天留客天留我不留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6858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939" y="7899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3966" y="7899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21348" y="7899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语言的语法和语义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382382" y="1719833"/>
            <a:ext cx="12496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屌丝</a:t>
            </a:r>
            <a:r>
              <a:rPr dirty="0" sz="3200" b="1">
                <a:solidFill>
                  <a:srgbClr val="5BEAFC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12632" y="6602587"/>
            <a:ext cx="64770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fld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43527" y="1744802"/>
            <a:ext cx="25419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03020" algn="l"/>
              </a:tabLst>
            </a:pPr>
            <a:r>
              <a:rPr dirty="0" sz="3200" b="1">
                <a:solidFill>
                  <a:srgbClr val="00AFEF"/>
                </a:solidFill>
                <a:latin typeface="宋体"/>
                <a:cs typeface="宋体"/>
              </a:rPr>
              <a:t>牛</a:t>
            </a:r>
            <a:r>
              <a:rPr dirty="0" sz="3200" spc="-10" b="1">
                <a:solidFill>
                  <a:srgbClr val="00AFEF"/>
                </a:solidFill>
                <a:latin typeface="宋体"/>
                <a:cs typeface="宋体"/>
              </a:rPr>
              <a:t>孩</a:t>
            </a:r>
            <a:r>
              <a:rPr dirty="0" sz="3200" b="1">
                <a:solidFill>
                  <a:srgbClr val="00AFEF"/>
                </a:solidFill>
                <a:latin typeface="宋体"/>
                <a:cs typeface="宋体"/>
              </a:rPr>
              <a:t>	</a:t>
            </a:r>
            <a:r>
              <a:rPr dirty="0" sz="3200" spc="-5" b="1">
                <a:solidFill>
                  <a:srgbClr val="66FF99"/>
                </a:solidFill>
                <a:latin typeface="宋体"/>
                <a:cs typeface="宋体"/>
              </a:rPr>
              <a:t>正能量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8542" y="3502914"/>
            <a:ext cx="5463540" cy="1123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08350">
              <a:lnSpc>
                <a:spcPts val="3085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光阴似箭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ts val="2645"/>
              </a:lnSpc>
              <a:tabLst>
                <a:tab pos="1177290" algn="l"/>
              </a:tabLst>
            </a:pPr>
            <a:r>
              <a:rPr dirty="0" sz="2800" spc="-10" b="1" i="1">
                <a:solidFill>
                  <a:srgbClr val="FFFFFF"/>
                </a:solidFill>
                <a:latin typeface="Bookman Old Style"/>
                <a:cs typeface="Bookman Old Style"/>
              </a:rPr>
              <a:t>Time	</a:t>
            </a:r>
            <a:r>
              <a:rPr dirty="0" sz="2800" spc="-5" b="1" i="1">
                <a:solidFill>
                  <a:srgbClr val="FFFFFF"/>
                </a:solidFill>
                <a:latin typeface="Bookman Old Style"/>
                <a:cs typeface="Bookman Old Style"/>
              </a:rPr>
              <a:t>Flies</a:t>
            </a:r>
            <a:endParaRPr sz="2800">
              <a:latin typeface="Bookman Old Style"/>
              <a:cs typeface="Bookman Old Style"/>
            </a:endParaRPr>
          </a:p>
          <a:p>
            <a:pPr marL="3308350">
              <a:lnSpc>
                <a:spcPts val="2915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苍蝇飞的速度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72661" y="3629405"/>
            <a:ext cx="304800" cy="943610"/>
          </a:xfrm>
          <a:custGeom>
            <a:avLst/>
            <a:gdLst/>
            <a:ahLst/>
            <a:cxnLst/>
            <a:rect l="l" t="t" r="r" b="b"/>
            <a:pathLst>
              <a:path w="304800" h="943610">
                <a:moveTo>
                  <a:pt x="304800" y="943356"/>
                </a:moveTo>
                <a:lnTo>
                  <a:pt x="245465" y="937180"/>
                </a:lnTo>
                <a:lnTo>
                  <a:pt x="197024" y="920337"/>
                </a:lnTo>
                <a:lnTo>
                  <a:pt x="164371" y="895350"/>
                </a:lnTo>
                <a:lnTo>
                  <a:pt x="152400" y="864743"/>
                </a:lnTo>
                <a:lnTo>
                  <a:pt x="152400" y="550291"/>
                </a:lnTo>
                <a:lnTo>
                  <a:pt x="140428" y="519684"/>
                </a:lnTo>
                <a:lnTo>
                  <a:pt x="107775" y="494696"/>
                </a:lnTo>
                <a:lnTo>
                  <a:pt x="59334" y="477853"/>
                </a:lnTo>
                <a:lnTo>
                  <a:pt x="0" y="471678"/>
                </a:lnTo>
                <a:lnTo>
                  <a:pt x="59334" y="465502"/>
                </a:lnTo>
                <a:lnTo>
                  <a:pt x="107775" y="448659"/>
                </a:lnTo>
                <a:lnTo>
                  <a:pt x="140428" y="423672"/>
                </a:lnTo>
                <a:lnTo>
                  <a:pt x="152400" y="393065"/>
                </a:lnTo>
                <a:lnTo>
                  <a:pt x="152400" y="78613"/>
                </a:lnTo>
                <a:lnTo>
                  <a:pt x="164371" y="48006"/>
                </a:lnTo>
                <a:lnTo>
                  <a:pt x="197024" y="23018"/>
                </a:lnTo>
                <a:lnTo>
                  <a:pt x="245465" y="6175"/>
                </a:lnTo>
                <a:lnTo>
                  <a:pt x="304800" y="0"/>
                </a:lnTo>
              </a:path>
            </a:pathLst>
          </a:custGeom>
          <a:ln w="38100">
            <a:solidFill>
              <a:srgbClr val="FFFF4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语言的语法和语义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31140" y="708405"/>
            <a:ext cx="36201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Clr>
                <a:srgbClr val="99FF66"/>
              </a:buClr>
              <a:buSzPct val="129166"/>
              <a:buFont typeface="Wingdings"/>
              <a:buChar char=""/>
              <a:tabLst>
                <a:tab pos="393700" algn="l"/>
              </a:tabLst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自然语言的问题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8542" y="5511718"/>
            <a:ext cx="4925695" cy="4324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404"/>
              </a:lnSpc>
            </a:pPr>
            <a:r>
              <a:rPr dirty="0" u="heavy" sz="3200" b="1">
                <a:solidFill>
                  <a:srgbClr val="8EC9E1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下雨天留客</a:t>
            </a:r>
            <a:r>
              <a:rPr dirty="0" u="heavy" sz="3200" b="1">
                <a:solidFill>
                  <a:srgbClr val="FF7777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，</a:t>
            </a:r>
            <a:r>
              <a:rPr dirty="0" u="heavy" sz="3200" b="1">
                <a:solidFill>
                  <a:srgbClr val="8EC9E1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天留我不</a:t>
            </a:r>
            <a:r>
              <a:rPr dirty="0" u="heavy" sz="3200" spc="-10" b="1">
                <a:solidFill>
                  <a:srgbClr val="8EC9E1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留</a:t>
            </a:r>
            <a:r>
              <a:rPr dirty="0" u="heavy" sz="3200" spc="-10" b="1">
                <a:solidFill>
                  <a:srgbClr val="FF7777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12632" y="6602587"/>
            <a:ext cx="64770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fld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630" y="1710308"/>
            <a:ext cx="26657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45"/>
                </a:solidFill>
                <a:latin typeface="宋体"/>
                <a:cs typeface="宋体"/>
              </a:rPr>
              <a:t>打白</a:t>
            </a:r>
            <a:r>
              <a:rPr dirty="0" sz="3200" spc="-10" b="1">
                <a:solidFill>
                  <a:srgbClr val="FFFF45"/>
                </a:solidFill>
                <a:latin typeface="宋体"/>
                <a:cs typeface="宋体"/>
              </a:rPr>
              <a:t>条</a:t>
            </a:r>
            <a:r>
              <a:rPr dirty="0" sz="3200" spc="-195" b="1">
                <a:solidFill>
                  <a:srgbClr val="FFFF45"/>
                </a:solidFill>
                <a:latin typeface="宋体"/>
                <a:cs typeface="宋体"/>
              </a:rPr>
              <a:t> </a:t>
            </a:r>
            <a:r>
              <a:rPr dirty="0" baseline="-3472" sz="4800" b="1">
                <a:solidFill>
                  <a:srgbClr val="8EC9E1"/>
                </a:solidFill>
                <a:latin typeface="宋体"/>
                <a:cs typeface="宋体"/>
              </a:rPr>
              <a:t>傍大款</a:t>
            </a:r>
            <a:endParaRPr baseline="-3472" sz="4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51073" y="1723136"/>
            <a:ext cx="84264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99FF"/>
                </a:solidFill>
                <a:latin typeface="宋体"/>
                <a:cs typeface="宋体"/>
              </a:rPr>
              <a:t>考托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55509" y="1705178"/>
            <a:ext cx="13506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给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r>
              <a:rPr dirty="0" sz="3200" spc="-894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>
                <a:solidFill>
                  <a:srgbClr val="5BEAFC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01105" y="1740535"/>
            <a:ext cx="84264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AFEF"/>
                </a:solidFill>
                <a:latin typeface="宋体"/>
                <a:cs typeface="宋体"/>
              </a:rPr>
              <a:t>牛孩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5325" y="1735277"/>
            <a:ext cx="8426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66FF99"/>
                </a:solidFill>
                <a:latin typeface="宋体"/>
                <a:cs typeface="宋体"/>
              </a:rPr>
              <a:t>宅男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72661" y="3344417"/>
            <a:ext cx="304800" cy="943610"/>
          </a:xfrm>
          <a:custGeom>
            <a:avLst/>
            <a:gdLst/>
            <a:ahLst/>
            <a:cxnLst/>
            <a:rect l="l" t="t" r="r" b="b"/>
            <a:pathLst>
              <a:path w="304800" h="943610">
                <a:moveTo>
                  <a:pt x="304800" y="943356"/>
                </a:moveTo>
                <a:lnTo>
                  <a:pt x="245465" y="937180"/>
                </a:lnTo>
                <a:lnTo>
                  <a:pt x="197024" y="920337"/>
                </a:lnTo>
                <a:lnTo>
                  <a:pt x="164371" y="895350"/>
                </a:lnTo>
                <a:lnTo>
                  <a:pt x="152400" y="864743"/>
                </a:lnTo>
                <a:lnTo>
                  <a:pt x="152400" y="550291"/>
                </a:lnTo>
                <a:lnTo>
                  <a:pt x="140428" y="519684"/>
                </a:lnTo>
                <a:lnTo>
                  <a:pt x="107775" y="494696"/>
                </a:lnTo>
                <a:lnTo>
                  <a:pt x="59334" y="477853"/>
                </a:lnTo>
                <a:lnTo>
                  <a:pt x="0" y="471678"/>
                </a:lnTo>
                <a:lnTo>
                  <a:pt x="59334" y="465502"/>
                </a:lnTo>
                <a:lnTo>
                  <a:pt x="107775" y="448659"/>
                </a:lnTo>
                <a:lnTo>
                  <a:pt x="140428" y="423672"/>
                </a:lnTo>
                <a:lnTo>
                  <a:pt x="152400" y="393065"/>
                </a:lnTo>
                <a:lnTo>
                  <a:pt x="152400" y="78612"/>
                </a:lnTo>
                <a:lnTo>
                  <a:pt x="164371" y="48006"/>
                </a:lnTo>
                <a:lnTo>
                  <a:pt x="197024" y="23018"/>
                </a:lnTo>
                <a:lnTo>
                  <a:pt x="245465" y="6175"/>
                </a:lnTo>
                <a:lnTo>
                  <a:pt x="304800" y="0"/>
                </a:lnTo>
              </a:path>
            </a:pathLst>
          </a:custGeom>
          <a:ln w="38100">
            <a:solidFill>
              <a:srgbClr val="FFFF4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语言的语法和语义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88542" y="3216605"/>
            <a:ext cx="5741670" cy="2618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08350">
              <a:lnSpc>
                <a:spcPts val="309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光阴似箭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ts val="2645"/>
              </a:lnSpc>
              <a:tabLst>
                <a:tab pos="1177290" algn="l"/>
              </a:tabLst>
            </a:pPr>
            <a:r>
              <a:rPr dirty="0" sz="2800" spc="-10" b="1" i="1">
                <a:solidFill>
                  <a:srgbClr val="FFFFFF"/>
                </a:solidFill>
                <a:latin typeface="Bookman Old Style"/>
                <a:cs typeface="Bookman Old Style"/>
              </a:rPr>
              <a:t>Time	</a:t>
            </a:r>
            <a:r>
              <a:rPr dirty="0" sz="2800" spc="-5" b="1" i="1">
                <a:solidFill>
                  <a:srgbClr val="FFFFFF"/>
                </a:solidFill>
                <a:latin typeface="Bookman Old Style"/>
                <a:cs typeface="Bookman Old Style"/>
              </a:rPr>
              <a:t>Flies</a:t>
            </a:r>
            <a:endParaRPr sz="2800">
              <a:latin typeface="Bookman Old Style"/>
              <a:cs typeface="Bookman Old Style"/>
            </a:endParaRPr>
          </a:p>
          <a:p>
            <a:pPr marL="3308350">
              <a:lnSpc>
                <a:spcPts val="2915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苍蝇飞的速度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3200" spc="-5" b="1">
                <a:solidFill>
                  <a:srgbClr val="8EC9E1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下雨</a:t>
            </a:r>
            <a:r>
              <a:rPr dirty="0" u="heavy" sz="3200" b="1">
                <a:solidFill>
                  <a:srgbClr val="8EC9E1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天</a:t>
            </a:r>
            <a:r>
              <a:rPr dirty="0" u="heavy" sz="3200" spc="-5" b="1">
                <a:solidFill>
                  <a:srgbClr val="FF7777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，</a:t>
            </a:r>
            <a:r>
              <a:rPr dirty="0" u="heavy" sz="3200" spc="-5" b="1">
                <a:solidFill>
                  <a:srgbClr val="8EC9E1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留客</a:t>
            </a:r>
            <a:r>
              <a:rPr dirty="0" u="heavy" sz="3200" b="1">
                <a:solidFill>
                  <a:srgbClr val="8EC9E1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天</a:t>
            </a:r>
            <a:r>
              <a:rPr dirty="0" u="heavy" sz="3200" spc="-5" b="1">
                <a:solidFill>
                  <a:srgbClr val="FF7777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，</a:t>
            </a:r>
            <a:r>
              <a:rPr dirty="0" u="heavy" sz="3200" spc="-5" b="1">
                <a:solidFill>
                  <a:srgbClr val="8EC9E1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留我不</a:t>
            </a:r>
            <a:r>
              <a:rPr dirty="0" u="heavy" sz="3200" b="1">
                <a:solidFill>
                  <a:srgbClr val="FF7777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？</a:t>
            </a:r>
            <a:r>
              <a:rPr dirty="0" u="heavy" sz="3200" spc="-15" b="1">
                <a:solidFill>
                  <a:srgbClr val="8EC9E1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留</a:t>
            </a:r>
            <a:r>
              <a:rPr dirty="0" u="heavy" sz="3200" spc="-10" b="1">
                <a:solidFill>
                  <a:srgbClr val="FF7777"/>
                </a:solidFill>
                <a:uFill>
                  <a:solidFill>
                    <a:srgbClr val="8EC9E1"/>
                  </a:solidFill>
                </a:u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12632" y="6602587"/>
            <a:ext cx="64770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5440" y="708405"/>
            <a:ext cx="36201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Clr>
                <a:srgbClr val="99FF66"/>
              </a:buClr>
              <a:buSzPct val="129166"/>
              <a:buFont typeface="Wingdings"/>
              <a:buChar char=""/>
              <a:tabLst>
                <a:tab pos="393700" algn="l"/>
              </a:tabLst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自然语言的问题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630" y="1710308"/>
            <a:ext cx="12509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45"/>
                </a:solidFill>
                <a:latin typeface="宋体"/>
                <a:cs typeface="宋体"/>
              </a:rPr>
              <a:t>打白条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2830" y="1732533"/>
            <a:ext cx="23348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8EC9E1"/>
                </a:solidFill>
                <a:latin typeface="宋体"/>
                <a:cs typeface="宋体"/>
              </a:rPr>
              <a:t>傍大</a:t>
            </a:r>
            <a:r>
              <a:rPr dirty="0" sz="3200" spc="-10" b="1">
                <a:solidFill>
                  <a:srgbClr val="8EC9E1"/>
                </a:solidFill>
                <a:latin typeface="宋体"/>
                <a:cs typeface="宋体"/>
              </a:rPr>
              <a:t>款</a:t>
            </a:r>
            <a:r>
              <a:rPr dirty="0" sz="3200" spc="405" b="1">
                <a:solidFill>
                  <a:srgbClr val="8EC9E1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99FF"/>
                </a:solidFill>
                <a:latin typeface="宋体"/>
                <a:cs typeface="宋体"/>
              </a:rPr>
              <a:t>考托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55509" y="1705178"/>
            <a:ext cx="13506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给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r>
              <a:rPr dirty="0" sz="3200" spc="-894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>
                <a:solidFill>
                  <a:srgbClr val="5BEAFC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1525" y="1735277"/>
            <a:ext cx="20078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77925" algn="l"/>
              </a:tabLst>
            </a:pPr>
            <a:r>
              <a:rPr dirty="0" sz="3200" spc="-5" b="1">
                <a:solidFill>
                  <a:srgbClr val="66FF99"/>
                </a:solidFill>
                <a:latin typeface="宋体"/>
                <a:cs typeface="宋体"/>
              </a:rPr>
              <a:t>宅</a:t>
            </a:r>
            <a:r>
              <a:rPr dirty="0" sz="3200" spc="-10" b="1">
                <a:solidFill>
                  <a:srgbClr val="66FF99"/>
                </a:solidFill>
                <a:latin typeface="宋体"/>
                <a:cs typeface="宋体"/>
              </a:rPr>
              <a:t>男</a:t>
            </a:r>
            <a:r>
              <a:rPr dirty="0" sz="3200" b="1">
                <a:solidFill>
                  <a:srgbClr val="66FF99"/>
                </a:solidFill>
                <a:latin typeface="宋体"/>
                <a:cs typeface="宋体"/>
              </a:rPr>
              <a:t>	</a:t>
            </a:r>
            <a:r>
              <a:rPr dirty="0" sz="3200" spc="-5" b="1">
                <a:solidFill>
                  <a:srgbClr val="00AFEF"/>
                </a:solidFill>
                <a:latin typeface="宋体"/>
                <a:cs typeface="宋体"/>
              </a:rPr>
              <a:t>牛孩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223009"/>
            <a:ext cx="22466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8145" indent="-386080">
              <a:lnSpc>
                <a:spcPct val="100000"/>
              </a:lnSpc>
              <a:spcBef>
                <a:spcPts val="100"/>
              </a:spcBef>
              <a:buClr>
                <a:srgbClr val="FFFF66"/>
              </a:buClr>
              <a:buSzPct val="129166"/>
              <a:buFont typeface="Wingdings"/>
              <a:buChar char=""/>
              <a:tabLst>
                <a:tab pos="398780" algn="l"/>
              </a:tabLst>
            </a:pPr>
            <a:r>
              <a:rPr dirty="0" sz="3600" spc="-5" b="1">
                <a:solidFill>
                  <a:srgbClr val="66FFFF"/>
                </a:solidFill>
                <a:latin typeface="宋体"/>
                <a:cs typeface="宋体"/>
              </a:rPr>
              <a:t>语言要素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8875" y="702263"/>
            <a:ext cx="4721225" cy="1488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（语言的描述规则） 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3200" spc="7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（语言的含义）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01161" y="1125474"/>
            <a:ext cx="204470" cy="899160"/>
          </a:xfrm>
          <a:custGeom>
            <a:avLst/>
            <a:gdLst/>
            <a:ahLst/>
            <a:cxnLst/>
            <a:rect l="l" t="t" r="r" b="b"/>
            <a:pathLst>
              <a:path w="204470" h="899160">
                <a:moveTo>
                  <a:pt x="204215" y="899160"/>
                </a:moveTo>
                <a:lnTo>
                  <a:pt x="164472" y="893276"/>
                </a:lnTo>
                <a:lnTo>
                  <a:pt x="132016" y="877236"/>
                </a:lnTo>
                <a:lnTo>
                  <a:pt x="110132" y="853457"/>
                </a:lnTo>
                <a:lnTo>
                  <a:pt x="102108" y="824356"/>
                </a:lnTo>
                <a:lnTo>
                  <a:pt x="102108" y="524383"/>
                </a:lnTo>
                <a:lnTo>
                  <a:pt x="94083" y="495282"/>
                </a:lnTo>
                <a:lnTo>
                  <a:pt x="72199" y="471503"/>
                </a:lnTo>
                <a:lnTo>
                  <a:pt x="39743" y="455463"/>
                </a:lnTo>
                <a:lnTo>
                  <a:pt x="0" y="449579"/>
                </a:lnTo>
                <a:lnTo>
                  <a:pt x="39743" y="443696"/>
                </a:lnTo>
                <a:lnTo>
                  <a:pt x="72199" y="427656"/>
                </a:lnTo>
                <a:lnTo>
                  <a:pt x="94083" y="403877"/>
                </a:lnTo>
                <a:lnTo>
                  <a:pt x="102108" y="374776"/>
                </a:lnTo>
                <a:lnTo>
                  <a:pt x="102108" y="74802"/>
                </a:lnTo>
                <a:lnTo>
                  <a:pt x="110132" y="45702"/>
                </a:lnTo>
                <a:lnTo>
                  <a:pt x="132016" y="21923"/>
                </a:lnTo>
                <a:lnTo>
                  <a:pt x="164472" y="5883"/>
                </a:lnTo>
                <a:lnTo>
                  <a:pt x="204215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35940" y="2750311"/>
            <a:ext cx="8319770" cy="2723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2481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语法是一种媒介，语义以语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为媒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介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来予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以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说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明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宋体"/>
              <a:cs typeface="宋体"/>
            </a:endParaRPr>
          </a:p>
          <a:p>
            <a:pPr algn="just" marL="12700" marR="5080" indent="445134">
              <a:lnSpc>
                <a:spcPct val="150000"/>
              </a:lnSpc>
            </a:pP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语言是由单词按一定规则（文法</a:t>
            </a:r>
            <a:r>
              <a:rPr dirty="0" sz="2800" spc="5" b="1">
                <a:solidFill>
                  <a:srgbClr val="FFCCCC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组成</a:t>
            </a:r>
            <a:r>
              <a:rPr dirty="0" sz="2800" spc="5" b="1">
                <a:solidFill>
                  <a:srgbClr val="FFCCCC"/>
                </a:solidFill>
                <a:latin typeface="宋体"/>
                <a:cs typeface="宋体"/>
              </a:rPr>
              <a:t>来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表</a:t>
            </a:r>
            <a:r>
              <a:rPr dirty="0" sz="2800" spc="5" b="1">
                <a:solidFill>
                  <a:srgbClr val="FFCCCC"/>
                </a:solidFill>
                <a:latin typeface="宋体"/>
                <a:cs typeface="宋体"/>
              </a:rPr>
              <a:t>达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特定 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意思的句子的集合。故对语言</a:t>
            </a:r>
            <a:r>
              <a:rPr dirty="0" sz="2800" spc="5" b="1">
                <a:solidFill>
                  <a:srgbClr val="FFCCCC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分析</a:t>
            </a:r>
            <a:r>
              <a:rPr dirty="0" sz="2800" spc="5" b="1">
                <a:solidFill>
                  <a:srgbClr val="FFCCCC"/>
                </a:solidFill>
                <a:latin typeface="宋体"/>
                <a:cs typeface="宋体"/>
              </a:rPr>
              <a:t>集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中</a:t>
            </a:r>
            <a:r>
              <a:rPr dirty="0" sz="2800" spc="5" b="1">
                <a:solidFill>
                  <a:srgbClr val="FFCCCC"/>
                </a:solidFill>
                <a:latin typeface="宋体"/>
                <a:cs typeface="宋体"/>
              </a:rPr>
              <a:t>于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对句</a:t>
            </a:r>
            <a:r>
              <a:rPr dirty="0" sz="2800" spc="5" b="1">
                <a:solidFill>
                  <a:srgbClr val="FFCCCC"/>
                </a:solidFill>
                <a:latin typeface="宋体"/>
                <a:cs typeface="宋体"/>
              </a:rPr>
              <a:t>子</a:t>
            </a:r>
            <a:r>
              <a:rPr dirty="0" sz="2800" spc="-15" b="1">
                <a:solidFill>
                  <a:srgbClr val="FFCCCC"/>
                </a:solidFill>
                <a:latin typeface="宋体"/>
                <a:cs typeface="宋体"/>
              </a:rPr>
              <a:t>的 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分析。而句子的分析依据语言</a:t>
            </a:r>
            <a:r>
              <a:rPr dirty="0" sz="2800" spc="5" b="1">
                <a:solidFill>
                  <a:srgbClr val="FFCCCC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文法</a:t>
            </a:r>
            <a:r>
              <a:rPr dirty="0" sz="2800" spc="5" b="1">
                <a:solidFill>
                  <a:srgbClr val="FFCCCC"/>
                </a:solidFill>
                <a:latin typeface="宋体"/>
                <a:cs typeface="宋体"/>
              </a:rPr>
              <a:t>规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则。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语言的语法和语义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07794" y="2630830"/>
            <a:ext cx="5016500" cy="346138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〈句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子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〈主语〉〈谓语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〈主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〈形容词〉〈名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词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〈谓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〈动词〉〈宾语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〈宾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〈形容词〉〈名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词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〈形容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词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2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小</a:t>
            </a:r>
            <a:r>
              <a:rPr dirty="0" sz="2800" spc="-7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大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〈名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词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1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八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哥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花生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〈动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词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1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吃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4642" y="804748"/>
            <a:ext cx="8321675" cy="146748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71625" algn="l"/>
              </a:tabLst>
            </a:pPr>
            <a:r>
              <a:rPr dirty="0" sz="3200" spc="-5">
                <a:solidFill>
                  <a:srgbClr val="B0FFFF"/>
                </a:solidFill>
                <a:latin typeface="宋体"/>
                <a:cs typeface="宋体"/>
              </a:rPr>
              <a:t>例</a:t>
            </a:r>
            <a:r>
              <a:rPr dirty="0" sz="3200">
                <a:solidFill>
                  <a:srgbClr val="B0FFFF"/>
                </a:solidFill>
                <a:latin typeface="Times New Roman"/>
                <a:cs typeface="Times New Roman"/>
              </a:rPr>
              <a:t>2.1</a:t>
            </a:r>
            <a:r>
              <a:rPr dirty="0" sz="3200" spc="-15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B0FFFF"/>
                </a:solidFill>
                <a:latin typeface="Times New Roman"/>
                <a:cs typeface="Times New Roman"/>
              </a:rPr>
              <a:t>:	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分析汉语句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子</a:t>
            </a:r>
            <a:r>
              <a:rPr dirty="0" sz="3200" spc="-5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“小八哥吃大花生”。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>
              <a:latin typeface="宋体"/>
              <a:cs typeface="宋体"/>
            </a:endParaRPr>
          </a:p>
          <a:p>
            <a:pPr marL="174625">
              <a:lnSpc>
                <a:spcPct val="100000"/>
              </a:lnSpc>
            </a:pPr>
            <a:r>
              <a:rPr dirty="0" sz="3200">
                <a:latin typeface="宋体"/>
                <a:cs typeface="宋体"/>
              </a:rPr>
              <a:t>下面列出汉语语法规则</a:t>
            </a:r>
            <a:r>
              <a:rPr dirty="0" sz="3200" spc="-10">
                <a:latin typeface="宋体"/>
                <a:cs typeface="宋体"/>
              </a:rPr>
              <a:t>中</a:t>
            </a:r>
            <a:r>
              <a:rPr dirty="0" sz="3200">
                <a:latin typeface="宋体"/>
                <a:cs typeface="宋体"/>
              </a:rPr>
              <a:t>的其中</a:t>
            </a:r>
            <a:r>
              <a:rPr dirty="0" sz="3200" spc="-10">
                <a:latin typeface="宋体"/>
                <a:cs typeface="宋体"/>
              </a:rPr>
              <a:t>七</a:t>
            </a:r>
            <a:r>
              <a:rPr dirty="0" sz="3200">
                <a:latin typeface="宋体"/>
                <a:cs typeface="宋体"/>
              </a:rPr>
              <a:t>条规</a:t>
            </a:r>
            <a:r>
              <a:rPr dirty="0" sz="3200" spc="-10">
                <a:latin typeface="宋体"/>
                <a:cs typeface="宋体"/>
              </a:rPr>
              <a:t>则：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1674" y="2458973"/>
            <a:ext cx="7028815" cy="3828415"/>
          </a:xfrm>
          <a:custGeom>
            <a:avLst/>
            <a:gdLst/>
            <a:ahLst/>
            <a:cxnLst/>
            <a:rect l="l" t="t" r="r" b="b"/>
            <a:pathLst>
              <a:path w="7028815" h="3828415">
                <a:moveTo>
                  <a:pt x="0" y="3828288"/>
                </a:moveTo>
                <a:lnTo>
                  <a:pt x="7028688" y="3828288"/>
                </a:lnTo>
                <a:lnTo>
                  <a:pt x="7028688" y="0"/>
                </a:lnTo>
                <a:lnTo>
                  <a:pt x="0" y="0"/>
                </a:lnTo>
                <a:lnTo>
                  <a:pt x="0" y="3828288"/>
                </a:lnTo>
                <a:close/>
              </a:path>
            </a:pathLst>
          </a:custGeom>
          <a:ln w="38100">
            <a:solidFill>
              <a:srgbClr val="99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4939" y="72644"/>
            <a:ext cx="87763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语言的语法和语义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96062" y="1773173"/>
            <a:ext cx="8402320" cy="2882265"/>
          </a:xfrm>
          <a:custGeom>
            <a:avLst/>
            <a:gdLst/>
            <a:ahLst/>
            <a:cxnLst/>
            <a:rect l="l" t="t" r="r" b="b"/>
            <a:pathLst>
              <a:path w="8402320" h="2882265">
                <a:moveTo>
                  <a:pt x="0" y="2881884"/>
                </a:moveTo>
                <a:lnTo>
                  <a:pt x="8401812" y="2881884"/>
                </a:lnTo>
                <a:lnTo>
                  <a:pt x="8401812" y="0"/>
                </a:lnTo>
                <a:lnTo>
                  <a:pt x="0" y="0"/>
                </a:lnTo>
                <a:lnTo>
                  <a:pt x="0" y="2881884"/>
                </a:lnTo>
                <a:close/>
              </a:path>
            </a:pathLst>
          </a:custGeom>
          <a:ln w="38100">
            <a:solidFill>
              <a:srgbClr val="66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96062" y="5659373"/>
            <a:ext cx="8402320" cy="617220"/>
          </a:xfrm>
          <a:prstGeom prst="rect">
            <a:avLst/>
          </a:prstGeom>
          <a:ln w="38100">
            <a:solidFill>
              <a:srgbClr val="66CCFF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347980" indent="-258445">
              <a:lnSpc>
                <a:spcPct val="100000"/>
              </a:lnSpc>
              <a:spcBef>
                <a:spcPts val="290"/>
              </a:spcBef>
              <a:buClr>
                <a:srgbClr val="FF99FF"/>
              </a:buClr>
              <a:buSzPct val="96875"/>
              <a:buFont typeface="Wingdings"/>
              <a:buChar char=""/>
              <a:tabLst>
                <a:tab pos="348615" algn="l"/>
                <a:tab pos="2012314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元语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言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描述另一种语言的语言。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91075" y="4660343"/>
            <a:ext cx="465581" cy="29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5161" y="1448561"/>
            <a:ext cx="838200" cy="2933700"/>
          </a:xfrm>
          <a:custGeom>
            <a:avLst/>
            <a:gdLst/>
            <a:ahLst/>
            <a:cxnLst/>
            <a:rect l="l" t="t" r="r" b="b"/>
            <a:pathLst>
              <a:path w="838200" h="2933700">
                <a:moveTo>
                  <a:pt x="0" y="1466850"/>
                </a:moveTo>
                <a:lnTo>
                  <a:pt x="483" y="1395778"/>
                </a:lnTo>
                <a:lnTo>
                  <a:pt x="1918" y="1325580"/>
                </a:lnTo>
                <a:lnTo>
                  <a:pt x="4283" y="1256332"/>
                </a:lnTo>
                <a:lnTo>
                  <a:pt x="7557" y="1188110"/>
                </a:lnTo>
                <a:lnTo>
                  <a:pt x="11716" y="1120992"/>
                </a:lnTo>
                <a:lnTo>
                  <a:pt x="16740" y="1055054"/>
                </a:lnTo>
                <a:lnTo>
                  <a:pt x="22605" y="990374"/>
                </a:lnTo>
                <a:lnTo>
                  <a:pt x="29291" y="927028"/>
                </a:lnTo>
                <a:lnTo>
                  <a:pt x="36776" y="865093"/>
                </a:lnTo>
                <a:lnTo>
                  <a:pt x="45036" y="804645"/>
                </a:lnTo>
                <a:lnTo>
                  <a:pt x="54051" y="745763"/>
                </a:lnTo>
                <a:lnTo>
                  <a:pt x="63799" y="688521"/>
                </a:lnTo>
                <a:lnTo>
                  <a:pt x="74256" y="632998"/>
                </a:lnTo>
                <a:lnTo>
                  <a:pt x="85403" y="579270"/>
                </a:lnTo>
                <a:lnTo>
                  <a:pt x="97215" y="527414"/>
                </a:lnTo>
                <a:lnTo>
                  <a:pt x="109673" y="477506"/>
                </a:lnTo>
                <a:lnTo>
                  <a:pt x="122753" y="429625"/>
                </a:lnTo>
                <a:lnTo>
                  <a:pt x="136434" y="383845"/>
                </a:lnTo>
                <a:lnTo>
                  <a:pt x="150693" y="340245"/>
                </a:lnTo>
                <a:lnTo>
                  <a:pt x="165509" y="298901"/>
                </a:lnTo>
                <a:lnTo>
                  <a:pt x="180860" y="259890"/>
                </a:lnTo>
                <a:lnTo>
                  <a:pt x="196724" y="223289"/>
                </a:lnTo>
                <a:lnTo>
                  <a:pt x="229902" y="157622"/>
                </a:lnTo>
                <a:lnTo>
                  <a:pt x="264869" y="102517"/>
                </a:lnTo>
                <a:lnTo>
                  <a:pt x="301447" y="58588"/>
                </a:lnTo>
                <a:lnTo>
                  <a:pt x="339462" y="26448"/>
                </a:lnTo>
                <a:lnTo>
                  <a:pt x="378738" y="6714"/>
                </a:lnTo>
                <a:lnTo>
                  <a:pt x="419100" y="0"/>
                </a:lnTo>
                <a:lnTo>
                  <a:pt x="439410" y="1691"/>
                </a:lnTo>
                <a:lnTo>
                  <a:pt x="479259" y="14992"/>
                </a:lnTo>
                <a:lnTo>
                  <a:pt x="517933" y="41006"/>
                </a:lnTo>
                <a:lnTo>
                  <a:pt x="555256" y="79117"/>
                </a:lnTo>
                <a:lnTo>
                  <a:pt x="591053" y="128711"/>
                </a:lnTo>
                <a:lnTo>
                  <a:pt x="625149" y="189174"/>
                </a:lnTo>
                <a:lnTo>
                  <a:pt x="657367" y="259890"/>
                </a:lnTo>
                <a:lnTo>
                  <a:pt x="672717" y="298901"/>
                </a:lnTo>
                <a:lnTo>
                  <a:pt x="687532" y="340245"/>
                </a:lnTo>
                <a:lnTo>
                  <a:pt x="701790" y="383845"/>
                </a:lnTo>
                <a:lnTo>
                  <a:pt x="715470" y="429625"/>
                </a:lnTo>
                <a:lnTo>
                  <a:pt x="728548" y="477506"/>
                </a:lnTo>
                <a:lnTo>
                  <a:pt x="741004" y="527414"/>
                </a:lnTo>
                <a:lnTo>
                  <a:pt x="752815" y="579270"/>
                </a:lnTo>
                <a:lnTo>
                  <a:pt x="763960" y="632998"/>
                </a:lnTo>
                <a:lnTo>
                  <a:pt x="774416" y="688521"/>
                </a:lnTo>
                <a:lnTo>
                  <a:pt x="784161" y="745763"/>
                </a:lnTo>
                <a:lnTo>
                  <a:pt x="793174" y="804645"/>
                </a:lnTo>
                <a:lnTo>
                  <a:pt x="801433" y="865093"/>
                </a:lnTo>
                <a:lnTo>
                  <a:pt x="808916" y="927028"/>
                </a:lnTo>
                <a:lnTo>
                  <a:pt x="815600" y="990374"/>
                </a:lnTo>
                <a:lnTo>
                  <a:pt x="821464" y="1055054"/>
                </a:lnTo>
                <a:lnTo>
                  <a:pt x="826486" y="1120992"/>
                </a:lnTo>
                <a:lnTo>
                  <a:pt x="830645" y="1188110"/>
                </a:lnTo>
                <a:lnTo>
                  <a:pt x="833917" y="1256332"/>
                </a:lnTo>
                <a:lnTo>
                  <a:pt x="836282" y="1325580"/>
                </a:lnTo>
                <a:lnTo>
                  <a:pt x="837716" y="1395778"/>
                </a:lnTo>
                <a:lnTo>
                  <a:pt x="838200" y="1466850"/>
                </a:lnTo>
                <a:lnTo>
                  <a:pt x="837716" y="1537921"/>
                </a:lnTo>
                <a:lnTo>
                  <a:pt x="836282" y="1608119"/>
                </a:lnTo>
                <a:lnTo>
                  <a:pt x="833917" y="1677367"/>
                </a:lnTo>
                <a:lnTo>
                  <a:pt x="830645" y="1745589"/>
                </a:lnTo>
                <a:lnTo>
                  <a:pt x="826486" y="1812707"/>
                </a:lnTo>
                <a:lnTo>
                  <a:pt x="821464" y="1878645"/>
                </a:lnTo>
                <a:lnTo>
                  <a:pt x="815600" y="1943325"/>
                </a:lnTo>
                <a:lnTo>
                  <a:pt x="808916" y="2006671"/>
                </a:lnTo>
                <a:lnTo>
                  <a:pt x="801433" y="2068606"/>
                </a:lnTo>
                <a:lnTo>
                  <a:pt x="793174" y="2129054"/>
                </a:lnTo>
                <a:lnTo>
                  <a:pt x="784161" y="2187936"/>
                </a:lnTo>
                <a:lnTo>
                  <a:pt x="774416" y="2245178"/>
                </a:lnTo>
                <a:lnTo>
                  <a:pt x="763960" y="2300701"/>
                </a:lnTo>
                <a:lnTo>
                  <a:pt x="752815" y="2354429"/>
                </a:lnTo>
                <a:lnTo>
                  <a:pt x="741004" y="2406285"/>
                </a:lnTo>
                <a:lnTo>
                  <a:pt x="728548" y="2456193"/>
                </a:lnTo>
                <a:lnTo>
                  <a:pt x="715470" y="2504074"/>
                </a:lnTo>
                <a:lnTo>
                  <a:pt x="701790" y="2549854"/>
                </a:lnTo>
                <a:lnTo>
                  <a:pt x="687532" y="2593454"/>
                </a:lnTo>
                <a:lnTo>
                  <a:pt x="672717" y="2634798"/>
                </a:lnTo>
                <a:lnTo>
                  <a:pt x="657367" y="2673809"/>
                </a:lnTo>
                <a:lnTo>
                  <a:pt x="641503" y="2710410"/>
                </a:lnTo>
                <a:lnTo>
                  <a:pt x="608325" y="2776077"/>
                </a:lnTo>
                <a:lnTo>
                  <a:pt x="573357" y="2831182"/>
                </a:lnTo>
                <a:lnTo>
                  <a:pt x="536775" y="2875111"/>
                </a:lnTo>
                <a:lnTo>
                  <a:pt x="498754" y="2907251"/>
                </a:lnTo>
                <a:lnTo>
                  <a:pt x="459471" y="2926985"/>
                </a:lnTo>
                <a:lnTo>
                  <a:pt x="419100" y="2933700"/>
                </a:lnTo>
                <a:lnTo>
                  <a:pt x="398794" y="2932008"/>
                </a:lnTo>
                <a:lnTo>
                  <a:pt x="358954" y="2918707"/>
                </a:lnTo>
                <a:lnTo>
                  <a:pt x="320286" y="2892693"/>
                </a:lnTo>
                <a:lnTo>
                  <a:pt x="282967" y="2854582"/>
                </a:lnTo>
                <a:lnTo>
                  <a:pt x="247173" y="2804988"/>
                </a:lnTo>
                <a:lnTo>
                  <a:pt x="213079" y="2744525"/>
                </a:lnTo>
                <a:lnTo>
                  <a:pt x="180860" y="2673809"/>
                </a:lnTo>
                <a:lnTo>
                  <a:pt x="165509" y="2634798"/>
                </a:lnTo>
                <a:lnTo>
                  <a:pt x="150693" y="2593454"/>
                </a:lnTo>
                <a:lnTo>
                  <a:pt x="136434" y="2549854"/>
                </a:lnTo>
                <a:lnTo>
                  <a:pt x="122753" y="2504074"/>
                </a:lnTo>
                <a:lnTo>
                  <a:pt x="109673" y="2456193"/>
                </a:lnTo>
                <a:lnTo>
                  <a:pt x="97215" y="2406285"/>
                </a:lnTo>
                <a:lnTo>
                  <a:pt x="85403" y="2354429"/>
                </a:lnTo>
                <a:lnTo>
                  <a:pt x="74256" y="2300701"/>
                </a:lnTo>
                <a:lnTo>
                  <a:pt x="63799" y="2245178"/>
                </a:lnTo>
                <a:lnTo>
                  <a:pt x="54051" y="2187936"/>
                </a:lnTo>
                <a:lnTo>
                  <a:pt x="45036" y="2129054"/>
                </a:lnTo>
                <a:lnTo>
                  <a:pt x="36776" y="2068606"/>
                </a:lnTo>
                <a:lnTo>
                  <a:pt x="29291" y="2006671"/>
                </a:lnTo>
                <a:lnTo>
                  <a:pt x="22605" y="1943325"/>
                </a:lnTo>
                <a:lnTo>
                  <a:pt x="16740" y="1878645"/>
                </a:lnTo>
                <a:lnTo>
                  <a:pt x="11716" y="1812707"/>
                </a:lnTo>
                <a:lnTo>
                  <a:pt x="7557" y="1745589"/>
                </a:lnTo>
                <a:lnTo>
                  <a:pt x="4283" y="1677367"/>
                </a:lnTo>
                <a:lnTo>
                  <a:pt x="1918" y="1608119"/>
                </a:lnTo>
                <a:lnTo>
                  <a:pt x="483" y="1537921"/>
                </a:lnTo>
                <a:lnTo>
                  <a:pt x="0" y="1466850"/>
                </a:lnTo>
                <a:close/>
              </a:path>
            </a:pathLst>
          </a:custGeom>
          <a:ln w="38100">
            <a:solidFill>
              <a:srgbClr val="FFFF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53324" y="4343653"/>
            <a:ext cx="2501174" cy="10794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53324" y="4343653"/>
            <a:ext cx="2501265" cy="1079500"/>
          </a:xfrm>
          <a:custGeom>
            <a:avLst/>
            <a:gdLst/>
            <a:ahLst/>
            <a:cxnLst/>
            <a:rect l="l" t="t" r="r" b="b"/>
            <a:pathLst>
              <a:path w="2501265" h="1079500">
                <a:moveTo>
                  <a:pt x="0" y="0"/>
                </a:moveTo>
                <a:lnTo>
                  <a:pt x="1095794" y="548259"/>
                </a:lnTo>
                <a:lnTo>
                  <a:pt x="1166311" y="546772"/>
                </a:lnTo>
                <a:lnTo>
                  <a:pt x="1236288" y="546136"/>
                </a:lnTo>
                <a:lnTo>
                  <a:pt x="1305607" y="546331"/>
                </a:lnTo>
                <a:lnTo>
                  <a:pt x="1374150" y="547337"/>
                </a:lnTo>
                <a:lnTo>
                  <a:pt x="1441801" y="549135"/>
                </a:lnTo>
                <a:lnTo>
                  <a:pt x="1508440" y="551706"/>
                </a:lnTo>
                <a:lnTo>
                  <a:pt x="1573950" y="555029"/>
                </a:lnTo>
                <a:lnTo>
                  <a:pt x="1638213" y="559087"/>
                </a:lnTo>
                <a:lnTo>
                  <a:pt x="1701112" y="563858"/>
                </a:lnTo>
                <a:lnTo>
                  <a:pt x="1762528" y="569324"/>
                </a:lnTo>
                <a:lnTo>
                  <a:pt x="1822345" y="575465"/>
                </a:lnTo>
                <a:lnTo>
                  <a:pt x="1880443" y="582262"/>
                </a:lnTo>
                <a:lnTo>
                  <a:pt x="1936706" y="589695"/>
                </a:lnTo>
                <a:lnTo>
                  <a:pt x="1991016" y="597745"/>
                </a:lnTo>
                <a:lnTo>
                  <a:pt x="2043254" y="606392"/>
                </a:lnTo>
                <a:lnTo>
                  <a:pt x="2093303" y="615618"/>
                </a:lnTo>
                <a:lnTo>
                  <a:pt x="2141045" y="625401"/>
                </a:lnTo>
                <a:lnTo>
                  <a:pt x="2186362" y="635723"/>
                </a:lnTo>
                <a:lnTo>
                  <a:pt x="2229138" y="646565"/>
                </a:lnTo>
                <a:lnTo>
                  <a:pt x="2269252" y="657907"/>
                </a:lnTo>
                <a:lnTo>
                  <a:pt x="2306589" y="669729"/>
                </a:lnTo>
                <a:lnTo>
                  <a:pt x="2372458" y="694738"/>
                </a:lnTo>
                <a:lnTo>
                  <a:pt x="2425801" y="721435"/>
                </a:lnTo>
                <a:lnTo>
                  <a:pt x="2465677" y="749665"/>
                </a:lnTo>
                <a:lnTo>
                  <a:pt x="2491143" y="779272"/>
                </a:lnTo>
                <a:lnTo>
                  <a:pt x="2501174" y="811478"/>
                </a:lnTo>
                <a:lnTo>
                  <a:pt x="2499427" y="827349"/>
                </a:lnTo>
                <a:lnTo>
                  <a:pt x="2468486" y="873652"/>
                </a:lnTo>
                <a:lnTo>
                  <a:pt x="2427574" y="903120"/>
                </a:lnTo>
                <a:lnTo>
                  <a:pt x="2371491" y="931175"/>
                </a:lnTo>
                <a:lnTo>
                  <a:pt x="2301139" y="957568"/>
                </a:lnTo>
                <a:lnTo>
                  <a:pt x="2260895" y="970063"/>
                </a:lnTo>
                <a:lnTo>
                  <a:pt x="2217423" y="982049"/>
                </a:lnTo>
                <a:lnTo>
                  <a:pt x="2170837" y="993495"/>
                </a:lnTo>
                <a:lnTo>
                  <a:pt x="2121249" y="1004369"/>
                </a:lnTo>
                <a:lnTo>
                  <a:pt x="2068772" y="1014640"/>
                </a:lnTo>
                <a:lnTo>
                  <a:pt x="2013519" y="1024278"/>
                </a:lnTo>
                <a:lnTo>
                  <a:pt x="1955604" y="1033250"/>
                </a:lnTo>
                <a:lnTo>
                  <a:pt x="1895139" y="1041527"/>
                </a:lnTo>
                <a:lnTo>
                  <a:pt x="1832238" y="1049075"/>
                </a:lnTo>
                <a:lnTo>
                  <a:pt x="1767013" y="1055865"/>
                </a:lnTo>
                <a:lnTo>
                  <a:pt x="1699577" y="1061865"/>
                </a:lnTo>
                <a:lnTo>
                  <a:pt x="1630044" y="1067043"/>
                </a:lnTo>
                <a:lnTo>
                  <a:pt x="1558527" y="1071370"/>
                </a:lnTo>
                <a:lnTo>
                  <a:pt x="1485138" y="1074812"/>
                </a:lnTo>
                <a:lnTo>
                  <a:pt x="1409992" y="1077341"/>
                </a:lnTo>
                <a:lnTo>
                  <a:pt x="1339475" y="1078827"/>
                </a:lnTo>
                <a:lnTo>
                  <a:pt x="1269498" y="1079463"/>
                </a:lnTo>
                <a:lnTo>
                  <a:pt x="1200178" y="1079268"/>
                </a:lnTo>
                <a:lnTo>
                  <a:pt x="1131635" y="1078262"/>
                </a:lnTo>
                <a:lnTo>
                  <a:pt x="1063985" y="1076464"/>
                </a:lnTo>
                <a:lnTo>
                  <a:pt x="997346" y="1073893"/>
                </a:lnTo>
                <a:lnTo>
                  <a:pt x="931836" y="1070570"/>
                </a:lnTo>
                <a:lnTo>
                  <a:pt x="867573" y="1066512"/>
                </a:lnTo>
                <a:lnTo>
                  <a:pt x="804674" y="1061741"/>
                </a:lnTo>
                <a:lnTo>
                  <a:pt x="743258" y="1056275"/>
                </a:lnTo>
                <a:lnTo>
                  <a:pt x="683442" y="1050134"/>
                </a:lnTo>
                <a:lnTo>
                  <a:pt x="625344" y="1043337"/>
                </a:lnTo>
                <a:lnTo>
                  <a:pt x="569081" y="1035904"/>
                </a:lnTo>
                <a:lnTo>
                  <a:pt x="514773" y="1027854"/>
                </a:lnTo>
                <a:lnTo>
                  <a:pt x="462535" y="1019207"/>
                </a:lnTo>
                <a:lnTo>
                  <a:pt x="412487" y="1009981"/>
                </a:lnTo>
                <a:lnTo>
                  <a:pt x="364745" y="1000198"/>
                </a:lnTo>
                <a:lnTo>
                  <a:pt x="319429" y="989876"/>
                </a:lnTo>
                <a:lnTo>
                  <a:pt x="276655" y="979034"/>
                </a:lnTo>
                <a:lnTo>
                  <a:pt x="236541" y="967692"/>
                </a:lnTo>
                <a:lnTo>
                  <a:pt x="199205" y="955870"/>
                </a:lnTo>
                <a:lnTo>
                  <a:pt x="133340" y="930861"/>
                </a:lnTo>
                <a:lnTo>
                  <a:pt x="80000" y="904164"/>
                </a:lnTo>
                <a:lnTo>
                  <a:pt x="40129" y="875934"/>
                </a:lnTo>
                <a:lnTo>
                  <a:pt x="14668" y="846328"/>
                </a:lnTo>
                <a:lnTo>
                  <a:pt x="4862" y="808454"/>
                </a:lnTo>
                <a:lnTo>
                  <a:pt x="9343" y="789744"/>
                </a:lnTo>
                <a:lnTo>
                  <a:pt x="36353" y="753086"/>
                </a:lnTo>
                <a:lnTo>
                  <a:pt x="86470" y="717846"/>
                </a:lnTo>
                <a:lnTo>
                  <a:pt x="158544" y="684514"/>
                </a:lnTo>
                <a:lnTo>
                  <a:pt x="202455" y="668715"/>
                </a:lnTo>
                <a:lnTo>
                  <a:pt x="251425" y="653576"/>
                </a:lnTo>
                <a:lnTo>
                  <a:pt x="305310" y="639158"/>
                </a:lnTo>
                <a:lnTo>
                  <a:pt x="363965" y="625521"/>
                </a:lnTo>
                <a:lnTo>
                  <a:pt x="427247" y="612727"/>
                </a:lnTo>
                <a:lnTo>
                  <a:pt x="495013" y="600836"/>
                </a:lnTo>
                <a:lnTo>
                  <a:pt x="567118" y="589910"/>
                </a:lnTo>
                <a:lnTo>
                  <a:pt x="643420" y="58000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726438" y="4995798"/>
            <a:ext cx="1557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元语言符号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4939" y="17257"/>
            <a:ext cx="8776335" cy="437388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语言的语法和语义</a:t>
            </a:r>
            <a:endParaRPr sz="2000">
              <a:latin typeface="宋体"/>
              <a:cs typeface="宋体"/>
            </a:endParaRPr>
          </a:p>
          <a:p>
            <a:pPr marL="713105" indent="-300990">
              <a:lnSpc>
                <a:spcPct val="100000"/>
              </a:lnSpc>
              <a:spcBef>
                <a:spcPts val="1630"/>
              </a:spcBef>
              <a:buClr>
                <a:srgbClr val="66FFFF"/>
              </a:buClr>
              <a:buSzPct val="128571"/>
              <a:buFont typeface="Wingdings"/>
              <a:buChar char=""/>
              <a:tabLst>
                <a:tab pos="71374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巴科斯─诺尔范式（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Backus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─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Naur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Form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）表示法</a:t>
            </a:r>
            <a:endParaRPr sz="2800">
              <a:latin typeface="宋体"/>
              <a:cs typeface="宋体"/>
            </a:endParaRPr>
          </a:p>
          <a:p>
            <a:pPr marL="2191385">
              <a:lnSpc>
                <a:spcPct val="100000"/>
              </a:lnSpc>
              <a:spcBef>
                <a:spcPts val="944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，简称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BNF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679450">
              <a:lnSpc>
                <a:spcPct val="100000"/>
              </a:lnSpc>
              <a:spcBef>
                <a:spcPts val="975"/>
              </a:spcBef>
              <a:tabLst>
                <a:tab pos="1327150" algn="l"/>
              </a:tabLst>
            </a:pPr>
            <a:r>
              <a:rPr dirty="0" sz="2800" spc="-15" b="1">
                <a:solidFill>
                  <a:srgbClr val="FF7777"/>
                </a:solidFill>
                <a:latin typeface="宋体"/>
                <a:cs typeface="宋体"/>
              </a:rPr>
              <a:t>〈	</a:t>
            </a:r>
            <a:r>
              <a:rPr dirty="0" sz="2800" b="1">
                <a:solidFill>
                  <a:srgbClr val="FF7777"/>
                </a:solidFill>
                <a:latin typeface="宋体"/>
                <a:cs typeface="宋体"/>
              </a:rPr>
              <a:t>〉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表示语法成分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946150">
              <a:lnSpc>
                <a:spcPct val="100000"/>
              </a:lnSpc>
              <a:spcBef>
                <a:spcPts val="844"/>
              </a:spcBef>
              <a:tabLst>
                <a:tab pos="1682114" algn="l"/>
              </a:tabLst>
            </a:pPr>
            <a:r>
              <a:rPr dirty="0" sz="2800" spc="-5" b="1">
                <a:solidFill>
                  <a:srgbClr val="FF7777"/>
                </a:solidFill>
                <a:latin typeface="Times New Roman"/>
                <a:cs typeface="Times New Roman"/>
              </a:rPr>
              <a:t>→	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（通常也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-6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7777"/>
                </a:solidFill>
                <a:latin typeface="Times New Roman"/>
                <a:cs typeface="Times New Roman"/>
              </a:rPr>
              <a:t>::=</a:t>
            </a:r>
            <a:r>
              <a:rPr dirty="0" sz="2800" b="1">
                <a:solidFill>
                  <a:srgbClr val="FF7777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）表示“定义为”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由</a:t>
            </a:r>
            <a:endParaRPr sz="2800">
              <a:latin typeface="宋体"/>
              <a:cs typeface="宋体"/>
            </a:endParaRPr>
          </a:p>
          <a:p>
            <a:pPr marL="2199005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组合成”的含义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746250" marR="175895" indent="-788670">
              <a:lnSpc>
                <a:spcPts val="4200"/>
              </a:lnSpc>
              <a:spcBef>
                <a:spcPts val="280"/>
              </a:spcBef>
              <a:tabLst>
                <a:tab pos="1506855" algn="l"/>
              </a:tabLst>
            </a:pPr>
            <a:r>
              <a:rPr dirty="0" sz="2800" spc="-5" b="1">
                <a:solidFill>
                  <a:srgbClr val="FF7777"/>
                </a:solidFill>
                <a:latin typeface="Times New Roman"/>
                <a:cs typeface="Times New Roman"/>
              </a:rPr>
              <a:t>|	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或”的含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。表示具有相同左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部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生规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则可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”分开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07794" y="2630830"/>
            <a:ext cx="5016500" cy="346138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〈句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子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〈主语〉〈谓语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〈主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〈形容词〉〈名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词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〈谓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〈动词〉〈宾语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〈宾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〈形容词〉〈名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词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〈形容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词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2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小</a:t>
            </a:r>
            <a:r>
              <a:rPr dirty="0" sz="2800" spc="-7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大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〈名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词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1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八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哥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花生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〈动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词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→</a:t>
            </a:r>
            <a:r>
              <a:rPr dirty="0" sz="2800" spc="1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吃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4642" y="804748"/>
            <a:ext cx="8321675" cy="146748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71625" algn="l"/>
              </a:tabLst>
            </a:pPr>
            <a:r>
              <a:rPr dirty="0" sz="3200" spc="-5">
                <a:solidFill>
                  <a:srgbClr val="B0FFFF"/>
                </a:solidFill>
                <a:latin typeface="宋体"/>
                <a:cs typeface="宋体"/>
              </a:rPr>
              <a:t>例</a:t>
            </a:r>
            <a:r>
              <a:rPr dirty="0" sz="3200">
                <a:solidFill>
                  <a:srgbClr val="B0FFFF"/>
                </a:solidFill>
                <a:latin typeface="Times New Roman"/>
                <a:cs typeface="Times New Roman"/>
              </a:rPr>
              <a:t>2.1</a:t>
            </a:r>
            <a:r>
              <a:rPr dirty="0" sz="3200" spc="-15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B0FFFF"/>
                </a:solidFill>
                <a:latin typeface="Times New Roman"/>
                <a:cs typeface="Times New Roman"/>
              </a:rPr>
              <a:t>:	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分析汉语句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子</a:t>
            </a:r>
            <a:r>
              <a:rPr dirty="0" sz="3200" spc="-5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“小八哥吃大花生”。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>
              <a:latin typeface="宋体"/>
              <a:cs typeface="宋体"/>
            </a:endParaRPr>
          </a:p>
          <a:p>
            <a:pPr marL="174625">
              <a:lnSpc>
                <a:spcPct val="100000"/>
              </a:lnSpc>
            </a:pPr>
            <a:r>
              <a:rPr dirty="0" sz="3200">
                <a:latin typeface="宋体"/>
                <a:cs typeface="宋体"/>
              </a:rPr>
              <a:t>下面列出汉语语法规则</a:t>
            </a:r>
            <a:r>
              <a:rPr dirty="0" sz="3200" spc="-10">
                <a:latin typeface="宋体"/>
                <a:cs typeface="宋体"/>
              </a:rPr>
              <a:t>中</a:t>
            </a:r>
            <a:r>
              <a:rPr dirty="0" sz="3200">
                <a:latin typeface="宋体"/>
                <a:cs typeface="宋体"/>
              </a:rPr>
              <a:t>的其中</a:t>
            </a:r>
            <a:r>
              <a:rPr dirty="0" sz="3200" spc="-10">
                <a:latin typeface="宋体"/>
                <a:cs typeface="宋体"/>
              </a:rPr>
              <a:t>七</a:t>
            </a:r>
            <a:r>
              <a:rPr dirty="0" sz="3200">
                <a:latin typeface="宋体"/>
                <a:cs typeface="宋体"/>
              </a:rPr>
              <a:t>条规</a:t>
            </a:r>
            <a:r>
              <a:rPr dirty="0" sz="3200" spc="-10">
                <a:latin typeface="宋体"/>
                <a:cs typeface="宋体"/>
              </a:rPr>
              <a:t>则：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1674" y="2458973"/>
            <a:ext cx="7028815" cy="3828415"/>
          </a:xfrm>
          <a:custGeom>
            <a:avLst/>
            <a:gdLst/>
            <a:ahLst/>
            <a:cxnLst/>
            <a:rect l="l" t="t" r="r" b="b"/>
            <a:pathLst>
              <a:path w="7028815" h="3828415">
                <a:moveTo>
                  <a:pt x="0" y="3828288"/>
                </a:moveTo>
                <a:lnTo>
                  <a:pt x="7028688" y="3828288"/>
                </a:lnTo>
                <a:lnTo>
                  <a:pt x="7028688" y="0"/>
                </a:lnTo>
                <a:lnTo>
                  <a:pt x="0" y="0"/>
                </a:lnTo>
                <a:lnTo>
                  <a:pt x="0" y="3828288"/>
                </a:lnTo>
                <a:close/>
              </a:path>
            </a:pathLst>
          </a:custGeom>
          <a:ln w="38100">
            <a:solidFill>
              <a:srgbClr val="99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4939" y="72644"/>
            <a:ext cx="87763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语言的语法和语义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8436" y="6583171"/>
            <a:ext cx="7372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05177" y="6278067"/>
            <a:ext cx="60890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1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语句“小八哥吃大花生”分析</a:t>
            </a:r>
            <a:r>
              <a:rPr dirty="0" u="heavy" sz="280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的</a:t>
            </a:r>
            <a:r>
              <a:rPr dirty="0" u="heavy" sz="2800" spc="-1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分析树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726" y="1349502"/>
            <a:ext cx="640080" cy="3327400"/>
          </a:xfrm>
          <a:prstGeom prst="rect">
            <a:avLst/>
          </a:prstGeom>
          <a:ln w="28575">
            <a:solidFill>
              <a:srgbClr val="FFFF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3450">
              <a:latin typeface="Times New Roman"/>
              <a:cs typeface="Times New Roman"/>
            </a:endParaRPr>
          </a:p>
          <a:p>
            <a:pPr marL="150495">
              <a:lnSpc>
                <a:spcPct val="100000"/>
              </a:lnSpc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上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>
              <a:latin typeface="宋体"/>
              <a:cs typeface="宋体"/>
            </a:endParaRPr>
          </a:p>
          <a:p>
            <a:pPr marL="150495">
              <a:lnSpc>
                <a:spcPct val="100000"/>
              </a:lnSpc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3575" y="2518410"/>
            <a:ext cx="85725" cy="917575"/>
          </a:xfrm>
          <a:custGeom>
            <a:avLst/>
            <a:gdLst/>
            <a:ahLst/>
            <a:cxnLst/>
            <a:rect l="l" t="t" r="r" b="b"/>
            <a:pathLst>
              <a:path w="85725" h="917575">
                <a:moveTo>
                  <a:pt x="28575" y="831723"/>
                </a:moveTo>
                <a:lnTo>
                  <a:pt x="0" y="831723"/>
                </a:lnTo>
                <a:lnTo>
                  <a:pt x="42862" y="917448"/>
                </a:lnTo>
                <a:lnTo>
                  <a:pt x="78612" y="845947"/>
                </a:lnTo>
                <a:lnTo>
                  <a:pt x="28575" y="845947"/>
                </a:lnTo>
                <a:lnTo>
                  <a:pt x="28575" y="831723"/>
                </a:lnTo>
                <a:close/>
              </a:path>
              <a:path w="85725" h="917575">
                <a:moveTo>
                  <a:pt x="57150" y="0"/>
                </a:moveTo>
                <a:lnTo>
                  <a:pt x="28575" y="0"/>
                </a:lnTo>
                <a:lnTo>
                  <a:pt x="28575" y="845947"/>
                </a:lnTo>
                <a:lnTo>
                  <a:pt x="57150" y="845947"/>
                </a:lnTo>
                <a:lnTo>
                  <a:pt x="57150" y="0"/>
                </a:lnTo>
                <a:close/>
              </a:path>
              <a:path w="85725" h="917575">
                <a:moveTo>
                  <a:pt x="85725" y="831723"/>
                </a:moveTo>
                <a:lnTo>
                  <a:pt x="57150" y="831723"/>
                </a:lnTo>
                <a:lnTo>
                  <a:pt x="57150" y="845947"/>
                </a:lnTo>
                <a:lnTo>
                  <a:pt x="78612" y="845947"/>
                </a:lnTo>
                <a:lnTo>
                  <a:pt x="85725" y="83172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262121" y="882472"/>
            <a:ext cx="14509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〈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句子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68929" y="1447038"/>
            <a:ext cx="788035" cy="462280"/>
          </a:xfrm>
          <a:custGeom>
            <a:avLst/>
            <a:gdLst/>
            <a:ahLst/>
            <a:cxnLst/>
            <a:rect l="l" t="t" r="r" b="b"/>
            <a:pathLst>
              <a:path w="788035" h="462280">
                <a:moveTo>
                  <a:pt x="787907" y="0"/>
                </a:moveTo>
                <a:lnTo>
                  <a:pt x="0" y="46177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27753" y="1447038"/>
            <a:ext cx="944880" cy="462280"/>
          </a:xfrm>
          <a:custGeom>
            <a:avLst/>
            <a:gdLst/>
            <a:ahLst/>
            <a:cxnLst/>
            <a:rect l="l" t="t" r="r" b="b"/>
            <a:pathLst>
              <a:path w="944879" h="462280">
                <a:moveTo>
                  <a:pt x="0" y="0"/>
                </a:moveTo>
                <a:lnTo>
                  <a:pt x="944880" y="461772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99920" y="1887981"/>
            <a:ext cx="14509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〈主语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6051" y="1849881"/>
            <a:ext cx="14509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〈谓语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22526" y="2411729"/>
            <a:ext cx="474345" cy="462280"/>
          </a:xfrm>
          <a:custGeom>
            <a:avLst/>
            <a:gdLst/>
            <a:ahLst/>
            <a:cxnLst/>
            <a:rect l="l" t="t" r="r" b="b"/>
            <a:pathLst>
              <a:path w="474344" h="462280">
                <a:moveTo>
                  <a:pt x="473963" y="0"/>
                </a:moveTo>
                <a:lnTo>
                  <a:pt x="0" y="46177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10433" y="2411729"/>
            <a:ext cx="315595" cy="462280"/>
          </a:xfrm>
          <a:custGeom>
            <a:avLst/>
            <a:gdLst/>
            <a:ahLst/>
            <a:cxnLst/>
            <a:rect l="l" t="t" r="r" b="b"/>
            <a:pathLst>
              <a:path w="315594" h="462280">
                <a:moveTo>
                  <a:pt x="0" y="0"/>
                </a:moveTo>
                <a:lnTo>
                  <a:pt x="315468" y="46177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04053" y="2411729"/>
            <a:ext cx="317500" cy="411480"/>
          </a:xfrm>
          <a:custGeom>
            <a:avLst/>
            <a:gdLst/>
            <a:ahLst/>
            <a:cxnLst/>
            <a:rect l="l" t="t" r="r" b="b"/>
            <a:pathLst>
              <a:path w="317500" h="411480">
                <a:moveTo>
                  <a:pt x="316992" y="0"/>
                </a:moveTo>
                <a:lnTo>
                  <a:pt x="0" y="41148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703570" y="2411729"/>
            <a:ext cx="472440" cy="411480"/>
          </a:xfrm>
          <a:custGeom>
            <a:avLst/>
            <a:gdLst/>
            <a:ahLst/>
            <a:cxnLst/>
            <a:rect l="l" t="t" r="r" b="b"/>
            <a:pathLst>
              <a:path w="472439" h="411480">
                <a:moveTo>
                  <a:pt x="0" y="0"/>
                </a:moveTo>
                <a:lnTo>
                  <a:pt x="472439" y="41148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93191" y="2900883"/>
            <a:ext cx="47313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〈形容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-805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r>
              <a:rPr dirty="0" baseline="-2976" sz="4200" spc="-15" b="1">
                <a:solidFill>
                  <a:srgbClr val="FFFFFF"/>
                </a:solidFill>
                <a:latin typeface="宋体"/>
                <a:cs typeface="宋体"/>
              </a:rPr>
              <a:t>〈名词</a:t>
            </a:r>
            <a:r>
              <a:rPr dirty="0" baseline="-2976" sz="4200" spc="-22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r>
              <a:rPr dirty="0" baseline="-2976" sz="4200" spc="-187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1984" sz="4200" spc="-7" b="1">
                <a:solidFill>
                  <a:srgbClr val="FFFFFF"/>
                </a:solidFill>
                <a:latin typeface="宋体"/>
                <a:cs typeface="宋体"/>
              </a:rPr>
              <a:t>〈</a:t>
            </a:r>
            <a:r>
              <a:rPr dirty="0" baseline="1984" sz="4200" spc="-15" b="1">
                <a:solidFill>
                  <a:srgbClr val="FFFFFF"/>
                </a:solidFill>
                <a:latin typeface="宋体"/>
                <a:cs typeface="宋体"/>
              </a:rPr>
              <a:t>动词</a:t>
            </a:r>
            <a:r>
              <a:rPr dirty="0" baseline="1984" sz="4200" spc="-22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baseline="1984" sz="42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64529" y="2867355"/>
            <a:ext cx="14509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〈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宾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44217" y="3420617"/>
            <a:ext cx="0" cy="551815"/>
          </a:xfrm>
          <a:custGeom>
            <a:avLst/>
            <a:gdLst/>
            <a:ahLst/>
            <a:cxnLst/>
            <a:rect l="l" t="t" r="r" b="b"/>
            <a:pathLst>
              <a:path w="0" h="551814">
                <a:moveTo>
                  <a:pt x="0" y="0"/>
                </a:moveTo>
                <a:lnTo>
                  <a:pt x="0" y="55168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20444" y="4014342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84398" y="3403853"/>
            <a:ext cx="0" cy="553720"/>
          </a:xfrm>
          <a:custGeom>
            <a:avLst/>
            <a:gdLst/>
            <a:ahLst/>
            <a:cxnLst/>
            <a:rect l="l" t="t" r="r" b="b"/>
            <a:pathLst>
              <a:path w="0" h="553720">
                <a:moveTo>
                  <a:pt x="0" y="0"/>
                </a:moveTo>
                <a:lnTo>
                  <a:pt x="0" y="55321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831973" y="4025265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八哥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735829" y="3445002"/>
            <a:ext cx="0" cy="451484"/>
          </a:xfrm>
          <a:custGeom>
            <a:avLst/>
            <a:gdLst/>
            <a:ahLst/>
            <a:cxnLst/>
            <a:rect l="l" t="t" r="r" b="b"/>
            <a:pathLst>
              <a:path w="0" h="451485">
                <a:moveTo>
                  <a:pt x="0" y="0"/>
                </a:moveTo>
                <a:lnTo>
                  <a:pt x="0" y="451104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33666" y="4478273"/>
            <a:ext cx="0" cy="551815"/>
          </a:xfrm>
          <a:custGeom>
            <a:avLst/>
            <a:gdLst/>
            <a:ahLst/>
            <a:cxnLst/>
            <a:rect l="l" t="t" r="r" b="b"/>
            <a:pathLst>
              <a:path w="0" h="551814">
                <a:moveTo>
                  <a:pt x="0" y="0"/>
                </a:moveTo>
                <a:lnTo>
                  <a:pt x="0" y="55168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855332" y="5144770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花生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833109" y="3431285"/>
            <a:ext cx="471170" cy="462280"/>
          </a:xfrm>
          <a:custGeom>
            <a:avLst/>
            <a:gdLst/>
            <a:ahLst/>
            <a:cxnLst/>
            <a:rect l="l" t="t" r="r" b="b"/>
            <a:pathLst>
              <a:path w="471170" h="462279">
                <a:moveTo>
                  <a:pt x="470915" y="0"/>
                </a:moveTo>
                <a:lnTo>
                  <a:pt x="0" y="461771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621018" y="3431285"/>
            <a:ext cx="314325" cy="462280"/>
          </a:xfrm>
          <a:custGeom>
            <a:avLst/>
            <a:gdLst/>
            <a:ahLst/>
            <a:cxnLst/>
            <a:rect l="l" t="t" r="r" b="b"/>
            <a:pathLst>
              <a:path w="314325" h="462279">
                <a:moveTo>
                  <a:pt x="0" y="0"/>
                </a:moveTo>
                <a:lnTo>
                  <a:pt x="313943" y="461771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483353" y="3999687"/>
            <a:ext cx="34683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7936" sz="4200" spc="-794" b="1">
                <a:solidFill>
                  <a:srgbClr val="FFFFFF"/>
                </a:solidFill>
                <a:latin typeface="宋体"/>
                <a:cs typeface="宋体"/>
              </a:rPr>
              <a:t>吃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〈形容词</a:t>
            </a:r>
            <a:r>
              <a:rPr dirty="0" sz="2800" spc="-844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r>
              <a:rPr dirty="0" baseline="2976" sz="4200" spc="-7" b="1">
                <a:solidFill>
                  <a:srgbClr val="FFFFFF"/>
                </a:solidFill>
                <a:latin typeface="宋体"/>
                <a:cs typeface="宋体"/>
              </a:rPr>
              <a:t>〈名词</a:t>
            </a:r>
            <a:r>
              <a:rPr dirty="0" baseline="2976" sz="4200" spc="-22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baseline="2976" sz="42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703570" y="4505705"/>
            <a:ext cx="0" cy="553720"/>
          </a:xfrm>
          <a:custGeom>
            <a:avLst/>
            <a:gdLst/>
            <a:ahLst/>
            <a:cxnLst/>
            <a:rect l="l" t="t" r="r" b="b"/>
            <a:pathLst>
              <a:path w="0" h="553720">
                <a:moveTo>
                  <a:pt x="0" y="0"/>
                </a:moveTo>
                <a:lnTo>
                  <a:pt x="0" y="55321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514594" y="5095189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96517" y="3827526"/>
            <a:ext cx="4154804" cy="848994"/>
          </a:xfrm>
          <a:custGeom>
            <a:avLst/>
            <a:gdLst/>
            <a:ahLst/>
            <a:cxnLst/>
            <a:rect l="l" t="t" r="r" b="b"/>
            <a:pathLst>
              <a:path w="4154804" h="848995">
                <a:moveTo>
                  <a:pt x="0" y="424434"/>
                </a:moveTo>
                <a:lnTo>
                  <a:pt x="11669" y="379172"/>
                </a:lnTo>
                <a:lnTo>
                  <a:pt x="45886" y="335287"/>
                </a:lnTo>
                <a:lnTo>
                  <a:pt x="80637" y="306915"/>
                </a:lnTo>
                <a:lnTo>
                  <a:pt x="124531" y="279334"/>
                </a:lnTo>
                <a:lnTo>
                  <a:pt x="177216" y="252616"/>
                </a:lnTo>
                <a:lnTo>
                  <a:pt x="238340" y="226833"/>
                </a:lnTo>
                <a:lnTo>
                  <a:pt x="307552" y="202056"/>
                </a:lnTo>
                <a:lnTo>
                  <a:pt x="345081" y="190068"/>
                </a:lnTo>
                <a:lnTo>
                  <a:pt x="384500" y="178358"/>
                </a:lnTo>
                <a:lnTo>
                  <a:pt x="425765" y="166935"/>
                </a:lnTo>
                <a:lnTo>
                  <a:pt x="468833" y="155810"/>
                </a:lnTo>
                <a:lnTo>
                  <a:pt x="513658" y="144989"/>
                </a:lnTo>
                <a:lnTo>
                  <a:pt x="560198" y="134483"/>
                </a:lnTo>
                <a:lnTo>
                  <a:pt x="608409" y="124301"/>
                </a:lnTo>
                <a:lnTo>
                  <a:pt x="658246" y="114451"/>
                </a:lnTo>
                <a:lnTo>
                  <a:pt x="709665" y="104942"/>
                </a:lnTo>
                <a:lnTo>
                  <a:pt x="762623" y="95783"/>
                </a:lnTo>
                <a:lnTo>
                  <a:pt x="817076" y="86984"/>
                </a:lnTo>
                <a:lnTo>
                  <a:pt x="872979" y="78553"/>
                </a:lnTo>
                <a:lnTo>
                  <a:pt x="930289" y="70500"/>
                </a:lnTo>
                <a:lnTo>
                  <a:pt x="988962" y="62832"/>
                </a:lnTo>
                <a:lnTo>
                  <a:pt x="1048953" y="55560"/>
                </a:lnTo>
                <a:lnTo>
                  <a:pt x="1110220" y="48692"/>
                </a:lnTo>
                <a:lnTo>
                  <a:pt x="1172718" y="42237"/>
                </a:lnTo>
                <a:lnTo>
                  <a:pt x="1236402" y="36204"/>
                </a:lnTo>
                <a:lnTo>
                  <a:pt x="1301230" y="30602"/>
                </a:lnTo>
                <a:lnTo>
                  <a:pt x="1367157" y="25441"/>
                </a:lnTo>
                <a:lnTo>
                  <a:pt x="1434139" y="20728"/>
                </a:lnTo>
                <a:lnTo>
                  <a:pt x="1502132" y="16473"/>
                </a:lnTo>
                <a:lnTo>
                  <a:pt x="1571093" y="12686"/>
                </a:lnTo>
                <a:lnTo>
                  <a:pt x="1640977" y="9374"/>
                </a:lnTo>
                <a:lnTo>
                  <a:pt x="1711740" y="6547"/>
                </a:lnTo>
                <a:lnTo>
                  <a:pt x="1783339" y="4214"/>
                </a:lnTo>
                <a:lnTo>
                  <a:pt x="1855730" y="2383"/>
                </a:lnTo>
                <a:lnTo>
                  <a:pt x="1928868" y="1065"/>
                </a:lnTo>
                <a:lnTo>
                  <a:pt x="2002710" y="267"/>
                </a:lnTo>
                <a:lnTo>
                  <a:pt x="2077212" y="0"/>
                </a:lnTo>
                <a:lnTo>
                  <a:pt x="2151713" y="267"/>
                </a:lnTo>
                <a:lnTo>
                  <a:pt x="2225555" y="1065"/>
                </a:lnTo>
                <a:lnTo>
                  <a:pt x="2298693" y="2383"/>
                </a:lnTo>
                <a:lnTo>
                  <a:pt x="2371084" y="4214"/>
                </a:lnTo>
                <a:lnTo>
                  <a:pt x="2442683" y="6547"/>
                </a:lnTo>
                <a:lnTo>
                  <a:pt x="2513446" y="9374"/>
                </a:lnTo>
                <a:lnTo>
                  <a:pt x="2583330" y="12686"/>
                </a:lnTo>
                <a:lnTo>
                  <a:pt x="2652291" y="16473"/>
                </a:lnTo>
                <a:lnTo>
                  <a:pt x="2720284" y="20728"/>
                </a:lnTo>
                <a:lnTo>
                  <a:pt x="2787266" y="25441"/>
                </a:lnTo>
                <a:lnTo>
                  <a:pt x="2853193" y="30602"/>
                </a:lnTo>
                <a:lnTo>
                  <a:pt x="2918021" y="36204"/>
                </a:lnTo>
                <a:lnTo>
                  <a:pt x="2981705" y="42237"/>
                </a:lnTo>
                <a:lnTo>
                  <a:pt x="3044203" y="48692"/>
                </a:lnTo>
                <a:lnTo>
                  <a:pt x="3105470" y="55560"/>
                </a:lnTo>
                <a:lnTo>
                  <a:pt x="3165461" y="62832"/>
                </a:lnTo>
                <a:lnTo>
                  <a:pt x="3224134" y="70500"/>
                </a:lnTo>
                <a:lnTo>
                  <a:pt x="3281444" y="78553"/>
                </a:lnTo>
                <a:lnTo>
                  <a:pt x="3337347" y="86984"/>
                </a:lnTo>
                <a:lnTo>
                  <a:pt x="3391800" y="95783"/>
                </a:lnTo>
                <a:lnTo>
                  <a:pt x="3444758" y="104942"/>
                </a:lnTo>
                <a:lnTo>
                  <a:pt x="3496177" y="114451"/>
                </a:lnTo>
                <a:lnTo>
                  <a:pt x="3546014" y="124301"/>
                </a:lnTo>
                <a:lnTo>
                  <a:pt x="3594225" y="134483"/>
                </a:lnTo>
                <a:lnTo>
                  <a:pt x="3640765" y="144989"/>
                </a:lnTo>
                <a:lnTo>
                  <a:pt x="3685590" y="155810"/>
                </a:lnTo>
                <a:lnTo>
                  <a:pt x="3728658" y="166935"/>
                </a:lnTo>
                <a:lnTo>
                  <a:pt x="3769923" y="178358"/>
                </a:lnTo>
                <a:lnTo>
                  <a:pt x="3809342" y="190068"/>
                </a:lnTo>
                <a:lnTo>
                  <a:pt x="3846871" y="202056"/>
                </a:lnTo>
                <a:lnTo>
                  <a:pt x="3916083" y="226833"/>
                </a:lnTo>
                <a:lnTo>
                  <a:pt x="3977207" y="252616"/>
                </a:lnTo>
                <a:lnTo>
                  <a:pt x="4029892" y="279334"/>
                </a:lnTo>
                <a:lnTo>
                  <a:pt x="4073786" y="306915"/>
                </a:lnTo>
                <a:lnTo>
                  <a:pt x="4108537" y="335287"/>
                </a:lnTo>
                <a:lnTo>
                  <a:pt x="4133795" y="364379"/>
                </a:lnTo>
                <a:lnTo>
                  <a:pt x="4153112" y="409208"/>
                </a:lnTo>
                <a:lnTo>
                  <a:pt x="4154424" y="424434"/>
                </a:lnTo>
                <a:lnTo>
                  <a:pt x="4153112" y="439659"/>
                </a:lnTo>
                <a:lnTo>
                  <a:pt x="4133795" y="484488"/>
                </a:lnTo>
                <a:lnTo>
                  <a:pt x="4108537" y="513580"/>
                </a:lnTo>
                <a:lnTo>
                  <a:pt x="4073786" y="541952"/>
                </a:lnTo>
                <a:lnTo>
                  <a:pt x="4029892" y="569533"/>
                </a:lnTo>
                <a:lnTo>
                  <a:pt x="3977207" y="596251"/>
                </a:lnTo>
                <a:lnTo>
                  <a:pt x="3916083" y="622034"/>
                </a:lnTo>
                <a:lnTo>
                  <a:pt x="3846871" y="646811"/>
                </a:lnTo>
                <a:lnTo>
                  <a:pt x="3809342" y="658799"/>
                </a:lnTo>
                <a:lnTo>
                  <a:pt x="3769923" y="670509"/>
                </a:lnTo>
                <a:lnTo>
                  <a:pt x="3728658" y="681932"/>
                </a:lnTo>
                <a:lnTo>
                  <a:pt x="3685590" y="693057"/>
                </a:lnTo>
                <a:lnTo>
                  <a:pt x="3640765" y="703878"/>
                </a:lnTo>
                <a:lnTo>
                  <a:pt x="3594225" y="714384"/>
                </a:lnTo>
                <a:lnTo>
                  <a:pt x="3546014" y="724566"/>
                </a:lnTo>
                <a:lnTo>
                  <a:pt x="3496177" y="734416"/>
                </a:lnTo>
                <a:lnTo>
                  <a:pt x="3444758" y="743925"/>
                </a:lnTo>
                <a:lnTo>
                  <a:pt x="3391800" y="753084"/>
                </a:lnTo>
                <a:lnTo>
                  <a:pt x="3337347" y="761883"/>
                </a:lnTo>
                <a:lnTo>
                  <a:pt x="3281444" y="770314"/>
                </a:lnTo>
                <a:lnTo>
                  <a:pt x="3224134" y="778367"/>
                </a:lnTo>
                <a:lnTo>
                  <a:pt x="3165461" y="786035"/>
                </a:lnTo>
                <a:lnTo>
                  <a:pt x="3105470" y="793307"/>
                </a:lnTo>
                <a:lnTo>
                  <a:pt x="3044203" y="800175"/>
                </a:lnTo>
                <a:lnTo>
                  <a:pt x="2981705" y="806630"/>
                </a:lnTo>
                <a:lnTo>
                  <a:pt x="2918021" y="812663"/>
                </a:lnTo>
                <a:lnTo>
                  <a:pt x="2853193" y="818265"/>
                </a:lnTo>
                <a:lnTo>
                  <a:pt x="2787266" y="823426"/>
                </a:lnTo>
                <a:lnTo>
                  <a:pt x="2720284" y="828139"/>
                </a:lnTo>
                <a:lnTo>
                  <a:pt x="2652291" y="832394"/>
                </a:lnTo>
                <a:lnTo>
                  <a:pt x="2583330" y="836181"/>
                </a:lnTo>
                <a:lnTo>
                  <a:pt x="2513446" y="839493"/>
                </a:lnTo>
                <a:lnTo>
                  <a:pt x="2442683" y="842320"/>
                </a:lnTo>
                <a:lnTo>
                  <a:pt x="2371084" y="844653"/>
                </a:lnTo>
                <a:lnTo>
                  <a:pt x="2298693" y="846484"/>
                </a:lnTo>
                <a:lnTo>
                  <a:pt x="2225555" y="847802"/>
                </a:lnTo>
                <a:lnTo>
                  <a:pt x="2151713" y="848600"/>
                </a:lnTo>
                <a:lnTo>
                  <a:pt x="2077212" y="848868"/>
                </a:lnTo>
                <a:lnTo>
                  <a:pt x="2002710" y="848600"/>
                </a:lnTo>
                <a:lnTo>
                  <a:pt x="1928868" y="847802"/>
                </a:lnTo>
                <a:lnTo>
                  <a:pt x="1855730" y="846484"/>
                </a:lnTo>
                <a:lnTo>
                  <a:pt x="1783339" y="844653"/>
                </a:lnTo>
                <a:lnTo>
                  <a:pt x="1711740" y="842320"/>
                </a:lnTo>
                <a:lnTo>
                  <a:pt x="1640977" y="839493"/>
                </a:lnTo>
                <a:lnTo>
                  <a:pt x="1571093" y="836181"/>
                </a:lnTo>
                <a:lnTo>
                  <a:pt x="1502132" y="832394"/>
                </a:lnTo>
                <a:lnTo>
                  <a:pt x="1434139" y="828139"/>
                </a:lnTo>
                <a:lnTo>
                  <a:pt x="1367157" y="823426"/>
                </a:lnTo>
                <a:lnTo>
                  <a:pt x="1301230" y="818265"/>
                </a:lnTo>
                <a:lnTo>
                  <a:pt x="1236402" y="812663"/>
                </a:lnTo>
                <a:lnTo>
                  <a:pt x="1172718" y="806630"/>
                </a:lnTo>
                <a:lnTo>
                  <a:pt x="1110220" y="800175"/>
                </a:lnTo>
                <a:lnTo>
                  <a:pt x="1048953" y="793307"/>
                </a:lnTo>
                <a:lnTo>
                  <a:pt x="988962" y="786035"/>
                </a:lnTo>
                <a:lnTo>
                  <a:pt x="930289" y="778367"/>
                </a:lnTo>
                <a:lnTo>
                  <a:pt x="872979" y="770314"/>
                </a:lnTo>
                <a:lnTo>
                  <a:pt x="817076" y="761883"/>
                </a:lnTo>
                <a:lnTo>
                  <a:pt x="762623" y="753084"/>
                </a:lnTo>
                <a:lnTo>
                  <a:pt x="709665" y="743925"/>
                </a:lnTo>
                <a:lnTo>
                  <a:pt x="658246" y="734416"/>
                </a:lnTo>
                <a:lnTo>
                  <a:pt x="608409" y="724566"/>
                </a:lnTo>
                <a:lnTo>
                  <a:pt x="560198" y="714384"/>
                </a:lnTo>
                <a:lnTo>
                  <a:pt x="513658" y="703878"/>
                </a:lnTo>
                <a:lnTo>
                  <a:pt x="468833" y="693057"/>
                </a:lnTo>
                <a:lnTo>
                  <a:pt x="425765" y="681932"/>
                </a:lnTo>
                <a:lnTo>
                  <a:pt x="384500" y="670509"/>
                </a:lnTo>
                <a:lnTo>
                  <a:pt x="345081" y="658799"/>
                </a:lnTo>
                <a:lnTo>
                  <a:pt x="307552" y="646811"/>
                </a:lnTo>
                <a:lnTo>
                  <a:pt x="238340" y="622034"/>
                </a:lnTo>
                <a:lnTo>
                  <a:pt x="177216" y="596251"/>
                </a:lnTo>
                <a:lnTo>
                  <a:pt x="124531" y="569533"/>
                </a:lnTo>
                <a:lnTo>
                  <a:pt x="80637" y="541952"/>
                </a:lnTo>
                <a:lnTo>
                  <a:pt x="45886" y="513580"/>
                </a:lnTo>
                <a:lnTo>
                  <a:pt x="20628" y="484488"/>
                </a:lnTo>
                <a:lnTo>
                  <a:pt x="1311" y="439659"/>
                </a:lnTo>
                <a:lnTo>
                  <a:pt x="0" y="424434"/>
                </a:lnTo>
                <a:close/>
              </a:path>
            </a:pathLst>
          </a:custGeom>
          <a:ln w="38099">
            <a:solidFill>
              <a:srgbClr val="FF77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96434" y="5023865"/>
            <a:ext cx="3141345" cy="753110"/>
          </a:xfrm>
          <a:custGeom>
            <a:avLst/>
            <a:gdLst/>
            <a:ahLst/>
            <a:cxnLst/>
            <a:rect l="l" t="t" r="r" b="b"/>
            <a:pathLst>
              <a:path w="3141345" h="753110">
                <a:moveTo>
                  <a:pt x="0" y="376427"/>
                </a:moveTo>
                <a:lnTo>
                  <a:pt x="15157" y="323917"/>
                </a:lnTo>
                <a:lnTo>
                  <a:pt x="41474" y="290115"/>
                </a:lnTo>
                <a:lnTo>
                  <a:pt x="80058" y="257446"/>
                </a:lnTo>
                <a:lnTo>
                  <a:pt x="130306" y="226054"/>
                </a:lnTo>
                <a:lnTo>
                  <a:pt x="191614" y="196084"/>
                </a:lnTo>
                <a:lnTo>
                  <a:pt x="263379" y="167681"/>
                </a:lnTo>
                <a:lnTo>
                  <a:pt x="302995" y="154112"/>
                </a:lnTo>
                <a:lnTo>
                  <a:pt x="344999" y="140989"/>
                </a:lnTo>
                <a:lnTo>
                  <a:pt x="389315" y="128330"/>
                </a:lnTo>
                <a:lnTo>
                  <a:pt x="435869" y="116153"/>
                </a:lnTo>
                <a:lnTo>
                  <a:pt x="484585" y="104477"/>
                </a:lnTo>
                <a:lnTo>
                  <a:pt x="535388" y="93318"/>
                </a:lnTo>
                <a:lnTo>
                  <a:pt x="588201" y="82695"/>
                </a:lnTo>
                <a:lnTo>
                  <a:pt x="642951" y="72627"/>
                </a:lnTo>
                <a:lnTo>
                  <a:pt x="699561" y="63132"/>
                </a:lnTo>
                <a:lnTo>
                  <a:pt x="757955" y="54226"/>
                </a:lnTo>
                <a:lnTo>
                  <a:pt x="818060" y="45930"/>
                </a:lnTo>
                <a:lnTo>
                  <a:pt x="879798" y="38259"/>
                </a:lnTo>
                <a:lnTo>
                  <a:pt x="943096" y="31234"/>
                </a:lnTo>
                <a:lnTo>
                  <a:pt x="1007877" y="24871"/>
                </a:lnTo>
                <a:lnTo>
                  <a:pt x="1074066" y="19190"/>
                </a:lnTo>
                <a:lnTo>
                  <a:pt x="1141588" y="14207"/>
                </a:lnTo>
                <a:lnTo>
                  <a:pt x="1210367" y="9941"/>
                </a:lnTo>
                <a:lnTo>
                  <a:pt x="1280327" y="6410"/>
                </a:lnTo>
                <a:lnTo>
                  <a:pt x="1351395" y="3633"/>
                </a:lnTo>
                <a:lnTo>
                  <a:pt x="1423493" y="1626"/>
                </a:lnTo>
                <a:lnTo>
                  <a:pt x="1496547" y="409"/>
                </a:lnTo>
                <a:lnTo>
                  <a:pt x="1570482" y="0"/>
                </a:lnTo>
                <a:lnTo>
                  <a:pt x="1644416" y="409"/>
                </a:lnTo>
                <a:lnTo>
                  <a:pt x="1717470" y="1626"/>
                </a:lnTo>
                <a:lnTo>
                  <a:pt x="1789568" y="3633"/>
                </a:lnTo>
                <a:lnTo>
                  <a:pt x="1860636" y="6410"/>
                </a:lnTo>
                <a:lnTo>
                  <a:pt x="1930596" y="9941"/>
                </a:lnTo>
                <a:lnTo>
                  <a:pt x="1999375" y="14207"/>
                </a:lnTo>
                <a:lnTo>
                  <a:pt x="2066897" y="19190"/>
                </a:lnTo>
                <a:lnTo>
                  <a:pt x="2133086" y="24871"/>
                </a:lnTo>
                <a:lnTo>
                  <a:pt x="2197867" y="31234"/>
                </a:lnTo>
                <a:lnTo>
                  <a:pt x="2261165" y="38259"/>
                </a:lnTo>
                <a:lnTo>
                  <a:pt x="2322903" y="45930"/>
                </a:lnTo>
                <a:lnTo>
                  <a:pt x="2383008" y="54226"/>
                </a:lnTo>
                <a:lnTo>
                  <a:pt x="2441402" y="63132"/>
                </a:lnTo>
                <a:lnTo>
                  <a:pt x="2498012" y="72627"/>
                </a:lnTo>
                <a:lnTo>
                  <a:pt x="2552762" y="82695"/>
                </a:lnTo>
                <a:lnTo>
                  <a:pt x="2605575" y="93318"/>
                </a:lnTo>
                <a:lnTo>
                  <a:pt x="2656378" y="104477"/>
                </a:lnTo>
                <a:lnTo>
                  <a:pt x="2705094" y="116153"/>
                </a:lnTo>
                <a:lnTo>
                  <a:pt x="2751648" y="128330"/>
                </a:lnTo>
                <a:lnTo>
                  <a:pt x="2795964" y="140989"/>
                </a:lnTo>
                <a:lnTo>
                  <a:pt x="2837968" y="154112"/>
                </a:lnTo>
                <a:lnTo>
                  <a:pt x="2877584" y="167681"/>
                </a:lnTo>
                <a:lnTo>
                  <a:pt x="2914736" y="181678"/>
                </a:lnTo>
                <a:lnTo>
                  <a:pt x="2981348" y="210882"/>
                </a:lnTo>
                <a:lnTo>
                  <a:pt x="3037201" y="241581"/>
                </a:lnTo>
                <a:lnTo>
                  <a:pt x="3081692" y="273630"/>
                </a:lnTo>
                <a:lnTo>
                  <a:pt x="3114219" y="306883"/>
                </a:lnTo>
                <a:lnTo>
                  <a:pt x="3134177" y="341197"/>
                </a:lnTo>
                <a:lnTo>
                  <a:pt x="3140964" y="376427"/>
                </a:lnTo>
                <a:lnTo>
                  <a:pt x="3139254" y="394148"/>
                </a:lnTo>
                <a:lnTo>
                  <a:pt x="3114219" y="445972"/>
                </a:lnTo>
                <a:lnTo>
                  <a:pt x="3081692" y="479225"/>
                </a:lnTo>
                <a:lnTo>
                  <a:pt x="3037201" y="511274"/>
                </a:lnTo>
                <a:lnTo>
                  <a:pt x="2981348" y="541973"/>
                </a:lnTo>
                <a:lnTo>
                  <a:pt x="2914736" y="571177"/>
                </a:lnTo>
                <a:lnTo>
                  <a:pt x="2877584" y="585174"/>
                </a:lnTo>
                <a:lnTo>
                  <a:pt x="2837968" y="598743"/>
                </a:lnTo>
                <a:lnTo>
                  <a:pt x="2795964" y="611866"/>
                </a:lnTo>
                <a:lnTo>
                  <a:pt x="2751648" y="624525"/>
                </a:lnTo>
                <a:lnTo>
                  <a:pt x="2705094" y="636702"/>
                </a:lnTo>
                <a:lnTo>
                  <a:pt x="2656378" y="648378"/>
                </a:lnTo>
                <a:lnTo>
                  <a:pt x="2605575" y="659537"/>
                </a:lnTo>
                <a:lnTo>
                  <a:pt x="2552762" y="670160"/>
                </a:lnTo>
                <a:lnTo>
                  <a:pt x="2498012" y="680228"/>
                </a:lnTo>
                <a:lnTo>
                  <a:pt x="2441402" y="689723"/>
                </a:lnTo>
                <a:lnTo>
                  <a:pt x="2383008" y="698629"/>
                </a:lnTo>
                <a:lnTo>
                  <a:pt x="2322903" y="706925"/>
                </a:lnTo>
                <a:lnTo>
                  <a:pt x="2261165" y="714596"/>
                </a:lnTo>
                <a:lnTo>
                  <a:pt x="2197867" y="721621"/>
                </a:lnTo>
                <a:lnTo>
                  <a:pt x="2133086" y="727984"/>
                </a:lnTo>
                <a:lnTo>
                  <a:pt x="2066897" y="733665"/>
                </a:lnTo>
                <a:lnTo>
                  <a:pt x="1999375" y="738648"/>
                </a:lnTo>
                <a:lnTo>
                  <a:pt x="1930596" y="742914"/>
                </a:lnTo>
                <a:lnTo>
                  <a:pt x="1860636" y="746445"/>
                </a:lnTo>
                <a:lnTo>
                  <a:pt x="1789568" y="749222"/>
                </a:lnTo>
                <a:lnTo>
                  <a:pt x="1717470" y="751229"/>
                </a:lnTo>
                <a:lnTo>
                  <a:pt x="1644416" y="752446"/>
                </a:lnTo>
                <a:lnTo>
                  <a:pt x="1570482" y="752855"/>
                </a:lnTo>
                <a:lnTo>
                  <a:pt x="1496547" y="752446"/>
                </a:lnTo>
                <a:lnTo>
                  <a:pt x="1423493" y="751229"/>
                </a:lnTo>
                <a:lnTo>
                  <a:pt x="1351395" y="749222"/>
                </a:lnTo>
                <a:lnTo>
                  <a:pt x="1280327" y="746445"/>
                </a:lnTo>
                <a:lnTo>
                  <a:pt x="1210367" y="742914"/>
                </a:lnTo>
                <a:lnTo>
                  <a:pt x="1141588" y="738648"/>
                </a:lnTo>
                <a:lnTo>
                  <a:pt x="1074066" y="733665"/>
                </a:lnTo>
                <a:lnTo>
                  <a:pt x="1007877" y="727984"/>
                </a:lnTo>
                <a:lnTo>
                  <a:pt x="943096" y="721621"/>
                </a:lnTo>
                <a:lnTo>
                  <a:pt x="879798" y="714596"/>
                </a:lnTo>
                <a:lnTo>
                  <a:pt x="818060" y="706925"/>
                </a:lnTo>
                <a:lnTo>
                  <a:pt x="757955" y="698629"/>
                </a:lnTo>
                <a:lnTo>
                  <a:pt x="699561" y="689723"/>
                </a:lnTo>
                <a:lnTo>
                  <a:pt x="642951" y="680228"/>
                </a:lnTo>
                <a:lnTo>
                  <a:pt x="588201" y="670160"/>
                </a:lnTo>
                <a:lnTo>
                  <a:pt x="535388" y="659537"/>
                </a:lnTo>
                <a:lnTo>
                  <a:pt x="484585" y="648378"/>
                </a:lnTo>
                <a:lnTo>
                  <a:pt x="435869" y="636702"/>
                </a:lnTo>
                <a:lnTo>
                  <a:pt x="389315" y="624525"/>
                </a:lnTo>
                <a:lnTo>
                  <a:pt x="344999" y="611866"/>
                </a:lnTo>
                <a:lnTo>
                  <a:pt x="302995" y="598743"/>
                </a:lnTo>
                <a:lnTo>
                  <a:pt x="263379" y="585174"/>
                </a:lnTo>
                <a:lnTo>
                  <a:pt x="226227" y="571177"/>
                </a:lnTo>
                <a:lnTo>
                  <a:pt x="159615" y="541973"/>
                </a:lnTo>
                <a:lnTo>
                  <a:pt x="103762" y="511274"/>
                </a:lnTo>
                <a:lnTo>
                  <a:pt x="59271" y="479225"/>
                </a:lnTo>
                <a:lnTo>
                  <a:pt x="26744" y="445972"/>
                </a:lnTo>
                <a:lnTo>
                  <a:pt x="6786" y="411658"/>
                </a:lnTo>
                <a:lnTo>
                  <a:pt x="0" y="376427"/>
                </a:lnTo>
                <a:close/>
              </a:path>
            </a:pathLst>
          </a:custGeom>
          <a:ln w="38100">
            <a:solidFill>
              <a:srgbClr val="FF77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语言的语法和语义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355207" y="571627"/>
            <a:ext cx="2677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〈句子〉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〈主语〉〈谓语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55207" y="827659"/>
            <a:ext cx="28816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〈主语〉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〈形容词〉〈名词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55207" y="1108074"/>
            <a:ext cx="2677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〈谓语〉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〈动词〉〈宾语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355207" y="1388186"/>
            <a:ext cx="28822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〈宾语〉</a:t>
            </a:r>
            <a:r>
              <a:rPr dirty="0" sz="1600" spc="-10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词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〉〈名词</a:t>
            </a:r>
            <a:r>
              <a:rPr dirty="0" sz="1600" spc="-1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55207" y="1631975"/>
            <a:ext cx="2063750" cy="866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2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小</a:t>
            </a:r>
            <a:r>
              <a:rPr dirty="0" sz="1600" spc="-409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1600" spc="-1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大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〈名词〉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八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哥</a:t>
            </a:r>
            <a:r>
              <a:rPr dirty="0" sz="1600" spc="-405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1600" spc="-2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花生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〈动词〉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1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吃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396990" y="534162"/>
            <a:ext cx="2748280" cy="2022475"/>
          </a:xfrm>
          <a:custGeom>
            <a:avLst/>
            <a:gdLst/>
            <a:ahLst/>
            <a:cxnLst/>
            <a:rect l="l" t="t" r="r" b="b"/>
            <a:pathLst>
              <a:path w="2748279" h="2022475">
                <a:moveTo>
                  <a:pt x="0" y="2022348"/>
                </a:moveTo>
                <a:lnTo>
                  <a:pt x="2747771" y="2022348"/>
                </a:lnTo>
                <a:lnTo>
                  <a:pt x="2747771" y="0"/>
                </a:lnTo>
                <a:lnTo>
                  <a:pt x="0" y="0"/>
                </a:lnTo>
                <a:lnTo>
                  <a:pt x="0" y="2022348"/>
                </a:lnTo>
                <a:close/>
              </a:path>
            </a:pathLst>
          </a:custGeom>
          <a:ln w="38100">
            <a:solidFill>
              <a:srgbClr val="FF99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5142" y="842848"/>
            <a:ext cx="24104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29687"/>
              <a:buFont typeface="Wingdings"/>
              <a:buChar char=""/>
              <a:tabLst>
                <a:tab pos="355600" algn="l"/>
              </a:tabLst>
            </a:pPr>
            <a:r>
              <a:rPr dirty="0" sz="3200" spc="-5" b="1">
                <a:solidFill>
                  <a:srgbClr val="FFFF66"/>
                </a:solidFill>
                <a:latin typeface="宋体"/>
                <a:cs typeface="宋体"/>
              </a:rPr>
              <a:t>句子的推导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27758" y="1854835"/>
            <a:ext cx="11442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66CCFF"/>
                </a:solidFill>
                <a:latin typeface="宋体"/>
                <a:cs typeface="宋体"/>
              </a:rPr>
              <a:t>句子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41929" y="1854835"/>
            <a:ext cx="27933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-35" b="1">
                <a:solidFill>
                  <a:srgbClr val="FF7777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主语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-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谓语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语言的语法和语义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331077" y="571627"/>
            <a:ext cx="2677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〈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句子〉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〈主语〉〈谓语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31077" y="827659"/>
            <a:ext cx="28822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〈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主语〉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〈形容词〉〈名词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31077" y="1108074"/>
            <a:ext cx="2677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〈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谓语〉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〈动词〉〈宾语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31077" y="1388186"/>
            <a:ext cx="28829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〈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宾语〉</a:t>
            </a:r>
            <a:r>
              <a:rPr dirty="0" sz="1600" spc="-10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〈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名词</a:t>
            </a:r>
            <a:r>
              <a:rPr dirty="0" sz="1600" spc="-1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1077" y="1631975"/>
            <a:ext cx="2063750" cy="866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〈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形容词〉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2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小</a:t>
            </a:r>
            <a:r>
              <a:rPr dirty="0" sz="1600" spc="-409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1600" spc="-1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大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〈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名词〉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八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哥</a:t>
            </a:r>
            <a:r>
              <a:rPr dirty="0" sz="1600" spc="-409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1600" spc="-1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花生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〈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动词〉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1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吃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83273" y="534162"/>
            <a:ext cx="2748280" cy="2022475"/>
          </a:xfrm>
          <a:custGeom>
            <a:avLst/>
            <a:gdLst/>
            <a:ahLst/>
            <a:cxnLst/>
            <a:rect l="l" t="t" r="r" b="b"/>
            <a:pathLst>
              <a:path w="2748279" h="2022475">
                <a:moveTo>
                  <a:pt x="0" y="2022348"/>
                </a:moveTo>
                <a:lnTo>
                  <a:pt x="2747772" y="2022348"/>
                </a:lnTo>
                <a:lnTo>
                  <a:pt x="2747772" y="0"/>
                </a:lnTo>
                <a:lnTo>
                  <a:pt x="0" y="0"/>
                </a:lnTo>
                <a:lnTo>
                  <a:pt x="0" y="2022348"/>
                </a:lnTo>
                <a:close/>
              </a:path>
            </a:pathLst>
          </a:custGeom>
          <a:ln w="38099">
            <a:solidFill>
              <a:srgbClr val="FF99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341626" y="6415784"/>
            <a:ext cx="5018405" cy="38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995"/>
              </a:lnSpc>
            </a:pPr>
            <a:r>
              <a:rPr dirty="0" u="heavy" sz="2800" spc="-5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语句“小八哥吃大花生”的分析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5142" y="842848"/>
            <a:ext cx="24104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29687"/>
              <a:buFont typeface="Wingdings"/>
              <a:buChar char=""/>
              <a:tabLst>
                <a:tab pos="355600" algn="l"/>
              </a:tabLst>
            </a:pPr>
            <a:r>
              <a:rPr dirty="0" sz="3200" spc="-5" b="1">
                <a:solidFill>
                  <a:srgbClr val="FFFF66"/>
                </a:solidFill>
                <a:latin typeface="宋体"/>
                <a:cs typeface="宋体"/>
              </a:rPr>
              <a:t>句子的推导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8557" y="1931035"/>
            <a:ext cx="11442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句子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2854" y="1931035"/>
            <a:ext cx="27933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-35" b="1">
                <a:solidFill>
                  <a:srgbClr val="FF7777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u="heavy" sz="2800" spc="-5" b="1">
                <a:solidFill>
                  <a:srgbClr val="66CCFF"/>
                </a:solidFill>
                <a:uFill>
                  <a:solidFill>
                    <a:srgbClr val="66CCFF"/>
                  </a:solidFill>
                </a:uFill>
                <a:latin typeface="宋体"/>
                <a:cs typeface="宋体"/>
              </a:rPr>
              <a:t>主语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谓语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3898" y="2734436"/>
            <a:ext cx="43599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-20" b="1">
                <a:solidFill>
                  <a:srgbClr val="FF7777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形容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词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名词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谓语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语言的语法和语义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321678" y="571627"/>
            <a:ext cx="2677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〈句子〉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〈主语〉〈谓语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21678" y="827659"/>
            <a:ext cx="28822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〈主语〉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〈形容词〉〈名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词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1678" y="1108074"/>
            <a:ext cx="2677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〈谓语〉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〈动词〉〈宾语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21678" y="1388186"/>
            <a:ext cx="28829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〈宾语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r>
              <a:rPr dirty="0" sz="1600" spc="-10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〈形容词〉〈名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词</a:t>
            </a:r>
            <a:r>
              <a:rPr dirty="0" sz="1600" spc="-1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21678" y="1631975"/>
            <a:ext cx="2063750" cy="866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2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小</a:t>
            </a:r>
            <a:r>
              <a:rPr dirty="0" sz="1600" spc="-409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1600" spc="-1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大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〈名词〉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八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哥</a:t>
            </a:r>
            <a:r>
              <a:rPr dirty="0" sz="1600" spc="-405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1600" spc="-2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花生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〈动词〉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1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吃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72605" y="534162"/>
            <a:ext cx="2748280" cy="2022475"/>
          </a:xfrm>
          <a:custGeom>
            <a:avLst/>
            <a:gdLst/>
            <a:ahLst/>
            <a:cxnLst/>
            <a:rect l="l" t="t" r="r" b="b"/>
            <a:pathLst>
              <a:path w="2748279" h="2022475">
                <a:moveTo>
                  <a:pt x="0" y="2022348"/>
                </a:moveTo>
                <a:lnTo>
                  <a:pt x="2747772" y="2022348"/>
                </a:lnTo>
                <a:lnTo>
                  <a:pt x="2747772" y="0"/>
                </a:lnTo>
                <a:lnTo>
                  <a:pt x="0" y="0"/>
                </a:lnTo>
                <a:lnTo>
                  <a:pt x="0" y="2022348"/>
                </a:lnTo>
                <a:close/>
              </a:path>
            </a:pathLst>
          </a:custGeom>
          <a:ln w="38099">
            <a:solidFill>
              <a:srgbClr val="FF99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341626" y="6415784"/>
            <a:ext cx="5018405" cy="38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995"/>
              </a:lnSpc>
            </a:pPr>
            <a:r>
              <a:rPr dirty="0" u="heavy" sz="2800" spc="-5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语句“小八哥吃大花生”的分析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5142" y="842848"/>
            <a:ext cx="24104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29687"/>
              <a:buFont typeface="Wingdings"/>
              <a:buChar char=""/>
              <a:tabLst>
                <a:tab pos="355600" algn="l"/>
              </a:tabLst>
            </a:pPr>
            <a:r>
              <a:rPr dirty="0" sz="3200" spc="-5" b="1">
                <a:solidFill>
                  <a:srgbClr val="FFFF66"/>
                </a:solidFill>
                <a:latin typeface="宋体"/>
                <a:cs typeface="宋体"/>
              </a:rPr>
              <a:t>句子的推导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7980" y="1873757"/>
            <a:ext cx="11442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句子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32150" y="1873757"/>
            <a:ext cx="27933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-30" b="1">
                <a:solidFill>
                  <a:srgbClr val="FF7777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主语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谓语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41675" y="2712211"/>
            <a:ext cx="4360545" cy="1156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-20" b="1">
                <a:solidFill>
                  <a:srgbClr val="FF7777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u="heavy" sz="2800" spc="-5" b="1">
                <a:solidFill>
                  <a:srgbClr val="66CCFF"/>
                </a:solidFill>
                <a:uFill>
                  <a:solidFill>
                    <a:srgbClr val="66CCFF"/>
                  </a:solidFill>
                </a:uFill>
                <a:latin typeface="宋体"/>
                <a:cs typeface="宋体"/>
              </a:rPr>
              <a:t>形容词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名词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谓语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212725">
              <a:lnSpc>
                <a:spcPct val="100000"/>
              </a:lnSpc>
              <a:spcBef>
                <a:spcPts val="2190"/>
              </a:spcBef>
              <a:tabLst>
                <a:tab pos="2396490" algn="l"/>
              </a:tabLst>
            </a:pPr>
            <a:r>
              <a:rPr dirty="0" sz="2800" spc="-10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5" b="1">
                <a:solidFill>
                  <a:srgbClr val="FF7777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小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名词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	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谓语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语言的语法和语义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321678" y="571627"/>
            <a:ext cx="2677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〈句子〉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〈主语〉〈谓语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21678" y="827659"/>
            <a:ext cx="28822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〈主语〉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〈形容词〉〈名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词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1678" y="1108074"/>
            <a:ext cx="2677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〈谓语〉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〈动词〉〈宾语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21678" y="1388186"/>
            <a:ext cx="28829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〈宾语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r>
              <a:rPr dirty="0" sz="1600" spc="-10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〈形容词〉〈名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词</a:t>
            </a:r>
            <a:r>
              <a:rPr dirty="0" sz="1600" spc="-1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21678" y="1631975"/>
            <a:ext cx="2063750" cy="866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2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小</a:t>
            </a:r>
            <a:r>
              <a:rPr dirty="0" sz="1600" spc="-409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1600" spc="-1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大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〈名词〉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八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哥</a:t>
            </a:r>
            <a:r>
              <a:rPr dirty="0" sz="1600" spc="-405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1600" spc="-2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花生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〈动词〉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1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吃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72605" y="534162"/>
            <a:ext cx="2748280" cy="2022475"/>
          </a:xfrm>
          <a:custGeom>
            <a:avLst/>
            <a:gdLst/>
            <a:ahLst/>
            <a:cxnLst/>
            <a:rect l="l" t="t" r="r" b="b"/>
            <a:pathLst>
              <a:path w="2748279" h="2022475">
                <a:moveTo>
                  <a:pt x="0" y="2022348"/>
                </a:moveTo>
                <a:lnTo>
                  <a:pt x="2747772" y="2022348"/>
                </a:lnTo>
                <a:lnTo>
                  <a:pt x="2747772" y="0"/>
                </a:lnTo>
                <a:lnTo>
                  <a:pt x="0" y="0"/>
                </a:lnTo>
                <a:lnTo>
                  <a:pt x="0" y="2022348"/>
                </a:lnTo>
                <a:close/>
              </a:path>
            </a:pathLst>
          </a:custGeom>
          <a:ln w="38099">
            <a:solidFill>
              <a:srgbClr val="FF99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341626" y="6415784"/>
            <a:ext cx="5018405" cy="38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995"/>
              </a:lnSpc>
            </a:pPr>
            <a:r>
              <a:rPr dirty="0" u="heavy" sz="2800" spc="-5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语句“小八哥吃大花生”的分析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8436" y="6583171"/>
            <a:ext cx="7372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55470" y="2704879"/>
            <a:ext cx="4579620" cy="348361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2800" spc="-5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b="1">
                <a:solidFill>
                  <a:srgbClr val="FF7777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r>
              <a:rPr dirty="0" sz="2800" spc="-7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八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哥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谓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2800" spc="-10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-5" b="1">
                <a:solidFill>
                  <a:srgbClr val="FF7777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r>
              <a:rPr dirty="0" sz="2800" spc="-7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八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哥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宾语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2800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小八哥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吃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宾语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2800" spc="-10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-35" b="1">
                <a:solidFill>
                  <a:srgbClr val="FF7777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小八哥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吃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形容词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名词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2800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小八哥吃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名词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175"/>
              </a:spcBef>
            </a:pPr>
            <a:r>
              <a:rPr dirty="0" sz="2800" spc="5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小八哥吃大花生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语言的语法和语义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54914" y="560273"/>
            <a:ext cx="5960745" cy="2171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8145" indent="-386080">
              <a:lnSpc>
                <a:spcPct val="100000"/>
              </a:lnSpc>
              <a:spcBef>
                <a:spcPts val="100"/>
              </a:spcBef>
              <a:buClr>
                <a:srgbClr val="66FFFF"/>
              </a:buClr>
              <a:buSzPct val="129166"/>
              <a:buFont typeface="Wingdings"/>
              <a:buChar char=""/>
              <a:tabLst>
                <a:tab pos="398780" algn="l"/>
              </a:tabLst>
            </a:pPr>
            <a:r>
              <a:rPr dirty="0" sz="3600" spc="-10" b="1">
                <a:solidFill>
                  <a:srgbClr val="FFFF66"/>
                </a:solidFill>
                <a:latin typeface="宋体"/>
                <a:cs typeface="宋体"/>
              </a:rPr>
              <a:t>句子的推导</a:t>
            </a:r>
            <a:endParaRPr sz="3600">
              <a:latin typeface="宋体"/>
              <a:cs typeface="宋体"/>
            </a:endParaRPr>
          </a:p>
          <a:p>
            <a:pPr marL="431800">
              <a:lnSpc>
                <a:spcPct val="100000"/>
              </a:lnSpc>
              <a:spcBef>
                <a:spcPts val="13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句子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-10" b="1">
                <a:solidFill>
                  <a:srgbClr val="FF7777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主语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谓语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1612900">
              <a:lnSpc>
                <a:spcPct val="100000"/>
              </a:lnSpc>
              <a:spcBef>
                <a:spcPts val="1180"/>
              </a:spcBef>
            </a:pPr>
            <a:r>
              <a:rPr dirty="0" sz="2800" spc="-5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-15" b="1">
                <a:solidFill>
                  <a:srgbClr val="FF7777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形容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 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名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谓语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1612900">
              <a:lnSpc>
                <a:spcPct val="100000"/>
              </a:lnSpc>
              <a:spcBef>
                <a:spcPts val="1175"/>
              </a:spcBef>
              <a:tabLst>
                <a:tab pos="3797300" algn="l"/>
              </a:tabLst>
            </a:pPr>
            <a:r>
              <a:rPr dirty="0" sz="2800" spc="-10" b="1">
                <a:solidFill>
                  <a:srgbClr val="FF7777"/>
                </a:solidFill>
                <a:latin typeface="Symbol"/>
                <a:cs typeface="Symbol"/>
              </a:rPr>
              <a:t></a:t>
            </a:r>
            <a:r>
              <a:rPr dirty="0" sz="2800" spc="5" b="1">
                <a:solidFill>
                  <a:srgbClr val="FF7777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5BEAFC"/>
                </a:solidFill>
                <a:latin typeface="宋体"/>
                <a:cs typeface="宋体"/>
              </a:rPr>
              <a:t>名词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	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谓语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92417" y="534162"/>
            <a:ext cx="2748280" cy="2022475"/>
          </a:xfrm>
          <a:custGeom>
            <a:avLst/>
            <a:gdLst/>
            <a:ahLst/>
            <a:cxnLst/>
            <a:rect l="l" t="t" r="r" b="b"/>
            <a:pathLst>
              <a:path w="2748279" h="2022475">
                <a:moveTo>
                  <a:pt x="0" y="2022348"/>
                </a:moveTo>
                <a:lnTo>
                  <a:pt x="2747772" y="2022348"/>
                </a:lnTo>
                <a:lnTo>
                  <a:pt x="2747772" y="0"/>
                </a:lnTo>
                <a:lnTo>
                  <a:pt x="0" y="0"/>
                </a:lnTo>
                <a:lnTo>
                  <a:pt x="0" y="2022348"/>
                </a:lnTo>
                <a:close/>
              </a:path>
            </a:pathLst>
          </a:custGeom>
          <a:ln w="38100">
            <a:solidFill>
              <a:srgbClr val="FF99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340855" y="571627"/>
            <a:ext cx="2677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〈句子〉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〈主语〉〈谓语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40855" y="827659"/>
            <a:ext cx="28816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〈主语〉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〈形容词〉〈名词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40855" y="1108074"/>
            <a:ext cx="2677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〈谓语〉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〈动词〉〈宾语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40855" y="1388186"/>
            <a:ext cx="28822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〈宾语〉</a:t>
            </a:r>
            <a:r>
              <a:rPr dirty="0" sz="1600" spc="-10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词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〉〈名词</a:t>
            </a:r>
            <a:r>
              <a:rPr dirty="0" sz="1600" spc="-1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40855" y="1631975"/>
            <a:ext cx="2063750" cy="866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2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小</a:t>
            </a:r>
            <a:r>
              <a:rPr dirty="0" sz="1600" spc="-409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|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大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〈名词〉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八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哥</a:t>
            </a:r>
            <a:r>
              <a:rPr dirty="0" sz="1600" spc="-405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1600" spc="-1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花生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〈动词〉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1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吃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98447" y="6410350"/>
            <a:ext cx="50228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语句“小八哥吃大花生”的分析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28800" y="2810255"/>
            <a:ext cx="3832860" cy="0"/>
          </a:xfrm>
          <a:custGeom>
            <a:avLst/>
            <a:gdLst/>
            <a:ahLst/>
            <a:cxnLst/>
            <a:rect l="l" t="t" r="r" b="b"/>
            <a:pathLst>
              <a:path w="3832860" h="0">
                <a:moveTo>
                  <a:pt x="0" y="0"/>
                </a:moveTo>
                <a:lnTo>
                  <a:pt x="3832860" y="0"/>
                </a:lnTo>
              </a:path>
            </a:pathLst>
          </a:custGeom>
          <a:ln w="5715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8436" y="6583171"/>
            <a:ext cx="7372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51123" y="5257596"/>
            <a:ext cx="14503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〈句子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96334" y="4702302"/>
            <a:ext cx="809625" cy="463550"/>
          </a:xfrm>
          <a:custGeom>
            <a:avLst/>
            <a:gdLst/>
            <a:ahLst/>
            <a:cxnLst/>
            <a:rect l="l" t="t" r="r" b="b"/>
            <a:pathLst>
              <a:path w="809625" h="463550">
                <a:moveTo>
                  <a:pt x="0" y="463296"/>
                </a:moveTo>
                <a:lnTo>
                  <a:pt x="809243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0914" y="4702302"/>
            <a:ext cx="970915" cy="463550"/>
          </a:xfrm>
          <a:custGeom>
            <a:avLst/>
            <a:gdLst/>
            <a:ahLst/>
            <a:cxnLst/>
            <a:rect l="l" t="t" r="r" b="b"/>
            <a:pathLst>
              <a:path w="970914" h="463550">
                <a:moveTo>
                  <a:pt x="970788" y="463296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556252" y="4224985"/>
            <a:ext cx="14509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〈谓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35346" y="3795521"/>
            <a:ext cx="485140" cy="462280"/>
          </a:xfrm>
          <a:custGeom>
            <a:avLst/>
            <a:gdLst/>
            <a:ahLst/>
            <a:cxnLst/>
            <a:rect l="l" t="t" r="r" b="b"/>
            <a:pathLst>
              <a:path w="485139" h="462279">
                <a:moveTo>
                  <a:pt x="0" y="461771"/>
                </a:moveTo>
                <a:lnTo>
                  <a:pt x="484631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87646" y="3795521"/>
            <a:ext cx="323215" cy="462280"/>
          </a:xfrm>
          <a:custGeom>
            <a:avLst/>
            <a:gdLst/>
            <a:ahLst/>
            <a:cxnLst/>
            <a:rect l="l" t="t" r="r" b="b"/>
            <a:pathLst>
              <a:path w="323214" h="462279">
                <a:moveTo>
                  <a:pt x="323088" y="461771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607947" y="4233417"/>
            <a:ext cx="14503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〈主语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86405" y="3845814"/>
            <a:ext cx="325120" cy="411480"/>
          </a:xfrm>
          <a:custGeom>
            <a:avLst/>
            <a:gdLst/>
            <a:ahLst/>
            <a:cxnLst/>
            <a:rect l="l" t="t" r="r" b="b"/>
            <a:pathLst>
              <a:path w="325119" h="411479">
                <a:moveTo>
                  <a:pt x="0" y="411480"/>
                </a:moveTo>
                <a:lnTo>
                  <a:pt x="324612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07058" y="3845814"/>
            <a:ext cx="486409" cy="411480"/>
          </a:xfrm>
          <a:custGeom>
            <a:avLst/>
            <a:gdLst/>
            <a:ahLst/>
            <a:cxnLst/>
            <a:rect l="l" t="t" r="r" b="b"/>
            <a:pathLst>
              <a:path w="486410" h="411479">
                <a:moveTo>
                  <a:pt x="486155" y="41148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33094" y="1564386"/>
            <a:ext cx="0" cy="1644650"/>
          </a:xfrm>
          <a:custGeom>
            <a:avLst/>
            <a:gdLst/>
            <a:ahLst/>
            <a:cxnLst/>
            <a:rect l="l" t="t" r="r" b="b"/>
            <a:pathLst>
              <a:path w="0" h="1644650">
                <a:moveTo>
                  <a:pt x="0" y="1644396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606290" y="1535430"/>
            <a:ext cx="0" cy="1731645"/>
          </a:xfrm>
          <a:custGeom>
            <a:avLst/>
            <a:gdLst/>
            <a:ahLst/>
            <a:cxnLst/>
            <a:rect l="l" t="t" r="r" b="b"/>
            <a:pathLst>
              <a:path w="0" h="1731645">
                <a:moveTo>
                  <a:pt x="0" y="1731264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69240" y="3326333"/>
            <a:ext cx="338327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〈形容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r>
              <a:rPr dirty="0" sz="2800" spc="-3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2976" sz="4200" spc="-15" b="1">
                <a:solidFill>
                  <a:srgbClr val="FFFFFF"/>
                </a:solidFill>
                <a:latin typeface="宋体"/>
                <a:cs typeface="宋体"/>
              </a:rPr>
              <a:t>〈名词</a:t>
            </a:r>
            <a:r>
              <a:rPr dirty="0" baseline="2976" sz="4200" spc="-22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baseline="2976" sz="42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92373" y="1564386"/>
            <a:ext cx="0" cy="1661160"/>
          </a:xfrm>
          <a:custGeom>
            <a:avLst/>
            <a:gdLst/>
            <a:ahLst/>
            <a:cxnLst/>
            <a:rect l="l" t="t" r="r" b="b"/>
            <a:pathLst>
              <a:path w="0" h="1661160">
                <a:moveTo>
                  <a:pt x="0" y="166116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943350" y="3251657"/>
            <a:ext cx="28911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〈动词</a:t>
            </a:r>
            <a:r>
              <a:rPr dirty="0" sz="2800" spc="100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r>
              <a:rPr dirty="0" baseline="-2976" sz="4200" spc="-15" b="1">
                <a:solidFill>
                  <a:srgbClr val="FFFFFF"/>
                </a:solidFill>
                <a:latin typeface="宋体"/>
                <a:cs typeface="宋体"/>
              </a:rPr>
              <a:t>〈宾</a:t>
            </a:r>
            <a:r>
              <a:rPr dirty="0" baseline="-2976" sz="4200" spc="-7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baseline="-2976" sz="4200" spc="-22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baseline="-2976" sz="42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43065" y="2765298"/>
            <a:ext cx="485140" cy="462280"/>
          </a:xfrm>
          <a:custGeom>
            <a:avLst/>
            <a:gdLst/>
            <a:ahLst/>
            <a:cxnLst/>
            <a:rect l="l" t="t" r="r" b="b"/>
            <a:pathLst>
              <a:path w="485140" h="462280">
                <a:moveTo>
                  <a:pt x="0" y="461772"/>
                </a:moveTo>
                <a:lnTo>
                  <a:pt x="484632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596890" y="2765298"/>
            <a:ext cx="323215" cy="462280"/>
          </a:xfrm>
          <a:custGeom>
            <a:avLst/>
            <a:gdLst/>
            <a:ahLst/>
            <a:cxnLst/>
            <a:rect l="l" t="t" r="r" b="b"/>
            <a:pathLst>
              <a:path w="323214" h="462280">
                <a:moveTo>
                  <a:pt x="323088" y="461772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046214" y="1535430"/>
            <a:ext cx="0" cy="553720"/>
          </a:xfrm>
          <a:custGeom>
            <a:avLst/>
            <a:gdLst/>
            <a:ahLst/>
            <a:cxnLst/>
            <a:rect l="l" t="t" r="r" b="b"/>
            <a:pathLst>
              <a:path w="0" h="553719">
                <a:moveTo>
                  <a:pt x="0" y="553212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623053" y="2132152"/>
            <a:ext cx="30988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〈形容词</a:t>
            </a:r>
            <a:r>
              <a:rPr dirty="0" sz="2800" spc="-1070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〈名词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74970" y="1564386"/>
            <a:ext cx="0" cy="553720"/>
          </a:xfrm>
          <a:custGeom>
            <a:avLst/>
            <a:gdLst/>
            <a:ahLst/>
            <a:cxnLst/>
            <a:rect l="l" t="t" r="r" b="b"/>
            <a:pathLst>
              <a:path w="0" h="553719">
                <a:moveTo>
                  <a:pt x="0" y="553212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380103" y="968755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吃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96633" y="949274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花生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50941" y="911479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43661" y="639318"/>
            <a:ext cx="8153400" cy="905510"/>
          </a:xfrm>
          <a:custGeom>
            <a:avLst/>
            <a:gdLst/>
            <a:ahLst/>
            <a:cxnLst/>
            <a:rect l="l" t="t" r="r" b="b"/>
            <a:pathLst>
              <a:path w="8153400" h="905510">
                <a:moveTo>
                  <a:pt x="0" y="452628"/>
                </a:moveTo>
                <a:lnTo>
                  <a:pt x="18662" y="409043"/>
                </a:lnTo>
                <a:lnTo>
                  <a:pt x="47338" y="383442"/>
                </a:lnTo>
                <a:lnTo>
                  <a:pt x="88672" y="358304"/>
                </a:lnTo>
                <a:lnTo>
                  <a:pt x="123077" y="341822"/>
                </a:lnTo>
                <a:lnTo>
                  <a:pt x="162835" y="325577"/>
                </a:lnTo>
                <a:lnTo>
                  <a:pt x="207837" y="309579"/>
                </a:lnTo>
                <a:lnTo>
                  <a:pt x="257971" y="293841"/>
                </a:lnTo>
                <a:lnTo>
                  <a:pt x="313130" y="278376"/>
                </a:lnTo>
                <a:lnTo>
                  <a:pt x="373204" y="263195"/>
                </a:lnTo>
                <a:lnTo>
                  <a:pt x="438084" y="248311"/>
                </a:lnTo>
                <a:lnTo>
                  <a:pt x="507659" y="233736"/>
                </a:lnTo>
                <a:lnTo>
                  <a:pt x="581822" y="219482"/>
                </a:lnTo>
                <a:lnTo>
                  <a:pt x="620589" y="212479"/>
                </a:lnTo>
                <a:lnTo>
                  <a:pt x="660462" y="205561"/>
                </a:lnTo>
                <a:lnTo>
                  <a:pt x="701427" y="198729"/>
                </a:lnTo>
                <a:lnTo>
                  <a:pt x="743470" y="191985"/>
                </a:lnTo>
                <a:lnTo>
                  <a:pt x="786579" y="185330"/>
                </a:lnTo>
                <a:lnTo>
                  <a:pt x="830738" y="178766"/>
                </a:lnTo>
                <a:lnTo>
                  <a:pt x="875934" y="172295"/>
                </a:lnTo>
                <a:lnTo>
                  <a:pt x="922154" y="165917"/>
                </a:lnTo>
                <a:lnTo>
                  <a:pt x="969385" y="159635"/>
                </a:lnTo>
                <a:lnTo>
                  <a:pt x="1017611" y="153450"/>
                </a:lnTo>
                <a:lnTo>
                  <a:pt x="1066821" y="147363"/>
                </a:lnTo>
                <a:lnTo>
                  <a:pt x="1116999" y="141377"/>
                </a:lnTo>
                <a:lnTo>
                  <a:pt x="1168133" y="135492"/>
                </a:lnTo>
                <a:lnTo>
                  <a:pt x="1220208" y="129709"/>
                </a:lnTo>
                <a:lnTo>
                  <a:pt x="1273211" y="124032"/>
                </a:lnTo>
                <a:lnTo>
                  <a:pt x="1327129" y="118460"/>
                </a:lnTo>
                <a:lnTo>
                  <a:pt x="1381948" y="112996"/>
                </a:lnTo>
                <a:lnTo>
                  <a:pt x="1437653" y="107641"/>
                </a:lnTo>
                <a:lnTo>
                  <a:pt x="1494232" y="102397"/>
                </a:lnTo>
                <a:lnTo>
                  <a:pt x="1551671" y="97265"/>
                </a:lnTo>
                <a:lnTo>
                  <a:pt x="1609955" y="92246"/>
                </a:lnTo>
                <a:lnTo>
                  <a:pt x="1669072" y="87343"/>
                </a:lnTo>
                <a:lnTo>
                  <a:pt x="1729008" y="82556"/>
                </a:lnTo>
                <a:lnTo>
                  <a:pt x="1789748" y="77888"/>
                </a:lnTo>
                <a:lnTo>
                  <a:pt x="1851280" y="73339"/>
                </a:lnTo>
                <a:lnTo>
                  <a:pt x="1913590" y="68912"/>
                </a:lnTo>
                <a:lnTo>
                  <a:pt x="1976663" y="64607"/>
                </a:lnTo>
                <a:lnTo>
                  <a:pt x="2040487" y="60427"/>
                </a:lnTo>
                <a:lnTo>
                  <a:pt x="2105048" y="56372"/>
                </a:lnTo>
                <a:lnTo>
                  <a:pt x="2170332" y="52445"/>
                </a:lnTo>
                <a:lnTo>
                  <a:pt x="2236324" y="48646"/>
                </a:lnTo>
                <a:lnTo>
                  <a:pt x="2303013" y="44978"/>
                </a:lnTo>
                <a:lnTo>
                  <a:pt x="2370384" y="41442"/>
                </a:lnTo>
                <a:lnTo>
                  <a:pt x="2438423" y="38039"/>
                </a:lnTo>
                <a:lnTo>
                  <a:pt x="2507116" y="34771"/>
                </a:lnTo>
                <a:lnTo>
                  <a:pt x="2576451" y="31640"/>
                </a:lnTo>
                <a:lnTo>
                  <a:pt x="2646413" y="28646"/>
                </a:lnTo>
                <a:lnTo>
                  <a:pt x="2716988" y="25792"/>
                </a:lnTo>
                <a:lnTo>
                  <a:pt x="2788164" y="23079"/>
                </a:lnTo>
                <a:lnTo>
                  <a:pt x="2859925" y="20508"/>
                </a:lnTo>
                <a:lnTo>
                  <a:pt x="2932260" y="18082"/>
                </a:lnTo>
                <a:lnTo>
                  <a:pt x="3005153" y="15801"/>
                </a:lnTo>
                <a:lnTo>
                  <a:pt x="3078592" y="13667"/>
                </a:lnTo>
                <a:lnTo>
                  <a:pt x="3152562" y="11682"/>
                </a:lnTo>
                <a:lnTo>
                  <a:pt x="3227051" y="9846"/>
                </a:lnTo>
                <a:lnTo>
                  <a:pt x="3302043" y="8163"/>
                </a:lnTo>
                <a:lnTo>
                  <a:pt x="3377527" y="6632"/>
                </a:lnTo>
                <a:lnTo>
                  <a:pt x="3453487" y="5256"/>
                </a:lnTo>
                <a:lnTo>
                  <a:pt x="3529911" y="4037"/>
                </a:lnTo>
                <a:lnTo>
                  <a:pt x="3606784" y="2975"/>
                </a:lnTo>
                <a:lnTo>
                  <a:pt x="3684093" y="2072"/>
                </a:lnTo>
                <a:lnTo>
                  <a:pt x="3761824" y="1330"/>
                </a:lnTo>
                <a:lnTo>
                  <a:pt x="3839964" y="750"/>
                </a:lnTo>
                <a:lnTo>
                  <a:pt x="3918499" y="334"/>
                </a:lnTo>
                <a:lnTo>
                  <a:pt x="3997416" y="83"/>
                </a:lnTo>
                <a:lnTo>
                  <a:pt x="4076700" y="0"/>
                </a:lnTo>
                <a:lnTo>
                  <a:pt x="4155983" y="83"/>
                </a:lnTo>
                <a:lnTo>
                  <a:pt x="4234900" y="334"/>
                </a:lnTo>
                <a:lnTo>
                  <a:pt x="4313435" y="750"/>
                </a:lnTo>
                <a:lnTo>
                  <a:pt x="4391575" y="1330"/>
                </a:lnTo>
                <a:lnTo>
                  <a:pt x="4469306" y="2072"/>
                </a:lnTo>
                <a:lnTo>
                  <a:pt x="4546615" y="2975"/>
                </a:lnTo>
                <a:lnTo>
                  <a:pt x="4623488" y="4037"/>
                </a:lnTo>
                <a:lnTo>
                  <a:pt x="4699912" y="5256"/>
                </a:lnTo>
                <a:lnTo>
                  <a:pt x="4775872" y="6632"/>
                </a:lnTo>
                <a:lnTo>
                  <a:pt x="4851356" y="8163"/>
                </a:lnTo>
                <a:lnTo>
                  <a:pt x="4926348" y="9846"/>
                </a:lnTo>
                <a:lnTo>
                  <a:pt x="5000837" y="11682"/>
                </a:lnTo>
                <a:lnTo>
                  <a:pt x="5074807" y="13667"/>
                </a:lnTo>
                <a:lnTo>
                  <a:pt x="5148246" y="15801"/>
                </a:lnTo>
                <a:lnTo>
                  <a:pt x="5221139" y="18082"/>
                </a:lnTo>
                <a:lnTo>
                  <a:pt x="5293474" y="20508"/>
                </a:lnTo>
                <a:lnTo>
                  <a:pt x="5365235" y="23079"/>
                </a:lnTo>
                <a:lnTo>
                  <a:pt x="5436411" y="25792"/>
                </a:lnTo>
                <a:lnTo>
                  <a:pt x="5506986" y="28646"/>
                </a:lnTo>
                <a:lnTo>
                  <a:pt x="5576948" y="31640"/>
                </a:lnTo>
                <a:lnTo>
                  <a:pt x="5646283" y="34771"/>
                </a:lnTo>
                <a:lnTo>
                  <a:pt x="5714976" y="38039"/>
                </a:lnTo>
                <a:lnTo>
                  <a:pt x="5783015" y="41442"/>
                </a:lnTo>
                <a:lnTo>
                  <a:pt x="5850386" y="44978"/>
                </a:lnTo>
                <a:lnTo>
                  <a:pt x="5917075" y="48646"/>
                </a:lnTo>
                <a:lnTo>
                  <a:pt x="5983067" y="52445"/>
                </a:lnTo>
                <a:lnTo>
                  <a:pt x="6048351" y="56372"/>
                </a:lnTo>
                <a:lnTo>
                  <a:pt x="6112912" y="60427"/>
                </a:lnTo>
                <a:lnTo>
                  <a:pt x="6176736" y="64607"/>
                </a:lnTo>
                <a:lnTo>
                  <a:pt x="6239809" y="68912"/>
                </a:lnTo>
                <a:lnTo>
                  <a:pt x="6302119" y="73339"/>
                </a:lnTo>
                <a:lnTo>
                  <a:pt x="6363651" y="77888"/>
                </a:lnTo>
                <a:lnTo>
                  <a:pt x="6424391" y="82556"/>
                </a:lnTo>
                <a:lnTo>
                  <a:pt x="6484327" y="87343"/>
                </a:lnTo>
                <a:lnTo>
                  <a:pt x="6543444" y="92246"/>
                </a:lnTo>
                <a:lnTo>
                  <a:pt x="6601728" y="97265"/>
                </a:lnTo>
                <a:lnTo>
                  <a:pt x="6659167" y="102397"/>
                </a:lnTo>
                <a:lnTo>
                  <a:pt x="6715746" y="107641"/>
                </a:lnTo>
                <a:lnTo>
                  <a:pt x="6771451" y="112996"/>
                </a:lnTo>
                <a:lnTo>
                  <a:pt x="6826270" y="118460"/>
                </a:lnTo>
                <a:lnTo>
                  <a:pt x="6880188" y="124032"/>
                </a:lnTo>
                <a:lnTo>
                  <a:pt x="6933191" y="129709"/>
                </a:lnTo>
                <a:lnTo>
                  <a:pt x="6985266" y="135492"/>
                </a:lnTo>
                <a:lnTo>
                  <a:pt x="7036400" y="141377"/>
                </a:lnTo>
                <a:lnTo>
                  <a:pt x="7086578" y="147363"/>
                </a:lnTo>
                <a:lnTo>
                  <a:pt x="7135788" y="153450"/>
                </a:lnTo>
                <a:lnTo>
                  <a:pt x="7184014" y="159635"/>
                </a:lnTo>
                <a:lnTo>
                  <a:pt x="7231245" y="165917"/>
                </a:lnTo>
                <a:lnTo>
                  <a:pt x="7277465" y="172295"/>
                </a:lnTo>
                <a:lnTo>
                  <a:pt x="7322661" y="178766"/>
                </a:lnTo>
                <a:lnTo>
                  <a:pt x="7366820" y="185330"/>
                </a:lnTo>
                <a:lnTo>
                  <a:pt x="7409929" y="191985"/>
                </a:lnTo>
                <a:lnTo>
                  <a:pt x="7451972" y="198729"/>
                </a:lnTo>
                <a:lnTo>
                  <a:pt x="7492937" y="205561"/>
                </a:lnTo>
                <a:lnTo>
                  <a:pt x="7532810" y="212479"/>
                </a:lnTo>
                <a:lnTo>
                  <a:pt x="7571577" y="219482"/>
                </a:lnTo>
                <a:lnTo>
                  <a:pt x="7609225" y="226568"/>
                </a:lnTo>
                <a:lnTo>
                  <a:pt x="7681108" y="240984"/>
                </a:lnTo>
                <a:lnTo>
                  <a:pt x="7748349" y="255715"/>
                </a:lnTo>
                <a:lnTo>
                  <a:pt x="7810839" y="270749"/>
                </a:lnTo>
                <a:lnTo>
                  <a:pt x="7868470" y="286074"/>
                </a:lnTo>
                <a:lnTo>
                  <a:pt x="7921130" y="301677"/>
                </a:lnTo>
                <a:lnTo>
                  <a:pt x="7968712" y="317546"/>
                </a:lnTo>
                <a:lnTo>
                  <a:pt x="8011105" y="333669"/>
                </a:lnTo>
                <a:lnTo>
                  <a:pt x="8048200" y="350034"/>
                </a:lnTo>
                <a:lnTo>
                  <a:pt x="8093671" y="375010"/>
                </a:lnTo>
                <a:lnTo>
                  <a:pt x="8126608" y="400461"/>
                </a:lnTo>
                <a:lnTo>
                  <a:pt x="8150386" y="435065"/>
                </a:lnTo>
                <a:lnTo>
                  <a:pt x="8153400" y="452628"/>
                </a:lnTo>
                <a:lnTo>
                  <a:pt x="8152644" y="461429"/>
                </a:lnTo>
                <a:lnTo>
                  <a:pt x="8134737" y="496212"/>
                </a:lnTo>
                <a:lnTo>
                  <a:pt x="8106061" y="521813"/>
                </a:lnTo>
                <a:lnTo>
                  <a:pt x="8064727" y="546951"/>
                </a:lnTo>
                <a:lnTo>
                  <a:pt x="8030322" y="563433"/>
                </a:lnTo>
                <a:lnTo>
                  <a:pt x="7990564" y="579678"/>
                </a:lnTo>
                <a:lnTo>
                  <a:pt x="7945562" y="595676"/>
                </a:lnTo>
                <a:lnTo>
                  <a:pt x="7895428" y="611414"/>
                </a:lnTo>
                <a:lnTo>
                  <a:pt x="7840269" y="626879"/>
                </a:lnTo>
                <a:lnTo>
                  <a:pt x="7780195" y="642060"/>
                </a:lnTo>
                <a:lnTo>
                  <a:pt x="7715315" y="656944"/>
                </a:lnTo>
                <a:lnTo>
                  <a:pt x="7645740" y="671519"/>
                </a:lnTo>
                <a:lnTo>
                  <a:pt x="7571577" y="685773"/>
                </a:lnTo>
                <a:lnTo>
                  <a:pt x="7532810" y="692776"/>
                </a:lnTo>
                <a:lnTo>
                  <a:pt x="7492937" y="699694"/>
                </a:lnTo>
                <a:lnTo>
                  <a:pt x="7451972" y="706526"/>
                </a:lnTo>
                <a:lnTo>
                  <a:pt x="7409929" y="713270"/>
                </a:lnTo>
                <a:lnTo>
                  <a:pt x="7366820" y="719925"/>
                </a:lnTo>
                <a:lnTo>
                  <a:pt x="7322661" y="726489"/>
                </a:lnTo>
                <a:lnTo>
                  <a:pt x="7277465" y="732960"/>
                </a:lnTo>
                <a:lnTo>
                  <a:pt x="7231245" y="739338"/>
                </a:lnTo>
                <a:lnTo>
                  <a:pt x="7184014" y="745620"/>
                </a:lnTo>
                <a:lnTo>
                  <a:pt x="7135788" y="751805"/>
                </a:lnTo>
                <a:lnTo>
                  <a:pt x="7086578" y="757892"/>
                </a:lnTo>
                <a:lnTo>
                  <a:pt x="7036400" y="763878"/>
                </a:lnTo>
                <a:lnTo>
                  <a:pt x="6985266" y="769763"/>
                </a:lnTo>
                <a:lnTo>
                  <a:pt x="6933191" y="775546"/>
                </a:lnTo>
                <a:lnTo>
                  <a:pt x="6880188" y="781223"/>
                </a:lnTo>
                <a:lnTo>
                  <a:pt x="6826270" y="786795"/>
                </a:lnTo>
                <a:lnTo>
                  <a:pt x="6771451" y="792259"/>
                </a:lnTo>
                <a:lnTo>
                  <a:pt x="6715746" y="797614"/>
                </a:lnTo>
                <a:lnTo>
                  <a:pt x="6659167" y="802858"/>
                </a:lnTo>
                <a:lnTo>
                  <a:pt x="6601728" y="807990"/>
                </a:lnTo>
                <a:lnTo>
                  <a:pt x="6543444" y="813009"/>
                </a:lnTo>
                <a:lnTo>
                  <a:pt x="6484327" y="817912"/>
                </a:lnTo>
                <a:lnTo>
                  <a:pt x="6424391" y="822699"/>
                </a:lnTo>
                <a:lnTo>
                  <a:pt x="6363651" y="827367"/>
                </a:lnTo>
                <a:lnTo>
                  <a:pt x="6302119" y="831916"/>
                </a:lnTo>
                <a:lnTo>
                  <a:pt x="6239809" y="836343"/>
                </a:lnTo>
                <a:lnTo>
                  <a:pt x="6176736" y="840648"/>
                </a:lnTo>
                <a:lnTo>
                  <a:pt x="6112912" y="844828"/>
                </a:lnTo>
                <a:lnTo>
                  <a:pt x="6048351" y="848883"/>
                </a:lnTo>
                <a:lnTo>
                  <a:pt x="5983067" y="852810"/>
                </a:lnTo>
                <a:lnTo>
                  <a:pt x="5917075" y="856609"/>
                </a:lnTo>
                <a:lnTo>
                  <a:pt x="5850386" y="860277"/>
                </a:lnTo>
                <a:lnTo>
                  <a:pt x="5783015" y="863813"/>
                </a:lnTo>
                <a:lnTo>
                  <a:pt x="5714976" y="867216"/>
                </a:lnTo>
                <a:lnTo>
                  <a:pt x="5646283" y="870484"/>
                </a:lnTo>
                <a:lnTo>
                  <a:pt x="5576948" y="873615"/>
                </a:lnTo>
                <a:lnTo>
                  <a:pt x="5506986" y="876609"/>
                </a:lnTo>
                <a:lnTo>
                  <a:pt x="5436411" y="879463"/>
                </a:lnTo>
                <a:lnTo>
                  <a:pt x="5365235" y="882176"/>
                </a:lnTo>
                <a:lnTo>
                  <a:pt x="5293474" y="884747"/>
                </a:lnTo>
                <a:lnTo>
                  <a:pt x="5221139" y="887173"/>
                </a:lnTo>
                <a:lnTo>
                  <a:pt x="5148246" y="889454"/>
                </a:lnTo>
                <a:lnTo>
                  <a:pt x="5074807" y="891588"/>
                </a:lnTo>
                <a:lnTo>
                  <a:pt x="5000837" y="893573"/>
                </a:lnTo>
                <a:lnTo>
                  <a:pt x="4926348" y="895409"/>
                </a:lnTo>
                <a:lnTo>
                  <a:pt x="4851356" y="897092"/>
                </a:lnTo>
                <a:lnTo>
                  <a:pt x="4775872" y="898623"/>
                </a:lnTo>
                <a:lnTo>
                  <a:pt x="4699912" y="899999"/>
                </a:lnTo>
                <a:lnTo>
                  <a:pt x="4623488" y="901218"/>
                </a:lnTo>
                <a:lnTo>
                  <a:pt x="4546615" y="902280"/>
                </a:lnTo>
                <a:lnTo>
                  <a:pt x="4469306" y="903183"/>
                </a:lnTo>
                <a:lnTo>
                  <a:pt x="4391575" y="903925"/>
                </a:lnTo>
                <a:lnTo>
                  <a:pt x="4313435" y="904505"/>
                </a:lnTo>
                <a:lnTo>
                  <a:pt x="4234900" y="904921"/>
                </a:lnTo>
                <a:lnTo>
                  <a:pt x="4155983" y="905172"/>
                </a:lnTo>
                <a:lnTo>
                  <a:pt x="4076700" y="905256"/>
                </a:lnTo>
                <a:lnTo>
                  <a:pt x="3997416" y="905172"/>
                </a:lnTo>
                <a:lnTo>
                  <a:pt x="3918499" y="904921"/>
                </a:lnTo>
                <a:lnTo>
                  <a:pt x="3839964" y="904505"/>
                </a:lnTo>
                <a:lnTo>
                  <a:pt x="3761824" y="903925"/>
                </a:lnTo>
                <a:lnTo>
                  <a:pt x="3684093" y="903183"/>
                </a:lnTo>
                <a:lnTo>
                  <a:pt x="3606784" y="902280"/>
                </a:lnTo>
                <a:lnTo>
                  <a:pt x="3529911" y="901218"/>
                </a:lnTo>
                <a:lnTo>
                  <a:pt x="3453487" y="899999"/>
                </a:lnTo>
                <a:lnTo>
                  <a:pt x="3377527" y="898623"/>
                </a:lnTo>
                <a:lnTo>
                  <a:pt x="3302043" y="897092"/>
                </a:lnTo>
                <a:lnTo>
                  <a:pt x="3227051" y="895409"/>
                </a:lnTo>
                <a:lnTo>
                  <a:pt x="3152562" y="893573"/>
                </a:lnTo>
                <a:lnTo>
                  <a:pt x="3078592" y="891588"/>
                </a:lnTo>
                <a:lnTo>
                  <a:pt x="3005153" y="889454"/>
                </a:lnTo>
                <a:lnTo>
                  <a:pt x="2932260" y="887173"/>
                </a:lnTo>
                <a:lnTo>
                  <a:pt x="2859925" y="884747"/>
                </a:lnTo>
                <a:lnTo>
                  <a:pt x="2788164" y="882176"/>
                </a:lnTo>
                <a:lnTo>
                  <a:pt x="2716988" y="879463"/>
                </a:lnTo>
                <a:lnTo>
                  <a:pt x="2646413" y="876609"/>
                </a:lnTo>
                <a:lnTo>
                  <a:pt x="2576451" y="873615"/>
                </a:lnTo>
                <a:lnTo>
                  <a:pt x="2507116" y="870484"/>
                </a:lnTo>
                <a:lnTo>
                  <a:pt x="2438423" y="867216"/>
                </a:lnTo>
                <a:lnTo>
                  <a:pt x="2370384" y="863813"/>
                </a:lnTo>
                <a:lnTo>
                  <a:pt x="2303013" y="860277"/>
                </a:lnTo>
                <a:lnTo>
                  <a:pt x="2236324" y="856609"/>
                </a:lnTo>
                <a:lnTo>
                  <a:pt x="2170332" y="852810"/>
                </a:lnTo>
                <a:lnTo>
                  <a:pt x="2105048" y="848883"/>
                </a:lnTo>
                <a:lnTo>
                  <a:pt x="2040487" y="844828"/>
                </a:lnTo>
                <a:lnTo>
                  <a:pt x="1976663" y="840648"/>
                </a:lnTo>
                <a:lnTo>
                  <a:pt x="1913590" y="836343"/>
                </a:lnTo>
                <a:lnTo>
                  <a:pt x="1851280" y="831916"/>
                </a:lnTo>
                <a:lnTo>
                  <a:pt x="1789748" y="827367"/>
                </a:lnTo>
                <a:lnTo>
                  <a:pt x="1729008" y="822699"/>
                </a:lnTo>
                <a:lnTo>
                  <a:pt x="1669072" y="817912"/>
                </a:lnTo>
                <a:lnTo>
                  <a:pt x="1609955" y="813009"/>
                </a:lnTo>
                <a:lnTo>
                  <a:pt x="1551671" y="807990"/>
                </a:lnTo>
                <a:lnTo>
                  <a:pt x="1494232" y="802858"/>
                </a:lnTo>
                <a:lnTo>
                  <a:pt x="1437653" y="797614"/>
                </a:lnTo>
                <a:lnTo>
                  <a:pt x="1381948" y="792259"/>
                </a:lnTo>
                <a:lnTo>
                  <a:pt x="1327129" y="786795"/>
                </a:lnTo>
                <a:lnTo>
                  <a:pt x="1273211" y="781223"/>
                </a:lnTo>
                <a:lnTo>
                  <a:pt x="1220208" y="775546"/>
                </a:lnTo>
                <a:lnTo>
                  <a:pt x="1168133" y="769763"/>
                </a:lnTo>
                <a:lnTo>
                  <a:pt x="1116999" y="763878"/>
                </a:lnTo>
                <a:lnTo>
                  <a:pt x="1066821" y="757892"/>
                </a:lnTo>
                <a:lnTo>
                  <a:pt x="1017611" y="751805"/>
                </a:lnTo>
                <a:lnTo>
                  <a:pt x="969385" y="745620"/>
                </a:lnTo>
                <a:lnTo>
                  <a:pt x="922154" y="739338"/>
                </a:lnTo>
                <a:lnTo>
                  <a:pt x="875934" y="732960"/>
                </a:lnTo>
                <a:lnTo>
                  <a:pt x="830738" y="726489"/>
                </a:lnTo>
                <a:lnTo>
                  <a:pt x="786579" y="719925"/>
                </a:lnTo>
                <a:lnTo>
                  <a:pt x="743470" y="713270"/>
                </a:lnTo>
                <a:lnTo>
                  <a:pt x="701427" y="706526"/>
                </a:lnTo>
                <a:lnTo>
                  <a:pt x="660462" y="699694"/>
                </a:lnTo>
                <a:lnTo>
                  <a:pt x="620589" y="692776"/>
                </a:lnTo>
                <a:lnTo>
                  <a:pt x="581822" y="685773"/>
                </a:lnTo>
                <a:lnTo>
                  <a:pt x="544174" y="678687"/>
                </a:lnTo>
                <a:lnTo>
                  <a:pt x="472291" y="664271"/>
                </a:lnTo>
                <a:lnTo>
                  <a:pt x="405050" y="649540"/>
                </a:lnTo>
                <a:lnTo>
                  <a:pt x="342560" y="634506"/>
                </a:lnTo>
                <a:lnTo>
                  <a:pt x="284929" y="619181"/>
                </a:lnTo>
                <a:lnTo>
                  <a:pt x="232269" y="603578"/>
                </a:lnTo>
                <a:lnTo>
                  <a:pt x="184687" y="587709"/>
                </a:lnTo>
                <a:lnTo>
                  <a:pt x="142294" y="571586"/>
                </a:lnTo>
                <a:lnTo>
                  <a:pt x="105199" y="555221"/>
                </a:lnTo>
                <a:lnTo>
                  <a:pt x="59728" y="530245"/>
                </a:lnTo>
                <a:lnTo>
                  <a:pt x="26791" y="504794"/>
                </a:lnTo>
                <a:lnTo>
                  <a:pt x="3013" y="470190"/>
                </a:lnTo>
                <a:lnTo>
                  <a:pt x="0" y="452628"/>
                </a:lnTo>
                <a:close/>
              </a:path>
            </a:pathLst>
          </a:custGeom>
          <a:ln w="38100">
            <a:solidFill>
              <a:srgbClr val="FF77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8221218" y="1860042"/>
            <a:ext cx="649605" cy="282130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63830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129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下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00">
              <a:latin typeface="宋体"/>
              <a:cs typeface="宋体"/>
            </a:endParaRPr>
          </a:p>
          <a:p>
            <a:pPr marL="160020">
              <a:lnSpc>
                <a:spcPct val="100000"/>
              </a:lnSpc>
              <a:spcBef>
                <a:spcPts val="195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上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535923" y="2850642"/>
            <a:ext cx="114300" cy="779145"/>
          </a:xfrm>
          <a:custGeom>
            <a:avLst/>
            <a:gdLst/>
            <a:ahLst/>
            <a:cxnLst/>
            <a:rect l="l" t="t" r="r" b="b"/>
            <a:pathLst>
              <a:path w="114300" h="779145">
                <a:moveTo>
                  <a:pt x="38100" y="664463"/>
                </a:moveTo>
                <a:lnTo>
                  <a:pt x="0" y="664463"/>
                </a:lnTo>
                <a:lnTo>
                  <a:pt x="57150" y="778764"/>
                </a:lnTo>
                <a:lnTo>
                  <a:pt x="104775" y="683513"/>
                </a:lnTo>
                <a:lnTo>
                  <a:pt x="38100" y="683513"/>
                </a:lnTo>
                <a:lnTo>
                  <a:pt x="38100" y="664463"/>
                </a:lnTo>
                <a:close/>
              </a:path>
              <a:path w="114300" h="779145">
                <a:moveTo>
                  <a:pt x="76200" y="0"/>
                </a:moveTo>
                <a:lnTo>
                  <a:pt x="38100" y="0"/>
                </a:lnTo>
                <a:lnTo>
                  <a:pt x="38100" y="683513"/>
                </a:lnTo>
                <a:lnTo>
                  <a:pt x="76200" y="683513"/>
                </a:lnTo>
                <a:lnTo>
                  <a:pt x="76200" y="0"/>
                </a:lnTo>
                <a:close/>
              </a:path>
              <a:path w="114300" h="779145">
                <a:moveTo>
                  <a:pt x="114300" y="664463"/>
                </a:moveTo>
                <a:lnTo>
                  <a:pt x="76200" y="664463"/>
                </a:lnTo>
                <a:lnTo>
                  <a:pt x="76200" y="683513"/>
                </a:lnTo>
                <a:lnTo>
                  <a:pt x="104775" y="683513"/>
                </a:lnTo>
                <a:lnTo>
                  <a:pt x="114300" y="6644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54939" y="72644"/>
            <a:ext cx="3422650" cy="1348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200">
              <a:latin typeface="宋体"/>
              <a:cs typeface="宋体"/>
            </a:endParaRPr>
          </a:p>
          <a:p>
            <a:pPr marL="791845">
              <a:lnSpc>
                <a:spcPct val="100000"/>
              </a:lnSpc>
              <a:spcBef>
                <a:spcPts val="1830"/>
              </a:spcBef>
              <a:tabLst>
                <a:tab pos="2449195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小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八哥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语言的语法和语义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23722" y="5961075"/>
            <a:ext cx="206946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20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句子的归约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968746" y="4737352"/>
            <a:ext cx="3176270" cy="2022475"/>
          </a:xfrm>
          <a:custGeom>
            <a:avLst/>
            <a:gdLst/>
            <a:ahLst/>
            <a:cxnLst/>
            <a:rect l="l" t="t" r="r" b="b"/>
            <a:pathLst>
              <a:path w="3176270" h="2022475">
                <a:moveTo>
                  <a:pt x="0" y="2022347"/>
                </a:moveTo>
                <a:lnTo>
                  <a:pt x="3176016" y="2022347"/>
                </a:lnTo>
                <a:lnTo>
                  <a:pt x="3176016" y="0"/>
                </a:lnTo>
                <a:lnTo>
                  <a:pt x="0" y="0"/>
                </a:lnTo>
                <a:lnTo>
                  <a:pt x="0" y="2022347"/>
                </a:lnTo>
                <a:close/>
              </a:path>
            </a:pathLst>
          </a:custGeom>
          <a:ln w="38100">
            <a:solidFill>
              <a:srgbClr val="FF99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046978" y="4768748"/>
            <a:ext cx="2883535" cy="1659889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〈句子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〈主语〉〈谓语〉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〈主语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〈形容词〉〈名词〉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〈谓语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r>
              <a:rPr dirty="0" sz="1600" spc="-10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〈动词〉〈宾语〉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〈宾语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〈形容词〉〈名词〉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〈形容词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2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小</a:t>
            </a:r>
            <a:r>
              <a:rPr dirty="0" sz="1600" spc="-405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160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大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〈名词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1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八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哥</a:t>
            </a:r>
            <a:r>
              <a:rPr dirty="0" sz="1600" spc="-395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160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花生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46978" y="6439915"/>
            <a:ext cx="13017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66"/>
                </a:solidFill>
                <a:latin typeface="宋体"/>
                <a:cs typeface="宋体"/>
              </a:rPr>
              <a:t>〈动词</a:t>
            </a:r>
            <a:r>
              <a:rPr dirty="0" sz="1600" b="1">
                <a:solidFill>
                  <a:srgbClr val="FFFF66"/>
                </a:solidFill>
                <a:latin typeface="宋体"/>
                <a:cs typeface="宋体"/>
              </a:rPr>
              <a:t>〉</a:t>
            </a:r>
            <a:r>
              <a:rPr dirty="0" sz="1600" spc="-5" b="1">
                <a:solidFill>
                  <a:srgbClr val="FFFF66"/>
                </a:solidFill>
                <a:latin typeface="Times New Roman"/>
                <a:cs typeface="Times New Roman"/>
              </a:rPr>
              <a:t>→</a:t>
            </a:r>
            <a:r>
              <a:rPr dirty="0" sz="1600" spc="-4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1600" spc="-15" b="1">
                <a:solidFill>
                  <a:srgbClr val="FFFF66"/>
                </a:solidFill>
                <a:latin typeface="宋体"/>
                <a:cs typeface="宋体"/>
              </a:rPr>
              <a:t>吃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9307" y="460324"/>
            <a:ext cx="6802120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275" algn="l"/>
              </a:tabLst>
            </a:pPr>
            <a:r>
              <a:rPr dirty="0" spc="-10"/>
              <a:t>第</a:t>
            </a:r>
            <a:r>
              <a:rPr dirty="0" spc="-960"/>
              <a:t> 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 spc="-10"/>
              <a:t>章</a:t>
            </a:r>
            <a:r>
              <a:rPr dirty="0"/>
              <a:t>	</a:t>
            </a:r>
            <a:r>
              <a:rPr dirty="0" spc="5"/>
              <a:t>形式</a:t>
            </a:r>
            <a:r>
              <a:rPr dirty="0" spc="-10"/>
              <a:t>语</a:t>
            </a:r>
            <a:r>
              <a:rPr dirty="0" spc="5"/>
              <a:t>言</a:t>
            </a:r>
            <a:r>
              <a:rPr dirty="0" spc="-10"/>
              <a:t>与自</a:t>
            </a:r>
            <a:r>
              <a:rPr dirty="0"/>
              <a:t>动</a:t>
            </a:r>
            <a:r>
              <a:rPr dirty="0" spc="-10"/>
              <a:t>机基础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6966" y="1944624"/>
            <a:ext cx="5760720" cy="4142104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lvl="1" marL="1044575" indent="-1032510">
              <a:lnSpc>
                <a:spcPct val="100000"/>
              </a:lnSpc>
              <a:spcBef>
                <a:spcPts val="1180"/>
              </a:spcBef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文法和语言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5"/>
              </a:spcBef>
              <a:buClr>
                <a:srgbClr val="FFFFFF"/>
              </a:buClr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语言的语法和语义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文法和语言的定义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文法的表示方法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语法树与二义性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5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文法和语言的类型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8744" y="3563111"/>
            <a:ext cx="1229995" cy="513715"/>
          </a:xfrm>
          <a:custGeom>
            <a:avLst/>
            <a:gdLst/>
            <a:ahLst/>
            <a:cxnLst/>
            <a:rect l="l" t="t" r="r" b="b"/>
            <a:pathLst>
              <a:path w="1229995" h="513714">
                <a:moveTo>
                  <a:pt x="923163" y="0"/>
                </a:moveTo>
                <a:lnTo>
                  <a:pt x="923163" y="128396"/>
                </a:lnTo>
                <a:lnTo>
                  <a:pt x="0" y="128396"/>
                </a:lnTo>
                <a:lnTo>
                  <a:pt x="0" y="385190"/>
                </a:lnTo>
                <a:lnTo>
                  <a:pt x="923163" y="385190"/>
                </a:lnTo>
                <a:lnTo>
                  <a:pt x="923163" y="513588"/>
                </a:lnTo>
                <a:lnTo>
                  <a:pt x="1229868" y="256794"/>
                </a:lnTo>
                <a:lnTo>
                  <a:pt x="923163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8744" y="3563111"/>
            <a:ext cx="1229995" cy="513715"/>
          </a:xfrm>
          <a:custGeom>
            <a:avLst/>
            <a:gdLst/>
            <a:ahLst/>
            <a:cxnLst/>
            <a:rect l="l" t="t" r="r" b="b"/>
            <a:pathLst>
              <a:path w="1229995" h="513714">
                <a:moveTo>
                  <a:pt x="0" y="128396"/>
                </a:moveTo>
                <a:lnTo>
                  <a:pt x="923163" y="128396"/>
                </a:lnTo>
                <a:lnTo>
                  <a:pt x="923163" y="0"/>
                </a:lnTo>
                <a:lnTo>
                  <a:pt x="1229868" y="256794"/>
                </a:lnTo>
                <a:lnTo>
                  <a:pt x="923163" y="513588"/>
                </a:lnTo>
                <a:lnTo>
                  <a:pt x="923163" y="385190"/>
                </a:lnTo>
                <a:lnTo>
                  <a:pt x="0" y="385190"/>
                </a:lnTo>
                <a:lnTo>
                  <a:pt x="0" y="128396"/>
                </a:lnTo>
                <a:close/>
              </a:path>
            </a:pathLst>
          </a:custGeom>
          <a:ln w="9525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1348" y="72644"/>
            <a:ext cx="27082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3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51940" y="1261110"/>
            <a:ext cx="5627370" cy="36499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39240" algn="l"/>
              </a:tabLst>
            </a:pPr>
            <a:r>
              <a:rPr dirty="0" sz="4000" spc="-5" b="1">
                <a:solidFill>
                  <a:srgbClr val="FFFF00"/>
                </a:solidFill>
                <a:latin typeface="Times New Roman"/>
                <a:cs typeface="Times New Roman"/>
              </a:rPr>
              <a:t>2.1.2</a:t>
            </a:r>
            <a:r>
              <a:rPr dirty="0" sz="4000" spc="-5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4000" spc="-10" b="1">
                <a:solidFill>
                  <a:srgbClr val="FFFF00"/>
                </a:solidFill>
                <a:latin typeface="宋体"/>
                <a:cs typeface="宋体"/>
              </a:rPr>
              <a:t>文法和语言的定义</a:t>
            </a:r>
            <a:endParaRPr sz="4000">
              <a:latin typeface="宋体"/>
              <a:cs typeface="宋体"/>
            </a:endParaRPr>
          </a:p>
          <a:p>
            <a:pPr marL="702945" marR="1014094">
              <a:lnSpc>
                <a:spcPct val="139400"/>
              </a:lnSpc>
              <a:spcBef>
                <a:spcPts val="1325"/>
              </a:spcBef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一.</a:t>
            </a:r>
            <a:r>
              <a:rPr dirty="0" sz="3600" spc="1714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字符和字符串 二.</a:t>
            </a:r>
            <a:r>
              <a:rPr dirty="0" sz="3600" spc="17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字符串运算</a:t>
            </a:r>
            <a:endParaRPr sz="3600">
              <a:latin typeface="宋体"/>
              <a:cs typeface="宋体"/>
            </a:endParaRPr>
          </a:p>
          <a:p>
            <a:pPr marL="702945" marR="1014094">
              <a:lnSpc>
                <a:spcPct val="120000"/>
              </a:lnSpc>
              <a:spcBef>
                <a:spcPts val="5"/>
              </a:spcBef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三.</a:t>
            </a:r>
            <a:r>
              <a:rPr dirty="0" sz="3600" spc="1714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文法形式定义 四 .</a:t>
            </a:r>
            <a:r>
              <a:rPr dirty="0" sz="3600" spc="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语 言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25311" y="2299716"/>
            <a:ext cx="1929130" cy="685800"/>
          </a:xfrm>
          <a:custGeom>
            <a:avLst/>
            <a:gdLst/>
            <a:ahLst/>
            <a:cxnLst/>
            <a:rect l="l" t="t" r="r" b="b"/>
            <a:pathLst>
              <a:path w="1929129" h="685800">
                <a:moveTo>
                  <a:pt x="571500" y="0"/>
                </a:moveTo>
                <a:lnTo>
                  <a:pt x="0" y="342900"/>
                </a:lnTo>
                <a:lnTo>
                  <a:pt x="571500" y="685800"/>
                </a:lnTo>
                <a:lnTo>
                  <a:pt x="571500" y="514350"/>
                </a:lnTo>
                <a:lnTo>
                  <a:pt x="1928748" y="514350"/>
                </a:lnTo>
                <a:lnTo>
                  <a:pt x="1928748" y="171450"/>
                </a:lnTo>
                <a:lnTo>
                  <a:pt x="571500" y="171450"/>
                </a:lnTo>
                <a:lnTo>
                  <a:pt x="571500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25561" y="2471166"/>
            <a:ext cx="142875" cy="342900"/>
          </a:xfrm>
          <a:custGeom>
            <a:avLst/>
            <a:gdLst/>
            <a:ahLst/>
            <a:cxnLst/>
            <a:rect l="l" t="t" r="r" b="b"/>
            <a:pathLst>
              <a:path w="142875" h="342900">
                <a:moveTo>
                  <a:pt x="0" y="342900"/>
                </a:moveTo>
                <a:lnTo>
                  <a:pt x="142875" y="342900"/>
                </a:lnTo>
                <a:lnTo>
                  <a:pt x="142875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175529" y="2471166"/>
            <a:ext cx="0" cy="342900"/>
          </a:xfrm>
          <a:custGeom>
            <a:avLst/>
            <a:gdLst/>
            <a:ahLst/>
            <a:cxnLst/>
            <a:rect l="l" t="t" r="r" b="b"/>
            <a:pathLst>
              <a:path w="0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71437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7744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4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1931" y="610615"/>
            <a:ext cx="3294379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宋体"/>
                <a:cs typeface="宋体"/>
              </a:rPr>
              <a:t>一</a:t>
            </a:r>
            <a:r>
              <a:rPr dirty="0" sz="3200" spc="-15"/>
              <a:t>.</a:t>
            </a:r>
            <a:r>
              <a:rPr dirty="0" sz="3200" spc="-80"/>
              <a:t> </a:t>
            </a:r>
            <a:r>
              <a:rPr dirty="0" sz="3200">
                <a:latin typeface="宋体"/>
                <a:cs typeface="宋体"/>
              </a:rPr>
              <a:t>字符、字符串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4151" y="4672584"/>
            <a:ext cx="1030986" cy="8999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8442" y="1215968"/>
            <a:ext cx="8262620" cy="5320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215" marR="337820" indent="711835">
              <a:lnSpc>
                <a:spcPct val="125099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任何一种语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，都是由该语言的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基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本字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遵循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一定规则所组成的字符串的集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宋体"/>
              <a:cs typeface="宋体"/>
            </a:endParaRPr>
          </a:p>
          <a:p>
            <a:pPr marL="450215" indent="-343535">
              <a:lnSpc>
                <a:spcPct val="100000"/>
              </a:lnSpc>
              <a:buClr>
                <a:srgbClr val="66FFFF"/>
              </a:buClr>
              <a:buSzPct val="129687"/>
              <a:buFont typeface="Wingdings"/>
              <a:buChar char=""/>
              <a:tabLst>
                <a:tab pos="450850" algn="l"/>
                <a:tab pos="195326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	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(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字母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3200" spc="-22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) </a:t>
            </a:r>
            <a:endParaRPr sz="2800">
              <a:latin typeface="宋体"/>
              <a:cs typeface="宋体"/>
            </a:endParaRPr>
          </a:p>
          <a:p>
            <a:pPr marL="107314" marR="5080" indent="648970">
              <a:lnSpc>
                <a:spcPct val="145400"/>
              </a:lnSpc>
              <a:spcBef>
                <a:spcPts val="32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字母表是元素的非空有穷集合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字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母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表中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元素 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称为符号或字符，因此字母表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也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称为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号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集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 marR="125095" indent="406400">
              <a:lnSpc>
                <a:spcPct val="140100"/>
              </a:lnSpc>
              <a:spcBef>
                <a:spcPts val="1635"/>
              </a:spcBef>
              <a:tabLst>
                <a:tab pos="1094105" algn="l"/>
              </a:tabLst>
            </a:pPr>
            <a:r>
              <a:rPr dirty="0" sz="3200">
                <a:solidFill>
                  <a:srgbClr val="FF99FF"/>
                </a:solidFill>
                <a:latin typeface="Wingdings"/>
                <a:cs typeface="Wingdings"/>
              </a:rPr>
              <a:t></a:t>
            </a:r>
            <a:r>
              <a:rPr dirty="0" sz="3200">
                <a:solidFill>
                  <a:srgbClr val="FF99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用希腊字</a:t>
            </a:r>
            <a:r>
              <a:rPr dirty="0" sz="2800" b="1">
                <a:solidFill>
                  <a:srgbClr val="99CCFF"/>
                </a:solidFill>
                <a:latin typeface="宋体"/>
                <a:cs typeface="宋体"/>
              </a:rPr>
              <a:t>母</a:t>
            </a:r>
            <a:r>
              <a:rPr dirty="0" sz="2800" spc="-10" b="1" i="1">
                <a:solidFill>
                  <a:srgbClr val="99CCFF"/>
                </a:solidFill>
                <a:latin typeface="Times New Roman"/>
                <a:cs typeface="Times New Roman"/>
              </a:rPr>
              <a:t>∑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或大写英文字母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等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表示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字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母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表</a:t>
            </a:r>
            <a:r>
              <a:rPr dirty="0" sz="2800" spc="-15" b="1">
                <a:solidFill>
                  <a:srgbClr val="99CCFF"/>
                </a:solidFill>
                <a:latin typeface="宋体"/>
                <a:cs typeface="宋体"/>
              </a:rPr>
              <a:t>， 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用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集合的列举法表示枚举出字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表中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spc="-6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99CC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70840">
              <a:lnSpc>
                <a:spcPct val="100000"/>
              </a:lnSpc>
              <a:spcBef>
                <a:spcPts val="151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例如，字母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2800" spc="-67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={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与字母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2800" spc="-6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∑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={0,1}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588" y="466470"/>
            <a:ext cx="1695450" cy="660400"/>
          </a:xfrm>
          <a:prstGeom prst="rect"/>
        </p:spPr>
        <p:txBody>
          <a:bodyPr wrap="square" lIns="0" tIns="13462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60"/>
              </a:spcBef>
              <a:buClr>
                <a:srgbClr val="66FFFF"/>
              </a:buClr>
              <a:buSzPct val="129687"/>
              <a:buFont typeface="Wingdings"/>
              <a:buChar char=""/>
              <a:tabLst>
                <a:tab pos="356235" algn="l"/>
              </a:tabLst>
            </a:pPr>
            <a:r>
              <a:rPr dirty="0" sz="3200">
                <a:latin typeface="宋体"/>
                <a:cs typeface="宋体"/>
              </a:rPr>
              <a:t>定义</a:t>
            </a:r>
            <a:r>
              <a:rPr dirty="0" sz="3200" spc="5">
                <a:latin typeface="Times New Roman"/>
                <a:cs typeface="Times New Roman"/>
              </a:rPr>
              <a:t>2</a:t>
            </a:r>
            <a:r>
              <a:rPr dirty="0" sz="3200">
                <a:latin typeface="Times New Roman"/>
                <a:cs typeface="Times New Roman"/>
              </a:rPr>
              <a:t>.2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6314" y="588390"/>
            <a:ext cx="206756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3200" spc="-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符号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串</a:t>
            </a:r>
            <a:r>
              <a:rPr dirty="0" sz="3200" spc="-4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5167884"/>
            <a:ext cx="1032510" cy="8999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1348" y="72644"/>
            <a:ext cx="27082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3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4038" y="1084492"/>
            <a:ext cx="8794750" cy="525208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243204" marR="480695" indent="793750">
              <a:lnSpc>
                <a:spcPct val="125800"/>
              </a:lnSpc>
              <a:spcBef>
                <a:spcPts val="40"/>
              </a:spcBef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由字母表中的符号组成的任何有穷序列称为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符号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，也称为串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字符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153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已知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∑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是字母表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∑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上的字符串的集合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∑</a:t>
            </a:r>
            <a:r>
              <a:rPr dirty="0" baseline="25525" sz="277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可递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归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如</a:t>
            </a:r>
            <a:r>
              <a:rPr dirty="0" sz="2800" spc="15" b="1">
                <a:solidFill>
                  <a:srgbClr val="FFFF00"/>
                </a:solidFill>
                <a:latin typeface="宋体"/>
                <a:cs typeface="宋体"/>
              </a:rPr>
              <a:t>下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356870" indent="-306705">
              <a:lnSpc>
                <a:spcPct val="100000"/>
              </a:lnSpc>
              <a:spcBef>
                <a:spcPts val="520"/>
              </a:spcBef>
              <a:buSzPct val="94915"/>
              <a:buFont typeface="Times New Roman"/>
              <a:buAutoNum type="romanLcParenR"/>
              <a:tabLst>
                <a:tab pos="357505" algn="l"/>
              </a:tabLst>
            </a:pPr>
            <a:r>
              <a:rPr dirty="0" sz="2950" spc="-4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950" spc="-4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是由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个字符组成的符号串，称为空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baseline="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455930" indent="-405765">
              <a:lnSpc>
                <a:spcPct val="100000"/>
              </a:lnSpc>
              <a:spcBef>
                <a:spcPts val="645"/>
              </a:spcBef>
              <a:buFont typeface="Times New Roman"/>
              <a:buAutoNum type="romanLcParenR"/>
              <a:tabLst>
                <a:tab pos="456565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baseline="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那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ωa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baseline="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553720" indent="-503555">
              <a:lnSpc>
                <a:spcPct val="100000"/>
              </a:lnSpc>
              <a:spcBef>
                <a:spcPts val="675"/>
              </a:spcBef>
              <a:buFont typeface="Times New Roman"/>
              <a:buAutoNum type="romanLcParenR"/>
              <a:tabLst>
                <a:tab pos="55435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baseline="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当且仅当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由有限步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i)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ii)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670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中的元素称为字符串。</a:t>
            </a:r>
            <a:endParaRPr sz="2800">
              <a:latin typeface="宋体"/>
              <a:cs typeface="宋体"/>
            </a:endParaRPr>
          </a:p>
          <a:p>
            <a:pPr marL="149225" marR="213995">
              <a:lnSpc>
                <a:spcPct val="119900"/>
              </a:lnSpc>
              <a:spcBef>
                <a:spcPts val="1980"/>
              </a:spcBef>
              <a:tabLst>
                <a:tab pos="827405" algn="l"/>
                <a:tab pos="7360284" algn="l"/>
              </a:tabLst>
            </a:pPr>
            <a:r>
              <a:rPr dirty="0" sz="3200">
                <a:solidFill>
                  <a:srgbClr val="FFFF00"/>
                </a:solidFill>
                <a:latin typeface="Wingdings"/>
                <a:cs typeface="Wingdings"/>
              </a:rPr>
              <a:t>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通</a:t>
            </a:r>
            <a:r>
              <a:rPr dirty="0" sz="2800" spc="15" b="1">
                <a:solidFill>
                  <a:srgbClr val="99CCFF"/>
                </a:solidFill>
                <a:latin typeface="宋体"/>
                <a:cs typeface="宋体"/>
              </a:rPr>
              <a:t>常使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用</a:t>
            </a:r>
            <a:r>
              <a:rPr dirty="0" sz="2800" spc="15" b="1">
                <a:solidFill>
                  <a:srgbClr val="99CCFF"/>
                </a:solidFill>
                <a:latin typeface="宋体"/>
                <a:cs typeface="宋体"/>
              </a:rPr>
              <a:t>小写希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腊</a:t>
            </a:r>
            <a:r>
              <a:rPr dirty="0" sz="2800" spc="15" b="1">
                <a:solidFill>
                  <a:srgbClr val="99CCFF"/>
                </a:solidFill>
                <a:latin typeface="宋体"/>
                <a:cs typeface="宋体"/>
              </a:rPr>
              <a:t>字母表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示</a:t>
            </a:r>
            <a:r>
              <a:rPr dirty="0" sz="2800" spc="15" b="1">
                <a:solidFill>
                  <a:srgbClr val="99CCFF"/>
                </a:solidFill>
                <a:latin typeface="宋体"/>
                <a:cs typeface="宋体"/>
              </a:rPr>
              <a:t>符号</a:t>
            </a:r>
            <a:r>
              <a:rPr dirty="0" sz="2800" spc="55" b="1">
                <a:solidFill>
                  <a:srgbClr val="99CCFF"/>
                </a:solidFill>
                <a:latin typeface="宋体"/>
                <a:cs typeface="宋体"/>
              </a:rPr>
              <a:t>串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，</a:t>
            </a:r>
            <a:r>
              <a:rPr dirty="0" sz="2800" spc="55" b="1">
                <a:solidFill>
                  <a:srgbClr val="99CCFF"/>
                </a:solidFill>
                <a:latin typeface="宋体"/>
                <a:cs typeface="宋体"/>
              </a:rPr>
              <a:t>如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15" b="1">
                <a:solidFill>
                  <a:srgbClr val="99CCFF"/>
                </a:solidFill>
                <a:latin typeface="宋体"/>
                <a:cs typeface="宋体"/>
              </a:rPr>
              <a:t>表 </a:t>
            </a:r>
            <a:r>
              <a:rPr dirty="0" sz="2800" spc="-15" b="1">
                <a:solidFill>
                  <a:srgbClr val="99CCFF"/>
                </a:solidFill>
                <a:latin typeface="宋体"/>
                <a:cs typeface="宋体"/>
              </a:rPr>
              <a:t>示</a:t>
            </a:r>
            <a:r>
              <a:rPr dirty="0" sz="2800" spc="-700" b="1">
                <a:solidFill>
                  <a:srgbClr val="99CCFF"/>
                </a:solidFill>
                <a:latin typeface="宋体"/>
                <a:cs typeface="宋体"/>
              </a:rPr>
              <a:t> </a:t>
            </a:r>
            <a:r>
              <a:rPr dirty="0" sz="2950" spc="-185" b="1" i="1">
                <a:solidFill>
                  <a:srgbClr val="66CCFF"/>
                </a:solidFill>
                <a:latin typeface="Symbol"/>
                <a:cs typeface="Symbol"/>
              </a:rPr>
              <a:t>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是</a:t>
            </a:r>
            <a:r>
              <a:rPr dirty="0" sz="2800" spc="-10" b="1">
                <a:solidFill>
                  <a:srgbClr val="99CCFF"/>
                </a:solidFill>
                <a:latin typeface="宋体"/>
                <a:cs typeface="宋体"/>
              </a:rPr>
              <a:t>由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符号</a:t>
            </a:r>
            <a:r>
              <a:rPr dirty="0" sz="2800" b="1" i="1">
                <a:solidFill>
                  <a:srgbClr val="99CCFF"/>
                </a:solidFill>
                <a:latin typeface="Times New Roman"/>
                <a:cs typeface="Times New Roman"/>
              </a:rPr>
              <a:t>S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、</a:t>
            </a:r>
            <a:r>
              <a:rPr dirty="0" sz="2800" spc="-10" b="1" i="1">
                <a:solidFill>
                  <a:srgbClr val="99CCFF"/>
                </a:solidFill>
                <a:latin typeface="Times New Roman"/>
                <a:cs typeface="Times New Roman"/>
              </a:rPr>
              <a:t>T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和</a:t>
            </a:r>
            <a:r>
              <a:rPr dirty="0" sz="2800" spc="-10" b="1" i="1">
                <a:solidFill>
                  <a:srgbClr val="99CC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99CCFF"/>
                </a:solidFill>
                <a:latin typeface="宋体"/>
                <a:cs typeface="宋体"/>
              </a:rPr>
              <a:t>，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并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按此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顺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序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组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成的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符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号</a:t>
            </a:r>
            <a:r>
              <a:rPr dirty="0" sz="2800" spc="15" b="1">
                <a:solidFill>
                  <a:srgbClr val="99CCFF"/>
                </a:solidFill>
                <a:latin typeface="宋体"/>
                <a:cs typeface="宋体"/>
              </a:rPr>
              <a:t>串</a:t>
            </a:r>
            <a:r>
              <a:rPr dirty="0" sz="2800" spc="-15" b="1">
                <a:solidFill>
                  <a:srgbClr val="99CC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39" y="72644"/>
            <a:ext cx="8850630" cy="6373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  <a:tabLst>
                <a:tab pos="669290" algn="l"/>
                <a:tab pos="3987800" algn="l"/>
                <a:tab pos="61550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4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宋体"/>
              <a:cs typeface="宋体"/>
            </a:endParaRPr>
          </a:p>
          <a:p>
            <a:pPr marL="593090" indent="-390525">
              <a:lnSpc>
                <a:spcPct val="100000"/>
              </a:lnSpc>
              <a:buClr>
                <a:srgbClr val="66FFFF"/>
              </a:buClr>
              <a:buSzPct val="112500"/>
              <a:buFont typeface="Wingdings"/>
              <a:buChar char=""/>
              <a:tabLst>
                <a:tab pos="593090" algn="l"/>
                <a:tab pos="593725" algn="l"/>
              </a:tabLst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符号串长度</a:t>
            </a:r>
            <a:endParaRPr sz="3200">
              <a:latin typeface="宋体"/>
              <a:cs typeface="宋体"/>
            </a:endParaRPr>
          </a:p>
          <a:p>
            <a:pPr marL="203200" marR="98425" indent="709930">
              <a:lnSpc>
                <a:spcPct val="113999"/>
              </a:lnSpc>
              <a:spcBef>
                <a:spcPts val="90"/>
              </a:spcBef>
            </a:pPr>
            <a:r>
              <a:rPr dirty="0" sz="2800" spc="95" b="1">
                <a:solidFill>
                  <a:srgbClr val="FFFFFF"/>
                </a:solidFill>
                <a:latin typeface="宋体"/>
                <a:cs typeface="宋体"/>
              </a:rPr>
              <a:t>如果</a:t>
            </a:r>
            <a:r>
              <a:rPr dirty="0" sz="2800" spc="85" b="1">
                <a:solidFill>
                  <a:srgbClr val="FFFFFF"/>
                </a:solidFill>
                <a:latin typeface="宋体"/>
                <a:cs typeface="宋体"/>
              </a:rPr>
              <a:t>某符</a:t>
            </a:r>
            <a:r>
              <a:rPr dirty="0" sz="2800" spc="9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spc="114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950" spc="-5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114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10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1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90" b="1">
                <a:solidFill>
                  <a:srgbClr val="FFFFFF"/>
                </a:solidFill>
                <a:latin typeface="宋体"/>
                <a:cs typeface="宋体"/>
              </a:rPr>
              <a:t>个符</a:t>
            </a:r>
            <a:r>
              <a:rPr dirty="0" sz="2800" spc="9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spc="1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85" b="1">
                <a:solidFill>
                  <a:srgbClr val="FFFFFF"/>
                </a:solidFill>
                <a:latin typeface="宋体"/>
                <a:cs typeface="宋体"/>
              </a:rPr>
              <a:t>则称</a:t>
            </a:r>
            <a:r>
              <a:rPr dirty="0" sz="2800" spc="95" b="1">
                <a:solidFill>
                  <a:srgbClr val="FFFFFF"/>
                </a:solidFill>
                <a:latin typeface="宋体"/>
                <a:cs typeface="宋体"/>
              </a:rPr>
              <a:t>其长</a:t>
            </a:r>
            <a:r>
              <a:rPr dirty="0" sz="2800" spc="85" b="1">
                <a:solidFill>
                  <a:srgbClr val="FFFFFF"/>
                </a:solidFill>
                <a:latin typeface="宋体"/>
                <a:cs typeface="宋体"/>
              </a:rPr>
              <a:t>度</a:t>
            </a:r>
            <a:r>
              <a:rPr dirty="0" sz="2800" spc="10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03200">
              <a:lnSpc>
                <a:spcPct val="100000"/>
              </a:lnSpc>
              <a:spcBef>
                <a:spcPts val="675"/>
              </a:spcBef>
              <a:tabLst>
                <a:tab pos="516763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空串</a:t>
            </a: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95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的长度定义为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，记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6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| </a:t>
            </a:r>
            <a:r>
              <a:rPr dirty="0" sz="2950" spc="-70" b="1" i="1">
                <a:solidFill>
                  <a:srgbClr val="FF99FF"/>
                </a:solidFill>
                <a:latin typeface="Symbol"/>
                <a:cs typeface="Symbol"/>
              </a:rPr>
              <a:t></a:t>
            </a:r>
            <a:r>
              <a:rPr dirty="0" sz="2950" spc="-70">
                <a:solidFill>
                  <a:srgbClr val="FF99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|</a:t>
            </a:r>
            <a:r>
              <a:rPr dirty="0" sz="3200" spc="-10" b="1">
                <a:solidFill>
                  <a:srgbClr val="FF99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=</a:t>
            </a:r>
            <a:r>
              <a:rPr dirty="0" sz="3200" spc="-5" b="1">
                <a:solidFill>
                  <a:srgbClr val="FF99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99FF"/>
                </a:solidFill>
                <a:latin typeface="Times New Roman"/>
                <a:cs typeface="Times New Roman"/>
              </a:rPr>
              <a:t>0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0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3200" spc="-8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定义在字母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Σ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={0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1}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上的符号串</a:t>
            </a:r>
            <a:endParaRPr sz="3000">
              <a:latin typeface="宋体"/>
              <a:cs typeface="宋体"/>
            </a:endParaRPr>
          </a:p>
          <a:p>
            <a:pPr marL="2298700">
              <a:lnSpc>
                <a:spcPct val="100000"/>
              </a:lnSpc>
              <a:spcBef>
                <a:spcPts val="930"/>
              </a:spcBef>
            </a:pP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000" spc="-60" b="1">
                <a:solidFill>
                  <a:srgbClr val="FFFFFF"/>
                </a:solidFill>
                <a:latin typeface="Times New Roman"/>
                <a:cs typeface="Times New Roman"/>
              </a:rPr>
              <a:t>001110 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000" spc="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3000">
              <a:latin typeface="Times New Roman"/>
              <a:cs typeface="Times New Roman"/>
            </a:endParaRPr>
          </a:p>
          <a:p>
            <a:pPr marL="650875">
              <a:lnSpc>
                <a:spcPct val="100000"/>
              </a:lnSpc>
              <a:spcBef>
                <a:spcPts val="1630"/>
              </a:spcBef>
              <a:tabLst>
                <a:tab pos="4444365" algn="l"/>
                <a:tab pos="8459470" algn="l"/>
              </a:tabLst>
            </a:pP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3000" spc="-2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在字母</a:t>
            </a:r>
            <a:r>
              <a:rPr dirty="0" sz="3000" spc="1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Σ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={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	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000">
              <a:latin typeface="Times New Roman"/>
              <a:cs typeface="Times New Roman"/>
            </a:endParaRPr>
          </a:p>
          <a:p>
            <a:pPr marL="650875">
              <a:lnSpc>
                <a:spcPct val="100000"/>
              </a:lnSpc>
              <a:spcBef>
                <a:spcPts val="900"/>
              </a:spcBef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上的符号串</a:t>
            </a:r>
            <a:endParaRPr sz="3000">
              <a:latin typeface="宋体"/>
              <a:cs typeface="宋体"/>
            </a:endParaRPr>
          </a:p>
          <a:p>
            <a:pPr marL="2365375">
              <a:lnSpc>
                <a:spcPct val="100000"/>
              </a:lnSpc>
              <a:spcBef>
                <a:spcPts val="900"/>
              </a:spcBef>
            </a:pP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++; 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=0; |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000" spc="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981201"/>
            <a:ext cx="8636635" cy="46380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67665" indent="-355600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02857"/>
              <a:buFont typeface="Wingdings"/>
              <a:buChar char=""/>
              <a:tabLst>
                <a:tab pos="368300" algn="l"/>
              </a:tabLst>
            </a:pPr>
            <a:r>
              <a:rPr dirty="0" u="heavy" sz="350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符号串的前</a:t>
            </a:r>
            <a:r>
              <a:rPr dirty="0" u="heavy" sz="3500" spc="-5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缀</a:t>
            </a:r>
            <a:r>
              <a:rPr dirty="0" u="heavy" sz="3500" b="1">
                <a:solidFill>
                  <a:srgbClr val="FFFF66"/>
                </a:solidFill>
                <a:uFill>
                  <a:solidFill>
                    <a:srgbClr val="FFFF66"/>
                  </a:solidFill>
                </a:uFill>
                <a:latin typeface="宋体"/>
                <a:cs typeface="宋体"/>
              </a:rPr>
              <a:t>、后缀和子符号串</a:t>
            </a:r>
            <a:endParaRPr sz="3500">
              <a:latin typeface="宋体"/>
              <a:cs typeface="宋体"/>
            </a:endParaRPr>
          </a:p>
          <a:p>
            <a:pPr marL="279400" marR="549275" indent="621665">
              <a:lnSpc>
                <a:spcPct val="165000"/>
              </a:lnSpc>
              <a:spcBef>
                <a:spcPts val="70"/>
              </a:spcBef>
            </a:pPr>
            <a:r>
              <a:rPr dirty="0" sz="3000" spc="5" b="1">
                <a:solidFill>
                  <a:srgbClr val="EAEAEA"/>
                </a:solidFill>
                <a:latin typeface="宋体"/>
                <a:cs typeface="宋体"/>
              </a:rPr>
              <a:t>设</a:t>
            </a:r>
            <a:r>
              <a:rPr dirty="0" sz="2950" spc="-17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3000" spc="-5" b="1">
                <a:solidFill>
                  <a:srgbClr val="EAEAEA"/>
                </a:solidFill>
                <a:latin typeface="宋体"/>
                <a:cs typeface="宋体"/>
              </a:rPr>
              <a:t>是一个符号</a:t>
            </a:r>
            <a:r>
              <a:rPr dirty="0" sz="3000" b="1">
                <a:solidFill>
                  <a:srgbClr val="EAEAEA"/>
                </a:solidFill>
                <a:latin typeface="宋体"/>
                <a:cs typeface="宋体"/>
              </a:rPr>
              <a:t>串</a:t>
            </a:r>
            <a:r>
              <a:rPr dirty="0" sz="3000" spc="-5" b="1">
                <a:solidFill>
                  <a:srgbClr val="EAEAEA"/>
                </a:solidFill>
                <a:latin typeface="宋体"/>
                <a:cs typeface="宋体"/>
              </a:rPr>
              <a:t>，</a:t>
            </a:r>
            <a:r>
              <a:rPr dirty="0" sz="3000" spc="10" b="1">
                <a:solidFill>
                  <a:srgbClr val="EAEAEA"/>
                </a:solidFill>
                <a:latin typeface="宋体"/>
                <a:cs typeface="宋体"/>
              </a:rPr>
              <a:t>从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3000" spc="-5" b="1">
                <a:solidFill>
                  <a:srgbClr val="EAEAEA"/>
                </a:solidFill>
                <a:latin typeface="宋体"/>
                <a:cs typeface="宋体"/>
              </a:rPr>
              <a:t>的尾部删</a:t>
            </a:r>
            <a:r>
              <a:rPr dirty="0" sz="3000" b="1">
                <a:solidFill>
                  <a:srgbClr val="EAEAEA"/>
                </a:solidFill>
                <a:latin typeface="宋体"/>
                <a:cs typeface="宋体"/>
              </a:rPr>
              <a:t>去</a:t>
            </a:r>
            <a:r>
              <a:rPr dirty="0" sz="3000" b="1">
                <a:solidFill>
                  <a:srgbClr val="EAEAEA"/>
                </a:solidFill>
                <a:latin typeface="Times New Roman"/>
                <a:cs typeface="Times New Roman"/>
              </a:rPr>
              <a:t>0</a:t>
            </a:r>
            <a:r>
              <a:rPr dirty="0" sz="3000" spc="-5" b="1">
                <a:solidFill>
                  <a:srgbClr val="EAEAEA"/>
                </a:solidFill>
                <a:latin typeface="宋体"/>
                <a:cs typeface="宋体"/>
              </a:rPr>
              <a:t>个或若 </a:t>
            </a:r>
            <a:r>
              <a:rPr dirty="0" sz="3000" spc="-5" b="1">
                <a:solidFill>
                  <a:srgbClr val="EAEAEA"/>
                </a:solidFill>
                <a:latin typeface="宋体"/>
                <a:cs typeface="宋体"/>
              </a:rPr>
              <a:t>干个符号之后剩余的部分称</a:t>
            </a:r>
            <a:r>
              <a:rPr dirty="0" sz="3000" spc="15" b="1">
                <a:solidFill>
                  <a:srgbClr val="EAEAEA"/>
                </a:solidFill>
                <a:latin typeface="宋体"/>
                <a:cs typeface="宋体"/>
              </a:rPr>
              <a:t>为</a:t>
            </a:r>
            <a:r>
              <a:rPr dirty="0" sz="2950" spc="-17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3000" spc="-5" b="1">
                <a:solidFill>
                  <a:srgbClr val="EAEAEA"/>
                </a:solidFill>
                <a:latin typeface="宋体"/>
                <a:cs typeface="宋体"/>
              </a:rPr>
              <a:t>的</a:t>
            </a:r>
            <a:r>
              <a:rPr dirty="0" u="heavy" sz="3000" spc="-5" b="1">
                <a:solidFill>
                  <a:srgbClr val="99CCFF"/>
                </a:solidFill>
                <a:uFill>
                  <a:solidFill>
                    <a:srgbClr val="99CCFF"/>
                  </a:solidFill>
                </a:uFill>
                <a:latin typeface="宋体"/>
                <a:cs typeface="宋体"/>
              </a:rPr>
              <a:t>前</a:t>
            </a:r>
            <a:r>
              <a:rPr dirty="0" u="heavy" sz="3000" b="1">
                <a:solidFill>
                  <a:srgbClr val="99CCFF"/>
                </a:solidFill>
                <a:uFill>
                  <a:solidFill>
                    <a:srgbClr val="99CCFF"/>
                  </a:solidFill>
                </a:uFill>
                <a:latin typeface="宋体"/>
                <a:cs typeface="宋体"/>
              </a:rPr>
              <a:t>缀</a:t>
            </a:r>
            <a:r>
              <a:rPr dirty="0" sz="30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  <a:p>
            <a:pPr marL="279400" marR="80645" indent="571500">
              <a:lnSpc>
                <a:spcPct val="140000"/>
              </a:lnSpc>
            </a:pPr>
            <a:r>
              <a:rPr dirty="0" sz="3000" spc="5" b="1">
                <a:solidFill>
                  <a:srgbClr val="FFFF00"/>
                </a:solidFill>
                <a:latin typeface="宋体"/>
                <a:cs typeface="宋体"/>
              </a:rPr>
              <a:t>从</a:t>
            </a:r>
            <a:r>
              <a:rPr dirty="0" sz="2950" spc="-17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的首部删</a:t>
            </a:r>
            <a:r>
              <a:rPr dirty="0" sz="3000" b="1">
                <a:solidFill>
                  <a:srgbClr val="FFFF00"/>
                </a:solidFill>
                <a:latin typeface="宋体"/>
                <a:cs typeface="宋体"/>
              </a:rPr>
              <a:t>去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个或若干个符号之后剩余的部 分称</a:t>
            </a:r>
            <a:r>
              <a:rPr dirty="0" sz="3000" spc="10" b="1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dirty="0" sz="2950" spc="-17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u="heavy" sz="3000" spc="-5" b="1">
                <a:solidFill>
                  <a:srgbClr val="99CCFF"/>
                </a:solidFill>
                <a:uFill>
                  <a:solidFill>
                    <a:srgbClr val="99CCFF"/>
                  </a:solidFill>
                </a:uFill>
                <a:latin typeface="宋体"/>
                <a:cs typeface="宋体"/>
              </a:rPr>
              <a:t>后</a:t>
            </a:r>
            <a:r>
              <a:rPr dirty="0" u="heavy" sz="3000" b="1">
                <a:solidFill>
                  <a:srgbClr val="99CCFF"/>
                </a:solidFill>
                <a:uFill>
                  <a:solidFill>
                    <a:srgbClr val="99CCFF"/>
                  </a:solidFill>
                </a:uFill>
                <a:latin typeface="宋体"/>
                <a:cs typeface="宋体"/>
              </a:rPr>
              <a:t>缀</a:t>
            </a:r>
            <a:r>
              <a:rPr dirty="0" sz="30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  <a:p>
            <a:pPr marL="279400" marR="5080" indent="475615">
              <a:lnSpc>
                <a:spcPct val="140000"/>
              </a:lnSpc>
              <a:spcBef>
                <a:spcPts val="5"/>
              </a:spcBef>
            </a:pPr>
            <a:r>
              <a:rPr dirty="0" sz="3000" spc="5" b="1">
                <a:solidFill>
                  <a:srgbClr val="FF99FF"/>
                </a:solidFill>
                <a:latin typeface="宋体"/>
                <a:cs typeface="宋体"/>
              </a:rPr>
              <a:t>若</a:t>
            </a:r>
            <a:r>
              <a:rPr dirty="0" sz="2950" spc="-170" b="1" i="1">
                <a:solidFill>
                  <a:srgbClr val="FF99FF"/>
                </a:solidFill>
                <a:latin typeface="Symbol"/>
                <a:cs typeface="Symbol"/>
              </a:rPr>
              <a:t></a:t>
            </a:r>
            <a:r>
              <a:rPr dirty="0" sz="3000" spc="-5" b="1">
                <a:solidFill>
                  <a:srgbClr val="FF99FF"/>
                </a:solidFill>
                <a:latin typeface="宋体"/>
                <a:cs typeface="宋体"/>
              </a:rPr>
              <a:t>的前缀</a:t>
            </a:r>
            <a:r>
              <a:rPr dirty="0" sz="3000" b="1">
                <a:solidFill>
                  <a:srgbClr val="FF99FF"/>
                </a:solidFill>
                <a:latin typeface="Times New Roman"/>
                <a:cs typeface="Times New Roman"/>
              </a:rPr>
              <a:t>(</a:t>
            </a:r>
            <a:r>
              <a:rPr dirty="0" sz="3000" spc="5" b="1">
                <a:solidFill>
                  <a:srgbClr val="FF99FF"/>
                </a:solidFill>
                <a:latin typeface="宋体"/>
                <a:cs typeface="宋体"/>
              </a:rPr>
              <a:t>后</a:t>
            </a:r>
            <a:r>
              <a:rPr dirty="0" sz="3000" spc="-5" b="1">
                <a:solidFill>
                  <a:srgbClr val="FF99FF"/>
                </a:solidFill>
                <a:latin typeface="宋体"/>
                <a:cs typeface="宋体"/>
              </a:rPr>
              <a:t>缀</a:t>
            </a:r>
            <a:r>
              <a:rPr dirty="0" sz="3000" spc="-5" b="1">
                <a:solidFill>
                  <a:srgbClr val="FF99FF"/>
                </a:solidFill>
                <a:latin typeface="Times New Roman"/>
                <a:cs typeface="Times New Roman"/>
              </a:rPr>
              <a:t>)</a:t>
            </a:r>
            <a:r>
              <a:rPr dirty="0" sz="3000" spc="-5" b="1">
                <a:solidFill>
                  <a:srgbClr val="FF99FF"/>
                </a:solidFill>
                <a:latin typeface="宋体"/>
                <a:cs typeface="宋体"/>
              </a:rPr>
              <a:t>不</a:t>
            </a:r>
            <a:r>
              <a:rPr dirty="0" sz="3000" spc="5" b="1">
                <a:solidFill>
                  <a:srgbClr val="FF99FF"/>
                </a:solidFill>
                <a:latin typeface="宋体"/>
                <a:cs typeface="宋体"/>
              </a:rPr>
              <a:t>是</a:t>
            </a:r>
            <a:r>
              <a:rPr dirty="0" sz="2950" spc="-120" b="1" i="1">
                <a:solidFill>
                  <a:srgbClr val="FF99FF"/>
                </a:solidFill>
                <a:latin typeface="Symbol"/>
                <a:cs typeface="Symbol"/>
              </a:rPr>
              <a:t></a:t>
            </a:r>
            <a:r>
              <a:rPr dirty="0" sz="3000" spc="-5" b="1">
                <a:solidFill>
                  <a:srgbClr val="FF99FF"/>
                </a:solidFill>
                <a:latin typeface="宋体"/>
                <a:cs typeface="宋体"/>
              </a:rPr>
              <a:t>自身</a:t>
            </a:r>
            <a:r>
              <a:rPr dirty="0" sz="3000" spc="5" b="1">
                <a:solidFill>
                  <a:srgbClr val="FF99FF"/>
                </a:solidFill>
                <a:latin typeface="宋体"/>
                <a:cs typeface="宋体"/>
              </a:rPr>
              <a:t>，</a:t>
            </a:r>
            <a:r>
              <a:rPr dirty="0" sz="3000" spc="-5" b="1">
                <a:solidFill>
                  <a:srgbClr val="FF99FF"/>
                </a:solidFill>
                <a:latin typeface="宋体"/>
                <a:cs typeface="宋体"/>
              </a:rPr>
              <a:t>则将其称</a:t>
            </a:r>
            <a:r>
              <a:rPr dirty="0" sz="3000" spc="10" b="1">
                <a:solidFill>
                  <a:srgbClr val="FF99FF"/>
                </a:solidFill>
                <a:latin typeface="宋体"/>
                <a:cs typeface="宋体"/>
              </a:rPr>
              <a:t>为</a:t>
            </a:r>
            <a:r>
              <a:rPr dirty="0" sz="2950" spc="-125" b="1" i="1">
                <a:solidFill>
                  <a:srgbClr val="FF99FF"/>
                </a:solidFill>
                <a:latin typeface="Symbol"/>
                <a:cs typeface="Symbol"/>
              </a:rPr>
              <a:t></a:t>
            </a:r>
            <a:r>
              <a:rPr dirty="0" sz="3000" spc="-5" b="1">
                <a:solidFill>
                  <a:srgbClr val="FF99FF"/>
                </a:solidFill>
                <a:latin typeface="宋体"/>
                <a:cs typeface="宋体"/>
              </a:rPr>
              <a:t>的真 前缀</a:t>
            </a:r>
            <a:r>
              <a:rPr dirty="0" sz="3000" spc="-5" b="1">
                <a:solidFill>
                  <a:srgbClr val="FF99FF"/>
                </a:solidFill>
                <a:latin typeface="Times New Roman"/>
                <a:cs typeface="Times New Roman"/>
              </a:rPr>
              <a:t>(</a:t>
            </a:r>
            <a:r>
              <a:rPr dirty="0" sz="3000" spc="-5" b="1">
                <a:solidFill>
                  <a:srgbClr val="FF99FF"/>
                </a:solidFill>
                <a:latin typeface="宋体"/>
                <a:cs typeface="宋体"/>
              </a:rPr>
              <a:t>真后缀</a:t>
            </a:r>
            <a:r>
              <a:rPr dirty="0" sz="3000" spc="-5" b="1">
                <a:solidFill>
                  <a:srgbClr val="FF99FF"/>
                </a:solidFill>
                <a:latin typeface="Times New Roman"/>
                <a:cs typeface="Times New Roman"/>
              </a:rPr>
              <a:t>)</a:t>
            </a:r>
            <a:r>
              <a:rPr dirty="0" sz="3000" spc="-15" b="1">
                <a:solidFill>
                  <a:srgbClr val="FF99FF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1348" y="72644"/>
            <a:ext cx="27082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3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8774430" cy="1411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4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200">
              <a:latin typeface="宋体"/>
              <a:cs typeface="宋体"/>
            </a:endParaRPr>
          </a:p>
          <a:p>
            <a:pPr marL="245110">
              <a:lnSpc>
                <a:spcPct val="100000"/>
              </a:lnSpc>
              <a:spcBef>
                <a:spcPts val="1850"/>
              </a:spcBef>
              <a:tabLst>
                <a:tab pos="1500505" algn="l"/>
                <a:tab pos="235775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例如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	</a:t>
            </a:r>
            <a:r>
              <a:rPr dirty="0" sz="3200" spc="1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-11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abc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5602" y="1439718"/>
            <a:ext cx="8256905" cy="1519555"/>
          </a:xfrm>
          <a:prstGeom prst="rect"/>
        </p:spPr>
        <p:txBody>
          <a:bodyPr wrap="square" lIns="0" tIns="27305" rIns="0" bIns="0" rtlCol="0" vert="horz">
            <a:spAutoFit/>
          </a:bodyPr>
          <a:lstStyle/>
          <a:p>
            <a:pPr marL="12700" marR="5080" indent="718820">
              <a:lnSpc>
                <a:spcPct val="147100"/>
              </a:lnSpc>
              <a:spcBef>
                <a:spcPts val="215"/>
              </a:spcBef>
            </a:pP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350" spc="-70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350" spc="-8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abc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都是</a:t>
            </a:r>
            <a:r>
              <a:rPr dirty="0" sz="2950" spc="-195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>
                <a:latin typeface="宋体"/>
                <a:cs typeface="宋体"/>
              </a:rPr>
              <a:t>前缀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>
                <a:solidFill>
                  <a:srgbClr val="99CCFF"/>
                </a:solidFill>
                <a:latin typeface="宋体"/>
                <a:cs typeface="宋体"/>
              </a:rPr>
              <a:t>且除</a:t>
            </a:r>
            <a:r>
              <a:rPr dirty="0" sz="3200" spc="5" i="1">
                <a:solidFill>
                  <a:srgbClr val="99CCFF"/>
                </a:solidFill>
                <a:latin typeface="Times New Roman"/>
                <a:cs typeface="Times New Roman"/>
              </a:rPr>
              <a:t>abc</a:t>
            </a:r>
            <a:r>
              <a:rPr dirty="0" sz="3200">
                <a:solidFill>
                  <a:srgbClr val="99CCFF"/>
                </a:solidFill>
                <a:latin typeface="宋体"/>
                <a:cs typeface="宋体"/>
              </a:rPr>
              <a:t>外都为 </a:t>
            </a:r>
            <a:r>
              <a:rPr dirty="0" sz="3200">
                <a:latin typeface="宋体"/>
                <a:cs typeface="宋体"/>
              </a:rPr>
              <a:t>真前缀</a:t>
            </a:r>
            <a:r>
              <a:rPr dirty="0" sz="3200" spc="-10">
                <a:solidFill>
                  <a:srgbClr val="99CC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448" y="3099769"/>
            <a:ext cx="8206105" cy="30029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50520" indent="812165">
              <a:lnSpc>
                <a:spcPct val="15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950" spc="-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bc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abc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都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950" spc="-19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后缀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99CCFF"/>
                </a:solidFill>
                <a:latin typeface="宋体"/>
                <a:cs typeface="宋体"/>
              </a:rPr>
              <a:t>且除</a:t>
            </a:r>
            <a:r>
              <a:rPr dirty="0" sz="3200" spc="5" b="1" i="1">
                <a:solidFill>
                  <a:srgbClr val="99CCFF"/>
                </a:solidFill>
                <a:latin typeface="Times New Roman"/>
                <a:cs typeface="Times New Roman"/>
              </a:rPr>
              <a:t>abc</a:t>
            </a:r>
            <a:r>
              <a:rPr dirty="0" sz="3200" b="1">
                <a:solidFill>
                  <a:srgbClr val="99CCFF"/>
                </a:solidFill>
                <a:latin typeface="宋体"/>
                <a:cs typeface="宋体"/>
              </a:rPr>
              <a:t>外都为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真后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缀</a:t>
            </a:r>
            <a:r>
              <a:rPr dirty="0" sz="3200" spc="-10" b="1">
                <a:solidFill>
                  <a:srgbClr val="99CC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7780" marR="5080" indent="813435">
              <a:lnSpc>
                <a:spcPct val="140100"/>
              </a:lnSpc>
              <a:spcBef>
                <a:spcPts val="116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abc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950" spc="-19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的前缀和后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缀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99CCFF"/>
                </a:solidFill>
                <a:latin typeface="宋体"/>
                <a:cs typeface="宋体"/>
              </a:rPr>
              <a:t>但既不是真前缀也 不是真后缀</a:t>
            </a:r>
            <a:r>
              <a:rPr dirty="0" sz="3200" spc="-10" b="1">
                <a:solidFill>
                  <a:srgbClr val="99CC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1348" y="72644"/>
            <a:ext cx="27082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3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64642" y="880948"/>
            <a:ext cx="8408670" cy="55092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29895" indent="-417830">
              <a:lnSpc>
                <a:spcPct val="100000"/>
              </a:lnSpc>
              <a:spcBef>
                <a:spcPts val="105"/>
              </a:spcBef>
              <a:buClr>
                <a:srgbClr val="66FFFF"/>
              </a:buClr>
              <a:buSzPct val="121875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子符号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串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（子串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12700" marR="5080" indent="709930">
              <a:lnSpc>
                <a:spcPct val="119600"/>
              </a:lnSpc>
              <a:spcBef>
                <a:spcPts val="296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从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个符号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串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中删去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它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的一个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前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缀</a:t>
            </a:r>
            <a:r>
              <a:rPr dirty="0" sz="2800" spc="-26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000" spc="-5" b="1">
                <a:solidFill>
                  <a:srgbClr val="EAEAEA"/>
                </a:solidFill>
                <a:latin typeface="宋体"/>
                <a:cs typeface="宋体"/>
              </a:rPr>
              <a:t>和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个后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缀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之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后剩余的部分称为该符号串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u="heavy" sz="2800" spc="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子</a:t>
            </a:r>
            <a:r>
              <a:rPr dirty="0" u="heavy" sz="2800" spc="-1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符号</a:t>
            </a:r>
            <a:r>
              <a:rPr dirty="0" u="heavy" sz="2800" spc="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串</a:t>
            </a:r>
            <a:r>
              <a:rPr dirty="0" u="heavy" sz="2800" spc="-1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或</a:t>
            </a:r>
            <a:r>
              <a:rPr dirty="0" u="heavy" sz="2800" spc="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子</a:t>
            </a:r>
            <a:r>
              <a:rPr dirty="0" u="heavy" sz="2800" spc="1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串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850">
              <a:latin typeface="宋体"/>
              <a:cs typeface="宋体"/>
            </a:endParaRPr>
          </a:p>
          <a:p>
            <a:pPr algn="ctr" marR="5278120">
              <a:lnSpc>
                <a:spcPct val="100000"/>
              </a:lnSpc>
            </a:pPr>
            <a:r>
              <a:rPr dirty="0" sz="3200" b="1">
                <a:solidFill>
                  <a:srgbClr val="CCFFFF"/>
                </a:solidFill>
                <a:latin typeface="宋体"/>
                <a:cs typeface="宋体"/>
              </a:rPr>
              <a:t>例如</a:t>
            </a:r>
            <a:r>
              <a:rPr dirty="0" sz="3200" b="1">
                <a:solidFill>
                  <a:srgbClr val="CCFFFF"/>
                </a:solidFill>
                <a:latin typeface="Times New Roman"/>
                <a:cs typeface="Times New Roman"/>
              </a:rPr>
              <a:t>:</a:t>
            </a:r>
            <a:r>
              <a:rPr dirty="0" sz="3200" spc="-10" b="1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abcd</a:t>
            </a:r>
            <a:endParaRPr sz="3200">
              <a:latin typeface="Times New Roman"/>
              <a:cs typeface="Times New Roman"/>
            </a:endParaRPr>
          </a:p>
          <a:p>
            <a:pPr algn="ctr" marL="554355">
              <a:lnSpc>
                <a:spcPct val="100000"/>
              </a:lnSpc>
              <a:spcBef>
                <a:spcPts val="96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950" spc="-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bc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cd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abc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bcd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abcd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都是</a:t>
            </a:r>
            <a:endParaRPr sz="3200">
              <a:latin typeface="宋体"/>
              <a:cs typeface="宋体"/>
            </a:endParaRPr>
          </a:p>
          <a:p>
            <a:pPr marL="592455">
              <a:lnSpc>
                <a:spcPct val="100000"/>
              </a:lnSpc>
              <a:spcBef>
                <a:spcPts val="960"/>
              </a:spcBef>
            </a:pPr>
            <a:r>
              <a:rPr dirty="0" sz="2950" spc="-18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的子符号串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297815" marR="17780" indent="1017905">
              <a:lnSpc>
                <a:spcPts val="4800"/>
              </a:lnSpc>
              <a:spcBef>
                <a:spcPts val="320"/>
              </a:spcBef>
            </a:pPr>
            <a:r>
              <a:rPr dirty="0" sz="3200" spc="285" b="1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ac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ad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cb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bd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r>
              <a:rPr dirty="0" sz="3200" spc="-509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285" b="1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3200" spc="295" b="1">
                <a:solidFill>
                  <a:srgbClr val="FFFFFF"/>
                </a:solidFill>
                <a:latin typeface="宋体"/>
                <a:cs typeface="宋体"/>
              </a:rPr>
              <a:t>都不</a:t>
            </a:r>
            <a:r>
              <a:rPr dirty="0" sz="3200" spc="30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-484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320" b="1">
                <a:solidFill>
                  <a:srgbClr val="FFFFFF"/>
                </a:solidFill>
                <a:latin typeface="宋体"/>
                <a:cs typeface="宋体"/>
              </a:rPr>
              <a:t>的子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符号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1348" y="72644"/>
            <a:ext cx="27082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3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51940" y="1261110"/>
            <a:ext cx="5627370" cy="36499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39240" algn="l"/>
              </a:tabLst>
            </a:pPr>
            <a:r>
              <a:rPr dirty="0" sz="4000" spc="-5" b="1">
                <a:solidFill>
                  <a:srgbClr val="FFFF00"/>
                </a:solidFill>
                <a:latin typeface="Times New Roman"/>
                <a:cs typeface="Times New Roman"/>
              </a:rPr>
              <a:t>2.1.2</a:t>
            </a:r>
            <a:r>
              <a:rPr dirty="0" sz="4000" spc="-5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4000" spc="-10" b="1">
                <a:solidFill>
                  <a:srgbClr val="FFFF00"/>
                </a:solidFill>
                <a:latin typeface="宋体"/>
                <a:cs typeface="宋体"/>
              </a:rPr>
              <a:t>文法和语言的定义</a:t>
            </a:r>
            <a:endParaRPr sz="4000">
              <a:latin typeface="宋体"/>
              <a:cs typeface="宋体"/>
            </a:endParaRPr>
          </a:p>
          <a:p>
            <a:pPr marL="702945" marR="1014094">
              <a:lnSpc>
                <a:spcPct val="139400"/>
              </a:lnSpc>
              <a:spcBef>
                <a:spcPts val="1325"/>
              </a:spcBef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一.</a:t>
            </a:r>
            <a:r>
              <a:rPr dirty="0" sz="3600" spc="1714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字符和字符串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二.</a:t>
            </a:r>
            <a:r>
              <a:rPr dirty="0" sz="3600" spc="17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字符串运算</a:t>
            </a:r>
            <a:endParaRPr sz="3600">
              <a:latin typeface="宋体"/>
              <a:cs typeface="宋体"/>
            </a:endParaRPr>
          </a:p>
          <a:p>
            <a:pPr marL="702945" marR="1014094">
              <a:lnSpc>
                <a:spcPct val="120000"/>
              </a:lnSpc>
              <a:spcBef>
                <a:spcPts val="5"/>
              </a:spcBef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三.</a:t>
            </a:r>
            <a:r>
              <a:rPr dirty="0" sz="3600" spc="1714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文法形式定义 四 .</a:t>
            </a:r>
            <a:r>
              <a:rPr dirty="0" sz="3600" spc="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语 言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6868" y="5000244"/>
            <a:ext cx="1027938" cy="8968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26542" y="766648"/>
            <a:ext cx="8359775" cy="5502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二.</a:t>
            </a:r>
            <a:r>
              <a:rPr dirty="0" sz="3200" spc="-2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符号串运算</a:t>
            </a:r>
            <a:endParaRPr sz="3200">
              <a:latin typeface="宋体"/>
              <a:cs typeface="宋体"/>
            </a:endParaRPr>
          </a:p>
          <a:p>
            <a:pPr marL="812800" indent="-609600">
              <a:lnSpc>
                <a:spcPct val="100000"/>
              </a:lnSpc>
              <a:spcBef>
                <a:spcPts val="965"/>
              </a:spcBef>
              <a:buClr>
                <a:srgbClr val="66FFFF"/>
              </a:buClr>
              <a:buSzPct val="129687"/>
              <a:buFont typeface="Wingdings"/>
              <a:buChar char=""/>
              <a:tabLst>
                <a:tab pos="812165" algn="l"/>
                <a:tab pos="812800" algn="l"/>
                <a:tab pos="233997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2.3	(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符号串的连</a:t>
            </a:r>
            <a:r>
              <a:rPr dirty="0" sz="3200" spc="780" b="1">
                <a:solidFill>
                  <a:srgbClr val="FFFF00"/>
                </a:solidFill>
                <a:latin typeface="宋体"/>
                <a:cs typeface="宋体"/>
              </a:rPr>
              <a:t>接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203200" marR="5080" indent="621665">
              <a:lnSpc>
                <a:spcPct val="118700"/>
              </a:lnSpc>
              <a:spcBef>
                <a:spcPts val="30"/>
              </a:spcBef>
            </a:pP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950" spc="-16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</a:t>
            </a:r>
            <a:r>
              <a:rPr dirty="0" sz="295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是两个符号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，如果将符号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950" spc="-85" b="1" i="1">
                <a:solidFill>
                  <a:srgbClr val="FFFFFF"/>
                </a:solidFill>
                <a:latin typeface="Symbol"/>
                <a:cs typeface="Symbol"/>
              </a:rPr>
              <a:t>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直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接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拼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接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在符号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950" spc="-16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之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后，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此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操作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符号</a:t>
            </a:r>
            <a:r>
              <a:rPr dirty="0" sz="2800" spc="3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950" spc="-95" b="1" i="1">
                <a:solidFill>
                  <a:srgbClr val="FFFFFF"/>
                </a:solidFill>
                <a:latin typeface="Symbol"/>
                <a:cs typeface="Symbol"/>
              </a:rPr>
              <a:t></a:t>
            </a:r>
            <a:r>
              <a:rPr dirty="0" sz="295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的连</a:t>
            </a:r>
            <a:endParaRPr sz="2800">
              <a:latin typeface="宋体"/>
              <a:cs typeface="宋体"/>
            </a:endParaRPr>
          </a:p>
          <a:p>
            <a:pPr marL="203200">
              <a:lnSpc>
                <a:spcPct val="100000"/>
              </a:lnSpc>
              <a:spcBef>
                <a:spcPts val="66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接，记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95" b="1" i="1">
                <a:solidFill>
                  <a:srgbClr val="FFFFFF"/>
                </a:solidFill>
                <a:latin typeface="Symbol"/>
                <a:cs typeface="Symbol"/>
              </a:rPr>
              <a:t></a:t>
            </a:r>
            <a:r>
              <a:rPr dirty="0" sz="295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41300">
              <a:lnSpc>
                <a:spcPct val="100000"/>
              </a:lnSpc>
              <a:spcBef>
                <a:spcPts val="1090"/>
              </a:spcBef>
              <a:tabLst>
                <a:tab pos="1579245" algn="l"/>
              </a:tabLst>
            </a:pP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例如</a:t>
            </a:r>
            <a:r>
              <a:rPr dirty="0" sz="2800" spc="-15" b="1">
                <a:solidFill>
                  <a:srgbClr val="99CCFF"/>
                </a:solidFill>
                <a:latin typeface="宋体"/>
                <a:cs typeface="宋体"/>
              </a:rPr>
              <a:t>，	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设有字符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abc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8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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20" b="1" i="1">
                <a:solidFill>
                  <a:srgbClr val="66FF99"/>
                </a:solidFill>
                <a:latin typeface="Times New Roman"/>
                <a:cs typeface="Times New Roman"/>
              </a:rPr>
              <a:t>xyz</a:t>
            </a:r>
            <a:endParaRPr sz="3200">
              <a:latin typeface="Times New Roman"/>
              <a:cs typeface="Times New Roman"/>
            </a:endParaRPr>
          </a:p>
          <a:p>
            <a:pPr algn="ctr" marL="109855">
              <a:lnSpc>
                <a:spcPct val="100000"/>
              </a:lnSpc>
              <a:spcBef>
                <a:spcPts val="1920"/>
              </a:spcBef>
            </a:pPr>
            <a:r>
              <a:rPr dirty="0" sz="3200" spc="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-6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95" b="1" i="1">
                <a:solidFill>
                  <a:srgbClr val="FFFFFF"/>
                </a:solidFill>
                <a:latin typeface="Symbol"/>
                <a:cs typeface="Symbol"/>
              </a:rPr>
              <a:t></a:t>
            </a:r>
            <a:r>
              <a:rPr dirty="0" sz="295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abc</a:t>
            </a:r>
            <a:r>
              <a:rPr dirty="0" sz="3200" b="1" i="1">
                <a:solidFill>
                  <a:srgbClr val="66FF99"/>
                </a:solidFill>
                <a:latin typeface="Times New Roman"/>
                <a:cs typeface="Times New Roman"/>
              </a:rPr>
              <a:t>xyz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8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950" spc="-95" b="1" i="1">
                <a:solidFill>
                  <a:srgbClr val="FFFFFF"/>
                </a:solidFill>
                <a:latin typeface="Symbol"/>
                <a:cs typeface="Symbol"/>
              </a:rPr>
              <a:t></a:t>
            </a:r>
            <a:r>
              <a:rPr dirty="0" sz="2950" spc="7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5" b="1" i="1">
                <a:solidFill>
                  <a:srgbClr val="66FF99"/>
                </a:solidFill>
                <a:latin typeface="Times New Roman"/>
                <a:cs typeface="Times New Roman"/>
              </a:rPr>
              <a:t>xyz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abc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dirty="0" sz="3200">
                <a:solidFill>
                  <a:srgbClr val="FF99FF"/>
                </a:solidFill>
                <a:latin typeface="Wingdings"/>
                <a:cs typeface="Wingdings"/>
              </a:rPr>
              <a:t></a:t>
            </a:r>
            <a:r>
              <a:rPr dirty="0" sz="3200" spc="-5">
                <a:solidFill>
                  <a:srgbClr val="FF99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连接运算是有序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。一般来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说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95" b="1" i="1">
                <a:solidFill>
                  <a:srgbClr val="FFFF00"/>
                </a:solidFill>
                <a:latin typeface="Symbol"/>
                <a:cs typeface="Symbol"/>
              </a:rPr>
              <a:t></a:t>
            </a:r>
            <a:r>
              <a:rPr dirty="0" sz="2950" spc="-4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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95" b="1" i="1">
                <a:solidFill>
                  <a:srgbClr val="FFFF00"/>
                </a:solidFill>
                <a:latin typeface="Symbol"/>
                <a:cs typeface="Symbol"/>
              </a:rPr>
              <a:t></a:t>
            </a:r>
            <a:r>
              <a:rPr dirty="0" sz="2950" spc="-3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5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，仅当</a:t>
            </a:r>
            <a:endParaRPr sz="2800">
              <a:latin typeface="宋体"/>
              <a:cs typeface="宋体"/>
            </a:endParaRPr>
          </a:p>
          <a:p>
            <a:pPr marL="635635">
              <a:lnSpc>
                <a:spcPct val="100000"/>
              </a:lnSpc>
              <a:spcBef>
                <a:spcPts val="1570"/>
              </a:spcBef>
            </a:pP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4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＝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950" spc="-85" b="1" i="1">
                <a:solidFill>
                  <a:srgbClr val="FFFF00"/>
                </a:solidFill>
                <a:latin typeface="Symbol"/>
                <a:cs typeface="Symbol"/>
              </a:rPr>
              <a:t>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或其中之一为</a:t>
            </a:r>
            <a:r>
              <a:rPr dirty="0" sz="2950" spc="-70" b="1" i="1">
                <a:solidFill>
                  <a:srgbClr val="FFFF00"/>
                </a:solidFill>
                <a:latin typeface="Symbol"/>
                <a:cs typeface="Symbol"/>
              </a:rPr>
              <a:t></a:t>
            </a:r>
            <a:r>
              <a:rPr dirty="0" sz="2950" spc="-2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，才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有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3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95" b="1" i="1">
                <a:solidFill>
                  <a:srgbClr val="FFFF00"/>
                </a:solidFill>
                <a:latin typeface="Symbol"/>
                <a:cs typeface="Symbol"/>
              </a:rPr>
              <a:t></a:t>
            </a:r>
            <a:r>
              <a:rPr dirty="0" sz="2950" spc="-4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95" b="1" i="1">
                <a:solidFill>
                  <a:srgbClr val="FFFF00"/>
                </a:solidFill>
                <a:latin typeface="Symbol"/>
                <a:cs typeface="Symbol"/>
              </a:rPr>
              <a:t></a:t>
            </a:r>
            <a:r>
              <a:rPr dirty="0" sz="2950" spc="-3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4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170" b="1" i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95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50669" y="3505961"/>
            <a:ext cx="1714500" cy="477520"/>
          </a:xfrm>
          <a:custGeom>
            <a:avLst/>
            <a:gdLst/>
            <a:ahLst/>
            <a:cxnLst/>
            <a:rect l="l" t="t" r="r" b="b"/>
            <a:pathLst>
              <a:path w="1714500" h="477520">
                <a:moveTo>
                  <a:pt x="0" y="477012"/>
                </a:moveTo>
                <a:lnTo>
                  <a:pt x="1714500" y="477012"/>
                </a:lnTo>
                <a:lnTo>
                  <a:pt x="1714500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41294" y="3687826"/>
            <a:ext cx="3908964" cy="1036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231763" y="4231589"/>
            <a:ext cx="6381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宋体"/>
                <a:cs typeface="宋体"/>
              </a:rPr>
              <a:t>注意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139" y="8271"/>
            <a:ext cx="8877935" cy="436181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610"/>
              </a:spcBef>
              <a:tabLst>
                <a:tab pos="643890" algn="l"/>
                <a:tab pos="3962400" algn="l"/>
                <a:tab pos="61296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434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宋体"/>
              <a:cs typeface="宋体"/>
            </a:endParaRPr>
          </a:p>
          <a:p>
            <a:pPr marL="768350" indent="-343535">
              <a:lnSpc>
                <a:spcPct val="100000"/>
              </a:lnSpc>
              <a:buClr>
                <a:srgbClr val="66FFFF"/>
              </a:buClr>
              <a:buSzPct val="129687"/>
              <a:buFont typeface="Wingdings"/>
              <a:buChar char=""/>
              <a:tabLst>
                <a:tab pos="76898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2.4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符号串的方</a:t>
            </a:r>
            <a:r>
              <a:rPr dirty="0" sz="3200" spc="780" b="1">
                <a:solidFill>
                  <a:srgbClr val="FFFF00"/>
                </a:solidFill>
                <a:latin typeface="宋体"/>
                <a:cs typeface="宋体"/>
              </a:rPr>
              <a:t>幂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algn="just" marL="521334" marR="519430" indent="533400">
              <a:lnSpc>
                <a:spcPct val="118700"/>
              </a:lnSpc>
              <a:spcBef>
                <a:spcPts val="35"/>
              </a:spcBef>
            </a:pP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950" spc="-17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某字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表上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spc="20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把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自身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连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接</a:t>
            </a:r>
            <a:r>
              <a:rPr dirty="0" sz="2800" spc="-6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次得 到符号串</a:t>
            </a:r>
            <a:r>
              <a:rPr dirty="0" sz="2950" spc="-95" b="1" i="1">
                <a:solidFill>
                  <a:srgbClr val="FFFFFF"/>
                </a:solidFill>
                <a:latin typeface="Symbol"/>
                <a:cs typeface="Symbol"/>
              </a:rPr>
              <a:t></a:t>
            </a:r>
            <a:r>
              <a:rPr dirty="0" sz="295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950" spc="-95" b="1" i="1">
                <a:solidFill>
                  <a:srgbClr val="FFFFFF"/>
                </a:solidFill>
                <a:latin typeface="Symbol"/>
                <a:cs typeface="Symbol"/>
              </a:rPr>
              <a:t></a:t>
            </a:r>
            <a:r>
              <a:rPr dirty="0" sz="295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r>
              <a:rPr dirty="0" sz="2800" spc="6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950" spc="-8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8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，称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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是符号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800" spc="-6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950" spc="-18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次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幂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2950" spc="-95" b="1" i="1">
                <a:solidFill>
                  <a:srgbClr val="FFFFFF"/>
                </a:solidFill>
                <a:latin typeface="Symbol"/>
                <a:cs typeface="Symbol"/>
              </a:rPr>
              <a:t></a:t>
            </a:r>
            <a:r>
              <a:rPr dirty="0" sz="2950" spc="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5525" sz="2775" spc="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99085">
              <a:lnSpc>
                <a:spcPct val="100000"/>
              </a:lnSpc>
              <a:spcBef>
                <a:spcPts val="2245"/>
              </a:spcBef>
            </a:pP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设</a:t>
            </a:r>
            <a:r>
              <a:rPr dirty="0" sz="2950" spc="-17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是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符号</a:t>
            </a:r>
            <a:r>
              <a:rPr dirty="0" sz="2800" spc="15" b="1">
                <a:solidFill>
                  <a:srgbClr val="FFFF00"/>
                </a:solidFill>
                <a:latin typeface="宋体"/>
                <a:cs typeface="宋体"/>
              </a:rPr>
              <a:t>串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则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有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定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义</a:t>
            </a:r>
            <a:endParaRPr sz="2800">
              <a:latin typeface="宋体"/>
              <a:cs typeface="宋体"/>
            </a:endParaRPr>
          </a:p>
          <a:p>
            <a:pPr marL="2127885">
              <a:lnSpc>
                <a:spcPts val="3450"/>
              </a:lnSpc>
              <a:spcBef>
                <a:spcPts val="50"/>
              </a:spcBef>
            </a:pP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4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25525" sz="2775" spc="-37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950" spc="-25" b="1" i="1">
                <a:solidFill>
                  <a:srgbClr val="FFFF00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  <a:p>
            <a:pPr marL="2127885">
              <a:lnSpc>
                <a:spcPts val="3450"/>
              </a:lnSpc>
            </a:pP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25525" sz="277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800" spc="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94305" y="4321842"/>
            <a:ext cx="3947795" cy="90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3450"/>
              </a:lnSpc>
              <a:spcBef>
                <a:spcPts val="100"/>
              </a:spcBef>
            </a:pP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25525" sz="277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4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endParaRPr sz="2950">
              <a:latin typeface="Symbol"/>
              <a:cs typeface="Symbol"/>
            </a:endParaRPr>
          </a:p>
          <a:p>
            <a:pPr marL="38100">
              <a:lnSpc>
                <a:spcPts val="3450"/>
              </a:lnSpc>
            </a:pP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25525" sz="277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25525" sz="2775" spc="15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25525" sz="277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4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50458" y="6072378"/>
            <a:ext cx="990600" cy="163195"/>
          </a:xfrm>
          <a:custGeom>
            <a:avLst/>
            <a:gdLst/>
            <a:ahLst/>
            <a:cxnLst/>
            <a:rect l="l" t="t" r="r" b="b"/>
            <a:pathLst>
              <a:path w="990600" h="163195">
                <a:moveTo>
                  <a:pt x="990599" y="0"/>
                </a:moveTo>
                <a:lnTo>
                  <a:pt x="984067" y="31738"/>
                </a:lnTo>
                <a:lnTo>
                  <a:pt x="966247" y="57654"/>
                </a:lnTo>
                <a:lnTo>
                  <a:pt x="939807" y="75127"/>
                </a:lnTo>
                <a:lnTo>
                  <a:pt x="907414" y="81534"/>
                </a:lnTo>
                <a:lnTo>
                  <a:pt x="578485" y="81534"/>
                </a:lnTo>
                <a:lnTo>
                  <a:pt x="546092" y="87940"/>
                </a:lnTo>
                <a:lnTo>
                  <a:pt x="519652" y="105413"/>
                </a:lnTo>
                <a:lnTo>
                  <a:pt x="501832" y="131329"/>
                </a:lnTo>
                <a:lnTo>
                  <a:pt x="495300" y="163068"/>
                </a:lnTo>
                <a:lnTo>
                  <a:pt x="488767" y="131329"/>
                </a:lnTo>
                <a:lnTo>
                  <a:pt x="470947" y="105413"/>
                </a:lnTo>
                <a:lnTo>
                  <a:pt x="444507" y="87940"/>
                </a:lnTo>
                <a:lnTo>
                  <a:pt x="412114" y="81534"/>
                </a:lnTo>
                <a:lnTo>
                  <a:pt x="83184" y="81534"/>
                </a:lnTo>
                <a:lnTo>
                  <a:pt x="50792" y="75127"/>
                </a:lnTo>
                <a:lnTo>
                  <a:pt x="24352" y="57654"/>
                </a:lnTo>
                <a:lnTo>
                  <a:pt x="6532" y="31738"/>
                </a:lnTo>
                <a:lnTo>
                  <a:pt x="0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194305" y="5195061"/>
            <a:ext cx="4827905" cy="1413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45465">
              <a:lnSpc>
                <a:spcPts val="3285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……</a:t>
            </a:r>
            <a:endParaRPr sz="2800">
              <a:latin typeface="Arial"/>
              <a:cs typeface="Arial"/>
            </a:endParaRPr>
          </a:p>
          <a:p>
            <a:pPr marL="38100">
              <a:lnSpc>
                <a:spcPts val="3465"/>
              </a:lnSpc>
            </a:pP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25525" sz="2775" spc="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25525" sz="2775" spc="1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25525" sz="2775" spc="15" b="1">
                <a:solidFill>
                  <a:srgbClr val="FFFF00"/>
                </a:solidFill>
                <a:latin typeface="Times New Roman"/>
                <a:cs typeface="Times New Roman"/>
              </a:rPr>
              <a:t>-1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25525" sz="2775" spc="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baseline="25525" sz="2775" spc="7" b="1">
                <a:solidFill>
                  <a:srgbClr val="FFFF00"/>
                </a:solidFill>
                <a:latin typeface="Times New Roman"/>
                <a:cs typeface="Times New Roman"/>
              </a:rPr>
              <a:t>-1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r>
              <a:rPr dirty="0" sz="2950" spc="-1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r>
              <a:rPr dirty="0" sz="2800" spc="395" b="1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dirty="0" sz="2950" spc="-110" b="1" i="1">
                <a:solidFill>
                  <a:srgbClr val="FFFF00"/>
                </a:solidFill>
                <a:latin typeface="Symbol"/>
                <a:cs typeface="Symbol"/>
              </a:rPr>
              <a:t></a:t>
            </a:r>
            <a:endParaRPr sz="2950">
              <a:latin typeface="Symbol"/>
              <a:cs typeface="Symbol"/>
            </a:endParaRPr>
          </a:p>
          <a:p>
            <a:pPr algn="r" marR="331470">
              <a:lnSpc>
                <a:spcPct val="100000"/>
              </a:lnSpc>
              <a:spcBef>
                <a:spcPts val="1300"/>
              </a:spcBef>
            </a:pP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4939" y="0"/>
            <a:ext cx="8776335" cy="660209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宋体"/>
              <a:cs typeface="宋体"/>
            </a:endParaRPr>
          </a:p>
          <a:p>
            <a:pPr marL="679450" indent="-343535">
              <a:lnSpc>
                <a:spcPct val="100000"/>
              </a:lnSpc>
              <a:spcBef>
                <a:spcPts val="5"/>
              </a:spcBef>
              <a:buClr>
                <a:srgbClr val="99FF66"/>
              </a:buClr>
              <a:buSzPct val="129687"/>
              <a:buFont typeface="Wingdings"/>
              <a:buChar char=""/>
              <a:tabLst>
                <a:tab pos="680085" algn="l"/>
                <a:tab pos="220662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2.5	(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符号串集合的乘</a:t>
            </a:r>
            <a:r>
              <a:rPr dirty="0" sz="3200" spc="770" b="1">
                <a:solidFill>
                  <a:srgbClr val="FFFF00"/>
                </a:solidFill>
                <a:latin typeface="宋体"/>
                <a:cs typeface="宋体"/>
              </a:rPr>
              <a:t>积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603250" marR="412115" indent="532765">
              <a:lnSpc>
                <a:spcPct val="15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6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是两个符号串集合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表示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的乘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积，则有定义</a:t>
            </a:r>
            <a:endParaRPr sz="2800">
              <a:latin typeface="宋体"/>
              <a:cs typeface="宋体"/>
            </a:endParaRPr>
          </a:p>
          <a:p>
            <a:pPr algn="ctr" marL="446405">
              <a:lnSpc>
                <a:spcPct val="100000"/>
              </a:lnSpc>
              <a:spcBef>
                <a:spcPts val="1530"/>
              </a:spcBef>
            </a:pP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2950" spc="-2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95" b="1" i="1">
                <a:solidFill>
                  <a:srgbClr val="FFFFFF"/>
                </a:solidFill>
                <a:latin typeface="Symbol"/>
                <a:cs typeface="Symbol"/>
              </a:rPr>
              <a:t></a:t>
            </a:r>
            <a:r>
              <a:rPr dirty="0" sz="2950" spc="-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800" spc="-5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950" spc="-5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∧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</a:t>
            </a:r>
            <a:r>
              <a:rPr dirty="0" sz="295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408940">
              <a:lnSpc>
                <a:spcPct val="100000"/>
              </a:lnSpc>
              <a:spcBef>
                <a:spcPts val="795"/>
              </a:spcBef>
            </a:pP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例如，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},</a:t>
            </a:r>
            <a:r>
              <a:rPr dirty="0" sz="32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},</a:t>
            </a:r>
            <a:endParaRPr sz="3200">
              <a:latin typeface="Times New Roman"/>
              <a:cs typeface="Times New Roman"/>
            </a:endParaRPr>
          </a:p>
          <a:p>
            <a:pPr marL="1270000">
              <a:lnSpc>
                <a:spcPct val="100000"/>
              </a:lnSpc>
              <a:spcBef>
                <a:spcPts val="1925"/>
              </a:spcBef>
              <a:tabLst>
                <a:tab pos="2083435" algn="l"/>
              </a:tabLst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abef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cef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  <a:spcBef>
                <a:spcPts val="2560"/>
              </a:spcBef>
              <a:tabLst>
                <a:tab pos="744220" algn="l"/>
              </a:tabLst>
            </a:pPr>
            <a:r>
              <a:rPr dirty="0" sz="3200">
                <a:solidFill>
                  <a:srgbClr val="FF5858"/>
                </a:solidFill>
                <a:latin typeface="Wingdings"/>
                <a:cs typeface="Wingdings"/>
              </a:rPr>
              <a:t></a:t>
            </a:r>
            <a:r>
              <a:rPr dirty="0" sz="3200">
                <a:solidFill>
                  <a:srgbClr val="FF5858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924560">
              <a:lnSpc>
                <a:spcPct val="100000"/>
              </a:lnSpc>
              <a:spcBef>
                <a:spcPts val="1535"/>
              </a:spcBef>
              <a:tabLst>
                <a:tab pos="3712210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}=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,	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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Symbol"/>
                <a:cs typeface="Symbol"/>
              </a:rPr>
              <a:t>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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800" spc="5" b="1">
                <a:solidFill>
                  <a:srgbClr val="FFFFFF"/>
                </a:solidFill>
                <a:latin typeface="Symbol"/>
                <a:cs typeface="Symbol"/>
              </a:rPr>
              <a:t>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为空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924560">
              <a:lnSpc>
                <a:spcPct val="100000"/>
              </a:lnSpc>
              <a:spcBef>
                <a:spcPts val="1739"/>
              </a:spcBef>
              <a:tabLst>
                <a:tab pos="1854200" algn="l"/>
              </a:tabLst>
            </a:pP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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={	} </a:t>
            </a:r>
            <a:r>
              <a:rPr dirty="0" sz="3200" spc="-15" b="1">
                <a:solidFill>
                  <a:srgbClr val="FFFFFF"/>
                </a:solidFill>
                <a:latin typeface="Symbol"/>
                <a:cs typeface="Symbol"/>
              </a:rPr>
              <a:t>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3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4939" y="0"/>
            <a:ext cx="8776335" cy="2584450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宋体"/>
              <a:cs typeface="宋体"/>
            </a:endParaRPr>
          </a:p>
          <a:p>
            <a:pPr marL="527050" indent="-343535">
              <a:lnSpc>
                <a:spcPct val="100000"/>
              </a:lnSpc>
              <a:buClr>
                <a:srgbClr val="99FF66"/>
              </a:buClr>
              <a:buSzPct val="129687"/>
              <a:buFont typeface="Wingdings"/>
              <a:buChar char=""/>
              <a:tabLst>
                <a:tab pos="527685" algn="l"/>
                <a:tab pos="205422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2.6	(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符号串集合的方</a:t>
            </a:r>
            <a:r>
              <a:rPr dirty="0" sz="3200" spc="770" b="1">
                <a:solidFill>
                  <a:srgbClr val="FFFF00"/>
                </a:solidFill>
                <a:latin typeface="宋体"/>
                <a:cs typeface="宋体"/>
              </a:rPr>
              <a:t>幂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272415" marR="626110" indent="622935">
              <a:lnSpc>
                <a:spcPct val="13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是符号串集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自身的乘积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以用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幂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表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1105" y="3128010"/>
            <a:ext cx="1714500" cy="477520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77165">
              <a:lnSpc>
                <a:spcPts val="3295"/>
              </a:lnSpc>
            </a:pP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= </a:t>
            </a:r>
            <a:r>
              <a:rPr dirty="0" sz="2800" spc="-40" b="1">
                <a:solidFill>
                  <a:srgbClr val="66FFFF"/>
                </a:solidFill>
                <a:latin typeface="Times New Roman"/>
                <a:cs typeface="Times New Roman"/>
              </a:rPr>
              <a:t>{</a:t>
            </a:r>
            <a:r>
              <a:rPr dirty="0" sz="2950" spc="-40" b="1" i="1">
                <a:solidFill>
                  <a:srgbClr val="66FFFF"/>
                </a:solidFill>
                <a:latin typeface="Symbol"/>
                <a:cs typeface="Symbol"/>
              </a:rPr>
              <a:t></a:t>
            </a:r>
            <a:r>
              <a:rPr dirty="0" sz="2950" spc="-6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0298" y="3529418"/>
            <a:ext cx="2896870" cy="2586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1819910">
              <a:lnSpc>
                <a:spcPct val="120100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spc="-7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  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spc="15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=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AA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70"/>
              </a:spcBef>
            </a:pP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spc="-7" b="1">
                <a:solidFill>
                  <a:srgbClr val="66FFFF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= 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spc="-7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AAA</a:t>
            </a:r>
            <a:endParaRPr sz="28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675"/>
              </a:spcBef>
            </a:pPr>
            <a:r>
              <a:rPr dirty="0" sz="2800" spc="-5" b="1">
                <a:solidFill>
                  <a:srgbClr val="66FFFF"/>
                </a:solidFill>
                <a:latin typeface="Arial"/>
                <a:cs typeface="Arial"/>
              </a:rPr>
              <a:t>……</a:t>
            </a:r>
            <a:endParaRPr sz="2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75"/>
              </a:spcBef>
            </a:pP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28528" sz="2775" b="1" i="1">
                <a:solidFill>
                  <a:srgbClr val="66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= 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baseline="28528" sz="2775" b="1" i="1">
                <a:solidFill>
                  <a:srgbClr val="66FFFF"/>
                </a:solidFill>
                <a:latin typeface="Times New Roman"/>
                <a:cs typeface="Times New Roman"/>
              </a:rPr>
              <a:t>n</a:t>
            </a:r>
            <a:r>
              <a:rPr dirty="0" baseline="28528" sz="2775" b="1">
                <a:solidFill>
                  <a:srgbClr val="66FFFF"/>
                </a:solidFill>
                <a:latin typeface="Times New Roman"/>
                <a:cs typeface="Times New Roman"/>
              </a:rPr>
              <a:t>-</a:t>
            </a:r>
            <a:r>
              <a:rPr dirty="0" baseline="25525" sz="2775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2800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2800" spc="-65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AA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…</a:t>
            </a:r>
            <a:r>
              <a:rPr dirty="0" sz="28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86683" y="3309873"/>
            <a:ext cx="3904039" cy="1036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673088" y="3853637"/>
            <a:ext cx="6381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宋体"/>
                <a:cs typeface="宋体"/>
              </a:rPr>
              <a:t>注意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1348" y="72644"/>
            <a:ext cx="2646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89534" y="913536"/>
            <a:ext cx="7846059" cy="44602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显然有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866900">
              <a:lnSpc>
                <a:spcPct val="100000"/>
              </a:lnSpc>
              <a:spcBef>
                <a:spcPts val="800"/>
              </a:spcBef>
            </a:pPr>
            <a:r>
              <a:rPr dirty="0" baseline="-16865" sz="4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85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185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1850" b="1" i="1">
                <a:solidFill>
                  <a:srgbClr val="FFFFFF"/>
                </a:solidFill>
                <a:latin typeface="Times New Roman"/>
                <a:cs typeface="Times New Roman"/>
              </a:rPr>
              <a:t>j </a:t>
            </a:r>
            <a:r>
              <a:rPr dirty="0" baseline="-16865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baseline="-16865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85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1850" spc="-114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16865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850" spc="-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300">
              <a:latin typeface="Times New Roman"/>
              <a:cs typeface="Times New Roman"/>
            </a:endParaRPr>
          </a:p>
          <a:p>
            <a:pPr marL="716280" marR="3622040" indent="-538480">
              <a:lnSpc>
                <a:spcPct val="150000"/>
              </a:lnSpc>
              <a:tabLst>
                <a:tab pos="1431925" algn="l"/>
                <a:tab pos="1612265" algn="l"/>
                <a:tab pos="2438400" algn="l"/>
              </a:tabLst>
            </a:pP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例</a:t>
            </a:r>
            <a:r>
              <a:rPr dirty="0" sz="2800" b="1">
                <a:solidFill>
                  <a:srgbClr val="99CCFF"/>
                </a:solidFill>
                <a:latin typeface="宋体"/>
                <a:cs typeface="宋体"/>
              </a:rPr>
              <a:t>:	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 {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aby</a:t>
            </a:r>
            <a:r>
              <a:rPr dirty="0" sz="2800" spc="-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}， 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则	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25525" sz="2775" spc="3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	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endParaRPr sz="2800">
              <a:latin typeface="Times New Roman"/>
              <a:cs typeface="Times New Roman"/>
            </a:endParaRPr>
          </a:p>
          <a:p>
            <a:pPr marL="2414270" marR="55880" indent="-368935">
              <a:lnSpc>
                <a:spcPts val="5760"/>
              </a:lnSpc>
              <a:spcBef>
                <a:spcPts val="509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={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abab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abx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ababy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xab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xx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-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xaby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abyab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abyx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abyaby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}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4939" y="72644"/>
            <a:ext cx="8712200" cy="4991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宋体"/>
              <a:cs typeface="宋体"/>
            </a:endParaRPr>
          </a:p>
          <a:p>
            <a:pPr marL="527050" indent="-343535">
              <a:lnSpc>
                <a:spcPct val="100000"/>
              </a:lnSpc>
              <a:buClr>
                <a:srgbClr val="99FF66"/>
              </a:buClr>
              <a:buSzPct val="129687"/>
              <a:buFont typeface="Wingdings"/>
              <a:buChar char=""/>
              <a:tabLst>
                <a:tab pos="527685" algn="l"/>
                <a:tab pos="205422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2.7	(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符号串集合的</a:t>
            </a:r>
            <a:r>
              <a:rPr dirty="0" sz="3200" spc="780" b="1">
                <a:solidFill>
                  <a:srgbClr val="FFFF00"/>
                </a:solidFill>
                <a:latin typeface="宋体"/>
                <a:cs typeface="宋体"/>
              </a:rPr>
              <a:t>并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84150" marR="642620" indent="711200">
              <a:lnSpc>
                <a:spcPct val="152100"/>
              </a:lnSpc>
              <a:spcBef>
                <a:spcPts val="210"/>
              </a:spcBef>
            </a:pP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为字符串集，集合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0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3000" spc="-7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0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并，它的元素是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中的元素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3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宋体"/>
              <a:cs typeface="宋体"/>
            </a:endParaRPr>
          </a:p>
          <a:p>
            <a:pPr algn="ctr" marR="547370">
              <a:lnSpc>
                <a:spcPct val="100000"/>
              </a:lnSpc>
              <a:spcBef>
                <a:spcPts val="5"/>
              </a:spcBef>
              <a:tabLst>
                <a:tab pos="3848735" algn="l"/>
              </a:tabLst>
            </a:pPr>
            <a:r>
              <a:rPr dirty="0" sz="3000" spc="-5" b="1">
                <a:solidFill>
                  <a:srgbClr val="99CCFF"/>
                </a:solidFill>
                <a:latin typeface="宋体"/>
                <a:cs typeface="宋体"/>
              </a:rPr>
              <a:t>例如，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={0,</a:t>
            </a:r>
            <a:r>
              <a:rPr dirty="0" sz="30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1,</a:t>
            </a:r>
            <a:r>
              <a:rPr dirty="0" sz="30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01}	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={0,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10, </a:t>
            </a:r>
            <a:r>
              <a:rPr dirty="0" sz="3000" spc="-60" b="1">
                <a:solidFill>
                  <a:srgbClr val="FFFFFF"/>
                </a:solidFill>
                <a:latin typeface="Times New Roman"/>
                <a:cs typeface="Times New Roman"/>
              </a:rPr>
              <a:t>11, 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}</a:t>
            </a:r>
            <a:r>
              <a:rPr dirty="0" sz="30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3000">
              <a:latin typeface="Times New Roman"/>
              <a:cs typeface="Times New Roman"/>
            </a:endParaRPr>
          </a:p>
          <a:p>
            <a:pPr algn="ctr" marR="847725">
              <a:lnSpc>
                <a:spcPct val="100000"/>
              </a:lnSpc>
              <a:spcBef>
                <a:spcPts val="1885"/>
              </a:spcBef>
            </a:pP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则 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P 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∪ 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Q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{0, 1, 01, 10, </a:t>
            </a:r>
            <a:r>
              <a:rPr dirty="0" sz="3200" spc="-60" b="1">
                <a:solidFill>
                  <a:srgbClr val="FFFF00"/>
                </a:solidFill>
                <a:latin typeface="Times New Roman"/>
                <a:cs typeface="Times New Roman"/>
              </a:rPr>
              <a:t>11,</a:t>
            </a:r>
            <a:r>
              <a:rPr dirty="0" sz="32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00}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9673" y="3505961"/>
            <a:ext cx="7734300" cy="2057400"/>
          </a:xfrm>
          <a:custGeom>
            <a:avLst/>
            <a:gdLst/>
            <a:ahLst/>
            <a:cxnLst/>
            <a:rect l="l" t="t" r="r" b="b"/>
            <a:pathLst>
              <a:path w="7734300" h="2057400">
                <a:moveTo>
                  <a:pt x="0" y="2057400"/>
                </a:moveTo>
                <a:lnTo>
                  <a:pt x="7734300" y="2057400"/>
                </a:lnTo>
                <a:lnTo>
                  <a:pt x="7734300" y="0"/>
                </a:lnTo>
                <a:lnTo>
                  <a:pt x="0" y="0"/>
                </a:lnTo>
                <a:lnTo>
                  <a:pt x="0" y="205740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06673" y="4572761"/>
            <a:ext cx="165100" cy="1043940"/>
          </a:xfrm>
          <a:custGeom>
            <a:avLst/>
            <a:gdLst/>
            <a:ahLst/>
            <a:cxnLst/>
            <a:rect l="l" t="t" r="r" b="b"/>
            <a:pathLst>
              <a:path w="165100" h="1043939">
                <a:moveTo>
                  <a:pt x="164591" y="1043940"/>
                </a:moveTo>
                <a:lnTo>
                  <a:pt x="132552" y="1037119"/>
                </a:lnTo>
                <a:lnTo>
                  <a:pt x="106394" y="1018524"/>
                </a:lnTo>
                <a:lnTo>
                  <a:pt x="88761" y="990951"/>
                </a:lnTo>
                <a:lnTo>
                  <a:pt x="82295" y="957199"/>
                </a:lnTo>
                <a:lnTo>
                  <a:pt x="82295" y="608711"/>
                </a:lnTo>
                <a:lnTo>
                  <a:pt x="75830" y="574958"/>
                </a:lnTo>
                <a:lnTo>
                  <a:pt x="58197" y="547385"/>
                </a:lnTo>
                <a:lnTo>
                  <a:pt x="32039" y="528790"/>
                </a:lnTo>
                <a:lnTo>
                  <a:pt x="0" y="521969"/>
                </a:lnTo>
                <a:lnTo>
                  <a:pt x="32039" y="515149"/>
                </a:lnTo>
                <a:lnTo>
                  <a:pt x="58197" y="496554"/>
                </a:lnTo>
                <a:lnTo>
                  <a:pt x="75830" y="468981"/>
                </a:lnTo>
                <a:lnTo>
                  <a:pt x="82295" y="435229"/>
                </a:lnTo>
                <a:lnTo>
                  <a:pt x="82295" y="86740"/>
                </a:lnTo>
                <a:lnTo>
                  <a:pt x="88761" y="52988"/>
                </a:lnTo>
                <a:lnTo>
                  <a:pt x="106394" y="25415"/>
                </a:lnTo>
                <a:lnTo>
                  <a:pt x="132552" y="6820"/>
                </a:lnTo>
                <a:lnTo>
                  <a:pt x="164591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28821" y="4916423"/>
            <a:ext cx="1597660" cy="0"/>
          </a:xfrm>
          <a:custGeom>
            <a:avLst/>
            <a:gdLst/>
            <a:ahLst/>
            <a:cxnLst/>
            <a:rect l="l" t="t" r="r" b="b"/>
            <a:pathLst>
              <a:path w="1597660" h="0">
                <a:moveTo>
                  <a:pt x="0" y="0"/>
                </a:moveTo>
                <a:lnTo>
                  <a:pt x="1597152" y="0"/>
                </a:lnTo>
              </a:path>
            </a:pathLst>
          </a:custGeom>
          <a:ln w="18287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21202" y="5602223"/>
            <a:ext cx="2299970" cy="0"/>
          </a:xfrm>
          <a:custGeom>
            <a:avLst/>
            <a:gdLst/>
            <a:ahLst/>
            <a:cxnLst/>
            <a:rect l="l" t="t" r="r" b="b"/>
            <a:pathLst>
              <a:path w="2299970" h="0">
                <a:moveTo>
                  <a:pt x="0" y="0"/>
                </a:moveTo>
                <a:lnTo>
                  <a:pt x="2299716" y="0"/>
                </a:lnTo>
              </a:path>
            </a:pathLst>
          </a:custGeom>
          <a:ln w="18287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4139" y="0"/>
            <a:ext cx="8813800" cy="570738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110"/>
              </a:spcBef>
              <a:tabLst>
                <a:tab pos="643890" algn="l"/>
                <a:tab pos="3962400" algn="l"/>
                <a:tab pos="61296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350">
              <a:latin typeface="宋体"/>
              <a:cs typeface="宋体"/>
            </a:endParaRPr>
          </a:p>
          <a:p>
            <a:pPr marL="577850" indent="-343535">
              <a:lnSpc>
                <a:spcPct val="100000"/>
              </a:lnSpc>
              <a:buClr>
                <a:srgbClr val="66FFFF"/>
              </a:buClr>
              <a:buSzPct val="129687"/>
              <a:buFont typeface="Wingdings"/>
              <a:buChar char=""/>
              <a:tabLst>
                <a:tab pos="578485" algn="l"/>
                <a:tab pos="210502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2.8	(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符号串集合的闭</a:t>
            </a:r>
            <a:r>
              <a:rPr dirty="0" sz="3200" spc="770" b="1">
                <a:solidFill>
                  <a:srgbClr val="FFFF00"/>
                </a:solidFill>
                <a:latin typeface="宋体"/>
                <a:cs typeface="宋体"/>
              </a:rPr>
              <a:t>包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901065">
              <a:lnSpc>
                <a:spcPct val="100000"/>
              </a:lnSpc>
              <a:spcBef>
                <a:spcPts val="1800"/>
              </a:spcBef>
            </a:pPr>
            <a:r>
              <a:rPr dirty="0" sz="3000" spc="-5" b="1">
                <a:solidFill>
                  <a:srgbClr val="EAEAEA"/>
                </a:solidFill>
                <a:latin typeface="宋体"/>
                <a:cs typeface="宋体"/>
              </a:rPr>
              <a:t>设</a:t>
            </a:r>
            <a:r>
              <a:rPr dirty="0" sz="3000" b="1" i="1">
                <a:solidFill>
                  <a:srgbClr val="EAEAEA"/>
                </a:solidFill>
                <a:latin typeface="Times New Roman"/>
                <a:cs typeface="Times New Roman"/>
              </a:rPr>
              <a:t>A</a:t>
            </a:r>
            <a:r>
              <a:rPr dirty="0" sz="3000" spc="-5" b="1">
                <a:solidFill>
                  <a:srgbClr val="EAEAEA"/>
                </a:solidFill>
                <a:latin typeface="宋体"/>
                <a:cs typeface="宋体"/>
              </a:rPr>
              <a:t>为符号串</a:t>
            </a:r>
            <a:r>
              <a:rPr dirty="0" sz="3000" spc="-10" b="1">
                <a:solidFill>
                  <a:srgbClr val="EAEAEA"/>
                </a:solidFill>
                <a:latin typeface="宋体"/>
                <a:cs typeface="宋体"/>
              </a:rPr>
              <a:t>集</a:t>
            </a:r>
            <a:r>
              <a:rPr dirty="0" sz="3000" spc="-5" b="1">
                <a:solidFill>
                  <a:srgbClr val="EAEAEA"/>
                </a:solidFill>
                <a:latin typeface="宋体"/>
                <a:cs typeface="宋体"/>
              </a:rPr>
              <a:t>，</a:t>
            </a:r>
            <a:r>
              <a:rPr dirty="0" sz="3000" spc="-5" b="1" i="1">
                <a:solidFill>
                  <a:srgbClr val="EAEAEA"/>
                </a:solidFill>
                <a:latin typeface="Times New Roman"/>
                <a:cs typeface="Times New Roman"/>
              </a:rPr>
              <a:t>A</a:t>
            </a:r>
            <a:r>
              <a:rPr dirty="0" sz="3000" spc="-5" b="1">
                <a:solidFill>
                  <a:srgbClr val="EAEAEA"/>
                </a:solidFill>
                <a:latin typeface="宋体"/>
                <a:cs typeface="宋体"/>
              </a:rPr>
              <a:t>的正闭包记作</a:t>
            </a:r>
            <a:r>
              <a:rPr dirty="0" sz="3000" spc="-5" b="1" i="1">
                <a:solidFill>
                  <a:srgbClr val="EAEAEA"/>
                </a:solidFill>
                <a:latin typeface="Times New Roman"/>
                <a:cs typeface="Times New Roman"/>
              </a:rPr>
              <a:t>A</a:t>
            </a:r>
            <a:r>
              <a:rPr dirty="0" baseline="25000" sz="3000" spc="-7" b="1">
                <a:solidFill>
                  <a:srgbClr val="EAEAEA"/>
                </a:solidFill>
                <a:latin typeface="Times New Roman"/>
                <a:cs typeface="Times New Roman"/>
              </a:rPr>
              <a:t>+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endParaRPr sz="3000">
              <a:latin typeface="宋体"/>
              <a:cs typeface="宋体"/>
            </a:endParaRPr>
          </a:p>
          <a:p>
            <a:pPr marL="901065" marR="2325370" indent="1162685">
              <a:lnSpc>
                <a:spcPts val="5400"/>
              </a:lnSpc>
              <a:spcBef>
                <a:spcPts val="480"/>
              </a:spcBef>
            </a:pP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000" sz="3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baseline="25000" sz="3000" spc="-4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0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000" sz="30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3000" spc="-7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000" sz="3000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30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3000" spc="-7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000" sz="30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…  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定义</a:t>
            </a:r>
            <a:r>
              <a:rPr dirty="0" sz="30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的自反闭包，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endParaRPr sz="3000">
              <a:latin typeface="宋体"/>
              <a:cs typeface="宋体"/>
            </a:endParaRPr>
          </a:p>
          <a:p>
            <a:pPr marL="2063750">
              <a:lnSpc>
                <a:spcPct val="100000"/>
              </a:lnSpc>
              <a:spcBef>
                <a:spcPts val="1170"/>
              </a:spcBef>
              <a:tabLst>
                <a:tab pos="6144260" algn="l"/>
              </a:tabLst>
            </a:pP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000" sz="3000" b="1">
                <a:solidFill>
                  <a:srgbClr val="FFFFFF"/>
                </a:solidFill>
                <a:latin typeface="Times New Roman"/>
                <a:cs typeface="Times New Roman"/>
              </a:rPr>
              <a:t>* 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30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000" sz="3000" spc="-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000" spc="-5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3000" spc="-7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000" sz="3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3000" spc="-1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1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000" spc="-1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000" spc="-15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3000" spc="-7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0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000" sz="3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=	</a:t>
            </a:r>
            <a:r>
              <a:rPr dirty="0" sz="30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000" sz="3000" spc="-1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000" spc="-10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150" spc="-1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>
              <a:latin typeface="Times New Roman"/>
              <a:cs typeface="Times New Roman"/>
            </a:endParaRPr>
          </a:p>
          <a:p>
            <a:pPr marL="463550">
              <a:lnSpc>
                <a:spcPct val="100000"/>
              </a:lnSpc>
              <a:tabLst>
                <a:tab pos="3615690" algn="l"/>
              </a:tabLst>
            </a:pPr>
            <a:r>
              <a:rPr dirty="0" u="heavy" sz="3000" spc="-5" b="1">
                <a:solidFill>
                  <a:srgbClr val="CCFFFF"/>
                </a:solidFill>
                <a:uFill>
                  <a:solidFill>
                    <a:srgbClr val="CCFFFF"/>
                  </a:solidFill>
                </a:uFill>
                <a:latin typeface="宋体"/>
                <a:cs typeface="宋体"/>
              </a:rPr>
              <a:t>由定义知</a:t>
            </a:r>
            <a:r>
              <a:rPr dirty="0" u="heavy" sz="3000" spc="-15" b="1">
                <a:solidFill>
                  <a:srgbClr val="CCFFFF"/>
                </a:solidFill>
                <a:uFill>
                  <a:solidFill>
                    <a:srgbClr val="CCFFFF"/>
                  </a:solidFill>
                </a:uFill>
                <a:latin typeface="宋体"/>
                <a:cs typeface="宋体"/>
              </a:rPr>
              <a:t>，</a:t>
            </a:r>
            <a:r>
              <a:rPr dirty="0" sz="3000" spc="-15" b="1">
                <a:solidFill>
                  <a:srgbClr val="CCFFFF"/>
                </a:solidFill>
                <a:latin typeface="宋体"/>
                <a:cs typeface="宋体"/>
              </a:rPr>
              <a:t>	</a:t>
            </a:r>
            <a:r>
              <a:rPr dirty="0" sz="30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25000" sz="3000" spc="-7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000" spc="-5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30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000" spc="-29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0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25000" sz="30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baseline="25000" sz="3000">
              <a:latin typeface="Times New Roman"/>
              <a:cs typeface="Times New Roman"/>
            </a:endParaRPr>
          </a:p>
          <a:p>
            <a:pPr algn="ctr" marL="321945">
              <a:lnSpc>
                <a:spcPct val="100000"/>
              </a:lnSpc>
              <a:spcBef>
                <a:spcPts val="1800"/>
              </a:spcBef>
            </a:pPr>
            <a:r>
              <a:rPr dirty="0" sz="30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baseline="25000" sz="3000" b="1">
                <a:solidFill>
                  <a:srgbClr val="FFFF00"/>
                </a:solidFill>
                <a:latin typeface="Times New Roman"/>
                <a:cs typeface="Times New Roman"/>
              </a:rPr>
              <a:t>* 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30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25000" sz="3000" b="1">
                <a:solidFill>
                  <a:srgbClr val="FFFF00"/>
                </a:solidFill>
                <a:latin typeface="Times New Roman"/>
                <a:cs typeface="Times New Roman"/>
              </a:rPr>
              <a:t>0 </a:t>
            </a:r>
            <a:r>
              <a:rPr dirty="0" sz="3000" spc="-15" b="1">
                <a:solidFill>
                  <a:srgbClr val="FFFF00"/>
                </a:solidFill>
                <a:latin typeface="宋体"/>
                <a:cs typeface="宋体"/>
              </a:rPr>
              <a:t>∪ </a:t>
            </a:r>
            <a:r>
              <a:rPr dirty="0" sz="30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000" spc="-52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25000" sz="300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endParaRPr baseline="25000"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7122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8942" y="1090930"/>
            <a:ext cx="419163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99CCFF"/>
                </a:solidFill>
                <a:latin typeface="宋体"/>
                <a:cs typeface="宋体"/>
              </a:rPr>
              <a:t>例如</a:t>
            </a:r>
            <a:r>
              <a:rPr dirty="0" sz="3200" spc="-10">
                <a:solidFill>
                  <a:srgbClr val="99CCFF"/>
                </a:solidFill>
                <a:latin typeface="宋体"/>
                <a:cs typeface="宋体"/>
              </a:rPr>
              <a:t>，</a:t>
            </a:r>
            <a:r>
              <a:rPr dirty="0" sz="3200" spc="-40">
                <a:solidFill>
                  <a:srgbClr val="99CCFF"/>
                </a:solidFill>
                <a:latin typeface="宋体"/>
                <a:cs typeface="宋体"/>
              </a:rPr>
              <a:t> 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{01,10}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6198" y="1580087"/>
            <a:ext cx="8007984" cy="3683635"/>
          </a:xfrm>
          <a:prstGeom prst="rect">
            <a:avLst/>
          </a:prstGeom>
        </p:spPr>
        <p:txBody>
          <a:bodyPr wrap="square" lIns="0" tIns="255904" rIns="0" bIns="0" rtlCol="0" vert="horz">
            <a:spAutoFit/>
          </a:bodyPr>
          <a:lstStyle/>
          <a:p>
            <a:pPr marL="224790">
              <a:lnSpc>
                <a:spcPct val="100000"/>
              </a:lnSpc>
              <a:spcBef>
                <a:spcPts val="2014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则</a:t>
            </a:r>
            <a:endParaRPr sz="32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spcBef>
                <a:spcPts val="1920"/>
              </a:spcBef>
            </a:pP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132" sz="3150" spc="7" b="1">
                <a:solidFill>
                  <a:srgbClr val="FFFF00"/>
                </a:solidFill>
                <a:latin typeface="宋体"/>
                <a:cs typeface="宋体"/>
              </a:rPr>
              <a:t>*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=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00"/>
                </a:solidFill>
                <a:latin typeface="Symbol"/>
                <a:cs typeface="Symbol"/>
              </a:rPr>
              <a:t>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01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10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0101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0110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1001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1010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endParaRPr sz="3200">
              <a:latin typeface="宋体"/>
              <a:cs typeface="宋体"/>
            </a:endParaRPr>
          </a:p>
          <a:p>
            <a:pPr marL="1139190">
              <a:lnSpc>
                <a:spcPct val="100000"/>
              </a:lnSpc>
              <a:spcBef>
                <a:spcPts val="1920"/>
              </a:spcBef>
            </a:pP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010101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010110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…}</a:t>
            </a:r>
            <a:endParaRPr sz="3200">
              <a:latin typeface="Times New Roman"/>
              <a:cs typeface="Times New Roman"/>
            </a:endParaRPr>
          </a:p>
          <a:p>
            <a:pPr marL="1139190" marR="264160" indent="-910590">
              <a:lnSpc>
                <a:spcPts val="5760"/>
              </a:lnSpc>
              <a:spcBef>
                <a:spcPts val="51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132" sz="3150" b="1">
                <a:solidFill>
                  <a:srgbClr val="FFFF00"/>
                </a:solidFill>
                <a:latin typeface="宋体"/>
                <a:cs typeface="宋体"/>
              </a:rPr>
              <a:t>+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=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 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01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10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0101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0110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1001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1010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  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010101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010110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…}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47038" y="1261110"/>
            <a:ext cx="5625465" cy="36499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39875" algn="l"/>
              </a:tabLst>
            </a:pPr>
            <a:r>
              <a:rPr dirty="0" sz="4000" spc="-5" b="1">
                <a:solidFill>
                  <a:srgbClr val="FFFF00"/>
                </a:solidFill>
                <a:latin typeface="Times New Roman"/>
                <a:cs typeface="Times New Roman"/>
              </a:rPr>
              <a:t>2.1.3</a:t>
            </a:r>
            <a:r>
              <a:rPr dirty="0" sz="4000" spc="-5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4000" spc="-10" b="1">
                <a:solidFill>
                  <a:srgbClr val="FFFF00"/>
                </a:solidFill>
                <a:latin typeface="宋体"/>
                <a:cs typeface="宋体"/>
              </a:rPr>
              <a:t>文法和语言的定义</a:t>
            </a:r>
            <a:endParaRPr sz="4000">
              <a:latin typeface="宋体"/>
              <a:cs typeface="宋体"/>
            </a:endParaRPr>
          </a:p>
          <a:p>
            <a:pPr marL="702945" marR="1012190">
              <a:lnSpc>
                <a:spcPct val="139400"/>
              </a:lnSpc>
              <a:spcBef>
                <a:spcPts val="1325"/>
              </a:spcBef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一.</a:t>
            </a:r>
            <a:r>
              <a:rPr dirty="0" sz="3600" spc="17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字符和字符串 二.</a:t>
            </a:r>
            <a:r>
              <a:rPr dirty="0" sz="3600" spc="175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字符串运算</a:t>
            </a:r>
            <a:endParaRPr sz="3600">
              <a:latin typeface="宋体"/>
              <a:cs typeface="宋体"/>
            </a:endParaRPr>
          </a:p>
          <a:p>
            <a:pPr marL="702945" marR="1012190">
              <a:lnSpc>
                <a:spcPct val="120000"/>
              </a:lnSpc>
              <a:spcBef>
                <a:spcPts val="5"/>
              </a:spcBef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三.</a:t>
            </a:r>
            <a:r>
              <a:rPr dirty="0" sz="3600" spc="17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文法形式定义 四 .</a:t>
            </a:r>
            <a:r>
              <a:rPr dirty="0" sz="36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语 言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1348" y="72644"/>
            <a:ext cx="27082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3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3941" y="428790"/>
            <a:ext cx="4197350" cy="183578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3500" spc="5" b="1">
                <a:solidFill>
                  <a:srgbClr val="FFFFFF"/>
                </a:solidFill>
                <a:latin typeface="宋体"/>
                <a:cs typeface="宋体"/>
              </a:rPr>
              <a:t>三</a:t>
            </a: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3500" spc="-9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endParaRPr sz="3200">
              <a:latin typeface="宋体"/>
              <a:cs typeface="宋体"/>
            </a:endParaRPr>
          </a:p>
          <a:p>
            <a:pPr marL="622300" indent="-609600">
              <a:lnSpc>
                <a:spcPct val="100000"/>
              </a:lnSpc>
              <a:spcBef>
                <a:spcPts val="1445"/>
              </a:spcBef>
              <a:buClr>
                <a:srgbClr val="66FFFF"/>
              </a:buClr>
              <a:buSzPct val="130000"/>
              <a:buFont typeface="Wingdings"/>
              <a:buChar char=""/>
              <a:tabLst>
                <a:tab pos="621665" algn="l"/>
                <a:tab pos="622300" algn="l"/>
              </a:tabLst>
            </a:pP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定</a:t>
            </a:r>
            <a:r>
              <a:rPr dirty="0" sz="3000" b="1">
                <a:solidFill>
                  <a:srgbClr val="FFFF00"/>
                </a:solidFill>
                <a:latin typeface="宋体"/>
                <a:cs typeface="宋体"/>
              </a:rPr>
              <a:t>义</a:t>
            </a:r>
            <a:r>
              <a:rPr dirty="0" sz="3000" spc="-5" b="1">
                <a:solidFill>
                  <a:srgbClr val="FFFF00"/>
                </a:solidFill>
                <a:latin typeface="Times New Roman"/>
                <a:cs typeface="Times New Roman"/>
              </a:rPr>
              <a:t>2.9:</a:t>
            </a:r>
            <a:endParaRPr sz="3000">
              <a:latin typeface="Times New Roman"/>
              <a:cs typeface="Times New Roman"/>
            </a:endParaRPr>
          </a:p>
          <a:p>
            <a:pPr marL="901065">
              <a:lnSpc>
                <a:spcPct val="100000"/>
              </a:lnSpc>
              <a:spcBef>
                <a:spcPts val="1625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一部文法</a:t>
            </a:r>
            <a:r>
              <a:rPr dirty="0" sz="2400" spc="-1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是一个四元组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19020" y="2383916"/>
            <a:ext cx="29527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468755" algn="l"/>
                <a:tab pos="2023745" algn="l"/>
                <a:tab pos="2423160" algn="l"/>
              </a:tabLst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400" spc="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400" spc="-6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24305" sz="2400" spc="-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24305" sz="2400" spc="-7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2400" spc="-1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640" y="2578734"/>
            <a:ext cx="944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其中：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6240" y="2943814"/>
            <a:ext cx="8353425" cy="38093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8100" marR="219075" indent="146050">
              <a:lnSpc>
                <a:spcPct val="150000"/>
              </a:lnSpc>
              <a:spcBef>
                <a:spcPts val="105"/>
              </a:spcBef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24305" sz="2400" spc="-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spc="-5" b="1">
                <a:solidFill>
                  <a:srgbClr val="FFFF66"/>
                </a:solidFill>
                <a:latin typeface="宋体"/>
                <a:cs typeface="宋体"/>
              </a:rPr>
              <a:t>非空有限的非终结符号</a:t>
            </a:r>
            <a:r>
              <a:rPr dirty="0" sz="2400" b="1">
                <a:solidFill>
                  <a:srgbClr val="FFFF66"/>
                </a:solidFill>
                <a:latin typeface="宋体"/>
                <a:cs typeface="宋体"/>
              </a:rPr>
              <a:t>集</a:t>
            </a:r>
            <a:r>
              <a:rPr dirty="0" sz="2400" spc="5" b="1">
                <a:solidFill>
                  <a:srgbClr val="FFFF66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>
                <a:solidFill>
                  <a:srgbClr val="FFFF66"/>
                </a:solidFill>
                <a:latin typeface="宋体"/>
                <a:cs typeface="宋体"/>
              </a:rPr>
              <a:t>一般用大写字母表</a:t>
            </a:r>
            <a:r>
              <a:rPr dirty="0" sz="2400" b="1">
                <a:solidFill>
                  <a:srgbClr val="FFFF66"/>
                </a:solidFill>
                <a:latin typeface="宋体"/>
                <a:cs typeface="宋体"/>
              </a:rPr>
              <a:t>示</a:t>
            </a:r>
            <a:r>
              <a:rPr dirty="0" sz="2400" b="1">
                <a:solidFill>
                  <a:srgbClr val="FFFF66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66"/>
                </a:solidFill>
                <a:latin typeface="宋体"/>
                <a:cs typeface="宋体"/>
              </a:rPr>
              <a:t>。其中 </a:t>
            </a:r>
            <a:r>
              <a:rPr dirty="0" sz="2400" b="1">
                <a:solidFill>
                  <a:srgbClr val="FFFF66"/>
                </a:solidFill>
                <a:latin typeface="宋体"/>
                <a:cs typeface="宋体"/>
              </a:rPr>
              <a:t>的元素称为非终结符，或语法变量，代表了一个语法范畴。 </a:t>
            </a:r>
            <a:r>
              <a:rPr dirty="0" sz="2400" b="1">
                <a:solidFill>
                  <a:srgbClr val="66CCFF"/>
                </a:solidFill>
                <a:latin typeface="宋体"/>
                <a:cs typeface="宋体"/>
              </a:rPr>
              <a:t>表示一类具有某种性质的符号。</a:t>
            </a:r>
            <a:endParaRPr sz="2400">
              <a:latin typeface="宋体"/>
              <a:cs typeface="宋体"/>
            </a:endParaRPr>
          </a:p>
          <a:p>
            <a:pPr marL="450850">
              <a:lnSpc>
                <a:spcPct val="100000"/>
              </a:lnSpc>
              <a:spcBef>
                <a:spcPts val="1010"/>
              </a:spcBef>
            </a:pP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24305" sz="2400" spc="-7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非空有限的终结符号集（一般用小写字母表示）。</a:t>
            </a:r>
            <a:endParaRPr sz="2400">
              <a:latin typeface="宋体"/>
              <a:cs typeface="宋体"/>
            </a:endParaRPr>
          </a:p>
          <a:p>
            <a:pPr algn="just" marL="38100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solidFill>
                  <a:srgbClr val="FFFF66"/>
                </a:solidFill>
                <a:latin typeface="宋体"/>
                <a:cs typeface="宋体"/>
              </a:rPr>
              <a:t>设</a:t>
            </a:r>
            <a:r>
              <a:rPr dirty="0" sz="2400" spc="-5" b="1" i="1">
                <a:solidFill>
                  <a:srgbClr val="FFFF66"/>
                </a:solidFill>
                <a:latin typeface="Times New Roman"/>
                <a:cs typeface="Times New Roman"/>
              </a:rPr>
              <a:t>V</a:t>
            </a:r>
            <a:r>
              <a:rPr dirty="0" sz="2400" b="1">
                <a:solidFill>
                  <a:srgbClr val="FFFF66"/>
                </a:solidFill>
                <a:latin typeface="宋体"/>
                <a:cs typeface="宋体"/>
              </a:rPr>
              <a:t>是文法</a:t>
            </a:r>
            <a:r>
              <a:rPr dirty="0" sz="2400" spc="-10" b="1" i="1">
                <a:solidFill>
                  <a:srgbClr val="FFFF66"/>
                </a:solidFill>
                <a:latin typeface="Times New Roman"/>
                <a:cs typeface="Times New Roman"/>
              </a:rPr>
              <a:t>G</a:t>
            </a:r>
            <a:r>
              <a:rPr dirty="0" sz="2400" b="1">
                <a:solidFill>
                  <a:srgbClr val="FFFF66"/>
                </a:solidFill>
                <a:latin typeface="宋体"/>
                <a:cs typeface="宋体"/>
              </a:rPr>
              <a:t>的符号</a:t>
            </a:r>
            <a:r>
              <a:rPr dirty="0" sz="2400" spc="5" b="1">
                <a:solidFill>
                  <a:srgbClr val="FFFF66"/>
                </a:solidFill>
                <a:latin typeface="宋体"/>
                <a:cs typeface="宋体"/>
              </a:rPr>
              <a:t>集</a:t>
            </a:r>
            <a:r>
              <a:rPr dirty="0" sz="2400" b="1">
                <a:solidFill>
                  <a:srgbClr val="FFFF66"/>
                </a:solidFill>
                <a:latin typeface="宋体"/>
                <a:cs typeface="宋体"/>
              </a:rPr>
              <a:t>，则有</a:t>
            </a:r>
            <a:r>
              <a:rPr dirty="0" sz="2400" spc="-5" b="1" i="1">
                <a:solidFill>
                  <a:srgbClr val="FFFF66"/>
                </a:solidFill>
                <a:latin typeface="Times New Roman"/>
                <a:cs typeface="Times New Roman"/>
              </a:rPr>
              <a:t>V</a:t>
            </a:r>
            <a:r>
              <a:rPr dirty="0" sz="2400" spc="-5" b="1">
                <a:solidFill>
                  <a:srgbClr val="FFFF66"/>
                </a:solidFill>
                <a:latin typeface="Times New Roman"/>
                <a:cs typeface="Times New Roman"/>
              </a:rPr>
              <a:t>=</a:t>
            </a:r>
            <a:r>
              <a:rPr dirty="0" sz="2400" spc="5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66"/>
                </a:solidFill>
                <a:latin typeface="Times New Roman"/>
                <a:cs typeface="Times New Roman"/>
              </a:rPr>
              <a:t>V</a:t>
            </a:r>
            <a:r>
              <a:rPr dirty="0" baseline="-24305" sz="2400" spc="-7" b="1" i="1">
                <a:solidFill>
                  <a:srgbClr val="FFFF66"/>
                </a:solidFill>
                <a:latin typeface="Times New Roman"/>
                <a:cs typeface="Times New Roman"/>
              </a:rPr>
              <a:t>T</a:t>
            </a:r>
            <a:r>
              <a:rPr dirty="0" baseline="-24305" sz="2400" spc="300" b="1" i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∪</a:t>
            </a:r>
            <a:r>
              <a:rPr dirty="0" sz="2400" spc="-5" b="1" i="1">
                <a:solidFill>
                  <a:srgbClr val="FFFF66"/>
                </a:solidFill>
                <a:latin typeface="Times New Roman"/>
                <a:cs typeface="Times New Roman"/>
              </a:rPr>
              <a:t>V</a:t>
            </a:r>
            <a:r>
              <a:rPr dirty="0" baseline="-24305" sz="2400" spc="-7" b="1" i="1">
                <a:solidFill>
                  <a:srgbClr val="FFFF66"/>
                </a:solidFill>
                <a:latin typeface="Times New Roman"/>
                <a:cs typeface="Times New Roman"/>
              </a:rPr>
              <a:t>N</a:t>
            </a:r>
            <a:r>
              <a:rPr dirty="0" baseline="-24305" sz="2400" spc="292" b="1" i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400" spc="-5" b="1" i="1">
                <a:solidFill>
                  <a:srgbClr val="FFFF66"/>
                </a:solidFill>
                <a:latin typeface="Times New Roman"/>
                <a:cs typeface="Times New Roman"/>
              </a:rPr>
              <a:t>V</a:t>
            </a:r>
            <a:r>
              <a:rPr dirty="0" baseline="-24305" sz="2400" spc="-7" b="1" i="1">
                <a:solidFill>
                  <a:srgbClr val="FFFF66"/>
                </a:solidFill>
                <a:latin typeface="Times New Roman"/>
                <a:cs typeface="Times New Roman"/>
              </a:rPr>
              <a:t>T</a:t>
            </a:r>
            <a:r>
              <a:rPr dirty="0" baseline="-24305" sz="2400" spc="300" b="1" i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∩</a:t>
            </a:r>
            <a:r>
              <a:rPr dirty="0" sz="2400" spc="-5" b="1" i="1">
                <a:solidFill>
                  <a:srgbClr val="FFFF66"/>
                </a:solidFill>
                <a:latin typeface="Times New Roman"/>
                <a:cs typeface="Times New Roman"/>
              </a:rPr>
              <a:t>V</a:t>
            </a:r>
            <a:r>
              <a:rPr dirty="0" baseline="-24305" sz="2400" spc="-7" b="1" i="1">
                <a:solidFill>
                  <a:srgbClr val="FFFF66"/>
                </a:solidFill>
                <a:latin typeface="Times New Roman"/>
                <a:cs typeface="Times New Roman"/>
              </a:rPr>
              <a:t>N </a:t>
            </a:r>
            <a:r>
              <a:rPr dirty="0" sz="2400" spc="5" b="1">
                <a:solidFill>
                  <a:srgbClr val="FFFF66"/>
                </a:solidFill>
                <a:latin typeface="Times New Roman"/>
                <a:cs typeface="Times New Roman"/>
              </a:rPr>
              <a:t>=</a:t>
            </a:r>
            <a:r>
              <a:rPr dirty="0" sz="2400" spc="5" b="1">
                <a:solidFill>
                  <a:srgbClr val="FFFF66"/>
                </a:solidFill>
                <a:latin typeface="Symbol"/>
                <a:cs typeface="Symbol"/>
              </a:rPr>
              <a:t></a:t>
            </a:r>
            <a:r>
              <a:rPr dirty="0" sz="2400" spc="-10" b="1">
                <a:solidFill>
                  <a:srgbClr val="FFFF66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38100" marR="30480" indent="381000">
              <a:lnSpc>
                <a:spcPts val="4320"/>
              </a:lnSpc>
              <a:spcBef>
                <a:spcPts val="360"/>
              </a:spcBef>
            </a:pPr>
            <a:r>
              <a:rPr dirty="0" sz="24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文法的开始符号或识别符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，亦称公理，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4305" sz="24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代表 语言最终要得到的语法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范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畴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8436" y="6583171"/>
            <a:ext cx="7372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8776335" cy="2880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50">
              <a:latin typeface="宋体"/>
              <a:cs typeface="宋体"/>
            </a:endParaRPr>
          </a:p>
          <a:p>
            <a:pPr marL="374650">
              <a:lnSpc>
                <a:spcPct val="100000"/>
              </a:lnSpc>
            </a:pP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有限产生式集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74650" marR="128905" indent="709930">
              <a:lnSpc>
                <a:spcPct val="120100"/>
              </a:lnSpc>
              <a:spcBef>
                <a:spcPts val="1460"/>
              </a:spcBef>
            </a:pP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25" b="1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式就</a:t>
            </a:r>
            <a:r>
              <a:rPr dirty="0" sz="2800" spc="25" b="1">
                <a:solidFill>
                  <a:srgbClr val="FFFFFF"/>
                </a:solidFill>
                <a:latin typeface="宋体"/>
                <a:cs typeface="宋体"/>
              </a:rPr>
              <a:t>是按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一定</a:t>
            </a:r>
            <a:r>
              <a:rPr dirty="0" sz="2800" spc="25" b="1">
                <a:solidFill>
                  <a:srgbClr val="FFFFFF"/>
                </a:solidFill>
                <a:latin typeface="宋体"/>
                <a:cs typeface="宋体"/>
              </a:rPr>
              <a:t>格式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书写</a:t>
            </a:r>
            <a:r>
              <a:rPr dirty="0" sz="2800" spc="25" b="1">
                <a:solidFill>
                  <a:srgbClr val="FFFFFF"/>
                </a:solidFill>
                <a:latin typeface="宋体"/>
                <a:cs typeface="宋体"/>
              </a:rPr>
              <a:t>的定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义语</a:t>
            </a:r>
            <a:r>
              <a:rPr dirty="0" sz="2800" spc="25" b="1">
                <a:solidFill>
                  <a:srgbClr val="FFFFFF"/>
                </a:solidFill>
                <a:latin typeface="宋体"/>
                <a:cs typeface="宋体"/>
              </a:rPr>
              <a:t>法范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畴的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文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法规则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它是一部文法的实体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984250">
              <a:lnSpc>
                <a:spcPct val="100000"/>
              </a:lnSpc>
              <a:spcBef>
                <a:spcPts val="132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产生式的形式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(BNF):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4761" y="3003042"/>
            <a:ext cx="4097020" cy="647700"/>
          </a:xfrm>
          <a:prstGeom prst="rect">
            <a:avLst/>
          </a:prstGeom>
          <a:ln w="38100">
            <a:solidFill>
              <a:srgbClr val="DE6D95"/>
            </a:solidFill>
          </a:ln>
        </p:spPr>
        <p:txBody>
          <a:bodyPr wrap="square" lIns="0" tIns="61594" rIns="0" bIns="0" rtlCol="0" vert="horz">
            <a:spAutoFit/>
          </a:bodyPr>
          <a:lstStyle/>
          <a:p>
            <a:pPr marL="426720">
              <a:lnSpc>
                <a:spcPct val="100000"/>
              </a:lnSpc>
              <a:spcBef>
                <a:spcPts val="484"/>
              </a:spcBef>
            </a:pP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-7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::=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1642" y="3516248"/>
            <a:ext cx="7702550" cy="2711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831215">
              <a:lnSpc>
                <a:spcPct val="113999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其中：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称为产生式的左部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称为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生式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右部或称为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的候选式。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490"/>
              </a:spcBef>
            </a:pP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2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25525" sz="2775" spc="-3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中至少包含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中的一个元素，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8100" marR="593090" indent="444500">
              <a:lnSpc>
                <a:spcPts val="4540"/>
              </a:lnSpc>
              <a:spcBef>
                <a:spcPts val="320"/>
              </a:spcBef>
            </a:pP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注意</a:t>
            </a:r>
            <a:r>
              <a:rPr dirty="0" sz="2800" b="1">
                <a:solidFill>
                  <a:srgbClr val="99CC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公理</a:t>
            </a:r>
            <a:r>
              <a:rPr dirty="0" sz="2800" b="1" i="1">
                <a:solidFill>
                  <a:srgbClr val="99CC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至少且必须在文法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某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个产</a:t>
            </a:r>
            <a:r>
              <a:rPr dirty="0" sz="2800" spc="5" b="1">
                <a:solidFill>
                  <a:srgbClr val="99CCFF"/>
                </a:solidFill>
                <a:latin typeface="宋体"/>
                <a:cs typeface="宋体"/>
              </a:rPr>
              <a:t>生</a:t>
            </a:r>
            <a:r>
              <a:rPr dirty="0" sz="2800" spc="-15" b="1">
                <a:solidFill>
                  <a:srgbClr val="99CCFF"/>
                </a:solidFill>
                <a:latin typeface="宋体"/>
                <a:cs typeface="宋体"/>
              </a:rPr>
              <a:t>式 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的左部出现一次</a:t>
            </a:r>
            <a:r>
              <a:rPr dirty="0" sz="2800" spc="-15" b="1">
                <a:solidFill>
                  <a:srgbClr val="99CC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8834" y="6351523"/>
            <a:ext cx="59067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99CCFF"/>
                </a:solidFill>
                <a:latin typeface="宋体"/>
                <a:cs typeface="宋体"/>
              </a:rPr>
              <a:t>以</a:t>
            </a:r>
            <a:r>
              <a:rPr dirty="0" sz="2800" spc="-5" b="1" i="1">
                <a:solidFill>
                  <a:srgbClr val="99CC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为开始符号的文</a:t>
            </a:r>
            <a:r>
              <a:rPr dirty="0" sz="2800" spc="-20" b="1">
                <a:solidFill>
                  <a:srgbClr val="99CCFF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99CC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99CCFF"/>
                </a:solidFill>
                <a:latin typeface="宋体"/>
                <a:cs typeface="宋体"/>
              </a:rPr>
              <a:t>可</a:t>
            </a:r>
            <a:r>
              <a:rPr dirty="0" sz="2800" b="1">
                <a:solidFill>
                  <a:srgbClr val="99CCFF"/>
                </a:solidFill>
                <a:latin typeface="宋体"/>
                <a:cs typeface="宋体"/>
              </a:rPr>
              <a:t>记</a:t>
            </a:r>
            <a:r>
              <a:rPr dirty="0" sz="2800" spc="10" b="1">
                <a:solidFill>
                  <a:srgbClr val="99CCFF"/>
                </a:solidFill>
                <a:latin typeface="宋体"/>
                <a:cs typeface="宋体"/>
              </a:rPr>
              <a:t>为</a:t>
            </a:r>
            <a:r>
              <a:rPr dirty="0" sz="2800" spc="-5" b="1" i="1">
                <a:solidFill>
                  <a:srgbClr val="99CCFF"/>
                </a:solidFill>
                <a:latin typeface="Times New Roman"/>
                <a:cs typeface="Times New Roman"/>
              </a:rPr>
              <a:t>G</a:t>
            </a:r>
            <a:r>
              <a:rPr dirty="0" sz="2800" spc="10" b="1" i="1">
                <a:solidFill>
                  <a:srgbClr val="99CC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CC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99CC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99CC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99CC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7763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6443" y="778256"/>
            <a:ext cx="704405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1279525" algn="l"/>
              </a:tabLst>
            </a:pPr>
            <a:r>
              <a:rPr dirty="0" sz="3200">
                <a:solidFill>
                  <a:srgbClr val="99CCFF"/>
                </a:solidFill>
                <a:latin typeface="宋体"/>
                <a:cs typeface="宋体"/>
              </a:rPr>
              <a:t>例</a:t>
            </a:r>
            <a:r>
              <a:rPr dirty="0" sz="3200">
                <a:solidFill>
                  <a:srgbClr val="99CCFF"/>
                </a:solidFill>
                <a:latin typeface="Times New Roman"/>
                <a:cs typeface="Times New Roman"/>
              </a:rPr>
              <a:t>2.2:	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简单的算术表达式文</a:t>
            </a:r>
            <a:r>
              <a:rPr dirty="0" sz="3200" spc="5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5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25132" sz="3150" spc="7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定义为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8743" y="1506423"/>
            <a:ext cx="718248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66"/>
                </a:solidFill>
                <a:latin typeface="Times New Roman"/>
                <a:cs typeface="Times New Roman"/>
              </a:rPr>
              <a:t>{{</a:t>
            </a:r>
            <a:r>
              <a:rPr dirty="0" sz="3200" spc="-5" b="1" i="1">
                <a:solidFill>
                  <a:srgbClr val="FFFF66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66"/>
                </a:solidFill>
                <a:latin typeface="Times New Roman"/>
                <a:cs typeface="Times New Roman"/>
              </a:rPr>
              <a:t>},</a:t>
            </a:r>
            <a:r>
              <a:rPr dirty="0" sz="3200" spc="-5" b="1">
                <a:solidFill>
                  <a:srgbClr val="99CCFF"/>
                </a:solidFill>
                <a:latin typeface="Times New Roman"/>
                <a:cs typeface="Times New Roman"/>
              </a:rPr>
              <a:t>{</a:t>
            </a:r>
            <a:r>
              <a:rPr dirty="0" sz="3200" spc="-5" b="1" i="1">
                <a:solidFill>
                  <a:srgbClr val="99CC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99CCFF"/>
                </a:solidFill>
                <a:latin typeface="Times New Roman"/>
                <a:cs typeface="Times New Roman"/>
              </a:rPr>
              <a:t>, </a:t>
            </a:r>
            <a:r>
              <a:rPr dirty="0" sz="3200" b="1">
                <a:solidFill>
                  <a:srgbClr val="99CCFF"/>
                </a:solidFill>
                <a:latin typeface="Times New Roman"/>
                <a:cs typeface="Times New Roman"/>
              </a:rPr>
              <a:t>+, *, (, )},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{</a:t>
            </a: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99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| </a:t>
            </a:r>
            <a:r>
              <a:rPr dirty="0" sz="3200" spc="-5" b="1" i="1">
                <a:solidFill>
                  <a:srgbClr val="FF99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99FF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99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i 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| (</a:t>
            </a: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99FF"/>
                </a:solidFill>
                <a:latin typeface="Times New Roman"/>
                <a:cs typeface="Times New Roman"/>
              </a:rPr>
              <a:t>)}</a:t>
            </a:r>
            <a:r>
              <a:rPr dirty="0" sz="3200" spc="-120" b="1">
                <a:solidFill>
                  <a:srgbClr val="FF99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02613" y="2042922"/>
            <a:ext cx="7058025" cy="513715"/>
          </a:xfrm>
          <a:custGeom>
            <a:avLst/>
            <a:gdLst/>
            <a:ahLst/>
            <a:cxnLst/>
            <a:rect l="l" t="t" r="r" b="b"/>
            <a:pathLst>
              <a:path w="7058025" h="513714">
                <a:moveTo>
                  <a:pt x="7057644" y="0"/>
                </a:moveTo>
                <a:lnTo>
                  <a:pt x="7044100" y="55099"/>
                </a:lnTo>
                <a:lnTo>
                  <a:pt x="7005380" y="106074"/>
                </a:lnTo>
                <a:lnTo>
                  <a:pt x="6944347" y="151674"/>
                </a:lnTo>
                <a:lnTo>
                  <a:pt x="6906359" y="172067"/>
                </a:lnTo>
                <a:lnTo>
                  <a:pt x="6863867" y="190647"/>
                </a:lnTo>
                <a:lnTo>
                  <a:pt x="6817229" y="207257"/>
                </a:lnTo>
                <a:lnTo>
                  <a:pt x="6766804" y="221741"/>
                </a:lnTo>
                <a:lnTo>
                  <a:pt x="6712949" y="233943"/>
                </a:lnTo>
                <a:lnTo>
                  <a:pt x="6656023" y="243705"/>
                </a:lnTo>
                <a:lnTo>
                  <a:pt x="6596383" y="250872"/>
                </a:lnTo>
                <a:lnTo>
                  <a:pt x="6534388" y="255287"/>
                </a:lnTo>
                <a:lnTo>
                  <a:pt x="6470395" y="256793"/>
                </a:lnTo>
                <a:lnTo>
                  <a:pt x="4116070" y="256793"/>
                </a:lnTo>
                <a:lnTo>
                  <a:pt x="4052077" y="258300"/>
                </a:lnTo>
                <a:lnTo>
                  <a:pt x="3990082" y="262715"/>
                </a:lnTo>
                <a:lnTo>
                  <a:pt x="3930442" y="269882"/>
                </a:lnTo>
                <a:lnTo>
                  <a:pt x="3873516" y="279644"/>
                </a:lnTo>
                <a:lnTo>
                  <a:pt x="3819661" y="291845"/>
                </a:lnTo>
                <a:lnTo>
                  <a:pt x="3769236" y="306330"/>
                </a:lnTo>
                <a:lnTo>
                  <a:pt x="3722598" y="322940"/>
                </a:lnTo>
                <a:lnTo>
                  <a:pt x="3680106" y="341520"/>
                </a:lnTo>
                <a:lnTo>
                  <a:pt x="3642118" y="361913"/>
                </a:lnTo>
                <a:lnTo>
                  <a:pt x="3608991" y="383963"/>
                </a:lnTo>
                <a:lnTo>
                  <a:pt x="3558757" y="432407"/>
                </a:lnTo>
                <a:lnTo>
                  <a:pt x="3532267" y="485601"/>
                </a:lnTo>
                <a:lnTo>
                  <a:pt x="3528822" y="513588"/>
                </a:lnTo>
                <a:lnTo>
                  <a:pt x="3525376" y="485601"/>
                </a:lnTo>
                <a:lnTo>
                  <a:pt x="3498886" y="432407"/>
                </a:lnTo>
                <a:lnTo>
                  <a:pt x="3448652" y="383963"/>
                </a:lnTo>
                <a:lnTo>
                  <a:pt x="3415525" y="361913"/>
                </a:lnTo>
                <a:lnTo>
                  <a:pt x="3377537" y="341520"/>
                </a:lnTo>
                <a:lnTo>
                  <a:pt x="3335045" y="322940"/>
                </a:lnTo>
                <a:lnTo>
                  <a:pt x="3288407" y="306330"/>
                </a:lnTo>
                <a:lnTo>
                  <a:pt x="3237982" y="291845"/>
                </a:lnTo>
                <a:lnTo>
                  <a:pt x="3184127" y="279644"/>
                </a:lnTo>
                <a:lnTo>
                  <a:pt x="3127201" y="269882"/>
                </a:lnTo>
                <a:lnTo>
                  <a:pt x="3067561" y="262715"/>
                </a:lnTo>
                <a:lnTo>
                  <a:pt x="3005566" y="258300"/>
                </a:lnTo>
                <a:lnTo>
                  <a:pt x="2941574" y="256793"/>
                </a:lnTo>
                <a:lnTo>
                  <a:pt x="587248" y="256793"/>
                </a:lnTo>
                <a:lnTo>
                  <a:pt x="523255" y="255287"/>
                </a:lnTo>
                <a:lnTo>
                  <a:pt x="461260" y="250872"/>
                </a:lnTo>
                <a:lnTo>
                  <a:pt x="401620" y="243705"/>
                </a:lnTo>
                <a:lnTo>
                  <a:pt x="344694" y="233943"/>
                </a:lnTo>
                <a:lnTo>
                  <a:pt x="290839" y="221741"/>
                </a:lnTo>
                <a:lnTo>
                  <a:pt x="240414" y="207257"/>
                </a:lnTo>
                <a:lnTo>
                  <a:pt x="193776" y="190647"/>
                </a:lnTo>
                <a:lnTo>
                  <a:pt x="151284" y="172067"/>
                </a:lnTo>
                <a:lnTo>
                  <a:pt x="113296" y="151674"/>
                </a:lnTo>
                <a:lnTo>
                  <a:pt x="80169" y="129624"/>
                </a:lnTo>
                <a:lnTo>
                  <a:pt x="29935" y="81180"/>
                </a:lnTo>
                <a:lnTo>
                  <a:pt x="3445" y="27986"/>
                </a:lnTo>
                <a:lnTo>
                  <a:pt x="0" y="0"/>
                </a:lnTo>
              </a:path>
            </a:pathLst>
          </a:custGeom>
          <a:ln w="38099">
            <a:solidFill>
              <a:srgbClr val="99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634995" y="2555748"/>
            <a:ext cx="4000500" cy="589915"/>
          </a:xfrm>
          <a:prstGeom prst="rect">
            <a:avLst/>
          </a:prstGeom>
          <a:ln w="9525">
            <a:solidFill>
              <a:srgbClr val="99FF66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79805">
              <a:lnSpc>
                <a:spcPct val="100000"/>
              </a:lnSpc>
              <a:spcBef>
                <a:spcPts val="3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四元式形式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6443" y="3383292"/>
            <a:ext cx="7557770" cy="2677160"/>
          </a:xfrm>
          <a:prstGeom prst="rect">
            <a:avLst/>
          </a:prstGeom>
        </p:spPr>
        <p:txBody>
          <a:bodyPr wrap="square" lIns="0" tIns="25527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2010"/>
              </a:spcBef>
            </a:pPr>
            <a:r>
              <a:rPr dirty="0" sz="2800" spc="-5" b="1">
                <a:solidFill>
                  <a:srgbClr val="99CCFF"/>
                </a:solidFill>
                <a:latin typeface="宋体"/>
                <a:cs typeface="宋体"/>
              </a:rPr>
              <a:t>例如</a:t>
            </a:r>
            <a:r>
              <a:rPr dirty="0" sz="2800" spc="-15" b="1">
                <a:solidFill>
                  <a:srgbClr val="99CCFF"/>
                </a:solidFill>
                <a:latin typeface="宋体"/>
                <a:cs typeface="宋体"/>
              </a:rPr>
              <a:t>，</a:t>
            </a:r>
            <a:r>
              <a:rPr dirty="0" sz="2800" spc="-590" b="1">
                <a:solidFill>
                  <a:srgbClr val="99CC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数字文法</a:t>
            </a:r>
            <a:endParaRPr sz="3200">
              <a:latin typeface="宋体"/>
              <a:cs typeface="宋体"/>
            </a:endParaRPr>
          </a:p>
          <a:p>
            <a:pPr marL="558165">
              <a:lnSpc>
                <a:spcPct val="100000"/>
              </a:lnSpc>
              <a:spcBef>
                <a:spcPts val="166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&lt; NUMBER &gt; </a:t>
            </a:r>
            <a:r>
              <a:rPr dirty="0" sz="2800" spc="-1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 | 1 | 2 | 3 | …|</a:t>
            </a:r>
            <a:r>
              <a:rPr dirty="0" sz="2800" spc="1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  <a:p>
            <a:pPr marL="380365">
              <a:lnSpc>
                <a:spcPct val="100000"/>
              </a:lnSpc>
              <a:spcBef>
                <a:spcPts val="1700"/>
              </a:spcBef>
              <a:tabLst>
                <a:tab pos="1570355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={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NUMBER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={0,1,2,</a:t>
            </a:r>
            <a:r>
              <a:rPr dirty="0" sz="2800" spc="-3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…,9}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1625600">
              <a:lnSpc>
                <a:spcPct val="100000"/>
              </a:lnSpc>
              <a:spcBef>
                <a:spcPts val="168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dirty="0" sz="2800" spc="-2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为定义式本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身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86577" y="200660"/>
            <a:ext cx="248285" cy="114300"/>
          </a:xfrm>
          <a:custGeom>
            <a:avLst/>
            <a:gdLst/>
            <a:ahLst/>
            <a:cxnLst/>
            <a:rect l="l" t="t" r="r" b="b"/>
            <a:pathLst>
              <a:path w="248285" h="114300">
                <a:moveTo>
                  <a:pt x="219190" y="36575"/>
                </a:moveTo>
                <a:lnTo>
                  <a:pt x="151892" y="36575"/>
                </a:lnTo>
                <a:lnTo>
                  <a:pt x="154686" y="74549"/>
                </a:lnTo>
                <a:lnTo>
                  <a:pt x="135721" y="75960"/>
                </a:lnTo>
                <a:lnTo>
                  <a:pt x="138557" y="113919"/>
                </a:lnTo>
                <a:lnTo>
                  <a:pt x="248285" y="48514"/>
                </a:lnTo>
                <a:lnTo>
                  <a:pt x="219190" y="36575"/>
                </a:lnTo>
                <a:close/>
              </a:path>
              <a:path w="248285" h="114300">
                <a:moveTo>
                  <a:pt x="132884" y="37974"/>
                </a:moveTo>
                <a:lnTo>
                  <a:pt x="0" y="47751"/>
                </a:lnTo>
                <a:lnTo>
                  <a:pt x="2794" y="85851"/>
                </a:lnTo>
                <a:lnTo>
                  <a:pt x="135721" y="75960"/>
                </a:lnTo>
                <a:lnTo>
                  <a:pt x="132884" y="37974"/>
                </a:lnTo>
                <a:close/>
              </a:path>
              <a:path w="248285" h="114300">
                <a:moveTo>
                  <a:pt x="151892" y="36575"/>
                </a:moveTo>
                <a:lnTo>
                  <a:pt x="132884" y="37974"/>
                </a:lnTo>
                <a:lnTo>
                  <a:pt x="135721" y="75960"/>
                </a:lnTo>
                <a:lnTo>
                  <a:pt x="154686" y="74549"/>
                </a:lnTo>
                <a:lnTo>
                  <a:pt x="151892" y="36575"/>
                </a:lnTo>
                <a:close/>
              </a:path>
              <a:path w="248285" h="114300">
                <a:moveTo>
                  <a:pt x="130048" y="0"/>
                </a:moveTo>
                <a:lnTo>
                  <a:pt x="132884" y="37974"/>
                </a:lnTo>
                <a:lnTo>
                  <a:pt x="151892" y="36575"/>
                </a:lnTo>
                <a:lnTo>
                  <a:pt x="219190" y="36575"/>
                </a:lnTo>
                <a:lnTo>
                  <a:pt x="130048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48488" y="1034033"/>
            <a:ext cx="542607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汉语语法规则中的其中七条规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则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7794" y="2052390"/>
            <a:ext cx="5016500" cy="371856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〈句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子</a:t>
            </a: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〉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〈主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语</a:t>
            </a: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〉〈谓语</a:t>
            </a:r>
            <a:r>
              <a:rPr dirty="0" sz="2800" spc="-15" b="1">
                <a:solidFill>
                  <a:srgbClr val="FFCCCC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〈主</a:t>
            </a:r>
            <a:r>
              <a:rPr dirty="0" sz="2800" b="1">
                <a:solidFill>
                  <a:srgbClr val="FFCCCC"/>
                </a:solidFill>
                <a:latin typeface="宋体"/>
                <a:cs typeface="宋体"/>
              </a:rPr>
              <a:t>语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〈形容词〉〈名</a:t>
            </a:r>
            <a:r>
              <a:rPr dirty="0" sz="2800" b="1">
                <a:solidFill>
                  <a:srgbClr val="FFCCCC"/>
                </a:solidFill>
                <a:latin typeface="宋体"/>
                <a:cs typeface="宋体"/>
              </a:rPr>
              <a:t>词</a:t>
            </a:r>
            <a:r>
              <a:rPr dirty="0" sz="2800" spc="-15" b="1">
                <a:solidFill>
                  <a:srgbClr val="FFCCCC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〈谓</a:t>
            </a:r>
            <a:r>
              <a:rPr dirty="0" sz="2800" b="1">
                <a:solidFill>
                  <a:srgbClr val="FFCCCC"/>
                </a:solidFill>
                <a:latin typeface="宋体"/>
                <a:cs typeface="宋体"/>
              </a:rPr>
              <a:t>语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〈动词〉〈宾语</a:t>
            </a:r>
            <a:r>
              <a:rPr dirty="0" sz="2800" spc="-15" b="1">
                <a:solidFill>
                  <a:srgbClr val="FFCCCC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〈宾</a:t>
            </a:r>
            <a:r>
              <a:rPr dirty="0" sz="2800" b="1">
                <a:solidFill>
                  <a:srgbClr val="FFCCCC"/>
                </a:solidFill>
                <a:latin typeface="宋体"/>
                <a:cs typeface="宋体"/>
              </a:rPr>
              <a:t>语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〈形容词〉〈名</a:t>
            </a:r>
            <a:r>
              <a:rPr dirty="0" sz="2800" b="1">
                <a:solidFill>
                  <a:srgbClr val="FFCCCC"/>
                </a:solidFill>
                <a:latin typeface="宋体"/>
                <a:cs typeface="宋体"/>
              </a:rPr>
              <a:t>词</a:t>
            </a:r>
            <a:r>
              <a:rPr dirty="0" sz="2800" spc="-15" b="1">
                <a:solidFill>
                  <a:srgbClr val="FFCCCC"/>
                </a:solidFill>
                <a:latin typeface="宋体"/>
                <a:cs typeface="宋体"/>
              </a:rPr>
              <a:t>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〈形容</a:t>
            </a:r>
            <a:r>
              <a:rPr dirty="0" sz="2800" b="1">
                <a:solidFill>
                  <a:srgbClr val="FFCCCC"/>
                </a:solidFill>
                <a:latin typeface="宋体"/>
                <a:cs typeface="宋体"/>
              </a:rPr>
              <a:t>词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B0FFFF"/>
                </a:solidFill>
                <a:latin typeface="宋体"/>
                <a:cs typeface="宋体"/>
              </a:rPr>
              <a:t>小</a:t>
            </a:r>
            <a:r>
              <a:rPr dirty="0" sz="2800" spc="-710" b="1">
                <a:solidFill>
                  <a:srgbClr val="B0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B0FFFF"/>
                </a:solidFill>
                <a:latin typeface="Times New Roman"/>
                <a:cs typeface="Times New Roman"/>
              </a:rPr>
              <a:t>|</a:t>
            </a:r>
            <a:r>
              <a:rPr dirty="0" sz="280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B0FFFF"/>
                </a:solidFill>
                <a:latin typeface="宋体"/>
                <a:cs typeface="宋体"/>
              </a:rPr>
              <a:t>大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〈名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B0FFFF"/>
                </a:solidFill>
                <a:latin typeface="宋体"/>
                <a:cs typeface="宋体"/>
              </a:rPr>
              <a:t>八</a:t>
            </a:r>
            <a:r>
              <a:rPr dirty="0" sz="2800" spc="-15" b="1">
                <a:solidFill>
                  <a:srgbClr val="B0FFFF"/>
                </a:solidFill>
                <a:latin typeface="宋体"/>
                <a:cs typeface="宋体"/>
              </a:rPr>
              <a:t>哥</a:t>
            </a:r>
            <a:r>
              <a:rPr dirty="0" sz="2800" spc="-700" b="1">
                <a:solidFill>
                  <a:srgbClr val="B0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B0FFFF"/>
                </a:solidFill>
                <a:latin typeface="Times New Roman"/>
                <a:cs typeface="Times New Roman"/>
              </a:rPr>
              <a:t>|</a:t>
            </a:r>
            <a:r>
              <a:rPr dirty="0" sz="280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B0FFFF"/>
                </a:solidFill>
                <a:latin typeface="宋体"/>
                <a:cs typeface="宋体"/>
              </a:rPr>
              <a:t>花生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〈动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B0FFFF"/>
                </a:solidFill>
                <a:latin typeface="宋体"/>
                <a:cs typeface="宋体"/>
              </a:rPr>
              <a:t>吃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86577" y="200660"/>
            <a:ext cx="248285" cy="114300"/>
          </a:xfrm>
          <a:custGeom>
            <a:avLst/>
            <a:gdLst/>
            <a:ahLst/>
            <a:cxnLst/>
            <a:rect l="l" t="t" r="r" b="b"/>
            <a:pathLst>
              <a:path w="248285" h="114300">
                <a:moveTo>
                  <a:pt x="219190" y="36575"/>
                </a:moveTo>
                <a:lnTo>
                  <a:pt x="151892" y="36575"/>
                </a:lnTo>
                <a:lnTo>
                  <a:pt x="154686" y="74549"/>
                </a:lnTo>
                <a:lnTo>
                  <a:pt x="135721" y="75960"/>
                </a:lnTo>
                <a:lnTo>
                  <a:pt x="138557" y="113919"/>
                </a:lnTo>
                <a:lnTo>
                  <a:pt x="248285" y="48514"/>
                </a:lnTo>
                <a:lnTo>
                  <a:pt x="219190" y="36575"/>
                </a:lnTo>
                <a:close/>
              </a:path>
              <a:path w="248285" h="114300">
                <a:moveTo>
                  <a:pt x="132884" y="37974"/>
                </a:moveTo>
                <a:lnTo>
                  <a:pt x="0" y="47751"/>
                </a:lnTo>
                <a:lnTo>
                  <a:pt x="2794" y="85851"/>
                </a:lnTo>
                <a:lnTo>
                  <a:pt x="135721" y="75960"/>
                </a:lnTo>
                <a:lnTo>
                  <a:pt x="132884" y="37974"/>
                </a:lnTo>
                <a:close/>
              </a:path>
              <a:path w="248285" h="114300">
                <a:moveTo>
                  <a:pt x="151892" y="36575"/>
                </a:moveTo>
                <a:lnTo>
                  <a:pt x="132884" y="37974"/>
                </a:lnTo>
                <a:lnTo>
                  <a:pt x="135721" y="75960"/>
                </a:lnTo>
                <a:lnTo>
                  <a:pt x="154686" y="74549"/>
                </a:lnTo>
                <a:lnTo>
                  <a:pt x="151892" y="36575"/>
                </a:lnTo>
                <a:close/>
              </a:path>
              <a:path w="248285" h="114300">
                <a:moveTo>
                  <a:pt x="130048" y="0"/>
                </a:moveTo>
                <a:lnTo>
                  <a:pt x="132884" y="37974"/>
                </a:lnTo>
                <a:lnTo>
                  <a:pt x="151892" y="36575"/>
                </a:lnTo>
                <a:lnTo>
                  <a:pt x="219190" y="36575"/>
                </a:lnTo>
                <a:lnTo>
                  <a:pt x="130048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8037" y="1772264"/>
            <a:ext cx="2935605" cy="4730750"/>
          </a:xfrm>
          <a:custGeom>
            <a:avLst/>
            <a:gdLst/>
            <a:ahLst/>
            <a:cxnLst/>
            <a:rect l="l" t="t" r="r" b="b"/>
            <a:pathLst>
              <a:path w="2935604" h="4730750">
                <a:moveTo>
                  <a:pt x="0" y="3943294"/>
                </a:moveTo>
                <a:lnTo>
                  <a:pt x="1148372" y="2584724"/>
                </a:lnTo>
                <a:lnTo>
                  <a:pt x="1146390" y="2518724"/>
                </a:lnTo>
                <a:lnTo>
                  <a:pt x="1145104" y="2453004"/>
                </a:lnTo>
                <a:lnTo>
                  <a:pt x="1144505" y="2387590"/>
                </a:lnTo>
                <a:lnTo>
                  <a:pt x="1144584" y="2322510"/>
                </a:lnTo>
                <a:lnTo>
                  <a:pt x="1145333" y="2257787"/>
                </a:lnTo>
                <a:lnTo>
                  <a:pt x="1146745" y="2193449"/>
                </a:lnTo>
                <a:lnTo>
                  <a:pt x="1148811" y="2129520"/>
                </a:lnTo>
                <a:lnTo>
                  <a:pt x="1151523" y="2066027"/>
                </a:lnTo>
                <a:lnTo>
                  <a:pt x="1154874" y="2002996"/>
                </a:lnTo>
                <a:lnTo>
                  <a:pt x="1158854" y="1940452"/>
                </a:lnTo>
                <a:lnTo>
                  <a:pt x="1163456" y="1878421"/>
                </a:lnTo>
                <a:lnTo>
                  <a:pt x="1168672" y="1816929"/>
                </a:lnTo>
                <a:lnTo>
                  <a:pt x="1174494" y="1756002"/>
                </a:lnTo>
                <a:lnTo>
                  <a:pt x="1180913" y="1695665"/>
                </a:lnTo>
                <a:lnTo>
                  <a:pt x="1187921" y="1635945"/>
                </a:lnTo>
                <a:lnTo>
                  <a:pt x="1195511" y="1576867"/>
                </a:lnTo>
                <a:lnTo>
                  <a:pt x="1203675" y="1518457"/>
                </a:lnTo>
                <a:lnTo>
                  <a:pt x="1212403" y="1460741"/>
                </a:lnTo>
                <a:lnTo>
                  <a:pt x="1221688" y="1403745"/>
                </a:lnTo>
                <a:lnTo>
                  <a:pt x="1231523" y="1347493"/>
                </a:lnTo>
                <a:lnTo>
                  <a:pt x="1241898" y="1292014"/>
                </a:lnTo>
                <a:lnTo>
                  <a:pt x="1252806" y="1237331"/>
                </a:lnTo>
                <a:lnTo>
                  <a:pt x="1264238" y="1183471"/>
                </a:lnTo>
                <a:lnTo>
                  <a:pt x="1276187" y="1130460"/>
                </a:lnTo>
                <a:lnTo>
                  <a:pt x="1288645" y="1078323"/>
                </a:lnTo>
                <a:lnTo>
                  <a:pt x="1301603" y="1027087"/>
                </a:lnTo>
                <a:lnTo>
                  <a:pt x="1315053" y="976777"/>
                </a:lnTo>
                <a:lnTo>
                  <a:pt x="1328987" y="927419"/>
                </a:lnTo>
                <a:lnTo>
                  <a:pt x="1343397" y="879038"/>
                </a:lnTo>
                <a:lnTo>
                  <a:pt x="1358275" y="831661"/>
                </a:lnTo>
                <a:lnTo>
                  <a:pt x="1373613" y="785314"/>
                </a:lnTo>
                <a:lnTo>
                  <a:pt x="1389402" y="740021"/>
                </a:lnTo>
                <a:lnTo>
                  <a:pt x="1405635" y="695810"/>
                </a:lnTo>
                <a:lnTo>
                  <a:pt x="1422304" y="652705"/>
                </a:lnTo>
                <a:lnTo>
                  <a:pt x="1439400" y="610733"/>
                </a:lnTo>
                <a:lnTo>
                  <a:pt x="1456915" y="569920"/>
                </a:lnTo>
                <a:lnTo>
                  <a:pt x="1474842" y="530291"/>
                </a:lnTo>
                <a:lnTo>
                  <a:pt x="1493171" y="491872"/>
                </a:lnTo>
                <a:lnTo>
                  <a:pt x="1511896" y="454688"/>
                </a:lnTo>
                <a:lnTo>
                  <a:pt x="1531007" y="418767"/>
                </a:lnTo>
                <a:lnTo>
                  <a:pt x="1550498" y="384133"/>
                </a:lnTo>
                <a:lnTo>
                  <a:pt x="1570358" y="350812"/>
                </a:lnTo>
                <a:lnTo>
                  <a:pt x="1611160" y="288214"/>
                </a:lnTo>
                <a:lnTo>
                  <a:pt x="1653347" y="231178"/>
                </a:lnTo>
                <a:lnTo>
                  <a:pt x="1696854" y="179912"/>
                </a:lnTo>
                <a:lnTo>
                  <a:pt x="1741617" y="134622"/>
                </a:lnTo>
                <a:lnTo>
                  <a:pt x="1787571" y="95515"/>
                </a:lnTo>
                <a:lnTo>
                  <a:pt x="1834651" y="62797"/>
                </a:lnTo>
                <a:lnTo>
                  <a:pt x="1882793" y="36674"/>
                </a:lnTo>
                <a:lnTo>
                  <a:pt x="1931931" y="17353"/>
                </a:lnTo>
                <a:lnTo>
                  <a:pt x="1983176" y="4843"/>
                </a:lnTo>
                <a:lnTo>
                  <a:pt x="2035452" y="0"/>
                </a:lnTo>
                <a:lnTo>
                  <a:pt x="2061384" y="570"/>
                </a:lnTo>
                <a:lnTo>
                  <a:pt x="2112778" y="7569"/>
                </a:lnTo>
                <a:lnTo>
                  <a:pt x="2163469" y="22212"/>
                </a:lnTo>
                <a:lnTo>
                  <a:pt x="2213365" y="44301"/>
                </a:lnTo>
                <a:lnTo>
                  <a:pt x="2262376" y="73633"/>
                </a:lnTo>
                <a:lnTo>
                  <a:pt x="2310410" y="110008"/>
                </a:lnTo>
                <a:lnTo>
                  <a:pt x="2357375" y="153227"/>
                </a:lnTo>
                <a:lnTo>
                  <a:pt x="2403179" y="203089"/>
                </a:lnTo>
                <a:lnTo>
                  <a:pt x="2447733" y="259393"/>
                </a:lnTo>
                <a:lnTo>
                  <a:pt x="2490943" y="321939"/>
                </a:lnTo>
                <a:lnTo>
                  <a:pt x="2512016" y="355490"/>
                </a:lnTo>
                <a:lnTo>
                  <a:pt x="2532719" y="390526"/>
                </a:lnTo>
                <a:lnTo>
                  <a:pt x="2553041" y="427023"/>
                </a:lnTo>
                <a:lnTo>
                  <a:pt x="2572969" y="464955"/>
                </a:lnTo>
                <a:lnTo>
                  <a:pt x="2592494" y="504298"/>
                </a:lnTo>
                <a:lnTo>
                  <a:pt x="2611602" y="545025"/>
                </a:lnTo>
                <a:lnTo>
                  <a:pt x="2630284" y="587113"/>
                </a:lnTo>
                <a:lnTo>
                  <a:pt x="2648526" y="630535"/>
                </a:lnTo>
                <a:lnTo>
                  <a:pt x="2666319" y="675268"/>
                </a:lnTo>
                <a:lnTo>
                  <a:pt x="2683651" y="721285"/>
                </a:lnTo>
                <a:lnTo>
                  <a:pt x="2700509" y="768563"/>
                </a:lnTo>
                <a:lnTo>
                  <a:pt x="2716883" y="817075"/>
                </a:lnTo>
                <a:lnTo>
                  <a:pt x="2732762" y="866797"/>
                </a:lnTo>
                <a:lnTo>
                  <a:pt x="2748133" y="917704"/>
                </a:lnTo>
                <a:lnTo>
                  <a:pt x="2762985" y="969771"/>
                </a:lnTo>
                <a:lnTo>
                  <a:pt x="2777308" y="1022972"/>
                </a:lnTo>
                <a:lnTo>
                  <a:pt x="2791089" y="1077283"/>
                </a:lnTo>
                <a:lnTo>
                  <a:pt x="2804318" y="1132678"/>
                </a:lnTo>
                <a:lnTo>
                  <a:pt x="2816982" y="1189133"/>
                </a:lnTo>
                <a:lnTo>
                  <a:pt x="2829070" y="1246623"/>
                </a:lnTo>
                <a:lnTo>
                  <a:pt x="2840571" y="1305121"/>
                </a:lnTo>
                <a:lnTo>
                  <a:pt x="2851473" y="1364605"/>
                </a:lnTo>
                <a:lnTo>
                  <a:pt x="2861766" y="1425047"/>
                </a:lnTo>
                <a:lnTo>
                  <a:pt x="2871437" y="1486424"/>
                </a:lnTo>
                <a:lnTo>
                  <a:pt x="2880475" y="1548710"/>
                </a:lnTo>
                <a:lnTo>
                  <a:pt x="2888868" y="1611880"/>
                </a:lnTo>
                <a:lnTo>
                  <a:pt x="2896606" y="1675910"/>
                </a:lnTo>
                <a:lnTo>
                  <a:pt x="2903677" y="1740773"/>
                </a:lnTo>
                <a:lnTo>
                  <a:pt x="2910070" y="1806445"/>
                </a:lnTo>
                <a:lnTo>
                  <a:pt x="2915772" y="1872902"/>
                </a:lnTo>
                <a:lnTo>
                  <a:pt x="2920772" y="1940117"/>
                </a:lnTo>
                <a:lnTo>
                  <a:pt x="2925060" y="2008066"/>
                </a:lnTo>
                <a:lnTo>
                  <a:pt x="2928624" y="2076725"/>
                </a:lnTo>
                <a:lnTo>
                  <a:pt x="2931452" y="2146066"/>
                </a:lnTo>
                <a:lnTo>
                  <a:pt x="2933433" y="2212067"/>
                </a:lnTo>
                <a:lnTo>
                  <a:pt x="2934719" y="2277787"/>
                </a:lnTo>
                <a:lnTo>
                  <a:pt x="2935319" y="2343200"/>
                </a:lnTo>
                <a:lnTo>
                  <a:pt x="2935240" y="2408281"/>
                </a:lnTo>
                <a:lnTo>
                  <a:pt x="2934490" y="2473004"/>
                </a:lnTo>
                <a:lnTo>
                  <a:pt x="2933078" y="2537342"/>
                </a:lnTo>
                <a:lnTo>
                  <a:pt x="2931012" y="2601271"/>
                </a:lnTo>
                <a:lnTo>
                  <a:pt x="2928300" y="2664763"/>
                </a:lnTo>
                <a:lnTo>
                  <a:pt x="2924950" y="2727795"/>
                </a:lnTo>
                <a:lnTo>
                  <a:pt x="2920969" y="2790339"/>
                </a:lnTo>
                <a:lnTo>
                  <a:pt x="2916367" y="2852370"/>
                </a:lnTo>
                <a:lnTo>
                  <a:pt x="2911151" y="2913861"/>
                </a:lnTo>
                <a:lnTo>
                  <a:pt x="2905330" y="2974788"/>
                </a:lnTo>
                <a:lnTo>
                  <a:pt x="2898910" y="3035125"/>
                </a:lnTo>
                <a:lnTo>
                  <a:pt x="2891902" y="3094845"/>
                </a:lnTo>
                <a:lnTo>
                  <a:pt x="2884312" y="3153923"/>
                </a:lnTo>
                <a:lnTo>
                  <a:pt x="2876149" y="3212333"/>
                </a:lnTo>
                <a:lnTo>
                  <a:pt x="2867420" y="3270049"/>
                </a:lnTo>
                <a:lnTo>
                  <a:pt x="2858135" y="3327045"/>
                </a:lnTo>
                <a:lnTo>
                  <a:pt x="2848301" y="3383296"/>
                </a:lnTo>
                <a:lnTo>
                  <a:pt x="2837925" y="3438775"/>
                </a:lnTo>
                <a:lnTo>
                  <a:pt x="2827017" y="3493458"/>
                </a:lnTo>
                <a:lnTo>
                  <a:pt x="2815585" y="3547317"/>
                </a:lnTo>
                <a:lnTo>
                  <a:pt x="2803636" y="3600328"/>
                </a:lnTo>
                <a:lnTo>
                  <a:pt x="2791178" y="3652465"/>
                </a:lnTo>
                <a:lnTo>
                  <a:pt x="2778221" y="3703701"/>
                </a:lnTo>
                <a:lnTo>
                  <a:pt x="2764771" y="3754010"/>
                </a:lnTo>
                <a:lnTo>
                  <a:pt x="2750837" y="3803368"/>
                </a:lnTo>
                <a:lnTo>
                  <a:pt x="2736426" y="3851748"/>
                </a:lnTo>
                <a:lnTo>
                  <a:pt x="2721548" y="3899125"/>
                </a:lnTo>
                <a:lnTo>
                  <a:pt x="2706211" y="3945472"/>
                </a:lnTo>
                <a:lnTo>
                  <a:pt x="2690421" y="3990763"/>
                </a:lnTo>
                <a:lnTo>
                  <a:pt x="2674188" y="4034974"/>
                </a:lnTo>
                <a:lnTo>
                  <a:pt x="2657519" y="4078078"/>
                </a:lnTo>
                <a:lnTo>
                  <a:pt x="2640423" y="4120049"/>
                </a:lnTo>
                <a:lnTo>
                  <a:pt x="2622908" y="4160862"/>
                </a:lnTo>
                <a:lnTo>
                  <a:pt x="2604981" y="4200491"/>
                </a:lnTo>
                <a:lnTo>
                  <a:pt x="2586652" y="4238909"/>
                </a:lnTo>
                <a:lnTo>
                  <a:pt x="2567927" y="4276091"/>
                </a:lnTo>
                <a:lnTo>
                  <a:pt x="2548816" y="4312012"/>
                </a:lnTo>
                <a:lnTo>
                  <a:pt x="2529326" y="4346645"/>
                </a:lnTo>
                <a:lnTo>
                  <a:pt x="2509465" y="4379965"/>
                </a:lnTo>
                <a:lnTo>
                  <a:pt x="2468663" y="4442561"/>
                </a:lnTo>
                <a:lnTo>
                  <a:pt x="2426477" y="4499594"/>
                </a:lnTo>
                <a:lnTo>
                  <a:pt x="2382969" y="4550858"/>
                </a:lnTo>
                <a:lnTo>
                  <a:pt x="2338206" y="4596145"/>
                </a:lnTo>
                <a:lnTo>
                  <a:pt x="2292252" y="4635250"/>
                </a:lnTo>
                <a:lnTo>
                  <a:pt x="2245172" y="4667965"/>
                </a:lnTo>
                <a:lnTo>
                  <a:pt x="2197030" y="4694085"/>
                </a:lnTo>
                <a:lnTo>
                  <a:pt x="2147892" y="4713402"/>
                </a:lnTo>
                <a:lnTo>
                  <a:pt x="2093537" y="4726403"/>
                </a:lnTo>
                <a:lnTo>
                  <a:pt x="2034958" y="4730651"/>
                </a:lnTo>
                <a:lnTo>
                  <a:pt x="2005850" y="4728997"/>
                </a:lnTo>
                <a:lnTo>
                  <a:pt x="1948097" y="4718277"/>
                </a:lnTo>
                <a:lnTo>
                  <a:pt x="1891089" y="4697858"/>
                </a:lnTo>
                <a:lnTo>
                  <a:pt x="1834982" y="4667967"/>
                </a:lnTo>
                <a:lnTo>
                  <a:pt x="1779931" y="4628827"/>
                </a:lnTo>
                <a:lnTo>
                  <a:pt x="1726092" y="4580664"/>
                </a:lnTo>
                <a:lnTo>
                  <a:pt x="1673620" y="4523703"/>
                </a:lnTo>
                <a:lnTo>
                  <a:pt x="1647946" y="4491994"/>
                </a:lnTo>
                <a:lnTo>
                  <a:pt x="1622672" y="4458169"/>
                </a:lnTo>
                <a:lnTo>
                  <a:pt x="1597818" y="4422257"/>
                </a:lnTo>
                <a:lnTo>
                  <a:pt x="1573403" y="4384286"/>
                </a:lnTo>
                <a:lnTo>
                  <a:pt x="1549446" y="4344284"/>
                </a:lnTo>
                <a:lnTo>
                  <a:pt x="1525968" y="4302280"/>
                </a:lnTo>
                <a:lnTo>
                  <a:pt x="1502987" y="4258300"/>
                </a:lnTo>
                <a:lnTo>
                  <a:pt x="1480523" y="4212374"/>
                </a:lnTo>
                <a:lnTo>
                  <a:pt x="1458595" y="4164530"/>
                </a:lnTo>
                <a:lnTo>
                  <a:pt x="1437223" y="4114795"/>
                </a:lnTo>
                <a:lnTo>
                  <a:pt x="1416427" y="4063198"/>
                </a:lnTo>
                <a:lnTo>
                  <a:pt x="1396225" y="4009767"/>
                </a:lnTo>
                <a:lnTo>
                  <a:pt x="1376638" y="3954530"/>
                </a:lnTo>
                <a:lnTo>
                  <a:pt x="1357684" y="3897516"/>
                </a:lnTo>
                <a:lnTo>
                  <a:pt x="1339383" y="3838751"/>
                </a:lnTo>
                <a:lnTo>
                  <a:pt x="1321755" y="3778264"/>
                </a:lnTo>
                <a:lnTo>
                  <a:pt x="1304819" y="3716084"/>
                </a:lnTo>
                <a:lnTo>
                  <a:pt x="1288594" y="3652239"/>
                </a:lnTo>
                <a:lnTo>
                  <a:pt x="1273100" y="3586756"/>
                </a:lnTo>
                <a:lnTo>
                  <a:pt x="1258357" y="3519664"/>
                </a:lnTo>
                <a:lnTo>
                  <a:pt x="1244384" y="3450991"/>
                </a:lnTo>
                <a:lnTo>
                  <a:pt x="0" y="3943294"/>
                </a:lnTo>
                <a:close/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3339" y="5582818"/>
            <a:ext cx="5435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13227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endParaRPr baseline="-13227" sz="3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28946" y="4190919"/>
            <a:ext cx="3509010" cy="1818639"/>
          </a:xfrm>
          <a:custGeom>
            <a:avLst/>
            <a:gdLst/>
            <a:ahLst/>
            <a:cxnLst/>
            <a:rect l="l" t="t" r="r" b="b"/>
            <a:pathLst>
              <a:path w="3509009" h="1818639">
                <a:moveTo>
                  <a:pt x="3508428" y="1229059"/>
                </a:moveTo>
                <a:lnTo>
                  <a:pt x="2593393" y="1270969"/>
                </a:lnTo>
                <a:lnTo>
                  <a:pt x="2570757" y="1304221"/>
                </a:lnTo>
                <a:lnTo>
                  <a:pt x="2546393" y="1336570"/>
                </a:lnTo>
                <a:lnTo>
                  <a:pt x="2520353" y="1368001"/>
                </a:lnTo>
                <a:lnTo>
                  <a:pt x="2492692" y="1398500"/>
                </a:lnTo>
                <a:lnTo>
                  <a:pt x="2463461" y="1428054"/>
                </a:lnTo>
                <a:lnTo>
                  <a:pt x="2432714" y="1456648"/>
                </a:lnTo>
                <a:lnTo>
                  <a:pt x="2400505" y="1484268"/>
                </a:lnTo>
                <a:lnTo>
                  <a:pt x="2366886" y="1510900"/>
                </a:lnTo>
                <a:lnTo>
                  <a:pt x="2331911" y="1536530"/>
                </a:lnTo>
                <a:lnTo>
                  <a:pt x="2295632" y="1561143"/>
                </a:lnTo>
                <a:lnTo>
                  <a:pt x="2258103" y="1584726"/>
                </a:lnTo>
                <a:lnTo>
                  <a:pt x="2219377" y="1607265"/>
                </a:lnTo>
                <a:lnTo>
                  <a:pt x="2179507" y="1628745"/>
                </a:lnTo>
                <a:lnTo>
                  <a:pt x="2138546" y="1649152"/>
                </a:lnTo>
                <a:lnTo>
                  <a:pt x="2096547" y="1668473"/>
                </a:lnTo>
                <a:lnTo>
                  <a:pt x="2053564" y="1686692"/>
                </a:lnTo>
                <a:lnTo>
                  <a:pt x="2009650" y="1703797"/>
                </a:lnTo>
                <a:lnTo>
                  <a:pt x="1964857" y="1719773"/>
                </a:lnTo>
                <a:lnTo>
                  <a:pt x="1919238" y="1734605"/>
                </a:lnTo>
                <a:lnTo>
                  <a:pt x="1872848" y="1748280"/>
                </a:lnTo>
                <a:lnTo>
                  <a:pt x="1825738" y="1760783"/>
                </a:lnTo>
                <a:lnTo>
                  <a:pt x="1777963" y="1772101"/>
                </a:lnTo>
                <a:lnTo>
                  <a:pt x="1729575" y="1782219"/>
                </a:lnTo>
                <a:lnTo>
                  <a:pt x="1680628" y="1791123"/>
                </a:lnTo>
                <a:lnTo>
                  <a:pt x="1631174" y="1798800"/>
                </a:lnTo>
                <a:lnTo>
                  <a:pt x="1581266" y="1805234"/>
                </a:lnTo>
                <a:lnTo>
                  <a:pt x="1530959" y="1810413"/>
                </a:lnTo>
                <a:lnTo>
                  <a:pt x="1480304" y="1814321"/>
                </a:lnTo>
                <a:lnTo>
                  <a:pt x="1429355" y="1816945"/>
                </a:lnTo>
                <a:lnTo>
                  <a:pt x="1378166" y="1818270"/>
                </a:lnTo>
                <a:lnTo>
                  <a:pt x="1326788" y="1818283"/>
                </a:lnTo>
                <a:lnTo>
                  <a:pt x="1275276" y="1816969"/>
                </a:lnTo>
                <a:lnTo>
                  <a:pt x="1223683" y="1814314"/>
                </a:lnTo>
                <a:lnTo>
                  <a:pt x="1172061" y="1810305"/>
                </a:lnTo>
                <a:lnTo>
                  <a:pt x="1120464" y="1804926"/>
                </a:lnTo>
                <a:lnTo>
                  <a:pt x="1068945" y="1798165"/>
                </a:lnTo>
                <a:lnTo>
                  <a:pt x="1017557" y="1790006"/>
                </a:lnTo>
                <a:lnTo>
                  <a:pt x="966353" y="1780436"/>
                </a:lnTo>
                <a:lnTo>
                  <a:pt x="915386" y="1769441"/>
                </a:lnTo>
                <a:lnTo>
                  <a:pt x="864710" y="1757006"/>
                </a:lnTo>
                <a:lnTo>
                  <a:pt x="814377" y="1743117"/>
                </a:lnTo>
                <a:lnTo>
                  <a:pt x="759630" y="1726189"/>
                </a:lnTo>
                <a:lnTo>
                  <a:pt x="706536" y="1707839"/>
                </a:lnTo>
                <a:lnTo>
                  <a:pt x="655125" y="1688116"/>
                </a:lnTo>
                <a:lnTo>
                  <a:pt x="605423" y="1667067"/>
                </a:lnTo>
                <a:lnTo>
                  <a:pt x="557461" y="1644743"/>
                </a:lnTo>
                <a:lnTo>
                  <a:pt x="511266" y="1621191"/>
                </a:lnTo>
                <a:lnTo>
                  <a:pt x="466867" y="1596460"/>
                </a:lnTo>
                <a:lnTo>
                  <a:pt x="424293" y="1570598"/>
                </a:lnTo>
                <a:lnTo>
                  <a:pt x="383573" y="1543655"/>
                </a:lnTo>
                <a:lnTo>
                  <a:pt x="344734" y="1515678"/>
                </a:lnTo>
                <a:lnTo>
                  <a:pt x="307805" y="1486717"/>
                </a:lnTo>
                <a:lnTo>
                  <a:pt x="272816" y="1456820"/>
                </a:lnTo>
                <a:lnTo>
                  <a:pt x="239794" y="1426035"/>
                </a:lnTo>
                <a:lnTo>
                  <a:pt x="208768" y="1394411"/>
                </a:lnTo>
                <a:lnTo>
                  <a:pt x="179767" y="1361997"/>
                </a:lnTo>
                <a:lnTo>
                  <a:pt x="152820" y="1328842"/>
                </a:lnTo>
                <a:lnTo>
                  <a:pt x="127954" y="1294993"/>
                </a:lnTo>
                <a:lnTo>
                  <a:pt x="105198" y="1260500"/>
                </a:lnTo>
                <a:lnTo>
                  <a:pt x="84582" y="1225412"/>
                </a:lnTo>
                <a:lnTo>
                  <a:pt x="66133" y="1189775"/>
                </a:lnTo>
                <a:lnTo>
                  <a:pt x="49880" y="1153641"/>
                </a:lnTo>
                <a:lnTo>
                  <a:pt x="35851" y="1117056"/>
                </a:lnTo>
                <a:lnTo>
                  <a:pt x="24076" y="1080070"/>
                </a:lnTo>
                <a:lnTo>
                  <a:pt x="14583" y="1042730"/>
                </a:lnTo>
                <a:lnTo>
                  <a:pt x="7400" y="1005087"/>
                </a:lnTo>
                <a:lnTo>
                  <a:pt x="2556" y="967188"/>
                </a:lnTo>
                <a:lnTo>
                  <a:pt x="80" y="929082"/>
                </a:lnTo>
                <a:lnTo>
                  <a:pt x="0" y="890817"/>
                </a:lnTo>
                <a:lnTo>
                  <a:pt x="2344" y="852443"/>
                </a:lnTo>
                <a:lnTo>
                  <a:pt x="7141" y="814007"/>
                </a:lnTo>
                <a:lnTo>
                  <a:pt x="14421" y="775558"/>
                </a:lnTo>
                <a:lnTo>
                  <a:pt x="24210" y="737146"/>
                </a:lnTo>
                <a:lnTo>
                  <a:pt x="36539" y="698818"/>
                </a:lnTo>
                <a:lnTo>
                  <a:pt x="51435" y="660623"/>
                </a:lnTo>
                <a:lnTo>
                  <a:pt x="68927" y="622610"/>
                </a:lnTo>
                <a:lnTo>
                  <a:pt x="89043" y="584827"/>
                </a:lnTo>
                <a:lnTo>
                  <a:pt x="111813" y="547323"/>
                </a:lnTo>
                <a:lnTo>
                  <a:pt x="134449" y="514075"/>
                </a:lnTo>
                <a:lnTo>
                  <a:pt x="158814" y="481729"/>
                </a:lnTo>
                <a:lnTo>
                  <a:pt x="184853" y="450301"/>
                </a:lnTo>
                <a:lnTo>
                  <a:pt x="212515" y="419804"/>
                </a:lnTo>
                <a:lnTo>
                  <a:pt x="241746" y="390252"/>
                </a:lnTo>
                <a:lnTo>
                  <a:pt x="272492" y="361660"/>
                </a:lnTo>
                <a:lnTo>
                  <a:pt x="304702" y="334042"/>
                </a:lnTo>
                <a:lnTo>
                  <a:pt x="338321" y="307411"/>
                </a:lnTo>
                <a:lnTo>
                  <a:pt x="373296" y="281782"/>
                </a:lnTo>
                <a:lnTo>
                  <a:pt x="409575" y="257170"/>
                </a:lnTo>
                <a:lnTo>
                  <a:pt x="447104" y="233587"/>
                </a:lnTo>
                <a:lnTo>
                  <a:pt x="485830" y="211049"/>
                </a:lnTo>
                <a:lnTo>
                  <a:pt x="525700" y="189568"/>
                </a:lnTo>
                <a:lnTo>
                  <a:pt x="566661" y="169161"/>
                </a:lnTo>
                <a:lnTo>
                  <a:pt x="608659" y="149840"/>
                </a:lnTo>
                <a:lnTo>
                  <a:pt x="651642" y="131619"/>
                </a:lnTo>
                <a:lnTo>
                  <a:pt x="695557" y="114514"/>
                </a:lnTo>
                <a:lnTo>
                  <a:pt x="740350" y="98537"/>
                </a:lnTo>
                <a:lnTo>
                  <a:pt x="785968" y="83704"/>
                </a:lnTo>
                <a:lnTo>
                  <a:pt x="832359" y="70027"/>
                </a:lnTo>
                <a:lnTo>
                  <a:pt x="879468" y="57522"/>
                </a:lnTo>
                <a:lnTo>
                  <a:pt x="927243" y="46203"/>
                </a:lnTo>
                <a:lnTo>
                  <a:pt x="975631" y="36083"/>
                </a:lnTo>
                <a:lnTo>
                  <a:pt x="1024579" y="27176"/>
                </a:lnTo>
                <a:lnTo>
                  <a:pt x="1074033" y="19498"/>
                </a:lnTo>
                <a:lnTo>
                  <a:pt x="1123940" y="13061"/>
                </a:lnTo>
                <a:lnTo>
                  <a:pt x="1174248" y="7880"/>
                </a:lnTo>
                <a:lnTo>
                  <a:pt x="1224903" y="3969"/>
                </a:lnTo>
                <a:lnTo>
                  <a:pt x="1275851" y="1343"/>
                </a:lnTo>
                <a:lnTo>
                  <a:pt x="1327041" y="15"/>
                </a:lnTo>
                <a:lnTo>
                  <a:pt x="1378418" y="0"/>
                </a:lnTo>
                <a:lnTo>
                  <a:pt x="1429930" y="1311"/>
                </a:lnTo>
                <a:lnTo>
                  <a:pt x="1481524" y="3962"/>
                </a:lnTo>
                <a:lnTo>
                  <a:pt x="1533145" y="7969"/>
                </a:lnTo>
                <a:lnTo>
                  <a:pt x="1584742" y="13345"/>
                </a:lnTo>
                <a:lnTo>
                  <a:pt x="1636262" y="20103"/>
                </a:lnTo>
                <a:lnTo>
                  <a:pt x="1687650" y="28259"/>
                </a:lnTo>
                <a:lnTo>
                  <a:pt x="1738854" y="37826"/>
                </a:lnTo>
                <a:lnTo>
                  <a:pt x="1789820" y="48819"/>
                </a:lnTo>
                <a:lnTo>
                  <a:pt x="1840497" y="61251"/>
                </a:lnTo>
                <a:lnTo>
                  <a:pt x="1890829" y="75137"/>
                </a:lnTo>
                <a:lnTo>
                  <a:pt x="1946270" y="92300"/>
                </a:lnTo>
                <a:lnTo>
                  <a:pt x="2000152" y="110992"/>
                </a:lnTo>
                <a:lnTo>
                  <a:pt x="2052428" y="131164"/>
                </a:lnTo>
                <a:lnTo>
                  <a:pt x="2103052" y="152766"/>
                </a:lnTo>
                <a:lnTo>
                  <a:pt x="2151979" y="175750"/>
                </a:lnTo>
                <a:lnTo>
                  <a:pt x="2199161" y="200068"/>
                </a:lnTo>
                <a:lnTo>
                  <a:pt x="2244551" y="225669"/>
                </a:lnTo>
                <a:lnTo>
                  <a:pt x="2288105" y="252506"/>
                </a:lnTo>
                <a:lnTo>
                  <a:pt x="2329774" y="280529"/>
                </a:lnTo>
                <a:lnTo>
                  <a:pt x="2369514" y="309690"/>
                </a:lnTo>
                <a:lnTo>
                  <a:pt x="2407276" y="339939"/>
                </a:lnTo>
                <a:lnTo>
                  <a:pt x="2443016" y="371229"/>
                </a:lnTo>
                <a:lnTo>
                  <a:pt x="2476686" y="403509"/>
                </a:lnTo>
                <a:lnTo>
                  <a:pt x="2508240" y="436731"/>
                </a:lnTo>
                <a:lnTo>
                  <a:pt x="2537631" y="470847"/>
                </a:lnTo>
                <a:lnTo>
                  <a:pt x="2564814" y="505808"/>
                </a:lnTo>
                <a:lnTo>
                  <a:pt x="2589742" y="541564"/>
                </a:lnTo>
                <a:lnTo>
                  <a:pt x="2612368" y="578066"/>
                </a:lnTo>
                <a:lnTo>
                  <a:pt x="2632646" y="615267"/>
                </a:lnTo>
                <a:lnTo>
                  <a:pt x="2650530" y="653117"/>
                </a:lnTo>
                <a:lnTo>
                  <a:pt x="2665973" y="691566"/>
                </a:lnTo>
                <a:lnTo>
                  <a:pt x="2678928" y="730568"/>
                </a:lnTo>
                <a:lnTo>
                  <a:pt x="2689350" y="770071"/>
                </a:lnTo>
                <a:lnTo>
                  <a:pt x="2697192" y="810028"/>
                </a:lnTo>
                <a:lnTo>
                  <a:pt x="2702407" y="850390"/>
                </a:lnTo>
                <a:lnTo>
                  <a:pt x="2704949" y="891108"/>
                </a:lnTo>
                <a:lnTo>
                  <a:pt x="2704772" y="932133"/>
                </a:lnTo>
                <a:lnTo>
                  <a:pt x="3508428" y="1229059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065009" y="5107051"/>
            <a:ext cx="51371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13227" sz="3150" spc="7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baseline="-13227" sz="3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52054" y="1852172"/>
            <a:ext cx="1791970" cy="1009015"/>
          </a:xfrm>
          <a:custGeom>
            <a:avLst/>
            <a:gdLst/>
            <a:ahLst/>
            <a:cxnLst/>
            <a:rect l="l" t="t" r="r" b="b"/>
            <a:pathLst>
              <a:path w="1791970" h="1009014">
                <a:moveTo>
                  <a:pt x="162216" y="331973"/>
                </a:moveTo>
                <a:lnTo>
                  <a:pt x="160252" y="288558"/>
                </a:lnTo>
                <a:lnTo>
                  <a:pt x="169336" y="246974"/>
                </a:lnTo>
                <a:lnTo>
                  <a:pt x="188505" y="208194"/>
                </a:lnTo>
                <a:lnTo>
                  <a:pt x="216794" y="173191"/>
                </a:lnTo>
                <a:lnTo>
                  <a:pt x="253239" y="142939"/>
                </a:lnTo>
                <a:lnTo>
                  <a:pt x="296876" y="118410"/>
                </a:lnTo>
                <a:lnTo>
                  <a:pt x="346739" y="100579"/>
                </a:lnTo>
                <a:lnTo>
                  <a:pt x="401865" y="90419"/>
                </a:lnTo>
                <a:lnTo>
                  <a:pt x="448474" y="88563"/>
                </a:lnTo>
                <a:lnTo>
                  <a:pt x="494512" y="92625"/>
                </a:lnTo>
                <a:lnTo>
                  <a:pt x="539025" y="102474"/>
                </a:lnTo>
                <a:lnTo>
                  <a:pt x="581062" y="117978"/>
                </a:lnTo>
                <a:lnTo>
                  <a:pt x="609999" y="85702"/>
                </a:lnTo>
                <a:lnTo>
                  <a:pt x="646518" y="60131"/>
                </a:lnTo>
                <a:lnTo>
                  <a:pt x="688824" y="41687"/>
                </a:lnTo>
                <a:lnTo>
                  <a:pt x="735122" y="30791"/>
                </a:lnTo>
                <a:lnTo>
                  <a:pt x="783618" y="27867"/>
                </a:lnTo>
                <a:lnTo>
                  <a:pt x="832515" y="33336"/>
                </a:lnTo>
                <a:lnTo>
                  <a:pt x="880020" y="47620"/>
                </a:lnTo>
                <a:lnTo>
                  <a:pt x="919579" y="68319"/>
                </a:lnTo>
                <a:lnTo>
                  <a:pt x="931328" y="76576"/>
                </a:lnTo>
                <a:lnTo>
                  <a:pt x="958619" y="45772"/>
                </a:lnTo>
                <a:lnTo>
                  <a:pt x="994250" y="22342"/>
                </a:lnTo>
                <a:lnTo>
                  <a:pt x="1035913" y="6885"/>
                </a:lnTo>
                <a:lnTo>
                  <a:pt x="1081301" y="0"/>
                </a:lnTo>
                <a:lnTo>
                  <a:pt x="1128108" y="2287"/>
                </a:lnTo>
                <a:lnTo>
                  <a:pt x="1174025" y="14346"/>
                </a:lnTo>
                <a:lnTo>
                  <a:pt x="1208585" y="31538"/>
                </a:lnTo>
                <a:lnTo>
                  <a:pt x="1237144" y="54351"/>
                </a:lnTo>
                <a:lnTo>
                  <a:pt x="1277237" y="26672"/>
                </a:lnTo>
                <a:lnTo>
                  <a:pt x="1323824" y="8645"/>
                </a:lnTo>
                <a:lnTo>
                  <a:pt x="1374193" y="439"/>
                </a:lnTo>
                <a:lnTo>
                  <a:pt x="1425631" y="2224"/>
                </a:lnTo>
                <a:lnTo>
                  <a:pt x="1475425" y="14169"/>
                </a:lnTo>
                <a:lnTo>
                  <a:pt x="1520862" y="36444"/>
                </a:lnTo>
                <a:lnTo>
                  <a:pt x="1565137" y="77004"/>
                </a:lnTo>
                <a:lnTo>
                  <a:pt x="1588934" y="126614"/>
                </a:lnTo>
                <a:lnTo>
                  <a:pt x="1636280" y="141171"/>
                </a:lnTo>
                <a:lnTo>
                  <a:pt x="1676785" y="162891"/>
                </a:lnTo>
                <a:lnTo>
                  <a:pt x="1709519" y="190522"/>
                </a:lnTo>
                <a:lnTo>
                  <a:pt x="1733551" y="222814"/>
                </a:lnTo>
                <a:lnTo>
                  <a:pt x="1747951" y="258516"/>
                </a:lnTo>
                <a:lnTo>
                  <a:pt x="1751787" y="296378"/>
                </a:lnTo>
                <a:lnTo>
                  <a:pt x="1744128" y="335148"/>
                </a:lnTo>
                <a:lnTo>
                  <a:pt x="1741461" y="342768"/>
                </a:lnTo>
                <a:lnTo>
                  <a:pt x="1738032" y="350261"/>
                </a:lnTo>
                <a:lnTo>
                  <a:pt x="1733968" y="357500"/>
                </a:lnTo>
                <a:lnTo>
                  <a:pt x="1763923" y="394558"/>
                </a:lnTo>
                <a:lnTo>
                  <a:pt x="1783060" y="434244"/>
                </a:lnTo>
                <a:lnTo>
                  <a:pt x="1791585" y="475340"/>
                </a:lnTo>
                <a:lnTo>
                  <a:pt x="1789705" y="516631"/>
                </a:lnTo>
                <a:lnTo>
                  <a:pt x="1777628" y="556897"/>
                </a:lnTo>
                <a:lnTo>
                  <a:pt x="1755560" y="594922"/>
                </a:lnTo>
                <a:lnTo>
                  <a:pt x="1723708" y="629489"/>
                </a:lnTo>
                <a:lnTo>
                  <a:pt x="1682279" y="659379"/>
                </a:lnTo>
                <a:lnTo>
                  <a:pt x="1620240" y="687112"/>
                </a:lnTo>
                <a:lnTo>
                  <a:pt x="1550961" y="701797"/>
                </a:lnTo>
                <a:lnTo>
                  <a:pt x="1544205" y="743883"/>
                </a:lnTo>
                <a:lnTo>
                  <a:pt x="1525774" y="782436"/>
                </a:lnTo>
                <a:lnTo>
                  <a:pt x="1497120" y="816367"/>
                </a:lnTo>
                <a:lnTo>
                  <a:pt x="1459693" y="844583"/>
                </a:lnTo>
                <a:lnTo>
                  <a:pt x="1414943" y="865995"/>
                </a:lnTo>
                <a:lnTo>
                  <a:pt x="1364322" y="879512"/>
                </a:lnTo>
                <a:lnTo>
                  <a:pt x="1309280" y="884042"/>
                </a:lnTo>
                <a:lnTo>
                  <a:pt x="1276375" y="882107"/>
                </a:lnTo>
                <a:lnTo>
                  <a:pt x="1244256" y="876755"/>
                </a:lnTo>
                <a:lnTo>
                  <a:pt x="1213375" y="868093"/>
                </a:lnTo>
                <a:lnTo>
                  <a:pt x="1184185" y="856229"/>
                </a:lnTo>
                <a:lnTo>
                  <a:pt x="1165314" y="892224"/>
                </a:lnTo>
                <a:lnTo>
                  <a:pt x="1139163" y="924160"/>
                </a:lnTo>
                <a:lnTo>
                  <a:pt x="1106720" y="951629"/>
                </a:lnTo>
                <a:lnTo>
                  <a:pt x="1068974" y="974222"/>
                </a:lnTo>
                <a:lnTo>
                  <a:pt x="1026915" y="991530"/>
                </a:lnTo>
                <a:lnTo>
                  <a:pt x="981531" y="1003144"/>
                </a:lnTo>
                <a:lnTo>
                  <a:pt x="933810" y="1008656"/>
                </a:lnTo>
                <a:lnTo>
                  <a:pt x="884742" y="1007657"/>
                </a:lnTo>
                <a:lnTo>
                  <a:pt x="835316" y="999739"/>
                </a:lnTo>
                <a:lnTo>
                  <a:pt x="790495" y="986013"/>
                </a:lnTo>
                <a:lnTo>
                  <a:pt x="749734" y="966703"/>
                </a:lnTo>
                <a:lnTo>
                  <a:pt x="713854" y="942321"/>
                </a:lnTo>
                <a:lnTo>
                  <a:pt x="683678" y="913379"/>
                </a:lnTo>
                <a:lnTo>
                  <a:pt x="637023" y="931204"/>
                </a:lnTo>
                <a:lnTo>
                  <a:pt x="588566" y="942734"/>
                </a:lnTo>
                <a:lnTo>
                  <a:pt x="539212" y="948142"/>
                </a:lnTo>
                <a:lnTo>
                  <a:pt x="489864" y="947602"/>
                </a:lnTo>
                <a:lnTo>
                  <a:pt x="441426" y="941287"/>
                </a:lnTo>
                <a:lnTo>
                  <a:pt x="394801" y="929372"/>
                </a:lnTo>
                <a:lnTo>
                  <a:pt x="350893" y="912029"/>
                </a:lnTo>
                <a:lnTo>
                  <a:pt x="310607" y="889434"/>
                </a:lnTo>
                <a:lnTo>
                  <a:pt x="274845" y="861759"/>
                </a:lnTo>
                <a:lnTo>
                  <a:pt x="244512" y="829178"/>
                </a:lnTo>
                <a:lnTo>
                  <a:pt x="241210" y="824860"/>
                </a:lnTo>
                <a:lnTo>
                  <a:pt x="192718" y="824228"/>
                </a:lnTo>
                <a:lnTo>
                  <a:pt x="147700" y="814220"/>
                </a:lnTo>
                <a:lnTo>
                  <a:pt x="108066" y="795999"/>
                </a:lnTo>
                <a:lnTo>
                  <a:pt x="75724" y="770730"/>
                </a:lnTo>
                <a:lnTo>
                  <a:pt x="52583" y="739576"/>
                </a:lnTo>
                <a:lnTo>
                  <a:pt x="40312" y="673506"/>
                </a:lnTo>
                <a:lnTo>
                  <a:pt x="48456" y="644345"/>
                </a:lnTo>
                <a:lnTo>
                  <a:pt x="64553" y="617209"/>
                </a:lnTo>
                <a:lnTo>
                  <a:pt x="88175" y="593085"/>
                </a:lnTo>
                <a:lnTo>
                  <a:pt x="43683" y="564803"/>
                </a:lnTo>
                <a:lnTo>
                  <a:pt x="13938" y="528530"/>
                </a:lnTo>
                <a:lnTo>
                  <a:pt x="0" y="487398"/>
                </a:lnTo>
                <a:lnTo>
                  <a:pt x="2929" y="444542"/>
                </a:lnTo>
                <a:lnTo>
                  <a:pt x="23786" y="403093"/>
                </a:lnTo>
                <a:lnTo>
                  <a:pt x="81714" y="356547"/>
                </a:lnTo>
                <a:lnTo>
                  <a:pt x="119316" y="342335"/>
                </a:lnTo>
                <a:lnTo>
                  <a:pt x="160692" y="335148"/>
                </a:lnTo>
                <a:lnTo>
                  <a:pt x="162216" y="331973"/>
                </a:lnTo>
                <a:close/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7633" y="2240914"/>
            <a:ext cx="113195" cy="1131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37425" y="2222500"/>
            <a:ext cx="169252" cy="1691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03274" y="2205608"/>
            <a:ext cx="225297" cy="2252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842135" y="2441320"/>
            <a:ext cx="105410" cy="19050"/>
          </a:xfrm>
          <a:custGeom>
            <a:avLst/>
            <a:gdLst/>
            <a:ahLst/>
            <a:cxnLst/>
            <a:rect l="l" t="t" r="r" b="b"/>
            <a:pathLst>
              <a:path w="105410" h="19050">
                <a:moveTo>
                  <a:pt x="105028" y="18668"/>
                </a:moveTo>
                <a:lnTo>
                  <a:pt x="77598" y="18680"/>
                </a:lnTo>
                <a:lnTo>
                  <a:pt x="50657" y="15525"/>
                </a:lnTo>
                <a:lnTo>
                  <a:pt x="24643" y="9274"/>
                </a:lnTo>
                <a:lnTo>
                  <a:pt x="0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993773" y="2663698"/>
            <a:ext cx="46355" cy="8890"/>
          </a:xfrm>
          <a:custGeom>
            <a:avLst/>
            <a:gdLst/>
            <a:ahLst/>
            <a:cxnLst/>
            <a:rect l="l" t="t" r="r" b="b"/>
            <a:pathLst>
              <a:path w="46355" h="8889">
                <a:moveTo>
                  <a:pt x="45974" y="0"/>
                </a:moveTo>
                <a:lnTo>
                  <a:pt x="34807" y="3067"/>
                </a:lnTo>
                <a:lnTo>
                  <a:pt x="23415" y="5587"/>
                </a:lnTo>
                <a:lnTo>
                  <a:pt x="11809" y="7536"/>
                </a:lnTo>
                <a:lnTo>
                  <a:pt x="0" y="8889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407920" y="2720848"/>
            <a:ext cx="27940" cy="40640"/>
          </a:xfrm>
          <a:custGeom>
            <a:avLst/>
            <a:gdLst/>
            <a:ahLst/>
            <a:cxnLst/>
            <a:rect l="l" t="t" r="r" b="b"/>
            <a:pathLst>
              <a:path w="27939" h="40639">
                <a:moveTo>
                  <a:pt x="27686" y="40639"/>
                </a:moveTo>
                <a:lnTo>
                  <a:pt x="19734" y="30950"/>
                </a:lnTo>
                <a:lnTo>
                  <a:pt x="12461" y="20939"/>
                </a:lnTo>
                <a:lnTo>
                  <a:pt x="5879" y="10618"/>
                </a:lnTo>
                <a:lnTo>
                  <a:pt x="0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36494" y="2660142"/>
            <a:ext cx="11430" cy="45085"/>
          </a:xfrm>
          <a:custGeom>
            <a:avLst/>
            <a:gdLst/>
            <a:ahLst/>
            <a:cxnLst/>
            <a:rect l="l" t="t" r="r" b="b"/>
            <a:pathLst>
              <a:path w="11430" h="45085">
                <a:moveTo>
                  <a:pt x="11049" y="0"/>
                </a:moveTo>
                <a:lnTo>
                  <a:pt x="9429" y="11304"/>
                </a:lnTo>
                <a:lnTo>
                  <a:pt x="7048" y="22526"/>
                </a:lnTo>
                <a:lnTo>
                  <a:pt x="3905" y="33629"/>
                </a:lnTo>
                <a:lnTo>
                  <a:pt x="0" y="44577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67252" y="2384679"/>
            <a:ext cx="135255" cy="167005"/>
          </a:xfrm>
          <a:custGeom>
            <a:avLst/>
            <a:gdLst/>
            <a:ahLst/>
            <a:cxnLst/>
            <a:rect l="l" t="t" r="r" b="b"/>
            <a:pathLst>
              <a:path w="135254" h="167005">
                <a:moveTo>
                  <a:pt x="0" y="0"/>
                </a:moveTo>
                <a:lnTo>
                  <a:pt x="46030" y="22437"/>
                </a:lnTo>
                <a:lnTo>
                  <a:pt x="83594" y="51665"/>
                </a:lnTo>
                <a:lnTo>
                  <a:pt x="111629" y="86337"/>
                </a:lnTo>
                <a:lnTo>
                  <a:pt x="129076" y="125106"/>
                </a:lnTo>
                <a:lnTo>
                  <a:pt x="134874" y="166624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425190" y="2207132"/>
            <a:ext cx="60325" cy="62865"/>
          </a:xfrm>
          <a:custGeom>
            <a:avLst/>
            <a:gdLst/>
            <a:ahLst/>
            <a:cxnLst/>
            <a:rect l="l" t="t" r="r" b="b"/>
            <a:pathLst>
              <a:path w="60325" h="62864">
                <a:moveTo>
                  <a:pt x="59944" y="0"/>
                </a:moveTo>
                <a:lnTo>
                  <a:pt x="48559" y="17567"/>
                </a:lnTo>
                <a:lnTo>
                  <a:pt x="34686" y="33956"/>
                </a:lnTo>
                <a:lnTo>
                  <a:pt x="18456" y="48988"/>
                </a:lnTo>
                <a:lnTo>
                  <a:pt x="0" y="62483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341242" y="1975357"/>
            <a:ext cx="3175" cy="29845"/>
          </a:xfrm>
          <a:custGeom>
            <a:avLst/>
            <a:gdLst/>
            <a:ahLst/>
            <a:cxnLst/>
            <a:rect l="l" t="t" r="r" b="b"/>
            <a:pathLst>
              <a:path w="3175" h="29844">
                <a:moveTo>
                  <a:pt x="0" y="0"/>
                </a:moveTo>
                <a:lnTo>
                  <a:pt x="1476" y="7282"/>
                </a:lnTo>
                <a:lnTo>
                  <a:pt x="2476" y="14636"/>
                </a:lnTo>
                <a:lnTo>
                  <a:pt x="3000" y="22038"/>
                </a:lnTo>
                <a:lnTo>
                  <a:pt x="3048" y="29463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957957" y="1903222"/>
            <a:ext cx="31115" cy="38100"/>
          </a:xfrm>
          <a:custGeom>
            <a:avLst/>
            <a:gdLst/>
            <a:ahLst/>
            <a:cxnLst/>
            <a:rect l="l" t="t" r="r" b="b"/>
            <a:pathLst>
              <a:path w="31114" h="38100">
                <a:moveTo>
                  <a:pt x="0" y="37718"/>
                </a:moveTo>
                <a:lnTo>
                  <a:pt x="6302" y="27699"/>
                </a:lnTo>
                <a:lnTo>
                  <a:pt x="13557" y="18049"/>
                </a:lnTo>
                <a:lnTo>
                  <a:pt x="21717" y="8804"/>
                </a:lnTo>
                <a:lnTo>
                  <a:pt x="30734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70429" y="1926335"/>
            <a:ext cx="15240" cy="33020"/>
          </a:xfrm>
          <a:custGeom>
            <a:avLst/>
            <a:gdLst/>
            <a:ahLst/>
            <a:cxnLst/>
            <a:rect l="l" t="t" r="r" b="b"/>
            <a:pathLst>
              <a:path w="15239" h="33019">
                <a:moveTo>
                  <a:pt x="0" y="32512"/>
                </a:moveTo>
                <a:lnTo>
                  <a:pt x="2714" y="24128"/>
                </a:lnTo>
                <a:lnTo>
                  <a:pt x="6095" y="15922"/>
                </a:lnTo>
                <a:lnTo>
                  <a:pt x="10144" y="7883"/>
                </a:lnTo>
                <a:lnTo>
                  <a:pt x="14858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332863" y="1969897"/>
            <a:ext cx="53975" cy="31750"/>
          </a:xfrm>
          <a:custGeom>
            <a:avLst/>
            <a:gdLst/>
            <a:ahLst/>
            <a:cxnLst/>
            <a:rect l="l" t="t" r="r" b="b"/>
            <a:pathLst>
              <a:path w="53975" h="31750">
                <a:moveTo>
                  <a:pt x="0" y="0"/>
                </a:moveTo>
                <a:lnTo>
                  <a:pt x="14398" y="6903"/>
                </a:lnTo>
                <a:lnTo>
                  <a:pt x="28225" y="14462"/>
                </a:lnTo>
                <a:lnTo>
                  <a:pt x="41433" y="22663"/>
                </a:lnTo>
                <a:lnTo>
                  <a:pt x="53975" y="31495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914270" y="2184273"/>
            <a:ext cx="9525" cy="33020"/>
          </a:xfrm>
          <a:custGeom>
            <a:avLst/>
            <a:gdLst/>
            <a:ahLst/>
            <a:cxnLst/>
            <a:rect l="l" t="t" r="r" b="b"/>
            <a:pathLst>
              <a:path w="9525" h="33019">
                <a:moveTo>
                  <a:pt x="9398" y="33019"/>
                </a:moveTo>
                <a:lnTo>
                  <a:pt x="6393" y="24878"/>
                </a:lnTo>
                <a:lnTo>
                  <a:pt x="3841" y="16652"/>
                </a:lnTo>
                <a:lnTo>
                  <a:pt x="1718" y="8356"/>
                </a:lnTo>
                <a:lnTo>
                  <a:pt x="0" y="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69240" y="1980133"/>
            <a:ext cx="28003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533144" y="1243202"/>
            <a:ext cx="6324600" cy="4899025"/>
          </a:xfrm>
          <a:custGeom>
            <a:avLst/>
            <a:gdLst/>
            <a:ahLst/>
            <a:cxnLst/>
            <a:rect l="l" t="t" r="r" b="b"/>
            <a:pathLst>
              <a:path w="6324600" h="4899025">
                <a:moveTo>
                  <a:pt x="6324600" y="4898517"/>
                </a:moveTo>
                <a:lnTo>
                  <a:pt x="5270500" y="4898517"/>
                </a:lnTo>
                <a:lnTo>
                  <a:pt x="3689350" y="4898517"/>
                </a:lnTo>
                <a:lnTo>
                  <a:pt x="0" y="4898517"/>
                </a:lnTo>
                <a:lnTo>
                  <a:pt x="0" y="2538222"/>
                </a:lnTo>
                <a:lnTo>
                  <a:pt x="0" y="1526667"/>
                </a:lnTo>
                <a:lnTo>
                  <a:pt x="0" y="852297"/>
                </a:lnTo>
                <a:lnTo>
                  <a:pt x="3689350" y="852297"/>
                </a:lnTo>
                <a:lnTo>
                  <a:pt x="5156327" y="0"/>
                </a:lnTo>
                <a:lnTo>
                  <a:pt x="5270500" y="852297"/>
                </a:lnTo>
                <a:lnTo>
                  <a:pt x="6324600" y="852297"/>
                </a:lnTo>
                <a:lnTo>
                  <a:pt x="6324600" y="1526667"/>
                </a:lnTo>
                <a:lnTo>
                  <a:pt x="6324600" y="2538222"/>
                </a:lnTo>
                <a:lnTo>
                  <a:pt x="6324600" y="4898517"/>
                </a:lnTo>
                <a:close/>
              </a:path>
            </a:pathLst>
          </a:custGeom>
          <a:ln w="57150">
            <a:solidFill>
              <a:srgbClr val="66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852031" y="894334"/>
            <a:ext cx="3048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 i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47038" y="912924"/>
            <a:ext cx="5625465" cy="4287520"/>
          </a:xfrm>
          <a:prstGeom prst="rect">
            <a:avLst/>
          </a:prstGeom>
        </p:spPr>
        <p:txBody>
          <a:bodyPr wrap="square" lIns="0" tIns="302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85"/>
              </a:spcBef>
              <a:tabLst>
                <a:tab pos="1539875" algn="l"/>
              </a:tabLst>
            </a:pPr>
            <a:r>
              <a:rPr dirty="0" sz="4000" spc="-5" b="1">
                <a:solidFill>
                  <a:srgbClr val="FFFF00"/>
                </a:solidFill>
                <a:latin typeface="Times New Roman"/>
                <a:cs typeface="Times New Roman"/>
              </a:rPr>
              <a:t>2.1.2	</a:t>
            </a:r>
            <a:r>
              <a:rPr dirty="0" sz="4000" spc="-15" b="1">
                <a:solidFill>
                  <a:srgbClr val="FFFF00"/>
                </a:solidFill>
                <a:latin typeface="宋体"/>
                <a:cs typeface="宋体"/>
              </a:rPr>
              <a:t>文法和语言的定义</a:t>
            </a:r>
            <a:endParaRPr sz="4000">
              <a:latin typeface="宋体"/>
              <a:cs typeface="宋体"/>
            </a:endParaRPr>
          </a:p>
          <a:p>
            <a:pPr marL="702945">
              <a:lnSpc>
                <a:spcPct val="100000"/>
              </a:lnSpc>
              <a:spcBef>
                <a:spcPts val="2060"/>
              </a:spcBef>
              <a:tabLst>
                <a:tab pos="1852295" algn="l"/>
              </a:tabLst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一</a:t>
            </a:r>
            <a:r>
              <a:rPr dirty="0" sz="3600" spc="-15" b="1">
                <a:solidFill>
                  <a:srgbClr val="FFFF66"/>
                </a:solidFill>
                <a:latin typeface="宋体"/>
                <a:cs typeface="宋体"/>
              </a:rPr>
              <a:t>.	</a:t>
            </a: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字符和字符串</a:t>
            </a:r>
            <a:endParaRPr sz="3600">
              <a:latin typeface="宋体"/>
              <a:cs typeface="宋体"/>
            </a:endParaRPr>
          </a:p>
          <a:p>
            <a:pPr marL="702945" marR="1012190">
              <a:lnSpc>
                <a:spcPct val="155000"/>
              </a:lnSpc>
            </a:pP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二.</a:t>
            </a:r>
            <a:r>
              <a:rPr dirty="0" sz="3600" spc="1755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字符串运算 </a:t>
            </a:r>
            <a:r>
              <a:rPr dirty="0" sz="3600" spc="-10" b="1">
                <a:solidFill>
                  <a:srgbClr val="FFFF66"/>
                </a:solidFill>
                <a:latin typeface="宋体"/>
                <a:cs typeface="宋体"/>
              </a:rPr>
              <a:t>三</a:t>
            </a:r>
            <a:r>
              <a:rPr dirty="0" sz="3600" spc="-5" b="1">
                <a:solidFill>
                  <a:srgbClr val="FFFF66"/>
                </a:solidFill>
                <a:latin typeface="宋体"/>
                <a:cs typeface="宋体"/>
              </a:rPr>
              <a:t>.</a:t>
            </a:r>
            <a:r>
              <a:rPr dirty="0" sz="3600" spc="1730" b="1">
                <a:solidFill>
                  <a:srgbClr val="FFFF66"/>
                </a:solidFill>
                <a:latin typeface="宋体"/>
                <a:cs typeface="宋体"/>
              </a:rPr>
              <a:t> </a:t>
            </a:r>
            <a:r>
              <a:rPr dirty="0" sz="3600" spc="-10" b="1">
                <a:solidFill>
                  <a:srgbClr val="FFFF66"/>
                </a:solidFill>
                <a:latin typeface="宋体"/>
                <a:cs typeface="宋体"/>
              </a:rPr>
              <a:t>文法形式定义 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四 .</a:t>
            </a:r>
            <a:r>
              <a:rPr dirty="0" sz="36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600" spc="-15" b="1">
                <a:solidFill>
                  <a:srgbClr val="FFFFFF"/>
                </a:solidFill>
                <a:latin typeface="宋体"/>
                <a:cs typeface="宋体"/>
              </a:rPr>
              <a:t>语 言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21640" y="600761"/>
            <a:ext cx="8232775" cy="288099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190500">
              <a:lnSpc>
                <a:spcPct val="100000"/>
              </a:lnSpc>
              <a:spcBef>
                <a:spcPts val="1260"/>
              </a:spcBef>
              <a:tabLst>
                <a:tab pos="90424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四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语言</a:t>
            </a:r>
            <a:endParaRPr sz="3200">
              <a:latin typeface="宋体"/>
              <a:cs typeface="宋体"/>
            </a:endParaRPr>
          </a:p>
          <a:p>
            <a:pPr marL="457200">
              <a:lnSpc>
                <a:spcPct val="100000"/>
              </a:lnSpc>
              <a:spcBef>
                <a:spcPts val="1015"/>
              </a:spcBef>
              <a:tabLst>
                <a:tab pos="1079500" algn="l"/>
              </a:tabLst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1.	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语言的非形式化定义</a:t>
            </a:r>
            <a:endParaRPr sz="2800">
              <a:latin typeface="宋体"/>
              <a:cs typeface="宋体"/>
            </a:endParaRPr>
          </a:p>
          <a:p>
            <a:pPr marL="12700" marR="5080" indent="711835">
              <a:lnSpc>
                <a:spcPct val="13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给定一部文法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的开始符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出发，反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复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使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用产生式对非终结符进行替换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最后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u="heavy" sz="2800" spc="-10" b="1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终</a:t>
            </a:r>
            <a:r>
              <a:rPr dirty="0" u="heavy" sz="2800" spc="5" b="1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结</a:t>
            </a:r>
            <a:r>
              <a:rPr dirty="0" u="heavy" sz="2800" spc="-15" b="1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符</a:t>
            </a:r>
            <a:r>
              <a:rPr dirty="0" u="heavy" sz="2800" spc="-2810" b="1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号 </a:t>
            </a:r>
            <a:r>
              <a:rPr dirty="0" u="heavy" sz="2800" spc="-5" b="1">
                <a:solidFill>
                  <a:srgbClr val="FF99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串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66FF99"/>
                </a:solidFill>
                <a:latin typeface="宋体"/>
                <a:cs typeface="宋体"/>
              </a:rPr>
              <a:t>全体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，即为文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描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述的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67334" y="3747261"/>
            <a:ext cx="11068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2.3</a:t>
            </a:r>
            <a:r>
              <a:rPr dirty="0" sz="3000" spc="-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6429" y="3684168"/>
            <a:ext cx="2361565" cy="208026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2800">
              <a:latin typeface="Times New Roman"/>
              <a:cs typeface="Times New Roman"/>
            </a:endParaRPr>
          </a:p>
          <a:p>
            <a:pPr marL="377825" marR="5080">
              <a:lnSpc>
                <a:spcPct val="120000"/>
              </a:lnSpc>
              <a:spcBef>
                <a:spcPts val="2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800" spc="-10" b="1">
                <a:solidFill>
                  <a:srgbClr val="66FF99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66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aPb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dirty="0" sz="2800" spc="-5" b="1">
                <a:solidFill>
                  <a:srgbClr val="66FF99"/>
                </a:solidFill>
                <a:latin typeface="Symbol"/>
                <a:cs typeface="Symbol"/>
              </a:rPr>
              <a:t></a:t>
            </a:r>
            <a:r>
              <a:rPr dirty="0" sz="2800" spc="-5" b="1">
                <a:solidFill>
                  <a:srgbClr val="66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bQa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Q </a:t>
            </a:r>
            <a:r>
              <a:rPr dirty="0" sz="2800" spc="-10" b="1">
                <a:solidFill>
                  <a:srgbClr val="66FF99"/>
                </a:solidFill>
                <a:latin typeface="Symbol"/>
                <a:cs typeface="Symbol"/>
              </a:rPr>
              <a:t></a:t>
            </a:r>
            <a:r>
              <a:rPr dirty="0" sz="2800" spc="-5" b="1">
                <a:solidFill>
                  <a:srgbClr val="66FF99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8942" y="5827877"/>
            <a:ext cx="43040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写出该文法所描述的语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99948" y="500336"/>
            <a:ext cx="8057515" cy="399097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  <a:tabLst>
                <a:tab pos="72580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四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语言</a:t>
            </a:r>
            <a:endParaRPr sz="3200">
              <a:latin typeface="宋体"/>
              <a:cs typeface="宋体"/>
            </a:endParaRPr>
          </a:p>
          <a:p>
            <a:pPr marL="278765">
              <a:lnSpc>
                <a:spcPct val="100000"/>
              </a:lnSpc>
              <a:spcBef>
                <a:spcPts val="1015"/>
              </a:spcBef>
              <a:tabLst>
                <a:tab pos="901065" algn="l"/>
              </a:tabLst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1.	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文法</a:t>
            </a:r>
            <a:r>
              <a:rPr dirty="0" sz="2800" b="1">
                <a:solidFill>
                  <a:srgbClr val="66FFFF"/>
                </a:solidFill>
                <a:latin typeface="Symbol"/>
                <a:cs typeface="Symbol"/>
              </a:rPr>
              <a:t>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语言</a:t>
            </a:r>
            <a:endParaRPr sz="2800">
              <a:latin typeface="宋体"/>
              <a:cs typeface="宋体"/>
            </a:endParaRPr>
          </a:p>
          <a:p>
            <a:pPr marL="189230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语言是字符串（句子）的集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marL="189230" marR="5080">
              <a:lnSpc>
                <a:spcPct val="13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由给定文法构造字符串的思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想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是：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始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符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号出发，对当前符号串中的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终结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替换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应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产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生式右部的符号串，如此反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，直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至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最终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全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由终结符号组成。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0031" y="4593158"/>
            <a:ext cx="110680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2.3</a:t>
            </a:r>
            <a:r>
              <a:rPr dirty="0" sz="30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9026" y="4529795"/>
            <a:ext cx="2360930" cy="208089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2800">
              <a:latin typeface="Times New Roman"/>
              <a:cs typeface="Times New Roman"/>
            </a:endParaRPr>
          </a:p>
          <a:p>
            <a:pPr marL="378460" marR="5080">
              <a:lnSpc>
                <a:spcPct val="120000"/>
              </a:lnSpc>
              <a:spcBef>
                <a:spcPts val="2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800" spc="-10" b="1">
                <a:solidFill>
                  <a:srgbClr val="66FF99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66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aPb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dirty="0" sz="2800" spc="-10" b="1">
                <a:solidFill>
                  <a:srgbClr val="66FF99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66FF99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6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bQa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Q </a:t>
            </a:r>
            <a:r>
              <a:rPr dirty="0" sz="2800" spc="-5" b="1">
                <a:solidFill>
                  <a:srgbClr val="66FF99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66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1348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77086" y="1051306"/>
            <a:ext cx="2520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42870" y="1011682"/>
            <a:ext cx="20307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17220" algn="l"/>
                <a:tab pos="1105535" algn="l"/>
              </a:tabLst>
            </a:pPr>
            <a:r>
              <a:rPr dirty="0" baseline="-2604" sz="48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baseline="-2604" sz="48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baseline="-2604" sz="4800" b="1" i="1">
                <a:solidFill>
                  <a:srgbClr val="FFFF00"/>
                </a:solidFill>
                <a:latin typeface="Times New Roman"/>
                <a:cs typeface="Times New Roman"/>
              </a:rPr>
              <a:t>P	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25411" y="563880"/>
            <a:ext cx="2418715" cy="2051685"/>
          </a:xfrm>
          <a:custGeom>
            <a:avLst/>
            <a:gdLst/>
            <a:ahLst/>
            <a:cxnLst/>
            <a:rect l="l" t="t" r="r" b="b"/>
            <a:pathLst>
              <a:path w="2418715" h="2051685">
                <a:moveTo>
                  <a:pt x="0" y="2051304"/>
                </a:moveTo>
                <a:lnTo>
                  <a:pt x="2418588" y="2051304"/>
                </a:lnTo>
                <a:lnTo>
                  <a:pt x="2418588" y="0"/>
                </a:lnTo>
                <a:lnTo>
                  <a:pt x="0" y="0"/>
                </a:lnTo>
                <a:lnTo>
                  <a:pt x="0" y="2051304"/>
                </a:lnTo>
                <a:close/>
              </a:path>
            </a:pathLst>
          </a:custGeom>
          <a:ln w="57150">
            <a:solidFill>
              <a:srgbClr val="FF99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804406" y="442366"/>
            <a:ext cx="1982470" cy="206819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ts val="4029"/>
              </a:lnSpc>
              <a:spcBef>
                <a:spcPts val="22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800" spc="-10" b="1">
                <a:solidFill>
                  <a:srgbClr val="66FF99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66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dirty="0" sz="2800" spc="-5" b="1">
                <a:solidFill>
                  <a:srgbClr val="66FF99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aPb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P </a:t>
            </a:r>
            <a:r>
              <a:rPr dirty="0" sz="2800" spc="-5" b="1">
                <a:solidFill>
                  <a:srgbClr val="66FF99"/>
                </a:solidFill>
                <a:latin typeface="Symbol"/>
                <a:cs typeface="Symbol"/>
              </a:rPr>
              <a:t></a:t>
            </a:r>
            <a:r>
              <a:rPr dirty="0" sz="2800" spc="-5" b="1">
                <a:solidFill>
                  <a:srgbClr val="66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bQa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Q </a:t>
            </a:r>
            <a:r>
              <a:rPr dirty="0" sz="2800" spc="-10" b="1">
                <a:solidFill>
                  <a:srgbClr val="66FF99"/>
                </a:solidFill>
                <a:latin typeface="Symbol"/>
                <a:cs typeface="Symbol"/>
              </a:rPr>
              <a:t></a:t>
            </a:r>
            <a:r>
              <a:rPr dirty="0" sz="2800" b="1">
                <a:solidFill>
                  <a:srgbClr val="66FF99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88542" y="3501085"/>
            <a:ext cx="6275070" cy="2483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1325">
              <a:lnSpc>
                <a:spcPct val="100000"/>
              </a:lnSpc>
              <a:spcBef>
                <a:spcPts val="105"/>
              </a:spcBef>
              <a:tabLst>
                <a:tab pos="898525" algn="l"/>
                <a:tab pos="1503680" algn="l"/>
                <a:tab pos="246062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	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aPb	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abab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35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5"/>
              </a:spcBef>
              <a:tabLst>
                <a:tab pos="117411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aPb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abQab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32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ababab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9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spc="-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u="heavy" sz="3200" b="1" i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4" action="ppaction://hlinksldjump"/>
              </a:rPr>
              <a:t>ba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u="heavy" sz="3200" spc="5" b="1" i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4" action="ppaction://hlinksldjump"/>
              </a:rPr>
              <a:t>baba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u="heavy" sz="3200" spc="5" b="1" i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4" action="ppaction://hlinksldjump"/>
              </a:rPr>
              <a:t>abab</a:t>
            </a:r>
            <a:r>
              <a:rPr dirty="0" u="heavy" sz="3200" spc="5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4" action="ppaction://hlinksldjump"/>
              </a:rPr>
              <a:t>,</a:t>
            </a:r>
            <a:r>
              <a:rPr dirty="0" u="heavy" sz="3200" spc="-40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dirty="0" u="heavy" sz="3200" b="1" i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Times New Roman"/>
                <a:cs typeface="Times New Roman"/>
                <a:hlinkClick r:id="rId4" action="ppaction://hlinksldjump"/>
              </a:rPr>
              <a:t>ababab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66417" y="2091689"/>
            <a:ext cx="123634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74725" algn="l"/>
              </a:tabLst>
            </a:pPr>
            <a:r>
              <a:rPr dirty="0" baseline="-2604" sz="48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baseline="-2604" sz="4800" spc="34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31057" y="2037333"/>
            <a:ext cx="26562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5208" sz="48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baseline="-5208" sz="4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5208" sz="4800" b="1" i="1">
                <a:solidFill>
                  <a:srgbClr val="FFFF00"/>
                </a:solidFill>
                <a:latin typeface="Times New Roman"/>
                <a:cs typeface="Times New Roman"/>
              </a:rPr>
              <a:t>bQa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baba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7122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3540" y="743788"/>
            <a:ext cx="5866765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585"/>
              </a:spcBef>
              <a:buClr>
                <a:srgbClr val="99FF66"/>
              </a:buClr>
              <a:buSzPct val="114062"/>
              <a:buFont typeface="Wingdings"/>
              <a:buChar char=""/>
              <a:tabLst>
                <a:tab pos="431165" algn="l"/>
                <a:tab pos="431800" algn="l"/>
                <a:tab pos="2162810" algn="l"/>
              </a:tabLst>
            </a:pPr>
            <a:r>
              <a:rPr dirty="0" sz="3200">
                <a:latin typeface="宋体"/>
                <a:cs typeface="宋体"/>
              </a:rPr>
              <a:t>定</a:t>
            </a:r>
            <a:r>
              <a:rPr dirty="0" sz="3200" spc="-5">
                <a:latin typeface="宋体"/>
                <a:cs typeface="宋体"/>
              </a:rPr>
              <a:t>义</a:t>
            </a:r>
            <a:r>
              <a:rPr dirty="0" sz="3200">
                <a:latin typeface="Times New Roman"/>
                <a:cs typeface="Times New Roman"/>
              </a:rPr>
              <a:t>2.10	(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宋体"/>
                <a:cs typeface="宋体"/>
              </a:rPr>
              <a:t>直接推</a:t>
            </a:r>
            <a:r>
              <a:rPr dirty="0" sz="3200" spc="-10">
                <a:latin typeface="宋体"/>
                <a:cs typeface="宋体"/>
              </a:rPr>
              <a:t>导</a:t>
            </a:r>
            <a:r>
              <a:rPr dirty="0" sz="3200" spc="-830">
                <a:latin typeface="宋体"/>
                <a:cs typeface="宋体"/>
              </a:rPr>
              <a:t> </a:t>
            </a:r>
            <a:r>
              <a:rPr dirty="0" sz="3200" spc="-10">
                <a:latin typeface="宋体"/>
                <a:cs typeface="宋体"/>
              </a:rPr>
              <a:t>“</a:t>
            </a:r>
            <a:r>
              <a:rPr dirty="0" sz="3200" spc="-825">
                <a:latin typeface="宋体"/>
                <a:cs typeface="宋体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=&gt;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宋体"/>
                <a:cs typeface="宋体"/>
              </a:rPr>
              <a:t>”</a:t>
            </a:r>
            <a:r>
              <a:rPr dirty="0" sz="3200" spc="-830">
                <a:latin typeface="宋体"/>
                <a:cs typeface="宋体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6890" y="1298354"/>
            <a:ext cx="8450580" cy="5128895"/>
          </a:xfrm>
          <a:prstGeom prst="rect">
            <a:avLst/>
          </a:prstGeom>
        </p:spPr>
        <p:txBody>
          <a:bodyPr wrap="square" lIns="0" tIns="202565" rIns="0" bIns="0" rtlCol="0" vert="horz">
            <a:spAutoFit/>
          </a:bodyPr>
          <a:lstStyle/>
          <a:p>
            <a:pPr marL="701040">
              <a:lnSpc>
                <a:spcPct val="100000"/>
              </a:lnSpc>
              <a:spcBef>
                <a:spcPts val="15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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Aβ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γβ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3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3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25525" sz="2775" spc="-3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),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当且</a:t>
            </a:r>
            <a:endParaRPr sz="2800">
              <a:latin typeface="宋体"/>
              <a:cs typeface="宋体"/>
            </a:endParaRPr>
          </a:p>
          <a:p>
            <a:pPr marL="78740">
              <a:lnSpc>
                <a:spcPct val="100000"/>
              </a:lnSpc>
              <a:spcBef>
                <a:spcPts val="150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仅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中存在一条规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Wingdings 3"/>
                <a:cs typeface="Wingdings 3"/>
              </a:rPr>
              <a:t>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2950" spc="-80" b="1" i="1">
                <a:solidFill>
                  <a:srgbClr val="FFFFFF"/>
                </a:solidFill>
                <a:latin typeface="Symbol"/>
                <a:cs typeface="Symbol"/>
              </a:rPr>
              <a:t>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直接推导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950" spc="-7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7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endParaRPr sz="2800">
              <a:latin typeface="宋体"/>
              <a:cs typeface="宋体"/>
            </a:endParaRPr>
          </a:p>
          <a:p>
            <a:pPr marL="78740">
              <a:lnSpc>
                <a:spcPct val="100000"/>
              </a:lnSpc>
              <a:spcBef>
                <a:spcPts val="1500"/>
              </a:spcBef>
            </a:pPr>
            <a:r>
              <a:rPr dirty="0" sz="2950" spc="-16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直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接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归约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950" spc="-25" b="1" i="1">
                <a:solidFill>
                  <a:srgbClr val="FFFFFF"/>
                </a:solidFill>
                <a:latin typeface="Symbol"/>
                <a:cs typeface="Symbol"/>
              </a:rPr>
              <a:t>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），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2800" spc="-4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950" spc="-45" b="1" i="1">
                <a:solidFill>
                  <a:srgbClr val="FFFFFF"/>
                </a:solidFill>
                <a:latin typeface="Symbol"/>
                <a:cs typeface="Symbol"/>
              </a:rPr>
              <a:t></a:t>
            </a:r>
            <a:r>
              <a:rPr dirty="0" sz="2950" spc="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7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92430" indent="-367665">
              <a:lnSpc>
                <a:spcPct val="100000"/>
              </a:lnSpc>
              <a:spcBef>
                <a:spcPts val="2320"/>
              </a:spcBef>
              <a:buClr>
                <a:srgbClr val="99FF66"/>
              </a:buClr>
              <a:buFont typeface="Wingdings"/>
              <a:buChar char=""/>
              <a:tabLst>
                <a:tab pos="392430" algn="l"/>
                <a:tab pos="393065" algn="l"/>
                <a:tab pos="210121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spc="-45" b="1">
                <a:solidFill>
                  <a:srgbClr val="FFFF00"/>
                </a:solidFill>
                <a:latin typeface="Times New Roman"/>
                <a:cs typeface="Times New Roman"/>
              </a:rPr>
              <a:t>2.11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直接推导序</a:t>
            </a:r>
            <a:r>
              <a:rPr dirty="0" sz="3200" spc="770" b="1">
                <a:solidFill>
                  <a:srgbClr val="FFFF00"/>
                </a:solidFill>
                <a:latin typeface="宋体"/>
                <a:cs typeface="宋体"/>
              </a:rPr>
              <a:t>列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674370">
              <a:lnSpc>
                <a:spcPct val="100000"/>
              </a:lnSpc>
              <a:spcBef>
                <a:spcPts val="12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如果存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950" spc="-40" b="1" i="1">
                <a:solidFill>
                  <a:srgbClr val="FFFFFF"/>
                </a:solidFill>
                <a:latin typeface="Symbol"/>
                <a:cs typeface="Symbol"/>
              </a:rPr>
              <a:t>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spc="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spc="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5525" sz="2775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-2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spc="1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-2552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,…,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552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-1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spc="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endParaRPr sz="2950">
              <a:latin typeface="Symbol"/>
              <a:cs typeface="Symbol"/>
            </a:endParaRPr>
          </a:p>
          <a:p>
            <a:pPr marL="121285" marR="26670" indent="1173480">
              <a:lnSpc>
                <a:spcPct val="1329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-5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spc="1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spc="1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552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-1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25525" sz="2775" spc="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552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950" spc="-80" b="1" i="1">
                <a:solidFill>
                  <a:srgbClr val="FFFFFF"/>
                </a:solidFill>
                <a:latin typeface="Symbol"/>
                <a:cs typeface="Symbol"/>
              </a:rPr>
              <a:t>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经过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步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&gt;0)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可以推导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800" spc="-6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9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2800" spc="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85" b="1" i="1">
                <a:solidFill>
                  <a:srgbClr val="FFFFFF"/>
                </a:solidFill>
                <a:latin typeface="Symbol"/>
                <a:cs typeface="Symbol"/>
              </a:rPr>
              <a:t></a:t>
            </a:r>
            <a:r>
              <a:rPr dirty="0" sz="295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409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26620" sz="3600" spc="-615" b="1">
                <a:solidFill>
                  <a:srgbClr val="FFFF00"/>
                </a:solidFill>
                <a:latin typeface="黑体"/>
                <a:cs typeface="黑体"/>
              </a:rPr>
              <a:t>+</a:t>
            </a:r>
            <a:r>
              <a:rPr dirty="0" sz="2800" spc="-409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2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1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95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endParaRPr sz="2800">
              <a:latin typeface="宋体"/>
              <a:cs typeface="宋体"/>
            </a:endParaRPr>
          </a:p>
          <a:p>
            <a:pPr marL="121285">
              <a:lnSpc>
                <a:spcPct val="100000"/>
              </a:lnSpc>
              <a:spcBef>
                <a:spcPts val="910"/>
              </a:spcBef>
            </a:pPr>
            <a:r>
              <a:rPr dirty="0" sz="2950" spc="-85" b="1" i="1">
                <a:solidFill>
                  <a:srgbClr val="FFFFFF"/>
                </a:solidFill>
                <a:latin typeface="Symbol"/>
                <a:cs typeface="Symbol"/>
              </a:rPr>
              <a:t></a:t>
            </a:r>
            <a:r>
              <a:rPr dirty="0" sz="295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409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26620" sz="3600" spc="-615" b="1">
                <a:solidFill>
                  <a:srgbClr val="FFFF00"/>
                </a:solidFill>
                <a:latin typeface="黑体"/>
                <a:cs typeface="黑体"/>
              </a:rPr>
              <a:t>+</a:t>
            </a:r>
            <a:r>
              <a:rPr dirty="0" sz="2800" spc="-409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2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7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950" spc="-85" b="1" i="1">
                <a:solidFill>
                  <a:srgbClr val="FFFFFF"/>
                </a:solidFill>
                <a:latin typeface="Symbol"/>
                <a:cs typeface="Symbol"/>
              </a:rPr>
              <a:t></a:t>
            </a:r>
            <a:r>
              <a:rPr dirty="0" sz="2950" spc="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85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8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2800" spc="-4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950" spc="-40" b="1" i="1">
                <a:solidFill>
                  <a:srgbClr val="FFFFFF"/>
                </a:solidFill>
                <a:latin typeface="Symbol"/>
                <a:cs typeface="Symbol"/>
              </a:rPr>
              <a:t></a:t>
            </a:r>
            <a:r>
              <a:rPr dirty="0" sz="2950" spc="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4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9548" sz="4800" spc="-81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540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4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70" b="1" i="1">
                <a:solidFill>
                  <a:srgbClr val="FFFFFF"/>
                </a:solidFill>
                <a:latin typeface="Symbol"/>
                <a:cs typeface="Symbol"/>
              </a:rPr>
              <a:t>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7744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4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0842" y="673684"/>
            <a:ext cx="3490595" cy="660400"/>
          </a:xfrm>
          <a:prstGeom prst="rect"/>
        </p:spPr>
        <p:txBody>
          <a:bodyPr wrap="square" lIns="0" tIns="135255" rIns="0" bIns="0" rtlCol="0" vert="horz">
            <a:spAutoFit/>
          </a:bodyPr>
          <a:lstStyle/>
          <a:p>
            <a:pPr marL="455930" indent="-443865">
              <a:lnSpc>
                <a:spcPct val="100000"/>
              </a:lnSpc>
              <a:spcBef>
                <a:spcPts val="1065"/>
              </a:spcBef>
              <a:buClr>
                <a:srgbClr val="66FFFF"/>
              </a:buClr>
              <a:buSzPct val="129687"/>
              <a:buFont typeface="Wingdings"/>
              <a:buChar char=""/>
              <a:tabLst>
                <a:tab pos="455930" algn="l"/>
                <a:tab pos="456565" algn="l"/>
                <a:tab pos="2186940" algn="l"/>
              </a:tabLst>
            </a:pPr>
            <a:r>
              <a:rPr dirty="0" sz="3200" spc="-5">
                <a:latin typeface="宋体"/>
                <a:cs typeface="宋体"/>
              </a:rPr>
              <a:t>定义</a:t>
            </a:r>
            <a:r>
              <a:rPr dirty="0" sz="3200">
                <a:latin typeface="Times New Roman"/>
                <a:cs typeface="Times New Roman"/>
              </a:rPr>
              <a:t>2.13	(</a:t>
            </a:r>
            <a:r>
              <a:rPr dirty="0" sz="3200" spc="-5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宋体"/>
                <a:cs typeface="宋体"/>
              </a:rPr>
              <a:t>句</a:t>
            </a:r>
            <a:r>
              <a:rPr dirty="0" sz="3200" spc="-10">
                <a:latin typeface="宋体"/>
                <a:cs typeface="宋体"/>
              </a:rPr>
              <a:t>型</a:t>
            </a:r>
            <a:r>
              <a:rPr dirty="0" sz="3200" spc="-850">
                <a:latin typeface="宋体"/>
                <a:cs typeface="宋体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142" y="1281566"/>
            <a:ext cx="7659370" cy="198818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380365">
              <a:lnSpc>
                <a:spcPct val="100000"/>
              </a:lnSpc>
              <a:spcBef>
                <a:spcPts val="76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6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8333" sz="4500" spc="-15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100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1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15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100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2800" spc="-1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15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1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25525" sz="2775" spc="-150" b="1">
                <a:solidFill>
                  <a:srgbClr val="FFFFFF"/>
                </a:solidFill>
                <a:latin typeface="宋体"/>
                <a:cs typeface="宋体"/>
              </a:rPr>
              <a:t>*</a:t>
            </a:r>
            <a:r>
              <a:rPr dirty="0" sz="2800" spc="-1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则称</a:t>
            </a:r>
            <a:endParaRPr sz="28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spcBef>
                <a:spcPts val="650"/>
              </a:spcBef>
            </a:pP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的句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28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68300" indent="-342900">
              <a:lnSpc>
                <a:spcPct val="100000"/>
              </a:lnSpc>
              <a:spcBef>
                <a:spcPts val="2965"/>
              </a:spcBef>
              <a:buClr>
                <a:srgbClr val="66FFFF"/>
              </a:buClr>
              <a:buSzPct val="129687"/>
              <a:buFont typeface="Wingdings"/>
              <a:buChar char=""/>
              <a:tabLst>
                <a:tab pos="368300" algn="l"/>
                <a:tab pos="209740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2.14	(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句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子</a:t>
            </a:r>
            <a:r>
              <a:rPr dirty="0" sz="3200" spc="-8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8634" y="3379089"/>
            <a:ext cx="13589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2100" spc="5" b="1">
                <a:solidFill>
                  <a:srgbClr val="FFFFFF"/>
                </a:solidFill>
                <a:latin typeface="黑体"/>
                <a:cs typeface="黑体"/>
              </a:rPr>
              <a:t>*</a:t>
            </a:r>
            <a:endParaRPr sz="21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5440" y="3994185"/>
            <a:ext cx="8111490" cy="232918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96215">
              <a:lnSpc>
                <a:spcPct val="100000"/>
              </a:lnSpc>
              <a:spcBef>
                <a:spcPts val="72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的句子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905"/>
              </a:spcBef>
              <a:buClr>
                <a:srgbClr val="66FFFF"/>
              </a:buClr>
              <a:buSzPct val="129687"/>
              <a:buFont typeface="Wingdings"/>
              <a:buChar char=""/>
              <a:tabLst>
                <a:tab pos="355600" algn="l"/>
                <a:tab pos="2085339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2.12	(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最左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右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推导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2700" marR="5080" indent="711835">
              <a:lnSpc>
                <a:spcPct val="125099"/>
              </a:lnSpc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在推导过程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，总是对句型中的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最左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右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边的非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终结符进行替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，称为最左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右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推导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9934" y="3414748"/>
            <a:ext cx="705993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517525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2800" spc="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47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9920" sz="4200" spc="-70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470" b="1">
                <a:solidFill>
                  <a:srgbClr val="FFFFFF"/>
                </a:solidFill>
                <a:latin typeface="Times New Roman"/>
                <a:cs typeface="Times New Roman"/>
              </a:rPr>
              <a:t>&gt;  </a:t>
            </a:r>
            <a:r>
              <a:rPr dirty="0" sz="2800" spc="-4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950" spc="-5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T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，则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19344" y="1924811"/>
            <a:ext cx="1620520" cy="0"/>
          </a:xfrm>
          <a:custGeom>
            <a:avLst/>
            <a:gdLst/>
            <a:ahLst/>
            <a:cxnLst/>
            <a:rect l="l" t="t" r="r" b="b"/>
            <a:pathLst>
              <a:path w="1620520" h="0">
                <a:moveTo>
                  <a:pt x="0" y="0"/>
                </a:moveTo>
                <a:lnTo>
                  <a:pt x="1620011" y="0"/>
                </a:lnTo>
              </a:path>
            </a:pathLst>
          </a:custGeom>
          <a:ln w="762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97296" y="3959352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112" y="0"/>
                </a:lnTo>
              </a:path>
            </a:pathLst>
          </a:custGeom>
          <a:ln w="762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3547" y="3456432"/>
            <a:ext cx="904494" cy="7901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8774430" cy="540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4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200">
              <a:latin typeface="宋体"/>
              <a:cs typeface="宋体"/>
            </a:endParaRPr>
          </a:p>
          <a:p>
            <a:pPr marL="603250" indent="-343535">
              <a:lnSpc>
                <a:spcPct val="100000"/>
              </a:lnSpc>
              <a:spcBef>
                <a:spcPts val="1455"/>
              </a:spcBef>
              <a:buClr>
                <a:srgbClr val="99FF66"/>
              </a:buClr>
              <a:buSzPct val="129687"/>
              <a:buFont typeface="Wingdings"/>
              <a:buChar char=""/>
              <a:tabLst>
                <a:tab pos="603885" algn="l"/>
                <a:tab pos="233489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2.15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(规范推导/规范句型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/</a:t>
            </a:r>
            <a:r>
              <a:rPr dirty="0" sz="3200" spc="-5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规范归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约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endParaRPr sz="3200">
              <a:latin typeface="宋体"/>
              <a:cs typeface="宋体"/>
            </a:endParaRPr>
          </a:p>
          <a:p>
            <a:pPr marL="260350" marR="295910" indent="621665">
              <a:lnSpc>
                <a:spcPct val="15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最右推导也称为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规范推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导</a:t>
            </a:r>
            <a:r>
              <a:rPr dirty="0" sz="2800" spc="-740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。仅用规范推导得到的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句型称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规范句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型</a:t>
            </a:r>
            <a:r>
              <a:rPr dirty="0" sz="2800" spc="-685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规范推导的逆序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规范归</a:t>
            </a:r>
            <a:r>
              <a:rPr dirty="0" sz="2800" spc="5" b="1">
                <a:solidFill>
                  <a:srgbClr val="66FFFF"/>
                </a:solidFill>
                <a:latin typeface="宋体"/>
                <a:cs typeface="宋体"/>
              </a:rPr>
              <a:t>约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50">
              <a:latin typeface="宋体"/>
              <a:cs typeface="宋体"/>
            </a:endParaRPr>
          </a:p>
          <a:p>
            <a:pPr marL="260350">
              <a:lnSpc>
                <a:spcPct val="100000"/>
              </a:lnSpc>
            </a:pPr>
            <a:r>
              <a:rPr dirty="0" sz="2800" spc="10">
                <a:solidFill>
                  <a:srgbClr val="FF99FF"/>
                </a:solidFill>
                <a:latin typeface="Wingdings"/>
                <a:cs typeface="Wingdings"/>
              </a:rPr>
              <a:t>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462915" marR="549275" indent="813435">
              <a:lnSpc>
                <a:spcPts val="5760"/>
              </a:lnSpc>
              <a:spcBef>
                <a:spcPts val="51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对给定的一个句子或句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其最左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最右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推导的唯一性问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7744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4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0882" y="690448"/>
            <a:ext cx="415988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68730" algn="l"/>
              </a:tabLst>
            </a:pPr>
            <a:r>
              <a:rPr dirty="0" sz="3200" spc="-5">
                <a:latin typeface="宋体"/>
                <a:cs typeface="宋体"/>
              </a:rPr>
              <a:t>例</a:t>
            </a:r>
            <a:r>
              <a:rPr dirty="0" sz="3200">
                <a:latin typeface="Times New Roman"/>
                <a:cs typeface="Times New Roman"/>
              </a:rPr>
              <a:t>2.4:	</a:t>
            </a:r>
            <a:r>
              <a:rPr dirty="0" sz="3200" spc="-5">
                <a:latin typeface="宋体"/>
                <a:cs typeface="宋体"/>
              </a:rPr>
              <a:t>设有文法</a:t>
            </a:r>
            <a:r>
              <a:rPr dirty="0" sz="3200" i="1">
                <a:latin typeface="Times New Roman"/>
                <a:cs typeface="Times New Roman"/>
              </a:rPr>
              <a:t>G</a:t>
            </a:r>
            <a:r>
              <a:rPr dirty="0" sz="3200">
                <a:latin typeface="Times New Roman"/>
                <a:cs typeface="Times New Roman"/>
              </a:rPr>
              <a:t>[</a:t>
            </a:r>
            <a:r>
              <a:rPr dirty="0" sz="3200" i="1">
                <a:latin typeface="Times New Roman"/>
                <a:cs typeface="Times New Roman"/>
              </a:rPr>
              <a:t>E</a:t>
            </a:r>
            <a:r>
              <a:rPr dirty="0" sz="3200">
                <a:latin typeface="Times New Roman"/>
                <a:cs typeface="Times New Roman"/>
              </a:rPr>
              <a:t>]</a:t>
            </a:r>
            <a:r>
              <a:rPr dirty="0" sz="3200"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19808" y="1173816"/>
            <a:ext cx="4882515" cy="1494155"/>
          </a:xfrm>
          <a:prstGeom prst="rect">
            <a:avLst/>
          </a:prstGeom>
        </p:spPr>
        <p:txBody>
          <a:bodyPr wrap="square" lIns="0" tIns="259080" rIns="0" bIns="0" rtlCol="0" vert="horz">
            <a:spAutoFit/>
          </a:bodyPr>
          <a:lstStyle/>
          <a:p>
            <a:pPr algn="ctr" marL="928369">
              <a:lnSpc>
                <a:spcPct val="100000"/>
              </a:lnSpc>
              <a:spcBef>
                <a:spcPts val="204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 |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  <a:tabLst>
                <a:tab pos="2390140" algn="l"/>
              </a:tabLst>
            </a:pP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设有句</a:t>
            </a:r>
            <a:r>
              <a:rPr dirty="0" sz="3200" spc="-5" b="1">
                <a:solidFill>
                  <a:srgbClr val="FFFF66"/>
                </a:solidFill>
                <a:latin typeface="宋体"/>
                <a:cs typeface="宋体"/>
              </a:rPr>
              <a:t>子</a:t>
            </a:r>
            <a:r>
              <a:rPr dirty="0" sz="3200" b="1">
                <a:solidFill>
                  <a:srgbClr val="FFFF66"/>
                </a:solidFill>
                <a:latin typeface="Times New Roman"/>
                <a:cs typeface="Times New Roman"/>
              </a:rPr>
              <a:t>$1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27145" y="3221863"/>
            <a:ext cx="19558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7465" y="3259963"/>
            <a:ext cx="486346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80585" algn="l"/>
              </a:tabLst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7842" y="2896616"/>
            <a:ext cx="81673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704975" algn="l"/>
                <a:tab pos="2360930" algn="l"/>
                <a:tab pos="3153410" algn="l"/>
                <a:tab pos="3775075" algn="l"/>
                <a:tab pos="5001260" algn="l"/>
                <a:tab pos="5540375" algn="l"/>
                <a:tab pos="6582409" algn="l"/>
                <a:tab pos="8128634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baseline="1984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baseline="1984" sz="4200" spc="-592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E	</a:t>
            </a:r>
            <a:r>
              <a:rPr dirty="0" baseline="4960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E	</a:t>
            </a:r>
            <a:r>
              <a:rPr dirty="0" baseline="7936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	</a:t>
            </a:r>
            <a:r>
              <a:rPr dirty="0" baseline="1984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	</a:t>
            </a:r>
            <a:r>
              <a:rPr dirty="0" baseline="4960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155" b="1">
                <a:solidFill>
                  <a:srgbClr val="FF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spc="-5" b="1" i="1">
                <a:solidFill>
                  <a:srgbClr val="FF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3200" spc="-5" b="1">
                <a:solidFill>
                  <a:srgbClr val="FF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*</a:t>
            </a:r>
            <a:r>
              <a:rPr dirty="0" u="heavy" sz="3200" spc="-5" b="1" i="1">
                <a:solidFill>
                  <a:srgbClr val="FF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3200" spc="-5" b="1">
                <a:solidFill>
                  <a:srgbClr val="FF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u="heavy" sz="3200" spc="-5" b="1" i="1">
                <a:solidFill>
                  <a:srgbClr val="FF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i	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79345" y="3241039"/>
            <a:ext cx="50730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889500" algn="l"/>
              </a:tabLst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5850" y="4965319"/>
            <a:ext cx="35439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41450" algn="l"/>
                <a:tab pos="3347085" algn="l"/>
              </a:tabLst>
            </a:pPr>
            <a:r>
              <a:rPr dirty="0" baseline="1388" sz="3000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baseline="1388" sz="3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baseline="4166" sz="3000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baseline="4166"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2114" y="4984496"/>
            <a:ext cx="209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5442" y="4570602"/>
            <a:ext cx="83305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800225" algn="l"/>
                <a:tab pos="2348230" algn="l"/>
                <a:tab pos="3705860" algn="l"/>
                <a:tab pos="432816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baseline="-1984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baseline="-1984" sz="4200" spc="472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E	</a:t>
            </a:r>
            <a:r>
              <a:rPr dirty="0" baseline="-2976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=&gt;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baseline="-5952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baseline="-2976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baseline="-2976" sz="4200" spc="-16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35418" y="4965319"/>
            <a:ext cx="209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58774" y="3594353"/>
            <a:ext cx="7498080" cy="248920"/>
          </a:xfrm>
          <a:custGeom>
            <a:avLst/>
            <a:gdLst/>
            <a:ahLst/>
            <a:cxnLst/>
            <a:rect l="l" t="t" r="r" b="b"/>
            <a:pathLst>
              <a:path w="7498080" h="248920">
                <a:moveTo>
                  <a:pt x="7498080" y="0"/>
                </a:moveTo>
                <a:lnTo>
                  <a:pt x="7457985" y="44884"/>
                </a:lnTo>
                <a:lnTo>
                  <a:pt x="7391362" y="70954"/>
                </a:lnTo>
                <a:lnTo>
                  <a:pt x="7347759" y="82483"/>
                </a:lnTo>
                <a:lnTo>
                  <a:pt x="7298040" y="92853"/>
                </a:lnTo>
                <a:lnTo>
                  <a:pt x="7242763" y="101947"/>
                </a:lnTo>
                <a:lnTo>
                  <a:pt x="7182488" y="109649"/>
                </a:lnTo>
                <a:lnTo>
                  <a:pt x="7117773" y="115843"/>
                </a:lnTo>
                <a:lnTo>
                  <a:pt x="7049177" y="120411"/>
                </a:lnTo>
                <a:lnTo>
                  <a:pt x="6977259" y="123237"/>
                </a:lnTo>
                <a:lnTo>
                  <a:pt x="6902577" y="124206"/>
                </a:lnTo>
                <a:lnTo>
                  <a:pt x="4344543" y="124206"/>
                </a:lnTo>
                <a:lnTo>
                  <a:pt x="4269835" y="125174"/>
                </a:lnTo>
                <a:lnTo>
                  <a:pt x="4197900" y="128000"/>
                </a:lnTo>
                <a:lnTo>
                  <a:pt x="4129294" y="132568"/>
                </a:lnTo>
                <a:lnTo>
                  <a:pt x="4064575" y="138762"/>
                </a:lnTo>
                <a:lnTo>
                  <a:pt x="4004300" y="146464"/>
                </a:lnTo>
                <a:lnTo>
                  <a:pt x="3949028" y="155558"/>
                </a:lnTo>
                <a:lnTo>
                  <a:pt x="3899316" y="165928"/>
                </a:lnTo>
                <a:lnTo>
                  <a:pt x="3855722" y="177457"/>
                </a:lnTo>
                <a:lnTo>
                  <a:pt x="3818804" y="190029"/>
                </a:lnTo>
                <a:lnTo>
                  <a:pt x="3767224" y="217834"/>
                </a:lnTo>
                <a:lnTo>
                  <a:pt x="3749040" y="248412"/>
                </a:lnTo>
                <a:lnTo>
                  <a:pt x="3744398" y="232835"/>
                </a:lnTo>
                <a:lnTo>
                  <a:pt x="3708945" y="203527"/>
                </a:lnTo>
                <a:lnTo>
                  <a:pt x="3642322" y="177457"/>
                </a:lnTo>
                <a:lnTo>
                  <a:pt x="3598719" y="165928"/>
                </a:lnTo>
                <a:lnTo>
                  <a:pt x="3549000" y="155558"/>
                </a:lnTo>
                <a:lnTo>
                  <a:pt x="3493723" y="146464"/>
                </a:lnTo>
                <a:lnTo>
                  <a:pt x="3433448" y="138762"/>
                </a:lnTo>
                <a:lnTo>
                  <a:pt x="3368733" y="132568"/>
                </a:lnTo>
                <a:lnTo>
                  <a:pt x="3300137" y="128000"/>
                </a:lnTo>
                <a:lnTo>
                  <a:pt x="3228219" y="125174"/>
                </a:lnTo>
                <a:lnTo>
                  <a:pt x="3153537" y="124206"/>
                </a:lnTo>
                <a:lnTo>
                  <a:pt x="595503" y="124206"/>
                </a:lnTo>
                <a:lnTo>
                  <a:pt x="520808" y="123237"/>
                </a:lnTo>
                <a:lnTo>
                  <a:pt x="448881" y="120411"/>
                </a:lnTo>
                <a:lnTo>
                  <a:pt x="380280" y="115843"/>
                </a:lnTo>
                <a:lnTo>
                  <a:pt x="315563" y="109649"/>
                </a:lnTo>
                <a:lnTo>
                  <a:pt x="255288" y="101947"/>
                </a:lnTo>
                <a:lnTo>
                  <a:pt x="200014" y="92853"/>
                </a:lnTo>
                <a:lnTo>
                  <a:pt x="150298" y="82483"/>
                </a:lnTo>
                <a:lnTo>
                  <a:pt x="106699" y="70954"/>
                </a:lnTo>
                <a:lnTo>
                  <a:pt x="69776" y="58382"/>
                </a:lnTo>
                <a:lnTo>
                  <a:pt x="18188" y="30577"/>
                </a:lnTo>
                <a:lnTo>
                  <a:pt x="4640" y="15576"/>
                </a:lnTo>
                <a:lnTo>
                  <a:pt x="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881883" y="3898391"/>
            <a:ext cx="2346960" cy="454659"/>
          </a:xfrm>
          <a:prstGeom prst="rect">
            <a:avLst/>
          </a:prstGeom>
          <a:ln w="9525">
            <a:solidFill>
              <a:srgbClr val="FF99FF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560705">
              <a:lnSpc>
                <a:spcPct val="100000"/>
              </a:lnSpc>
              <a:spcBef>
                <a:spcPts val="310"/>
              </a:spcBef>
            </a:pPr>
            <a:r>
              <a:rPr dirty="0" sz="2400" b="1">
                <a:latin typeface="宋体"/>
                <a:cs typeface="宋体"/>
              </a:rPr>
              <a:t>最左推导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62762" y="5357621"/>
            <a:ext cx="7429500" cy="247015"/>
          </a:xfrm>
          <a:custGeom>
            <a:avLst/>
            <a:gdLst/>
            <a:ahLst/>
            <a:cxnLst/>
            <a:rect l="l" t="t" r="r" b="b"/>
            <a:pathLst>
              <a:path w="7429500" h="247014">
                <a:moveTo>
                  <a:pt x="7429500" y="0"/>
                </a:moveTo>
                <a:lnTo>
                  <a:pt x="7389652" y="44625"/>
                </a:lnTo>
                <a:lnTo>
                  <a:pt x="7323435" y="70536"/>
                </a:lnTo>
                <a:lnTo>
                  <a:pt x="7280097" y="81993"/>
                </a:lnTo>
                <a:lnTo>
                  <a:pt x="7230678" y="92297"/>
                </a:lnTo>
                <a:lnTo>
                  <a:pt x="7175733" y="101333"/>
                </a:lnTo>
                <a:lnTo>
                  <a:pt x="7115819" y="108985"/>
                </a:lnTo>
                <a:lnTo>
                  <a:pt x="7051488" y="115137"/>
                </a:lnTo>
                <a:lnTo>
                  <a:pt x="6983297" y="119675"/>
                </a:lnTo>
                <a:lnTo>
                  <a:pt x="6911800" y="122482"/>
                </a:lnTo>
                <a:lnTo>
                  <a:pt x="6837553" y="123443"/>
                </a:lnTo>
                <a:lnTo>
                  <a:pt x="4306697" y="123443"/>
                </a:lnTo>
                <a:lnTo>
                  <a:pt x="4232449" y="124405"/>
                </a:lnTo>
                <a:lnTo>
                  <a:pt x="4160952" y="127212"/>
                </a:lnTo>
                <a:lnTo>
                  <a:pt x="4092761" y="131750"/>
                </a:lnTo>
                <a:lnTo>
                  <a:pt x="4028430" y="137902"/>
                </a:lnTo>
                <a:lnTo>
                  <a:pt x="3968516" y="145554"/>
                </a:lnTo>
                <a:lnTo>
                  <a:pt x="3913571" y="154590"/>
                </a:lnTo>
                <a:lnTo>
                  <a:pt x="3864152" y="164894"/>
                </a:lnTo>
                <a:lnTo>
                  <a:pt x="3820814" y="176351"/>
                </a:lnTo>
                <a:lnTo>
                  <a:pt x="3784110" y="188846"/>
                </a:lnTo>
                <a:lnTo>
                  <a:pt x="3732830" y="216485"/>
                </a:lnTo>
                <a:lnTo>
                  <a:pt x="3714750" y="246887"/>
                </a:lnTo>
                <a:lnTo>
                  <a:pt x="3710137" y="231398"/>
                </a:lnTo>
                <a:lnTo>
                  <a:pt x="3674902" y="202262"/>
                </a:lnTo>
                <a:lnTo>
                  <a:pt x="3608685" y="176351"/>
                </a:lnTo>
                <a:lnTo>
                  <a:pt x="3565347" y="164894"/>
                </a:lnTo>
                <a:lnTo>
                  <a:pt x="3515928" y="154590"/>
                </a:lnTo>
                <a:lnTo>
                  <a:pt x="3460983" y="145554"/>
                </a:lnTo>
                <a:lnTo>
                  <a:pt x="3401069" y="137902"/>
                </a:lnTo>
                <a:lnTo>
                  <a:pt x="3336738" y="131750"/>
                </a:lnTo>
                <a:lnTo>
                  <a:pt x="3268547" y="127212"/>
                </a:lnTo>
                <a:lnTo>
                  <a:pt x="3197050" y="124405"/>
                </a:lnTo>
                <a:lnTo>
                  <a:pt x="3122803" y="123443"/>
                </a:lnTo>
                <a:lnTo>
                  <a:pt x="591947" y="123443"/>
                </a:lnTo>
                <a:lnTo>
                  <a:pt x="517689" y="122482"/>
                </a:lnTo>
                <a:lnTo>
                  <a:pt x="446185" y="119675"/>
                </a:lnTo>
                <a:lnTo>
                  <a:pt x="377990" y="115137"/>
                </a:lnTo>
                <a:lnTo>
                  <a:pt x="313658" y="108985"/>
                </a:lnTo>
                <a:lnTo>
                  <a:pt x="253743" y="101333"/>
                </a:lnTo>
                <a:lnTo>
                  <a:pt x="198801" y="92297"/>
                </a:lnTo>
                <a:lnTo>
                  <a:pt x="149385" y="81993"/>
                </a:lnTo>
                <a:lnTo>
                  <a:pt x="106050" y="70536"/>
                </a:lnTo>
                <a:lnTo>
                  <a:pt x="69350" y="58041"/>
                </a:lnTo>
                <a:lnTo>
                  <a:pt x="18077" y="30402"/>
                </a:lnTo>
                <a:lnTo>
                  <a:pt x="4611" y="15489"/>
                </a:lnTo>
                <a:lnTo>
                  <a:pt x="0" y="0"/>
                </a:lnTo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84220" y="5756147"/>
            <a:ext cx="2941320" cy="454659"/>
          </a:xfrm>
          <a:custGeom>
            <a:avLst/>
            <a:gdLst/>
            <a:ahLst/>
            <a:cxnLst/>
            <a:rect l="l" t="t" r="r" b="b"/>
            <a:pathLst>
              <a:path w="2941320" h="454660">
                <a:moveTo>
                  <a:pt x="0" y="454151"/>
                </a:moveTo>
                <a:lnTo>
                  <a:pt x="2941320" y="454151"/>
                </a:lnTo>
                <a:lnTo>
                  <a:pt x="2941320" y="0"/>
                </a:lnTo>
                <a:lnTo>
                  <a:pt x="0" y="0"/>
                </a:lnTo>
                <a:lnTo>
                  <a:pt x="0" y="454151"/>
                </a:lnTo>
                <a:close/>
              </a:path>
            </a:pathLst>
          </a:custGeom>
          <a:ln w="9525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24198" y="5073269"/>
            <a:ext cx="4995545" cy="12132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624198" y="5073269"/>
            <a:ext cx="4995545" cy="1213485"/>
          </a:xfrm>
          <a:custGeom>
            <a:avLst/>
            <a:gdLst/>
            <a:ahLst/>
            <a:cxnLst/>
            <a:rect l="l" t="t" r="r" b="b"/>
            <a:pathLst>
              <a:path w="4995545" h="1213485">
                <a:moveTo>
                  <a:pt x="4995545" y="1213230"/>
                </a:moveTo>
                <a:lnTo>
                  <a:pt x="3784727" y="1213230"/>
                </a:lnTo>
                <a:lnTo>
                  <a:pt x="3265804" y="1213230"/>
                </a:lnTo>
                <a:lnTo>
                  <a:pt x="2919856" y="1213230"/>
                </a:lnTo>
                <a:lnTo>
                  <a:pt x="2919856" y="948308"/>
                </a:lnTo>
                <a:lnTo>
                  <a:pt x="2919856" y="834770"/>
                </a:lnTo>
                <a:lnTo>
                  <a:pt x="2919856" y="759078"/>
                </a:lnTo>
                <a:lnTo>
                  <a:pt x="3265804" y="759078"/>
                </a:lnTo>
                <a:lnTo>
                  <a:pt x="0" y="0"/>
                </a:lnTo>
                <a:lnTo>
                  <a:pt x="3784727" y="759078"/>
                </a:lnTo>
                <a:lnTo>
                  <a:pt x="4995545" y="759078"/>
                </a:lnTo>
                <a:lnTo>
                  <a:pt x="4995545" y="834770"/>
                </a:lnTo>
                <a:lnTo>
                  <a:pt x="4995545" y="948308"/>
                </a:lnTo>
                <a:lnTo>
                  <a:pt x="4995545" y="1213230"/>
                </a:lnTo>
                <a:close/>
              </a:path>
            </a:pathLst>
          </a:custGeom>
          <a:ln w="9525">
            <a:solidFill>
              <a:srgbClr val="B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958076" y="5860796"/>
            <a:ext cx="12509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规范句型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858000" y="3387090"/>
            <a:ext cx="1565275" cy="9654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858000" y="3387090"/>
            <a:ext cx="1565275" cy="965835"/>
          </a:xfrm>
          <a:custGeom>
            <a:avLst/>
            <a:gdLst/>
            <a:ahLst/>
            <a:cxnLst/>
            <a:rect l="l" t="t" r="r" b="b"/>
            <a:pathLst>
              <a:path w="1565275" h="965835">
                <a:moveTo>
                  <a:pt x="1333500" y="965454"/>
                </a:moveTo>
                <a:lnTo>
                  <a:pt x="1111250" y="965454"/>
                </a:lnTo>
                <a:lnTo>
                  <a:pt x="777875" y="965454"/>
                </a:lnTo>
                <a:lnTo>
                  <a:pt x="0" y="965454"/>
                </a:lnTo>
                <a:lnTo>
                  <a:pt x="0" y="700532"/>
                </a:lnTo>
                <a:lnTo>
                  <a:pt x="0" y="586994"/>
                </a:lnTo>
                <a:lnTo>
                  <a:pt x="0" y="511302"/>
                </a:lnTo>
                <a:lnTo>
                  <a:pt x="777875" y="511302"/>
                </a:lnTo>
                <a:lnTo>
                  <a:pt x="1565275" y="0"/>
                </a:lnTo>
                <a:lnTo>
                  <a:pt x="1111250" y="511302"/>
                </a:lnTo>
                <a:lnTo>
                  <a:pt x="1333500" y="511302"/>
                </a:lnTo>
                <a:lnTo>
                  <a:pt x="1333500" y="586994"/>
                </a:lnTo>
                <a:lnTo>
                  <a:pt x="1333500" y="700532"/>
                </a:lnTo>
                <a:lnTo>
                  <a:pt x="1333500" y="965454"/>
                </a:lnTo>
                <a:close/>
              </a:path>
            </a:pathLst>
          </a:custGeom>
          <a:ln w="9525">
            <a:solidFill>
              <a:srgbClr val="B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206742" y="3926840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句子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04338" y="5115305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 h="0">
                <a:moveTo>
                  <a:pt x="0" y="0"/>
                </a:moveTo>
                <a:lnTo>
                  <a:pt x="1191767" y="0"/>
                </a:lnTo>
              </a:path>
            </a:pathLst>
          </a:custGeom>
          <a:ln w="38100">
            <a:solidFill>
              <a:srgbClr val="B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96111" y="5092446"/>
            <a:ext cx="2698750" cy="11178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96111" y="5092446"/>
            <a:ext cx="2698750" cy="1118235"/>
          </a:xfrm>
          <a:custGeom>
            <a:avLst/>
            <a:gdLst/>
            <a:ahLst/>
            <a:cxnLst/>
            <a:rect l="l" t="t" r="r" b="b"/>
            <a:pathLst>
              <a:path w="2698750" h="1118235">
                <a:moveTo>
                  <a:pt x="1333500" y="1117853"/>
                </a:moveTo>
                <a:lnTo>
                  <a:pt x="1111250" y="1117853"/>
                </a:lnTo>
                <a:lnTo>
                  <a:pt x="777875" y="1117853"/>
                </a:lnTo>
                <a:lnTo>
                  <a:pt x="0" y="1117853"/>
                </a:lnTo>
                <a:lnTo>
                  <a:pt x="0" y="852931"/>
                </a:lnTo>
                <a:lnTo>
                  <a:pt x="0" y="739393"/>
                </a:lnTo>
                <a:lnTo>
                  <a:pt x="0" y="663701"/>
                </a:lnTo>
                <a:lnTo>
                  <a:pt x="777875" y="663701"/>
                </a:lnTo>
                <a:lnTo>
                  <a:pt x="2698750" y="0"/>
                </a:lnTo>
                <a:lnTo>
                  <a:pt x="1111250" y="663701"/>
                </a:lnTo>
                <a:lnTo>
                  <a:pt x="1333500" y="663701"/>
                </a:lnTo>
                <a:lnTo>
                  <a:pt x="1333500" y="739393"/>
                </a:lnTo>
                <a:lnTo>
                  <a:pt x="1333500" y="852931"/>
                </a:lnTo>
                <a:lnTo>
                  <a:pt x="1333500" y="1117853"/>
                </a:lnTo>
                <a:close/>
              </a:path>
            </a:pathLst>
          </a:custGeom>
          <a:ln w="9525">
            <a:solidFill>
              <a:srgbClr val="B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243075" y="5784596"/>
            <a:ext cx="47936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43455" algn="l"/>
              </a:tabLst>
            </a:pPr>
            <a:r>
              <a:rPr dirty="0" sz="2400" b="1">
                <a:latin typeface="宋体"/>
                <a:cs typeface="宋体"/>
              </a:rPr>
              <a:t>句</a:t>
            </a:r>
            <a:r>
              <a:rPr dirty="0" sz="2400" spc="-10" b="1">
                <a:latin typeface="宋体"/>
                <a:cs typeface="宋体"/>
              </a:rPr>
              <a:t>型</a:t>
            </a:r>
            <a:r>
              <a:rPr dirty="0" sz="2400" b="1">
                <a:latin typeface="宋体"/>
                <a:cs typeface="宋体"/>
              </a:rPr>
              <a:t>	</a:t>
            </a:r>
            <a:r>
              <a:rPr dirty="0" sz="2400" b="1">
                <a:latin typeface="宋体"/>
                <a:cs typeface="宋体"/>
              </a:rPr>
              <a:t>最右推</a:t>
            </a:r>
            <a:r>
              <a:rPr dirty="0" sz="2400" spc="5" b="1">
                <a:latin typeface="宋体"/>
                <a:cs typeface="宋体"/>
              </a:rPr>
              <a:t>导</a:t>
            </a:r>
            <a:r>
              <a:rPr dirty="0" sz="2400" spc="5" b="1">
                <a:latin typeface="Times New Roman"/>
                <a:cs typeface="Times New Roman"/>
              </a:rPr>
              <a:t>/</a:t>
            </a:r>
            <a:r>
              <a:rPr dirty="0" sz="2400" b="1">
                <a:latin typeface="宋体"/>
                <a:cs typeface="宋体"/>
              </a:rPr>
              <a:t>规范推导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47720" y="5372201"/>
            <a:ext cx="14395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递归文法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1014" y="4517012"/>
            <a:ext cx="2197100" cy="1946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718185" indent="43815">
              <a:lnSpc>
                <a:spcPct val="1501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直接递归 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间接递归</a:t>
            </a:r>
            <a:endParaRPr sz="2800">
              <a:latin typeface="宋体"/>
              <a:cs typeface="宋体"/>
            </a:endParaRPr>
          </a:p>
          <a:p>
            <a:pPr marL="43815">
              <a:lnSpc>
                <a:spcPct val="100000"/>
              </a:lnSpc>
              <a:spcBef>
                <a:spcPts val="1680"/>
              </a:spcBef>
            </a:pP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左（右）递归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34661" y="4821173"/>
            <a:ext cx="161925" cy="1510665"/>
          </a:xfrm>
          <a:custGeom>
            <a:avLst/>
            <a:gdLst/>
            <a:ahLst/>
            <a:cxnLst/>
            <a:rect l="l" t="t" r="r" b="b"/>
            <a:pathLst>
              <a:path w="161925" h="1510664">
                <a:moveTo>
                  <a:pt x="161543" y="1510283"/>
                </a:moveTo>
                <a:lnTo>
                  <a:pt x="130117" y="1500410"/>
                </a:lnTo>
                <a:lnTo>
                  <a:pt x="104441" y="1473485"/>
                </a:lnTo>
                <a:lnTo>
                  <a:pt x="87123" y="1433549"/>
                </a:lnTo>
                <a:lnTo>
                  <a:pt x="80772" y="1384642"/>
                </a:lnTo>
                <a:lnTo>
                  <a:pt x="80772" y="880783"/>
                </a:lnTo>
                <a:lnTo>
                  <a:pt x="74420" y="831876"/>
                </a:lnTo>
                <a:lnTo>
                  <a:pt x="57102" y="791940"/>
                </a:lnTo>
                <a:lnTo>
                  <a:pt x="31426" y="765015"/>
                </a:lnTo>
                <a:lnTo>
                  <a:pt x="0" y="755141"/>
                </a:lnTo>
                <a:lnTo>
                  <a:pt x="31426" y="745267"/>
                </a:lnTo>
                <a:lnTo>
                  <a:pt x="57102" y="718343"/>
                </a:lnTo>
                <a:lnTo>
                  <a:pt x="74420" y="678418"/>
                </a:lnTo>
                <a:lnTo>
                  <a:pt x="80772" y="629538"/>
                </a:lnTo>
                <a:lnTo>
                  <a:pt x="80772" y="125602"/>
                </a:lnTo>
                <a:lnTo>
                  <a:pt x="87123" y="76723"/>
                </a:lnTo>
                <a:lnTo>
                  <a:pt x="104441" y="36798"/>
                </a:lnTo>
                <a:lnTo>
                  <a:pt x="130117" y="9874"/>
                </a:lnTo>
                <a:lnTo>
                  <a:pt x="161543" y="0"/>
                </a:lnTo>
              </a:path>
            </a:pathLst>
          </a:custGeom>
          <a:ln w="38100">
            <a:solidFill>
              <a:srgbClr val="B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55392" y="4317491"/>
            <a:ext cx="4592320" cy="2190115"/>
          </a:xfrm>
          <a:custGeom>
            <a:avLst/>
            <a:gdLst/>
            <a:ahLst/>
            <a:cxnLst/>
            <a:rect l="l" t="t" r="r" b="b"/>
            <a:pathLst>
              <a:path w="4592320" h="2190115">
                <a:moveTo>
                  <a:pt x="0" y="2189987"/>
                </a:moveTo>
                <a:lnTo>
                  <a:pt x="4591811" y="2189987"/>
                </a:lnTo>
                <a:lnTo>
                  <a:pt x="4591811" y="0"/>
                </a:lnTo>
                <a:lnTo>
                  <a:pt x="0" y="0"/>
                </a:lnTo>
                <a:lnTo>
                  <a:pt x="0" y="2189987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97802" y="2052066"/>
            <a:ext cx="1193800" cy="0"/>
          </a:xfrm>
          <a:custGeom>
            <a:avLst/>
            <a:gdLst/>
            <a:ahLst/>
            <a:cxnLst/>
            <a:rect l="l" t="t" r="r" b="b"/>
            <a:pathLst>
              <a:path w="1193800" h="0">
                <a:moveTo>
                  <a:pt x="0" y="0"/>
                </a:moveTo>
                <a:lnTo>
                  <a:pt x="1193292" y="0"/>
                </a:lnTo>
              </a:path>
            </a:pathLst>
          </a:custGeom>
          <a:ln w="38100">
            <a:solidFill>
              <a:srgbClr val="B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454140" y="2028698"/>
            <a:ext cx="2346960" cy="12418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454140" y="2028698"/>
            <a:ext cx="2346960" cy="1242060"/>
          </a:xfrm>
          <a:custGeom>
            <a:avLst/>
            <a:gdLst/>
            <a:ahLst/>
            <a:cxnLst/>
            <a:rect l="l" t="t" r="r" b="b"/>
            <a:pathLst>
              <a:path w="2346959" h="1242060">
                <a:moveTo>
                  <a:pt x="2346960" y="1241805"/>
                </a:moveTo>
                <a:lnTo>
                  <a:pt x="1955800" y="1241805"/>
                </a:lnTo>
                <a:lnTo>
                  <a:pt x="1369060" y="1241805"/>
                </a:lnTo>
                <a:lnTo>
                  <a:pt x="0" y="1241805"/>
                </a:lnTo>
                <a:lnTo>
                  <a:pt x="0" y="976884"/>
                </a:lnTo>
                <a:lnTo>
                  <a:pt x="0" y="863346"/>
                </a:lnTo>
                <a:lnTo>
                  <a:pt x="0" y="787653"/>
                </a:lnTo>
                <a:lnTo>
                  <a:pt x="1369060" y="787653"/>
                </a:lnTo>
                <a:lnTo>
                  <a:pt x="1236980" y="0"/>
                </a:lnTo>
                <a:lnTo>
                  <a:pt x="1955800" y="787653"/>
                </a:lnTo>
                <a:lnTo>
                  <a:pt x="2346960" y="787653"/>
                </a:lnTo>
                <a:lnTo>
                  <a:pt x="2346960" y="863346"/>
                </a:lnTo>
                <a:lnTo>
                  <a:pt x="2346960" y="976884"/>
                </a:lnTo>
                <a:lnTo>
                  <a:pt x="2346960" y="1241805"/>
                </a:lnTo>
                <a:close/>
              </a:path>
            </a:pathLst>
          </a:custGeom>
          <a:ln w="9525">
            <a:solidFill>
              <a:srgbClr val="B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89454" y="2603754"/>
            <a:ext cx="1193800" cy="0"/>
          </a:xfrm>
          <a:custGeom>
            <a:avLst/>
            <a:gdLst/>
            <a:ahLst/>
            <a:cxnLst/>
            <a:rect l="l" t="t" r="r" b="b"/>
            <a:pathLst>
              <a:path w="1193800" h="0">
                <a:moveTo>
                  <a:pt x="0" y="0"/>
                </a:moveTo>
                <a:lnTo>
                  <a:pt x="1193292" y="0"/>
                </a:lnTo>
              </a:path>
            </a:pathLst>
          </a:custGeom>
          <a:ln w="38100">
            <a:solidFill>
              <a:srgbClr val="B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13304" y="2586354"/>
            <a:ext cx="2345435" cy="7374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13304" y="2586354"/>
            <a:ext cx="2345690" cy="737870"/>
          </a:xfrm>
          <a:custGeom>
            <a:avLst/>
            <a:gdLst/>
            <a:ahLst/>
            <a:cxnLst/>
            <a:rect l="l" t="t" r="r" b="b"/>
            <a:pathLst>
              <a:path w="2345690" h="737870">
                <a:moveTo>
                  <a:pt x="2345435" y="737489"/>
                </a:moveTo>
                <a:lnTo>
                  <a:pt x="977265" y="737489"/>
                </a:lnTo>
                <a:lnTo>
                  <a:pt x="390906" y="737489"/>
                </a:lnTo>
                <a:lnTo>
                  <a:pt x="0" y="737489"/>
                </a:lnTo>
                <a:lnTo>
                  <a:pt x="0" y="441452"/>
                </a:lnTo>
                <a:lnTo>
                  <a:pt x="0" y="314579"/>
                </a:lnTo>
                <a:lnTo>
                  <a:pt x="0" y="229997"/>
                </a:lnTo>
                <a:lnTo>
                  <a:pt x="390906" y="229997"/>
                </a:lnTo>
                <a:lnTo>
                  <a:pt x="163575" y="0"/>
                </a:lnTo>
                <a:lnTo>
                  <a:pt x="977265" y="229997"/>
                </a:lnTo>
                <a:lnTo>
                  <a:pt x="2345435" y="229997"/>
                </a:lnTo>
                <a:lnTo>
                  <a:pt x="2345435" y="314579"/>
                </a:lnTo>
                <a:lnTo>
                  <a:pt x="2345435" y="441452"/>
                </a:lnTo>
                <a:lnTo>
                  <a:pt x="2345435" y="737489"/>
                </a:lnTo>
                <a:close/>
              </a:path>
            </a:pathLst>
          </a:custGeom>
          <a:ln w="9525">
            <a:solidFill>
              <a:srgbClr val="B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29539" y="0"/>
            <a:ext cx="8825230" cy="4650740"/>
          </a:xfrm>
          <a:prstGeom prst="rect">
            <a:avLst/>
          </a:prstGeom>
        </p:spPr>
        <p:txBody>
          <a:bodyPr wrap="square" lIns="0" tIns="1778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0"/>
              </a:spcBef>
              <a:tabLst>
                <a:tab pos="618490" algn="l"/>
                <a:tab pos="3937000" algn="l"/>
                <a:tab pos="61042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3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>
              <a:latin typeface="宋体"/>
              <a:cs typeface="宋体"/>
            </a:endParaRPr>
          </a:p>
          <a:p>
            <a:pPr marL="628650" indent="-343535">
              <a:lnSpc>
                <a:spcPct val="100000"/>
              </a:lnSpc>
              <a:buClr>
                <a:srgbClr val="66FFFF"/>
              </a:buClr>
              <a:buSzPct val="129687"/>
              <a:buFont typeface="Wingdings"/>
              <a:buChar char=""/>
              <a:tabLst>
                <a:tab pos="629285" algn="l"/>
                <a:tab pos="235839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2.16	(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文法的递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归</a:t>
            </a:r>
            <a:r>
              <a:rPr dirty="0" sz="3200" spc="-8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374015" marR="771525" indent="533400">
              <a:lnSpc>
                <a:spcPct val="142400"/>
              </a:lnSpc>
              <a:spcBef>
                <a:spcPts val="4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设有文法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950" spc="-20" b="1" i="1">
                <a:solidFill>
                  <a:srgbClr val="FFFFFF"/>
                </a:solidFill>
                <a:latin typeface="Symbol"/>
                <a:cs typeface="Symbol"/>
              </a:rPr>
              <a:t></a:t>
            </a:r>
            <a:r>
              <a:rPr dirty="0" sz="2950" spc="-7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的产生式，若</a:t>
            </a:r>
            <a:r>
              <a:rPr dirty="0" sz="2950" spc="-55" b="1" i="1">
                <a:solidFill>
                  <a:srgbClr val="FFFFFF"/>
                </a:solidFill>
                <a:latin typeface="Symbol"/>
                <a:cs typeface="Symbol"/>
              </a:rPr>
              <a:t>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具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950" spc="-6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6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950" spc="-65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950" spc="-6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的形式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950" spc="-65" b="1" i="1">
                <a:solidFill>
                  <a:srgbClr val="FFFFFF"/>
                </a:solidFill>
                <a:latin typeface="Symbol"/>
                <a:cs typeface="Symbol"/>
              </a:rPr>
              <a:t></a:t>
            </a:r>
            <a:r>
              <a:rPr dirty="0" sz="295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40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baseline="25462" sz="3600" spc="-607">
                <a:solidFill>
                  <a:srgbClr val="FFFFFF"/>
                </a:solidFill>
                <a:latin typeface="黑体"/>
                <a:cs typeface="黑体"/>
              </a:rPr>
              <a:t>+</a:t>
            </a:r>
            <a:r>
              <a:rPr dirty="0" sz="2800" spc="-40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2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6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6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950" spc="-65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95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，则称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是递归文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937510">
              <a:lnSpc>
                <a:spcPct val="100000"/>
              </a:lnSpc>
              <a:spcBef>
                <a:spcPts val="1789"/>
              </a:spcBef>
              <a:tabLst>
                <a:tab pos="6579870" algn="l"/>
              </a:tabLst>
            </a:pPr>
            <a:r>
              <a:rPr dirty="0" sz="2400" b="1">
                <a:latin typeface="宋体"/>
                <a:cs typeface="宋体"/>
              </a:rPr>
              <a:t>间接递归文</a:t>
            </a:r>
            <a:r>
              <a:rPr dirty="0" sz="2400" spc="-10" b="1">
                <a:latin typeface="宋体"/>
                <a:cs typeface="宋体"/>
              </a:rPr>
              <a:t>法	</a:t>
            </a:r>
            <a:r>
              <a:rPr dirty="0" sz="2400" b="1">
                <a:latin typeface="宋体"/>
                <a:cs typeface="宋体"/>
              </a:rPr>
              <a:t>直接递归文法</a:t>
            </a:r>
            <a:endParaRPr sz="2400">
              <a:latin typeface="宋体"/>
              <a:cs typeface="宋体"/>
            </a:endParaRPr>
          </a:p>
          <a:p>
            <a:pPr marL="285750" marR="1555115">
              <a:lnSpc>
                <a:spcPts val="5080"/>
              </a:lnSpc>
              <a:spcBef>
                <a:spcPts val="72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950" spc="-4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350" spc="-4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200" spc="-4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为左递归文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。若</a:t>
            </a:r>
            <a:r>
              <a:rPr dirty="0" sz="2950" spc="-85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95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3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3200" spc="-3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为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右递归文法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7744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4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5140" y="732536"/>
            <a:ext cx="779018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宋体"/>
                <a:cs typeface="宋体"/>
              </a:rPr>
              <a:t>例</a:t>
            </a:r>
            <a:r>
              <a:rPr dirty="0" sz="3200">
                <a:latin typeface="Times New Roman"/>
                <a:cs typeface="Times New Roman"/>
              </a:rPr>
              <a:t>2.5</a:t>
            </a:r>
            <a:r>
              <a:rPr dirty="0" sz="3200">
                <a:latin typeface="宋体"/>
                <a:cs typeface="宋体"/>
              </a:rPr>
              <a:t>：</a:t>
            </a:r>
            <a:r>
              <a:rPr dirty="0" sz="3200" spc="-935"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25525" sz="277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5525" sz="2775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E </a:t>
            </a:r>
            <a:r>
              <a:rPr dirty="0" sz="3200">
                <a:latin typeface="Symbol"/>
                <a:cs typeface="Symbol"/>
              </a:rPr>
              <a:t>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-5" i="1">
                <a:latin typeface="Times New Roman"/>
                <a:cs typeface="Times New Roman"/>
              </a:rPr>
              <a:t>E</a:t>
            </a:r>
            <a:r>
              <a:rPr dirty="0" sz="3200" spc="-5">
                <a:latin typeface="Times New Roman"/>
                <a:cs typeface="Times New Roman"/>
              </a:rPr>
              <a:t>+</a:t>
            </a:r>
            <a:r>
              <a:rPr dirty="0" sz="3200" spc="-5" i="1">
                <a:latin typeface="Times New Roman"/>
                <a:cs typeface="Times New Roman"/>
              </a:rPr>
              <a:t>E </a:t>
            </a:r>
            <a:r>
              <a:rPr dirty="0" sz="3200">
                <a:latin typeface="Times New Roman"/>
                <a:cs typeface="Times New Roman"/>
              </a:rPr>
              <a:t>|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E</a:t>
            </a:r>
            <a:r>
              <a:rPr dirty="0" sz="3200">
                <a:latin typeface="Times New Roman"/>
                <a:cs typeface="Times New Roman"/>
              </a:rPr>
              <a:t>*</a:t>
            </a:r>
            <a:r>
              <a:rPr dirty="0" sz="3200" i="1">
                <a:latin typeface="Times New Roman"/>
                <a:cs typeface="Times New Roman"/>
              </a:rPr>
              <a:t>E</a:t>
            </a:r>
            <a:r>
              <a:rPr dirty="0" sz="3200" spc="-15" i="1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|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(</a:t>
            </a:r>
            <a:r>
              <a:rPr dirty="0" sz="3200" i="1">
                <a:latin typeface="Times New Roman"/>
                <a:cs typeface="Times New Roman"/>
              </a:rPr>
              <a:t>E</a:t>
            </a:r>
            <a:r>
              <a:rPr dirty="0" sz="3200">
                <a:latin typeface="Times New Roman"/>
                <a:cs typeface="Times New Roman"/>
              </a:rPr>
              <a:t>)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|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6841" y="2891789"/>
            <a:ext cx="135191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2776" y="2842412"/>
            <a:ext cx="2633345" cy="210439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9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-25525" sz="2775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algn="just" marL="961390" marR="30480">
              <a:lnSpc>
                <a:spcPct val="120000"/>
              </a:lnSpc>
              <a:spcBef>
                <a:spcPts val="12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 </a:t>
            </a:r>
            <a:r>
              <a:rPr dirty="0" sz="2800" spc="-1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Qc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c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Q </a:t>
            </a:r>
            <a:r>
              <a:rPr dirty="0" sz="2800" spc="-1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 </a:t>
            </a:r>
            <a:r>
              <a:rPr dirty="0" sz="2800" spc="-1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35" b="1" i="1">
                <a:solidFill>
                  <a:srgbClr val="FFFF00"/>
                </a:solidFill>
                <a:latin typeface="Times New Roman"/>
                <a:cs typeface="Times New Roman"/>
              </a:rPr>
              <a:t>Ta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8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149" y="4988655"/>
            <a:ext cx="6946265" cy="1315720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1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Qc</a:t>
            </a:r>
            <a:r>
              <a:rPr dirty="0" sz="2800" spc="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Rbc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-40" b="1" i="1">
                <a:solidFill>
                  <a:srgbClr val="FFFFFF"/>
                </a:solidFill>
                <a:latin typeface="Times New Roman"/>
                <a:cs typeface="Times New Roman"/>
              </a:rPr>
              <a:t>Tabc</a:t>
            </a:r>
            <a:r>
              <a:rPr dirty="0" sz="2800" spc="-4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39370">
              <a:lnSpc>
                <a:spcPts val="3010"/>
              </a:lnSpc>
              <a:spcBef>
                <a:spcPts val="128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800" spc="-7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409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baseline="17361" sz="4800" spc="-615" b="1">
                <a:solidFill>
                  <a:srgbClr val="FFFF00"/>
                </a:solidFill>
                <a:latin typeface="宋体"/>
                <a:cs typeface="宋体"/>
              </a:rPr>
              <a:t>+</a:t>
            </a:r>
            <a:r>
              <a:rPr dirty="0" sz="2800" spc="-409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-2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5" b="1" i="1">
                <a:solidFill>
                  <a:srgbClr val="FFFFFF"/>
                </a:solidFill>
                <a:latin typeface="Times New Roman"/>
                <a:cs typeface="Times New Roman"/>
              </a:rPr>
              <a:t>Tabc</a:t>
            </a:r>
            <a:r>
              <a:rPr dirty="0" sz="2800" spc="-5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2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间接左递归文</a:t>
            </a:r>
            <a:r>
              <a:rPr dirty="0" sz="2800" spc="10" b="1">
                <a:solidFill>
                  <a:srgbClr val="66FFFF"/>
                </a:solidFill>
                <a:latin typeface="宋体"/>
                <a:cs typeface="宋体"/>
              </a:rPr>
              <a:t>法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ctr" marL="330835">
              <a:lnSpc>
                <a:spcPts val="1390"/>
              </a:lnSpc>
            </a:pPr>
            <a:r>
              <a:rPr dirty="0" sz="1850" spc="1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3291" y="1290889"/>
            <a:ext cx="8256905" cy="139319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25400" marR="17780">
              <a:lnSpc>
                <a:spcPct val="143200"/>
              </a:lnSpc>
              <a:spcBef>
                <a:spcPts val="34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其中有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1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这样的产生式，所以文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直</a:t>
            </a:r>
            <a:r>
              <a:rPr dirty="0" sz="2800" spc="5" b="1">
                <a:solidFill>
                  <a:srgbClr val="66FFFF"/>
                </a:solidFill>
                <a:latin typeface="宋体"/>
                <a:cs typeface="宋体"/>
              </a:rPr>
              <a:t>接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左 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递归文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法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1348" y="72644"/>
            <a:ext cx="27082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3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82041" y="721897"/>
            <a:ext cx="3533775" cy="138366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910"/>
              </a:spcBef>
              <a:tabLst>
                <a:tab pos="661035" algn="l"/>
              </a:tabLst>
            </a:pPr>
            <a:r>
              <a:rPr dirty="0" sz="3200" b="1">
                <a:solidFill>
                  <a:srgbClr val="CCFFFF"/>
                </a:solidFill>
                <a:latin typeface="Times New Roman"/>
                <a:cs typeface="Times New Roman"/>
              </a:rPr>
              <a:t>2.</a:t>
            </a:r>
            <a:r>
              <a:rPr dirty="0" sz="3200" b="1">
                <a:solidFill>
                  <a:srgbClr val="CC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CCFFFF"/>
                </a:solidFill>
                <a:latin typeface="宋体"/>
                <a:cs typeface="宋体"/>
              </a:rPr>
              <a:t>语言的形式定义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2010"/>
              </a:spcBef>
              <a:buClr>
                <a:srgbClr val="66FFFF"/>
              </a:buClr>
              <a:buSzPct val="129687"/>
              <a:buFont typeface="Wingdings"/>
              <a:buChar char=""/>
              <a:tabLst>
                <a:tab pos="355600" algn="l"/>
                <a:tab pos="2085339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2.17	(</a:t>
            </a:r>
            <a:r>
              <a:rPr dirty="0" sz="3200" spc="-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言</a:t>
            </a:r>
            <a:r>
              <a:rPr dirty="0" sz="3200" spc="-83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7342" y="2089334"/>
            <a:ext cx="8329930" cy="291528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651510" marR="362585" indent="281940">
              <a:lnSpc>
                <a:spcPts val="5760"/>
              </a:lnSpc>
              <a:spcBef>
                <a:spcPts val="34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8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所产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（描述）的语言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950" spc="-5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6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baseline="25462" sz="3600" spc="7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baseline="25462" sz="3600" spc="-11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∧</a:t>
            </a:r>
            <a:r>
              <a:rPr dirty="0" sz="3200" spc="-8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9761" sz="4200" spc="-757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spc="-505" b="1">
                <a:solidFill>
                  <a:srgbClr val="FFFFFF"/>
                </a:solidFill>
                <a:latin typeface="Times New Roman"/>
                <a:cs typeface="Times New Roman"/>
              </a:rPr>
              <a:t>=&gt; </a:t>
            </a:r>
            <a:r>
              <a:rPr dirty="0" sz="3200" spc="-3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6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 i="1">
                <a:solidFill>
                  <a:srgbClr val="99FF66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99FF66"/>
                </a:solidFill>
                <a:latin typeface="宋体"/>
                <a:cs typeface="宋体"/>
              </a:rPr>
              <a:t>是文法</a:t>
            </a:r>
            <a:r>
              <a:rPr dirty="0" sz="3350" spc="-160" b="1" i="1">
                <a:solidFill>
                  <a:srgbClr val="99FF66"/>
                </a:solidFill>
                <a:latin typeface="宋体"/>
                <a:cs typeface="宋体"/>
              </a:rPr>
              <a:t>Ｇ</a:t>
            </a:r>
            <a:endParaRPr sz="3350">
              <a:latin typeface="宋体"/>
              <a:cs typeface="宋体"/>
            </a:endParaRPr>
          </a:p>
          <a:p>
            <a:pPr algn="r" marR="411480">
              <a:lnSpc>
                <a:spcPct val="100000"/>
              </a:lnSpc>
              <a:spcBef>
                <a:spcPts val="1410"/>
              </a:spcBef>
            </a:pPr>
            <a:r>
              <a:rPr dirty="0" sz="3200" b="1">
                <a:solidFill>
                  <a:srgbClr val="99FF66"/>
                </a:solidFill>
                <a:latin typeface="宋体"/>
                <a:cs typeface="宋体"/>
              </a:rPr>
              <a:t>的开始符</a:t>
            </a:r>
            <a:r>
              <a:rPr dirty="0" sz="3200" spc="-10" b="1">
                <a:solidFill>
                  <a:srgbClr val="99FF66"/>
                </a:solidFill>
                <a:latin typeface="宋体"/>
                <a:cs typeface="宋体"/>
              </a:rPr>
              <a:t>号</a:t>
            </a:r>
            <a:r>
              <a:rPr dirty="0" sz="3200" spc="-905" b="1">
                <a:solidFill>
                  <a:srgbClr val="99FF66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895"/>
              </a:spcBef>
              <a:tabLst>
                <a:tab pos="1470660" algn="l"/>
                <a:tab pos="5457825" algn="l"/>
                <a:tab pos="656145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2.7:	</a:t>
            </a:r>
            <a:r>
              <a:rPr dirty="0" sz="3200" b="1">
                <a:solidFill>
                  <a:srgbClr val="B0FFFF"/>
                </a:solidFill>
                <a:latin typeface="宋体"/>
                <a:cs typeface="宋体"/>
              </a:rPr>
              <a:t>设有文</a:t>
            </a:r>
            <a:r>
              <a:rPr dirty="0" sz="3200" spc="-10" b="1">
                <a:solidFill>
                  <a:srgbClr val="B0FFFF"/>
                </a:solidFill>
                <a:latin typeface="宋体"/>
                <a:cs typeface="宋体"/>
              </a:rPr>
              <a:t>法</a:t>
            </a:r>
            <a:r>
              <a:rPr dirty="0" sz="3200" spc="-825" b="1">
                <a:solidFill>
                  <a:srgbClr val="B0FFFF"/>
                </a:solidFill>
                <a:latin typeface="宋体"/>
                <a:cs typeface="宋体"/>
              </a:rPr>
              <a:t> </a:t>
            </a:r>
            <a:r>
              <a:rPr dirty="0" sz="3200" spc="-5" b="1" i="1">
                <a:solidFill>
                  <a:srgbClr val="B0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B0FFFF"/>
                </a:solidFill>
                <a:latin typeface="宋体"/>
                <a:cs typeface="宋体"/>
              </a:rPr>
              <a:t>：</a:t>
            </a:r>
            <a:r>
              <a:rPr dirty="0" sz="3200" spc="-900" b="1">
                <a:solidFill>
                  <a:srgbClr val="B0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3200" spc="-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0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0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求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6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3204" y="5301792"/>
            <a:ext cx="35883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48717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spc="-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	{ </a:t>
            </a: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baseline="30423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n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&gt;=1</a:t>
            </a:r>
            <a:r>
              <a:rPr dirty="0" sz="3200" spc="-38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0389" y="5997651"/>
            <a:ext cx="309562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27785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’: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57878" y="4484370"/>
            <a:ext cx="1460500" cy="561340"/>
          </a:xfrm>
          <a:custGeom>
            <a:avLst/>
            <a:gdLst/>
            <a:ahLst/>
            <a:cxnLst/>
            <a:rect l="l" t="t" r="r" b="b"/>
            <a:pathLst>
              <a:path w="1460500" h="561339">
                <a:moveTo>
                  <a:pt x="0" y="560831"/>
                </a:moveTo>
                <a:lnTo>
                  <a:pt x="1459991" y="560831"/>
                </a:lnTo>
                <a:lnTo>
                  <a:pt x="1459991" y="0"/>
                </a:lnTo>
                <a:lnTo>
                  <a:pt x="0" y="0"/>
                </a:lnTo>
                <a:lnTo>
                  <a:pt x="0" y="560831"/>
                </a:lnTo>
                <a:close/>
              </a:path>
            </a:pathLst>
          </a:custGeom>
          <a:ln w="38100">
            <a:solidFill>
              <a:srgbClr val="66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134861" y="5372861"/>
            <a:ext cx="2836545" cy="524510"/>
          </a:xfrm>
          <a:custGeom>
            <a:avLst/>
            <a:gdLst/>
            <a:ahLst/>
            <a:cxnLst/>
            <a:rect l="l" t="t" r="r" b="b"/>
            <a:pathLst>
              <a:path w="2836545" h="524510">
                <a:moveTo>
                  <a:pt x="0" y="524256"/>
                </a:moveTo>
                <a:lnTo>
                  <a:pt x="2836164" y="524256"/>
                </a:lnTo>
                <a:lnTo>
                  <a:pt x="2836164" y="0"/>
                </a:lnTo>
                <a:lnTo>
                  <a:pt x="0" y="0"/>
                </a:lnTo>
                <a:lnTo>
                  <a:pt x="0" y="524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34861" y="5372861"/>
            <a:ext cx="2836545" cy="524510"/>
          </a:xfrm>
          <a:prstGeom prst="rect">
            <a:avLst/>
          </a:prstGeom>
          <a:ln w="38100">
            <a:solidFill>
              <a:srgbClr val="66CCF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后面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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86858" y="5026278"/>
            <a:ext cx="2468245" cy="387985"/>
          </a:xfrm>
          <a:custGeom>
            <a:avLst/>
            <a:gdLst/>
            <a:ahLst/>
            <a:cxnLst/>
            <a:rect l="l" t="t" r="r" b="b"/>
            <a:pathLst>
              <a:path w="2468245" h="387985">
                <a:moveTo>
                  <a:pt x="2352088" y="349794"/>
                </a:moveTo>
                <a:lnTo>
                  <a:pt x="2347087" y="387604"/>
                </a:lnTo>
                <a:lnTo>
                  <a:pt x="2449452" y="352298"/>
                </a:lnTo>
                <a:lnTo>
                  <a:pt x="2370963" y="352298"/>
                </a:lnTo>
                <a:lnTo>
                  <a:pt x="2352088" y="349794"/>
                </a:lnTo>
                <a:close/>
              </a:path>
              <a:path w="2468245" h="387985">
                <a:moveTo>
                  <a:pt x="2357080" y="312063"/>
                </a:moveTo>
                <a:lnTo>
                  <a:pt x="2352088" y="349794"/>
                </a:lnTo>
                <a:lnTo>
                  <a:pt x="2370963" y="352298"/>
                </a:lnTo>
                <a:lnTo>
                  <a:pt x="2376042" y="314579"/>
                </a:lnTo>
                <a:lnTo>
                  <a:pt x="2357080" y="312063"/>
                </a:lnTo>
                <a:close/>
              </a:path>
              <a:path w="2468245" h="387985">
                <a:moveTo>
                  <a:pt x="2362072" y="274320"/>
                </a:moveTo>
                <a:lnTo>
                  <a:pt x="2357080" y="312063"/>
                </a:lnTo>
                <a:lnTo>
                  <a:pt x="2376042" y="314579"/>
                </a:lnTo>
                <a:lnTo>
                  <a:pt x="2370963" y="352298"/>
                </a:lnTo>
                <a:lnTo>
                  <a:pt x="2449452" y="352298"/>
                </a:lnTo>
                <a:lnTo>
                  <a:pt x="2467864" y="345948"/>
                </a:lnTo>
                <a:lnTo>
                  <a:pt x="2362072" y="274320"/>
                </a:lnTo>
                <a:close/>
              </a:path>
              <a:path w="2468245" h="387985">
                <a:moveTo>
                  <a:pt x="5079" y="0"/>
                </a:moveTo>
                <a:lnTo>
                  <a:pt x="0" y="37846"/>
                </a:lnTo>
                <a:lnTo>
                  <a:pt x="2352088" y="349794"/>
                </a:lnTo>
                <a:lnTo>
                  <a:pt x="2357080" y="312063"/>
                </a:lnTo>
                <a:lnTo>
                  <a:pt x="5079" y="0"/>
                </a:lnTo>
                <a:close/>
              </a:path>
            </a:pathLst>
          </a:custGeom>
          <a:solidFill>
            <a:srgbClr val="66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6927" y="6058001"/>
            <a:ext cx="194881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’) =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55942" y="1379982"/>
            <a:ext cx="1742439" cy="585470"/>
          </a:xfrm>
          <a:custGeom>
            <a:avLst/>
            <a:gdLst/>
            <a:ahLst/>
            <a:cxnLst/>
            <a:rect l="l" t="t" r="r" b="b"/>
            <a:pathLst>
              <a:path w="1742440" h="585469">
                <a:moveTo>
                  <a:pt x="0" y="585215"/>
                </a:moveTo>
                <a:lnTo>
                  <a:pt x="1741931" y="585215"/>
                </a:lnTo>
                <a:lnTo>
                  <a:pt x="1741931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solidFill>
            <a:srgbClr val="66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55942" y="1379982"/>
            <a:ext cx="1742439" cy="585470"/>
          </a:xfrm>
          <a:custGeom>
            <a:avLst/>
            <a:gdLst/>
            <a:ahLst/>
            <a:cxnLst/>
            <a:rect l="l" t="t" r="r" b="b"/>
            <a:pathLst>
              <a:path w="1742440" h="585469">
                <a:moveTo>
                  <a:pt x="0" y="585215"/>
                </a:moveTo>
                <a:lnTo>
                  <a:pt x="1741931" y="585215"/>
                </a:lnTo>
                <a:lnTo>
                  <a:pt x="1741931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155942" y="1438402"/>
            <a:ext cx="174243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前面为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278882" y="1978151"/>
            <a:ext cx="2747645" cy="2359025"/>
          </a:xfrm>
          <a:custGeom>
            <a:avLst/>
            <a:gdLst/>
            <a:ahLst/>
            <a:cxnLst/>
            <a:rect l="l" t="t" r="r" b="b"/>
            <a:pathLst>
              <a:path w="2747645" h="2359025">
                <a:moveTo>
                  <a:pt x="2598676" y="89841"/>
                </a:moveTo>
                <a:lnTo>
                  <a:pt x="0" y="2315083"/>
                </a:lnTo>
                <a:lnTo>
                  <a:pt x="37083" y="2358517"/>
                </a:lnTo>
                <a:lnTo>
                  <a:pt x="2635809" y="133233"/>
                </a:lnTo>
                <a:lnTo>
                  <a:pt x="2598676" y="89841"/>
                </a:lnTo>
                <a:close/>
              </a:path>
              <a:path w="2747645" h="2359025">
                <a:moveTo>
                  <a:pt x="2717376" y="71247"/>
                </a:moveTo>
                <a:lnTo>
                  <a:pt x="2620391" y="71247"/>
                </a:lnTo>
                <a:lnTo>
                  <a:pt x="2657474" y="114681"/>
                </a:lnTo>
                <a:lnTo>
                  <a:pt x="2635809" y="133233"/>
                </a:lnTo>
                <a:lnTo>
                  <a:pt x="2672968" y="176657"/>
                </a:lnTo>
                <a:lnTo>
                  <a:pt x="2717376" y="71247"/>
                </a:lnTo>
                <a:close/>
              </a:path>
              <a:path w="2747645" h="2359025">
                <a:moveTo>
                  <a:pt x="2620391" y="71247"/>
                </a:moveTo>
                <a:lnTo>
                  <a:pt x="2598676" y="89841"/>
                </a:lnTo>
                <a:lnTo>
                  <a:pt x="2635809" y="133233"/>
                </a:lnTo>
                <a:lnTo>
                  <a:pt x="2657474" y="114681"/>
                </a:lnTo>
                <a:lnTo>
                  <a:pt x="2620391" y="71247"/>
                </a:lnTo>
                <a:close/>
              </a:path>
              <a:path w="2747645" h="2359025">
                <a:moveTo>
                  <a:pt x="2747391" y="0"/>
                </a:moveTo>
                <a:lnTo>
                  <a:pt x="2561463" y="46355"/>
                </a:lnTo>
                <a:lnTo>
                  <a:pt x="2598676" y="89841"/>
                </a:lnTo>
                <a:lnTo>
                  <a:pt x="2620391" y="71247"/>
                </a:lnTo>
                <a:lnTo>
                  <a:pt x="2717376" y="71247"/>
                </a:lnTo>
                <a:lnTo>
                  <a:pt x="2747391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319015" y="4343400"/>
            <a:ext cx="1955800" cy="741045"/>
          </a:xfrm>
          <a:custGeom>
            <a:avLst/>
            <a:gdLst/>
            <a:ahLst/>
            <a:cxnLst/>
            <a:rect l="l" t="t" r="r" b="b"/>
            <a:pathLst>
              <a:path w="1955800" h="741045">
                <a:moveTo>
                  <a:pt x="0" y="740663"/>
                </a:moveTo>
                <a:lnTo>
                  <a:pt x="1955291" y="740663"/>
                </a:lnTo>
                <a:lnTo>
                  <a:pt x="1955291" y="0"/>
                </a:lnTo>
                <a:lnTo>
                  <a:pt x="0" y="0"/>
                </a:lnTo>
                <a:lnTo>
                  <a:pt x="0" y="740663"/>
                </a:lnTo>
                <a:close/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221348" y="72644"/>
            <a:ext cx="27082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3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5651500" cy="1183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>
              <a:latin typeface="宋体"/>
              <a:cs typeface="宋体"/>
            </a:endParaRPr>
          </a:p>
          <a:p>
            <a:pPr marL="317500">
              <a:lnSpc>
                <a:spcPct val="100000"/>
              </a:lnSpc>
              <a:tabLst>
                <a:tab pos="175006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2.8:	</a:t>
            </a:r>
            <a:r>
              <a:rPr dirty="0" sz="3200" b="1">
                <a:solidFill>
                  <a:srgbClr val="B0FFFF"/>
                </a:solidFill>
                <a:latin typeface="宋体"/>
                <a:cs typeface="宋体"/>
              </a:rPr>
              <a:t>设有文</a:t>
            </a:r>
            <a:r>
              <a:rPr dirty="0" sz="3200" spc="-10" b="1">
                <a:solidFill>
                  <a:srgbClr val="B0FFFF"/>
                </a:solidFill>
                <a:latin typeface="宋体"/>
                <a:cs typeface="宋体"/>
              </a:rPr>
              <a:t>法</a:t>
            </a:r>
            <a:r>
              <a:rPr dirty="0" sz="3200" spc="-830" b="1">
                <a:solidFill>
                  <a:srgbClr val="B0FFFF"/>
                </a:solidFill>
                <a:latin typeface="宋体"/>
                <a:cs typeface="宋体"/>
              </a:rPr>
              <a:t> </a:t>
            </a:r>
            <a:r>
              <a:rPr dirty="0" sz="3200" spc="-5" b="1" i="1">
                <a:solidFill>
                  <a:srgbClr val="B0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B0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21960" y="1473453"/>
            <a:ext cx="16548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求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5339" y="2156646"/>
            <a:ext cx="4773295" cy="1480820"/>
          </a:xfrm>
          <a:prstGeom prst="rect">
            <a:avLst/>
          </a:prstGeom>
        </p:spPr>
        <p:txBody>
          <a:bodyPr wrap="square" lIns="0" tIns="2527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990"/>
              </a:spcBef>
              <a:tabLst>
                <a:tab pos="183007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	{ </a:t>
            </a:r>
            <a:r>
              <a:rPr dirty="0" sz="3200" spc="1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baseline="30423" sz="3150" spc="15" b="1" i="1">
                <a:solidFill>
                  <a:srgbClr val="FFFF00"/>
                </a:solidFill>
                <a:latin typeface="Times New Roman"/>
                <a:cs typeface="Times New Roman"/>
              </a:rPr>
              <a:t>n </a:t>
            </a:r>
            <a:r>
              <a:rPr dirty="0" sz="3200" spc="-40" b="1">
                <a:solidFill>
                  <a:srgbClr val="FFFF00"/>
                </a:solidFill>
                <a:latin typeface="Times New Roman"/>
                <a:cs typeface="Times New Roman"/>
              </a:rPr>
              <a:t>011</a:t>
            </a:r>
            <a:r>
              <a:rPr dirty="0" baseline="30423" sz="3150" spc="-60" b="1" i="1">
                <a:solidFill>
                  <a:srgbClr val="FFFF00"/>
                </a:solidFill>
                <a:latin typeface="Times New Roman"/>
                <a:cs typeface="Times New Roman"/>
              </a:rPr>
              <a:t>n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&gt;=0</a:t>
            </a:r>
            <a:r>
              <a:rPr dirty="0" sz="3200" spc="-5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1359535">
              <a:lnSpc>
                <a:spcPct val="100000"/>
              </a:lnSpc>
              <a:spcBef>
                <a:spcPts val="188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= { </a:t>
            </a:r>
            <a:r>
              <a:rPr dirty="0" sz="3200" spc="2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baseline="30423" sz="3150" spc="30" b="1" i="1">
                <a:solidFill>
                  <a:srgbClr val="FFFF00"/>
                </a:solidFill>
                <a:latin typeface="Times New Roman"/>
                <a:cs typeface="Times New Roman"/>
              </a:rPr>
              <a:t>m </a:t>
            </a:r>
            <a:r>
              <a:rPr dirty="0" sz="3200" spc="1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baseline="30423" sz="3150" spc="22" b="1" i="1">
                <a:solidFill>
                  <a:srgbClr val="FFFF00"/>
                </a:solidFill>
                <a:latin typeface="Times New Roman"/>
                <a:cs typeface="Times New Roman"/>
              </a:rPr>
              <a:t>m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&gt;=1</a:t>
            </a:r>
            <a:r>
              <a:rPr dirty="0" sz="3200" spc="-1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9740" y="3675710"/>
            <a:ext cx="10801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9: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02808" y="3695700"/>
            <a:ext cx="457200" cy="483234"/>
          </a:xfrm>
          <a:prstGeom prst="rect">
            <a:avLst/>
          </a:prstGeom>
          <a:ln w="57150">
            <a:solidFill>
              <a:srgbClr val="FF99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8740">
              <a:lnSpc>
                <a:spcPts val="2635"/>
              </a:lnSpc>
            </a:pPr>
            <a:r>
              <a:rPr dirty="0" baseline="-19965" sz="4800" spc="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100" spc="1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0869" y="3675710"/>
            <a:ext cx="187896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&gt;=0 }</a:t>
            </a:r>
            <a:r>
              <a:rPr dirty="0" sz="32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1885" y="3432104"/>
            <a:ext cx="3811270" cy="1489710"/>
          </a:xfrm>
          <a:prstGeom prst="rect">
            <a:avLst/>
          </a:prstGeom>
        </p:spPr>
        <p:txBody>
          <a:bodyPr wrap="square" lIns="0" tIns="257175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202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设有语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3200" spc="-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1)=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求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1116" y="6238443"/>
            <a:ext cx="40411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09040" algn="l"/>
                <a:tab pos="2649220" algn="l"/>
              </a:tabLst>
            </a:pP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1(S)	</a:t>
            </a:r>
            <a:r>
              <a:rPr dirty="0" sz="3200" spc="-10" b="1">
                <a:solidFill>
                  <a:srgbClr val="B0FFFF"/>
                </a:solidFill>
                <a:latin typeface="宋体"/>
                <a:cs typeface="宋体"/>
              </a:rPr>
              <a:t>：</a:t>
            </a:r>
            <a:r>
              <a:rPr dirty="0" sz="3200" spc="-815" b="1">
                <a:solidFill>
                  <a:srgbClr val="B0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S</a:t>
            </a:r>
            <a:r>
              <a:rPr dirty="0" sz="3200" spc="-10" b="1" i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B0FFFF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B0FFFF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aa 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|</a:t>
            </a:r>
            <a:r>
              <a:rPr dirty="0" sz="3200" spc="-95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aRa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31204" y="6238443"/>
            <a:ext cx="18719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B0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|</a:t>
            </a:r>
            <a:r>
              <a:rPr dirty="0" sz="3200" spc="-10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B0FFFF"/>
                </a:solidFill>
                <a:latin typeface="Times New Roman"/>
                <a:cs typeface="Times New Roman"/>
              </a:rPr>
              <a:t>Rb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51853" y="2506217"/>
            <a:ext cx="2388235" cy="984885"/>
          </a:xfrm>
          <a:custGeom>
            <a:avLst/>
            <a:gdLst/>
            <a:ahLst/>
            <a:cxnLst/>
            <a:rect l="l" t="t" r="r" b="b"/>
            <a:pathLst>
              <a:path w="2388234" h="984885">
                <a:moveTo>
                  <a:pt x="0" y="984503"/>
                </a:moveTo>
                <a:lnTo>
                  <a:pt x="2388107" y="984503"/>
                </a:lnTo>
                <a:lnTo>
                  <a:pt x="2388107" y="0"/>
                </a:lnTo>
                <a:lnTo>
                  <a:pt x="0" y="0"/>
                </a:lnTo>
                <a:lnTo>
                  <a:pt x="0" y="9845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451853" y="2506217"/>
            <a:ext cx="2388235" cy="984885"/>
          </a:xfrm>
          <a:prstGeom prst="rect">
            <a:avLst/>
          </a:prstGeom>
          <a:ln w="38100">
            <a:solidFill>
              <a:srgbClr val="66CCFF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2075" marR="105410">
              <a:lnSpc>
                <a:spcPct val="100000"/>
              </a:lnSpc>
              <a:spcBef>
                <a:spcPts val="29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前面为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baseline="25525" sz="2775" spc="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后面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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08454" y="2020823"/>
            <a:ext cx="5537200" cy="546735"/>
          </a:xfrm>
          <a:custGeom>
            <a:avLst/>
            <a:gdLst/>
            <a:ahLst/>
            <a:cxnLst/>
            <a:rect l="l" t="t" r="r" b="b"/>
            <a:pathLst>
              <a:path w="5537200" h="546735">
                <a:moveTo>
                  <a:pt x="5406413" y="475263"/>
                </a:moveTo>
                <a:lnTo>
                  <a:pt x="5339588" y="546353"/>
                </a:lnTo>
                <a:lnTo>
                  <a:pt x="5512820" y="476503"/>
                </a:lnTo>
                <a:lnTo>
                  <a:pt x="5421757" y="476503"/>
                </a:lnTo>
                <a:lnTo>
                  <a:pt x="5406413" y="475263"/>
                </a:lnTo>
                <a:close/>
              </a:path>
              <a:path w="5537200" h="546735">
                <a:moveTo>
                  <a:pt x="5409537" y="437296"/>
                </a:moveTo>
                <a:lnTo>
                  <a:pt x="5423154" y="457453"/>
                </a:lnTo>
                <a:lnTo>
                  <a:pt x="5406413" y="475263"/>
                </a:lnTo>
                <a:lnTo>
                  <a:pt x="5421757" y="476503"/>
                </a:lnTo>
                <a:lnTo>
                  <a:pt x="5424805" y="438530"/>
                </a:lnTo>
                <a:lnTo>
                  <a:pt x="5409537" y="437296"/>
                </a:lnTo>
                <a:close/>
              </a:path>
              <a:path w="5537200" h="546735">
                <a:moveTo>
                  <a:pt x="5354955" y="356488"/>
                </a:moveTo>
                <a:lnTo>
                  <a:pt x="5409537" y="437296"/>
                </a:lnTo>
                <a:lnTo>
                  <a:pt x="5424805" y="438530"/>
                </a:lnTo>
                <a:lnTo>
                  <a:pt x="5421757" y="476503"/>
                </a:lnTo>
                <a:lnTo>
                  <a:pt x="5512820" y="476503"/>
                </a:lnTo>
                <a:lnTo>
                  <a:pt x="5537073" y="466725"/>
                </a:lnTo>
                <a:lnTo>
                  <a:pt x="5354955" y="356488"/>
                </a:lnTo>
                <a:close/>
              </a:path>
              <a:path w="5537200" h="546735">
                <a:moveTo>
                  <a:pt x="3048" y="0"/>
                </a:moveTo>
                <a:lnTo>
                  <a:pt x="0" y="38100"/>
                </a:lnTo>
                <a:lnTo>
                  <a:pt x="5406413" y="475263"/>
                </a:lnTo>
                <a:lnTo>
                  <a:pt x="5423154" y="457453"/>
                </a:lnTo>
                <a:lnTo>
                  <a:pt x="5409537" y="437296"/>
                </a:lnTo>
                <a:lnTo>
                  <a:pt x="3048" y="0"/>
                </a:lnTo>
                <a:close/>
              </a:path>
            </a:pathLst>
          </a:custGeom>
          <a:solidFill>
            <a:srgbClr val="66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887973" y="560069"/>
            <a:ext cx="1740535" cy="584200"/>
          </a:xfrm>
          <a:custGeom>
            <a:avLst/>
            <a:gdLst/>
            <a:ahLst/>
            <a:cxnLst/>
            <a:rect l="l" t="t" r="r" b="b"/>
            <a:pathLst>
              <a:path w="1740534" h="584200">
                <a:moveTo>
                  <a:pt x="0" y="583691"/>
                </a:moveTo>
                <a:lnTo>
                  <a:pt x="1740407" y="583691"/>
                </a:lnTo>
                <a:lnTo>
                  <a:pt x="1740407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solidFill>
            <a:srgbClr val="66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887973" y="560069"/>
            <a:ext cx="1740535" cy="584200"/>
          </a:xfrm>
          <a:custGeom>
            <a:avLst/>
            <a:gdLst/>
            <a:ahLst/>
            <a:cxnLst/>
            <a:rect l="l" t="t" r="r" b="b"/>
            <a:pathLst>
              <a:path w="1740534" h="584200">
                <a:moveTo>
                  <a:pt x="0" y="583691"/>
                </a:moveTo>
                <a:lnTo>
                  <a:pt x="1740407" y="583691"/>
                </a:lnTo>
                <a:lnTo>
                  <a:pt x="1740407" y="0"/>
                </a:lnTo>
                <a:lnTo>
                  <a:pt x="0" y="0"/>
                </a:lnTo>
                <a:lnTo>
                  <a:pt x="0" y="583691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032372" y="617042"/>
            <a:ext cx="14528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中间为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19829" y="1101216"/>
            <a:ext cx="3038475" cy="604520"/>
          </a:xfrm>
          <a:custGeom>
            <a:avLst/>
            <a:gdLst/>
            <a:ahLst/>
            <a:cxnLst/>
            <a:rect l="l" t="t" r="r" b="b"/>
            <a:pathLst>
              <a:path w="3038475" h="604519">
                <a:moveTo>
                  <a:pt x="2864748" y="56398"/>
                </a:moveTo>
                <a:lnTo>
                  <a:pt x="0" y="548005"/>
                </a:lnTo>
                <a:lnTo>
                  <a:pt x="9652" y="604393"/>
                </a:lnTo>
                <a:lnTo>
                  <a:pt x="2874386" y="112663"/>
                </a:lnTo>
                <a:lnTo>
                  <a:pt x="2864748" y="56398"/>
                </a:lnTo>
                <a:close/>
              </a:path>
              <a:path w="3038475" h="604519">
                <a:moveTo>
                  <a:pt x="3025465" y="51562"/>
                </a:moveTo>
                <a:lnTo>
                  <a:pt x="2892933" y="51562"/>
                </a:lnTo>
                <a:lnTo>
                  <a:pt x="2902585" y="107823"/>
                </a:lnTo>
                <a:lnTo>
                  <a:pt x="2874386" y="112663"/>
                </a:lnTo>
                <a:lnTo>
                  <a:pt x="2884043" y="169037"/>
                </a:lnTo>
                <a:lnTo>
                  <a:pt x="3038475" y="55499"/>
                </a:lnTo>
                <a:lnTo>
                  <a:pt x="3025465" y="51562"/>
                </a:lnTo>
                <a:close/>
              </a:path>
              <a:path w="3038475" h="604519">
                <a:moveTo>
                  <a:pt x="2892933" y="51562"/>
                </a:moveTo>
                <a:lnTo>
                  <a:pt x="2864748" y="56398"/>
                </a:lnTo>
                <a:lnTo>
                  <a:pt x="2874386" y="112663"/>
                </a:lnTo>
                <a:lnTo>
                  <a:pt x="2902585" y="107823"/>
                </a:lnTo>
                <a:lnTo>
                  <a:pt x="2892933" y="51562"/>
                </a:lnTo>
                <a:close/>
              </a:path>
              <a:path w="3038475" h="604519">
                <a:moveTo>
                  <a:pt x="2855087" y="0"/>
                </a:moveTo>
                <a:lnTo>
                  <a:pt x="2864748" y="56398"/>
                </a:lnTo>
                <a:lnTo>
                  <a:pt x="2892933" y="51562"/>
                </a:lnTo>
                <a:lnTo>
                  <a:pt x="3025465" y="51562"/>
                </a:lnTo>
                <a:lnTo>
                  <a:pt x="2855087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219580" y="1218057"/>
          <a:ext cx="2533650" cy="918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4660"/>
                <a:gridCol w="723264"/>
              </a:tblGrid>
              <a:tr h="21107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76200">
                      <a:solidFill>
                        <a:srgbClr val="FF99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62356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3200" b="1" i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3200" spc="-9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66CCFF"/>
                      </a:solidFill>
                      <a:prstDash val="solid"/>
                    </a:lnR>
                    <a:lnT w="38100">
                      <a:solidFill>
                        <a:srgbClr val="66CCFF"/>
                      </a:solidFill>
                      <a:prstDash val="solid"/>
                    </a:lnT>
                    <a:lnB w="38100">
                      <a:solidFill>
                        <a:srgbClr val="66CCF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|</a:t>
                      </a:r>
                      <a:r>
                        <a:rPr dirty="0" sz="3200" spc="-5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38100">
                      <a:solidFill>
                        <a:srgbClr val="66CC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B w="76200">
                      <a:solidFill>
                        <a:srgbClr val="FF99FF"/>
                      </a:solidFill>
                      <a:prstDash val="solid"/>
                    </a:lnB>
                  </a:tcPr>
                </a:tc>
              </a:tr>
              <a:tr h="87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T w="38100">
                      <a:solidFill>
                        <a:srgbClr val="66CCFF"/>
                      </a:solidFill>
                      <a:prstDash val="solid"/>
                    </a:lnT>
                    <a:lnB w="76200">
                      <a:solidFill>
                        <a:srgbClr val="FF99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575">
                    <a:lnL w="38100">
                      <a:solidFill>
                        <a:srgbClr val="66CC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B w="76200">
                      <a:solidFill>
                        <a:srgbClr val="FF99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5703570" y="4534661"/>
            <a:ext cx="3136900" cy="547370"/>
          </a:xfrm>
          <a:custGeom>
            <a:avLst/>
            <a:gdLst/>
            <a:ahLst/>
            <a:cxnLst/>
            <a:rect l="l" t="t" r="r" b="b"/>
            <a:pathLst>
              <a:path w="3136900" h="547370">
                <a:moveTo>
                  <a:pt x="0" y="547115"/>
                </a:moveTo>
                <a:lnTo>
                  <a:pt x="3136392" y="547115"/>
                </a:lnTo>
                <a:lnTo>
                  <a:pt x="3136392" y="0"/>
                </a:lnTo>
                <a:lnTo>
                  <a:pt x="0" y="0"/>
                </a:lnTo>
                <a:lnTo>
                  <a:pt x="0" y="547115"/>
                </a:lnTo>
                <a:close/>
              </a:path>
            </a:pathLst>
          </a:custGeom>
          <a:solidFill>
            <a:srgbClr val="66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703570" y="4534661"/>
            <a:ext cx="3136900" cy="547370"/>
          </a:xfrm>
          <a:custGeom>
            <a:avLst/>
            <a:gdLst/>
            <a:ahLst/>
            <a:cxnLst/>
            <a:rect l="l" t="t" r="r" b="b"/>
            <a:pathLst>
              <a:path w="3136900" h="547370">
                <a:moveTo>
                  <a:pt x="0" y="547115"/>
                </a:moveTo>
                <a:lnTo>
                  <a:pt x="3136392" y="547115"/>
                </a:lnTo>
                <a:lnTo>
                  <a:pt x="3136392" y="0"/>
                </a:lnTo>
                <a:lnTo>
                  <a:pt x="0" y="0"/>
                </a:lnTo>
                <a:lnTo>
                  <a:pt x="0" y="547115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703570" y="4560570"/>
            <a:ext cx="31369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作为一个语法范畴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24930" y="4178427"/>
            <a:ext cx="1346835" cy="385445"/>
          </a:xfrm>
          <a:custGeom>
            <a:avLst/>
            <a:gdLst/>
            <a:ahLst/>
            <a:cxnLst/>
            <a:rect l="l" t="t" r="r" b="b"/>
            <a:pathLst>
              <a:path w="1346834" h="385445">
                <a:moveTo>
                  <a:pt x="1172879" y="329430"/>
                </a:moveTo>
                <a:lnTo>
                  <a:pt x="1159891" y="385064"/>
                </a:lnTo>
                <a:lnTo>
                  <a:pt x="1346327" y="340487"/>
                </a:lnTo>
                <a:lnTo>
                  <a:pt x="1340820" y="335915"/>
                </a:lnTo>
                <a:lnTo>
                  <a:pt x="1200658" y="335915"/>
                </a:lnTo>
                <a:lnTo>
                  <a:pt x="1172879" y="329430"/>
                </a:lnTo>
                <a:close/>
              </a:path>
              <a:path w="1346834" h="385445">
                <a:moveTo>
                  <a:pt x="1185870" y="273783"/>
                </a:moveTo>
                <a:lnTo>
                  <a:pt x="1172879" y="329430"/>
                </a:lnTo>
                <a:lnTo>
                  <a:pt x="1200658" y="335915"/>
                </a:lnTo>
                <a:lnTo>
                  <a:pt x="1213739" y="280289"/>
                </a:lnTo>
                <a:lnTo>
                  <a:pt x="1185870" y="273783"/>
                </a:lnTo>
                <a:close/>
              </a:path>
              <a:path w="1346834" h="385445">
                <a:moveTo>
                  <a:pt x="1198879" y="218059"/>
                </a:moveTo>
                <a:lnTo>
                  <a:pt x="1185870" y="273783"/>
                </a:lnTo>
                <a:lnTo>
                  <a:pt x="1213739" y="280289"/>
                </a:lnTo>
                <a:lnTo>
                  <a:pt x="1200658" y="335915"/>
                </a:lnTo>
                <a:lnTo>
                  <a:pt x="1340820" y="335915"/>
                </a:lnTo>
                <a:lnTo>
                  <a:pt x="1198879" y="218059"/>
                </a:lnTo>
                <a:close/>
              </a:path>
              <a:path w="1346834" h="385445">
                <a:moveTo>
                  <a:pt x="12954" y="0"/>
                </a:moveTo>
                <a:lnTo>
                  <a:pt x="0" y="55625"/>
                </a:lnTo>
                <a:lnTo>
                  <a:pt x="1172879" y="329430"/>
                </a:lnTo>
                <a:lnTo>
                  <a:pt x="1185870" y="273783"/>
                </a:lnTo>
                <a:lnTo>
                  <a:pt x="12954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426455" y="5056342"/>
            <a:ext cx="1847214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B0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B0FFFF"/>
                </a:solidFill>
                <a:latin typeface="Times New Roman"/>
                <a:cs typeface="Times New Roman"/>
              </a:rPr>
              <a:t>Rb 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|</a:t>
            </a:r>
            <a:r>
              <a:rPr dirty="0" sz="3200" spc="-9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350" spc="-70" b="1" i="1">
                <a:solidFill>
                  <a:srgbClr val="B0FFFF"/>
                </a:solidFill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90143" y="4998161"/>
            <a:ext cx="3391535" cy="1169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0165">
              <a:lnSpc>
                <a:spcPct val="117200"/>
              </a:lnSpc>
              <a:spcBef>
                <a:spcPts val="95"/>
              </a:spcBef>
              <a:tabLst>
                <a:tab pos="1208405" algn="l"/>
                <a:tab pos="1259205" algn="l"/>
                <a:tab pos="2649220" algn="l"/>
                <a:tab pos="2700020" algn="l"/>
              </a:tabLst>
            </a:pPr>
            <a:r>
              <a:rPr dirty="0" sz="3200" spc="5" b="1" i="1">
                <a:solidFill>
                  <a:srgbClr val="B0FFFF"/>
                </a:solidFill>
                <a:latin typeface="Times New Roman"/>
                <a:cs typeface="Times New Roman"/>
              </a:rPr>
              <a:t>G</a:t>
            </a:r>
            <a:r>
              <a:rPr dirty="0" sz="3200" spc="5" b="1">
                <a:solidFill>
                  <a:srgbClr val="B0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(</a:t>
            </a:r>
            <a:r>
              <a:rPr dirty="0" sz="3200" spc="-10" b="1" i="1">
                <a:solidFill>
                  <a:srgbClr val="B0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)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		</a:t>
            </a:r>
            <a:r>
              <a:rPr dirty="0" sz="3200" spc="-10" b="1">
                <a:solidFill>
                  <a:srgbClr val="B0FFFF"/>
                </a:solidFill>
                <a:latin typeface="宋体"/>
                <a:cs typeface="宋体"/>
              </a:rPr>
              <a:t>：</a:t>
            </a:r>
            <a:r>
              <a:rPr dirty="0" sz="3200" spc="-810" b="1">
                <a:solidFill>
                  <a:srgbClr val="B0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S</a:t>
            </a:r>
            <a:r>
              <a:rPr dirty="0" sz="3200" spc="-15" b="1" i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B0FFFF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B0FFFF"/>
                </a:solidFill>
                <a:latin typeface="Times New Roman"/>
                <a:cs typeface="Times New Roman"/>
              </a:rPr>
              <a:t>		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aRa 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1(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)	</a:t>
            </a:r>
            <a:r>
              <a:rPr dirty="0" sz="3200" spc="-10" b="1">
                <a:solidFill>
                  <a:srgbClr val="B0FFFF"/>
                </a:solidFill>
                <a:latin typeface="宋体"/>
                <a:cs typeface="宋体"/>
              </a:rPr>
              <a:t>：</a:t>
            </a:r>
            <a:r>
              <a:rPr dirty="0" sz="3200" spc="-810" b="1">
                <a:solidFill>
                  <a:srgbClr val="B0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S</a:t>
            </a:r>
            <a:r>
              <a:rPr dirty="0" sz="3200" spc="-10" b="1" i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B0FFFF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B0FFFF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aT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87926" y="5652922"/>
            <a:ext cx="14541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6469" algn="l"/>
              </a:tabLst>
            </a:pP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T</a:t>
            </a:r>
            <a:r>
              <a:rPr dirty="0" sz="3200" spc="-10" b="1" i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B0FFFF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B0FFFF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 i="1">
                <a:solidFill>
                  <a:srgbClr val="B0FFFF"/>
                </a:solidFill>
                <a:latin typeface="Times New Roman"/>
                <a:cs typeface="Times New Roman"/>
              </a:rPr>
              <a:t>Ra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87082" y="5627868"/>
            <a:ext cx="1847214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B0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Rb 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|</a:t>
            </a:r>
            <a:r>
              <a:rPr dirty="0" sz="3200" spc="-10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350" spc="-70" b="1" i="1">
                <a:solidFill>
                  <a:srgbClr val="B0FFFF"/>
                </a:solidFill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39" y="72644"/>
            <a:ext cx="87744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0788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40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682498"/>
            <a:ext cx="4113529" cy="683895"/>
          </a:xfrm>
          <a:prstGeom prst="rect"/>
        </p:spPr>
        <p:txBody>
          <a:bodyPr wrap="square" lIns="0" tIns="154940" rIns="0" bIns="0" rtlCol="0" vert="horz">
            <a:spAutoFit/>
          </a:bodyPr>
          <a:lstStyle/>
          <a:p>
            <a:pPr marL="366395" indent="-354330">
              <a:lnSpc>
                <a:spcPct val="100000"/>
              </a:lnSpc>
              <a:spcBef>
                <a:spcPts val="1220"/>
              </a:spcBef>
              <a:buClr>
                <a:srgbClr val="99FF66"/>
              </a:buClr>
              <a:buSzPct val="134375"/>
              <a:buFont typeface="Wingdings"/>
              <a:buChar char=""/>
              <a:tabLst>
                <a:tab pos="367030" algn="l"/>
              </a:tabLst>
            </a:pPr>
            <a:r>
              <a:rPr dirty="0" sz="3200">
                <a:latin typeface="宋体"/>
                <a:cs typeface="宋体"/>
              </a:rPr>
              <a:t>定义</a:t>
            </a:r>
            <a:r>
              <a:rPr dirty="0" sz="3200">
                <a:latin typeface="Times New Roman"/>
                <a:cs typeface="Times New Roman"/>
              </a:rPr>
              <a:t>2.18</a:t>
            </a:r>
            <a:r>
              <a:rPr dirty="0" sz="3200" spc="-7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(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>
                <a:latin typeface="宋体"/>
                <a:cs typeface="宋体"/>
              </a:rPr>
              <a:t>文法等</a:t>
            </a:r>
            <a:r>
              <a:rPr dirty="0" sz="3200" spc="775">
                <a:latin typeface="宋体"/>
                <a:cs typeface="宋体"/>
              </a:rPr>
              <a:t>价</a:t>
            </a:r>
            <a:r>
              <a:rPr dirty="0" sz="320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8980" y="1526489"/>
            <a:ext cx="7550784" cy="2247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306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25525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则称文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65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55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tabLst>
                <a:tab pos="16637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-35" b="1">
                <a:solidFill>
                  <a:srgbClr val="FFFF00"/>
                </a:solidFill>
                <a:latin typeface="Times New Roman"/>
                <a:cs typeface="Times New Roman"/>
              </a:rPr>
              <a:t>2.11:	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设有语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言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052830">
              <a:lnSpc>
                <a:spcPct val="100000"/>
              </a:lnSpc>
              <a:spcBef>
                <a:spcPts val="189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&gt;=0</a:t>
            </a:r>
            <a:r>
              <a:rPr dirty="0" sz="3200" spc="-3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0674" y="4327397"/>
            <a:ext cx="914400" cy="1858010"/>
          </a:xfrm>
          <a:prstGeom prst="rect">
            <a:avLst/>
          </a:prstGeom>
          <a:ln w="38100">
            <a:solidFill>
              <a:srgbClr val="66FF99"/>
            </a:solidFill>
          </a:ln>
        </p:spPr>
        <p:txBody>
          <a:bodyPr wrap="square" lIns="0" tIns="215900" rIns="0" bIns="0" rtlCol="0" vert="horz">
            <a:spAutoFit/>
          </a:bodyPr>
          <a:lstStyle/>
          <a:p>
            <a:pPr marL="203835">
              <a:lnSpc>
                <a:spcPct val="100000"/>
              </a:lnSpc>
              <a:spcBef>
                <a:spcPts val="1700"/>
              </a:spcBef>
            </a:pP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203835">
              <a:lnSpc>
                <a:spcPct val="100000"/>
              </a:lnSpc>
              <a:spcBef>
                <a:spcPts val="2825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00"/>
                </a:solidFill>
                <a:latin typeface="Arial"/>
                <a:cs typeface="Arial"/>
              </a:rPr>
              <a:t>’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47850" y="4530038"/>
            <a:ext cx="2785110" cy="13608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B0FFFF"/>
                </a:solidFill>
                <a:latin typeface="Symbol"/>
                <a:cs typeface="Symbol"/>
              </a:rPr>
              <a:t></a:t>
            </a:r>
            <a:r>
              <a:rPr dirty="0" sz="3200" spc="-25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)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282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()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19420" y="4508016"/>
            <a:ext cx="1884045" cy="13830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130"/>
              </a:spcBef>
            </a:pP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B0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Bb 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|</a:t>
            </a:r>
            <a:r>
              <a:rPr dirty="0" sz="3200" spc="-11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350" spc="-65" b="1" i="1">
                <a:solidFill>
                  <a:srgbClr val="B0FFFF"/>
                </a:solidFill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279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Bb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1348" y="72644"/>
            <a:ext cx="27082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3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1" y="687323"/>
            <a:ext cx="8766175" cy="1117600"/>
          </a:xfrm>
          <a:custGeom>
            <a:avLst/>
            <a:gdLst/>
            <a:ahLst/>
            <a:cxnLst/>
            <a:rect l="l" t="t" r="r" b="b"/>
            <a:pathLst>
              <a:path w="8766175" h="1117600">
                <a:moveTo>
                  <a:pt x="0" y="1117091"/>
                </a:moveTo>
                <a:lnTo>
                  <a:pt x="8766048" y="1117091"/>
                </a:lnTo>
                <a:lnTo>
                  <a:pt x="8766048" y="0"/>
                </a:lnTo>
                <a:lnTo>
                  <a:pt x="0" y="0"/>
                </a:lnTo>
                <a:lnTo>
                  <a:pt x="0" y="11170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3792" y="613918"/>
            <a:ext cx="28695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例：写出文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法</a:t>
            </a:r>
            <a:r>
              <a:rPr dirty="0" sz="3200" spc="-900" b="1">
                <a:solidFill>
                  <a:srgbClr val="00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CCFFCC"/>
                </a:solidFill>
                <a:latin typeface="Times New Roman"/>
                <a:cs typeface="Times New Roman"/>
              </a:rPr>
              <a:t>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8029" y="688086"/>
            <a:ext cx="1511935" cy="460375"/>
          </a:xfrm>
          <a:prstGeom prst="rect">
            <a:avLst/>
          </a:prstGeom>
          <a:solidFill>
            <a:srgbClr val="000000"/>
          </a:solidFill>
          <a:ln w="38100">
            <a:solidFill>
              <a:srgbClr val="FF99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87630">
              <a:lnSpc>
                <a:spcPts val="3360"/>
              </a:lnSpc>
              <a:tabLst>
                <a:tab pos="981075" algn="l"/>
              </a:tabLst>
            </a:pPr>
            <a:r>
              <a:rPr dirty="0" sz="3200" b="1" i="1">
                <a:solidFill>
                  <a:srgbClr val="CCFFCC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CCFFCC"/>
                </a:solidFill>
                <a:latin typeface="Wingdings 3"/>
                <a:cs typeface="Wingdings 3"/>
              </a:rPr>
              <a:t></a:t>
            </a:r>
            <a:r>
              <a:rPr dirty="0" sz="3200">
                <a:solidFill>
                  <a:srgbClr val="CCFFCC"/>
                </a:solidFill>
                <a:latin typeface="Times New Roman"/>
                <a:cs typeface="Times New Roman"/>
              </a:rPr>
              <a:t>	</a:t>
            </a:r>
            <a:r>
              <a:rPr dirty="0" sz="3200" spc="-10" b="1" i="1">
                <a:solidFill>
                  <a:srgbClr val="CCFFCC"/>
                </a:solidFill>
                <a:latin typeface="Times New Roman"/>
                <a:cs typeface="Times New Roman"/>
              </a:rPr>
              <a:t>Sb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89119" y="613918"/>
            <a:ext cx="48577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CCFFCC"/>
                </a:solidFill>
                <a:latin typeface="Times New Roman"/>
                <a:cs typeface="Times New Roman"/>
              </a:rPr>
              <a:t>|</a:t>
            </a:r>
            <a:r>
              <a:rPr dirty="0" sz="3200" spc="-110" b="1">
                <a:solidFill>
                  <a:srgbClr val="CCFFCC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CCFFCC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64153" y="1247597"/>
            <a:ext cx="51962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CCFFCC"/>
                </a:solidFill>
                <a:latin typeface="Times New Roman"/>
                <a:cs typeface="Times New Roman"/>
              </a:rPr>
              <a:t>R</a:t>
            </a:r>
            <a:r>
              <a:rPr dirty="0" sz="3200" spc="-20" b="1" i="1">
                <a:solidFill>
                  <a:srgbClr val="CCFF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CCFFCC"/>
                </a:solidFill>
                <a:latin typeface="Wingdings 3"/>
                <a:cs typeface="Wingdings 3"/>
              </a:rPr>
              <a:t></a:t>
            </a:r>
            <a:r>
              <a:rPr dirty="0" sz="3200" spc="-10" b="1">
                <a:solidFill>
                  <a:srgbClr val="CCFFCC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CCFFCC"/>
                </a:solidFill>
                <a:latin typeface="Times New Roman"/>
                <a:cs typeface="Times New Roman"/>
              </a:rPr>
              <a:t>aRb</a:t>
            </a:r>
            <a:r>
              <a:rPr dirty="0" sz="3200" spc="-25" b="1" i="1">
                <a:solidFill>
                  <a:srgbClr val="CCFF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CCFFCC"/>
                </a:solidFill>
                <a:latin typeface="Times New Roman"/>
                <a:cs typeface="Times New Roman"/>
              </a:rPr>
              <a:t>|</a:t>
            </a:r>
            <a:r>
              <a:rPr dirty="0" sz="3200" spc="-20" b="1">
                <a:solidFill>
                  <a:srgbClr val="CCFFCC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CCFFCC"/>
                </a:solidFill>
                <a:latin typeface="Times New Roman"/>
                <a:cs typeface="Times New Roman"/>
              </a:rPr>
              <a:t>ab</a:t>
            </a:r>
            <a:r>
              <a:rPr dirty="0" sz="3200" spc="-25" b="1" i="1">
                <a:solidFill>
                  <a:srgbClr val="CCFFCC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CCFFCC"/>
                </a:solidFill>
                <a:latin typeface="宋体"/>
                <a:cs typeface="宋体"/>
              </a:rPr>
              <a:t>描述的语</a:t>
            </a:r>
            <a:r>
              <a:rPr dirty="0" sz="3200" b="1">
                <a:solidFill>
                  <a:srgbClr val="CCFFCC"/>
                </a:solidFill>
                <a:latin typeface="宋体"/>
                <a:cs typeface="宋体"/>
              </a:rPr>
              <a:t>言</a:t>
            </a:r>
            <a:r>
              <a:rPr dirty="0" sz="3200" b="1" i="1">
                <a:solidFill>
                  <a:srgbClr val="CCFFCC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CCFFCC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CCFFCC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CCFFCC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291" y="3439851"/>
            <a:ext cx="6024880" cy="2221230"/>
          </a:xfrm>
          <a:prstGeom prst="rect">
            <a:avLst/>
          </a:prstGeom>
        </p:spPr>
        <p:txBody>
          <a:bodyPr wrap="square" lIns="0" tIns="257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2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所以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）＝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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1,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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0}</a:t>
            </a:r>
            <a:endParaRPr sz="3200">
              <a:latin typeface="Times New Roman"/>
              <a:cs typeface="Times New Roman"/>
            </a:endParaRPr>
          </a:p>
          <a:p>
            <a:pPr marL="2171700">
              <a:lnSpc>
                <a:spcPct val="100000"/>
              </a:lnSpc>
              <a:spcBef>
                <a:spcPts val="192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9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132" sz="3150" spc="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25132" sz="3150" spc="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25132" sz="3150" spc="15" b="1">
                <a:solidFill>
                  <a:srgbClr val="FFFFFF"/>
                </a:solidFill>
                <a:latin typeface="宋体"/>
                <a:cs typeface="宋体"/>
              </a:rPr>
              <a:t>＋</a:t>
            </a:r>
            <a:r>
              <a:rPr dirty="0" baseline="25132" sz="3150" spc="1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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1,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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0}</a:t>
            </a:r>
            <a:endParaRPr sz="3200">
              <a:latin typeface="Times New Roman"/>
              <a:cs typeface="Times New Roman"/>
            </a:endParaRPr>
          </a:p>
          <a:p>
            <a:pPr marL="2171700">
              <a:lnSpc>
                <a:spcPct val="100000"/>
              </a:lnSpc>
              <a:spcBef>
                <a:spcPts val="192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3200" spc="-86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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n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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79826" y="1287017"/>
            <a:ext cx="2435860" cy="518159"/>
          </a:xfrm>
          <a:custGeom>
            <a:avLst/>
            <a:gdLst/>
            <a:ahLst/>
            <a:cxnLst/>
            <a:rect l="l" t="t" r="r" b="b"/>
            <a:pathLst>
              <a:path w="2435860" h="518160">
                <a:moveTo>
                  <a:pt x="0" y="518160"/>
                </a:moveTo>
                <a:lnTo>
                  <a:pt x="2435352" y="518160"/>
                </a:lnTo>
                <a:lnTo>
                  <a:pt x="2435352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574285" y="2212085"/>
            <a:ext cx="3264535" cy="617220"/>
          </a:xfrm>
          <a:prstGeom prst="rect">
            <a:avLst/>
          </a:prstGeom>
          <a:ln w="38100">
            <a:solidFill>
              <a:srgbClr val="FFCC00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产生串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5" b="1">
                <a:solidFill>
                  <a:srgbClr val="FFFFFF"/>
                </a:solidFill>
                <a:latin typeface="Symbol"/>
                <a:cs typeface="Symbol"/>
              </a:rPr>
              <a:t>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1)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83352" y="1805177"/>
            <a:ext cx="114300" cy="407034"/>
          </a:xfrm>
          <a:custGeom>
            <a:avLst/>
            <a:gdLst/>
            <a:ahLst/>
            <a:cxnLst/>
            <a:rect l="l" t="t" r="r" b="b"/>
            <a:pathLst>
              <a:path w="114300" h="407035">
                <a:moveTo>
                  <a:pt x="38100" y="292608"/>
                </a:moveTo>
                <a:lnTo>
                  <a:pt x="0" y="292608"/>
                </a:lnTo>
                <a:lnTo>
                  <a:pt x="57150" y="406908"/>
                </a:lnTo>
                <a:lnTo>
                  <a:pt x="104775" y="311658"/>
                </a:lnTo>
                <a:lnTo>
                  <a:pt x="38100" y="311658"/>
                </a:lnTo>
                <a:lnTo>
                  <a:pt x="38100" y="292608"/>
                </a:lnTo>
                <a:close/>
              </a:path>
              <a:path w="114300" h="407035">
                <a:moveTo>
                  <a:pt x="76200" y="0"/>
                </a:moveTo>
                <a:lnTo>
                  <a:pt x="38100" y="0"/>
                </a:lnTo>
                <a:lnTo>
                  <a:pt x="38100" y="311658"/>
                </a:lnTo>
                <a:lnTo>
                  <a:pt x="76200" y="311658"/>
                </a:lnTo>
                <a:lnTo>
                  <a:pt x="76200" y="0"/>
                </a:lnTo>
                <a:close/>
              </a:path>
              <a:path w="114300" h="407035">
                <a:moveTo>
                  <a:pt x="114300" y="292608"/>
                </a:moveTo>
                <a:lnTo>
                  <a:pt x="76200" y="292608"/>
                </a:lnTo>
                <a:lnTo>
                  <a:pt x="76200" y="311658"/>
                </a:lnTo>
                <a:lnTo>
                  <a:pt x="104775" y="311658"/>
                </a:lnTo>
                <a:lnTo>
                  <a:pt x="114300" y="292608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78785" y="1136777"/>
            <a:ext cx="824865" cy="1075690"/>
          </a:xfrm>
          <a:custGeom>
            <a:avLst/>
            <a:gdLst/>
            <a:ahLst/>
            <a:cxnLst/>
            <a:rect l="l" t="t" r="r" b="b"/>
            <a:pathLst>
              <a:path w="824864" h="1075689">
                <a:moveTo>
                  <a:pt x="23749" y="949706"/>
                </a:moveTo>
                <a:lnTo>
                  <a:pt x="0" y="1075309"/>
                </a:lnTo>
                <a:lnTo>
                  <a:pt x="114681" y="1018921"/>
                </a:lnTo>
                <a:lnTo>
                  <a:pt x="104336" y="1011047"/>
                </a:lnTo>
                <a:lnTo>
                  <a:pt x="72770" y="1011047"/>
                </a:lnTo>
                <a:lnTo>
                  <a:pt x="42544" y="987933"/>
                </a:lnTo>
                <a:lnTo>
                  <a:pt x="54069" y="972784"/>
                </a:lnTo>
                <a:lnTo>
                  <a:pt x="23749" y="949706"/>
                </a:lnTo>
                <a:close/>
              </a:path>
              <a:path w="824864" h="1075689">
                <a:moveTo>
                  <a:pt x="54069" y="972784"/>
                </a:moveTo>
                <a:lnTo>
                  <a:pt x="42544" y="987933"/>
                </a:lnTo>
                <a:lnTo>
                  <a:pt x="72770" y="1011047"/>
                </a:lnTo>
                <a:lnTo>
                  <a:pt x="84346" y="995831"/>
                </a:lnTo>
                <a:lnTo>
                  <a:pt x="54069" y="972784"/>
                </a:lnTo>
                <a:close/>
              </a:path>
              <a:path w="824864" h="1075689">
                <a:moveTo>
                  <a:pt x="84346" y="995831"/>
                </a:moveTo>
                <a:lnTo>
                  <a:pt x="72770" y="1011047"/>
                </a:lnTo>
                <a:lnTo>
                  <a:pt x="104336" y="1011047"/>
                </a:lnTo>
                <a:lnTo>
                  <a:pt x="84346" y="995831"/>
                </a:lnTo>
                <a:close/>
              </a:path>
              <a:path w="824864" h="1075689">
                <a:moveTo>
                  <a:pt x="794130" y="0"/>
                </a:moveTo>
                <a:lnTo>
                  <a:pt x="54069" y="972784"/>
                </a:lnTo>
                <a:lnTo>
                  <a:pt x="84346" y="995831"/>
                </a:lnTo>
                <a:lnTo>
                  <a:pt x="824356" y="23113"/>
                </a:lnTo>
                <a:lnTo>
                  <a:pt x="794130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779270" y="2212085"/>
            <a:ext cx="1923414" cy="984885"/>
          </a:xfrm>
          <a:prstGeom prst="rect">
            <a:avLst/>
          </a:prstGeom>
          <a:ln w="38100">
            <a:solidFill>
              <a:srgbClr val="FF99FF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后面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25525" sz="2775" spc="1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baseline="25525" sz="2775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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884682"/>
            <a:ext cx="72148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7074534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8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 {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 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)(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25132" sz="3150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=1,2,3,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r>
              <a:rPr dirty="0" sz="32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	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60017" y="1543050"/>
            <a:ext cx="163258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求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3095370"/>
            <a:ext cx="29076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：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</a:t>
            </a:r>
            <a:r>
              <a:rPr dirty="0" sz="3200" spc="6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4236" y="3581882"/>
            <a:ext cx="3474720" cy="2680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78535" marR="680720" indent="-15240">
              <a:lnSpc>
                <a:spcPct val="125099"/>
              </a:lnSpc>
              <a:spcBef>
                <a:spcPts val="9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aA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 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FFFF00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0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：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00FFFF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(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3200" spc="-55" b="1" i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978535">
              <a:lnSpc>
                <a:spcPct val="100000"/>
              </a:lnSpc>
              <a:spcBef>
                <a:spcPts val="1500"/>
              </a:spcBef>
            </a:pP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00FFFF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)(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|</a:t>
            </a:r>
            <a:r>
              <a:rPr dirty="0" sz="3200" spc="-114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aBb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79214" y="3495294"/>
            <a:ext cx="266700" cy="1329055"/>
          </a:xfrm>
          <a:custGeom>
            <a:avLst/>
            <a:gdLst/>
            <a:ahLst/>
            <a:cxnLst/>
            <a:rect l="l" t="t" r="r" b="b"/>
            <a:pathLst>
              <a:path w="266700" h="1329054">
                <a:moveTo>
                  <a:pt x="0" y="0"/>
                </a:moveTo>
                <a:lnTo>
                  <a:pt x="51911" y="8695"/>
                </a:lnTo>
                <a:lnTo>
                  <a:pt x="94297" y="32416"/>
                </a:lnTo>
                <a:lnTo>
                  <a:pt x="122872" y="67615"/>
                </a:lnTo>
                <a:lnTo>
                  <a:pt x="133350" y="110743"/>
                </a:lnTo>
                <a:lnTo>
                  <a:pt x="133350" y="553719"/>
                </a:lnTo>
                <a:lnTo>
                  <a:pt x="143827" y="596848"/>
                </a:lnTo>
                <a:lnTo>
                  <a:pt x="172402" y="632047"/>
                </a:lnTo>
                <a:lnTo>
                  <a:pt x="214788" y="655768"/>
                </a:lnTo>
                <a:lnTo>
                  <a:pt x="266700" y="664463"/>
                </a:lnTo>
                <a:lnTo>
                  <a:pt x="214788" y="673159"/>
                </a:lnTo>
                <a:lnTo>
                  <a:pt x="172402" y="696880"/>
                </a:lnTo>
                <a:lnTo>
                  <a:pt x="143827" y="732079"/>
                </a:lnTo>
                <a:lnTo>
                  <a:pt x="133350" y="775207"/>
                </a:lnTo>
                <a:lnTo>
                  <a:pt x="133350" y="1218183"/>
                </a:lnTo>
                <a:lnTo>
                  <a:pt x="122872" y="1261312"/>
                </a:lnTo>
                <a:lnTo>
                  <a:pt x="94297" y="1296511"/>
                </a:lnTo>
                <a:lnTo>
                  <a:pt x="51911" y="1320232"/>
                </a:lnTo>
                <a:lnTo>
                  <a:pt x="0" y="1328927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93741" y="3963365"/>
            <a:ext cx="3886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0000"/>
                </a:solidFill>
                <a:latin typeface="Wingdings 2"/>
                <a:cs typeface="Wingdings 2"/>
              </a:rPr>
              <a:t></a:t>
            </a:r>
            <a:endParaRPr sz="3200">
              <a:latin typeface="Wingdings 2"/>
              <a:cs typeface="Wingdings 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54752" y="3947159"/>
            <a:ext cx="2933700" cy="466725"/>
          </a:xfrm>
          <a:prstGeom prst="rect">
            <a:avLst/>
          </a:prstGeom>
          <a:ln w="9525">
            <a:solidFill>
              <a:srgbClr val="FFFF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31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个数可以不相同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22370" y="1404366"/>
            <a:ext cx="836930" cy="0"/>
          </a:xfrm>
          <a:custGeom>
            <a:avLst/>
            <a:gdLst/>
            <a:ahLst/>
            <a:cxnLst/>
            <a:rect l="l" t="t" r="r" b="b"/>
            <a:pathLst>
              <a:path w="836929" h="0">
                <a:moveTo>
                  <a:pt x="0" y="0"/>
                </a:moveTo>
                <a:lnTo>
                  <a:pt x="836676" y="0"/>
                </a:lnTo>
              </a:path>
            </a:pathLst>
          </a:custGeom>
          <a:ln w="28575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58920" y="1404366"/>
            <a:ext cx="85725" cy="414655"/>
          </a:xfrm>
          <a:custGeom>
            <a:avLst/>
            <a:gdLst/>
            <a:ahLst/>
            <a:cxnLst/>
            <a:rect l="l" t="t" r="r" b="b"/>
            <a:pathLst>
              <a:path w="85725" h="414655">
                <a:moveTo>
                  <a:pt x="28575" y="328803"/>
                </a:moveTo>
                <a:lnTo>
                  <a:pt x="0" y="328803"/>
                </a:lnTo>
                <a:lnTo>
                  <a:pt x="42925" y="414528"/>
                </a:lnTo>
                <a:lnTo>
                  <a:pt x="78623" y="343026"/>
                </a:lnTo>
                <a:lnTo>
                  <a:pt x="28575" y="343026"/>
                </a:lnTo>
                <a:lnTo>
                  <a:pt x="28575" y="328803"/>
                </a:lnTo>
                <a:close/>
              </a:path>
              <a:path w="85725" h="414655">
                <a:moveTo>
                  <a:pt x="57150" y="0"/>
                </a:moveTo>
                <a:lnTo>
                  <a:pt x="28575" y="0"/>
                </a:lnTo>
                <a:lnTo>
                  <a:pt x="28575" y="343026"/>
                </a:lnTo>
                <a:lnTo>
                  <a:pt x="57150" y="343026"/>
                </a:lnTo>
                <a:lnTo>
                  <a:pt x="57150" y="0"/>
                </a:lnTo>
                <a:close/>
              </a:path>
              <a:path w="85725" h="414655">
                <a:moveTo>
                  <a:pt x="85725" y="328803"/>
                </a:moveTo>
                <a:lnTo>
                  <a:pt x="57150" y="328803"/>
                </a:lnTo>
                <a:lnTo>
                  <a:pt x="57150" y="343026"/>
                </a:lnTo>
                <a:lnTo>
                  <a:pt x="78623" y="343026"/>
                </a:lnTo>
                <a:lnTo>
                  <a:pt x="85725" y="328803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961638" y="1818894"/>
            <a:ext cx="3519170" cy="974090"/>
          </a:xfrm>
          <a:prstGeom prst="rect">
            <a:avLst/>
          </a:prstGeom>
          <a:ln w="28575">
            <a:solidFill>
              <a:srgbClr val="FF99FF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1440" marR="354330">
              <a:lnSpc>
                <a:spcPct val="100000"/>
              </a:lnSpc>
              <a:spcBef>
                <a:spcPts val="29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一个语法范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畴</a:t>
            </a:r>
            <a:r>
              <a:rPr dirty="0" sz="2800" spc="-7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非终 结符）描述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76211" y="2788157"/>
            <a:ext cx="85725" cy="466725"/>
          </a:xfrm>
          <a:custGeom>
            <a:avLst/>
            <a:gdLst/>
            <a:ahLst/>
            <a:cxnLst/>
            <a:rect l="l" t="t" r="r" b="b"/>
            <a:pathLst>
              <a:path w="85725" h="466725">
                <a:moveTo>
                  <a:pt x="28575" y="380618"/>
                </a:moveTo>
                <a:lnTo>
                  <a:pt x="0" y="380618"/>
                </a:lnTo>
                <a:lnTo>
                  <a:pt x="42926" y="466343"/>
                </a:lnTo>
                <a:lnTo>
                  <a:pt x="78623" y="394842"/>
                </a:lnTo>
                <a:lnTo>
                  <a:pt x="28575" y="394842"/>
                </a:lnTo>
                <a:lnTo>
                  <a:pt x="28575" y="380618"/>
                </a:lnTo>
                <a:close/>
              </a:path>
              <a:path w="85725" h="466725">
                <a:moveTo>
                  <a:pt x="57150" y="0"/>
                </a:moveTo>
                <a:lnTo>
                  <a:pt x="28575" y="0"/>
                </a:lnTo>
                <a:lnTo>
                  <a:pt x="28575" y="394842"/>
                </a:lnTo>
                <a:lnTo>
                  <a:pt x="57150" y="394842"/>
                </a:lnTo>
                <a:lnTo>
                  <a:pt x="57150" y="0"/>
                </a:lnTo>
                <a:close/>
              </a:path>
              <a:path w="85725" h="466725">
                <a:moveTo>
                  <a:pt x="85725" y="380618"/>
                </a:moveTo>
                <a:lnTo>
                  <a:pt x="57150" y="380618"/>
                </a:lnTo>
                <a:lnTo>
                  <a:pt x="57150" y="394842"/>
                </a:lnTo>
                <a:lnTo>
                  <a:pt x="78623" y="394842"/>
                </a:lnTo>
                <a:lnTo>
                  <a:pt x="85725" y="380618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965697" y="3254502"/>
            <a:ext cx="2646045" cy="548640"/>
          </a:xfrm>
          <a:prstGeom prst="rect">
            <a:avLst/>
          </a:prstGeom>
          <a:ln w="28575">
            <a:solidFill>
              <a:srgbClr val="FF99FF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75"/>
              </a:spcBef>
            </a:pPr>
            <a:r>
              <a:rPr dirty="0" sz="2800" spc="-5" b="1" i="1">
                <a:solidFill>
                  <a:srgbClr val="FFFF99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99"/>
                </a:solidFill>
                <a:latin typeface="Wingdings 3"/>
                <a:cs typeface="Wingdings 3"/>
              </a:rPr>
              <a:t>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aBb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|</a:t>
            </a:r>
            <a:r>
              <a:rPr dirty="0" sz="2800" spc="-2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99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)(</a:t>
            </a:r>
            <a:r>
              <a:rPr dirty="0" sz="2800" spc="-5" b="1" i="1">
                <a:solidFill>
                  <a:srgbClr val="FFFF99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21348" y="72644"/>
            <a:ext cx="27082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3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217" y="764793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例：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03145" y="712977"/>
            <a:ext cx="61836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75230" algn="l"/>
                <a:tab pos="6042660" algn="l"/>
              </a:tabLst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设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6(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	</a:t>
            </a:r>
            <a:r>
              <a:rPr dirty="0" sz="3200" spc="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25132" sz="3150" spc="22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15" b="1">
                <a:solidFill>
                  <a:srgbClr val="00FFFF"/>
                </a:solidFill>
                <a:latin typeface="Times New Roman"/>
                <a:cs typeface="Times New Roman"/>
              </a:rPr>
              <a:t>0</a:t>
            </a:r>
            <a:r>
              <a:rPr dirty="0" baseline="25132" sz="3150" spc="22" b="1" i="1">
                <a:solidFill>
                  <a:srgbClr val="00FFFF"/>
                </a:solidFill>
                <a:latin typeface="Times New Roman"/>
                <a:cs typeface="Times New Roman"/>
              </a:rPr>
              <a:t>m </a:t>
            </a:r>
            <a:r>
              <a:rPr dirty="0" sz="3200" spc="10" b="1">
                <a:solidFill>
                  <a:srgbClr val="00FFFF"/>
                </a:solidFill>
                <a:latin typeface="Times New Roman"/>
                <a:cs typeface="Times New Roman"/>
              </a:rPr>
              <a:t>1</a:t>
            </a:r>
            <a:r>
              <a:rPr dirty="0" baseline="25132" sz="3150" spc="15" b="1" i="1">
                <a:solidFill>
                  <a:srgbClr val="00FFFF"/>
                </a:solidFill>
                <a:latin typeface="Times New Roman"/>
                <a:cs typeface="Times New Roman"/>
              </a:rPr>
              <a:t>m</a:t>
            </a:r>
            <a:r>
              <a:rPr dirty="0" sz="3200" spc="1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baseline="25132" sz="3150" spc="15" b="1" i="1">
                <a:solidFill>
                  <a:srgbClr val="FFFFFF"/>
                </a:solidFill>
                <a:latin typeface="Times New Roman"/>
                <a:cs typeface="Times New Roman"/>
              </a:rPr>
              <a:t>n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5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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	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6442" y="1371041"/>
            <a:ext cx="21793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求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）？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0442" y="4771771"/>
            <a:ext cx="3839845" cy="1003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754"/>
              </a:lnSpc>
              <a:spcBef>
                <a:spcPts val="100"/>
              </a:spcBef>
            </a:pPr>
            <a:r>
              <a:rPr dirty="0" sz="3200" spc="-5" b="1" i="1">
                <a:solidFill>
                  <a:srgbClr val="FFFF99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99"/>
                </a:solidFill>
                <a:latin typeface="宋体"/>
                <a:cs typeface="宋体"/>
              </a:rPr>
              <a:t>（</a:t>
            </a:r>
            <a:r>
              <a:rPr dirty="0" sz="3200" spc="-5" b="1" i="1">
                <a:solidFill>
                  <a:srgbClr val="FFFF99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99"/>
                </a:solidFill>
                <a:latin typeface="宋体"/>
                <a:cs typeface="宋体"/>
              </a:rPr>
              <a:t>）：</a:t>
            </a:r>
            <a:r>
              <a:rPr dirty="0" sz="3200" spc="-90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3200" spc="-5" b="1" i="1">
                <a:solidFill>
                  <a:srgbClr val="FFFF99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99"/>
                </a:solidFill>
                <a:latin typeface="Wingdings 3"/>
                <a:cs typeface="Wingdings 3"/>
              </a:rPr>
              <a:t></a:t>
            </a:r>
            <a:r>
              <a:rPr dirty="0" sz="3200" spc="-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1</a:t>
            </a:r>
            <a:r>
              <a:rPr dirty="0" sz="3200" b="1" i="1">
                <a:solidFill>
                  <a:srgbClr val="FFFF99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0 | 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1841500">
              <a:lnSpc>
                <a:spcPts val="3935"/>
              </a:lnSpc>
            </a:pPr>
            <a:r>
              <a:rPr dirty="0" sz="3200" b="1" i="1">
                <a:solidFill>
                  <a:srgbClr val="FFFF99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FFFF99"/>
                </a:solidFill>
                <a:latin typeface="Wingdings 3"/>
                <a:cs typeface="Wingdings 3"/>
              </a:rPr>
              <a:t>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0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1 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|</a:t>
            </a:r>
            <a:r>
              <a:rPr dirty="0" sz="3200" spc="-114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3350" spc="-70" b="1" i="1">
                <a:solidFill>
                  <a:srgbClr val="FFFF99"/>
                </a:solidFill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68646" y="1203197"/>
            <a:ext cx="797560" cy="0"/>
          </a:xfrm>
          <a:custGeom>
            <a:avLst/>
            <a:gdLst/>
            <a:ahLst/>
            <a:cxnLst/>
            <a:rect l="l" t="t" r="r" b="b"/>
            <a:pathLst>
              <a:path w="797560" h="0">
                <a:moveTo>
                  <a:pt x="0" y="0"/>
                </a:moveTo>
                <a:lnTo>
                  <a:pt x="797051" y="0"/>
                </a:lnTo>
              </a:path>
            </a:pathLst>
          </a:custGeom>
          <a:ln w="28575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86908" y="1203197"/>
            <a:ext cx="85725" cy="413384"/>
          </a:xfrm>
          <a:custGeom>
            <a:avLst/>
            <a:gdLst/>
            <a:ahLst/>
            <a:cxnLst/>
            <a:rect l="l" t="t" r="r" b="b"/>
            <a:pathLst>
              <a:path w="85725" h="413384">
                <a:moveTo>
                  <a:pt x="28575" y="327278"/>
                </a:moveTo>
                <a:lnTo>
                  <a:pt x="0" y="327278"/>
                </a:lnTo>
                <a:lnTo>
                  <a:pt x="42925" y="413003"/>
                </a:lnTo>
                <a:lnTo>
                  <a:pt x="78623" y="341502"/>
                </a:lnTo>
                <a:lnTo>
                  <a:pt x="28575" y="341502"/>
                </a:lnTo>
                <a:lnTo>
                  <a:pt x="28575" y="327278"/>
                </a:lnTo>
                <a:close/>
              </a:path>
              <a:path w="85725" h="413384">
                <a:moveTo>
                  <a:pt x="57150" y="0"/>
                </a:moveTo>
                <a:lnTo>
                  <a:pt x="28575" y="0"/>
                </a:lnTo>
                <a:lnTo>
                  <a:pt x="28575" y="341502"/>
                </a:lnTo>
                <a:lnTo>
                  <a:pt x="57150" y="341502"/>
                </a:lnTo>
                <a:lnTo>
                  <a:pt x="57150" y="0"/>
                </a:lnTo>
                <a:close/>
              </a:path>
              <a:path w="85725" h="413384">
                <a:moveTo>
                  <a:pt x="85725" y="327278"/>
                </a:moveTo>
                <a:lnTo>
                  <a:pt x="57150" y="327278"/>
                </a:lnTo>
                <a:lnTo>
                  <a:pt x="57150" y="341502"/>
                </a:lnTo>
                <a:lnTo>
                  <a:pt x="78623" y="341502"/>
                </a:lnTo>
                <a:lnTo>
                  <a:pt x="85725" y="327278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97246" y="1616202"/>
            <a:ext cx="3352800" cy="975360"/>
          </a:xfrm>
          <a:custGeom>
            <a:avLst/>
            <a:gdLst/>
            <a:ahLst/>
            <a:cxnLst/>
            <a:rect l="l" t="t" r="r" b="b"/>
            <a:pathLst>
              <a:path w="3352800" h="975360">
                <a:moveTo>
                  <a:pt x="0" y="975360"/>
                </a:moveTo>
                <a:lnTo>
                  <a:pt x="3352800" y="975360"/>
                </a:lnTo>
                <a:lnTo>
                  <a:pt x="3352800" y="0"/>
                </a:lnTo>
                <a:lnTo>
                  <a:pt x="0" y="0"/>
                </a:lnTo>
                <a:lnTo>
                  <a:pt x="0" y="975360"/>
                </a:lnTo>
                <a:close/>
              </a:path>
            </a:pathLst>
          </a:custGeom>
          <a:ln w="28575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475478" y="1642110"/>
            <a:ext cx="309118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一个语法成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-7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非终 结符）描述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76394" y="762762"/>
            <a:ext cx="436245" cy="440690"/>
          </a:xfrm>
          <a:custGeom>
            <a:avLst/>
            <a:gdLst/>
            <a:ahLst/>
            <a:cxnLst/>
            <a:rect l="l" t="t" r="r" b="b"/>
            <a:pathLst>
              <a:path w="436245" h="440690">
                <a:moveTo>
                  <a:pt x="0" y="220217"/>
                </a:moveTo>
                <a:lnTo>
                  <a:pt x="5753" y="169710"/>
                </a:lnTo>
                <a:lnTo>
                  <a:pt x="22144" y="123352"/>
                </a:lnTo>
                <a:lnTo>
                  <a:pt x="47866" y="82464"/>
                </a:lnTo>
                <a:lnTo>
                  <a:pt x="81611" y="48365"/>
                </a:lnTo>
                <a:lnTo>
                  <a:pt x="122075" y="22375"/>
                </a:lnTo>
                <a:lnTo>
                  <a:pt x="167951" y="5813"/>
                </a:lnTo>
                <a:lnTo>
                  <a:pt x="217931" y="0"/>
                </a:lnTo>
                <a:lnTo>
                  <a:pt x="267912" y="5813"/>
                </a:lnTo>
                <a:lnTo>
                  <a:pt x="313788" y="22375"/>
                </a:lnTo>
                <a:lnTo>
                  <a:pt x="354252" y="48365"/>
                </a:lnTo>
                <a:lnTo>
                  <a:pt x="387997" y="82464"/>
                </a:lnTo>
                <a:lnTo>
                  <a:pt x="413719" y="123352"/>
                </a:lnTo>
                <a:lnTo>
                  <a:pt x="430110" y="169710"/>
                </a:lnTo>
                <a:lnTo>
                  <a:pt x="435863" y="220217"/>
                </a:lnTo>
                <a:lnTo>
                  <a:pt x="430110" y="270725"/>
                </a:lnTo>
                <a:lnTo>
                  <a:pt x="413719" y="317083"/>
                </a:lnTo>
                <a:lnTo>
                  <a:pt x="387997" y="357971"/>
                </a:lnTo>
                <a:lnTo>
                  <a:pt x="354252" y="392070"/>
                </a:lnTo>
                <a:lnTo>
                  <a:pt x="313788" y="418060"/>
                </a:lnTo>
                <a:lnTo>
                  <a:pt x="267912" y="434622"/>
                </a:lnTo>
                <a:lnTo>
                  <a:pt x="217931" y="440436"/>
                </a:lnTo>
                <a:lnTo>
                  <a:pt x="167951" y="434622"/>
                </a:lnTo>
                <a:lnTo>
                  <a:pt x="122075" y="418060"/>
                </a:lnTo>
                <a:lnTo>
                  <a:pt x="81611" y="392070"/>
                </a:lnTo>
                <a:lnTo>
                  <a:pt x="47866" y="357971"/>
                </a:lnTo>
                <a:lnTo>
                  <a:pt x="22144" y="317083"/>
                </a:lnTo>
                <a:lnTo>
                  <a:pt x="5753" y="270725"/>
                </a:lnTo>
                <a:lnTo>
                  <a:pt x="0" y="220217"/>
                </a:lnTo>
                <a:close/>
              </a:path>
            </a:pathLst>
          </a:custGeom>
          <a:ln w="28575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20561" y="762762"/>
            <a:ext cx="436245" cy="440690"/>
          </a:xfrm>
          <a:custGeom>
            <a:avLst/>
            <a:gdLst/>
            <a:ahLst/>
            <a:cxnLst/>
            <a:rect l="l" t="t" r="r" b="b"/>
            <a:pathLst>
              <a:path w="436245" h="440690">
                <a:moveTo>
                  <a:pt x="0" y="220217"/>
                </a:moveTo>
                <a:lnTo>
                  <a:pt x="5753" y="169710"/>
                </a:lnTo>
                <a:lnTo>
                  <a:pt x="22144" y="123352"/>
                </a:lnTo>
                <a:lnTo>
                  <a:pt x="47866" y="82464"/>
                </a:lnTo>
                <a:lnTo>
                  <a:pt x="81611" y="48365"/>
                </a:lnTo>
                <a:lnTo>
                  <a:pt x="122075" y="22375"/>
                </a:lnTo>
                <a:lnTo>
                  <a:pt x="167951" y="5813"/>
                </a:lnTo>
                <a:lnTo>
                  <a:pt x="217932" y="0"/>
                </a:lnTo>
                <a:lnTo>
                  <a:pt x="267912" y="5813"/>
                </a:lnTo>
                <a:lnTo>
                  <a:pt x="313788" y="22375"/>
                </a:lnTo>
                <a:lnTo>
                  <a:pt x="354252" y="48365"/>
                </a:lnTo>
                <a:lnTo>
                  <a:pt x="387997" y="82464"/>
                </a:lnTo>
                <a:lnTo>
                  <a:pt x="413719" y="123352"/>
                </a:lnTo>
                <a:lnTo>
                  <a:pt x="430110" y="169710"/>
                </a:lnTo>
                <a:lnTo>
                  <a:pt x="435863" y="220217"/>
                </a:lnTo>
                <a:lnTo>
                  <a:pt x="430110" y="270725"/>
                </a:lnTo>
                <a:lnTo>
                  <a:pt x="413719" y="317083"/>
                </a:lnTo>
                <a:lnTo>
                  <a:pt x="387997" y="357971"/>
                </a:lnTo>
                <a:lnTo>
                  <a:pt x="354252" y="392070"/>
                </a:lnTo>
                <a:lnTo>
                  <a:pt x="313788" y="418060"/>
                </a:lnTo>
                <a:lnTo>
                  <a:pt x="267912" y="434622"/>
                </a:lnTo>
                <a:lnTo>
                  <a:pt x="217932" y="440436"/>
                </a:lnTo>
                <a:lnTo>
                  <a:pt x="167951" y="434622"/>
                </a:lnTo>
                <a:lnTo>
                  <a:pt x="122075" y="418060"/>
                </a:lnTo>
                <a:lnTo>
                  <a:pt x="81611" y="392070"/>
                </a:lnTo>
                <a:lnTo>
                  <a:pt x="47866" y="357971"/>
                </a:lnTo>
                <a:lnTo>
                  <a:pt x="22144" y="317083"/>
                </a:lnTo>
                <a:lnTo>
                  <a:pt x="5753" y="270725"/>
                </a:lnTo>
                <a:lnTo>
                  <a:pt x="0" y="220217"/>
                </a:lnTo>
                <a:close/>
              </a:path>
            </a:pathLst>
          </a:custGeom>
          <a:ln w="28575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72890" y="1157350"/>
            <a:ext cx="775970" cy="904240"/>
          </a:xfrm>
          <a:custGeom>
            <a:avLst/>
            <a:gdLst/>
            <a:ahLst/>
            <a:cxnLst/>
            <a:rect l="l" t="t" r="r" b="b"/>
            <a:pathLst>
              <a:path w="775970" h="904239">
                <a:moveTo>
                  <a:pt x="23113" y="810895"/>
                </a:moveTo>
                <a:lnTo>
                  <a:pt x="0" y="903859"/>
                </a:lnTo>
                <a:lnTo>
                  <a:pt x="88264" y="866521"/>
                </a:lnTo>
                <a:lnTo>
                  <a:pt x="79340" y="858901"/>
                </a:lnTo>
                <a:lnTo>
                  <a:pt x="57276" y="858901"/>
                </a:lnTo>
                <a:lnTo>
                  <a:pt x="35560" y="840232"/>
                </a:lnTo>
                <a:lnTo>
                  <a:pt x="44809" y="829418"/>
                </a:lnTo>
                <a:lnTo>
                  <a:pt x="23113" y="810895"/>
                </a:lnTo>
                <a:close/>
              </a:path>
              <a:path w="775970" h="904239">
                <a:moveTo>
                  <a:pt x="44809" y="829418"/>
                </a:moveTo>
                <a:lnTo>
                  <a:pt x="35560" y="840232"/>
                </a:lnTo>
                <a:lnTo>
                  <a:pt x="57276" y="858901"/>
                </a:lnTo>
                <a:lnTo>
                  <a:pt x="66588" y="848013"/>
                </a:lnTo>
                <a:lnTo>
                  <a:pt x="44809" y="829418"/>
                </a:lnTo>
                <a:close/>
              </a:path>
              <a:path w="775970" h="904239">
                <a:moveTo>
                  <a:pt x="66588" y="848013"/>
                </a:moveTo>
                <a:lnTo>
                  <a:pt x="57276" y="858901"/>
                </a:lnTo>
                <a:lnTo>
                  <a:pt x="79340" y="858901"/>
                </a:lnTo>
                <a:lnTo>
                  <a:pt x="66588" y="848013"/>
                </a:lnTo>
                <a:close/>
              </a:path>
              <a:path w="775970" h="904239">
                <a:moveTo>
                  <a:pt x="754252" y="0"/>
                </a:moveTo>
                <a:lnTo>
                  <a:pt x="44809" y="829418"/>
                </a:lnTo>
                <a:lnTo>
                  <a:pt x="66588" y="848013"/>
                </a:lnTo>
                <a:lnTo>
                  <a:pt x="775970" y="18541"/>
                </a:lnTo>
                <a:lnTo>
                  <a:pt x="754252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72890" y="1189989"/>
            <a:ext cx="2101215" cy="878840"/>
          </a:xfrm>
          <a:custGeom>
            <a:avLst/>
            <a:gdLst/>
            <a:ahLst/>
            <a:cxnLst/>
            <a:rect l="l" t="t" r="r" b="b"/>
            <a:pathLst>
              <a:path w="2101215" h="878839">
                <a:moveTo>
                  <a:pt x="63119" y="799084"/>
                </a:moveTo>
                <a:lnTo>
                  <a:pt x="0" y="871220"/>
                </a:lnTo>
                <a:lnTo>
                  <a:pt x="95631" y="878459"/>
                </a:lnTo>
                <a:lnTo>
                  <a:pt x="86995" y="857376"/>
                </a:lnTo>
                <a:lnTo>
                  <a:pt x="71500" y="857376"/>
                </a:lnTo>
                <a:lnTo>
                  <a:pt x="60706" y="830961"/>
                </a:lnTo>
                <a:lnTo>
                  <a:pt x="73953" y="825536"/>
                </a:lnTo>
                <a:lnTo>
                  <a:pt x="63119" y="799084"/>
                </a:lnTo>
                <a:close/>
              </a:path>
              <a:path w="2101215" h="878839">
                <a:moveTo>
                  <a:pt x="73953" y="825536"/>
                </a:moveTo>
                <a:lnTo>
                  <a:pt x="60706" y="830961"/>
                </a:lnTo>
                <a:lnTo>
                  <a:pt x="71500" y="857376"/>
                </a:lnTo>
                <a:lnTo>
                  <a:pt x="84770" y="851943"/>
                </a:lnTo>
                <a:lnTo>
                  <a:pt x="73953" y="825536"/>
                </a:lnTo>
                <a:close/>
              </a:path>
              <a:path w="2101215" h="878839">
                <a:moveTo>
                  <a:pt x="84770" y="851943"/>
                </a:moveTo>
                <a:lnTo>
                  <a:pt x="71500" y="857376"/>
                </a:lnTo>
                <a:lnTo>
                  <a:pt x="86995" y="857376"/>
                </a:lnTo>
                <a:lnTo>
                  <a:pt x="84770" y="851943"/>
                </a:lnTo>
                <a:close/>
              </a:path>
              <a:path w="2101215" h="878839">
                <a:moveTo>
                  <a:pt x="2090039" y="0"/>
                </a:moveTo>
                <a:lnTo>
                  <a:pt x="73953" y="825536"/>
                </a:lnTo>
                <a:lnTo>
                  <a:pt x="84770" y="851943"/>
                </a:lnTo>
                <a:lnTo>
                  <a:pt x="2100961" y="26415"/>
                </a:lnTo>
                <a:lnTo>
                  <a:pt x="2090039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815845" y="2084070"/>
            <a:ext cx="3352800" cy="974090"/>
          </a:xfrm>
          <a:prstGeom prst="rect">
            <a:avLst/>
          </a:prstGeom>
          <a:ln w="28575">
            <a:solidFill>
              <a:srgbClr val="FF99FF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0170" marR="188595">
              <a:lnSpc>
                <a:spcPct val="100000"/>
              </a:lnSpc>
              <a:spcBef>
                <a:spcPts val="29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一个语法成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-7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非终 结符）描述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66483" y="2591561"/>
            <a:ext cx="85725" cy="466725"/>
          </a:xfrm>
          <a:custGeom>
            <a:avLst/>
            <a:gdLst/>
            <a:ahLst/>
            <a:cxnLst/>
            <a:rect l="l" t="t" r="r" b="b"/>
            <a:pathLst>
              <a:path w="85725" h="466725">
                <a:moveTo>
                  <a:pt x="28575" y="380618"/>
                </a:moveTo>
                <a:lnTo>
                  <a:pt x="0" y="380618"/>
                </a:lnTo>
                <a:lnTo>
                  <a:pt x="42925" y="466343"/>
                </a:lnTo>
                <a:lnTo>
                  <a:pt x="78623" y="394842"/>
                </a:lnTo>
                <a:lnTo>
                  <a:pt x="28575" y="394842"/>
                </a:lnTo>
                <a:lnTo>
                  <a:pt x="28575" y="380618"/>
                </a:lnTo>
                <a:close/>
              </a:path>
              <a:path w="85725" h="466725">
                <a:moveTo>
                  <a:pt x="57150" y="0"/>
                </a:moveTo>
                <a:lnTo>
                  <a:pt x="28575" y="0"/>
                </a:lnTo>
                <a:lnTo>
                  <a:pt x="28575" y="394842"/>
                </a:lnTo>
                <a:lnTo>
                  <a:pt x="57150" y="394842"/>
                </a:lnTo>
                <a:lnTo>
                  <a:pt x="57150" y="0"/>
                </a:lnTo>
                <a:close/>
              </a:path>
              <a:path w="85725" h="466725">
                <a:moveTo>
                  <a:pt x="85725" y="380618"/>
                </a:moveTo>
                <a:lnTo>
                  <a:pt x="57150" y="380618"/>
                </a:lnTo>
                <a:lnTo>
                  <a:pt x="57150" y="394842"/>
                </a:lnTo>
                <a:lnTo>
                  <a:pt x="78623" y="394842"/>
                </a:lnTo>
                <a:lnTo>
                  <a:pt x="85725" y="380618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965697" y="3057905"/>
            <a:ext cx="2306320" cy="548640"/>
          </a:xfrm>
          <a:prstGeom prst="rect">
            <a:avLst/>
          </a:prstGeom>
          <a:ln w="28575">
            <a:solidFill>
              <a:srgbClr val="FFCC00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25"/>
              </a:spcBef>
            </a:pPr>
            <a:r>
              <a:rPr dirty="0" sz="2800" spc="-5" b="1" i="1">
                <a:solidFill>
                  <a:srgbClr val="FFFF99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99"/>
                </a:solidFill>
                <a:latin typeface="Wingdings 3"/>
                <a:cs typeface="Wingdings 3"/>
              </a:rPr>
              <a:t>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1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|</a:t>
            </a:r>
            <a:r>
              <a:rPr dirty="0" sz="2800" spc="-3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950" spc="-70" b="1" i="1">
                <a:solidFill>
                  <a:srgbClr val="FFFF99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07232" y="3051810"/>
            <a:ext cx="85725" cy="466725"/>
          </a:xfrm>
          <a:custGeom>
            <a:avLst/>
            <a:gdLst/>
            <a:ahLst/>
            <a:cxnLst/>
            <a:rect l="l" t="t" r="r" b="b"/>
            <a:pathLst>
              <a:path w="85725" h="466725">
                <a:moveTo>
                  <a:pt x="28575" y="380618"/>
                </a:moveTo>
                <a:lnTo>
                  <a:pt x="0" y="380618"/>
                </a:lnTo>
                <a:lnTo>
                  <a:pt x="42925" y="466343"/>
                </a:lnTo>
                <a:lnTo>
                  <a:pt x="78623" y="394842"/>
                </a:lnTo>
                <a:lnTo>
                  <a:pt x="28575" y="394842"/>
                </a:lnTo>
                <a:lnTo>
                  <a:pt x="28575" y="380618"/>
                </a:lnTo>
                <a:close/>
              </a:path>
              <a:path w="85725" h="466725">
                <a:moveTo>
                  <a:pt x="57150" y="0"/>
                </a:moveTo>
                <a:lnTo>
                  <a:pt x="28575" y="0"/>
                </a:lnTo>
                <a:lnTo>
                  <a:pt x="28575" y="394842"/>
                </a:lnTo>
                <a:lnTo>
                  <a:pt x="57150" y="394842"/>
                </a:lnTo>
                <a:lnTo>
                  <a:pt x="57150" y="0"/>
                </a:lnTo>
                <a:close/>
              </a:path>
              <a:path w="85725" h="466725">
                <a:moveTo>
                  <a:pt x="85725" y="380618"/>
                </a:moveTo>
                <a:lnTo>
                  <a:pt x="57150" y="380618"/>
                </a:lnTo>
                <a:lnTo>
                  <a:pt x="57150" y="394842"/>
                </a:lnTo>
                <a:lnTo>
                  <a:pt x="78623" y="394842"/>
                </a:lnTo>
                <a:lnTo>
                  <a:pt x="85725" y="380618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806445" y="3518153"/>
            <a:ext cx="2306320" cy="548640"/>
          </a:xfrm>
          <a:prstGeom prst="rect">
            <a:avLst/>
          </a:prstGeom>
          <a:ln w="28575">
            <a:solidFill>
              <a:srgbClr val="FFCC00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75"/>
              </a:spcBef>
            </a:pPr>
            <a:r>
              <a:rPr dirty="0" sz="2800" spc="-5" b="1" i="1">
                <a:solidFill>
                  <a:srgbClr val="FFFF99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99"/>
                </a:solidFill>
                <a:latin typeface="Wingdings 3"/>
                <a:cs typeface="Wingdings 3"/>
              </a:rPr>
              <a:t>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99"/>
                </a:solidFill>
                <a:latin typeface="Times New Roman"/>
                <a:cs typeface="Times New Roman"/>
              </a:rPr>
              <a:t>1</a:t>
            </a:r>
            <a:r>
              <a:rPr dirty="0" sz="2800" b="1" i="1">
                <a:solidFill>
                  <a:srgbClr val="00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0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|</a:t>
            </a:r>
            <a:r>
              <a:rPr dirty="0" sz="2800" spc="-3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99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221348" y="72644"/>
            <a:ext cx="27082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2.1.2</a:t>
            </a:r>
            <a:r>
              <a:rPr dirty="0" sz="2000" spc="-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和</a:t>
            </a:r>
            <a:r>
              <a:rPr dirty="0" sz="2000" spc="-535" b="1">
                <a:solidFill>
                  <a:srgbClr val="A151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语言的定义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030855" marR="5080" indent="-2907030">
              <a:lnSpc>
                <a:spcPct val="100000"/>
              </a:lnSpc>
              <a:spcBef>
                <a:spcPts val="105"/>
              </a:spcBef>
              <a:tabLst>
                <a:tab pos="2058670" algn="l"/>
              </a:tabLst>
            </a:pPr>
            <a:r>
              <a:rPr dirty="0" spc="-10"/>
              <a:t>第</a:t>
            </a:r>
            <a:r>
              <a:rPr dirty="0" spc="-960"/>
              <a:t> 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 spc="-10"/>
              <a:t>章</a:t>
            </a:r>
            <a:r>
              <a:rPr dirty="0"/>
              <a:t>	</a:t>
            </a:r>
            <a:r>
              <a:rPr dirty="0" spc="5"/>
              <a:t>形式</a:t>
            </a:r>
            <a:r>
              <a:rPr dirty="0" spc="-5"/>
              <a:t>语言</a:t>
            </a:r>
            <a:r>
              <a:rPr dirty="0" spc="-10"/>
              <a:t>与</a:t>
            </a:r>
            <a:r>
              <a:rPr dirty="0" spc="-5"/>
              <a:t>自动</a:t>
            </a:r>
            <a:r>
              <a:rPr dirty="0" spc="-10"/>
              <a:t>机基 </a:t>
            </a:r>
            <a:r>
              <a:rPr dirty="0" spc="-15"/>
              <a:t>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6966" y="1944624"/>
            <a:ext cx="5760720" cy="4142104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lvl="1" marL="1044575" indent="-1032510">
              <a:lnSpc>
                <a:spcPct val="100000"/>
              </a:lnSpc>
              <a:spcBef>
                <a:spcPts val="1180"/>
              </a:spcBef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文法和语言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5"/>
              </a:spcBef>
              <a:buClr>
                <a:srgbClr val="FFFFFF"/>
              </a:buClr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语言的语法和语义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Clr>
                <a:srgbClr val="FFFFFF"/>
              </a:buClr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文法和语言的定义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文法的表示方法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语法树与二义性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5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文法和语言的类型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8744" y="4287011"/>
            <a:ext cx="1229995" cy="513715"/>
          </a:xfrm>
          <a:custGeom>
            <a:avLst/>
            <a:gdLst/>
            <a:ahLst/>
            <a:cxnLst/>
            <a:rect l="l" t="t" r="r" b="b"/>
            <a:pathLst>
              <a:path w="1229995" h="513714">
                <a:moveTo>
                  <a:pt x="923163" y="0"/>
                </a:moveTo>
                <a:lnTo>
                  <a:pt x="923163" y="128396"/>
                </a:lnTo>
                <a:lnTo>
                  <a:pt x="0" y="128396"/>
                </a:lnTo>
                <a:lnTo>
                  <a:pt x="0" y="385190"/>
                </a:lnTo>
                <a:lnTo>
                  <a:pt x="923163" y="385190"/>
                </a:lnTo>
                <a:lnTo>
                  <a:pt x="923163" y="513588"/>
                </a:lnTo>
                <a:lnTo>
                  <a:pt x="1229868" y="256794"/>
                </a:lnTo>
                <a:lnTo>
                  <a:pt x="923163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8744" y="4287011"/>
            <a:ext cx="1229995" cy="513715"/>
          </a:xfrm>
          <a:custGeom>
            <a:avLst/>
            <a:gdLst/>
            <a:ahLst/>
            <a:cxnLst/>
            <a:rect l="l" t="t" r="r" b="b"/>
            <a:pathLst>
              <a:path w="1229995" h="513714">
                <a:moveTo>
                  <a:pt x="0" y="128396"/>
                </a:moveTo>
                <a:lnTo>
                  <a:pt x="923163" y="128396"/>
                </a:lnTo>
                <a:lnTo>
                  <a:pt x="923163" y="0"/>
                </a:lnTo>
                <a:lnTo>
                  <a:pt x="1229868" y="256794"/>
                </a:lnTo>
                <a:lnTo>
                  <a:pt x="923163" y="513588"/>
                </a:lnTo>
                <a:lnTo>
                  <a:pt x="923163" y="385190"/>
                </a:lnTo>
                <a:lnTo>
                  <a:pt x="0" y="385190"/>
                </a:lnTo>
                <a:lnTo>
                  <a:pt x="0" y="128396"/>
                </a:lnTo>
                <a:close/>
              </a:path>
            </a:pathLst>
          </a:custGeom>
          <a:ln w="9525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1848" y="72644"/>
            <a:ext cx="20059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2470" algn="l"/>
              </a:tabLst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文法的表示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29742" y="618718"/>
            <a:ext cx="7945120" cy="5750560"/>
          </a:xfrm>
          <a:prstGeom prst="rect">
            <a:avLst/>
          </a:prstGeom>
        </p:spPr>
        <p:txBody>
          <a:bodyPr wrap="square" lIns="0" tIns="256540" rIns="0" bIns="0" rtlCol="0" vert="horz">
            <a:spAutoFit/>
          </a:bodyPr>
          <a:lstStyle/>
          <a:p>
            <a:pPr marL="755015" indent="-661035">
              <a:lnSpc>
                <a:spcPct val="100000"/>
              </a:lnSpc>
              <a:spcBef>
                <a:spcPts val="2020"/>
              </a:spcBef>
              <a:buAutoNum type="arabicPeriod"/>
              <a:tabLst>
                <a:tab pos="755015" algn="l"/>
                <a:tab pos="75565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BNF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表示法</a:t>
            </a:r>
            <a:endParaRPr sz="3200">
              <a:latin typeface="宋体"/>
              <a:cs typeface="宋体"/>
            </a:endParaRPr>
          </a:p>
          <a:p>
            <a:pPr marL="806450">
              <a:lnSpc>
                <a:spcPct val="100000"/>
              </a:lnSpc>
              <a:spcBef>
                <a:spcPts val="1925"/>
              </a:spcBef>
              <a:tabLst>
                <a:tab pos="511683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元语言符号集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8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{</a:t>
            </a:r>
            <a:r>
              <a:rPr dirty="0" sz="3200" spc="5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B0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,</a:t>
            </a:r>
            <a:r>
              <a:rPr dirty="0" sz="3200" spc="5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&lt;	&gt;, |</a:t>
            </a:r>
            <a:r>
              <a:rPr dirty="0" sz="3200" spc="-1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900">
              <a:latin typeface="Times New Roman"/>
              <a:cs typeface="Times New Roman"/>
            </a:endParaRPr>
          </a:p>
          <a:p>
            <a:pPr marL="546735" indent="-509270">
              <a:lnSpc>
                <a:spcPts val="3715"/>
              </a:lnSpc>
              <a:buFont typeface="Times New Roman"/>
              <a:buAutoNum type="arabicPeriod" startAt="2"/>
              <a:tabLst>
                <a:tab pos="546735" algn="l"/>
                <a:tab pos="54737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扩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充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BNF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表示</a:t>
            </a:r>
            <a:r>
              <a:rPr dirty="0" sz="3200" spc="76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EBNF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algn="ctr" marL="846455">
              <a:lnSpc>
                <a:spcPts val="2285"/>
              </a:lnSpc>
            </a:pPr>
            <a:r>
              <a:rPr dirty="0" sz="2400" b="1" i="1">
                <a:solidFill>
                  <a:srgbClr val="FF99FF"/>
                </a:solidFill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  <a:p>
            <a:pPr lvl="1" marL="1299845" indent="-652780">
              <a:lnSpc>
                <a:spcPts val="2890"/>
              </a:lnSpc>
              <a:buFont typeface="Times New Roman"/>
              <a:buAutoNum type="arabicParenR"/>
              <a:tabLst>
                <a:tab pos="1299845" algn="l"/>
                <a:tab pos="1300480" algn="l"/>
              </a:tabLst>
            </a:pPr>
            <a:r>
              <a:rPr dirty="0" sz="2800" spc="-5" b="1">
                <a:solidFill>
                  <a:srgbClr val="99FF66"/>
                </a:solidFill>
                <a:latin typeface="宋体"/>
                <a:cs typeface="宋体"/>
              </a:rPr>
              <a:t>引入花括</a:t>
            </a:r>
            <a:r>
              <a:rPr dirty="0" sz="2800" spc="-15" b="1">
                <a:solidFill>
                  <a:srgbClr val="99FF66"/>
                </a:solidFill>
                <a:latin typeface="宋体"/>
                <a:cs typeface="宋体"/>
              </a:rPr>
              <a:t>号</a:t>
            </a:r>
            <a:r>
              <a:rPr dirty="0" sz="2800" spc="-685" b="1">
                <a:solidFill>
                  <a:srgbClr val="99FF66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99FF66"/>
                </a:solidFill>
                <a:latin typeface="宋体"/>
                <a:cs typeface="宋体"/>
              </a:rPr>
              <a:t>─</a:t>
            </a:r>
            <a:r>
              <a:rPr dirty="0" sz="2800" spc="10" b="1">
                <a:solidFill>
                  <a:srgbClr val="99FF66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99FF66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 i="1">
                <a:solidFill>
                  <a:srgbClr val="99FF66"/>
                </a:solidFill>
                <a:latin typeface="Times New Roman"/>
                <a:cs typeface="Times New Roman"/>
              </a:rPr>
              <a:t>t </a:t>
            </a:r>
            <a:r>
              <a:rPr dirty="0" sz="2800" spc="-5" b="1">
                <a:solidFill>
                  <a:srgbClr val="99FF66"/>
                </a:solidFill>
                <a:latin typeface="Times New Roman"/>
                <a:cs typeface="Times New Roman"/>
              </a:rPr>
              <a:t>}</a:t>
            </a:r>
            <a:r>
              <a:rPr dirty="0" sz="2800" spc="-370" b="1">
                <a:solidFill>
                  <a:srgbClr val="99FF66"/>
                </a:solidFill>
                <a:latin typeface="Times New Roman"/>
                <a:cs typeface="Times New Roman"/>
              </a:rPr>
              <a:t> </a:t>
            </a:r>
            <a:r>
              <a:rPr dirty="0" baseline="-35879" sz="3600" spc="-7" b="1" i="1">
                <a:solidFill>
                  <a:srgbClr val="FF99FF"/>
                </a:solidFill>
                <a:latin typeface="Times New Roman"/>
                <a:cs typeface="Times New Roman"/>
              </a:rPr>
              <a:t>n</a:t>
            </a:r>
            <a:endParaRPr baseline="-35879" sz="3600">
              <a:latin typeface="Times New Roman"/>
              <a:cs typeface="Times New Roman"/>
            </a:endParaRPr>
          </a:p>
          <a:p>
            <a:pPr algn="just" marL="292100" marR="17780" indent="659765">
              <a:lnSpc>
                <a:spcPct val="15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表示字符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800" spc="-2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的多次或任意次出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，其中下角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spc="-2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表示串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重复的最小次数，上角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字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符 串</a:t>
            </a:r>
            <a:r>
              <a:rPr dirty="0" sz="2800" spc="-7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重复的最大次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913765">
              <a:lnSpc>
                <a:spcPct val="100000"/>
              </a:lnSpc>
              <a:spcBef>
                <a:spcPts val="168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省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略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表示可重复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到任意多次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1848" y="72644"/>
            <a:ext cx="20059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2470" algn="l"/>
              </a:tabLst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文法的表示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14248" y="776938"/>
            <a:ext cx="7766050" cy="2219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7830" marR="5080" indent="-405765">
              <a:lnSpc>
                <a:spcPct val="150000"/>
              </a:lnSpc>
              <a:spcBef>
                <a:spcPts val="95"/>
              </a:spcBef>
              <a:tabLst>
                <a:tab pos="167195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12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FO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TRA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语言中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识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符的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3200" spc="15" b="1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标识符是长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度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≤8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字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母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头后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跟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字</a:t>
            </a:r>
            <a:endParaRPr sz="3200">
              <a:latin typeface="宋体"/>
              <a:cs typeface="宋体"/>
            </a:endParaRPr>
          </a:p>
          <a:p>
            <a:pPr marL="41783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母或数字的字符串，则有：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85648" y="3949446"/>
            <a:ext cx="75431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&lt;FORTRAN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标识符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3200" spc="-1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字母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&gt;{&lt;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字母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&gt;|&lt;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数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字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84591" y="3894785"/>
            <a:ext cx="187960" cy="773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081136" y="6615287"/>
            <a:ext cx="447040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1400" spc="-1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400" spc="5" b="1">
                <a:solidFill>
                  <a:srgbClr val="FFFFFF"/>
                </a:solidFill>
                <a:latin typeface="Times New Roman"/>
                <a:cs typeface="Times New Roman"/>
              </a:rPr>
              <a:t>60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1836" y="6583171"/>
            <a:ext cx="2038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111745" y="72644"/>
            <a:ext cx="13055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文法的表示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54939" y="72644"/>
            <a:ext cx="6793865" cy="1475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2693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.3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Times New Roman"/>
              <a:cs typeface="Times New Roman"/>
            </a:endParaRPr>
          </a:p>
          <a:p>
            <a:pPr marL="629285">
              <a:lnSpc>
                <a:spcPct val="100000"/>
              </a:lnSpc>
              <a:tabLst>
                <a:tab pos="1271905" algn="l"/>
                <a:tab pos="423227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2)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引入圆括</a:t>
            </a:r>
            <a:r>
              <a:rPr dirty="0" sz="3200" spc="785" b="1">
                <a:solidFill>
                  <a:srgbClr val="FFFF00"/>
                </a:solidFill>
                <a:latin typeface="宋体"/>
                <a:cs typeface="宋体"/>
              </a:rPr>
              <a:t>号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─	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“(”</a:t>
            </a:r>
            <a:r>
              <a:rPr dirty="0" sz="3200" spc="-4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“)”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5883" y="5445252"/>
            <a:ext cx="8034655" cy="1310640"/>
          </a:xfrm>
          <a:custGeom>
            <a:avLst/>
            <a:gdLst/>
            <a:ahLst/>
            <a:cxnLst/>
            <a:rect l="l" t="t" r="r" b="b"/>
            <a:pathLst>
              <a:path w="8034655" h="1310640">
                <a:moveTo>
                  <a:pt x="0" y="1310640"/>
                </a:moveTo>
                <a:lnTo>
                  <a:pt x="8034528" y="1310640"/>
                </a:lnTo>
                <a:lnTo>
                  <a:pt x="8034528" y="0"/>
                </a:lnTo>
                <a:lnTo>
                  <a:pt x="0" y="0"/>
                </a:lnTo>
                <a:lnTo>
                  <a:pt x="0" y="131064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74319" y="1522374"/>
            <a:ext cx="7567930" cy="5193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4485" marR="5080" indent="454025">
              <a:lnSpc>
                <a:spcPct val="1501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提取产生式中的公共因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子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简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化产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式的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表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17170">
              <a:lnSpc>
                <a:spcPct val="100000"/>
              </a:lnSpc>
              <a:spcBef>
                <a:spcPts val="950"/>
              </a:spcBef>
              <a:tabLst>
                <a:tab pos="177609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2.13: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有文法规则</a:t>
            </a:r>
            <a:endParaRPr sz="3200">
              <a:latin typeface="宋体"/>
              <a:cs typeface="宋体"/>
            </a:endParaRPr>
          </a:p>
          <a:p>
            <a:pPr marL="1386205">
              <a:lnSpc>
                <a:spcPct val="100000"/>
              </a:lnSpc>
              <a:spcBef>
                <a:spcPts val="950"/>
              </a:spcBef>
              <a:tabLst>
                <a:tab pos="3783329" algn="l"/>
              </a:tabLst>
            </a:pP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U </a:t>
            </a:r>
            <a:r>
              <a:rPr dirty="0" sz="3200" b="1">
                <a:solidFill>
                  <a:srgbClr val="B0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xa 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|</a:t>
            </a:r>
            <a:r>
              <a:rPr dirty="0" sz="3200" spc="-2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xb</a:t>
            </a:r>
            <a:r>
              <a:rPr dirty="0" sz="3200" spc="-15" b="1" i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|	</a:t>
            </a:r>
            <a:r>
              <a:rPr dirty="0" sz="3200" spc="5" b="1">
                <a:solidFill>
                  <a:srgbClr val="B0FFFF"/>
                </a:solidFill>
                <a:latin typeface="Times New Roman"/>
                <a:cs typeface="Times New Roman"/>
              </a:rPr>
              <a:t>… </a:t>
            </a:r>
            <a:r>
              <a:rPr dirty="0" sz="3200" b="1">
                <a:solidFill>
                  <a:srgbClr val="B0FFFF"/>
                </a:solidFill>
                <a:latin typeface="Times New Roman"/>
                <a:cs typeface="Times New Roman"/>
              </a:rPr>
              <a:t>|</a:t>
            </a:r>
            <a:r>
              <a:rPr dirty="0" sz="3200" spc="-30" b="1">
                <a:solidFill>
                  <a:srgbClr val="B0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B0FFFF"/>
                </a:solidFill>
                <a:latin typeface="Times New Roman"/>
                <a:cs typeface="Times New Roman"/>
              </a:rPr>
              <a:t>xz</a:t>
            </a:r>
            <a:endParaRPr sz="3200">
              <a:latin typeface="Times New Roman"/>
              <a:cs typeface="Times New Roman"/>
            </a:endParaRPr>
          </a:p>
          <a:p>
            <a:pPr marL="267335">
              <a:lnSpc>
                <a:spcPct val="100000"/>
              </a:lnSpc>
              <a:spcBef>
                <a:spcPts val="97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引入圆括号提取公共字符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后有：</a:t>
            </a:r>
            <a:endParaRPr sz="3200">
              <a:latin typeface="宋体"/>
              <a:cs typeface="宋体"/>
            </a:endParaRPr>
          </a:p>
          <a:p>
            <a:pPr marL="1486535">
              <a:lnSpc>
                <a:spcPct val="100000"/>
              </a:lnSpc>
              <a:spcBef>
                <a:spcPts val="960"/>
              </a:spcBef>
            </a:pPr>
            <a:r>
              <a:rPr dirty="0" sz="3200" b="1" i="1">
                <a:solidFill>
                  <a:srgbClr val="FFCCCC"/>
                </a:solidFill>
                <a:latin typeface="Times New Roman"/>
                <a:cs typeface="Times New Roman"/>
              </a:rPr>
              <a:t>U </a:t>
            </a:r>
            <a:r>
              <a:rPr dirty="0" sz="3200" b="1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CCCC"/>
                </a:solidFill>
                <a:latin typeface="Times New Roman"/>
                <a:cs typeface="Times New Roman"/>
              </a:rPr>
              <a:t>x</a:t>
            </a: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（</a:t>
            </a:r>
            <a:r>
              <a:rPr dirty="0" sz="3200" b="1" i="1">
                <a:solidFill>
                  <a:srgbClr val="FFCCCC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CCCC"/>
                </a:solidFill>
                <a:latin typeface="Times New Roman"/>
                <a:cs typeface="Times New Roman"/>
              </a:rPr>
              <a:t>b 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| </a:t>
            </a:r>
            <a:r>
              <a:rPr dirty="0" sz="3200" spc="5" b="1">
                <a:solidFill>
                  <a:srgbClr val="FFCCCC"/>
                </a:solidFill>
                <a:latin typeface="Times New Roman"/>
                <a:cs typeface="Times New Roman"/>
              </a:rPr>
              <a:t>… </a:t>
            </a:r>
            <a:r>
              <a:rPr dirty="0" sz="3200" b="1">
                <a:solidFill>
                  <a:srgbClr val="FFCCCC"/>
                </a:solidFill>
                <a:latin typeface="Times New Roman"/>
                <a:cs typeface="Times New Roman"/>
              </a:rPr>
              <a:t>|</a:t>
            </a:r>
            <a:r>
              <a:rPr dirty="0" sz="3200" spc="-90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CCCC"/>
                </a:solidFill>
                <a:latin typeface="Times New Roman"/>
                <a:cs typeface="Times New Roman"/>
              </a:rPr>
              <a:t>z</a:t>
            </a:r>
            <a:r>
              <a:rPr dirty="0" sz="3200" spc="-5" b="1">
                <a:solidFill>
                  <a:srgbClr val="FFCCCC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dirty="0" sz="3200">
                <a:solidFill>
                  <a:srgbClr val="FF5858"/>
                </a:solidFill>
                <a:latin typeface="Wingdings"/>
                <a:cs typeface="Wingdings"/>
              </a:rPr>
              <a:t></a:t>
            </a:r>
            <a:r>
              <a:rPr dirty="0" sz="3200">
                <a:solidFill>
                  <a:srgbClr val="FF5858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CC00"/>
                </a:solidFill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与终结符的（）区分开。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11848" y="72644"/>
            <a:ext cx="20059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2470" algn="l"/>
              </a:tabLst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文法的表示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12140" y="740409"/>
            <a:ext cx="401002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54990" algn="l"/>
              </a:tabLst>
            </a:pPr>
            <a:r>
              <a:rPr dirty="0" sz="3200">
                <a:latin typeface="Times New Roman"/>
                <a:cs typeface="Times New Roman"/>
              </a:rPr>
              <a:t>3)	</a:t>
            </a:r>
            <a:r>
              <a:rPr dirty="0" sz="3200">
                <a:latin typeface="宋体"/>
                <a:cs typeface="宋体"/>
              </a:rPr>
              <a:t>引入方括号──</a:t>
            </a:r>
            <a:r>
              <a:rPr dirty="0" sz="3200">
                <a:solidFill>
                  <a:srgbClr val="FFDDDD"/>
                </a:solidFill>
                <a:latin typeface="Times New Roman"/>
                <a:cs typeface="Times New Roman"/>
              </a:rPr>
              <a:t>[</a:t>
            </a:r>
            <a:r>
              <a:rPr dirty="0" sz="3200" spc="-85">
                <a:solidFill>
                  <a:srgbClr val="FFDDDD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t</a:t>
            </a:r>
            <a:r>
              <a:rPr dirty="0" sz="3200" spc="-40" i="1"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DDDD"/>
                </a:solidFill>
                <a:latin typeface="Times New Roman"/>
                <a:cs typeface="Times New Roman"/>
              </a:rPr>
              <a:t>]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9740" y="1399997"/>
            <a:ext cx="8335645" cy="4881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605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表示字符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800" spc="-6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可有可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无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tabLst>
                <a:tab pos="187769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2.14:	</a:t>
            </a:r>
            <a:r>
              <a:rPr dirty="0" sz="3200" b="1">
                <a:solidFill>
                  <a:srgbClr val="EAEAEA"/>
                </a:solidFill>
                <a:latin typeface="宋体"/>
                <a:cs typeface="宋体"/>
              </a:rPr>
              <a:t>设有条件语句的文法</a:t>
            </a:r>
            <a:endParaRPr sz="3200">
              <a:latin typeface="宋体"/>
              <a:cs typeface="宋体"/>
            </a:endParaRPr>
          </a:p>
          <a:p>
            <a:pPr marL="546100">
              <a:lnSpc>
                <a:spcPct val="100000"/>
              </a:lnSpc>
              <a:spcBef>
                <a:spcPts val="1685"/>
              </a:spcBef>
            </a:pPr>
            <a:r>
              <a:rPr dirty="0" sz="2800" spc="-5" b="1">
                <a:solidFill>
                  <a:srgbClr val="CC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CCFFFF"/>
                </a:solidFill>
                <a:latin typeface="宋体"/>
                <a:cs typeface="宋体"/>
              </a:rPr>
              <a:t>条件语句</a:t>
            </a:r>
            <a:r>
              <a:rPr dirty="0" sz="2800" spc="-5" b="1">
                <a:solidFill>
                  <a:srgbClr val="CC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10" b="1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CCFFFF"/>
                </a:solidFill>
                <a:latin typeface="Symbol"/>
                <a:cs typeface="Symbol"/>
              </a:rPr>
              <a:t></a:t>
            </a:r>
            <a:r>
              <a:rPr dirty="0" sz="2800" spc="-25" b="1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CC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CCFFFF"/>
                </a:solidFill>
                <a:latin typeface="宋体"/>
                <a:cs typeface="宋体"/>
              </a:rPr>
              <a:t>如果子句</a:t>
            </a:r>
            <a:r>
              <a:rPr dirty="0" sz="2800" spc="-15" b="1">
                <a:solidFill>
                  <a:srgbClr val="CCFFFF"/>
                </a:solidFill>
                <a:latin typeface="Times New Roman"/>
                <a:cs typeface="Times New Roman"/>
              </a:rPr>
              <a:t>&gt;|&lt;</a:t>
            </a:r>
            <a:r>
              <a:rPr dirty="0" sz="2800" spc="-10" b="1">
                <a:solidFill>
                  <a:srgbClr val="CCFFFF"/>
                </a:solidFill>
                <a:latin typeface="宋体"/>
                <a:cs typeface="宋体"/>
              </a:rPr>
              <a:t>如</a:t>
            </a:r>
            <a:r>
              <a:rPr dirty="0" sz="2800" spc="5" b="1">
                <a:solidFill>
                  <a:srgbClr val="CCFFFF"/>
                </a:solidFill>
                <a:latin typeface="宋体"/>
                <a:cs typeface="宋体"/>
              </a:rPr>
              <a:t>果</a:t>
            </a:r>
            <a:r>
              <a:rPr dirty="0" sz="2800" spc="-10" b="1">
                <a:solidFill>
                  <a:srgbClr val="CCFFFF"/>
                </a:solidFill>
                <a:latin typeface="宋体"/>
                <a:cs typeface="宋体"/>
              </a:rPr>
              <a:t>子</a:t>
            </a:r>
            <a:r>
              <a:rPr dirty="0" sz="2800" spc="5" b="1">
                <a:solidFill>
                  <a:srgbClr val="CCFFFF"/>
                </a:solidFill>
                <a:latin typeface="宋体"/>
                <a:cs typeface="宋体"/>
              </a:rPr>
              <a:t>句</a:t>
            </a:r>
            <a:r>
              <a:rPr dirty="0" sz="2800" spc="-5" b="1">
                <a:solidFill>
                  <a:srgbClr val="CC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else</a:t>
            </a:r>
            <a:r>
              <a:rPr dirty="0" sz="2800" spc="-5" b="1">
                <a:solidFill>
                  <a:srgbClr val="CC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CCFFFF"/>
                </a:solidFill>
                <a:latin typeface="宋体"/>
                <a:cs typeface="宋体"/>
              </a:rPr>
              <a:t>语句</a:t>
            </a:r>
            <a:r>
              <a:rPr dirty="0" sz="2800" spc="-5" b="1">
                <a:solidFill>
                  <a:srgbClr val="CC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634365">
              <a:lnSpc>
                <a:spcPct val="100000"/>
              </a:lnSpc>
              <a:spcBef>
                <a:spcPts val="1680"/>
              </a:spcBef>
              <a:tabLst>
                <a:tab pos="5586730" algn="l"/>
              </a:tabLst>
            </a:pPr>
            <a:r>
              <a:rPr dirty="0" sz="2800" spc="-5" b="1">
                <a:solidFill>
                  <a:srgbClr val="CC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CCFFFF"/>
                </a:solidFill>
                <a:latin typeface="宋体"/>
                <a:cs typeface="宋体"/>
              </a:rPr>
              <a:t>如果子句</a:t>
            </a:r>
            <a:r>
              <a:rPr dirty="0" sz="2800" spc="-5" b="1">
                <a:solidFill>
                  <a:srgbClr val="CC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35" b="1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CCFFFF"/>
                </a:solidFill>
                <a:latin typeface="Symbol"/>
                <a:cs typeface="Symbol"/>
              </a:rPr>
              <a:t></a:t>
            </a:r>
            <a:r>
              <a:rPr dirty="0" sz="2800" b="1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if</a:t>
            </a:r>
            <a:r>
              <a:rPr dirty="0" sz="2800" b="1">
                <a:solidFill>
                  <a:srgbClr val="CC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CCFFFF"/>
                </a:solidFill>
                <a:latin typeface="宋体"/>
                <a:cs typeface="宋体"/>
              </a:rPr>
              <a:t>布尔表达式</a:t>
            </a:r>
            <a:r>
              <a:rPr dirty="0" sz="2800" spc="-5" b="1">
                <a:solidFill>
                  <a:srgbClr val="CCFFFF"/>
                </a:solidFill>
                <a:latin typeface="Times New Roman"/>
                <a:cs typeface="Times New Roman"/>
              </a:rPr>
              <a:t>&gt;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then</a:t>
            </a:r>
            <a:r>
              <a:rPr dirty="0" sz="2800" spc="-5" b="1">
                <a:solidFill>
                  <a:srgbClr val="CC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CCFFFF"/>
                </a:solidFill>
                <a:latin typeface="宋体"/>
                <a:cs typeface="宋体"/>
              </a:rPr>
              <a:t>语句</a:t>
            </a:r>
            <a:r>
              <a:rPr dirty="0" sz="2800" spc="-5" b="1">
                <a:solidFill>
                  <a:srgbClr val="CC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引入方括号后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可简化为：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000">
              <a:latin typeface="宋体"/>
              <a:cs typeface="宋体"/>
            </a:endParaRPr>
          </a:p>
          <a:p>
            <a:pPr marL="546100">
              <a:lnSpc>
                <a:spcPct val="100000"/>
              </a:lnSpc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条件语句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如果子句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DDDD"/>
                </a:solidFill>
                <a:latin typeface="Times New Roman"/>
                <a:cs typeface="Times New Roman"/>
              </a:rPr>
              <a:t>[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else&lt;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句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-5" b="1">
                <a:solidFill>
                  <a:srgbClr val="FFDDDD"/>
                </a:solidFill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  <a:p>
            <a:pPr marL="634365">
              <a:lnSpc>
                <a:spcPct val="100000"/>
              </a:lnSpc>
              <a:spcBef>
                <a:spcPts val="1680"/>
              </a:spcBef>
              <a:tabLst>
                <a:tab pos="5586730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如果子句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if&lt;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布尔表达式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	then&lt;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语句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11848" y="72644"/>
            <a:ext cx="20059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2470" algn="l"/>
              </a:tabLst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文法的表示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83540" y="622249"/>
            <a:ext cx="526415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2300" algn="l"/>
              </a:tabLst>
            </a:pPr>
            <a:r>
              <a:rPr dirty="0" sz="3200">
                <a:solidFill>
                  <a:srgbClr val="CCFFFF"/>
                </a:solidFill>
                <a:latin typeface="Times New Roman"/>
                <a:cs typeface="Times New Roman"/>
              </a:rPr>
              <a:t>3.	</a:t>
            </a:r>
            <a:r>
              <a:rPr dirty="0" sz="3200" spc="-5">
                <a:solidFill>
                  <a:srgbClr val="CCFFFF"/>
                </a:solidFill>
                <a:latin typeface="宋体"/>
                <a:cs typeface="宋体"/>
              </a:rPr>
              <a:t>语法图</a:t>
            </a:r>
            <a:r>
              <a:rPr dirty="0" sz="3200">
                <a:solidFill>
                  <a:srgbClr val="CC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>
                <a:solidFill>
                  <a:srgbClr val="CCFFFF"/>
                </a:solidFill>
                <a:latin typeface="宋体"/>
                <a:cs typeface="宋体"/>
              </a:rPr>
              <a:t>上下文无关文法）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4843" y="971677"/>
            <a:ext cx="8567420" cy="4065904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284480" indent="-272415">
              <a:lnSpc>
                <a:spcPct val="100000"/>
              </a:lnSpc>
              <a:spcBef>
                <a:spcPts val="1660"/>
              </a:spcBef>
              <a:buClr>
                <a:srgbClr val="66FFFF"/>
              </a:buClr>
              <a:buSzPct val="95833"/>
              <a:buFont typeface="Wingdings"/>
              <a:buChar char=""/>
              <a:tabLst>
                <a:tab pos="285115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由一组图组成，每个图定义了一个非终结符的产生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400" spc="-5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ts val="2760"/>
              </a:lnSpc>
              <a:spcBef>
                <a:spcPts val="1755"/>
              </a:spcBef>
              <a:buClr>
                <a:srgbClr val="66FFFF"/>
              </a:buClr>
              <a:buSzPct val="95833"/>
              <a:buFont typeface="Wingdings"/>
              <a:buChar char=""/>
              <a:tabLst>
                <a:tab pos="285115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每个图都有一个起始结点和一个终止结点，其他的结点标记为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文法符号。</a:t>
            </a:r>
            <a:endParaRPr sz="2400">
              <a:latin typeface="宋体"/>
              <a:cs typeface="宋体"/>
            </a:endParaRPr>
          </a:p>
          <a:p>
            <a:pPr marL="284480" indent="-272415">
              <a:lnSpc>
                <a:spcPct val="100000"/>
              </a:lnSpc>
              <a:spcBef>
                <a:spcPts val="1370"/>
              </a:spcBef>
              <a:buClr>
                <a:srgbClr val="66FFFF"/>
              </a:buClr>
              <a:buSzPct val="95833"/>
              <a:buFont typeface="Wingdings"/>
              <a:buChar char=""/>
              <a:tabLst>
                <a:tab pos="285115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终结符结点用圆形表示。</a:t>
            </a:r>
            <a:endParaRPr sz="2400">
              <a:latin typeface="宋体"/>
              <a:cs typeface="宋体"/>
            </a:endParaRPr>
          </a:p>
          <a:p>
            <a:pPr marL="284480" indent="-272415">
              <a:lnSpc>
                <a:spcPct val="100000"/>
              </a:lnSpc>
              <a:spcBef>
                <a:spcPts val="1440"/>
              </a:spcBef>
              <a:buClr>
                <a:srgbClr val="66FFFF"/>
              </a:buClr>
              <a:buSzPct val="95833"/>
              <a:buFont typeface="Wingdings"/>
              <a:buChar char=""/>
              <a:tabLst>
                <a:tab pos="285115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非终结符结点用方形表示。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ts val="2760"/>
              </a:lnSpc>
              <a:spcBef>
                <a:spcPts val="1755"/>
              </a:spcBef>
              <a:buClr>
                <a:srgbClr val="66FFFF"/>
              </a:buClr>
              <a:buSzPct val="95833"/>
              <a:buFont typeface="Wingdings"/>
              <a:buChar char=""/>
              <a:tabLst>
                <a:tab pos="285115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从起始结点到终止结点的所有路径（标记为结点序列）定义候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选式。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例：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产生式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4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bEFn</a:t>
            </a:r>
            <a:r>
              <a:rPr dirty="0" sz="24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。表示为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3831" y="5342026"/>
            <a:ext cx="2743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01973" y="5316473"/>
            <a:ext cx="1056640" cy="607060"/>
          </a:xfrm>
          <a:custGeom>
            <a:avLst/>
            <a:gdLst/>
            <a:ahLst/>
            <a:cxnLst/>
            <a:rect l="l" t="t" r="r" b="b"/>
            <a:pathLst>
              <a:path w="1056639" h="607060">
                <a:moveTo>
                  <a:pt x="0" y="606551"/>
                </a:moveTo>
                <a:lnTo>
                  <a:pt x="1056131" y="606551"/>
                </a:lnTo>
                <a:lnTo>
                  <a:pt x="1056131" y="0"/>
                </a:lnTo>
                <a:lnTo>
                  <a:pt x="0" y="0"/>
                </a:lnTo>
                <a:lnTo>
                  <a:pt x="0" y="606551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49417" y="5316473"/>
            <a:ext cx="1057910" cy="607060"/>
          </a:xfrm>
          <a:custGeom>
            <a:avLst/>
            <a:gdLst/>
            <a:ahLst/>
            <a:cxnLst/>
            <a:rect l="l" t="t" r="r" b="b"/>
            <a:pathLst>
              <a:path w="1057910" h="607060">
                <a:moveTo>
                  <a:pt x="0" y="606551"/>
                </a:moveTo>
                <a:lnTo>
                  <a:pt x="1057656" y="606551"/>
                </a:lnTo>
                <a:lnTo>
                  <a:pt x="1057656" y="0"/>
                </a:lnTo>
                <a:lnTo>
                  <a:pt x="0" y="0"/>
                </a:lnTo>
                <a:lnTo>
                  <a:pt x="0" y="606551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058161" y="5305805"/>
            <a:ext cx="782320" cy="658495"/>
          </a:xfrm>
          <a:custGeom>
            <a:avLst/>
            <a:gdLst/>
            <a:ahLst/>
            <a:cxnLst/>
            <a:rect l="l" t="t" r="r" b="b"/>
            <a:pathLst>
              <a:path w="782319" h="658495">
                <a:moveTo>
                  <a:pt x="0" y="329184"/>
                </a:moveTo>
                <a:lnTo>
                  <a:pt x="3568" y="284502"/>
                </a:lnTo>
                <a:lnTo>
                  <a:pt x="13962" y="241652"/>
                </a:lnTo>
                <a:lnTo>
                  <a:pt x="30718" y="201025"/>
                </a:lnTo>
                <a:lnTo>
                  <a:pt x="53368" y="163011"/>
                </a:lnTo>
                <a:lnTo>
                  <a:pt x="81447" y="128003"/>
                </a:lnTo>
                <a:lnTo>
                  <a:pt x="114490" y="96393"/>
                </a:lnTo>
                <a:lnTo>
                  <a:pt x="152031" y="68571"/>
                </a:lnTo>
                <a:lnTo>
                  <a:pt x="193604" y="44929"/>
                </a:lnTo>
                <a:lnTo>
                  <a:pt x="238744" y="25860"/>
                </a:lnTo>
                <a:lnTo>
                  <a:pt x="286984" y="11754"/>
                </a:lnTo>
                <a:lnTo>
                  <a:pt x="337860" y="3003"/>
                </a:lnTo>
                <a:lnTo>
                  <a:pt x="390906" y="0"/>
                </a:lnTo>
                <a:lnTo>
                  <a:pt x="443951" y="3003"/>
                </a:lnTo>
                <a:lnTo>
                  <a:pt x="494827" y="11754"/>
                </a:lnTo>
                <a:lnTo>
                  <a:pt x="543067" y="25860"/>
                </a:lnTo>
                <a:lnTo>
                  <a:pt x="588207" y="44929"/>
                </a:lnTo>
                <a:lnTo>
                  <a:pt x="629780" y="68571"/>
                </a:lnTo>
                <a:lnTo>
                  <a:pt x="667321" y="96393"/>
                </a:lnTo>
                <a:lnTo>
                  <a:pt x="700364" y="128003"/>
                </a:lnTo>
                <a:lnTo>
                  <a:pt x="728443" y="163011"/>
                </a:lnTo>
                <a:lnTo>
                  <a:pt x="751093" y="201025"/>
                </a:lnTo>
                <a:lnTo>
                  <a:pt x="767849" y="241652"/>
                </a:lnTo>
                <a:lnTo>
                  <a:pt x="778243" y="284502"/>
                </a:lnTo>
                <a:lnTo>
                  <a:pt x="781812" y="329184"/>
                </a:lnTo>
                <a:lnTo>
                  <a:pt x="778243" y="373851"/>
                </a:lnTo>
                <a:lnTo>
                  <a:pt x="767849" y="416693"/>
                </a:lnTo>
                <a:lnTo>
                  <a:pt x="751093" y="457316"/>
                </a:lnTo>
                <a:lnTo>
                  <a:pt x="728443" y="495328"/>
                </a:lnTo>
                <a:lnTo>
                  <a:pt x="700364" y="530337"/>
                </a:lnTo>
                <a:lnTo>
                  <a:pt x="667321" y="561951"/>
                </a:lnTo>
                <a:lnTo>
                  <a:pt x="629780" y="589777"/>
                </a:lnTo>
                <a:lnTo>
                  <a:pt x="588207" y="613424"/>
                </a:lnTo>
                <a:lnTo>
                  <a:pt x="543067" y="632498"/>
                </a:lnTo>
                <a:lnTo>
                  <a:pt x="494827" y="646609"/>
                </a:lnTo>
                <a:lnTo>
                  <a:pt x="443951" y="655362"/>
                </a:lnTo>
                <a:lnTo>
                  <a:pt x="390906" y="658368"/>
                </a:lnTo>
                <a:lnTo>
                  <a:pt x="337860" y="655362"/>
                </a:lnTo>
                <a:lnTo>
                  <a:pt x="286984" y="646609"/>
                </a:lnTo>
                <a:lnTo>
                  <a:pt x="238744" y="632498"/>
                </a:lnTo>
                <a:lnTo>
                  <a:pt x="193604" y="613424"/>
                </a:lnTo>
                <a:lnTo>
                  <a:pt x="152031" y="589777"/>
                </a:lnTo>
                <a:lnTo>
                  <a:pt x="114490" y="561951"/>
                </a:lnTo>
                <a:lnTo>
                  <a:pt x="81447" y="530337"/>
                </a:lnTo>
                <a:lnTo>
                  <a:pt x="53368" y="495328"/>
                </a:lnTo>
                <a:lnTo>
                  <a:pt x="30718" y="457316"/>
                </a:lnTo>
                <a:lnTo>
                  <a:pt x="13962" y="416693"/>
                </a:lnTo>
                <a:lnTo>
                  <a:pt x="3568" y="373851"/>
                </a:lnTo>
                <a:lnTo>
                  <a:pt x="0" y="329184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33625" y="5365191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87361" y="5266182"/>
            <a:ext cx="782320" cy="657225"/>
          </a:xfrm>
          <a:custGeom>
            <a:avLst/>
            <a:gdLst/>
            <a:ahLst/>
            <a:cxnLst/>
            <a:rect l="l" t="t" r="r" b="b"/>
            <a:pathLst>
              <a:path w="782320" h="657225">
                <a:moveTo>
                  <a:pt x="0" y="328422"/>
                </a:moveTo>
                <a:lnTo>
                  <a:pt x="3568" y="283862"/>
                </a:lnTo>
                <a:lnTo>
                  <a:pt x="13962" y="241123"/>
                </a:lnTo>
                <a:lnTo>
                  <a:pt x="30718" y="200596"/>
                </a:lnTo>
                <a:lnTo>
                  <a:pt x="53368" y="162672"/>
                </a:lnTo>
                <a:lnTo>
                  <a:pt x="81447" y="127744"/>
                </a:lnTo>
                <a:lnTo>
                  <a:pt x="114490" y="96202"/>
                </a:lnTo>
                <a:lnTo>
                  <a:pt x="152031" y="68438"/>
                </a:lnTo>
                <a:lnTo>
                  <a:pt x="193604" y="44845"/>
                </a:lnTo>
                <a:lnTo>
                  <a:pt x="238744" y="25812"/>
                </a:lnTo>
                <a:lnTo>
                  <a:pt x="286984" y="11733"/>
                </a:lnTo>
                <a:lnTo>
                  <a:pt x="337860" y="2998"/>
                </a:lnTo>
                <a:lnTo>
                  <a:pt x="390906" y="0"/>
                </a:lnTo>
                <a:lnTo>
                  <a:pt x="443951" y="2998"/>
                </a:lnTo>
                <a:lnTo>
                  <a:pt x="494827" y="11733"/>
                </a:lnTo>
                <a:lnTo>
                  <a:pt x="543067" y="25812"/>
                </a:lnTo>
                <a:lnTo>
                  <a:pt x="588207" y="44845"/>
                </a:lnTo>
                <a:lnTo>
                  <a:pt x="629780" y="68438"/>
                </a:lnTo>
                <a:lnTo>
                  <a:pt x="667321" y="96202"/>
                </a:lnTo>
                <a:lnTo>
                  <a:pt x="700364" y="127744"/>
                </a:lnTo>
                <a:lnTo>
                  <a:pt x="728443" y="162672"/>
                </a:lnTo>
                <a:lnTo>
                  <a:pt x="751093" y="200596"/>
                </a:lnTo>
                <a:lnTo>
                  <a:pt x="767849" y="241123"/>
                </a:lnTo>
                <a:lnTo>
                  <a:pt x="778243" y="283862"/>
                </a:lnTo>
                <a:lnTo>
                  <a:pt x="781812" y="328422"/>
                </a:lnTo>
                <a:lnTo>
                  <a:pt x="778243" y="372986"/>
                </a:lnTo>
                <a:lnTo>
                  <a:pt x="767849" y="415729"/>
                </a:lnTo>
                <a:lnTo>
                  <a:pt x="751093" y="456258"/>
                </a:lnTo>
                <a:lnTo>
                  <a:pt x="728443" y="494182"/>
                </a:lnTo>
                <a:lnTo>
                  <a:pt x="700364" y="529110"/>
                </a:lnTo>
                <a:lnTo>
                  <a:pt x="667321" y="560651"/>
                </a:lnTo>
                <a:lnTo>
                  <a:pt x="629780" y="588412"/>
                </a:lnTo>
                <a:lnTo>
                  <a:pt x="588207" y="612004"/>
                </a:lnTo>
                <a:lnTo>
                  <a:pt x="543067" y="631034"/>
                </a:lnTo>
                <a:lnTo>
                  <a:pt x="494827" y="645112"/>
                </a:lnTo>
                <a:lnTo>
                  <a:pt x="443951" y="653845"/>
                </a:lnTo>
                <a:lnTo>
                  <a:pt x="390906" y="656844"/>
                </a:lnTo>
                <a:lnTo>
                  <a:pt x="337860" y="653845"/>
                </a:lnTo>
                <a:lnTo>
                  <a:pt x="286984" y="645112"/>
                </a:lnTo>
                <a:lnTo>
                  <a:pt x="238744" y="631034"/>
                </a:lnTo>
                <a:lnTo>
                  <a:pt x="193604" y="612004"/>
                </a:lnTo>
                <a:lnTo>
                  <a:pt x="152031" y="588412"/>
                </a:lnTo>
                <a:lnTo>
                  <a:pt x="114490" y="560651"/>
                </a:lnTo>
                <a:lnTo>
                  <a:pt x="81447" y="529110"/>
                </a:lnTo>
                <a:lnTo>
                  <a:pt x="53368" y="494182"/>
                </a:lnTo>
                <a:lnTo>
                  <a:pt x="30718" y="456258"/>
                </a:lnTo>
                <a:lnTo>
                  <a:pt x="13962" y="415729"/>
                </a:lnTo>
                <a:lnTo>
                  <a:pt x="3568" y="372986"/>
                </a:lnTo>
                <a:lnTo>
                  <a:pt x="0" y="328422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67205" y="5567679"/>
            <a:ext cx="791210" cy="86360"/>
          </a:xfrm>
          <a:custGeom>
            <a:avLst/>
            <a:gdLst/>
            <a:ahLst/>
            <a:cxnLst/>
            <a:rect l="l" t="t" r="r" b="b"/>
            <a:pathLst>
              <a:path w="791210" h="86360">
                <a:moveTo>
                  <a:pt x="705231" y="0"/>
                </a:moveTo>
                <a:lnTo>
                  <a:pt x="705231" y="85788"/>
                </a:lnTo>
                <a:lnTo>
                  <a:pt x="762381" y="57213"/>
                </a:lnTo>
                <a:lnTo>
                  <a:pt x="719455" y="57213"/>
                </a:lnTo>
                <a:lnTo>
                  <a:pt x="719455" y="28638"/>
                </a:lnTo>
                <a:lnTo>
                  <a:pt x="762423" y="28638"/>
                </a:lnTo>
                <a:lnTo>
                  <a:pt x="705231" y="0"/>
                </a:lnTo>
                <a:close/>
              </a:path>
              <a:path w="791210" h="86360">
                <a:moveTo>
                  <a:pt x="705231" y="28638"/>
                </a:moveTo>
                <a:lnTo>
                  <a:pt x="0" y="28638"/>
                </a:lnTo>
                <a:lnTo>
                  <a:pt x="0" y="57213"/>
                </a:lnTo>
                <a:lnTo>
                  <a:pt x="705231" y="57213"/>
                </a:lnTo>
                <a:lnTo>
                  <a:pt x="705231" y="28638"/>
                </a:lnTo>
                <a:close/>
              </a:path>
              <a:path w="791210" h="86360">
                <a:moveTo>
                  <a:pt x="762423" y="28638"/>
                </a:moveTo>
                <a:lnTo>
                  <a:pt x="719455" y="28638"/>
                </a:lnTo>
                <a:lnTo>
                  <a:pt x="719455" y="57213"/>
                </a:lnTo>
                <a:lnTo>
                  <a:pt x="762381" y="57213"/>
                </a:lnTo>
                <a:lnTo>
                  <a:pt x="790956" y="42926"/>
                </a:lnTo>
                <a:lnTo>
                  <a:pt x="762423" y="286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39973" y="5567679"/>
            <a:ext cx="762000" cy="86360"/>
          </a:xfrm>
          <a:custGeom>
            <a:avLst/>
            <a:gdLst/>
            <a:ahLst/>
            <a:cxnLst/>
            <a:rect l="l" t="t" r="r" b="b"/>
            <a:pathLst>
              <a:path w="762000" h="86360">
                <a:moveTo>
                  <a:pt x="676275" y="0"/>
                </a:moveTo>
                <a:lnTo>
                  <a:pt x="676275" y="85788"/>
                </a:lnTo>
                <a:lnTo>
                  <a:pt x="733425" y="57213"/>
                </a:lnTo>
                <a:lnTo>
                  <a:pt x="690499" y="57213"/>
                </a:lnTo>
                <a:lnTo>
                  <a:pt x="690499" y="28638"/>
                </a:lnTo>
                <a:lnTo>
                  <a:pt x="733467" y="28638"/>
                </a:lnTo>
                <a:lnTo>
                  <a:pt x="676275" y="0"/>
                </a:lnTo>
                <a:close/>
              </a:path>
              <a:path w="762000" h="86360">
                <a:moveTo>
                  <a:pt x="676275" y="28638"/>
                </a:moveTo>
                <a:lnTo>
                  <a:pt x="0" y="28638"/>
                </a:lnTo>
                <a:lnTo>
                  <a:pt x="0" y="57213"/>
                </a:lnTo>
                <a:lnTo>
                  <a:pt x="676275" y="57213"/>
                </a:lnTo>
                <a:lnTo>
                  <a:pt x="676275" y="28638"/>
                </a:lnTo>
                <a:close/>
              </a:path>
              <a:path w="762000" h="86360">
                <a:moveTo>
                  <a:pt x="733467" y="28638"/>
                </a:moveTo>
                <a:lnTo>
                  <a:pt x="690499" y="28638"/>
                </a:lnTo>
                <a:lnTo>
                  <a:pt x="690499" y="57213"/>
                </a:lnTo>
                <a:lnTo>
                  <a:pt x="733425" y="57213"/>
                </a:lnTo>
                <a:lnTo>
                  <a:pt x="762000" y="42926"/>
                </a:lnTo>
                <a:lnTo>
                  <a:pt x="733467" y="286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658105" y="5567679"/>
            <a:ext cx="591820" cy="86360"/>
          </a:xfrm>
          <a:custGeom>
            <a:avLst/>
            <a:gdLst/>
            <a:ahLst/>
            <a:cxnLst/>
            <a:rect l="l" t="t" r="r" b="b"/>
            <a:pathLst>
              <a:path w="591820" h="86360">
                <a:moveTo>
                  <a:pt x="505587" y="0"/>
                </a:moveTo>
                <a:lnTo>
                  <a:pt x="505587" y="85788"/>
                </a:lnTo>
                <a:lnTo>
                  <a:pt x="562737" y="57213"/>
                </a:lnTo>
                <a:lnTo>
                  <a:pt x="519811" y="57213"/>
                </a:lnTo>
                <a:lnTo>
                  <a:pt x="519811" y="28638"/>
                </a:lnTo>
                <a:lnTo>
                  <a:pt x="562779" y="28638"/>
                </a:lnTo>
                <a:lnTo>
                  <a:pt x="505587" y="0"/>
                </a:lnTo>
                <a:close/>
              </a:path>
              <a:path w="591820" h="86360">
                <a:moveTo>
                  <a:pt x="505587" y="28638"/>
                </a:moveTo>
                <a:lnTo>
                  <a:pt x="0" y="28638"/>
                </a:lnTo>
                <a:lnTo>
                  <a:pt x="0" y="57213"/>
                </a:lnTo>
                <a:lnTo>
                  <a:pt x="505587" y="57213"/>
                </a:lnTo>
                <a:lnTo>
                  <a:pt x="505587" y="28638"/>
                </a:lnTo>
                <a:close/>
              </a:path>
              <a:path w="591820" h="86360">
                <a:moveTo>
                  <a:pt x="562779" y="28638"/>
                </a:moveTo>
                <a:lnTo>
                  <a:pt x="519811" y="28638"/>
                </a:lnTo>
                <a:lnTo>
                  <a:pt x="519811" y="57213"/>
                </a:lnTo>
                <a:lnTo>
                  <a:pt x="562737" y="57213"/>
                </a:lnTo>
                <a:lnTo>
                  <a:pt x="591312" y="42926"/>
                </a:lnTo>
                <a:lnTo>
                  <a:pt x="562779" y="286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07073" y="5567679"/>
            <a:ext cx="780415" cy="86360"/>
          </a:xfrm>
          <a:custGeom>
            <a:avLst/>
            <a:gdLst/>
            <a:ahLst/>
            <a:cxnLst/>
            <a:rect l="l" t="t" r="r" b="b"/>
            <a:pathLst>
              <a:path w="780415" h="86360">
                <a:moveTo>
                  <a:pt x="694562" y="0"/>
                </a:moveTo>
                <a:lnTo>
                  <a:pt x="694562" y="85788"/>
                </a:lnTo>
                <a:lnTo>
                  <a:pt x="751712" y="57213"/>
                </a:lnTo>
                <a:lnTo>
                  <a:pt x="708786" y="57213"/>
                </a:lnTo>
                <a:lnTo>
                  <a:pt x="708786" y="28638"/>
                </a:lnTo>
                <a:lnTo>
                  <a:pt x="751755" y="28638"/>
                </a:lnTo>
                <a:lnTo>
                  <a:pt x="694562" y="0"/>
                </a:lnTo>
                <a:close/>
              </a:path>
              <a:path w="780415" h="86360">
                <a:moveTo>
                  <a:pt x="694562" y="28638"/>
                </a:moveTo>
                <a:lnTo>
                  <a:pt x="0" y="28638"/>
                </a:lnTo>
                <a:lnTo>
                  <a:pt x="0" y="57213"/>
                </a:lnTo>
                <a:lnTo>
                  <a:pt x="694562" y="57213"/>
                </a:lnTo>
                <a:lnTo>
                  <a:pt x="694562" y="28638"/>
                </a:lnTo>
                <a:close/>
              </a:path>
              <a:path w="780415" h="86360">
                <a:moveTo>
                  <a:pt x="751755" y="28638"/>
                </a:moveTo>
                <a:lnTo>
                  <a:pt x="708786" y="28638"/>
                </a:lnTo>
                <a:lnTo>
                  <a:pt x="708786" y="57213"/>
                </a:lnTo>
                <a:lnTo>
                  <a:pt x="751712" y="57213"/>
                </a:lnTo>
                <a:lnTo>
                  <a:pt x="780287" y="42926"/>
                </a:lnTo>
                <a:lnTo>
                  <a:pt x="751755" y="286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43705" y="6116573"/>
            <a:ext cx="782320" cy="657225"/>
          </a:xfrm>
          <a:custGeom>
            <a:avLst/>
            <a:gdLst/>
            <a:ahLst/>
            <a:cxnLst/>
            <a:rect l="l" t="t" r="r" b="b"/>
            <a:pathLst>
              <a:path w="782320" h="657225">
                <a:moveTo>
                  <a:pt x="0" y="328421"/>
                </a:moveTo>
                <a:lnTo>
                  <a:pt x="3568" y="283857"/>
                </a:lnTo>
                <a:lnTo>
                  <a:pt x="13962" y="241114"/>
                </a:lnTo>
                <a:lnTo>
                  <a:pt x="30718" y="200585"/>
                </a:lnTo>
                <a:lnTo>
                  <a:pt x="53368" y="162661"/>
                </a:lnTo>
                <a:lnTo>
                  <a:pt x="81447" y="127733"/>
                </a:lnTo>
                <a:lnTo>
                  <a:pt x="114490" y="96192"/>
                </a:lnTo>
                <a:lnTo>
                  <a:pt x="152031" y="68431"/>
                </a:lnTo>
                <a:lnTo>
                  <a:pt x="193604" y="44839"/>
                </a:lnTo>
                <a:lnTo>
                  <a:pt x="238744" y="25809"/>
                </a:lnTo>
                <a:lnTo>
                  <a:pt x="286984" y="11731"/>
                </a:lnTo>
                <a:lnTo>
                  <a:pt x="337860" y="2998"/>
                </a:lnTo>
                <a:lnTo>
                  <a:pt x="390906" y="0"/>
                </a:lnTo>
                <a:lnTo>
                  <a:pt x="443951" y="2998"/>
                </a:lnTo>
                <a:lnTo>
                  <a:pt x="494827" y="11731"/>
                </a:lnTo>
                <a:lnTo>
                  <a:pt x="543067" y="25809"/>
                </a:lnTo>
                <a:lnTo>
                  <a:pt x="588207" y="44839"/>
                </a:lnTo>
                <a:lnTo>
                  <a:pt x="629780" y="68431"/>
                </a:lnTo>
                <a:lnTo>
                  <a:pt x="667321" y="96192"/>
                </a:lnTo>
                <a:lnTo>
                  <a:pt x="700364" y="127733"/>
                </a:lnTo>
                <a:lnTo>
                  <a:pt x="728443" y="162661"/>
                </a:lnTo>
                <a:lnTo>
                  <a:pt x="751093" y="200585"/>
                </a:lnTo>
                <a:lnTo>
                  <a:pt x="767849" y="241114"/>
                </a:lnTo>
                <a:lnTo>
                  <a:pt x="778243" y="283857"/>
                </a:lnTo>
                <a:lnTo>
                  <a:pt x="781812" y="328421"/>
                </a:lnTo>
                <a:lnTo>
                  <a:pt x="778243" y="372986"/>
                </a:lnTo>
                <a:lnTo>
                  <a:pt x="767849" y="415729"/>
                </a:lnTo>
                <a:lnTo>
                  <a:pt x="751093" y="456258"/>
                </a:lnTo>
                <a:lnTo>
                  <a:pt x="728443" y="494182"/>
                </a:lnTo>
                <a:lnTo>
                  <a:pt x="700364" y="529110"/>
                </a:lnTo>
                <a:lnTo>
                  <a:pt x="667321" y="560651"/>
                </a:lnTo>
                <a:lnTo>
                  <a:pt x="629780" y="588412"/>
                </a:lnTo>
                <a:lnTo>
                  <a:pt x="588207" y="612004"/>
                </a:lnTo>
                <a:lnTo>
                  <a:pt x="543067" y="631034"/>
                </a:lnTo>
                <a:lnTo>
                  <a:pt x="494827" y="645112"/>
                </a:lnTo>
                <a:lnTo>
                  <a:pt x="443951" y="653845"/>
                </a:lnTo>
                <a:lnTo>
                  <a:pt x="390906" y="656844"/>
                </a:lnTo>
                <a:lnTo>
                  <a:pt x="337860" y="653845"/>
                </a:lnTo>
                <a:lnTo>
                  <a:pt x="286984" y="645112"/>
                </a:lnTo>
                <a:lnTo>
                  <a:pt x="238744" y="631034"/>
                </a:lnTo>
                <a:lnTo>
                  <a:pt x="193604" y="612004"/>
                </a:lnTo>
                <a:lnTo>
                  <a:pt x="152031" y="588412"/>
                </a:lnTo>
                <a:lnTo>
                  <a:pt x="114490" y="560651"/>
                </a:lnTo>
                <a:lnTo>
                  <a:pt x="81447" y="529110"/>
                </a:lnTo>
                <a:lnTo>
                  <a:pt x="53368" y="494182"/>
                </a:lnTo>
                <a:lnTo>
                  <a:pt x="30718" y="456258"/>
                </a:lnTo>
                <a:lnTo>
                  <a:pt x="13962" y="415729"/>
                </a:lnTo>
                <a:lnTo>
                  <a:pt x="3568" y="372986"/>
                </a:lnTo>
                <a:lnTo>
                  <a:pt x="0" y="328421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980815" y="5335320"/>
            <a:ext cx="3624579" cy="13538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60525" algn="l"/>
                <a:tab pos="3384550" algn="l"/>
              </a:tabLst>
            </a:pP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E</a:t>
            </a: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F</a:t>
            </a: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	</a:t>
            </a:r>
            <a:r>
              <a:rPr dirty="0" baseline="1736" sz="4800" b="1" i="1">
                <a:solidFill>
                  <a:srgbClr val="FF99FF"/>
                </a:solidFill>
                <a:latin typeface="Times New Roman"/>
                <a:cs typeface="Times New Roman"/>
              </a:rPr>
              <a:t>n</a:t>
            </a:r>
            <a:endParaRPr baseline="1736" sz="4800">
              <a:latin typeface="Times New Roman"/>
              <a:cs typeface="Times New Roman"/>
            </a:endParaRPr>
          </a:p>
          <a:p>
            <a:pPr marL="62230">
              <a:lnSpc>
                <a:spcPct val="100000"/>
              </a:lnSpc>
              <a:spcBef>
                <a:spcPts val="2770"/>
              </a:spcBef>
            </a:pPr>
            <a:r>
              <a:rPr dirty="0" sz="3200" b="1" i="1">
                <a:solidFill>
                  <a:srgbClr val="FF99FF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39061" y="5610605"/>
            <a:ext cx="0" cy="848994"/>
          </a:xfrm>
          <a:custGeom>
            <a:avLst/>
            <a:gdLst/>
            <a:ahLst/>
            <a:cxnLst/>
            <a:rect l="l" t="t" r="r" b="b"/>
            <a:pathLst>
              <a:path w="0" h="848995">
                <a:moveTo>
                  <a:pt x="0" y="0"/>
                </a:moveTo>
                <a:lnTo>
                  <a:pt x="0" y="848868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639061" y="6416611"/>
            <a:ext cx="2105025" cy="85725"/>
          </a:xfrm>
          <a:custGeom>
            <a:avLst/>
            <a:gdLst/>
            <a:ahLst/>
            <a:cxnLst/>
            <a:rect l="l" t="t" r="r" b="b"/>
            <a:pathLst>
              <a:path w="2105025" h="85725">
                <a:moveTo>
                  <a:pt x="2018918" y="0"/>
                </a:moveTo>
                <a:lnTo>
                  <a:pt x="2018918" y="85724"/>
                </a:lnTo>
                <a:lnTo>
                  <a:pt x="2076068" y="57149"/>
                </a:lnTo>
                <a:lnTo>
                  <a:pt x="2033270" y="57149"/>
                </a:lnTo>
                <a:lnTo>
                  <a:pt x="2033270" y="28574"/>
                </a:lnTo>
                <a:lnTo>
                  <a:pt x="2076068" y="28574"/>
                </a:lnTo>
                <a:lnTo>
                  <a:pt x="2018918" y="0"/>
                </a:lnTo>
                <a:close/>
              </a:path>
              <a:path w="2105025" h="85725">
                <a:moveTo>
                  <a:pt x="2018918" y="28574"/>
                </a:moveTo>
                <a:lnTo>
                  <a:pt x="0" y="28574"/>
                </a:lnTo>
                <a:lnTo>
                  <a:pt x="0" y="57149"/>
                </a:lnTo>
                <a:lnTo>
                  <a:pt x="2018918" y="57149"/>
                </a:lnTo>
                <a:lnTo>
                  <a:pt x="2018918" y="28574"/>
                </a:lnTo>
                <a:close/>
              </a:path>
              <a:path w="2105025" h="85725">
                <a:moveTo>
                  <a:pt x="2076068" y="28574"/>
                </a:moveTo>
                <a:lnTo>
                  <a:pt x="2033270" y="28574"/>
                </a:lnTo>
                <a:lnTo>
                  <a:pt x="2033270" y="57149"/>
                </a:lnTo>
                <a:lnTo>
                  <a:pt x="2076068" y="57149"/>
                </a:lnTo>
                <a:lnTo>
                  <a:pt x="2104643" y="42862"/>
                </a:lnTo>
                <a:lnTo>
                  <a:pt x="2076068" y="285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866126" y="5569203"/>
            <a:ext cx="771525" cy="86360"/>
          </a:xfrm>
          <a:custGeom>
            <a:avLst/>
            <a:gdLst/>
            <a:ahLst/>
            <a:cxnLst/>
            <a:rect l="l" t="t" r="r" b="b"/>
            <a:pathLst>
              <a:path w="771525" h="86360">
                <a:moveTo>
                  <a:pt x="685419" y="0"/>
                </a:moveTo>
                <a:lnTo>
                  <a:pt x="685419" y="85788"/>
                </a:lnTo>
                <a:lnTo>
                  <a:pt x="742569" y="57213"/>
                </a:lnTo>
                <a:lnTo>
                  <a:pt x="699643" y="57213"/>
                </a:lnTo>
                <a:lnTo>
                  <a:pt x="699643" y="28638"/>
                </a:lnTo>
                <a:lnTo>
                  <a:pt x="742611" y="28638"/>
                </a:lnTo>
                <a:lnTo>
                  <a:pt x="685419" y="0"/>
                </a:lnTo>
                <a:close/>
              </a:path>
              <a:path w="771525" h="86360">
                <a:moveTo>
                  <a:pt x="685419" y="28638"/>
                </a:moveTo>
                <a:lnTo>
                  <a:pt x="0" y="28638"/>
                </a:lnTo>
                <a:lnTo>
                  <a:pt x="0" y="57213"/>
                </a:lnTo>
                <a:lnTo>
                  <a:pt x="685419" y="57213"/>
                </a:lnTo>
                <a:lnTo>
                  <a:pt x="685419" y="28638"/>
                </a:lnTo>
                <a:close/>
              </a:path>
              <a:path w="771525" h="86360">
                <a:moveTo>
                  <a:pt x="742611" y="28638"/>
                </a:moveTo>
                <a:lnTo>
                  <a:pt x="699643" y="28638"/>
                </a:lnTo>
                <a:lnTo>
                  <a:pt x="699643" y="57213"/>
                </a:lnTo>
                <a:lnTo>
                  <a:pt x="742569" y="57213"/>
                </a:lnTo>
                <a:lnTo>
                  <a:pt x="771144" y="42926"/>
                </a:lnTo>
                <a:lnTo>
                  <a:pt x="742611" y="286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25517" y="6459473"/>
            <a:ext cx="3572510" cy="0"/>
          </a:xfrm>
          <a:custGeom>
            <a:avLst/>
            <a:gdLst/>
            <a:ahLst/>
            <a:cxnLst/>
            <a:rect l="l" t="t" r="r" b="b"/>
            <a:pathLst>
              <a:path w="3572509" h="0">
                <a:moveTo>
                  <a:pt x="0" y="0"/>
                </a:moveTo>
                <a:lnTo>
                  <a:pt x="3572256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054847" y="5612129"/>
            <a:ext cx="85725" cy="847725"/>
          </a:xfrm>
          <a:custGeom>
            <a:avLst/>
            <a:gdLst/>
            <a:ahLst/>
            <a:cxnLst/>
            <a:rect l="l" t="t" r="r" b="b"/>
            <a:pathLst>
              <a:path w="85725" h="847725">
                <a:moveTo>
                  <a:pt x="57150" y="71437"/>
                </a:moveTo>
                <a:lnTo>
                  <a:pt x="28575" y="71437"/>
                </a:lnTo>
                <a:lnTo>
                  <a:pt x="28575" y="847344"/>
                </a:lnTo>
                <a:lnTo>
                  <a:pt x="57150" y="847344"/>
                </a:lnTo>
                <a:lnTo>
                  <a:pt x="57150" y="71437"/>
                </a:lnTo>
                <a:close/>
              </a:path>
              <a:path w="85725" h="847725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437"/>
                </a:lnTo>
                <a:lnTo>
                  <a:pt x="78591" y="71437"/>
                </a:lnTo>
                <a:lnTo>
                  <a:pt x="42925" y="0"/>
                </a:lnTo>
                <a:close/>
              </a:path>
              <a:path w="85725" h="847725">
                <a:moveTo>
                  <a:pt x="78591" y="71437"/>
                </a:moveTo>
                <a:lnTo>
                  <a:pt x="57150" y="71437"/>
                </a:lnTo>
                <a:lnTo>
                  <a:pt x="57150" y="85725"/>
                </a:lnTo>
                <a:lnTo>
                  <a:pt x="85725" y="85725"/>
                </a:lnTo>
                <a:lnTo>
                  <a:pt x="78591" y="714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12113" y="5471921"/>
            <a:ext cx="372110" cy="274320"/>
          </a:xfrm>
          <a:custGeom>
            <a:avLst/>
            <a:gdLst/>
            <a:ahLst/>
            <a:cxnLst/>
            <a:rect l="l" t="t" r="r" b="b"/>
            <a:pathLst>
              <a:path w="372109" h="274320">
                <a:moveTo>
                  <a:pt x="0" y="137159"/>
                </a:moveTo>
                <a:lnTo>
                  <a:pt x="25385" y="67959"/>
                </a:lnTo>
                <a:lnTo>
                  <a:pt x="54459" y="40195"/>
                </a:lnTo>
                <a:lnTo>
                  <a:pt x="92089" y="18739"/>
                </a:lnTo>
                <a:lnTo>
                  <a:pt x="136502" y="4903"/>
                </a:lnTo>
                <a:lnTo>
                  <a:pt x="185928" y="0"/>
                </a:lnTo>
                <a:lnTo>
                  <a:pt x="235353" y="4903"/>
                </a:lnTo>
                <a:lnTo>
                  <a:pt x="279766" y="18739"/>
                </a:lnTo>
                <a:lnTo>
                  <a:pt x="317396" y="40195"/>
                </a:lnTo>
                <a:lnTo>
                  <a:pt x="346470" y="67959"/>
                </a:lnTo>
                <a:lnTo>
                  <a:pt x="371856" y="137159"/>
                </a:lnTo>
                <a:lnTo>
                  <a:pt x="365214" y="173623"/>
                </a:lnTo>
                <a:lnTo>
                  <a:pt x="317396" y="234148"/>
                </a:lnTo>
                <a:lnTo>
                  <a:pt x="279766" y="255594"/>
                </a:lnTo>
                <a:lnTo>
                  <a:pt x="235353" y="269420"/>
                </a:lnTo>
                <a:lnTo>
                  <a:pt x="185928" y="274319"/>
                </a:lnTo>
                <a:lnTo>
                  <a:pt x="136502" y="269420"/>
                </a:lnTo>
                <a:lnTo>
                  <a:pt x="92089" y="255594"/>
                </a:lnTo>
                <a:lnTo>
                  <a:pt x="54459" y="234148"/>
                </a:lnTo>
                <a:lnTo>
                  <a:pt x="25385" y="206389"/>
                </a:lnTo>
                <a:lnTo>
                  <a:pt x="0" y="137159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608314" y="5474970"/>
            <a:ext cx="372110" cy="274320"/>
          </a:xfrm>
          <a:custGeom>
            <a:avLst/>
            <a:gdLst/>
            <a:ahLst/>
            <a:cxnLst/>
            <a:rect l="l" t="t" r="r" b="b"/>
            <a:pathLst>
              <a:path w="372109" h="274320">
                <a:moveTo>
                  <a:pt x="0" y="137159"/>
                </a:moveTo>
                <a:lnTo>
                  <a:pt x="25371" y="67959"/>
                </a:lnTo>
                <a:lnTo>
                  <a:pt x="54435" y="40195"/>
                </a:lnTo>
                <a:lnTo>
                  <a:pt x="92060" y="18739"/>
                </a:lnTo>
                <a:lnTo>
                  <a:pt x="136480" y="4903"/>
                </a:lnTo>
                <a:lnTo>
                  <a:pt x="185927" y="0"/>
                </a:lnTo>
                <a:lnTo>
                  <a:pt x="235375" y="4903"/>
                </a:lnTo>
                <a:lnTo>
                  <a:pt x="279795" y="18739"/>
                </a:lnTo>
                <a:lnTo>
                  <a:pt x="317420" y="40195"/>
                </a:lnTo>
                <a:lnTo>
                  <a:pt x="346484" y="67959"/>
                </a:lnTo>
                <a:lnTo>
                  <a:pt x="371855" y="137159"/>
                </a:lnTo>
                <a:lnTo>
                  <a:pt x="365218" y="173623"/>
                </a:lnTo>
                <a:lnTo>
                  <a:pt x="317420" y="234148"/>
                </a:lnTo>
                <a:lnTo>
                  <a:pt x="279795" y="255594"/>
                </a:lnTo>
                <a:lnTo>
                  <a:pt x="235375" y="269420"/>
                </a:lnTo>
                <a:lnTo>
                  <a:pt x="185927" y="274319"/>
                </a:lnTo>
                <a:lnTo>
                  <a:pt x="136480" y="269420"/>
                </a:lnTo>
                <a:lnTo>
                  <a:pt x="92060" y="255594"/>
                </a:lnTo>
                <a:lnTo>
                  <a:pt x="54435" y="234148"/>
                </a:lnTo>
                <a:lnTo>
                  <a:pt x="25371" y="206389"/>
                </a:lnTo>
                <a:lnTo>
                  <a:pt x="0" y="137159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5870" y="2821381"/>
            <a:ext cx="10953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标识符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19933" y="2964179"/>
            <a:ext cx="996950" cy="114300"/>
          </a:xfrm>
          <a:custGeom>
            <a:avLst/>
            <a:gdLst/>
            <a:ahLst/>
            <a:cxnLst/>
            <a:rect l="l" t="t" r="r" b="b"/>
            <a:pathLst>
              <a:path w="996950" h="114300">
                <a:moveTo>
                  <a:pt x="806195" y="0"/>
                </a:moveTo>
                <a:lnTo>
                  <a:pt x="806195" y="114300"/>
                </a:lnTo>
                <a:lnTo>
                  <a:pt x="933195" y="76200"/>
                </a:lnTo>
                <a:lnTo>
                  <a:pt x="825245" y="76200"/>
                </a:lnTo>
                <a:lnTo>
                  <a:pt x="825245" y="38100"/>
                </a:lnTo>
                <a:lnTo>
                  <a:pt x="933195" y="38100"/>
                </a:lnTo>
                <a:lnTo>
                  <a:pt x="806195" y="0"/>
                </a:lnTo>
                <a:close/>
              </a:path>
              <a:path w="996950" h="114300">
                <a:moveTo>
                  <a:pt x="80619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6195" y="76200"/>
                </a:lnTo>
                <a:lnTo>
                  <a:pt x="806195" y="38100"/>
                </a:lnTo>
                <a:close/>
              </a:path>
              <a:path w="996950" h="114300">
                <a:moveTo>
                  <a:pt x="933195" y="38100"/>
                </a:moveTo>
                <a:lnTo>
                  <a:pt x="825245" y="38100"/>
                </a:lnTo>
                <a:lnTo>
                  <a:pt x="825245" y="76200"/>
                </a:lnTo>
                <a:lnTo>
                  <a:pt x="933195" y="76200"/>
                </a:lnTo>
                <a:lnTo>
                  <a:pt x="996695" y="57150"/>
                </a:lnTo>
                <a:lnTo>
                  <a:pt x="93319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31841" y="2942970"/>
            <a:ext cx="3266440" cy="114300"/>
          </a:xfrm>
          <a:custGeom>
            <a:avLst/>
            <a:gdLst/>
            <a:ahLst/>
            <a:cxnLst/>
            <a:rect l="l" t="t" r="r" b="b"/>
            <a:pathLst>
              <a:path w="3266440" h="114300">
                <a:moveTo>
                  <a:pt x="3202714" y="38100"/>
                </a:moveTo>
                <a:lnTo>
                  <a:pt x="3094482" y="38100"/>
                </a:lnTo>
                <a:lnTo>
                  <a:pt x="3094482" y="76200"/>
                </a:lnTo>
                <a:lnTo>
                  <a:pt x="3075432" y="76208"/>
                </a:lnTo>
                <a:lnTo>
                  <a:pt x="3075432" y="114300"/>
                </a:lnTo>
                <a:lnTo>
                  <a:pt x="3265932" y="57023"/>
                </a:lnTo>
                <a:lnTo>
                  <a:pt x="3202714" y="38100"/>
                </a:lnTo>
                <a:close/>
              </a:path>
              <a:path w="3266440" h="114300">
                <a:moveTo>
                  <a:pt x="3075432" y="38108"/>
                </a:moveTo>
                <a:lnTo>
                  <a:pt x="0" y="39496"/>
                </a:lnTo>
                <a:lnTo>
                  <a:pt x="0" y="77596"/>
                </a:lnTo>
                <a:lnTo>
                  <a:pt x="3075432" y="76208"/>
                </a:lnTo>
                <a:lnTo>
                  <a:pt x="3075432" y="38108"/>
                </a:lnTo>
                <a:close/>
              </a:path>
              <a:path w="3266440" h="114300">
                <a:moveTo>
                  <a:pt x="3094482" y="38100"/>
                </a:moveTo>
                <a:lnTo>
                  <a:pt x="3075432" y="38108"/>
                </a:lnTo>
                <a:lnTo>
                  <a:pt x="3075432" y="76208"/>
                </a:lnTo>
                <a:lnTo>
                  <a:pt x="3094482" y="76200"/>
                </a:lnTo>
                <a:lnTo>
                  <a:pt x="3094482" y="38100"/>
                </a:lnTo>
                <a:close/>
              </a:path>
              <a:path w="3266440" h="114300">
                <a:moveTo>
                  <a:pt x="3075432" y="0"/>
                </a:moveTo>
                <a:lnTo>
                  <a:pt x="3075432" y="38108"/>
                </a:lnTo>
                <a:lnTo>
                  <a:pt x="3202714" y="38100"/>
                </a:lnTo>
                <a:lnTo>
                  <a:pt x="307543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766308" y="3409264"/>
            <a:ext cx="638175" cy="1230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60038" y="2788361"/>
            <a:ext cx="6381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64730" y="3031998"/>
            <a:ext cx="0" cy="1466215"/>
          </a:xfrm>
          <a:custGeom>
            <a:avLst/>
            <a:gdLst/>
            <a:ahLst/>
            <a:cxnLst/>
            <a:rect l="l" t="t" r="r" b="b"/>
            <a:pathLst>
              <a:path w="0" h="1466214">
                <a:moveTo>
                  <a:pt x="0" y="0"/>
                </a:moveTo>
                <a:lnTo>
                  <a:pt x="0" y="146608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20078" y="3592067"/>
            <a:ext cx="660400" cy="114300"/>
          </a:xfrm>
          <a:custGeom>
            <a:avLst/>
            <a:gdLst/>
            <a:ahLst/>
            <a:cxnLst/>
            <a:rect l="l" t="t" r="r" b="b"/>
            <a:pathLst>
              <a:path w="660400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660400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660400" h="114300">
                <a:moveTo>
                  <a:pt x="659892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659892" y="76200"/>
                </a:lnTo>
                <a:lnTo>
                  <a:pt x="65989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20078" y="4416552"/>
            <a:ext cx="660400" cy="114300"/>
          </a:xfrm>
          <a:custGeom>
            <a:avLst/>
            <a:gdLst/>
            <a:ahLst/>
            <a:cxnLst/>
            <a:rect l="l" t="t" r="r" b="b"/>
            <a:pathLst>
              <a:path w="660400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660400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660400" h="114300">
                <a:moveTo>
                  <a:pt x="659892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659892" y="76200"/>
                </a:lnTo>
                <a:lnTo>
                  <a:pt x="65989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27091" y="3031998"/>
            <a:ext cx="114300" cy="1464945"/>
          </a:xfrm>
          <a:custGeom>
            <a:avLst/>
            <a:gdLst/>
            <a:ahLst/>
            <a:cxnLst/>
            <a:rect l="l" t="t" r="r" b="b"/>
            <a:pathLst>
              <a:path w="114300" h="1464945">
                <a:moveTo>
                  <a:pt x="76200" y="171450"/>
                </a:moveTo>
                <a:lnTo>
                  <a:pt x="38100" y="171450"/>
                </a:lnTo>
                <a:lnTo>
                  <a:pt x="38100" y="1464564"/>
                </a:lnTo>
                <a:lnTo>
                  <a:pt x="76200" y="1464564"/>
                </a:lnTo>
                <a:lnTo>
                  <a:pt x="76200" y="171450"/>
                </a:lnTo>
                <a:close/>
              </a:path>
              <a:path w="114300" h="1464945">
                <a:moveTo>
                  <a:pt x="57150" y="0"/>
                </a:moveTo>
                <a:lnTo>
                  <a:pt x="0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108585" y="171450"/>
                </a:lnTo>
                <a:lnTo>
                  <a:pt x="57150" y="0"/>
                </a:lnTo>
                <a:close/>
              </a:path>
              <a:path w="114300" h="1464945">
                <a:moveTo>
                  <a:pt x="108585" y="171450"/>
                </a:moveTo>
                <a:lnTo>
                  <a:pt x="76200" y="171450"/>
                </a:lnTo>
                <a:lnTo>
                  <a:pt x="76200" y="190500"/>
                </a:lnTo>
                <a:lnTo>
                  <a:pt x="114300" y="190500"/>
                </a:lnTo>
                <a:lnTo>
                  <a:pt x="108585" y="1714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96434" y="4495038"/>
            <a:ext cx="437515" cy="0"/>
          </a:xfrm>
          <a:custGeom>
            <a:avLst/>
            <a:gdLst/>
            <a:ahLst/>
            <a:cxnLst/>
            <a:rect l="l" t="t" r="r" b="b"/>
            <a:pathLst>
              <a:path w="437514" h="0">
                <a:moveTo>
                  <a:pt x="0" y="0"/>
                </a:moveTo>
                <a:lnTo>
                  <a:pt x="43738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96434" y="3627882"/>
            <a:ext cx="437515" cy="0"/>
          </a:xfrm>
          <a:custGeom>
            <a:avLst/>
            <a:gdLst/>
            <a:ahLst/>
            <a:cxnLst/>
            <a:rect l="l" t="t" r="r" b="b"/>
            <a:pathLst>
              <a:path w="437514" h="0">
                <a:moveTo>
                  <a:pt x="0" y="0"/>
                </a:moveTo>
                <a:lnTo>
                  <a:pt x="437388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59740" y="1681733"/>
            <a:ext cx="848741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7162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2.15:	</a:t>
            </a:r>
            <a:r>
              <a:rPr dirty="0" sz="3200" spc="-40" b="1">
                <a:solidFill>
                  <a:srgbClr val="FFCCCC"/>
                </a:solidFill>
                <a:latin typeface="Times New Roman"/>
                <a:cs typeface="Times New Roman"/>
              </a:rPr>
              <a:t>PASCAL</a:t>
            </a: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语言中标识符的</a:t>
            </a:r>
            <a:r>
              <a:rPr dirty="0" sz="3200" spc="-15" b="1">
                <a:solidFill>
                  <a:srgbClr val="FFCCCC"/>
                </a:solidFill>
                <a:latin typeface="宋体"/>
                <a:cs typeface="宋体"/>
              </a:rPr>
              <a:t>定</a:t>
            </a:r>
            <a:r>
              <a:rPr dirty="0" sz="3200" b="1">
                <a:solidFill>
                  <a:srgbClr val="FFCCCC"/>
                </a:solidFill>
                <a:latin typeface="宋体"/>
                <a:cs typeface="宋体"/>
              </a:rPr>
              <a:t>义如下</a:t>
            </a:r>
            <a:r>
              <a:rPr dirty="0" sz="3200" spc="-15" b="1">
                <a:solidFill>
                  <a:srgbClr val="FFCCCC"/>
                </a:solidFill>
                <a:latin typeface="宋体"/>
                <a:cs typeface="宋体"/>
              </a:rPr>
              <a:t>图</a:t>
            </a:r>
            <a:r>
              <a:rPr dirty="0" sz="3200" spc="-10" b="1">
                <a:solidFill>
                  <a:srgbClr val="FFCCCC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11848" y="72644"/>
            <a:ext cx="20059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2470" algn="l"/>
              </a:tabLst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文法的表示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16629" y="2600705"/>
            <a:ext cx="1315720" cy="745490"/>
          </a:xfrm>
          <a:custGeom>
            <a:avLst/>
            <a:gdLst/>
            <a:ahLst/>
            <a:cxnLst/>
            <a:rect l="l" t="t" r="r" b="b"/>
            <a:pathLst>
              <a:path w="1315720" h="745489">
                <a:moveTo>
                  <a:pt x="0" y="372618"/>
                </a:moveTo>
                <a:lnTo>
                  <a:pt x="10593" y="305652"/>
                </a:lnTo>
                <a:lnTo>
                  <a:pt x="41137" y="242620"/>
                </a:lnTo>
                <a:lnTo>
                  <a:pt x="89774" y="184573"/>
                </a:lnTo>
                <a:lnTo>
                  <a:pt x="120298" y="157748"/>
                </a:lnTo>
                <a:lnTo>
                  <a:pt x="154649" y="132566"/>
                </a:lnTo>
                <a:lnTo>
                  <a:pt x="192595" y="109156"/>
                </a:lnTo>
                <a:lnTo>
                  <a:pt x="233904" y="87651"/>
                </a:lnTo>
                <a:lnTo>
                  <a:pt x="278345" y="68184"/>
                </a:lnTo>
                <a:lnTo>
                  <a:pt x="325684" y="50884"/>
                </a:lnTo>
                <a:lnTo>
                  <a:pt x="375690" y="35885"/>
                </a:lnTo>
                <a:lnTo>
                  <a:pt x="428132" y="23317"/>
                </a:lnTo>
                <a:lnTo>
                  <a:pt x="482776" y="13313"/>
                </a:lnTo>
                <a:lnTo>
                  <a:pt x="539391" y="6005"/>
                </a:lnTo>
                <a:lnTo>
                  <a:pt x="597745" y="1523"/>
                </a:lnTo>
                <a:lnTo>
                  <a:pt x="657606" y="0"/>
                </a:lnTo>
                <a:lnTo>
                  <a:pt x="717466" y="1523"/>
                </a:lnTo>
                <a:lnTo>
                  <a:pt x="775820" y="6005"/>
                </a:lnTo>
                <a:lnTo>
                  <a:pt x="832435" y="13313"/>
                </a:lnTo>
                <a:lnTo>
                  <a:pt x="887079" y="23317"/>
                </a:lnTo>
                <a:lnTo>
                  <a:pt x="939521" y="35885"/>
                </a:lnTo>
                <a:lnTo>
                  <a:pt x="989527" y="50884"/>
                </a:lnTo>
                <a:lnTo>
                  <a:pt x="1036866" y="68184"/>
                </a:lnTo>
                <a:lnTo>
                  <a:pt x="1081307" y="87651"/>
                </a:lnTo>
                <a:lnTo>
                  <a:pt x="1122616" y="109156"/>
                </a:lnTo>
                <a:lnTo>
                  <a:pt x="1160562" y="132566"/>
                </a:lnTo>
                <a:lnTo>
                  <a:pt x="1194913" y="157748"/>
                </a:lnTo>
                <a:lnTo>
                  <a:pt x="1225437" y="184573"/>
                </a:lnTo>
                <a:lnTo>
                  <a:pt x="1251901" y="212907"/>
                </a:lnTo>
                <a:lnTo>
                  <a:pt x="1291724" y="273579"/>
                </a:lnTo>
                <a:lnTo>
                  <a:pt x="1312524" y="338709"/>
                </a:lnTo>
                <a:lnTo>
                  <a:pt x="1315212" y="372618"/>
                </a:lnTo>
                <a:lnTo>
                  <a:pt x="1312524" y="406526"/>
                </a:lnTo>
                <a:lnTo>
                  <a:pt x="1291724" y="471656"/>
                </a:lnTo>
                <a:lnTo>
                  <a:pt x="1251901" y="532328"/>
                </a:lnTo>
                <a:lnTo>
                  <a:pt x="1225437" y="560662"/>
                </a:lnTo>
                <a:lnTo>
                  <a:pt x="1194913" y="587487"/>
                </a:lnTo>
                <a:lnTo>
                  <a:pt x="1160562" y="612669"/>
                </a:lnTo>
                <a:lnTo>
                  <a:pt x="1122616" y="636079"/>
                </a:lnTo>
                <a:lnTo>
                  <a:pt x="1081307" y="657584"/>
                </a:lnTo>
                <a:lnTo>
                  <a:pt x="1036866" y="677051"/>
                </a:lnTo>
                <a:lnTo>
                  <a:pt x="989527" y="694351"/>
                </a:lnTo>
                <a:lnTo>
                  <a:pt x="939521" y="709350"/>
                </a:lnTo>
                <a:lnTo>
                  <a:pt x="887079" y="721918"/>
                </a:lnTo>
                <a:lnTo>
                  <a:pt x="832435" y="731922"/>
                </a:lnTo>
                <a:lnTo>
                  <a:pt x="775820" y="739230"/>
                </a:lnTo>
                <a:lnTo>
                  <a:pt x="717466" y="743712"/>
                </a:lnTo>
                <a:lnTo>
                  <a:pt x="657606" y="745236"/>
                </a:lnTo>
                <a:lnTo>
                  <a:pt x="597745" y="743712"/>
                </a:lnTo>
                <a:lnTo>
                  <a:pt x="539391" y="739230"/>
                </a:lnTo>
                <a:lnTo>
                  <a:pt x="482776" y="731922"/>
                </a:lnTo>
                <a:lnTo>
                  <a:pt x="428132" y="721918"/>
                </a:lnTo>
                <a:lnTo>
                  <a:pt x="375690" y="709350"/>
                </a:lnTo>
                <a:lnTo>
                  <a:pt x="325684" y="694351"/>
                </a:lnTo>
                <a:lnTo>
                  <a:pt x="278345" y="677051"/>
                </a:lnTo>
                <a:lnTo>
                  <a:pt x="233904" y="657584"/>
                </a:lnTo>
                <a:lnTo>
                  <a:pt x="192595" y="636079"/>
                </a:lnTo>
                <a:lnTo>
                  <a:pt x="154649" y="612669"/>
                </a:lnTo>
                <a:lnTo>
                  <a:pt x="120298" y="587487"/>
                </a:lnTo>
                <a:lnTo>
                  <a:pt x="89774" y="560662"/>
                </a:lnTo>
                <a:lnTo>
                  <a:pt x="63310" y="532328"/>
                </a:lnTo>
                <a:lnTo>
                  <a:pt x="23487" y="471656"/>
                </a:lnTo>
                <a:lnTo>
                  <a:pt x="2687" y="406526"/>
                </a:lnTo>
                <a:lnTo>
                  <a:pt x="0" y="37261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449061" y="3236214"/>
            <a:ext cx="1271270" cy="784860"/>
          </a:xfrm>
          <a:custGeom>
            <a:avLst/>
            <a:gdLst/>
            <a:ahLst/>
            <a:cxnLst/>
            <a:rect l="l" t="t" r="r" b="b"/>
            <a:pathLst>
              <a:path w="1271270" h="784860">
                <a:moveTo>
                  <a:pt x="0" y="392430"/>
                </a:moveTo>
                <a:lnTo>
                  <a:pt x="10237" y="321875"/>
                </a:lnTo>
                <a:lnTo>
                  <a:pt x="39753" y="255475"/>
                </a:lnTo>
                <a:lnTo>
                  <a:pt x="86755" y="194338"/>
                </a:lnTo>
                <a:lnTo>
                  <a:pt x="116252" y="166088"/>
                </a:lnTo>
                <a:lnTo>
                  <a:pt x="149448" y="139569"/>
                </a:lnTo>
                <a:lnTo>
                  <a:pt x="186118" y="114919"/>
                </a:lnTo>
                <a:lnTo>
                  <a:pt x="226039" y="92276"/>
                </a:lnTo>
                <a:lnTo>
                  <a:pt x="268985" y="71778"/>
                </a:lnTo>
                <a:lnTo>
                  <a:pt x="314734" y="53565"/>
                </a:lnTo>
                <a:lnTo>
                  <a:pt x="363060" y="37774"/>
                </a:lnTo>
                <a:lnTo>
                  <a:pt x="413739" y="24544"/>
                </a:lnTo>
                <a:lnTo>
                  <a:pt x="466548" y="14014"/>
                </a:lnTo>
                <a:lnTo>
                  <a:pt x="521262" y="6320"/>
                </a:lnTo>
                <a:lnTo>
                  <a:pt x="577656" y="1603"/>
                </a:lnTo>
                <a:lnTo>
                  <a:pt x="635508" y="0"/>
                </a:lnTo>
                <a:lnTo>
                  <a:pt x="693359" y="1603"/>
                </a:lnTo>
                <a:lnTo>
                  <a:pt x="749753" y="6320"/>
                </a:lnTo>
                <a:lnTo>
                  <a:pt x="804467" y="14014"/>
                </a:lnTo>
                <a:lnTo>
                  <a:pt x="857276" y="24544"/>
                </a:lnTo>
                <a:lnTo>
                  <a:pt x="907955" y="37774"/>
                </a:lnTo>
                <a:lnTo>
                  <a:pt x="956281" y="53565"/>
                </a:lnTo>
                <a:lnTo>
                  <a:pt x="1002030" y="71778"/>
                </a:lnTo>
                <a:lnTo>
                  <a:pt x="1044976" y="92276"/>
                </a:lnTo>
                <a:lnTo>
                  <a:pt x="1084897" y="114919"/>
                </a:lnTo>
                <a:lnTo>
                  <a:pt x="1121567" y="139569"/>
                </a:lnTo>
                <a:lnTo>
                  <a:pt x="1154763" y="166088"/>
                </a:lnTo>
                <a:lnTo>
                  <a:pt x="1184260" y="194338"/>
                </a:lnTo>
                <a:lnTo>
                  <a:pt x="1209835" y="224180"/>
                </a:lnTo>
                <a:lnTo>
                  <a:pt x="1248318" y="288087"/>
                </a:lnTo>
                <a:lnTo>
                  <a:pt x="1268419" y="356702"/>
                </a:lnTo>
                <a:lnTo>
                  <a:pt x="1271015" y="392430"/>
                </a:lnTo>
                <a:lnTo>
                  <a:pt x="1268419" y="428157"/>
                </a:lnTo>
                <a:lnTo>
                  <a:pt x="1248318" y="496772"/>
                </a:lnTo>
                <a:lnTo>
                  <a:pt x="1209835" y="560679"/>
                </a:lnTo>
                <a:lnTo>
                  <a:pt x="1184260" y="590521"/>
                </a:lnTo>
                <a:lnTo>
                  <a:pt x="1154763" y="618771"/>
                </a:lnTo>
                <a:lnTo>
                  <a:pt x="1121567" y="645290"/>
                </a:lnTo>
                <a:lnTo>
                  <a:pt x="1084897" y="669940"/>
                </a:lnTo>
                <a:lnTo>
                  <a:pt x="1044976" y="692583"/>
                </a:lnTo>
                <a:lnTo>
                  <a:pt x="1002030" y="713081"/>
                </a:lnTo>
                <a:lnTo>
                  <a:pt x="956281" y="731294"/>
                </a:lnTo>
                <a:lnTo>
                  <a:pt x="907955" y="747085"/>
                </a:lnTo>
                <a:lnTo>
                  <a:pt x="857276" y="760315"/>
                </a:lnTo>
                <a:lnTo>
                  <a:pt x="804467" y="770845"/>
                </a:lnTo>
                <a:lnTo>
                  <a:pt x="749753" y="778539"/>
                </a:lnTo>
                <a:lnTo>
                  <a:pt x="693359" y="783256"/>
                </a:lnTo>
                <a:lnTo>
                  <a:pt x="635508" y="784860"/>
                </a:lnTo>
                <a:lnTo>
                  <a:pt x="577656" y="783256"/>
                </a:lnTo>
                <a:lnTo>
                  <a:pt x="521262" y="778539"/>
                </a:lnTo>
                <a:lnTo>
                  <a:pt x="466548" y="770845"/>
                </a:lnTo>
                <a:lnTo>
                  <a:pt x="413739" y="760315"/>
                </a:lnTo>
                <a:lnTo>
                  <a:pt x="363060" y="747085"/>
                </a:lnTo>
                <a:lnTo>
                  <a:pt x="314734" y="731294"/>
                </a:lnTo>
                <a:lnTo>
                  <a:pt x="268985" y="713081"/>
                </a:lnTo>
                <a:lnTo>
                  <a:pt x="226039" y="692583"/>
                </a:lnTo>
                <a:lnTo>
                  <a:pt x="186118" y="669940"/>
                </a:lnTo>
                <a:lnTo>
                  <a:pt x="149448" y="645290"/>
                </a:lnTo>
                <a:lnTo>
                  <a:pt x="116252" y="618771"/>
                </a:lnTo>
                <a:lnTo>
                  <a:pt x="86755" y="590521"/>
                </a:lnTo>
                <a:lnTo>
                  <a:pt x="61180" y="560679"/>
                </a:lnTo>
                <a:lnTo>
                  <a:pt x="22697" y="496772"/>
                </a:lnTo>
                <a:lnTo>
                  <a:pt x="2596" y="428157"/>
                </a:lnTo>
                <a:lnTo>
                  <a:pt x="0" y="39243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449061" y="4155185"/>
            <a:ext cx="1271270" cy="675640"/>
          </a:xfrm>
          <a:custGeom>
            <a:avLst/>
            <a:gdLst/>
            <a:ahLst/>
            <a:cxnLst/>
            <a:rect l="l" t="t" r="r" b="b"/>
            <a:pathLst>
              <a:path w="1271270" h="675639">
                <a:moveTo>
                  <a:pt x="0" y="337565"/>
                </a:moveTo>
                <a:lnTo>
                  <a:pt x="11457" y="273419"/>
                </a:lnTo>
                <a:lnTo>
                  <a:pt x="44410" y="213336"/>
                </a:lnTo>
                <a:lnTo>
                  <a:pt x="96729" y="158449"/>
                </a:lnTo>
                <a:lnTo>
                  <a:pt x="129486" y="133307"/>
                </a:lnTo>
                <a:lnTo>
                  <a:pt x="166285" y="109888"/>
                </a:lnTo>
                <a:lnTo>
                  <a:pt x="206862" y="88334"/>
                </a:lnTo>
                <a:lnTo>
                  <a:pt x="250949" y="68786"/>
                </a:lnTo>
                <a:lnTo>
                  <a:pt x="298281" y="51385"/>
                </a:lnTo>
                <a:lnTo>
                  <a:pt x="348592" y="36273"/>
                </a:lnTo>
                <a:lnTo>
                  <a:pt x="401615" y="23592"/>
                </a:lnTo>
                <a:lnTo>
                  <a:pt x="457084" y="13482"/>
                </a:lnTo>
                <a:lnTo>
                  <a:pt x="514733" y="6086"/>
                </a:lnTo>
                <a:lnTo>
                  <a:pt x="574297" y="1545"/>
                </a:lnTo>
                <a:lnTo>
                  <a:pt x="635508" y="0"/>
                </a:lnTo>
                <a:lnTo>
                  <a:pt x="696718" y="1545"/>
                </a:lnTo>
                <a:lnTo>
                  <a:pt x="756282" y="6086"/>
                </a:lnTo>
                <a:lnTo>
                  <a:pt x="813931" y="13482"/>
                </a:lnTo>
                <a:lnTo>
                  <a:pt x="869400" y="23592"/>
                </a:lnTo>
                <a:lnTo>
                  <a:pt x="922423" y="36273"/>
                </a:lnTo>
                <a:lnTo>
                  <a:pt x="972734" y="51385"/>
                </a:lnTo>
                <a:lnTo>
                  <a:pt x="1020066" y="68786"/>
                </a:lnTo>
                <a:lnTo>
                  <a:pt x="1064153" y="88334"/>
                </a:lnTo>
                <a:lnTo>
                  <a:pt x="1104730" y="109888"/>
                </a:lnTo>
                <a:lnTo>
                  <a:pt x="1141529" y="133307"/>
                </a:lnTo>
                <a:lnTo>
                  <a:pt x="1174286" y="158449"/>
                </a:lnTo>
                <a:lnTo>
                  <a:pt x="1202733" y="185172"/>
                </a:lnTo>
                <a:lnTo>
                  <a:pt x="1245635" y="242799"/>
                </a:lnTo>
                <a:lnTo>
                  <a:pt x="1268107" y="305055"/>
                </a:lnTo>
                <a:lnTo>
                  <a:pt x="1271015" y="337565"/>
                </a:lnTo>
                <a:lnTo>
                  <a:pt x="1268107" y="370076"/>
                </a:lnTo>
                <a:lnTo>
                  <a:pt x="1245635" y="432332"/>
                </a:lnTo>
                <a:lnTo>
                  <a:pt x="1202733" y="489959"/>
                </a:lnTo>
                <a:lnTo>
                  <a:pt x="1174286" y="516682"/>
                </a:lnTo>
                <a:lnTo>
                  <a:pt x="1141529" y="541824"/>
                </a:lnTo>
                <a:lnTo>
                  <a:pt x="1104730" y="565243"/>
                </a:lnTo>
                <a:lnTo>
                  <a:pt x="1064153" y="586797"/>
                </a:lnTo>
                <a:lnTo>
                  <a:pt x="1020066" y="606345"/>
                </a:lnTo>
                <a:lnTo>
                  <a:pt x="972734" y="623746"/>
                </a:lnTo>
                <a:lnTo>
                  <a:pt x="922423" y="638858"/>
                </a:lnTo>
                <a:lnTo>
                  <a:pt x="869400" y="651539"/>
                </a:lnTo>
                <a:lnTo>
                  <a:pt x="813931" y="661649"/>
                </a:lnTo>
                <a:lnTo>
                  <a:pt x="756282" y="669045"/>
                </a:lnTo>
                <a:lnTo>
                  <a:pt x="696718" y="673586"/>
                </a:lnTo>
                <a:lnTo>
                  <a:pt x="635508" y="675132"/>
                </a:lnTo>
                <a:lnTo>
                  <a:pt x="574297" y="673586"/>
                </a:lnTo>
                <a:lnTo>
                  <a:pt x="514733" y="669045"/>
                </a:lnTo>
                <a:lnTo>
                  <a:pt x="457084" y="661649"/>
                </a:lnTo>
                <a:lnTo>
                  <a:pt x="401615" y="651539"/>
                </a:lnTo>
                <a:lnTo>
                  <a:pt x="348592" y="638858"/>
                </a:lnTo>
                <a:lnTo>
                  <a:pt x="298281" y="623746"/>
                </a:lnTo>
                <a:lnTo>
                  <a:pt x="250949" y="606345"/>
                </a:lnTo>
                <a:lnTo>
                  <a:pt x="206862" y="586797"/>
                </a:lnTo>
                <a:lnTo>
                  <a:pt x="166285" y="565243"/>
                </a:lnTo>
                <a:lnTo>
                  <a:pt x="129486" y="541824"/>
                </a:lnTo>
                <a:lnTo>
                  <a:pt x="96729" y="516682"/>
                </a:lnTo>
                <a:lnTo>
                  <a:pt x="68282" y="489959"/>
                </a:lnTo>
                <a:lnTo>
                  <a:pt x="25380" y="432332"/>
                </a:lnTo>
                <a:lnTo>
                  <a:pt x="2908" y="370076"/>
                </a:lnTo>
                <a:lnTo>
                  <a:pt x="0" y="337565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148077" y="2861310"/>
            <a:ext cx="372110" cy="274320"/>
          </a:xfrm>
          <a:custGeom>
            <a:avLst/>
            <a:gdLst/>
            <a:ahLst/>
            <a:cxnLst/>
            <a:rect l="l" t="t" r="r" b="b"/>
            <a:pathLst>
              <a:path w="372110" h="274319">
                <a:moveTo>
                  <a:pt x="0" y="137160"/>
                </a:moveTo>
                <a:lnTo>
                  <a:pt x="25371" y="67959"/>
                </a:lnTo>
                <a:lnTo>
                  <a:pt x="54435" y="40195"/>
                </a:lnTo>
                <a:lnTo>
                  <a:pt x="92060" y="18739"/>
                </a:lnTo>
                <a:lnTo>
                  <a:pt x="136480" y="4903"/>
                </a:lnTo>
                <a:lnTo>
                  <a:pt x="185928" y="0"/>
                </a:lnTo>
                <a:lnTo>
                  <a:pt x="235375" y="4903"/>
                </a:lnTo>
                <a:lnTo>
                  <a:pt x="279795" y="18739"/>
                </a:lnTo>
                <a:lnTo>
                  <a:pt x="317420" y="40195"/>
                </a:lnTo>
                <a:lnTo>
                  <a:pt x="346484" y="67959"/>
                </a:lnTo>
                <a:lnTo>
                  <a:pt x="371856" y="137160"/>
                </a:lnTo>
                <a:lnTo>
                  <a:pt x="365218" y="173601"/>
                </a:lnTo>
                <a:lnTo>
                  <a:pt x="317420" y="234124"/>
                </a:lnTo>
                <a:lnTo>
                  <a:pt x="279795" y="255580"/>
                </a:lnTo>
                <a:lnTo>
                  <a:pt x="235375" y="269416"/>
                </a:lnTo>
                <a:lnTo>
                  <a:pt x="185928" y="274319"/>
                </a:lnTo>
                <a:lnTo>
                  <a:pt x="136480" y="269416"/>
                </a:lnTo>
                <a:lnTo>
                  <a:pt x="92060" y="255580"/>
                </a:lnTo>
                <a:lnTo>
                  <a:pt x="54435" y="234124"/>
                </a:lnTo>
                <a:lnTo>
                  <a:pt x="25371" y="206360"/>
                </a:lnTo>
                <a:lnTo>
                  <a:pt x="0" y="13716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097773" y="2861310"/>
            <a:ext cx="370840" cy="274320"/>
          </a:xfrm>
          <a:custGeom>
            <a:avLst/>
            <a:gdLst/>
            <a:ahLst/>
            <a:cxnLst/>
            <a:rect l="l" t="t" r="r" b="b"/>
            <a:pathLst>
              <a:path w="370840" h="274319">
                <a:moveTo>
                  <a:pt x="0" y="137160"/>
                </a:moveTo>
                <a:lnTo>
                  <a:pt x="25287" y="67959"/>
                </a:lnTo>
                <a:lnTo>
                  <a:pt x="54244" y="40195"/>
                </a:lnTo>
                <a:lnTo>
                  <a:pt x="91722" y="18739"/>
                </a:lnTo>
                <a:lnTo>
                  <a:pt x="135951" y="4903"/>
                </a:lnTo>
                <a:lnTo>
                  <a:pt x="185166" y="0"/>
                </a:lnTo>
                <a:lnTo>
                  <a:pt x="234380" y="4903"/>
                </a:lnTo>
                <a:lnTo>
                  <a:pt x="278609" y="18739"/>
                </a:lnTo>
                <a:lnTo>
                  <a:pt x="316087" y="40195"/>
                </a:lnTo>
                <a:lnTo>
                  <a:pt x="345044" y="67959"/>
                </a:lnTo>
                <a:lnTo>
                  <a:pt x="370331" y="137160"/>
                </a:lnTo>
                <a:lnTo>
                  <a:pt x="363715" y="173601"/>
                </a:lnTo>
                <a:lnTo>
                  <a:pt x="316087" y="234124"/>
                </a:lnTo>
                <a:lnTo>
                  <a:pt x="278609" y="255580"/>
                </a:lnTo>
                <a:lnTo>
                  <a:pt x="234380" y="269416"/>
                </a:lnTo>
                <a:lnTo>
                  <a:pt x="185166" y="274319"/>
                </a:lnTo>
                <a:lnTo>
                  <a:pt x="135951" y="269416"/>
                </a:lnTo>
                <a:lnTo>
                  <a:pt x="91722" y="255580"/>
                </a:lnTo>
                <a:lnTo>
                  <a:pt x="54244" y="234124"/>
                </a:lnTo>
                <a:lnTo>
                  <a:pt x="25287" y="206360"/>
                </a:lnTo>
                <a:lnTo>
                  <a:pt x="0" y="13716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030855" marR="5080" indent="-2907030">
              <a:lnSpc>
                <a:spcPct val="100000"/>
              </a:lnSpc>
              <a:spcBef>
                <a:spcPts val="105"/>
              </a:spcBef>
              <a:tabLst>
                <a:tab pos="2058670" algn="l"/>
              </a:tabLst>
            </a:pPr>
            <a:r>
              <a:rPr dirty="0" spc="-10"/>
              <a:t>第</a:t>
            </a:r>
            <a:r>
              <a:rPr dirty="0" spc="-960"/>
              <a:t> 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 spc="-10"/>
              <a:t>章</a:t>
            </a:r>
            <a:r>
              <a:rPr dirty="0"/>
              <a:t>	</a:t>
            </a:r>
            <a:r>
              <a:rPr dirty="0" spc="5"/>
              <a:t>形式</a:t>
            </a:r>
            <a:r>
              <a:rPr dirty="0" spc="-5"/>
              <a:t>语言</a:t>
            </a:r>
            <a:r>
              <a:rPr dirty="0" spc="-10"/>
              <a:t>与</a:t>
            </a:r>
            <a:r>
              <a:rPr dirty="0" spc="-5"/>
              <a:t>自动</a:t>
            </a:r>
            <a:r>
              <a:rPr dirty="0" spc="-10"/>
              <a:t>机基 </a:t>
            </a:r>
            <a:r>
              <a:rPr dirty="0" spc="-15"/>
              <a:t>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6966" y="1944624"/>
            <a:ext cx="6219190" cy="4142104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lvl="1" marL="1044575" indent="-1032510">
              <a:lnSpc>
                <a:spcPct val="100000"/>
              </a:lnSpc>
              <a:spcBef>
                <a:spcPts val="1180"/>
              </a:spcBef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文法和语言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5"/>
              </a:spcBef>
              <a:buClr>
                <a:srgbClr val="FFFFFF"/>
              </a:buClr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语言的语法和语义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Clr>
                <a:srgbClr val="FFFFFF"/>
              </a:buClr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文法和语言的定义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Clr>
                <a:srgbClr val="FFFFFF"/>
              </a:buClr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文法的表示方法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语法分析树与二义性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5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文法和语言的类型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8744" y="4953000"/>
            <a:ext cx="1229995" cy="515620"/>
          </a:xfrm>
          <a:custGeom>
            <a:avLst/>
            <a:gdLst/>
            <a:ahLst/>
            <a:cxnLst/>
            <a:rect l="l" t="t" r="r" b="b"/>
            <a:pathLst>
              <a:path w="1229995" h="515620">
                <a:moveTo>
                  <a:pt x="922274" y="0"/>
                </a:moveTo>
                <a:lnTo>
                  <a:pt x="922274" y="128777"/>
                </a:lnTo>
                <a:lnTo>
                  <a:pt x="0" y="128777"/>
                </a:lnTo>
                <a:lnTo>
                  <a:pt x="0" y="386334"/>
                </a:lnTo>
                <a:lnTo>
                  <a:pt x="922274" y="386334"/>
                </a:lnTo>
                <a:lnTo>
                  <a:pt x="922274" y="515112"/>
                </a:lnTo>
                <a:lnTo>
                  <a:pt x="1229868" y="257556"/>
                </a:lnTo>
                <a:lnTo>
                  <a:pt x="922274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8744" y="4953000"/>
            <a:ext cx="1229995" cy="515620"/>
          </a:xfrm>
          <a:custGeom>
            <a:avLst/>
            <a:gdLst/>
            <a:ahLst/>
            <a:cxnLst/>
            <a:rect l="l" t="t" r="r" b="b"/>
            <a:pathLst>
              <a:path w="1229995" h="515620">
                <a:moveTo>
                  <a:pt x="0" y="128777"/>
                </a:moveTo>
                <a:lnTo>
                  <a:pt x="922274" y="128777"/>
                </a:lnTo>
                <a:lnTo>
                  <a:pt x="922274" y="0"/>
                </a:lnTo>
                <a:lnTo>
                  <a:pt x="1229868" y="257556"/>
                </a:lnTo>
                <a:lnTo>
                  <a:pt x="922274" y="515112"/>
                </a:lnTo>
                <a:lnTo>
                  <a:pt x="922274" y="386334"/>
                </a:lnTo>
                <a:lnTo>
                  <a:pt x="0" y="386334"/>
                </a:lnTo>
                <a:lnTo>
                  <a:pt x="0" y="128777"/>
                </a:lnTo>
                <a:close/>
              </a:path>
            </a:pathLst>
          </a:custGeom>
          <a:ln w="9525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62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394" y="3148736"/>
            <a:ext cx="2904490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5080" indent="-26034">
              <a:lnSpc>
                <a:spcPct val="150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B0FFFF"/>
                </a:solidFill>
                <a:latin typeface="宋体"/>
                <a:cs typeface="宋体"/>
              </a:rPr>
              <a:t>分析树的根结点 </a:t>
            </a:r>
            <a:r>
              <a:rPr dirty="0" sz="2800" spc="-5" b="1">
                <a:solidFill>
                  <a:srgbClr val="B0FFFF"/>
                </a:solidFill>
                <a:latin typeface="宋体"/>
                <a:cs typeface="宋体"/>
              </a:rPr>
              <a:t>分析树的中间结点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2504" y="3148736"/>
            <a:ext cx="112458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405" marR="30480" indent="-27940">
              <a:lnSpc>
                <a:spcPct val="150000"/>
              </a:lnSpc>
              <a:spcBef>
                <a:spcPts val="100"/>
              </a:spcBef>
            </a:pPr>
            <a:r>
              <a:rPr dirty="0" sz="2800" spc="-10" b="1" i="1">
                <a:solidFill>
                  <a:srgbClr val="B0FFFF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B0FFFF"/>
                </a:solidFill>
                <a:latin typeface="宋体"/>
                <a:cs typeface="宋体"/>
              </a:rPr>
              <a:t>的</a:t>
            </a:r>
            <a:r>
              <a:rPr dirty="0" sz="2800" spc="-5" b="1" i="1">
                <a:solidFill>
                  <a:srgbClr val="B0FFFF"/>
                </a:solidFill>
                <a:latin typeface="Times New Roman"/>
                <a:cs typeface="Times New Roman"/>
              </a:rPr>
              <a:t>S  </a:t>
            </a:r>
            <a:r>
              <a:rPr dirty="0" sz="2800" spc="-10" b="1" i="1">
                <a:solidFill>
                  <a:srgbClr val="B0FFFF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B0FFFF"/>
                </a:solidFill>
                <a:latin typeface="宋体"/>
                <a:cs typeface="宋体"/>
              </a:rPr>
              <a:t>的</a:t>
            </a:r>
            <a:r>
              <a:rPr dirty="0" sz="2800" spc="-10" b="1" i="1">
                <a:solidFill>
                  <a:srgbClr val="B0FFFF"/>
                </a:solidFill>
                <a:latin typeface="Times New Roman"/>
                <a:cs typeface="Times New Roman"/>
              </a:rPr>
              <a:t>V</a:t>
            </a:r>
            <a:r>
              <a:rPr dirty="0" baseline="-21021" sz="2775" spc="22" b="1" i="1">
                <a:solidFill>
                  <a:srgbClr val="B0FFFF"/>
                </a:solidFill>
                <a:latin typeface="Times New Roman"/>
                <a:cs typeface="Times New Roman"/>
              </a:rPr>
              <a:t>N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3002" y="4694484"/>
            <a:ext cx="5718175" cy="4552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  <a:tabLst>
                <a:tab pos="4723130" algn="l"/>
              </a:tabLst>
            </a:pPr>
            <a:r>
              <a:rPr dirty="0" sz="2800" spc="-5" b="1">
                <a:solidFill>
                  <a:srgbClr val="B0FFFF"/>
                </a:solidFill>
                <a:latin typeface="宋体"/>
                <a:cs typeface="宋体"/>
              </a:rPr>
              <a:t>分析树的叶结</a:t>
            </a:r>
            <a:r>
              <a:rPr dirty="0" sz="2800" spc="-15" b="1">
                <a:solidFill>
                  <a:srgbClr val="B0FFFF"/>
                </a:solidFill>
                <a:latin typeface="宋体"/>
                <a:cs typeface="宋体"/>
              </a:rPr>
              <a:t>点</a:t>
            </a:r>
            <a:r>
              <a:rPr dirty="0" sz="2800" b="1">
                <a:solidFill>
                  <a:srgbClr val="B0FFFF"/>
                </a:solidFill>
                <a:latin typeface="宋体"/>
                <a:cs typeface="宋体"/>
              </a:rPr>
              <a:t>	</a:t>
            </a:r>
            <a:r>
              <a:rPr dirty="0" sz="2800" spc="-10" b="1" i="1">
                <a:solidFill>
                  <a:srgbClr val="B0FFFF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B0FFFF"/>
                </a:solidFill>
                <a:latin typeface="宋体"/>
                <a:cs typeface="宋体"/>
              </a:rPr>
              <a:t>的</a:t>
            </a:r>
            <a:r>
              <a:rPr dirty="0" sz="2800" spc="-10" b="1" i="1">
                <a:solidFill>
                  <a:srgbClr val="B0FFFF"/>
                </a:solidFill>
                <a:latin typeface="Times New Roman"/>
                <a:cs typeface="Times New Roman"/>
              </a:rPr>
              <a:t>V</a:t>
            </a:r>
            <a:r>
              <a:rPr dirty="0" baseline="-21021" sz="2775" spc="15" b="1" i="1">
                <a:solidFill>
                  <a:srgbClr val="B0FFFF"/>
                </a:solidFill>
                <a:latin typeface="Times New Roman"/>
                <a:cs typeface="Times New Roman"/>
              </a:rPr>
              <a:t>T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4394" y="5283200"/>
            <a:ext cx="25222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B0FFFF"/>
                </a:solidFill>
                <a:latin typeface="宋体"/>
                <a:cs typeface="宋体"/>
              </a:rPr>
              <a:t>父子结点间关系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7904" y="5283200"/>
            <a:ext cx="24231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B0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B0FFFF"/>
                </a:solidFill>
                <a:latin typeface="宋体"/>
                <a:cs typeface="宋体"/>
              </a:rPr>
              <a:t>的产生式规则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9361" y="3245357"/>
            <a:ext cx="8648700" cy="3177540"/>
          </a:xfrm>
          <a:custGeom>
            <a:avLst/>
            <a:gdLst/>
            <a:ahLst/>
            <a:cxnLst/>
            <a:rect l="l" t="t" r="r" b="b"/>
            <a:pathLst>
              <a:path w="8648700" h="3177540">
                <a:moveTo>
                  <a:pt x="0" y="3177540"/>
                </a:moveTo>
                <a:lnTo>
                  <a:pt x="8648700" y="3177540"/>
                </a:lnTo>
                <a:lnTo>
                  <a:pt x="8648700" y="0"/>
                </a:lnTo>
                <a:lnTo>
                  <a:pt x="0" y="0"/>
                </a:lnTo>
                <a:lnTo>
                  <a:pt x="0" y="317754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29911" y="3493008"/>
            <a:ext cx="1313688" cy="246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29911" y="3493008"/>
            <a:ext cx="1313815" cy="247015"/>
          </a:xfrm>
          <a:custGeom>
            <a:avLst/>
            <a:gdLst/>
            <a:ahLst/>
            <a:cxnLst/>
            <a:rect l="l" t="t" r="r" b="b"/>
            <a:pathLst>
              <a:path w="1313814" h="247014">
                <a:moveTo>
                  <a:pt x="0" y="123443"/>
                </a:moveTo>
                <a:lnTo>
                  <a:pt x="262127" y="0"/>
                </a:lnTo>
                <a:lnTo>
                  <a:pt x="262127" y="61721"/>
                </a:lnTo>
                <a:lnTo>
                  <a:pt x="1051560" y="61721"/>
                </a:lnTo>
                <a:lnTo>
                  <a:pt x="1051560" y="0"/>
                </a:lnTo>
                <a:lnTo>
                  <a:pt x="1313688" y="123443"/>
                </a:lnTo>
                <a:lnTo>
                  <a:pt x="1051560" y="246887"/>
                </a:lnTo>
                <a:lnTo>
                  <a:pt x="1051560" y="185165"/>
                </a:lnTo>
                <a:lnTo>
                  <a:pt x="262127" y="185165"/>
                </a:lnTo>
                <a:lnTo>
                  <a:pt x="262127" y="246887"/>
                </a:lnTo>
                <a:lnTo>
                  <a:pt x="0" y="123443"/>
                </a:lnTo>
                <a:close/>
              </a:path>
            </a:pathLst>
          </a:custGeom>
          <a:ln w="9525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86300" y="4120896"/>
            <a:ext cx="1315212" cy="248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86300" y="4120896"/>
            <a:ext cx="1315720" cy="248920"/>
          </a:xfrm>
          <a:custGeom>
            <a:avLst/>
            <a:gdLst/>
            <a:ahLst/>
            <a:cxnLst/>
            <a:rect l="l" t="t" r="r" b="b"/>
            <a:pathLst>
              <a:path w="1315720" h="248920">
                <a:moveTo>
                  <a:pt x="0" y="124205"/>
                </a:moveTo>
                <a:lnTo>
                  <a:pt x="263651" y="0"/>
                </a:lnTo>
                <a:lnTo>
                  <a:pt x="263651" y="62102"/>
                </a:lnTo>
                <a:lnTo>
                  <a:pt x="1051560" y="62102"/>
                </a:lnTo>
                <a:lnTo>
                  <a:pt x="1051560" y="0"/>
                </a:lnTo>
                <a:lnTo>
                  <a:pt x="1315212" y="124205"/>
                </a:lnTo>
                <a:lnTo>
                  <a:pt x="1051560" y="248411"/>
                </a:lnTo>
                <a:lnTo>
                  <a:pt x="1051560" y="186308"/>
                </a:lnTo>
                <a:lnTo>
                  <a:pt x="263651" y="186308"/>
                </a:lnTo>
                <a:lnTo>
                  <a:pt x="263651" y="248411"/>
                </a:lnTo>
                <a:lnTo>
                  <a:pt x="0" y="124205"/>
                </a:lnTo>
                <a:close/>
              </a:path>
            </a:pathLst>
          </a:custGeom>
          <a:ln w="9525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72000" y="4768596"/>
            <a:ext cx="1315212" cy="2484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72000" y="4768596"/>
            <a:ext cx="1315720" cy="248920"/>
          </a:xfrm>
          <a:custGeom>
            <a:avLst/>
            <a:gdLst/>
            <a:ahLst/>
            <a:cxnLst/>
            <a:rect l="l" t="t" r="r" b="b"/>
            <a:pathLst>
              <a:path w="1315720" h="248920">
                <a:moveTo>
                  <a:pt x="0" y="124205"/>
                </a:moveTo>
                <a:lnTo>
                  <a:pt x="263651" y="0"/>
                </a:lnTo>
                <a:lnTo>
                  <a:pt x="263651" y="62102"/>
                </a:lnTo>
                <a:lnTo>
                  <a:pt x="1051560" y="62102"/>
                </a:lnTo>
                <a:lnTo>
                  <a:pt x="1051560" y="0"/>
                </a:lnTo>
                <a:lnTo>
                  <a:pt x="1315212" y="124205"/>
                </a:lnTo>
                <a:lnTo>
                  <a:pt x="1051560" y="248411"/>
                </a:lnTo>
                <a:lnTo>
                  <a:pt x="1051560" y="186308"/>
                </a:lnTo>
                <a:lnTo>
                  <a:pt x="263651" y="186308"/>
                </a:lnTo>
                <a:lnTo>
                  <a:pt x="263651" y="248411"/>
                </a:lnTo>
                <a:lnTo>
                  <a:pt x="0" y="124205"/>
                </a:lnTo>
                <a:close/>
              </a:path>
            </a:pathLst>
          </a:custGeom>
          <a:ln w="9525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67555" y="5416296"/>
            <a:ext cx="1819656" cy="2484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67555" y="5416296"/>
            <a:ext cx="1819910" cy="248920"/>
          </a:xfrm>
          <a:custGeom>
            <a:avLst/>
            <a:gdLst/>
            <a:ahLst/>
            <a:cxnLst/>
            <a:rect l="l" t="t" r="r" b="b"/>
            <a:pathLst>
              <a:path w="1819910" h="248920">
                <a:moveTo>
                  <a:pt x="0" y="124205"/>
                </a:moveTo>
                <a:lnTo>
                  <a:pt x="364998" y="0"/>
                </a:lnTo>
                <a:lnTo>
                  <a:pt x="364998" y="62102"/>
                </a:lnTo>
                <a:lnTo>
                  <a:pt x="1454658" y="62102"/>
                </a:lnTo>
                <a:lnTo>
                  <a:pt x="1454658" y="0"/>
                </a:lnTo>
                <a:lnTo>
                  <a:pt x="1819656" y="124205"/>
                </a:lnTo>
                <a:lnTo>
                  <a:pt x="1454658" y="248411"/>
                </a:lnTo>
                <a:lnTo>
                  <a:pt x="1454658" y="186308"/>
                </a:lnTo>
                <a:lnTo>
                  <a:pt x="364998" y="186308"/>
                </a:lnTo>
                <a:lnTo>
                  <a:pt x="364998" y="248411"/>
                </a:lnTo>
                <a:lnTo>
                  <a:pt x="0" y="124205"/>
                </a:lnTo>
                <a:close/>
              </a:path>
            </a:pathLst>
          </a:custGeom>
          <a:ln w="9525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76444" y="6013703"/>
            <a:ext cx="1315211" cy="2468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076444" y="6013703"/>
            <a:ext cx="1315720" cy="247015"/>
          </a:xfrm>
          <a:custGeom>
            <a:avLst/>
            <a:gdLst/>
            <a:ahLst/>
            <a:cxnLst/>
            <a:rect l="l" t="t" r="r" b="b"/>
            <a:pathLst>
              <a:path w="1315720" h="247014">
                <a:moveTo>
                  <a:pt x="0" y="123444"/>
                </a:moveTo>
                <a:lnTo>
                  <a:pt x="262127" y="0"/>
                </a:lnTo>
                <a:lnTo>
                  <a:pt x="262127" y="61722"/>
                </a:lnTo>
                <a:lnTo>
                  <a:pt x="1053083" y="61722"/>
                </a:lnTo>
                <a:lnTo>
                  <a:pt x="1053083" y="0"/>
                </a:lnTo>
                <a:lnTo>
                  <a:pt x="1315211" y="123444"/>
                </a:lnTo>
                <a:lnTo>
                  <a:pt x="1053083" y="246888"/>
                </a:lnTo>
                <a:lnTo>
                  <a:pt x="1053083" y="185166"/>
                </a:lnTo>
                <a:lnTo>
                  <a:pt x="262127" y="185166"/>
                </a:lnTo>
                <a:lnTo>
                  <a:pt x="262127" y="246888"/>
                </a:lnTo>
                <a:lnTo>
                  <a:pt x="0" y="123444"/>
                </a:lnTo>
                <a:close/>
              </a:path>
            </a:pathLst>
          </a:custGeom>
          <a:ln w="9525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11848" y="72644"/>
            <a:ext cx="2517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2470" algn="l"/>
              </a:tabLst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语法树与二义性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421640" y="557530"/>
            <a:ext cx="461772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8369" algn="l"/>
              </a:tabLst>
            </a:pPr>
            <a:r>
              <a:rPr dirty="0" sz="3200" spc="-10">
                <a:latin typeface="宋体"/>
                <a:cs typeface="宋体"/>
              </a:rPr>
              <a:t>—</a:t>
            </a:r>
            <a:r>
              <a:rPr dirty="0" sz="3200" spc="-810">
                <a:latin typeface="宋体"/>
                <a:cs typeface="宋体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.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宋体"/>
                <a:cs typeface="宋体"/>
              </a:rPr>
              <a:t>语法分析树与二义性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7340" y="1045743"/>
            <a:ext cx="8254365" cy="2156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 marR="5080" indent="621665">
              <a:lnSpc>
                <a:spcPct val="1501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语法分析树是句子结构的图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表示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它代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了句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子的推导过程，有利于理解句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子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层次。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000">
              <a:latin typeface="宋体"/>
              <a:cs typeface="宋体"/>
            </a:endParaRPr>
          </a:p>
          <a:p>
            <a:pPr marL="365760" indent="-353695">
              <a:lnSpc>
                <a:spcPct val="100000"/>
              </a:lnSpc>
              <a:buClr>
                <a:srgbClr val="66FF99"/>
              </a:buClr>
              <a:buSzPct val="134375"/>
              <a:buFont typeface="Wingdings"/>
              <a:buChar char=""/>
              <a:tabLst>
                <a:tab pos="36639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表示：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296161" y="4516373"/>
            <a:ext cx="6146800" cy="609600"/>
          </a:xfrm>
          <a:custGeom>
            <a:avLst/>
            <a:gdLst/>
            <a:ahLst/>
            <a:cxnLst/>
            <a:rect l="l" t="t" r="r" b="b"/>
            <a:pathLst>
              <a:path w="6146800" h="609600">
                <a:moveTo>
                  <a:pt x="0" y="609600"/>
                </a:moveTo>
                <a:lnTo>
                  <a:pt x="6146292" y="609600"/>
                </a:lnTo>
                <a:lnTo>
                  <a:pt x="6146292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3D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96161" y="4516373"/>
            <a:ext cx="6146800" cy="609600"/>
          </a:xfrm>
          <a:custGeom>
            <a:avLst/>
            <a:gdLst/>
            <a:ahLst/>
            <a:cxnLst/>
            <a:rect l="l" t="t" r="r" b="b"/>
            <a:pathLst>
              <a:path w="6146800" h="609600">
                <a:moveTo>
                  <a:pt x="0" y="609600"/>
                </a:moveTo>
                <a:lnTo>
                  <a:pt x="6146292" y="609600"/>
                </a:lnTo>
                <a:lnTo>
                  <a:pt x="6146292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492240" y="5876544"/>
            <a:ext cx="1233170" cy="520065"/>
          </a:xfrm>
          <a:custGeom>
            <a:avLst/>
            <a:gdLst/>
            <a:ahLst/>
            <a:cxnLst/>
            <a:rect l="l" t="t" r="r" b="b"/>
            <a:pathLst>
              <a:path w="1233170" h="520064">
                <a:moveTo>
                  <a:pt x="0" y="519683"/>
                </a:moveTo>
                <a:lnTo>
                  <a:pt x="1232915" y="519683"/>
                </a:lnTo>
                <a:lnTo>
                  <a:pt x="1232915" y="0"/>
                </a:lnTo>
                <a:lnTo>
                  <a:pt x="0" y="0"/>
                </a:lnTo>
                <a:lnTo>
                  <a:pt x="0" y="519683"/>
                </a:lnTo>
                <a:close/>
              </a:path>
            </a:pathLst>
          </a:custGeom>
          <a:solidFill>
            <a:srgbClr val="3D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476365" y="5986219"/>
            <a:ext cx="714375" cy="355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95"/>
              </a:lnSpc>
            </a:pPr>
            <a:r>
              <a:rPr dirty="0" sz="2800" spc="-5" b="1">
                <a:solidFill>
                  <a:srgbClr val="66CCFF"/>
                </a:solidFill>
                <a:latin typeface="宋体"/>
                <a:cs typeface="宋体"/>
              </a:rPr>
              <a:t>句子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72757" y="5953707"/>
            <a:ext cx="739140" cy="38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995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句型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7340" y="5973519"/>
            <a:ext cx="4661535" cy="38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995"/>
              </a:lnSpc>
            </a:pPr>
            <a:r>
              <a:rPr dirty="0" sz="2800" spc="-5" b="1">
                <a:solidFill>
                  <a:srgbClr val="66CCFF"/>
                </a:solidFill>
                <a:latin typeface="宋体"/>
                <a:cs typeface="宋体"/>
              </a:rPr>
              <a:t>叶结点从左到右连接的符号串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65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481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48259"/>
            <a:ext cx="24828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5065" y="481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43091" y="471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939" y="72644"/>
            <a:ext cx="87744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269355" algn="l"/>
                <a:tab pos="696912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语法树与二义性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59740" y="862330"/>
            <a:ext cx="539813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宋体"/>
                <a:cs typeface="宋体"/>
              </a:rPr>
              <a:t>例</a:t>
            </a:r>
            <a:r>
              <a:rPr dirty="0" sz="3200">
                <a:latin typeface="Times New Roman"/>
                <a:cs typeface="Times New Roman"/>
              </a:rPr>
              <a:t>2.16</a:t>
            </a:r>
            <a:r>
              <a:rPr dirty="0" sz="3200" spc="-6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宋体"/>
                <a:cs typeface="宋体"/>
              </a:rPr>
              <a:t>：</a:t>
            </a:r>
            <a:r>
              <a:rPr dirty="0" sz="3200" spc="-254"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设有无符号整数的文法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68436" y="6602587"/>
            <a:ext cx="73723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66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8241" y="1350115"/>
            <a:ext cx="7835265" cy="5372735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 marL="1028700">
              <a:lnSpc>
                <a:spcPct val="100000"/>
              </a:lnSpc>
              <a:spcBef>
                <a:spcPts val="178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无符号整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数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数字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串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914400">
              <a:lnSpc>
                <a:spcPct val="100000"/>
              </a:lnSpc>
              <a:spcBef>
                <a:spcPts val="168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数字串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数字串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数字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&gt;|&lt;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数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字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914400">
              <a:lnSpc>
                <a:spcPct val="100000"/>
              </a:lnSpc>
              <a:spcBef>
                <a:spcPts val="168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数字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 | 1 |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 |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…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  <a:p>
            <a:pPr marL="37465">
              <a:lnSpc>
                <a:spcPct val="100000"/>
              </a:lnSpc>
              <a:spcBef>
                <a:spcPts val="1820"/>
              </a:spcBef>
            </a:pPr>
            <a:r>
              <a:rPr dirty="0" u="heavy" sz="2800" spc="-10" b="1">
                <a:solidFill>
                  <a:srgbClr val="99FF66"/>
                </a:solidFill>
                <a:uFill>
                  <a:solidFill>
                    <a:srgbClr val="99FF66"/>
                  </a:solidFill>
                </a:uFill>
                <a:latin typeface="宋体"/>
                <a:cs typeface="宋体"/>
              </a:rPr>
              <a:t>对句</a:t>
            </a:r>
            <a:r>
              <a:rPr dirty="0" u="heavy" sz="2800" spc="-5" b="1">
                <a:solidFill>
                  <a:srgbClr val="99FF66"/>
                </a:solidFill>
                <a:uFill>
                  <a:solidFill>
                    <a:srgbClr val="99FF66"/>
                  </a:solidFill>
                </a:uFill>
                <a:latin typeface="宋体"/>
                <a:cs typeface="宋体"/>
              </a:rPr>
              <a:t>子</a:t>
            </a:r>
            <a:r>
              <a:rPr dirty="0" u="heavy" sz="2800" spc="-5" b="1">
                <a:solidFill>
                  <a:srgbClr val="99FF66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25</a:t>
            </a:r>
            <a:r>
              <a:rPr dirty="0" u="heavy" sz="2800" spc="-10" b="1">
                <a:solidFill>
                  <a:srgbClr val="99FF66"/>
                </a:solidFill>
                <a:uFill>
                  <a:solidFill>
                    <a:srgbClr val="99FF66"/>
                  </a:solidFill>
                </a:uFill>
                <a:latin typeface="宋体"/>
                <a:cs typeface="宋体"/>
              </a:rPr>
              <a:t>的最左推导过程是：</a:t>
            </a:r>
            <a:endParaRPr sz="2800">
              <a:latin typeface="宋体"/>
              <a:cs typeface="宋体"/>
            </a:endParaRPr>
          </a:p>
          <a:p>
            <a:pPr marL="37465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无符号整</a:t>
            </a:r>
            <a:r>
              <a:rPr dirty="0" sz="2800" spc="-15" b="1">
                <a:solidFill>
                  <a:srgbClr val="FFCCCC"/>
                </a:solidFill>
                <a:latin typeface="宋体"/>
                <a:cs typeface="宋体"/>
              </a:rPr>
              <a:t>数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&gt;</a:t>
            </a:r>
            <a:r>
              <a:rPr dirty="0" sz="2800" spc="20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数字串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数字串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2259965">
              <a:lnSpc>
                <a:spcPct val="100000"/>
              </a:lnSpc>
              <a:spcBef>
                <a:spcPts val="100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 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 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25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u="heavy" sz="2800" spc="-5" b="1">
                <a:solidFill>
                  <a:srgbClr val="99FF66"/>
                </a:solidFill>
                <a:uFill>
                  <a:solidFill>
                    <a:srgbClr val="99FF66"/>
                  </a:solidFill>
                </a:uFill>
                <a:latin typeface="宋体"/>
                <a:cs typeface="宋体"/>
              </a:rPr>
              <a:t>对句子</a:t>
            </a:r>
            <a:r>
              <a:rPr dirty="0" u="heavy" sz="2800" b="1">
                <a:solidFill>
                  <a:srgbClr val="99FF66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25</a:t>
            </a:r>
            <a:r>
              <a:rPr dirty="0" u="heavy" sz="2800" spc="-5" b="1">
                <a:solidFill>
                  <a:srgbClr val="99FF66"/>
                </a:solidFill>
                <a:uFill>
                  <a:solidFill>
                    <a:srgbClr val="99FF66"/>
                  </a:solidFill>
                </a:uFill>
                <a:latin typeface="宋体"/>
                <a:cs typeface="宋体"/>
              </a:rPr>
              <a:t>的最右推导过程是：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无符号整数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&gt;</a:t>
            </a:r>
            <a:r>
              <a:rPr dirty="0" sz="2800" spc="20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数字串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数字串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2324735">
              <a:lnSpc>
                <a:spcPct val="100000"/>
              </a:lnSpc>
              <a:spcBef>
                <a:spcPts val="67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数字串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&gt;5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&lt;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&gt;5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=&gt;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25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0"/>
            <a:ext cx="9143238" cy="4777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458723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0"/>
            <a:ext cx="0" cy="478155"/>
          </a:xfrm>
          <a:custGeom>
            <a:avLst/>
            <a:gdLst/>
            <a:ahLst/>
            <a:cxnLst/>
            <a:rect l="l" t="t" r="r" b="b"/>
            <a:pathLst>
              <a:path w="0" h="478155">
                <a:moveTo>
                  <a:pt x="0" y="0"/>
                </a:moveTo>
                <a:lnTo>
                  <a:pt x="0" y="477774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54939" y="53721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11848" y="53721"/>
            <a:ext cx="2517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2470" algn="l"/>
              </a:tabLst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语法树与二义性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94938" y="181482"/>
            <a:ext cx="249936" cy="1139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43091" y="180339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5085" y="36702"/>
                </a:moveTo>
                <a:lnTo>
                  <a:pt x="188341" y="36702"/>
                </a:lnTo>
                <a:lnTo>
                  <a:pt x="191008" y="74675"/>
                </a:lnTo>
                <a:lnTo>
                  <a:pt x="172083" y="76002"/>
                </a:lnTo>
                <a:lnTo>
                  <a:pt x="174752" y="114045"/>
                </a:lnTo>
                <a:lnTo>
                  <a:pt x="284734" y="49021"/>
                </a:lnTo>
                <a:lnTo>
                  <a:pt x="255085" y="36702"/>
                </a:lnTo>
                <a:close/>
              </a:path>
              <a:path w="285114" h="114300">
                <a:moveTo>
                  <a:pt x="169418" y="38017"/>
                </a:moveTo>
                <a:lnTo>
                  <a:pt x="0" y="49783"/>
                </a:lnTo>
                <a:lnTo>
                  <a:pt x="2540" y="87883"/>
                </a:lnTo>
                <a:lnTo>
                  <a:pt x="172083" y="76002"/>
                </a:lnTo>
                <a:lnTo>
                  <a:pt x="169418" y="38017"/>
                </a:lnTo>
                <a:close/>
              </a:path>
              <a:path w="285114" h="114300">
                <a:moveTo>
                  <a:pt x="188341" y="36702"/>
                </a:moveTo>
                <a:lnTo>
                  <a:pt x="169418" y="38017"/>
                </a:lnTo>
                <a:lnTo>
                  <a:pt x="172083" y="76002"/>
                </a:lnTo>
                <a:lnTo>
                  <a:pt x="191008" y="74675"/>
                </a:lnTo>
                <a:lnTo>
                  <a:pt x="188341" y="36702"/>
                </a:lnTo>
                <a:close/>
              </a:path>
              <a:path w="285114" h="114300">
                <a:moveTo>
                  <a:pt x="166750" y="0"/>
                </a:moveTo>
                <a:lnTo>
                  <a:pt x="169418" y="38017"/>
                </a:lnTo>
                <a:lnTo>
                  <a:pt x="188341" y="36702"/>
                </a:lnTo>
                <a:lnTo>
                  <a:pt x="255085" y="36702"/>
                </a:lnTo>
                <a:lnTo>
                  <a:pt x="166750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83944" y="1638680"/>
            <a:ext cx="21685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〈无符号整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17598" y="2172461"/>
            <a:ext cx="15240" cy="487680"/>
          </a:xfrm>
          <a:custGeom>
            <a:avLst/>
            <a:gdLst/>
            <a:ahLst/>
            <a:cxnLst/>
            <a:rect l="l" t="t" r="r" b="b"/>
            <a:pathLst>
              <a:path w="15239" h="487680">
                <a:moveTo>
                  <a:pt x="7619" y="-19050"/>
                </a:moveTo>
                <a:lnTo>
                  <a:pt x="7619" y="506729"/>
                </a:lnTo>
              </a:path>
            </a:pathLst>
          </a:custGeom>
          <a:ln w="5333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393316" y="2748229"/>
            <a:ext cx="155638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〈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93289" y="3912489"/>
            <a:ext cx="1249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〈数字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82089" y="3339846"/>
            <a:ext cx="445134" cy="500380"/>
          </a:xfrm>
          <a:custGeom>
            <a:avLst/>
            <a:gdLst/>
            <a:ahLst/>
            <a:cxnLst/>
            <a:rect l="l" t="t" r="r" b="b"/>
            <a:pathLst>
              <a:path w="445135" h="500379">
                <a:moveTo>
                  <a:pt x="445008" y="0"/>
                </a:moveTo>
                <a:lnTo>
                  <a:pt x="0" y="49987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70582" y="3339846"/>
            <a:ext cx="666115" cy="500380"/>
          </a:xfrm>
          <a:custGeom>
            <a:avLst/>
            <a:gdLst/>
            <a:ahLst/>
            <a:cxnLst/>
            <a:rect l="l" t="t" r="r" b="b"/>
            <a:pathLst>
              <a:path w="666114" h="500379">
                <a:moveTo>
                  <a:pt x="0" y="0"/>
                </a:moveTo>
                <a:lnTo>
                  <a:pt x="665988" y="499871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32815" y="3893007"/>
            <a:ext cx="155638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〈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数字串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66266" y="4179570"/>
            <a:ext cx="0" cy="500380"/>
          </a:xfrm>
          <a:custGeom>
            <a:avLst/>
            <a:gdLst/>
            <a:ahLst/>
            <a:cxnLst/>
            <a:rect l="l" t="t" r="r" b="b"/>
            <a:pathLst>
              <a:path w="0" h="500379">
                <a:moveTo>
                  <a:pt x="0" y="0"/>
                </a:moveTo>
                <a:lnTo>
                  <a:pt x="0" y="49987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41959" y="4692142"/>
            <a:ext cx="1249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〈数字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86077" y="5110734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43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331467" y="554197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53561" y="4142994"/>
            <a:ext cx="0" cy="407034"/>
          </a:xfrm>
          <a:custGeom>
            <a:avLst/>
            <a:gdLst/>
            <a:ahLst/>
            <a:cxnLst/>
            <a:rect l="l" t="t" r="r" b="b"/>
            <a:pathLst>
              <a:path w="0" h="407035">
                <a:moveTo>
                  <a:pt x="0" y="0"/>
                </a:moveTo>
                <a:lnTo>
                  <a:pt x="0" y="40690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288284" y="457327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59402" y="1634108"/>
            <a:ext cx="14077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5615" algn="l"/>
              </a:tabLst>
            </a:pPr>
            <a:r>
              <a:rPr dirty="0" sz="2800" spc="-5">
                <a:solidFill>
                  <a:srgbClr val="FFFF00"/>
                </a:solidFill>
                <a:latin typeface="Wingdings"/>
                <a:cs typeface="Wingdings"/>
              </a:rPr>
              <a:t>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注意：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83202" y="2062458"/>
            <a:ext cx="4483100" cy="1929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85800">
              <a:lnSpc>
                <a:spcPct val="1501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B0FFFF"/>
                </a:solidFill>
                <a:latin typeface="宋体"/>
                <a:cs typeface="宋体"/>
              </a:rPr>
              <a:t>一棵分析树包括了一个 </a:t>
            </a:r>
            <a:r>
              <a:rPr dirty="0" sz="2800" spc="-5" b="1">
                <a:solidFill>
                  <a:srgbClr val="B0FFFF"/>
                </a:solidFill>
                <a:latin typeface="宋体"/>
                <a:cs typeface="宋体"/>
              </a:rPr>
              <a:t>句型的所有可能的推导过</a:t>
            </a:r>
            <a:r>
              <a:rPr dirty="0" sz="2800" b="1">
                <a:solidFill>
                  <a:srgbClr val="B0FFFF"/>
                </a:solidFill>
                <a:latin typeface="宋体"/>
                <a:cs typeface="宋体"/>
              </a:rPr>
              <a:t>程</a:t>
            </a:r>
            <a:r>
              <a:rPr dirty="0" sz="2800" spc="-5" b="1">
                <a:solidFill>
                  <a:srgbClr val="B0FFFF"/>
                </a:solidFill>
                <a:latin typeface="Times New Roman"/>
                <a:cs typeface="Times New Roman"/>
              </a:rPr>
              <a:t>?</a:t>
            </a:r>
            <a:endParaRPr sz="2800">
              <a:latin typeface="Times New Roman"/>
              <a:cs typeface="Times New Roman"/>
            </a:endParaRPr>
          </a:p>
          <a:p>
            <a:pPr algn="ctr" marL="488315">
              <a:lnSpc>
                <a:spcPct val="100000"/>
              </a:lnSpc>
              <a:spcBef>
                <a:spcPts val="2014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一个句型是否只对应一棵分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08475" y="4148454"/>
            <a:ext cx="4318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析树？或者是否只有惟一的最左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08475" y="4697348"/>
            <a:ext cx="1865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（右）推导？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287511" y="4040123"/>
            <a:ext cx="323215" cy="0"/>
          </a:xfrm>
          <a:custGeom>
            <a:avLst/>
            <a:gdLst/>
            <a:ahLst/>
            <a:cxnLst/>
            <a:rect l="l" t="t" r="r" b="b"/>
            <a:pathLst>
              <a:path w="323215" h="0">
                <a:moveTo>
                  <a:pt x="0" y="0"/>
                </a:moveTo>
                <a:lnTo>
                  <a:pt x="323088" y="0"/>
                </a:lnTo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293108" y="4562855"/>
            <a:ext cx="599440" cy="0"/>
          </a:xfrm>
          <a:custGeom>
            <a:avLst/>
            <a:gdLst/>
            <a:ahLst/>
            <a:cxnLst/>
            <a:rect l="l" t="t" r="r" b="b"/>
            <a:pathLst>
              <a:path w="599439" h="0">
                <a:moveTo>
                  <a:pt x="0" y="0"/>
                </a:moveTo>
                <a:lnTo>
                  <a:pt x="598931" y="0"/>
                </a:lnTo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379207" y="4600955"/>
            <a:ext cx="1346200" cy="0"/>
          </a:xfrm>
          <a:custGeom>
            <a:avLst/>
            <a:gdLst/>
            <a:ahLst/>
            <a:cxnLst/>
            <a:rect l="l" t="t" r="r" b="b"/>
            <a:pathLst>
              <a:path w="1346200" h="0">
                <a:moveTo>
                  <a:pt x="0" y="0"/>
                </a:moveTo>
                <a:lnTo>
                  <a:pt x="1345692" y="0"/>
                </a:lnTo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293108" y="5111496"/>
            <a:ext cx="599440" cy="0"/>
          </a:xfrm>
          <a:custGeom>
            <a:avLst/>
            <a:gdLst/>
            <a:ahLst/>
            <a:cxnLst/>
            <a:rect l="l" t="t" r="r" b="b"/>
            <a:pathLst>
              <a:path w="599439" h="0">
                <a:moveTo>
                  <a:pt x="0" y="0"/>
                </a:moveTo>
                <a:lnTo>
                  <a:pt x="598931" y="0"/>
                </a:lnTo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30708" y="477012"/>
            <a:ext cx="5556885" cy="1126490"/>
          </a:xfrm>
          <a:prstGeom prst="rect">
            <a:avLst/>
          </a:prstGeom>
          <a:solidFill>
            <a:srgbClr val="3D0000"/>
          </a:solidFill>
        </p:spPr>
        <p:txBody>
          <a:bodyPr wrap="square" lIns="0" tIns="3937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无符号整数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000" spc="-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数字串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endParaRPr sz="2000">
              <a:latin typeface="Times New Roman"/>
              <a:cs typeface="Times New Roman"/>
            </a:endParaRPr>
          </a:p>
          <a:p>
            <a:pPr marL="598170">
              <a:lnSpc>
                <a:spcPct val="100000"/>
              </a:lnSpc>
              <a:spcBef>
                <a:spcPts val="480"/>
              </a:spcBef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数字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串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0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20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数字串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&gt;&lt;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数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字</a:t>
            </a:r>
            <a:r>
              <a:rPr dirty="0" sz="2000" spc="-10" b="1">
                <a:solidFill>
                  <a:srgbClr val="FFFF00"/>
                </a:solidFill>
                <a:latin typeface="Times New Roman"/>
                <a:cs typeface="Times New Roman"/>
              </a:rPr>
              <a:t>&gt;|&lt;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数字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endParaRPr sz="2000">
              <a:latin typeface="Times New Roman"/>
              <a:cs typeface="Times New Roman"/>
            </a:endParaRPr>
          </a:p>
          <a:p>
            <a:pPr marL="852805">
              <a:lnSpc>
                <a:spcPct val="100000"/>
              </a:lnSpc>
              <a:spcBef>
                <a:spcPts val="480"/>
              </a:spcBef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数字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0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0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1 |</a:t>
            </a:r>
            <a:r>
              <a:rPr dirty="0" sz="20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2 |</a:t>
            </a:r>
            <a:r>
              <a:rPr dirty="0" sz="20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…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0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16458" y="6144005"/>
            <a:ext cx="1501140" cy="548640"/>
          </a:xfrm>
          <a:custGeom>
            <a:avLst/>
            <a:gdLst/>
            <a:ahLst/>
            <a:cxnLst/>
            <a:rect l="l" t="t" r="r" b="b"/>
            <a:pathLst>
              <a:path w="1501139" h="548640">
                <a:moveTo>
                  <a:pt x="0" y="548640"/>
                </a:moveTo>
                <a:lnTo>
                  <a:pt x="1501140" y="548640"/>
                </a:lnTo>
                <a:lnTo>
                  <a:pt x="1501140" y="0"/>
                </a:lnTo>
                <a:lnTo>
                  <a:pt x="0" y="0"/>
                </a:lnTo>
                <a:lnTo>
                  <a:pt x="0" y="54864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94740" y="6170472"/>
            <a:ext cx="10953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分析树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237738" y="5371338"/>
            <a:ext cx="1932939" cy="547370"/>
          </a:xfrm>
          <a:custGeom>
            <a:avLst/>
            <a:gdLst/>
            <a:ahLst/>
            <a:cxnLst/>
            <a:rect l="l" t="t" r="r" b="b"/>
            <a:pathLst>
              <a:path w="1932939" h="547370">
                <a:moveTo>
                  <a:pt x="0" y="547116"/>
                </a:moveTo>
                <a:lnTo>
                  <a:pt x="1932432" y="547116"/>
                </a:lnTo>
                <a:lnTo>
                  <a:pt x="1932432" y="0"/>
                </a:lnTo>
                <a:lnTo>
                  <a:pt x="0" y="0"/>
                </a:lnTo>
                <a:lnTo>
                  <a:pt x="0" y="547116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3316351" y="5397194"/>
            <a:ext cx="14522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最左推导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237738" y="6285738"/>
            <a:ext cx="1932939" cy="547370"/>
          </a:xfrm>
          <a:custGeom>
            <a:avLst/>
            <a:gdLst/>
            <a:ahLst/>
            <a:cxnLst/>
            <a:rect l="l" t="t" r="r" b="b"/>
            <a:pathLst>
              <a:path w="1932939" h="547370">
                <a:moveTo>
                  <a:pt x="0" y="547116"/>
                </a:moveTo>
                <a:lnTo>
                  <a:pt x="1932432" y="547116"/>
                </a:lnTo>
                <a:lnTo>
                  <a:pt x="1932432" y="0"/>
                </a:lnTo>
                <a:lnTo>
                  <a:pt x="0" y="0"/>
                </a:lnTo>
                <a:lnTo>
                  <a:pt x="0" y="547116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316351" y="6311900"/>
            <a:ext cx="14522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最右推导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116835" y="5644896"/>
            <a:ext cx="1120775" cy="773430"/>
          </a:xfrm>
          <a:custGeom>
            <a:avLst/>
            <a:gdLst/>
            <a:ahLst/>
            <a:cxnLst/>
            <a:rect l="l" t="t" r="r" b="b"/>
            <a:pathLst>
              <a:path w="1120775" h="773429">
                <a:moveTo>
                  <a:pt x="0" y="773112"/>
                </a:moveTo>
                <a:lnTo>
                  <a:pt x="1120775" y="0"/>
                </a:lnTo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116835" y="6417564"/>
            <a:ext cx="1120775" cy="141605"/>
          </a:xfrm>
          <a:custGeom>
            <a:avLst/>
            <a:gdLst/>
            <a:ahLst/>
            <a:cxnLst/>
            <a:rect l="l" t="t" r="r" b="b"/>
            <a:pathLst>
              <a:path w="1120775" h="141604">
                <a:moveTo>
                  <a:pt x="1120775" y="141287"/>
                </a:moveTo>
                <a:lnTo>
                  <a:pt x="0" y="0"/>
                </a:lnTo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162810" y="5514847"/>
            <a:ext cx="854075" cy="598805"/>
          </a:xfrm>
          <a:custGeom>
            <a:avLst/>
            <a:gdLst/>
            <a:ahLst/>
            <a:cxnLst/>
            <a:rect l="l" t="t" r="r" b="b"/>
            <a:pathLst>
              <a:path w="854075" h="598804">
                <a:moveTo>
                  <a:pt x="219582" y="408901"/>
                </a:moveTo>
                <a:lnTo>
                  <a:pt x="209041" y="445185"/>
                </a:lnTo>
                <a:lnTo>
                  <a:pt x="0" y="591540"/>
                </a:lnTo>
                <a:lnTo>
                  <a:pt x="23367" y="598601"/>
                </a:lnTo>
                <a:lnTo>
                  <a:pt x="52196" y="573455"/>
                </a:lnTo>
                <a:lnTo>
                  <a:pt x="269494" y="421347"/>
                </a:lnTo>
                <a:lnTo>
                  <a:pt x="219582" y="408901"/>
                </a:lnTo>
                <a:close/>
              </a:path>
              <a:path w="854075" h="598804">
                <a:moveTo>
                  <a:pt x="282066" y="327253"/>
                </a:moveTo>
                <a:lnTo>
                  <a:pt x="280034" y="338950"/>
                </a:lnTo>
                <a:lnTo>
                  <a:pt x="372363" y="371259"/>
                </a:lnTo>
                <a:lnTo>
                  <a:pt x="374124" y="385351"/>
                </a:lnTo>
                <a:lnTo>
                  <a:pt x="375396" y="400978"/>
                </a:lnTo>
                <a:lnTo>
                  <a:pt x="376168" y="418141"/>
                </a:lnTo>
                <a:lnTo>
                  <a:pt x="376416" y="437286"/>
                </a:lnTo>
                <a:lnTo>
                  <a:pt x="375927" y="455977"/>
                </a:lnTo>
                <a:lnTo>
                  <a:pt x="374618" y="474465"/>
                </a:lnTo>
                <a:lnTo>
                  <a:pt x="372498" y="492305"/>
                </a:lnTo>
                <a:lnTo>
                  <a:pt x="369569" y="509498"/>
                </a:lnTo>
                <a:lnTo>
                  <a:pt x="378459" y="517347"/>
                </a:lnTo>
                <a:lnTo>
                  <a:pt x="391334" y="474278"/>
                </a:lnTo>
                <a:lnTo>
                  <a:pt x="398537" y="422897"/>
                </a:lnTo>
                <a:lnTo>
                  <a:pt x="398663" y="418998"/>
                </a:lnTo>
                <a:lnTo>
                  <a:pt x="398559" y="403974"/>
                </a:lnTo>
                <a:lnTo>
                  <a:pt x="397708" y="391830"/>
                </a:lnTo>
                <a:lnTo>
                  <a:pt x="395731" y="379107"/>
                </a:lnTo>
                <a:lnTo>
                  <a:pt x="448234" y="379107"/>
                </a:lnTo>
                <a:lnTo>
                  <a:pt x="444039" y="376422"/>
                </a:lnTo>
                <a:lnTo>
                  <a:pt x="431228" y="369947"/>
                </a:lnTo>
                <a:lnTo>
                  <a:pt x="414702" y="362820"/>
                </a:lnTo>
                <a:lnTo>
                  <a:pt x="394462" y="355041"/>
                </a:lnTo>
                <a:lnTo>
                  <a:pt x="393036" y="348500"/>
                </a:lnTo>
                <a:lnTo>
                  <a:pt x="367919" y="348500"/>
                </a:lnTo>
                <a:lnTo>
                  <a:pt x="348271" y="342957"/>
                </a:lnTo>
                <a:lnTo>
                  <a:pt x="327421" y="337567"/>
                </a:lnTo>
                <a:lnTo>
                  <a:pt x="305357" y="332332"/>
                </a:lnTo>
                <a:lnTo>
                  <a:pt x="282066" y="327253"/>
                </a:lnTo>
                <a:close/>
              </a:path>
              <a:path w="854075" h="598804">
                <a:moveTo>
                  <a:pt x="448234" y="379107"/>
                </a:moveTo>
                <a:lnTo>
                  <a:pt x="395731" y="379107"/>
                </a:lnTo>
                <a:lnTo>
                  <a:pt x="411208" y="389816"/>
                </a:lnTo>
                <a:lnTo>
                  <a:pt x="425243" y="400034"/>
                </a:lnTo>
                <a:lnTo>
                  <a:pt x="437826" y="409761"/>
                </a:lnTo>
                <a:lnTo>
                  <a:pt x="448944" y="418998"/>
                </a:lnTo>
                <a:lnTo>
                  <a:pt x="457733" y="427003"/>
                </a:lnTo>
                <a:lnTo>
                  <a:pt x="465058" y="431987"/>
                </a:lnTo>
                <a:lnTo>
                  <a:pt x="470929" y="433946"/>
                </a:lnTo>
                <a:lnTo>
                  <a:pt x="475360" y="432879"/>
                </a:lnTo>
                <a:lnTo>
                  <a:pt x="477012" y="431698"/>
                </a:lnTo>
                <a:lnTo>
                  <a:pt x="478408" y="428370"/>
                </a:lnTo>
                <a:lnTo>
                  <a:pt x="479425" y="422897"/>
                </a:lnTo>
                <a:lnTo>
                  <a:pt x="480313" y="417436"/>
                </a:lnTo>
                <a:lnTo>
                  <a:pt x="478663" y="411124"/>
                </a:lnTo>
                <a:lnTo>
                  <a:pt x="453135" y="382244"/>
                </a:lnTo>
                <a:lnTo>
                  <a:pt x="448234" y="379107"/>
                </a:lnTo>
                <a:close/>
              </a:path>
              <a:path w="854075" h="598804">
                <a:moveTo>
                  <a:pt x="501837" y="226263"/>
                </a:moveTo>
                <a:lnTo>
                  <a:pt x="468375" y="226263"/>
                </a:lnTo>
                <a:lnTo>
                  <a:pt x="566419" y="366217"/>
                </a:lnTo>
                <a:lnTo>
                  <a:pt x="566038" y="369620"/>
                </a:lnTo>
                <a:lnTo>
                  <a:pt x="515238" y="397573"/>
                </a:lnTo>
                <a:lnTo>
                  <a:pt x="523366" y="409041"/>
                </a:lnTo>
                <a:lnTo>
                  <a:pt x="545584" y="403509"/>
                </a:lnTo>
                <a:lnTo>
                  <a:pt x="562895" y="401600"/>
                </a:lnTo>
                <a:lnTo>
                  <a:pt x="586991" y="401600"/>
                </a:lnTo>
                <a:lnTo>
                  <a:pt x="592189" y="392858"/>
                </a:lnTo>
                <a:lnTo>
                  <a:pt x="596741" y="378540"/>
                </a:lnTo>
                <a:lnTo>
                  <a:pt x="596483" y="365697"/>
                </a:lnTo>
                <a:lnTo>
                  <a:pt x="591438" y="354329"/>
                </a:lnTo>
                <a:lnTo>
                  <a:pt x="501837" y="226263"/>
                </a:lnTo>
                <a:close/>
              </a:path>
              <a:path w="854075" h="598804">
                <a:moveTo>
                  <a:pt x="586991" y="401600"/>
                </a:moveTo>
                <a:lnTo>
                  <a:pt x="562895" y="401600"/>
                </a:lnTo>
                <a:lnTo>
                  <a:pt x="575302" y="403314"/>
                </a:lnTo>
                <a:lnTo>
                  <a:pt x="582802" y="408647"/>
                </a:lnTo>
                <a:lnTo>
                  <a:pt x="586991" y="401600"/>
                </a:lnTo>
                <a:close/>
              </a:path>
              <a:path w="854075" h="598804">
                <a:moveTo>
                  <a:pt x="415670" y="287896"/>
                </a:moveTo>
                <a:lnTo>
                  <a:pt x="412369" y="298005"/>
                </a:lnTo>
                <a:lnTo>
                  <a:pt x="429730" y="307713"/>
                </a:lnTo>
                <a:lnTo>
                  <a:pt x="444779" y="317372"/>
                </a:lnTo>
                <a:lnTo>
                  <a:pt x="457213" y="326744"/>
                </a:lnTo>
                <a:lnTo>
                  <a:pt x="467359" y="336067"/>
                </a:lnTo>
                <a:lnTo>
                  <a:pt x="474003" y="343327"/>
                </a:lnTo>
                <a:lnTo>
                  <a:pt x="479837" y="347751"/>
                </a:lnTo>
                <a:lnTo>
                  <a:pt x="484862" y="349336"/>
                </a:lnTo>
                <a:lnTo>
                  <a:pt x="489076" y="348081"/>
                </a:lnTo>
                <a:lnTo>
                  <a:pt x="490981" y="346786"/>
                </a:lnTo>
                <a:lnTo>
                  <a:pt x="491997" y="341845"/>
                </a:lnTo>
                <a:lnTo>
                  <a:pt x="492759" y="324662"/>
                </a:lnTo>
                <a:lnTo>
                  <a:pt x="490854" y="317372"/>
                </a:lnTo>
                <a:lnTo>
                  <a:pt x="486649" y="311383"/>
                </a:lnTo>
                <a:lnTo>
                  <a:pt x="483488" y="306768"/>
                </a:lnTo>
                <a:lnTo>
                  <a:pt x="434459" y="289627"/>
                </a:lnTo>
                <a:lnTo>
                  <a:pt x="415670" y="287896"/>
                </a:lnTo>
                <a:close/>
              </a:path>
              <a:path w="854075" h="598804">
                <a:moveTo>
                  <a:pt x="370918" y="264693"/>
                </a:moveTo>
                <a:lnTo>
                  <a:pt x="340994" y="264693"/>
                </a:lnTo>
                <a:lnTo>
                  <a:pt x="349327" y="289234"/>
                </a:lnTo>
                <a:lnTo>
                  <a:pt x="356606" y="311403"/>
                </a:lnTo>
                <a:lnTo>
                  <a:pt x="362801" y="331139"/>
                </a:lnTo>
                <a:lnTo>
                  <a:pt x="367919" y="348500"/>
                </a:lnTo>
                <a:lnTo>
                  <a:pt x="393036" y="348500"/>
                </a:lnTo>
                <a:lnTo>
                  <a:pt x="383587" y="308757"/>
                </a:lnTo>
                <a:lnTo>
                  <a:pt x="370585" y="276288"/>
                </a:lnTo>
                <a:lnTo>
                  <a:pt x="373749" y="274074"/>
                </a:lnTo>
                <a:lnTo>
                  <a:pt x="370918" y="264693"/>
                </a:lnTo>
                <a:close/>
              </a:path>
              <a:path w="854075" h="598804">
                <a:moveTo>
                  <a:pt x="335406" y="231851"/>
                </a:moveTo>
                <a:lnTo>
                  <a:pt x="333756" y="251320"/>
                </a:lnTo>
                <a:lnTo>
                  <a:pt x="244220" y="313918"/>
                </a:lnTo>
                <a:lnTo>
                  <a:pt x="267588" y="320967"/>
                </a:lnTo>
                <a:lnTo>
                  <a:pt x="340994" y="264693"/>
                </a:lnTo>
                <a:lnTo>
                  <a:pt x="370918" y="264693"/>
                </a:lnTo>
                <a:lnTo>
                  <a:pt x="367664" y="253911"/>
                </a:lnTo>
                <a:lnTo>
                  <a:pt x="371982" y="235280"/>
                </a:lnTo>
                <a:lnTo>
                  <a:pt x="335406" y="231851"/>
                </a:lnTo>
                <a:close/>
              </a:path>
              <a:path w="854075" h="598804">
                <a:moveTo>
                  <a:pt x="452119" y="133921"/>
                </a:moveTo>
                <a:lnTo>
                  <a:pt x="406907" y="140677"/>
                </a:lnTo>
                <a:lnTo>
                  <a:pt x="413861" y="149564"/>
                </a:lnTo>
                <a:lnTo>
                  <a:pt x="420814" y="158756"/>
                </a:lnTo>
                <a:lnTo>
                  <a:pt x="427767" y="168252"/>
                </a:lnTo>
                <a:lnTo>
                  <a:pt x="434720" y="178053"/>
                </a:lnTo>
                <a:lnTo>
                  <a:pt x="459739" y="213906"/>
                </a:lnTo>
                <a:lnTo>
                  <a:pt x="373749" y="274074"/>
                </a:lnTo>
                <a:lnTo>
                  <a:pt x="374798" y="277552"/>
                </a:lnTo>
                <a:lnTo>
                  <a:pt x="394081" y="283336"/>
                </a:lnTo>
                <a:lnTo>
                  <a:pt x="399942" y="277038"/>
                </a:lnTo>
                <a:lnTo>
                  <a:pt x="406114" y="271137"/>
                </a:lnTo>
                <a:lnTo>
                  <a:pt x="412619" y="265633"/>
                </a:lnTo>
                <a:lnTo>
                  <a:pt x="419481" y="260527"/>
                </a:lnTo>
                <a:lnTo>
                  <a:pt x="468375" y="226263"/>
                </a:lnTo>
                <a:lnTo>
                  <a:pt x="501837" y="226263"/>
                </a:lnTo>
                <a:lnTo>
                  <a:pt x="490854" y="210565"/>
                </a:lnTo>
                <a:lnTo>
                  <a:pt x="508501" y="198208"/>
                </a:lnTo>
                <a:lnTo>
                  <a:pt x="482219" y="198208"/>
                </a:lnTo>
                <a:lnTo>
                  <a:pt x="449579" y="151549"/>
                </a:lnTo>
                <a:lnTo>
                  <a:pt x="452119" y="133921"/>
                </a:lnTo>
                <a:close/>
              </a:path>
              <a:path w="854075" h="598804">
                <a:moveTo>
                  <a:pt x="373749" y="274074"/>
                </a:moveTo>
                <a:lnTo>
                  <a:pt x="370585" y="276288"/>
                </a:lnTo>
                <a:lnTo>
                  <a:pt x="374798" y="277552"/>
                </a:lnTo>
                <a:lnTo>
                  <a:pt x="373749" y="274074"/>
                </a:lnTo>
                <a:close/>
              </a:path>
              <a:path w="854075" h="598804">
                <a:moveTo>
                  <a:pt x="494538" y="166281"/>
                </a:moveTo>
                <a:lnTo>
                  <a:pt x="489331" y="193268"/>
                </a:lnTo>
                <a:lnTo>
                  <a:pt x="482219" y="198208"/>
                </a:lnTo>
                <a:lnTo>
                  <a:pt x="508501" y="198208"/>
                </a:lnTo>
                <a:lnTo>
                  <a:pt x="538733" y="177037"/>
                </a:lnTo>
                <a:lnTo>
                  <a:pt x="494538" y="166281"/>
                </a:lnTo>
                <a:close/>
              </a:path>
              <a:path w="854075" h="598804">
                <a:moveTo>
                  <a:pt x="803909" y="0"/>
                </a:moveTo>
                <a:lnTo>
                  <a:pt x="793495" y="36194"/>
                </a:lnTo>
                <a:lnTo>
                  <a:pt x="584326" y="182587"/>
                </a:lnTo>
                <a:lnTo>
                  <a:pt x="607694" y="189661"/>
                </a:lnTo>
                <a:lnTo>
                  <a:pt x="636523" y="164515"/>
                </a:lnTo>
                <a:lnTo>
                  <a:pt x="853820" y="12445"/>
                </a:lnTo>
                <a:lnTo>
                  <a:pt x="8039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167763" y="6494310"/>
            <a:ext cx="1014094" cy="314325"/>
          </a:xfrm>
          <a:custGeom>
            <a:avLst/>
            <a:gdLst/>
            <a:ahLst/>
            <a:cxnLst/>
            <a:rect l="l" t="t" r="r" b="b"/>
            <a:pathLst>
              <a:path w="1014094" h="314325">
                <a:moveTo>
                  <a:pt x="122318" y="54196"/>
                </a:moveTo>
                <a:lnTo>
                  <a:pt x="20441" y="54196"/>
                </a:lnTo>
                <a:lnTo>
                  <a:pt x="29765" y="54517"/>
                </a:lnTo>
                <a:lnTo>
                  <a:pt x="39542" y="55434"/>
                </a:lnTo>
                <a:lnTo>
                  <a:pt x="49784" y="56946"/>
                </a:lnTo>
                <a:lnTo>
                  <a:pt x="311150" y="102260"/>
                </a:lnTo>
                <a:lnTo>
                  <a:pt x="295600" y="76581"/>
                </a:lnTo>
                <a:lnTo>
                  <a:pt x="251460" y="76581"/>
                </a:lnTo>
                <a:lnTo>
                  <a:pt x="122318" y="54196"/>
                </a:lnTo>
                <a:close/>
              </a:path>
              <a:path w="1014094" h="314325">
                <a:moveTo>
                  <a:pt x="284480" y="58216"/>
                </a:moveTo>
                <a:lnTo>
                  <a:pt x="251460" y="76581"/>
                </a:lnTo>
                <a:lnTo>
                  <a:pt x="295600" y="76581"/>
                </a:lnTo>
                <a:lnTo>
                  <a:pt x="284480" y="58216"/>
                </a:lnTo>
                <a:close/>
              </a:path>
              <a:path w="1014094" h="314325">
                <a:moveTo>
                  <a:pt x="0" y="32994"/>
                </a:moveTo>
                <a:lnTo>
                  <a:pt x="11556" y="54470"/>
                </a:lnTo>
                <a:lnTo>
                  <a:pt x="20441" y="54196"/>
                </a:lnTo>
                <a:lnTo>
                  <a:pt x="122318" y="54196"/>
                </a:lnTo>
                <a:lnTo>
                  <a:pt x="0" y="32994"/>
                </a:lnTo>
                <a:close/>
              </a:path>
              <a:path w="1014094" h="314325">
                <a:moveTo>
                  <a:pt x="502157" y="258631"/>
                </a:moveTo>
                <a:lnTo>
                  <a:pt x="499872" y="272427"/>
                </a:lnTo>
                <a:lnTo>
                  <a:pt x="519537" y="284204"/>
                </a:lnTo>
                <a:lnTo>
                  <a:pt x="533177" y="295072"/>
                </a:lnTo>
                <a:lnTo>
                  <a:pt x="540769" y="305031"/>
                </a:lnTo>
                <a:lnTo>
                  <a:pt x="542289" y="314081"/>
                </a:lnTo>
                <a:lnTo>
                  <a:pt x="560075" y="309491"/>
                </a:lnTo>
                <a:lnTo>
                  <a:pt x="573420" y="302559"/>
                </a:lnTo>
                <a:lnTo>
                  <a:pt x="582312" y="293283"/>
                </a:lnTo>
                <a:lnTo>
                  <a:pt x="586739" y="281664"/>
                </a:lnTo>
                <a:lnTo>
                  <a:pt x="587969" y="274570"/>
                </a:lnTo>
                <a:lnTo>
                  <a:pt x="557911" y="274570"/>
                </a:lnTo>
                <a:lnTo>
                  <a:pt x="553466" y="274044"/>
                </a:lnTo>
                <a:lnTo>
                  <a:pt x="547699" y="272785"/>
                </a:lnTo>
                <a:lnTo>
                  <a:pt x="537241" y="269797"/>
                </a:lnTo>
                <a:lnTo>
                  <a:pt x="522069" y="265079"/>
                </a:lnTo>
                <a:lnTo>
                  <a:pt x="502157" y="258631"/>
                </a:lnTo>
                <a:close/>
              </a:path>
              <a:path w="1014094" h="314325">
                <a:moveTo>
                  <a:pt x="619618" y="91812"/>
                </a:moveTo>
                <a:lnTo>
                  <a:pt x="505321" y="91812"/>
                </a:lnTo>
                <a:lnTo>
                  <a:pt x="513873" y="91995"/>
                </a:lnTo>
                <a:lnTo>
                  <a:pt x="522378" y="92688"/>
                </a:lnTo>
                <a:lnTo>
                  <a:pt x="530860" y="93891"/>
                </a:lnTo>
                <a:lnTo>
                  <a:pt x="589788" y="104101"/>
                </a:lnTo>
                <a:lnTo>
                  <a:pt x="561339" y="267592"/>
                </a:lnTo>
                <a:lnTo>
                  <a:pt x="560566" y="272427"/>
                </a:lnTo>
                <a:lnTo>
                  <a:pt x="557911" y="274570"/>
                </a:lnTo>
                <a:lnTo>
                  <a:pt x="587969" y="274570"/>
                </a:lnTo>
                <a:lnTo>
                  <a:pt x="616712" y="108775"/>
                </a:lnTo>
                <a:lnTo>
                  <a:pt x="668217" y="108775"/>
                </a:lnTo>
                <a:lnTo>
                  <a:pt x="659977" y="95389"/>
                </a:lnTo>
                <a:lnTo>
                  <a:pt x="627761" y="95389"/>
                </a:lnTo>
                <a:lnTo>
                  <a:pt x="619251" y="93916"/>
                </a:lnTo>
                <a:lnTo>
                  <a:pt x="619618" y="91812"/>
                </a:lnTo>
                <a:close/>
              </a:path>
              <a:path w="1014094" h="314325">
                <a:moveTo>
                  <a:pt x="454482" y="161226"/>
                </a:moveTo>
                <a:lnTo>
                  <a:pt x="430403" y="161226"/>
                </a:lnTo>
                <a:lnTo>
                  <a:pt x="433859" y="179781"/>
                </a:lnTo>
                <a:lnTo>
                  <a:pt x="436610" y="196926"/>
                </a:lnTo>
                <a:lnTo>
                  <a:pt x="438671" y="212690"/>
                </a:lnTo>
                <a:lnTo>
                  <a:pt x="440055" y="227063"/>
                </a:lnTo>
                <a:lnTo>
                  <a:pt x="440622" y="238949"/>
                </a:lnTo>
                <a:lnTo>
                  <a:pt x="442309" y="247658"/>
                </a:lnTo>
                <a:lnTo>
                  <a:pt x="445091" y="253189"/>
                </a:lnTo>
                <a:lnTo>
                  <a:pt x="448944" y="255545"/>
                </a:lnTo>
                <a:lnTo>
                  <a:pt x="450976" y="255898"/>
                </a:lnTo>
                <a:lnTo>
                  <a:pt x="454279" y="254478"/>
                </a:lnTo>
                <a:lnTo>
                  <a:pt x="470026" y="220516"/>
                </a:lnTo>
                <a:lnTo>
                  <a:pt x="469788" y="212591"/>
                </a:lnTo>
                <a:lnTo>
                  <a:pt x="468872" y="203898"/>
                </a:lnTo>
                <a:lnTo>
                  <a:pt x="466550" y="193407"/>
                </a:lnTo>
                <a:lnTo>
                  <a:pt x="462022" y="179771"/>
                </a:lnTo>
                <a:lnTo>
                  <a:pt x="455310" y="163069"/>
                </a:lnTo>
                <a:lnTo>
                  <a:pt x="454482" y="161226"/>
                </a:lnTo>
                <a:close/>
              </a:path>
              <a:path w="1014094" h="314325">
                <a:moveTo>
                  <a:pt x="386334" y="44386"/>
                </a:moveTo>
                <a:lnTo>
                  <a:pt x="376681" y="51244"/>
                </a:lnTo>
                <a:lnTo>
                  <a:pt x="405739" y="111026"/>
                </a:lnTo>
                <a:lnTo>
                  <a:pt x="419354" y="139242"/>
                </a:lnTo>
                <a:lnTo>
                  <a:pt x="389046" y="175161"/>
                </a:lnTo>
                <a:lnTo>
                  <a:pt x="348218" y="214041"/>
                </a:lnTo>
                <a:lnTo>
                  <a:pt x="319913" y="235280"/>
                </a:lnTo>
                <a:lnTo>
                  <a:pt x="320675" y="247115"/>
                </a:lnTo>
                <a:lnTo>
                  <a:pt x="360203" y="225674"/>
                </a:lnTo>
                <a:lnTo>
                  <a:pt x="403042" y="193009"/>
                </a:lnTo>
                <a:lnTo>
                  <a:pt x="430403" y="161226"/>
                </a:lnTo>
                <a:lnTo>
                  <a:pt x="454482" y="161226"/>
                </a:lnTo>
                <a:lnTo>
                  <a:pt x="446405" y="143268"/>
                </a:lnTo>
                <a:lnTo>
                  <a:pt x="458598" y="124249"/>
                </a:lnTo>
                <a:lnTo>
                  <a:pt x="461138" y="119989"/>
                </a:lnTo>
                <a:lnTo>
                  <a:pt x="432307" y="119989"/>
                </a:lnTo>
                <a:lnTo>
                  <a:pt x="422284" y="102204"/>
                </a:lnTo>
                <a:lnTo>
                  <a:pt x="411273" y="83673"/>
                </a:lnTo>
                <a:lnTo>
                  <a:pt x="399286" y="64400"/>
                </a:lnTo>
                <a:lnTo>
                  <a:pt x="386334" y="44386"/>
                </a:lnTo>
                <a:close/>
              </a:path>
              <a:path w="1014094" h="314325">
                <a:moveTo>
                  <a:pt x="508888" y="110629"/>
                </a:moveTo>
                <a:lnTo>
                  <a:pt x="499363" y="115506"/>
                </a:lnTo>
                <a:lnTo>
                  <a:pt x="504840" y="134601"/>
                </a:lnTo>
                <a:lnTo>
                  <a:pt x="508698" y="151915"/>
                </a:lnTo>
                <a:lnTo>
                  <a:pt x="510936" y="167446"/>
                </a:lnTo>
                <a:lnTo>
                  <a:pt x="511384" y="177380"/>
                </a:lnTo>
                <a:lnTo>
                  <a:pt x="511509" y="182267"/>
                </a:lnTo>
                <a:lnTo>
                  <a:pt x="511134" y="191071"/>
                </a:lnTo>
                <a:lnTo>
                  <a:pt x="512143" y="198294"/>
                </a:lnTo>
                <a:lnTo>
                  <a:pt x="514609" y="202968"/>
                </a:lnTo>
                <a:lnTo>
                  <a:pt x="518541" y="205054"/>
                </a:lnTo>
                <a:lnTo>
                  <a:pt x="520700" y="205447"/>
                </a:lnTo>
                <a:lnTo>
                  <a:pt x="525018" y="202730"/>
                </a:lnTo>
                <a:lnTo>
                  <a:pt x="537718" y="191071"/>
                </a:lnTo>
                <a:lnTo>
                  <a:pt x="541401" y="184569"/>
                </a:lnTo>
                <a:lnTo>
                  <a:pt x="542670" y="177380"/>
                </a:lnTo>
                <a:lnTo>
                  <a:pt x="543687" y="171805"/>
                </a:lnTo>
                <a:lnTo>
                  <a:pt x="520983" y="125100"/>
                </a:lnTo>
                <a:lnTo>
                  <a:pt x="508888" y="110629"/>
                </a:lnTo>
                <a:close/>
              </a:path>
              <a:path w="1014094" h="314325">
                <a:moveTo>
                  <a:pt x="504078" y="29426"/>
                </a:moveTo>
                <a:lnTo>
                  <a:pt x="389133" y="29426"/>
                </a:lnTo>
                <a:lnTo>
                  <a:pt x="397716" y="29617"/>
                </a:lnTo>
                <a:lnTo>
                  <a:pt x="406227" y="30316"/>
                </a:lnTo>
                <a:lnTo>
                  <a:pt x="414655" y="31521"/>
                </a:lnTo>
                <a:lnTo>
                  <a:pt x="472186" y="41490"/>
                </a:lnTo>
                <a:lnTo>
                  <a:pt x="460847" y="64820"/>
                </a:lnTo>
                <a:lnTo>
                  <a:pt x="450437" y="85678"/>
                </a:lnTo>
                <a:lnTo>
                  <a:pt x="440913" y="104101"/>
                </a:lnTo>
                <a:lnTo>
                  <a:pt x="432307" y="119989"/>
                </a:lnTo>
                <a:lnTo>
                  <a:pt x="461138" y="119989"/>
                </a:lnTo>
                <a:lnTo>
                  <a:pt x="471376" y="102816"/>
                </a:lnTo>
                <a:lnTo>
                  <a:pt x="484749" y="78967"/>
                </a:lnTo>
                <a:lnTo>
                  <a:pt x="487168" y="74422"/>
                </a:lnTo>
                <a:lnTo>
                  <a:pt x="485139" y="70650"/>
                </a:lnTo>
                <a:lnTo>
                  <a:pt x="489176" y="70650"/>
                </a:lnTo>
                <a:lnTo>
                  <a:pt x="498729" y="52705"/>
                </a:lnTo>
                <a:lnTo>
                  <a:pt x="514985" y="42532"/>
                </a:lnTo>
                <a:lnTo>
                  <a:pt x="504078" y="29426"/>
                </a:lnTo>
                <a:close/>
              </a:path>
              <a:path w="1014094" h="314325">
                <a:moveTo>
                  <a:pt x="668217" y="108775"/>
                </a:moveTo>
                <a:lnTo>
                  <a:pt x="616712" y="108775"/>
                </a:lnTo>
                <a:lnTo>
                  <a:pt x="674369" y="118770"/>
                </a:lnTo>
                <a:lnTo>
                  <a:pt x="668217" y="108775"/>
                </a:lnTo>
                <a:close/>
              </a:path>
              <a:path w="1014094" h="314325">
                <a:moveTo>
                  <a:pt x="650494" y="79984"/>
                </a:moveTo>
                <a:lnTo>
                  <a:pt x="627761" y="95389"/>
                </a:lnTo>
                <a:lnTo>
                  <a:pt x="659977" y="95389"/>
                </a:lnTo>
                <a:lnTo>
                  <a:pt x="650494" y="79984"/>
                </a:lnTo>
                <a:close/>
              </a:path>
              <a:path w="1014094" h="314325">
                <a:moveTo>
                  <a:pt x="488835" y="71291"/>
                </a:moveTo>
                <a:lnTo>
                  <a:pt x="487168" y="74422"/>
                </a:lnTo>
                <a:lnTo>
                  <a:pt x="496697" y="92138"/>
                </a:lnTo>
                <a:lnTo>
                  <a:pt x="505321" y="91812"/>
                </a:lnTo>
                <a:lnTo>
                  <a:pt x="619618" y="91812"/>
                </a:lnTo>
                <a:lnTo>
                  <a:pt x="620066" y="89242"/>
                </a:lnTo>
                <a:lnTo>
                  <a:pt x="592328" y="89242"/>
                </a:lnTo>
                <a:lnTo>
                  <a:pt x="488835" y="71291"/>
                </a:lnTo>
                <a:close/>
              </a:path>
              <a:path w="1014094" h="314325">
                <a:moveTo>
                  <a:pt x="606425" y="0"/>
                </a:moveTo>
                <a:lnTo>
                  <a:pt x="599820" y="46126"/>
                </a:lnTo>
                <a:lnTo>
                  <a:pt x="592328" y="89242"/>
                </a:lnTo>
                <a:lnTo>
                  <a:pt x="620066" y="89242"/>
                </a:lnTo>
                <a:lnTo>
                  <a:pt x="629031" y="37795"/>
                </a:lnTo>
                <a:lnTo>
                  <a:pt x="643255" y="27114"/>
                </a:lnTo>
                <a:lnTo>
                  <a:pt x="606425" y="0"/>
                </a:lnTo>
                <a:close/>
              </a:path>
              <a:path w="1014094" h="314325">
                <a:moveTo>
                  <a:pt x="485139" y="70650"/>
                </a:moveTo>
                <a:lnTo>
                  <a:pt x="487168" y="74422"/>
                </a:lnTo>
                <a:lnTo>
                  <a:pt x="488835" y="71291"/>
                </a:lnTo>
                <a:lnTo>
                  <a:pt x="485139" y="70650"/>
                </a:lnTo>
                <a:close/>
              </a:path>
              <a:path w="1014094" h="314325">
                <a:moveTo>
                  <a:pt x="489176" y="70650"/>
                </a:moveTo>
                <a:lnTo>
                  <a:pt x="485139" y="70650"/>
                </a:lnTo>
                <a:lnTo>
                  <a:pt x="488835" y="71291"/>
                </a:lnTo>
                <a:lnTo>
                  <a:pt x="489176" y="70650"/>
                </a:lnTo>
                <a:close/>
              </a:path>
              <a:path w="1014094" h="314325">
                <a:moveTo>
                  <a:pt x="368935" y="8267"/>
                </a:moveTo>
                <a:lnTo>
                  <a:pt x="380492" y="29743"/>
                </a:lnTo>
                <a:lnTo>
                  <a:pt x="389133" y="29426"/>
                </a:lnTo>
                <a:lnTo>
                  <a:pt x="504078" y="29426"/>
                </a:lnTo>
                <a:lnTo>
                  <a:pt x="501985" y="26911"/>
                </a:lnTo>
                <a:lnTo>
                  <a:pt x="476504" y="26911"/>
                </a:lnTo>
                <a:lnTo>
                  <a:pt x="368935" y="8267"/>
                </a:lnTo>
                <a:close/>
              </a:path>
              <a:path w="1014094" h="314325">
                <a:moveTo>
                  <a:pt x="491489" y="14300"/>
                </a:moveTo>
                <a:lnTo>
                  <a:pt x="476504" y="26911"/>
                </a:lnTo>
                <a:lnTo>
                  <a:pt x="501985" y="26911"/>
                </a:lnTo>
                <a:lnTo>
                  <a:pt x="491489" y="14300"/>
                </a:lnTo>
                <a:close/>
              </a:path>
              <a:path w="1014094" h="314325">
                <a:moveTo>
                  <a:pt x="824973" y="176014"/>
                </a:moveTo>
                <a:lnTo>
                  <a:pt x="723132" y="176014"/>
                </a:lnTo>
                <a:lnTo>
                  <a:pt x="732456" y="176336"/>
                </a:lnTo>
                <a:lnTo>
                  <a:pt x="742233" y="177253"/>
                </a:lnTo>
                <a:lnTo>
                  <a:pt x="752475" y="178765"/>
                </a:lnTo>
                <a:lnTo>
                  <a:pt x="1013841" y="224078"/>
                </a:lnTo>
                <a:lnTo>
                  <a:pt x="998294" y="198412"/>
                </a:lnTo>
                <a:lnTo>
                  <a:pt x="954151" y="198412"/>
                </a:lnTo>
                <a:lnTo>
                  <a:pt x="824973" y="176014"/>
                </a:lnTo>
                <a:close/>
              </a:path>
              <a:path w="1014094" h="314325">
                <a:moveTo>
                  <a:pt x="987170" y="180047"/>
                </a:moveTo>
                <a:lnTo>
                  <a:pt x="954151" y="198412"/>
                </a:lnTo>
                <a:lnTo>
                  <a:pt x="998294" y="198412"/>
                </a:lnTo>
                <a:lnTo>
                  <a:pt x="987170" y="180047"/>
                </a:lnTo>
                <a:close/>
              </a:path>
              <a:path w="1014094" h="314325">
                <a:moveTo>
                  <a:pt x="702691" y="154813"/>
                </a:moveTo>
                <a:lnTo>
                  <a:pt x="714248" y="176288"/>
                </a:lnTo>
                <a:lnTo>
                  <a:pt x="723132" y="176014"/>
                </a:lnTo>
                <a:lnTo>
                  <a:pt x="824973" y="176014"/>
                </a:lnTo>
                <a:lnTo>
                  <a:pt x="702691" y="1548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637781" y="5700521"/>
            <a:ext cx="1849120" cy="547370"/>
          </a:xfrm>
          <a:custGeom>
            <a:avLst/>
            <a:gdLst/>
            <a:ahLst/>
            <a:cxnLst/>
            <a:rect l="l" t="t" r="r" b="b"/>
            <a:pathLst>
              <a:path w="1849120" h="547370">
                <a:moveTo>
                  <a:pt x="0" y="547115"/>
                </a:moveTo>
                <a:lnTo>
                  <a:pt x="1848612" y="547115"/>
                </a:lnTo>
                <a:lnTo>
                  <a:pt x="1848612" y="0"/>
                </a:lnTo>
                <a:lnTo>
                  <a:pt x="0" y="0"/>
                </a:lnTo>
                <a:lnTo>
                  <a:pt x="0" y="547115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116835" y="5974079"/>
            <a:ext cx="4521200" cy="444500"/>
          </a:xfrm>
          <a:custGeom>
            <a:avLst/>
            <a:gdLst/>
            <a:ahLst/>
            <a:cxnLst/>
            <a:rect l="l" t="t" r="r" b="b"/>
            <a:pathLst>
              <a:path w="4521200" h="444500">
                <a:moveTo>
                  <a:pt x="0" y="444500"/>
                </a:moveTo>
                <a:lnTo>
                  <a:pt x="4521199" y="0"/>
                </a:lnTo>
              </a:path>
            </a:pathLst>
          </a:custGeom>
          <a:ln w="5715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248402" y="4974576"/>
            <a:ext cx="3481704" cy="1511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81455" marR="5080" indent="-509270">
              <a:lnSpc>
                <a:spcPct val="138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文法二义性问题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任意推导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ts val="2425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包含？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481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48259"/>
            <a:ext cx="24828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5065" y="481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43091" y="471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939" y="72644"/>
            <a:ext cx="87744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269355" algn="l"/>
                <a:tab pos="696912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</a:t>
            </a:r>
            <a:r>
              <a:rPr dirty="0" sz="2000" b="1">
                <a:solidFill>
                  <a:srgbClr val="A15100"/>
                </a:solidFill>
                <a:latin typeface="宋体"/>
                <a:cs typeface="宋体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语法树与二义性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17042" y="706810"/>
            <a:ext cx="7933690" cy="3402329"/>
          </a:xfrm>
          <a:prstGeom prst="rect"/>
        </p:spPr>
        <p:txBody>
          <a:bodyPr wrap="square" lIns="0" tIns="34036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2680"/>
              </a:spcBef>
              <a:buClr>
                <a:srgbClr val="99FF66"/>
              </a:buClr>
              <a:buSzPct val="114062"/>
              <a:buFont typeface="Wingdings"/>
              <a:buChar char=""/>
              <a:tabLst>
                <a:tab pos="431165" algn="l"/>
                <a:tab pos="431800" algn="l"/>
                <a:tab pos="2162810" algn="l"/>
              </a:tabLst>
            </a:pPr>
            <a:r>
              <a:rPr dirty="0" sz="3200">
                <a:latin typeface="宋体"/>
                <a:cs typeface="宋体"/>
              </a:rPr>
              <a:t>定义</a:t>
            </a:r>
            <a:r>
              <a:rPr dirty="0" sz="3200">
                <a:latin typeface="Times New Roman"/>
                <a:cs typeface="Times New Roman"/>
              </a:rPr>
              <a:t>2.19	(</a:t>
            </a:r>
            <a:r>
              <a:rPr dirty="0" sz="3200" spc="-60">
                <a:latin typeface="Times New Roman"/>
                <a:cs typeface="Times New Roman"/>
              </a:rPr>
              <a:t> </a:t>
            </a:r>
            <a:r>
              <a:rPr dirty="0" sz="3200">
                <a:latin typeface="宋体"/>
                <a:cs typeface="宋体"/>
              </a:rPr>
              <a:t>二义文</a:t>
            </a:r>
            <a:r>
              <a:rPr dirty="0" sz="3200" spc="-10">
                <a:latin typeface="宋体"/>
                <a:cs typeface="宋体"/>
              </a:rPr>
              <a:t>法</a:t>
            </a:r>
            <a:r>
              <a:rPr dirty="0" sz="3200" spc="-855">
                <a:latin typeface="宋体"/>
                <a:cs typeface="宋体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2700" marR="5080" indent="711200">
              <a:lnSpc>
                <a:spcPct val="150000"/>
              </a:lnSpc>
              <a:spcBef>
                <a:spcPts val="5"/>
              </a:spcBef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对一部文法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如果至少存在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个句</a:t>
            </a:r>
            <a:r>
              <a:rPr dirty="0" sz="2800" spc="20">
                <a:solidFill>
                  <a:srgbClr val="FFFFFF"/>
                </a:solidFill>
                <a:latin typeface="宋体"/>
                <a:cs typeface="宋体"/>
              </a:rPr>
              <a:t>子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两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棵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或两棵以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2800" spc="-7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不同的分析树，则称该句子是二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性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的。包含有二义性句子的文法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为二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2800" spc="2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否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则，该文法是无二义性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9673" y="4735829"/>
            <a:ext cx="8343900" cy="1199515"/>
          </a:xfrm>
          <a:prstGeom prst="rect">
            <a:avLst/>
          </a:prstGeom>
          <a:solidFill>
            <a:srgbClr val="CCFFFF"/>
          </a:solidFill>
          <a:ln w="38100">
            <a:solidFill>
              <a:srgbClr val="FFCCCC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699135">
              <a:lnSpc>
                <a:spcPct val="100000"/>
              </a:lnSpc>
              <a:spcBef>
                <a:spcPts val="300"/>
              </a:spcBef>
            </a:pPr>
            <a:r>
              <a:rPr dirty="0" sz="2800" spc="-10" b="1">
                <a:latin typeface="宋体"/>
                <a:cs typeface="宋体"/>
              </a:rPr>
              <a:t>定义提供了对给定文法在某一</a:t>
            </a:r>
            <a:r>
              <a:rPr dirty="0" sz="2800" b="1">
                <a:latin typeface="宋体"/>
                <a:cs typeface="宋体"/>
              </a:rPr>
              <a:t>范</a:t>
            </a:r>
            <a:r>
              <a:rPr dirty="0" sz="2800" spc="-10" b="1">
                <a:latin typeface="宋体"/>
                <a:cs typeface="宋体"/>
              </a:rPr>
              <a:t>围内</a:t>
            </a:r>
            <a:r>
              <a:rPr dirty="0" sz="2800" b="1">
                <a:latin typeface="宋体"/>
                <a:cs typeface="宋体"/>
              </a:rPr>
              <a:t>判</a:t>
            </a:r>
            <a:r>
              <a:rPr dirty="0" sz="2800" spc="-10" b="1">
                <a:latin typeface="宋体"/>
                <a:cs typeface="宋体"/>
              </a:rPr>
              <a:t>定</a:t>
            </a:r>
            <a:r>
              <a:rPr dirty="0" sz="2800" b="1">
                <a:latin typeface="宋体"/>
                <a:cs typeface="宋体"/>
              </a:rPr>
              <a:t>是</a:t>
            </a:r>
            <a:r>
              <a:rPr dirty="0" sz="2800" spc="-10" b="1">
                <a:latin typeface="宋体"/>
                <a:cs typeface="宋体"/>
              </a:rPr>
              <a:t>否是</a:t>
            </a:r>
            <a:endParaRPr sz="2800">
              <a:latin typeface="宋体"/>
              <a:cs typeface="宋体"/>
            </a:endParaRPr>
          </a:p>
          <a:p>
            <a:pPr marL="89535">
              <a:lnSpc>
                <a:spcPct val="100000"/>
              </a:lnSpc>
              <a:spcBef>
                <a:spcPts val="1685"/>
              </a:spcBef>
            </a:pPr>
            <a:r>
              <a:rPr dirty="0" sz="2800" spc="-5" b="1">
                <a:latin typeface="宋体"/>
                <a:cs typeface="宋体"/>
              </a:rPr>
              <a:t>二义性文法的充分条件。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481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48259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5065" y="481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3091" y="471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11848" y="72644"/>
            <a:ext cx="2517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2470" algn="l"/>
              </a:tabLst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语法树与二义性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75157" y="976630"/>
            <a:ext cx="79013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2.17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95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5525" sz="2775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9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040" y="4850333"/>
            <a:ext cx="20986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79575" algn="l"/>
              </a:tabLst>
            </a:pPr>
            <a:r>
              <a:rPr dirty="0" sz="2800" spc="-5" b="1" i="1">
                <a:solidFill>
                  <a:srgbClr val="CCFFFF"/>
                </a:solidFill>
                <a:latin typeface="Times New Roman"/>
                <a:cs typeface="Times New Roman"/>
              </a:rPr>
              <a:t>E</a:t>
            </a:r>
            <a:r>
              <a:rPr dirty="0" sz="2800" spc="-240" b="1" i="1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dirty="0" baseline="1984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baseline="1984" sz="4200" spc="-2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CCFFFF"/>
                </a:solidFill>
                <a:latin typeface="Times New Roman"/>
                <a:cs typeface="Times New Roman"/>
              </a:rPr>
              <a:t>E</a:t>
            </a:r>
            <a:r>
              <a:rPr dirty="0" sz="2800" spc="5" b="1" i="1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CC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CCFFFF"/>
                </a:solidFill>
                <a:latin typeface="Times New Roman"/>
                <a:cs typeface="Times New Roman"/>
              </a:rPr>
              <a:t>E</a:t>
            </a:r>
            <a:r>
              <a:rPr dirty="0" sz="2800" b="1" i="1">
                <a:solidFill>
                  <a:srgbClr val="CCFFFF"/>
                </a:solidFill>
                <a:latin typeface="Times New Roman"/>
                <a:cs typeface="Times New Roman"/>
              </a:rPr>
              <a:t>	</a:t>
            </a:r>
            <a:r>
              <a:rPr dirty="0" baseline="4960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endParaRPr baseline="4960" sz="4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08221" y="5124069"/>
            <a:ext cx="1955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8263" y="5162169"/>
            <a:ext cx="48634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0585" algn="l"/>
              </a:tabLst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71851" y="4798821"/>
            <a:ext cx="56845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29944" algn="l"/>
                <a:tab pos="1452245" algn="l"/>
                <a:tab pos="2678430" algn="l"/>
                <a:tab pos="3216910" algn="l"/>
                <a:tab pos="4259580" algn="l"/>
                <a:tab pos="4871085" algn="l"/>
              </a:tabLst>
            </a:pPr>
            <a:r>
              <a:rPr dirty="0" sz="2800" spc="-5" b="1" i="1">
                <a:solidFill>
                  <a:srgbClr val="CCFFFF"/>
                </a:solidFill>
                <a:latin typeface="Times New Roman"/>
                <a:cs typeface="Times New Roman"/>
              </a:rPr>
              <a:t>i </a:t>
            </a:r>
            <a:r>
              <a:rPr dirty="0" sz="2800" b="1">
                <a:solidFill>
                  <a:srgbClr val="CCFFFF"/>
                </a:solidFill>
                <a:latin typeface="Times New Roman"/>
                <a:cs typeface="Times New Roman"/>
              </a:rPr>
              <a:t>*</a:t>
            </a:r>
            <a:r>
              <a:rPr dirty="0" sz="2800" b="1" i="1">
                <a:solidFill>
                  <a:srgbClr val="CCFFFF"/>
                </a:solidFill>
                <a:latin typeface="Times New Roman"/>
                <a:cs typeface="Times New Roman"/>
              </a:rPr>
              <a:t>E	</a:t>
            </a:r>
            <a:r>
              <a:rPr dirty="0" baseline="7936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	</a:t>
            </a:r>
            <a:r>
              <a:rPr dirty="0" sz="2800" spc="-5" b="1" i="1">
                <a:solidFill>
                  <a:srgbClr val="CCFFFF"/>
                </a:solidFill>
                <a:latin typeface="Times New Roman"/>
                <a:cs typeface="Times New Roman"/>
              </a:rPr>
              <a:t>i</a:t>
            </a:r>
            <a:r>
              <a:rPr dirty="0" sz="2800" b="1" i="1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CC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CC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CC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CCFFFF"/>
                </a:solidFill>
                <a:latin typeface="Times New Roman"/>
                <a:cs typeface="Times New Roman"/>
              </a:rPr>
              <a:t>E	</a:t>
            </a:r>
            <a:r>
              <a:rPr dirty="0" baseline="1984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	</a:t>
            </a:r>
            <a:r>
              <a:rPr dirty="0" sz="2800" spc="-5" b="1" i="1">
                <a:solidFill>
                  <a:srgbClr val="CCFFFF"/>
                </a:solidFill>
                <a:latin typeface="Times New Roman"/>
                <a:cs typeface="Times New Roman"/>
              </a:rPr>
              <a:t>i </a:t>
            </a:r>
            <a:r>
              <a:rPr dirty="0" sz="2800" b="1">
                <a:solidFill>
                  <a:srgbClr val="CCFFFF"/>
                </a:solidFill>
                <a:latin typeface="Times New Roman"/>
                <a:cs typeface="Times New Roman"/>
              </a:rPr>
              <a:t>*</a:t>
            </a:r>
            <a:r>
              <a:rPr dirty="0" sz="2800" b="1" i="1">
                <a:solidFill>
                  <a:srgbClr val="CC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CCFFFF"/>
                </a:solidFill>
                <a:latin typeface="Times New Roman"/>
                <a:cs typeface="Times New Roman"/>
              </a:rPr>
              <a:t>+</a:t>
            </a:r>
            <a:r>
              <a:rPr dirty="0" sz="2800" b="1" i="1">
                <a:solidFill>
                  <a:srgbClr val="CCFFFF"/>
                </a:solidFill>
                <a:latin typeface="Times New Roman"/>
                <a:cs typeface="Times New Roman"/>
              </a:rPr>
              <a:t>E	</a:t>
            </a:r>
            <a:r>
              <a:rPr dirty="0" baseline="4960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	</a:t>
            </a:r>
            <a:r>
              <a:rPr dirty="0" sz="3200" spc="-5" b="1" i="1">
                <a:solidFill>
                  <a:srgbClr val="CC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CCFFFF"/>
                </a:solidFill>
                <a:latin typeface="Times New Roman"/>
                <a:cs typeface="Times New Roman"/>
              </a:rPr>
              <a:t>*</a:t>
            </a:r>
            <a:r>
              <a:rPr dirty="0" sz="3200" spc="-5" b="1" i="1">
                <a:solidFill>
                  <a:srgbClr val="CC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CCFFFF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CC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60167" y="5143246"/>
            <a:ext cx="50730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90135" algn="l"/>
              </a:tabLst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8263" y="6150051"/>
            <a:ext cx="34347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1200" algn="l"/>
              </a:tabLst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4040" y="5774232"/>
            <a:ext cx="801052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711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baseline="2976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</a:t>
            </a:r>
            <a:r>
              <a:rPr dirty="0" baseline="2976" sz="4200" spc="-232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3200" spc="-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 </a:t>
            </a:r>
            <a:r>
              <a:rPr dirty="0" baseline="2976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800" spc="5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976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=&gt;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60167" y="6130848"/>
            <a:ext cx="52825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0" algn="l"/>
                <a:tab pos="5099685" algn="l"/>
              </a:tabLst>
            </a:pP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51633" y="1551254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22450" y="2173604"/>
            <a:ext cx="889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7665" algn="l"/>
                <a:tab pos="672465" algn="l"/>
              </a:tabLst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83461" y="2822524"/>
            <a:ext cx="2921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spc="-380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2400" spc="5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79573" y="2822524"/>
            <a:ext cx="1005840" cy="1050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00"/>
              </a:spcBef>
              <a:tabLst>
                <a:tab pos="423545" algn="l"/>
                <a:tab pos="748030" algn="l"/>
              </a:tabLst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	</a:t>
            </a:r>
            <a:r>
              <a:rPr dirty="0" u="heavy" sz="2400" b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10"/>
              </a:spcBef>
              <a:tabLst>
                <a:tab pos="725805" algn="l"/>
              </a:tabLst>
            </a:pPr>
            <a:r>
              <a:rPr dirty="0" u="heavy" sz="2400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spc="-340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u="heavy" sz="2400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 i</a:t>
            </a:r>
            <a:r>
              <a:rPr dirty="0" u="heavy" sz="2400" spc="125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887473" y="1963673"/>
            <a:ext cx="342900" cy="208915"/>
          </a:xfrm>
          <a:custGeom>
            <a:avLst/>
            <a:gdLst/>
            <a:ahLst/>
            <a:cxnLst/>
            <a:rect l="l" t="t" r="r" b="b"/>
            <a:pathLst>
              <a:path w="342900" h="208914">
                <a:moveTo>
                  <a:pt x="342900" y="0"/>
                </a:moveTo>
                <a:lnTo>
                  <a:pt x="0" y="208787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230373" y="1963673"/>
            <a:ext cx="0" cy="208915"/>
          </a:xfrm>
          <a:custGeom>
            <a:avLst/>
            <a:gdLst/>
            <a:ahLst/>
            <a:cxnLst/>
            <a:rect l="l" t="t" r="r" b="b"/>
            <a:pathLst>
              <a:path w="0" h="208914">
                <a:moveTo>
                  <a:pt x="0" y="0"/>
                </a:moveTo>
                <a:lnTo>
                  <a:pt x="0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286761" y="1963673"/>
            <a:ext cx="363220" cy="208915"/>
          </a:xfrm>
          <a:custGeom>
            <a:avLst/>
            <a:gdLst/>
            <a:ahLst/>
            <a:cxnLst/>
            <a:rect l="l" t="t" r="r" b="b"/>
            <a:pathLst>
              <a:path w="363219" h="208914">
                <a:moveTo>
                  <a:pt x="0" y="0"/>
                </a:moveTo>
                <a:lnTo>
                  <a:pt x="362712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277617" y="2573273"/>
            <a:ext cx="342900" cy="208915"/>
          </a:xfrm>
          <a:custGeom>
            <a:avLst/>
            <a:gdLst/>
            <a:ahLst/>
            <a:cxnLst/>
            <a:rect l="l" t="t" r="r" b="b"/>
            <a:pathLst>
              <a:path w="342900" h="208914">
                <a:moveTo>
                  <a:pt x="342900" y="0"/>
                </a:moveTo>
                <a:lnTo>
                  <a:pt x="0" y="208787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620517" y="2573273"/>
            <a:ext cx="0" cy="208915"/>
          </a:xfrm>
          <a:custGeom>
            <a:avLst/>
            <a:gdLst/>
            <a:ahLst/>
            <a:cxnLst/>
            <a:rect l="l" t="t" r="r" b="b"/>
            <a:pathLst>
              <a:path w="0" h="208914">
                <a:moveTo>
                  <a:pt x="0" y="0"/>
                </a:moveTo>
                <a:lnTo>
                  <a:pt x="0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676905" y="2573273"/>
            <a:ext cx="363220" cy="208915"/>
          </a:xfrm>
          <a:custGeom>
            <a:avLst/>
            <a:gdLst/>
            <a:ahLst/>
            <a:cxnLst/>
            <a:rect l="l" t="t" r="r" b="b"/>
            <a:pathLst>
              <a:path w="363219" h="208914">
                <a:moveTo>
                  <a:pt x="0" y="0"/>
                </a:moveTo>
                <a:lnTo>
                  <a:pt x="362712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524761" y="2573273"/>
            <a:ext cx="287020" cy="208915"/>
          </a:xfrm>
          <a:custGeom>
            <a:avLst/>
            <a:gdLst/>
            <a:ahLst/>
            <a:cxnLst/>
            <a:rect l="l" t="t" r="r" b="b"/>
            <a:pathLst>
              <a:path w="287019" h="208914">
                <a:moveTo>
                  <a:pt x="286512" y="0"/>
                </a:moveTo>
                <a:lnTo>
                  <a:pt x="0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344673" y="3239261"/>
            <a:ext cx="0" cy="253365"/>
          </a:xfrm>
          <a:custGeom>
            <a:avLst/>
            <a:gdLst/>
            <a:ahLst/>
            <a:cxnLst/>
            <a:rect l="l" t="t" r="r" b="b"/>
            <a:pathLst>
              <a:path w="0" h="253364">
                <a:moveTo>
                  <a:pt x="0" y="0"/>
                </a:moveTo>
                <a:lnTo>
                  <a:pt x="0" y="25298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019805" y="3239261"/>
            <a:ext cx="0" cy="253365"/>
          </a:xfrm>
          <a:custGeom>
            <a:avLst/>
            <a:gdLst/>
            <a:ahLst/>
            <a:cxnLst/>
            <a:rect l="l" t="t" r="r" b="b"/>
            <a:pathLst>
              <a:path w="0" h="253364">
                <a:moveTo>
                  <a:pt x="0" y="0"/>
                </a:moveTo>
                <a:lnTo>
                  <a:pt x="0" y="25298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943346" y="1436954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03494" y="2059304"/>
            <a:ext cx="9099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7665" algn="l"/>
                <a:tab pos="693420" algn="l"/>
              </a:tabLst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	</a:t>
            </a:r>
            <a:r>
              <a:rPr dirty="0" u="heavy" sz="2400" b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84518" y="2708224"/>
            <a:ext cx="21844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spc="-355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75173" y="2708224"/>
            <a:ext cx="1005840" cy="1050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100"/>
              </a:spcBef>
              <a:tabLst>
                <a:tab pos="457834" algn="l"/>
                <a:tab pos="763270" algn="l"/>
              </a:tabLst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10"/>
              </a:spcBef>
              <a:tabLst>
                <a:tab pos="725805" algn="l"/>
              </a:tabLst>
            </a:pPr>
            <a:r>
              <a:rPr dirty="0" u="heavy" sz="2400" spc="110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400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u="heavy" sz="2400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 i</a:t>
            </a:r>
            <a:r>
              <a:rPr dirty="0" u="heavy" sz="2400" spc="270" b="1" i="1">
                <a:solidFill>
                  <a:srgbClr val="FFFFFF"/>
                </a:solidFill>
                <a:uFill>
                  <a:solidFill>
                    <a:srgbClr val="99FF66"/>
                  </a:solidFill>
                </a:u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677661" y="1849373"/>
            <a:ext cx="342900" cy="208915"/>
          </a:xfrm>
          <a:custGeom>
            <a:avLst/>
            <a:gdLst/>
            <a:ahLst/>
            <a:cxnLst/>
            <a:rect l="l" t="t" r="r" b="b"/>
            <a:pathLst>
              <a:path w="342900" h="208914">
                <a:moveTo>
                  <a:pt x="342900" y="0"/>
                </a:moveTo>
                <a:lnTo>
                  <a:pt x="0" y="208787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020561" y="1849373"/>
            <a:ext cx="0" cy="208915"/>
          </a:xfrm>
          <a:custGeom>
            <a:avLst/>
            <a:gdLst/>
            <a:ahLst/>
            <a:cxnLst/>
            <a:rect l="l" t="t" r="r" b="b"/>
            <a:pathLst>
              <a:path w="0" h="208914">
                <a:moveTo>
                  <a:pt x="0" y="0"/>
                </a:moveTo>
                <a:lnTo>
                  <a:pt x="0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078473" y="1849373"/>
            <a:ext cx="361315" cy="208915"/>
          </a:xfrm>
          <a:custGeom>
            <a:avLst/>
            <a:gdLst/>
            <a:ahLst/>
            <a:cxnLst/>
            <a:rect l="l" t="t" r="r" b="b"/>
            <a:pathLst>
              <a:path w="361314" h="208914">
                <a:moveTo>
                  <a:pt x="0" y="0"/>
                </a:moveTo>
                <a:lnTo>
                  <a:pt x="361188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305805" y="2458973"/>
            <a:ext cx="342900" cy="208915"/>
          </a:xfrm>
          <a:custGeom>
            <a:avLst/>
            <a:gdLst/>
            <a:ahLst/>
            <a:cxnLst/>
            <a:rect l="l" t="t" r="r" b="b"/>
            <a:pathLst>
              <a:path w="342900" h="208914">
                <a:moveTo>
                  <a:pt x="342900" y="0"/>
                </a:moveTo>
                <a:lnTo>
                  <a:pt x="0" y="208787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648705" y="2458973"/>
            <a:ext cx="0" cy="208915"/>
          </a:xfrm>
          <a:custGeom>
            <a:avLst/>
            <a:gdLst/>
            <a:ahLst/>
            <a:cxnLst/>
            <a:rect l="l" t="t" r="r" b="b"/>
            <a:pathLst>
              <a:path w="0" h="208914">
                <a:moveTo>
                  <a:pt x="0" y="0"/>
                </a:moveTo>
                <a:lnTo>
                  <a:pt x="0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706617" y="2458973"/>
            <a:ext cx="361315" cy="208915"/>
          </a:xfrm>
          <a:custGeom>
            <a:avLst/>
            <a:gdLst/>
            <a:ahLst/>
            <a:cxnLst/>
            <a:rect l="l" t="t" r="r" b="b"/>
            <a:pathLst>
              <a:path w="361314" h="208914">
                <a:moveTo>
                  <a:pt x="0" y="0"/>
                </a:moveTo>
                <a:lnTo>
                  <a:pt x="361188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258561" y="3124961"/>
            <a:ext cx="0" cy="253365"/>
          </a:xfrm>
          <a:custGeom>
            <a:avLst/>
            <a:gdLst/>
            <a:ahLst/>
            <a:cxnLst/>
            <a:rect l="l" t="t" r="r" b="b"/>
            <a:pathLst>
              <a:path w="0" h="253364">
                <a:moveTo>
                  <a:pt x="0" y="0"/>
                </a:moveTo>
                <a:lnTo>
                  <a:pt x="0" y="25298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935217" y="3124961"/>
            <a:ext cx="0" cy="253365"/>
          </a:xfrm>
          <a:custGeom>
            <a:avLst/>
            <a:gdLst/>
            <a:ahLst/>
            <a:cxnLst/>
            <a:rect l="l" t="t" r="r" b="b"/>
            <a:pathLst>
              <a:path w="0" h="253364">
                <a:moveTo>
                  <a:pt x="0" y="0"/>
                </a:moveTo>
                <a:lnTo>
                  <a:pt x="0" y="25298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459473" y="2497073"/>
            <a:ext cx="266700" cy="208915"/>
          </a:xfrm>
          <a:custGeom>
            <a:avLst/>
            <a:gdLst/>
            <a:ahLst/>
            <a:cxnLst/>
            <a:rect l="l" t="t" r="r" b="b"/>
            <a:pathLst>
              <a:path w="266700" h="208914">
                <a:moveTo>
                  <a:pt x="0" y="0"/>
                </a:moveTo>
                <a:lnTo>
                  <a:pt x="266700" y="20878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154173" y="2445257"/>
            <a:ext cx="266700" cy="0"/>
          </a:xfrm>
          <a:custGeom>
            <a:avLst/>
            <a:gdLst/>
            <a:ahLst/>
            <a:cxnLst/>
            <a:rect l="l" t="t" r="r" b="b"/>
            <a:pathLst>
              <a:path w="266700" h="0">
                <a:moveTo>
                  <a:pt x="0" y="0"/>
                </a:moveTo>
                <a:lnTo>
                  <a:pt x="266700" y="0"/>
                </a:lnTo>
              </a:path>
            </a:pathLst>
          </a:custGeom>
          <a:ln w="38100">
            <a:solidFill>
              <a:srgbClr val="99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516117" y="3004566"/>
            <a:ext cx="266700" cy="0"/>
          </a:xfrm>
          <a:custGeom>
            <a:avLst/>
            <a:gdLst/>
            <a:ahLst/>
            <a:cxnLst/>
            <a:rect l="l" t="t" r="r" b="b"/>
            <a:pathLst>
              <a:path w="266700" h="0">
                <a:moveTo>
                  <a:pt x="0" y="0"/>
                </a:moveTo>
                <a:lnTo>
                  <a:pt x="266700" y="0"/>
                </a:lnTo>
              </a:path>
            </a:pathLst>
          </a:custGeom>
          <a:ln w="38100">
            <a:solidFill>
              <a:srgbClr val="99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472440" y="3963853"/>
            <a:ext cx="8246109" cy="8204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中的句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子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存在两棵不同的分析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树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，所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为二义文法。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390143" y="3886200"/>
            <a:ext cx="8478520" cy="946785"/>
          </a:xfrm>
          <a:prstGeom prst="rect">
            <a:avLst/>
          </a:prstGeom>
          <a:solidFill>
            <a:srgbClr val="336699"/>
          </a:solidFill>
        </p:spPr>
        <p:txBody>
          <a:bodyPr wrap="square" lIns="0" tIns="38100" rIns="0" bIns="0" rtlCol="0" vert="horz">
            <a:spAutoFit/>
          </a:bodyPr>
          <a:lstStyle/>
          <a:p>
            <a:pPr marL="91440" marR="132080">
              <a:lnSpc>
                <a:spcPct val="100000"/>
              </a:lnSpc>
              <a:spcBef>
                <a:spcPts val="3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中的句子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存在两个不同的最左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推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导，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以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为二义文法。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4938" y="2908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1649" y="36449"/>
                </a:moveTo>
                <a:lnTo>
                  <a:pt x="153415" y="36449"/>
                </a:lnTo>
                <a:lnTo>
                  <a:pt x="156463" y="74422"/>
                </a:lnTo>
                <a:lnTo>
                  <a:pt x="137540" y="75941"/>
                </a:lnTo>
                <a:lnTo>
                  <a:pt x="140588" y="113919"/>
                </a:lnTo>
                <a:lnTo>
                  <a:pt x="249936" y="47878"/>
                </a:lnTo>
                <a:lnTo>
                  <a:pt x="221649" y="36449"/>
                </a:lnTo>
                <a:close/>
              </a:path>
              <a:path w="250189" h="114300">
                <a:moveTo>
                  <a:pt x="134491" y="37952"/>
                </a:moveTo>
                <a:lnTo>
                  <a:pt x="0" y="48641"/>
                </a:lnTo>
                <a:lnTo>
                  <a:pt x="3048" y="86741"/>
                </a:lnTo>
                <a:lnTo>
                  <a:pt x="137540" y="75941"/>
                </a:lnTo>
                <a:lnTo>
                  <a:pt x="134491" y="37952"/>
                </a:lnTo>
                <a:close/>
              </a:path>
              <a:path w="250189" h="114300">
                <a:moveTo>
                  <a:pt x="153415" y="36449"/>
                </a:moveTo>
                <a:lnTo>
                  <a:pt x="134491" y="37952"/>
                </a:lnTo>
                <a:lnTo>
                  <a:pt x="137540" y="75941"/>
                </a:lnTo>
                <a:lnTo>
                  <a:pt x="156463" y="74422"/>
                </a:lnTo>
                <a:lnTo>
                  <a:pt x="153415" y="36449"/>
                </a:lnTo>
                <a:close/>
              </a:path>
              <a:path w="250189" h="114300">
                <a:moveTo>
                  <a:pt x="131445" y="0"/>
                </a:moveTo>
                <a:lnTo>
                  <a:pt x="134491" y="37952"/>
                </a:lnTo>
                <a:lnTo>
                  <a:pt x="153415" y="36449"/>
                </a:lnTo>
                <a:lnTo>
                  <a:pt x="221649" y="36449"/>
                </a:lnTo>
                <a:lnTo>
                  <a:pt x="13144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450" y="29082"/>
            <a:ext cx="248412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4938" y="2908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1649" y="36449"/>
                </a:moveTo>
                <a:lnTo>
                  <a:pt x="153415" y="36449"/>
                </a:lnTo>
                <a:lnTo>
                  <a:pt x="156463" y="74422"/>
                </a:lnTo>
                <a:lnTo>
                  <a:pt x="137540" y="75941"/>
                </a:lnTo>
                <a:lnTo>
                  <a:pt x="140588" y="113919"/>
                </a:lnTo>
                <a:lnTo>
                  <a:pt x="249936" y="47878"/>
                </a:lnTo>
                <a:lnTo>
                  <a:pt x="221649" y="36449"/>
                </a:lnTo>
                <a:close/>
              </a:path>
              <a:path w="250189" h="114300">
                <a:moveTo>
                  <a:pt x="134491" y="37952"/>
                </a:moveTo>
                <a:lnTo>
                  <a:pt x="0" y="48641"/>
                </a:lnTo>
                <a:lnTo>
                  <a:pt x="3048" y="86741"/>
                </a:lnTo>
                <a:lnTo>
                  <a:pt x="137540" y="75941"/>
                </a:lnTo>
                <a:lnTo>
                  <a:pt x="134491" y="37952"/>
                </a:lnTo>
                <a:close/>
              </a:path>
              <a:path w="250189" h="114300">
                <a:moveTo>
                  <a:pt x="153415" y="36449"/>
                </a:moveTo>
                <a:lnTo>
                  <a:pt x="134491" y="37952"/>
                </a:lnTo>
                <a:lnTo>
                  <a:pt x="137540" y="75941"/>
                </a:lnTo>
                <a:lnTo>
                  <a:pt x="156463" y="74422"/>
                </a:lnTo>
                <a:lnTo>
                  <a:pt x="153415" y="36449"/>
                </a:lnTo>
                <a:close/>
              </a:path>
              <a:path w="250189" h="114300">
                <a:moveTo>
                  <a:pt x="131445" y="0"/>
                </a:moveTo>
                <a:lnTo>
                  <a:pt x="134491" y="37952"/>
                </a:lnTo>
                <a:lnTo>
                  <a:pt x="153415" y="36449"/>
                </a:lnTo>
                <a:lnTo>
                  <a:pt x="221649" y="36449"/>
                </a:lnTo>
                <a:lnTo>
                  <a:pt x="13144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3091" y="27940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5085" y="36702"/>
                </a:moveTo>
                <a:lnTo>
                  <a:pt x="188341" y="36702"/>
                </a:lnTo>
                <a:lnTo>
                  <a:pt x="191008" y="74675"/>
                </a:lnTo>
                <a:lnTo>
                  <a:pt x="172083" y="76002"/>
                </a:lnTo>
                <a:lnTo>
                  <a:pt x="174752" y="114045"/>
                </a:lnTo>
                <a:lnTo>
                  <a:pt x="284734" y="49021"/>
                </a:lnTo>
                <a:lnTo>
                  <a:pt x="255085" y="36702"/>
                </a:lnTo>
                <a:close/>
              </a:path>
              <a:path w="285114" h="114300">
                <a:moveTo>
                  <a:pt x="169418" y="38017"/>
                </a:moveTo>
                <a:lnTo>
                  <a:pt x="0" y="49783"/>
                </a:lnTo>
                <a:lnTo>
                  <a:pt x="2540" y="87883"/>
                </a:lnTo>
                <a:lnTo>
                  <a:pt x="172083" y="76002"/>
                </a:lnTo>
                <a:lnTo>
                  <a:pt x="169418" y="38017"/>
                </a:lnTo>
                <a:close/>
              </a:path>
              <a:path w="285114" h="114300">
                <a:moveTo>
                  <a:pt x="188341" y="36702"/>
                </a:moveTo>
                <a:lnTo>
                  <a:pt x="169418" y="38017"/>
                </a:lnTo>
                <a:lnTo>
                  <a:pt x="172083" y="76002"/>
                </a:lnTo>
                <a:lnTo>
                  <a:pt x="191008" y="74675"/>
                </a:lnTo>
                <a:lnTo>
                  <a:pt x="188341" y="36702"/>
                </a:lnTo>
                <a:close/>
              </a:path>
              <a:path w="285114" h="114300">
                <a:moveTo>
                  <a:pt x="166750" y="0"/>
                </a:moveTo>
                <a:lnTo>
                  <a:pt x="169418" y="38017"/>
                </a:lnTo>
                <a:lnTo>
                  <a:pt x="188341" y="36702"/>
                </a:lnTo>
                <a:lnTo>
                  <a:pt x="255085" y="36702"/>
                </a:lnTo>
                <a:lnTo>
                  <a:pt x="166750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0"/>
            <a:ext cx="9143238" cy="4777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458723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0"/>
            <a:ext cx="0" cy="478155"/>
          </a:xfrm>
          <a:custGeom>
            <a:avLst/>
            <a:gdLst/>
            <a:ahLst/>
            <a:cxnLst/>
            <a:rect l="l" t="t" r="r" b="b"/>
            <a:pathLst>
              <a:path w="0" h="478155">
                <a:moveTo>
                  <a:pt x="0" y="0"/>
                </a:moveTo>
                <a:lnTo>
                  <a:pt x="0" y="477774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54939" y="53721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53966" y="53721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11848" y="53721"/>
            <a:ext cx="2517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2470" algn="l"/>
              </a:tabLst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语法树与二义性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94938" y="181482"/>
            <a:ext cx="249936" cy="1139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43091" y="180339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5085" y="36702"/>
                </a:moveTo>
                <a:lnTo>
                  <a:pt x="188341" y="36702"/>
                </a:lnTo>
                <a:lnTo>
                  <a:pt x="191008" y="74675"/>
                </a:lnTo>
                <a:lnTo>
                  <a:pt x="172083" y="76002"/>
                </a:lnTo>
                <a:lnTo>
                  <a:pt x="174752" y="114045"/>
                </a:lnTo>
                <a:lnTo>
                  <a:pt x="284734" y="49021"/>
                </a:lnTo>
                <a:lnTo>
                  <a:pt x="255085" y="36702"/>
                </a:lnTo>
                <a:close/>
              </a:path>
              <a:path w="285114" h="114300">
                <a:moveTo>
                  <a:pt x="169418" y="38017"/>
                </a:moveTo>
                <a:lnTo>
                  <a:pt x="0" y="49783"/>
                </a:lnTo>
                <a:lnTo>
                  <a:pt x="2540" y="87883"/>
                </a:lnTo>
                <a:lnTo>
                  <a:pt x="172083" y="76002"/>
                </a:lnTo>
                <a:lnTo>
                  <a:pt x="169418" y="38017"/>
                </a:lnTo>
                <a:close/>
              </a:path>
              <a:path w="285114" h="114300">
                <a:moveTo>
                  <a:pt x="188341" y="36702"/>
                </a:moveTo>
                <a:lnTo>
                  <a:pt x="169418" y="38017"/>
                </a:lnTo>
                <a:lnTo>
                  <a:pt x="172083" y="76002"/>
                </a:lnTo>
                <a:lnTo>
                  <a:pt x="191008" y="74675"/>
                </a:lnTo>
                <a:lnTo>
                  <a:pt x="188341" y="36702"/>
                </a:lnTo>
                <a:close/>
              </a:path>
              <a:path w="285114" h="114300">
                <a:moveTo>
                  <a:pt x="166750" y="0"/>
                </a:moveTo>
                <a:lnTo>
                  <a:pt x="169418" y="38017"/>
                </a:lnTo>
                <a:lnTo>
                  <a:pt x="188341" y="36702"/>
                </a:lnTo>
                <a:lnTo>
                  <a:pt x="255085" y="36702"/>
                </a:lnTo>
                <a:lnTo>
                  <a:pt x="166750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26440" y="4447794"/>
            <a:ext cx="24790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君君臣臣父父子子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40739" y="5456021"/>
            <a:ext cx="18103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你真可以。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1500" y="892308"/>
            <a:ext cx="8211820" cy="2995930"/>
          </a:xfrm>
          <a:prstGeom prst="rect">
            <a:avLst/>
          </a:prstGeom>
        </p:spPr>
        <p:txBody>
          <a:bodyPr wrap="square" lIns="0" tIns="236220" rIns="0" bIns="0" rtlCol="0" vert="horz">
            <a:spAutoFit/>
          </a:bodyPr>
          <a:lstStyle/>
          <a:p>
            <a:pPr marL="179705">
              <a:lnSpc>
                <a:spcPct val="100000"/>
              </a:lnSpc>
              <a:spcBef>
                <a:spcPts val="1860"/>
              </a:spcBef>
              <a:tabLst>
                <a:tab pos="656590" algn="l"/>
              </a:tabLst>
            </a:pPr>
            <a:r>
              <a:rPr dirty="0" sz="2800" spc="-5">
                <a:solidFill>
                  <a:srgbClr val="B80F38"/>
                </a:solidFill>
                <a:latin typeface="Wingdings"/>
                <a:cs typeface="Wingdings"/>
              </a:rPr>
              <a:t></a:t>
            </a:r>
            <a:r>
              <a:rPr dirty="0" sz="2800" spc="-5">
                <a:solidFill>
                  <a:srgbClr val="B80F38"/>
                </a:solidFill>
                <a:latin typeface="Times New Roman"/>
                <a:cs typeface="Times New Roman"/>
              </a:rPr>
              <a:t>	</a:t>
            </a:r>
            <a:r>
              <a:rPr dirty="0" sz="3000" spc="-5" b="1">
                <a:solidFill>
                  <a:srgbClr val="B80F38"/>
                </a:solidFill>
                <a:latin typeface="宋体"/>
                <a:cs typeface="宋体"/>
              </a:rPr>
              <a:t>注意：</a:t>
            </a:r>
            <a:endParaRPr sz="3000">
              <a:latin typeface="宋体"/>
              <a:cs typeface="宋体"/>
            </a:endParaRPr>
          </a:p>
          <a:p>
            <a:pPr marL="91440" marR="355600" indent="621665">
              <a:lnSpc>
                <a:spcPts val="5040"/>
              </a:lnSpc>
              <a:spcBef>
                <a:spcPts val="409"/>
              </a:spcBef>
            </a:pPr>
            <a:r>
              <a:rPr dirty="0" sz="2800" spc="-5" b="1">
                <a:latin typeface="宋体"/>
                <a:cs typeface="宋体"/>
              </a:rPr>
              <a:t>文法的二义性与语义的二义</a:t>
            </a:r>
            <a:r>
              <a:rPr dirty="0" sz="2800" spc="5" b="1">
                <a:latin typeface="宋体"/>
                <a:cs typeface="宋体"/>
              </a:rPr>
              <a:t>性</a:t>
            </a:r>
            <a:r>
              <a:rPr dirty="0" sz="2800" spc="-5" b="1">
                <a:latin typeface="宋体"/>
                <a:cs typeface="宋体"/>
              </a:rPr>
              <a:t>是完</a:t>
            </a:r>
            <a:r>
              <a:rPr dirty="0" sz="2800" spc="5" b="1">
                <a:latin typeface="宋体"/>
                <a:cs typeface="宋体"/>
              </a:rPr>
              <a:t>全</a:t>
            </a:r>
            <a:r>
              <a:rPr dirty="0" sz="2800" spc="-5" b="1">
                <a:latin typeface="宋体"/>
                <a:cs typeface="宋体"/>
              </a:rPr>
              <a:t>不同</a:t>
            </a:r>
            <a:r>
              <a:rPr dirty="0" sz="2800" spc="5" b="1">
                <a:latin typeface="宋体"/>
                <a:cs typeface="宋体"/>
              </a:rPr>
              <a:t>的</a:t>
            </a:r>
            <a:r>
              <a:rPr dirty="0" sz="2800" spc="-15" b="1">
                <a:latin typeface="宋体"/>
                <a:cs typeface="宋体"/>
              </a:rPr>
              <a:t>概 </a:t>
            </a:r>
            <a:r>
              <a:rPr dirty="0" sz="2800" spc="-5" b="1">
                <a:latin typeface="宋体"/>
                <a:cs typeface="宋体"/>
              </a:rPr>
              <a:t>念。并非文法是二义的，语言</a:t>
            </a:r>
            <a:r>
              <a:rPr dirty="0" sz="2800" spc="5" b="1">
                <a:latin typeface="宋体"/>
                <a:cs typeface="宋体"/>
              </a:rPr>
              <a:t>就</a:t>
            </a:r>
            <a:r>
              <a:rPr dirty="0" sz="2800" spc="-5" b="1">
                <a:latin typeface="宋体"/>
                <a:cs typeface="宋体"/>
              </a:rPr>
              <a:t>二义。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50">
              <a:latin typeface="宋体"/>
              <a:cs typeface="宋体"/>
            </a:endParaRPr>
          </a:p>
          <a:p>
            <a:pPr marL="167640">
              <a:lnSpc>
                <a:spcPct val="100000"/>
              </a:lnSpc>
              <a:tabLst>
                <a:tab pos="1332865" algn="l"/>
                <a:tab pos="329184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Bookman Old Style"/>
                <a:cs typeface="Bookman Old Style"/>
              </a:rPr>
              <a:t>Time	Flies.	</a:t>
            </a:r>
            <a:r>
              <a:rPr dirty="0" u="heavy" sz="2800" spc="-10" b="1">
                <a:solidFill>
                  <a:srgbClr val="CCFFFF"/>
                </a:solidFill>
                <a:uFill>
                  <a:solidFill>
                    <a:srgbClr val="CCFFFF"/>
                  </a:solidFill>
                </a:uFill>
                <a:latin typeface="宋体"/>
                <a:cs typeface="宋体"/>
              </a:rPr>
              <a:t>既有语法又有语义的二义性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8875" y="4446270"/>
            <a:ext cx="53746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CCFFFF"/>
                </a:solidFill>
                <a:uFill>
                  <a:solidFill>
                    <a:srgbClr val="CCFFFF"/>
                  </a:solidFill>
                </a:uFill>
                <a:latin typeface="宋体"/>
                <a:cs typeface="宋体"/>
              </a:rPr>
              <a:t>有语法的二义性但无语义的二</a:t>
            </a:r>
            <a:r>
              <a:rPr dirty="0" u="heavy" sz="2800" spc="5" b="1">
                <a:solidFill>
                  <a:srgbClr val="CCFFFF"/>
                </a:solidFill>
                <a:uFill>
                  <a:solidFill>
                    <a:srgbClr val="CCFFFF"/>
                  </a:solidFill>
                </a:uFill>
                <a:latin typeface="宋体"/>
                <a:cs typeface="宋体"/>
              </a:rPr>
              <a:t>义</a:t>
            </a:r>
            <a:r>
              <a:rPr dirty="0" u="heavy" sz="2800" spc="-15" b="1">
                <a:solidFill>
                  <a:srgbClr val="CCFFFF"/>
                </a:solidFill>
                <a:uFill>
                  <a:solidFill>
                    <a:srgbClr val="CCFFFF"/>
                  </a:solidFill>
                </a:uFill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03446" y="5456021"/>
            <a:ext cx="53746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CCFFFF"/>
                </a:solidFill>
                <a:uFill>
                  <a:solidFill>
                    <a:srgbClr val="CCFFFF"/>
                  </a:solidFill>
                </a:uFill>
                <a:latin typeface="宋体"/>
                <a:cs typeface="宋体"/>
              </a:rPr>
              <a:t>有语义的二义性但无语法的二</a:t>
            </a:r>
            <a:r>
              <a:rPr dirty="0" u="heavy" sz="2800" spc="5" b="1">
                <a:solidFill>
                  <a:srgbClr val="CCFFFF"/>
                </a:solidFill>
                <a:uFill>
                  <a:solidFill>
                    <a:srgbClr val="CCFFFF"/>
                  </a:solidFill>
                </a:uFill>
                <a:latin typeface="宋体"/>
                <a:cs typeface="宋体"/>
              </a:rPr>
              <a:t>义</a:t>
            </a:r>
            <a:r>
              <a:rPr dirty="0" u="heavy" sz="2800" spc="-15" b="1">
                <a:solidFill>
                  <a:srgbClr val="CCFFFF"/>
                </a:solidFill>
                <a:uFill>
                  <a:solidFill>
                    <a:srgbClr val="CCFFFF"/>
                  </a:solidFill>
                </a:uFill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4938" y="2908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1649" y="36449"/>
                </a:moveTo>
                <a:lnTo>
                  <a:pt x="153415" y="36449"/>
                </a:lnTo>
                <a:lnTo>
                  <a:pt x="156463" y="74422"/>
                </a:lnTo>
                <a:lnTo>
                  <a:pt x="137540" y="75941"/>
                </a:lnTo>
                <a:lnTo>
                  <a:pt x="140588" y="113919"/>
                </a:lnTo>
                <a:lnTo>
                  <a:pt x="249936" y="47878"/>
                </a:lnTo>
                <a:lnTo>
                  <a:pt x="221649" y="36449"/>
                </a:lnTo>
                <a:close/>
              </a:path>
              <a:path w="250189" h="114300">
                <a:moveTo>
                  <a:pt x="134491" y="37952"/>
                </a:moveTo>
                <a:lnTo>
                  <a:pt x="0" y="48641"/>
                </a:lnTo>
                <a:lnTo>
                  <a:pt x="3048" y="86741"/>
                </a:lnTo>
                <a:lnTo>
                  <a:pt x="137540" y="75941"/>
                </a:lnTo>
                <a:lnTo>
                  <a:pt x="134491" y="37952"/>
                </a:lnTo>
                <a:close/>
              </a:path>
              <a:path w="250189" h="114300">
                <a:moveTo>
                  <a:pt x="153415" y="36449"/>
                </a:moveTo>
                <a:lnTo>
                  <a:pt x="134491" y="37952"/>
                </a:lnTo>
                <a:lnTo>
                  <a:pt x="137540" y="75941"/>
                </a:lnTo>
                <a:lnTo>
                  <a:pt x="156463" y="74422"/>
                </a:lnTo>
                <a:lnTo>
                  <a:pt x="153415" y="36449"/>
                </a:lnTo>
                <a:close/>
              </a:path>
              <a:path w="250189" h="114300">
                <a:moveTo>
                  <a:pt x="131445" y="0"/>
                </a:moveTo>
                <a:lnTo>
                  <a:pt x="134491" y="37952"/>
                </a:lnTo>
                <a:lnTo>
                  <a:pt x="153415" y="36449"/>
                </a:lnTo>
                <a:lnTo>
                  <a:pt x="221649" y="36449"/>
                </a:lnTo>
                <a:lnTo>
                  <a:pt x="13144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450" y="29082"/>
            <a:ext cx="248412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4938" y="2908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1649" y="36449"/>
                </a:moveTo>
                <a:lnTo>
                  <a:pt x="153415" y="36449"/>
                </a:lnTo>
                <a:lnTo>
                  <a:pt x="156463" y="74422"/>
                </a:lnTo>
                <a:lnTo>
                  <a:pt x="137540" y="75941"/>
                </a:lnTo>
                <a:lnTo>
                  <a:pt x="140588" y="113919"/>
                </a:lnTo>
                <a:lnTo>
                  <a:pt x="249936" y="47878"/>
                </a:lnTo>
                <a:lnTo>
                  <a:pt x="221649" y="36449"/>
                </a:lnTo>
                <a:close/>
              </a:path>
              <a:path w="250189" h="114300">
                <a:moveTo>
                  <a:pt x="134491" y="37952"/>
                </a:moveTo>
                <a:lnTo>
                  <a:pt x="0" y="48641"/>
                </a:lnTo>
                <a:lnTo>
                  <a:pt x="3048" y="86741"/>
                </a:lnTo>
                <a:lnTo>
                  <a:pt x="137540" y="75941"/>
                </a:lnTo>
                <a:lnTo>
                  <a:pt x="134491" y="37952"/>
                </a:lnTo>
                <a:close/>
              </a:path>
              <a:path w="250189" h="114300">
                <a:moveTo>
                  <a:pt x="153415" y="36449"/>
                </a:moveTo>
                <a:lnTo>
                  <a:pt x="134491" y="37952"/>
                </a:lnTo>
                <a:lnTo>
                  <a:pt x="137540" y="75941"/>
                </a:lnTo>
                <a:lnTo>
                  <a:pt x="156463" y="74422"/>
                </a:lnTo>
                <a:lnTo>
                  <a:pt x="153415" y="36449"/>
                </a:lnTo>
                <a:close/>
              </a:path>
              <a:path w="250189" h="114300">
                <a:moveTo>
                  <a:pt x="131445" y="0"/>
                </a:moveTo>
                <a:lnTo>
                  <a:pt x="134491" y="37952"/>
                </a:lnTo>
                <a:lnTo>
                  <a:pt x="153415" y="36449"/>
                </a:lnTo>
                <a:lnTo>
                  <a:pt x="221649" y="36449"/>
                </a:lnTo>
                <a:lnTo>
                  <a:pt x="13144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3091" y="27940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5085" y="36702"/>
                </a:moveTo>
                <a:lnTo>
                  <a:pt x="188341" y="36702"/>
                </a:lnTo>
                <a:lnTo>
                  <a:pt x="191008" y="74675"/>
                </a:lnTo>
                <a:lnTo>
                  <a:pt x="172083" y="76002"/>
                </a:lnTo>
                <a:lnTo>
                  <a:pt x="174752" y="114045"/>
                </a:lnTo>
                <a:lnTo>
                  <a:pt x="284734" y="49021"/>
                </a:lnTo>
                <a:lnTo>
                  <a:pt x="255085" y="36702"/>
                </a:lnTo>
                <a:close/>
              </a:path>
              <a:path w="285114" h="114300">
                <a:moveTo>
                  <a:pt x="169418" y="38017"/>
                </a:moveTo>
                <a:lnTo>
                  <a:pt x="0" y="49783"/>
                </a:lnTo>
                <a:lnTo>
                  <a:pt x="2540" y="87883"/>
                </a:lnTo>
                <a:lnTo>
                  <a:pt x="172083" y="76002"/>
                </a:lnTo>
                <a:lnTo>
                  <a:pt x="169418" y="38017"/>
                </a:lnTo>
                <a:close/>
              </a:path>
              <a:path w="285114" h="114300">
                <a:moveTo>
                  <a:pt x="188341" y="36702"/>
                </a:moveTo>
                <a:lnTo>
                  <a:pt x="169418" y="38017"/>
                </a:lnTo>
                <a:lnTo>
                  <a:pt x="172083" y="76002"/>
                </a:lnTo>
                <a:lnTo>
                  <a:pt x="191008" y="74675"/>
                </a:lnTo>
                <a:lnTo>
                  <a:pt x="188341" y="36702"/>
                </a:lnTo>
                <a:close/>
              </a:path>
              <a:path w="285114" h="114300">
                <a:moveTo>
                  <a:pt x="166750" y="0"/>
                </a:moveTo>
                <a:lnTo>
                  <a:pt x="169418" y="38017"/>
                </a:lnTo>
                <a:lnTo>
                  <a:pt x="188341" y="36702"/>
                </a:lnTo>
                <a:lnTo>
                  <a:pt x="255085" y="36702"/>
                </a:lnTo>
                <a:lnTo>
                  <a:pt x="166750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0"/>
            <a:ext cx="9143238" cy="4777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458723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0"/>
            <a:ext cx="0" cy="478155"/>
          </a:xfrm>
          <a:custGeom>
            <a:avLst/>
            <a:gdLst/>
            <a:ahLst/>
            <a:cxnLst/>
            <a:rect l="l" t="t" r="r" b="b"/>
            <a:pathLst>
              <a:path w="0" h="478155">
                <a:moveTo>
                  <a:pt x="0" y="0"/>
                </a:moveTo>
                <a:lnTo>
                  <a:pt x="0" y="477774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411848" y="53721"/>
            <a:ext cx="2517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2470" algn="l"/>
              </a:tabLst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语法树与二义性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94938" y="181482"/>
            <a:ext cx="249936" cy="1139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43091" y="180339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5085" y="36702"/>
                </a:moveTo>
                <a:lnTo>
                  <a:pt x="188341" y="36702"/>
                </a:lnTo>
                <a:lnTo>
                  <a:pt x="191008" y="74675"/>
                </a:lnTo>
                <a:lnTo>
                  <a:pt x="172083" y="76002"/>
                </a:lnTo>
                <a:lnTo>
                  <a:pt x="174752" y="114045"/>
                </a:lnTo>
                <a:lnTo>
                  <a:pt x="284734" y="49021"/>
                </a:lnTo>
                <a:lnTo>
                  <a:pt x="255085" y="36702"/>
                </a:lnTo>
                <a:close/>
              </a:path>
              <a:path w="285114" h="114300">
                <a:moveTo>
                  <a:pt x="169418" y="38017"/>
                </a:moveTo>
                <a:lnTo>
                  <a:pt x="0" y="49783"/>
                </a:lnTo>
                <a:lnTo>
                  <a:pt x="2540" y="87883"/>
                </a:lnTo>
                <a:lnTo>
                  <a:pt x="172083" y="76002"/>
                </a:lnTo>
                <a:lnTo>
                  <a:pt x="169418" y="38017"/>
                </a:lnTo>
                <a:close/>
              </a:path>
              <a:path w="285114" h="114300">
                <a:moveTo>
                  <a:pt x="188341" y="36702"/>
                </a:moveTo>
                <a:lnTo>
                  <a:pt x="169418" y="38017"/>
                </a:lnTo>
                <a:lnTo>
                  <a:pt x="172083" y="76002"/>
                </a:lnTo>
                <a:lnTo>
                  <a:pt x="191008" y="74675"/>
                </a:lnTo>
                <a:lnTo>
                  <a:pt x="188341" y="36702"/>
                </a:lnTo>
                <a:close/>
              </a:path>
              <a:path w="285114" h="114300">
                <a:moveTo>
                  <a:pt x="166750" y="0"/>
                </a:moveTo>
                <a:lnTo>
                  <a:pt x="169418" y="38017"/>
                </a:lnTo>
                <a:lnTo>
                  <a:pt x="188341" y="36702"/>
                </a:lnTo>
                <a:lnTo>
                  <a:pt x="255085" y="36702"/>
                </a:lnTo>
                <a:lnTo>
                  <a:pt x="166750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4939" y="53721"/>
            <a:ext cx="5651500" cy="1185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>
              <a:latin typeface="宋体"/>
              <a:cs typeface="宋体"/>
            </a:endParaRPr>
          </a:p>
          <a:p>
            <a:pPr marL="412750">
              <a:lnSpc>
                <a:spcPct val="100000"/>
              </a:lnSpc>
              <a:tabLst>
                <a:tab pos="1125855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二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文法二义性的消除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90346" y="1443608"/>
            <a:ext cx="756412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800" spc="-5" b="1">
                <a:solidFill>
                  <a:srgbClr val="CCFFFF"/>
                </a:solidFill>
                <a:latin typeface="宋体"/>
                <a:cs typeface="宋体"/>
              </a:rPr>
              <a:t>例如</a:t>
            </a:r>
            <a:r>
              <a:rPr dirty="0" sz="2800" spc="-15" b="1">
                <a:solidFill>
                  <a:srgbClr val="CCFFFF"/>
                </a:solidFill>
                <a:latin typeface="宋体"/>
                <a:cs typeface="宋体"/>
              </a:rPr>
              <a:t>，</a:t>
            </a:r>
            <a:r>
              <a:rPr dirty="0" sz="2800" spc="-700" b="1">
                <a:solidFill>
                  <a:srgbClr val="CC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对有文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-25525" sz="27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25525" sz="2775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 (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)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3261" y="2286761"/>
            <a:ext cx="7449820" cy="1430020"/>
          </a:xfrm>
          <a:prstGeom prst="rect">
            <a:avLst/>
          </a:prstGeom>
          <a:solidFill>
            <a:srgbClr val="99FFCC"/>
          </a:solidFill>
          <a:ln w="38100">
            <a:solidFill>
              <a:srgbClr val="336699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30275" indent="-611505">
              <a:lnSpc>
                <a:spcPts val="2760"/>
              </a:lnSpc>
              <a:buFont typeface="Times New Roman"/>
              <a:buAutoNum type="arabicPlain"/>
              <a:tabLst>
                <a:tab pos="930910" algn="l"/>
              </a:tabLst>
            </a:pP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分析二义性原因</a:t>
            </a:r>
            <a:endParaRPr sz="2400">
              <a:latin typeface="宋体"/>
              <a:cs typeface="宋体"/>
            </a:endParaRPr>
          </a:p>
          <a:p>
            <a:pPr lvl="1" marL="1412240" indent="-559435">
              <a:lnSpc>
                <a:spcPct val="100000"/>
              </a:lnSpc>
              <a:spcBef>
                <a:spcPts val="1005"/>
              </a:spcBef>
              <a:buFont typeface="Times New Roman"/>
              <a:buAutoNum type="alphaLcParenR"/>
              <a:tabLst>
                <a:tab pos="1411605" algn="l"/>
                <a:tab pos="1412240" algn="l"/>
              </a:tabLst>
            </a:pPr>
            <a:r>
              <a:rPr dirty="0" sz="2400" spc="-5" b="1">
                <a:solidFill>
                  <a:srgbClr val="FF0000"/>
                </a:solidFill>
                <a:latin typeface="宋体"/>
                <a:cs typeface="宋体"/>
              </a:rPr>
              <a:t>运算</a:t>
            </a:r>
            <a:r>
              <a:rPr dirty="0" sz="2400" spc="-10" b="1">
                <a:solidFill>
                  <a:srgbClr val="FF0000"/>
                </a:solidFill>
                <a:latin typeface="宋体"/>
                <a:cs typeface="宋体"/>
              </a:rPr>
              <a:t>符</a:t>
            </a:r>
            <a:r>
              <a:rPr dirty="0" sz="2400" spc="-605" b="1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宋体"/>
                <a:cs typeface="宋体"/>
              </a:rPr>
              <a:t>“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dirty="0" sz="2400" spc="-5" b="1">
                <a:solidFill>
                  <a:srgbClr val="FF0000"/>
                </a:solidFill>
                <a:latin typeface="宋体"/>
                <a:cs typeface="宋体"/>
              </a:rPr>
              <a:t>”和“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dirty="0" sz="2400" spc="-5" b="1">
                <a:solidFill>
                  <a:srgbClr val="FF0000"/>
                </a:solidFill>
                <a:latin typeface="宋体"/>
                <a:cs typeface="宋体"/>
              </a:rPr>
              <a:t>”未体现优先级；</a:t>
            </a:r>
            <a:endParaRPr sz="2400">
              <a:latin typeface="宋体"/>
              <a:cs typeface="宋体"/>
            </a:endParaRPr>
          </a:p>
          <a:p>
            <a:pPr lvl="1" marL="1352550" indent="-500380">
              <a:lnSpc>
                <a:spcPct val="100000"/>
              </a:lnSpc>
              <a:spcBef>
                <a:spcPts val="1010"/>
              </a:spcBef>
              <a:buFont typeface="Times New Roman"/>
              <a:buAutoNum type="alphaLcParenR"/>
              <a:tabLst>
                <a:tab pos="1352550" algn="l"/>
                <a:tab pos="1353185" algn="l"/>
              </a:tabLst>
            </a:pP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“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”和“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”自身结合规则不明确；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3845057"/>
            <a:ext cx="7526020" cy="259080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739140" marR="1776730" indent="-381000">
              <a:lnSpc>
                <a:spcPts val="5580"/>
              </a:lnSpc>
              <a:spcBef>
                <a:spcPts val="10"/>
              </a:spcBef>
              <a:tabLst>
                <a:tab pos="2909570" algn="l"/>
                <a:tab pos="3514725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2</a:t>
            </a:r>
            <a:r>
              <a:rPr dirty="0" sz="2400" spc="-5" b="1">
                <a:latin typeface="宋体"/>
                <a:cs typeface="宋体"/>
              </a:rPr>
              <a:t>）</a:t>
            </a:r>
            <a:r>
              <a:rPr dirty="0" sz="2400" spc="-615" b="1">
                <a:latin typeface="宋体"/>
                <a:cs typeface="宋体"/>
              </a:rPr>
              <a:t> </a:t>
            </a:r>
            <a:r>
              <a:rPr dirty="0" sz="2400" b="1">
                <a:latin typeface="宋体"/>
                <a:cs typeface="宋体"/>
              </a:rPr>
              <a:t>构造</a:t>
            </a:r>
            <a:r>
              <a:rPr dirty="0" sz="2800" spc="-5" b="1" i="1">
                <a:latin typeface="Times New Roman"/>
                <a:cs typeface="Times New Roman"/>
              </a:rPr>
              <a:t>G</a:t>
            </a:r>
            <a:r>
              <a:rPr dirty="0" baseline="-25525" sz="2775" spc="-7" b="1">
                <a:latin typeface="Times New Roman"/>
                <a:cs typeface="Times New Roman"/>
              </a:rPr>
              <a:t>1</a:t>
            </a:r>
            <a:r>
              <a:rPr dirty="0" sz="2800" spc="-5" b="1">
                <a:latin typeface="宋体"/>
                <a:cs typeface="宋体"/>
              </a:rPr>
              <a:t>′</a:t>
            </a:r>
            <a:r>
              <a:rPr dirty="0" sz="2800" spc="-695" b="1">
                <a:latin typeface="宋体"/>
                <a:cs typeface="宋体"/>
              </a:rPr>
              <a:t> </a:t>
            </a:r>
            <a:r>
              <a:rPr dirty="0" sz="2800" spc="-5" b="1">
                <a:latin typeface="宋体"/>
                <a:cs typeface="宋体"/>
              </a:rPr>
              <a:t>，使</a:t>
            </a:r>
            <a:r>
              <a:rPr dirty="0" sz="2800" spc="-5" b="1" i="1">
                <a:latin typeface="Times New Roman"/>
                <a:cs typeface="Times New Roman"/>
              </a:rPr>
              <a:t>L</a:t>
            </a:r>
            <a:r>
              <a:rPr dirty="0" sz="2800" spc="-5" b="1">
                <a:latin typeface="Times New Roman"/>
                <a:cs typeface="Times New Roman"/>
              </a:rPr>
              <a:t>(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G</a:t>
            </a:r>
            <a:r>
              <a:rPr dirty="0" baseline="-25525" sz="2775" spc="-7" b="1">
                <a:latin typeface="Times New Roman"/>
                <a:cs typeface="Times New Roman"/>
              </a:rPr>
              <a:t>1</a:t>
            </a:r>
            <a:r>
              <a:rPr dirty="0" sz="2800" spc="-5" b="1">
                <a:latin typeface="宋体"/>
                <a:cs typeface="宋体"/>
              </a:rPr>
              <a:t>）</a:t>
            </a:r>
            <a:r>
              <a:rPr dirty="0" sz="2800" spc="-5" b="1">
                <a:latin typeface="Times New Roman"/>
                <a:cs typeface="Times New Roman"/>
              </a:rPr>
              <a:t>=</a:t>
            </a:r>
            <a:r>
              <a:rPr dirty="0" sz="2800" spc="-5" b="1" i="1">
                <a:latin typeface="Times New Roman"/>
                <a:cs typeface="Times New Roman"/>
              </a:rPr>
              <a:t>L</a:t>
            </a:r>
            <a:r>
              <a:rPr dirty="0" sz="2800" spc="-5" b="1">
                <a:latin typeface="Times New Roman"/>
                <a:cs typeface="Times New Roman"/>
              </a:rPr>
              <a:t>(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G</a:t>
            </a:r>
            <a:r>
              <a:rPr dirty="0" baseline="-25525" sz="2775" spc="-7" b="1">
                <a:latin typeface="Times New Roman"/>
                <a:cs typeface="Times New Roman"/>
              </a:rPr>
              <a:t>1</a:t>
            </a:r>
            <a:r>
              <a:rPr dirty="0" sz="2800" spc="-5" b="1">
                <a:latin typeface="宋体"/>
                <a:cs typeface="宋体"/>
              </a:rPr>
              <a:t>′) 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baseline="-25525" sz="2775" spc="-7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′:   </a:t>
            </a:r>
            <a:r>
              <a:rPr dirty="0" sz="2800" spc="74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	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T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  <a:p>
            <a:pPr marL="2466340">
              <a:lnSpc>
                <a:spcPct val="100000"/>
              </a:lnSpc>
              <a:spcBef>
                <a:spcPts val="480"/>
              </a:spcBef>
              <a:tabLst>
                <a:tab pos="291719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T	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F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  <a:p>
            <a:pPr marL="2466340">
              <a:lnSpc>
                <a:spcPct val="100000"/>
              </a:lnSpc>
              <a:spcBef>
                <a:spcPts val="965"/>
              </a:spcBef>
              <a:tabLst>
                <a:tab pos="2941320" algn="l"/>
              </a:tabLst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F	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 |</a:t>
            </a:r>
            <a:r>
              <a:rPr dirty="0" sz="3200" spc="-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8938" y="795350"/>
            <a:ext cx="6802120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275" algn="l"/>
              </a:tabLst>
            </a:pPr>
            <a:r>
              <a:rPr dirty="0" spc="-10"/>
              <a:t>第</a:t>
            </a:r>
            <a:r>
              <a:rPr dirty="0" spc="-960"/>
              <a:t> 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 spc="-10"/>
              <a:t>章</a:t>
            </a:r>
            <a:r>
              <a:rPr dirty="0"/>
              <a:t>	</a:t>
            </a:r>
            <a:r>
              <a:rPr dirty="0" spc="5"/>
              <a:t>形式</a:t>
            </a:r>
            <a:r>
              <a:rPr dirty="0" spc="-10"/>
              <a:t>语</a:t>
            </a:r>
            <a:r>
              <a:rPr dirty="0" spc="5"/>
              <a:t>言</a:t>
            </a:r>
            <a:r>
              <a:rPr dirty="0" spc="-10"/>
              <a:t>与自</a:t>
            </a:r>
            <a:r>
              <a:rPr dirty="0"/>
              <a:t>动</a:t>
            </a:r>
            <a:r>
              <a:rPr dirty="0" spc="-10"/>
              <a:t>机基础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6966" y="1944624"/>
            <a:ext cx="6219190" cy="4142104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lvl="1" marL="1044575" indent="-1032510">
              <a:lnSpc>
                <a:spcPct val="100000"/>
              </a:lnSpc>
              <a:spcBef>
                <a:spcPts val="1180"/>
              </a:spcBef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文法和语言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5"/>
              </a:spcBef>
              <a:buClr>
                <a:srgbClr val="FFFFFF"/>
              </a:buClr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语言的语法和语义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Clr>
                <a:srgbClr val="FFFFFF"/>
              </a:buClr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文法和语言的定义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Clr>
                <a:srgbClr val="FFFFFF"/>
              </a:buClr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文法的表示方法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0"/>
              </a:spcBef>
              <a:buClr>
                <a:srgbClr val="FFFFFF"/>
              </a:buClr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语法分析树与二义性</a:t>
            </a:r>
            <a:endParaRPr sz="3600">
              <a:latin typeface="宋体"/>
              <a:cs typeface="宋体"/>
            </a:endParaRPr>
          </a:p>
          <a:p>
            <a:pPr lvl="2" marL="2077720" indent="-1375410">
              <a:lnSpc>
                <a:spcPct val="100000"/>
              </a:lnSpc>
              <a:spcBef>
                <a:spcPts val="1085"/>
              </a:spcBef>
              <a:buFont typeface="Times New Roman"/>
              <a:buAutoNum type="arabicPeriod"/>
              <a:tabLst>
                <a:tab pos="2077720" algn="l"/>
                <a:tab pos="207835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文法和语言的类型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8744" y="5682996"/>
            <a:ext cx="1229995" cy="515620"/>
          </a:xfrm>
          <a:custGeom>
            <a:avLst/>
            <a:gdLst/>
            <a:ahLst/>
            <a:cxnLst/>
            <a:rect l="l" t="t" r="r" b="b"/>
            <a:pathLst>
              <a:path w="1229995" h="515620">
                <a:moveTo>
                  <a:pt x="922274" y="0"/>
                </a:moveTo>
                <a:lnTo>
                  <a:pt x="922274" y="128777"/>
                </a:lnTo>
                <a:lnTo>
                  <a:pt x="0" y="128777"/>
                </a:lnTo>
                <a:lnTo>
                  <a:pt x="0" y="386333"/>
                </a:lnTo>
                <a:lnTo>
                  <a:pt x="922274" y="386333"/>
                </a:lnTo>
                <a:lnTo>
                  <a:pt x="922274" y="515111"/>
                </a:lnTo>
                <a:lnTo>
                  <a:pt x="1229868" y="257555"/>
                </a:lnTo>
                <a:lnTo>
                  <a:pt x="922274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8744" y="5682996"/>
            <a:ext cx="1229995" cy="515620"/>
          </a:xfrm>
          <a:custGeom>
            <a:avLst/>
            <a:gdLst/>
            <a:ahLst/>
            <a:cxnLst/>
            <a:rect l="l" t="t" r="r" b="b"/>
            <a:pathLst>
              <a:path w="1229995" h="515620">
                <a:moveTo>
                  <a:pt x="0" y="128777"/>
                </a:moveTo>
                <a:lnTo>
                  <a:pt x="922274" y="128777"/>
                </a:lnTo>
                <a:lnTo>
                  <a:pt x="922274" y="0"/>
                </a:lnTo>
                <a:lnTo>
                  <a:pt x="1229868" y="257555"/>
                </a:lnTo>
                <a:lnTo>
                  <a:pt x="922274" y="515111"/>
                </a:lnTo>
                <a:lnTo>
                  <a:pt x="922274" y="386333"/>
                </a:lnTo>
                <a:lnTo>
                  <a:pt x="0" y="386333"/>
                </a:lnTo>
                <a:lnTo>
                  <a:pt x="0" y="128777"/>
                </a:lnTo>
                <a:close/>
              </a:path>
            </a:pathLst>
          </a:custGeom>
          <a:ln w="9524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2239" y="0"/>
            <a:ext cx="8865870" cy="575627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5"/>
              </a:spcBef>
              <a:tabLst>
                <a:tab pos="605790" algn="l"/>
                <a:tab pos="3924300" algn="l"/>
                <a:tab pos="61556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2.1.5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文法和语言的类型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宋体"/>
              <a:cs typeface="宋体"/>
            </a:endParaRPr>
          </a:p>
          <a:p>
            <a:pPr marL="697230" indent="-443865">
              <a:lnSpc>
                <a:spcPct val="100000"/>
              </a:lnSpc>
              <a:spcBef>
                <a:spcPts val="5"/>
              </a:spcBef>
              <a:buClr>
                <a:srgbClr val="66FFFF"/>
              </a:buClr>
              <a:buSzPct val="129687"/>
              <a:buFont typeface="Wingdings"/>
              <a:buChar char=""/>
              <a:tabLst>
                <a:tab pos="697230" algn="l"/>
                <a:tab pos="69786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N.Chomsky</a:t>
            </a:r>
            <a:r>
              <a:rPr dirty="0" sz="3200" spc="-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类</a:t>
            </a:r>
            <a:r>
              <a:rPr dirty="0" sz="3200" spc="-8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254000">
              <a:lnSpc>
                <a:spcPct val="100000"/>
              </a:lnSpc>
              <a:spcBef>
                <a:spcPts val="2610"/>
              </a:spcBef>
              <a:tabLst>
                <a:tab pos="76263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1.	</a:t>
            </a:r>
            <a:r>
              <a:rPr dirty="0" u="heavy" sz="3200" b="1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spc="5" b="1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heavy" sz="3200" b="1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型文法</a:t>
            </a:r>
            <a:r>
              <a:rPr dirty="0" u="heavy" sz="3200" spc="-10" b="1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（</a:t>
            </a:r>
            <a:r>
              <a:rPr dirty="0" u="heavy" sz="3200" spc="-825" b="1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3200" b="1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短语文</a:t>
            </a:r>
            <a:r>
              <a:rPr dirty="0" u="heavy" sz="3200" spc="780" b="1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法</a:t>
            </a:r>
            <a:r>
              <a:rPr dirty="0" u="heavy" sz="3200" spc="-10" b="1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596900" indent="-342900">
              <a:lnSpc>
                <a:spcPct val="100000"/>
              </a:lnSpc>
              <a:spcBef>
                <a:spcPts val="1920"/>
              </a:spcBef>
              <a:buClr>
                <a:srgbClr val="66FFFF"/>
              </a:buClr>
              <a:buSzPct val="129687"/>
              <a:buFont typeface="Wingdings"/>
              <a:buChar char=""/>
              <a:tabLst>
                <a:tab pos="5969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2.20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254000" marR="363220" indent="533400">
              <a:lnSpc>
                <a:spcPts val="4540"/>
              </a:lnSpc>
              <a:spcBef>
                <a:spcPts val="35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如果对文法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中的规则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950" spc="-8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不加任何限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，则称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型文法或短语文法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89255" marR="728980" indent="429895">
              <a:lnSpc>
                <a:spcPct val="158700"/>
              </a:lnSpc>
              <a:spcBef>
                <a:spcPts val="205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能用</a:t>
            </a:r>
            <a:r>
              <a:rPr dirty="0" sz="2800" b="1">
                <a:solidFill>
                  <a:srgbClr val="FFD5AC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D5AC"/>
                </a:solidFill>
                <a:latin typeface="宋体"/>
                <a:cs typeface="宋体"/>
              </a:rPr>
              <a:t>型文法描述的语言</a:t>
            </a:r>
            <a:r>
              <a:rPr dirty="0" sz="2800" b="1">
                <a:solidFill>
                  <a:srgbClr val="FFD5AC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D5AC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D5AC"/>
                </a:solidFill>
                <a:latin typeface="宋体"/>
                <a:cs typeface="宋体"/>
              </a:rPr>
              <a:t>型语言</a:t>
            </a:r>
            <a:r>
              <a:rPr dirty="0" sz="2800" spc="-10" b="1">
                <a:solidFill>
                  <a:srgbClr val="FFD5AC"/>
                </a:solidFill>
                <a:latin typeface="Times New Roman"/>
                <a:cs typeface="Times New Roman"/>
              </a:rPr>
              <a:t>L</a:t>
            </a:r>
            <a:r>
              <a:rPr dirty="0" baseline="-25525" sz="2775" spc="15" b="1">
                <a:solidFill>
                  <a:srgbClr val="FFCCCC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D5AC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D5AC"/>
                </a:solidFill>
                <a:latin typeface="Times New Roman"/>
                <a:cs typeface="Times New Roman"/>
              </a:rPr>
              <a:t>0</a:t>
            </a:r>
            <a:r>
              <a:rPr dirty="0" sz="2800" spc="-10" b="1">
                <a:solidFill>
                  <a:srgbClr val="FFD5AC"/>
                </a:solidFill>
                <a:latin typeface="宋体"/>
                <a:cs typeface="宋体"/>
              </a:rPr>
              <a:t>型</a:t>
            </a:r>
            <a:r>
              <a:rPr dirty="0" sz="2800" spc="5" b="1">
                <a:solidFill>
                  <a:srgbClr val="FFD5AC"/>
                </a:solidFill>
                <a:latin typeface="宋体"/>
                <a:cs typeface="宋体"/>
              </a:rPr>
              <a:t>语</a:t>
            </a:r>
            <a:r>
              <a:rPr dirty="0" sz="2800" spc="-15" b="1">
                <a:solidFill>
                  <a:srgbClr val="FFD5AC"/>
                </a:solidFill>
                <a:latin typeface="宋体"/>
                <a:cs typeface="宋体"/>
              </a:rPr>
              <a:t>言 </a:t>
            </a:r>
            <a:r>
              <a:rPr dirty="0" sz="2800" spc="-5" b="1">
                <a:solidFill>
                  <a:srgbClr val="FFD5AC"/>
                </a:solidFill>
                <a:latin typeface="宋体"/>
                <a:cs typeface="宋体"/>
              </a:rPr>
              <a:t>可由图灵机</a:t>
            </a:r>
            <a:r>
              <a:rPr dirty="0" sz="2800" spc="-35" b="1">
                <a:solidFill>
                  <a:srgbClr val="FFD5AC"/>
                </a:solidFill>
                <a:latin typeface="宋体"/>
                <a:cs typeface="宋体"/>
              </a:rPr>
              <a:t>（</a:t>
            </a:r>
            <a:r>
              <a:rPr dirty="0" sz="2800" spc="-35" b="1">
                <a:solidFill>
                  <a:srgbClr val="FFD5AC"/>
                </a:solidFill>
                <a:latin typeface="Times New Roman"/>
                <a:cs typeface="Times New Roman"/>
              </a:rPr>
              <a:t>Turing</a:t>
            </a:r>
            <a:r>
              <a:rPr dirty="0" sz="2800" spc="-35" b="1">
                <a:solidFill>
                  <a:srgbClr val="FFD5AC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FFD5AC"/>
                </a:solidFill>
                <a:latin typeface="宋体"/>
                <a:cs typeface="宋体"/>
              </a:rPr>
              <a:t>来识别。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939" y="72644"/>
            <a:ext cx="88404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1429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2.1.5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文法和语言的类型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76731" y="1034034"/>
            <a:ext cx="1358265" cy="5435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-10">
                <a:latin typeface="宋体"/>
                <a:cs typeface="宋体"/>
              </a:rPr>
              <a:t>例</a:t>
            </a:r>
            <a:r>
              <a:rPr dirty="0" sz="3400" spc="-5">
                <a:latin typeface="Times New Roman"/>
                <a:cs typeface="Times New Roman"/>
              </a:rPr>
              <a:t>2.</a:t>
            </a:r>
            <a:r>
              <a:rPr dirty="0" sz="3400" spc="5">
                <a:latin typeface="Times New Roman"/>
                <a:cs typeface="Times New Roman"/>
              </a:rPr>
              <a:t>1</a:t>
            </a:r>
            <a:r>
              <a:rPr dirty="0" sz="3400" spc="-5">
                <a:latin typeface="Times New Roman"/>
                <a:cs typeface="Times New Roman"/>
              </a:rPr>
              <a:t>8: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43785" y="779454"/>
            <a:ext cx="5128260" cy="4732020"/>
          </a:xfrm>
          <a:prstGeom prst="rect">
            <a:avLst/>
          </a:prstGeom>
        </p:spPr>
        <p:txBody>
          <a:bodyPr wrap="square" lIns="0" tIns="266700" rIns="0" bIns="0" rtlCol="0" vert="horz">
            <a:spAutoFit/>
          </a:bodyPr>
          <a:lstStyle/>
          <a:p>
            <a:pPr marL="603885">
              <a:lnSpc>
                <a:spcPct val="100000"/>
              </a:lnSpc>
              <a:spcBef>
                <a:spcPts val="2100"/>
              </a:spcBef>
            </a:pPr>
            <a:r>
              <a:rPr dirty="0" sz="3400" spc="-10" b="1">
                <a:solidFill>
                  <a:srgbClr val="FFFF00"/>
                </a:solidFill>
                <a:latin typeface="宋体"/>
                <a:cs typeface="宋体"/>
              </a:rPr>
              <a:t>设有文</a:t>
            </a:r>
            <a:r>
              <a:rPr dirty="0" sz="3400" spc="-1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3400" spc="-5" b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endParaRPr sz="3400">
              <a:latin typeface="Times New Roman"/>
              <a:cs typeface="Times New Roman"/>
            </a:endParaRPr>
          </a:p>
          <a:p>
            <a:pPr marL="419100">
              <a:lnSpc>
                <a:spcPct val="100000"/>
              </a:lnSpc>
              <a:spcBef>
                <a:spcPts val="2125"/>
              </a:spcBef>
            </a:pPr>
            <a:r>
              <a:rPr dirty="0" sz="3600" b="1" i="1">
                <a:solidFill>
                  <a:srgbClr val="CCFFFF"/>
                </a:solidFill>
                <a:latin typeface="Times New Roman"/>
                <a:cs typeface="Times New Roman"/>
              </a:rPr>
              <a:t>S </a:t>
            </a:r>
            <a:r>
              <a:rPr dirty="0" sz="3600" b="1">
                <a:solidFill>
                  <a:srgbClr val="CCFFFF"/>
                </a:solidFill>
                <a:latin typeface="Symbol"/>
                <a:cs typeface="Symbol"/>
              </a:rPr>
              <a:t></a:t>
            </a:r>
            <a:r>
              <a:rPr dirty="0" sz="3600" spc="-25" b="1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dirty="0" sz="3600" b="1" i="1">
                <a:solidFill>
                  <a:srgbClr val="CCFFFF"/>
                </a:solidFill>
                <a:latin typeface="Times New Roman"/>
                <a:cs typeface="Times New Roman"/>
              </a:rPr>
              <a:t>aQb</a:t>
            </a:r>
            <a:endParaRPr sz="3600">
              <a:latin typeface="Times New Roman"/>
              <a:cs typeface="Times New Roman"/>
            </a:endParaRPr>
          </a:p>
          <a:p>
            <a:pPr marL="419100" marR="2065655">
              <a:lnSpc>
                <a:spcPct val="150000"/>
              </a:lnSpc>
              <a:spcBef>
                <a:spcPts val="5"/>
              </a:spcBef>
              <a:tabLst>
                <a:tab pos="1975485" algn="l"/>
              </a:tabLst>
            </a:pPr>
            <a:r>
              <a:rPr dirty="0" sz="3600" spc="-5" b="1" i="1">
                <a:solidFill>
                  <a:srgbClr val="CCFFFF"/>
                </a:solidFill>
                <a:latin typeface="Times New Roman"/>
                <a:cs typeface="Times New Roman"/>
              </a:rPr>
              <a:t>aQb </a:t>
            </a:r>
            <a:r>
              <a:rPr dirty="0" sz="3600" spc="-5" b="1">
                <a:solidFill>
                  <a:srgbClr val="CCFFFF"/>
                </a:solidFill>
                <a:latin typeface="Symbol"/>
                <a:cs typeface="Symbol"/>
              </a:rPr>
              <a:t></a:t>
            </a:r>
            <a:r>
              <a:rPr dirty="0" sz="3600" spc="-90" b="1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dirty="0" sz="3600" b="1" i="1">
                <a:solidFill>
                  <a:srgbClr val="CCFFFF"/>
                </a:solidFill>
                <a:latin typeface="Times New Roman"/>
                <a:cs typeface="Times New Roman"/>
              </a:rPr>
              <a:t>caRbc  </a:t>
            </a:r>
            <a:r>
              <a:rPr dirty="0" sz="3600" b="1" i="1">
                <a:solidFill>
                  <a:srgbClr val="CCFFFF"/>
                </a:solidFill>
                <a:latin typeface="Times New Roman"/>
                <a:cs typeface="Times New Roman"/>
              </a:rPr>
              <a:t>aRb</a:t>
            </a:r>
            <a:r>
              <a:rPr dirty="0" sz="3600" spc="-5" b="1" i="1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CCFFFF"/>
                </a:solidFill>
                <a:latin typeface="Symbol"/>
                <a:cs typeface="Symbol"/>
              </a:rPr>
              <a:t></a:t>
            </a:r>
            <a:r>
              <a:rPr dirty="0" sz="3600">
                <a:solidFill>
                  <a:srgbClr val="CCFFFF"/>
                </a:solidFill>
                <a:latin typeface="Times New Roman"/>
                <a:cs typeface="Times New Roman"/>
              </a:rPr>
              <a:t>	</a:t>
            </a:r>
            <a:r>
              <a:rPr dirty="0" sz="3600" b="1" i="1">
                <a:solidFill>
                  <a:srgbClr val="CCFFFF"/>
                </a:solidFill>
                <a:latin typeface="Times New Roman"/>
                <a:cs typeface="Times New Roman"/>
              </a:rPr>
              <a:t>caba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显然，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是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型文法。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任何一个文法都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是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型文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法。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939" y="72644"/>
            <a:ext cx="88404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1429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2.1.5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文法和语言的类型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60654" y="696925"/>
            <a:ext cx="593979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imes New Roman"/>
                <a:cs typeface="Times New Roman"/>
              </a:rPr>
              <a:t>2</a:t>
            </a:r>
            <a:r>
              <a:rPr dirty="0" sz="3200">
                <a:latin typeface="宋体"/>
                <a:cs typeface="宋体"/>
              </a:rPr>
              <a:t>．</a:t>
            </a:r>
            <a:r>
              <a:rPr dirty="0" u="heavy" sz="320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heavy" sz="3200" spc="-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型文</a:t>
            </a:r>
            <a:r>
              <a:rPr dirty="0" u="heavy" sz="320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法</a:t>
            </a:r>
            <a:r>
              <a:rPr dirty="0" u="heavy" sz="3200" spc="-1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（</a:t>
            </a:r>
            <a:r>
              <a:rPr dirty="0" u="heavy" sz="3200" spc="-87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3200" spc="-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上下文有关文</a:t>
            </a:r>
            <a:r>
              <a:rPr dirty="0" u="heavy" sz="3200" spc="78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法</a:t>
            </a:r>
            <a:r>
              <a:rPr dirty="0" u="heavy" sz="3200" spc="-1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51942" y="1053850"/>
            <a:ext cx="8193405" cy="5546725"/>
          </a:xfrm>
          <a:prstGeom prst="rect">
            <a:avLst/>
          </a:prstGeom>
        </p:spPr>
        <p:txBody>
          <a:bodyPr wrap="square" lIns="0" tIns="290830" rIns="0" bIns="0" rtlCol="0" vert="horz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2290"/>
              </a:spcBef>
              <a:buClr>
                <a:srgbClr val="66FF99"/>
              </a:buClr>
              <a:buSzPct val="129687"/>
              <a:buFont typeface="Wingdings"/>
              <a:buChar char=""/>
              <a:tabLst>
                <a:tab pos="36830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2.21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algn="just" marL="121285" marR="76835" indent="533400">
              <a:lnSpc>
                <a:spcPct val="1301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每个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800" spc="3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除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0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6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外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但此时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不得出现在任何产生式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右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部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）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限制为形如：</a:t>
            </a:r>
            <a:endParaRPr sz="2800">
              <a:latin typeface="宋体"/>
              <a:cs typeface="宋体"/>
            </a:endParaRPr>
          </a:p>
          <a:p>
            <a:pPr marL="1854200">
              <a:lnSpc>
                <a:spcPct val="100000"/>
              </a:lnSpc>
              <a:spcBef>
                <a:spcPts val="894"/>
              </a:spcBef>
            </a:pPr>
            <a:r>
              <a:rPr dirty="0" sz="3150" spc="-60" b="1" i="1">
                <a:solidFill>
                  <a:srgbClr val="66FFFF"/>
                </a:solidFill>
                <a:latin typeface="Symbol"/>
                <a:cs typeface="Symbol"/>
              </a:rPr>
              <a:t></a:t>
            </a:r>
            <a:r>
              <a:rPr dirty="0" sz="3000" spc="-6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150" spc="-60" b="1" i="1">
                <a:solidFill>
                  <a:srgbClr val="66FFFF"/>
                </a:solidFill>
                <a:latin typeface="Symbol"/>
                <a:cs typeface="Symbol"/>
              </a:rPr>
              <a:t></a:t>
            </a:r>
            <a:r>
              <a:rPr dirty="0" sz="3150" spc="-60" b="1" i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0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150" spc="-75" b="1" i="1">
                <a:solidFill>
                  <a:srgbClr val="66FFFF"/>
                </a:solidFill>
                <a:latin typeface="Symbol"/>
                <a:cs typeface="Symbol"/>
              </a:rPr>
              <a:t></a:t>
            </a:r>
            <a:r>
              <a:rPr dirty="0" sz="3150" spc="-75" b="1" i="1">
                <a:solidFill>
                  <a:srgbClr val="FFFFFF"/>
                </a:solidFill>
                <a:latin typeface="Symbol"/>
                <a:cs typeface="Symbol"/>
              </a:rPr>
              <a:t></a:t>
            </a:r>
            <a:r>
              <a:rPr dirty="0" sz="3150" spc="-75" b="1" i="1">
                <a:solidFill>
                  <a:srgbClr val="66FFFF"/>
                </a:solidFill>
                <a:latin typeface="Symbol"/>
                <a:cs typeface="Symbol"/>
              </a:rPr>
              <a:t></a:t>
            </a:r>
            <a:endParaRPr sz="3150">
              <a:latin typeface="Symbol"/>
              <a:cs typeface="Symbol"/>
            </a:endParaRPr>
          </a:p>
          <a:p>
            <a:pPr marL="121285" marR="360045" indent="354965">
              <a:lnSpc>
                <a:spcPts val="4370"/>
              </a:lnSpc>
              <a:spcBef>
                <a:spcPts val="32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dirty="0" sz="2800" spc="-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25525" sz="2775" spc="-15" b="1">
                <a:solidFill>
                  <a:srgbClr val="FFFFFF"/>
                </a:solidFill>
                <a:latin typeface="宋体"/>
                <a:cs typeface="宋体"/>
              </a:rPr>
              <a:t>﹡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</a:t>
            </a:r>
            <a:r>
              <a:rPr dirty="0" sz="2800" spc="-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25525" sz="2775" spc="-1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则称文法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型文法或上下文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关文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46050" marR="17780" indent="711200">
              <a:lnSpc>
                <a:spcPct val="150000"/>
              </a:lnSpc>
              <a:spcBef>
                <a:spcPts val="204"/>
              </a:spcBef>
            </a:pP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能用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型文法描述的语言</a:t>
            </a:r>
            <a:r>
              <a:rPr dirty="0" sz="2800" spc="-20" b="1">
                <a:solidFill>
                  <a:srgbClr val="FFFF66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型语</a:t>
            </a:r>
            <a:r>
              <a:rPr dirty="0" sz="2800" b="1">
                <a:solidFill>
                  <a:srgbClr val="FFFF66"/>
                </a:solidFill>
                <a:latin typeface="宋体"/>
                <a:cs typeface="宋体"/>
              </a:rPr>
              <a:t>言</a:t>
            </a:r>
            <a:r>
              <a:rPr dirty="0" sz="2800" spc="-10" b="1">
                <a:solidFill>
                  <a:srgbClr val="FFFF66"/>
                </a:solidFill>
                <a:latin typeface="Times New Roman"/>
                <a:cs typeface="Times New Roman"/>
              </a:rPr>
              <a:t>L</a:t>
            </a:r>
            <a:r>
              <a:rPr dirty="0" baseline="-25525" sz="2775" spc="15" b="1">
                <a:solidFill>
                  <a:srgbClr val="FFFF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66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型</a:t>
            </a:r>
            <a:r>
              <a:rPr dirty="0" sz="2800" spc="5" b="1">
                <a:solidFill>
                  <a:srgbClr val="FFFF66"/>
                </a:solidFill>
                <a:latin typeface="宋体"/>
                <a:cs typeface="宋体"/>
              </a:rPr>
              <a:t>语</a:t>
            </a:r>
            <a:r>
              <a:rPr dirty="0" sz="2800" spc="-15" b="1">
                <a:solidFill>
                  <a:srgbClr val="FFFF66"/>
                </a:solidFill>
                <a:latin typeface="宋体"/>
                <a:cs typeface="宋体"/>
              </a:rPr>
              <a:t>言 </a:t>
            </a:r>
            <a:r>
              <a:rPr dirty="0" sz="2800" spc="-10" b="1">
                <a:solidFill>
                  <a:srgbClr val="FFFF66"/>
                </a:solidFill>
                <a:latin typeface="宋体"/>
                <a:cs typeface="宋体"/>
              </a:rPr>
              <a:t>可由线性有界自动机来识</a:t>
            </a:r>
            <a:r>
              <a:rPr dirty="0" sz="2800" spc="-5" b="1">
                <a:solidFill>
                  <a:srgbClr val="FFFF66"/>
                </a:solidFill>
                <a:latin typeface="宋体"/>
                <a:cs typeface="宋体"/>
              </a:rPr>
              <a:t>别</a:t>
            </a:r>
            <a:r>
              <a:rPr dirty="0" sz="2800" spc="-15" b="1">
                <a:solidFill>
                  <a:srgbClr val="FFFF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4939" y="72644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3966" y="72644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85357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2.1.5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文法和语言的类型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22478" y="611886"/>
            <a:ext cx="367855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56337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2.19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设有文法</a:t>
            </a:r>
            <a:r>
              <a:rPr dirty="0" sz="3200" spc="1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baseline="-25132" sz="3150" spc="1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baseline="-25132" sz="3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6266" y="1099890"/>
            <a:ext cx="2452370" cy="37611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99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FFCCCC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CCCC"/>
                </a:solidFill>
                <a:latin typeface="Times New Roman"/>
                <a:cs typeface="Times New Roman"/>
              </a:rPr>
              <a:t>aSBC 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|</a:t>
            </a:r>
            <a:r>
              <a:rPr dirty="0" sz="2800" spc="-85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CCCC"/>
                </a:solidFill>
                <a:latin typeface="Times New Roman"/>
                <a:cs typeface="Times New Roman"/>
              </a:rPr>
              <a:t>abC  </a:t>
            </a:r>
            <a:r>
              <a:rPr dirty="0" sz="2800" spc="-10" b="1" i="1">
                <a:solidFill>
                  <a:srgbClr val="66CCFF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 i="1">
                <a:solidFill>
                  <a:srgbClr val="FFCCCC"/>
                </a:solidFill>
                <a:latin typeface="Times New Roman"/>
                <a:cs typeface="Times New Roman"/>
              </a:rPr>
              <a:t>B </a:t>
            </a:r>
            <a:r>
              <a:rPr dirty="0" sz="2800" spc="-10" b="1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66CCFF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 i="1">
                <a:solidFill>
                  <a:srgbClr val="FFCCCC"/>
                </a:solidFill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  <a:p>
            <a:pPr marL="12700" marR="847090">
              <a:lnSpc>
                <a:spcPts val="4200"/>
              </a:lnSpc>
              <a:spcBef>
                <a:spcPts val="280"/>
              </a:spcBef>
              <a:tabLst>
                <a:tab pos="684530" algn="l"/>
              </a:tabLst>
            </a:pPr>
            <a:r>
              <a:rPr dirty="0" sz="2800" spc="-10" b="1" i="1">
                <a:solidFill>
                  <a:srgbClr val="FFCCCC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 i="1">
                <a:solidFill>
                  <a:srgbClr val="66CCFF"/>
                </a:solidFill>
                <a:latin typeface="Times New Roman"/>
                <a:cs typeface="Times New Roman"/>
              </a:rPr>
              <a:t>D </a:t>
            </a:r>
            <a:r>
              <a:rPr dirty="0" sz="2800" spc="-10" b="1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CCCC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 i="1">
                <a:solidFill>
                  <a:srgbClr val="66CCFF"/>
                </a:solidFill>
                <a:latin typeface="Times New Roman"/>
                <a:cs typeface="Times New Roman"/>
              </a:rPr>
              <a:t>D  </a:t>
            </a:r>
            <a:r>
              <a:rPr dirty="0" sz="2800" spc="-10" b="1" i="1">
                <a:solidFill>
                  <a:srgbClr val="66CC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 i="1">
                <a:solidFill>
                  <a:srgbClr val="FFCCCC"/>
                </a:solidFill>
                <a:latin typeface="Times New Roman"/>
                <a:cs typeface="Times New Roman"/>
              </a:rPr>
              <a:t>D	</a:t>
            </a:r>
            <a:r>
              <a:rPr dirty="0" sz="2800" spc="-10" b="1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2800" spc="-90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66CC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 i="1">
                <a:solidFill>
                  <a:srgbClr val="FFCCCC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12700" marR="1131570">
              <a:lnSpc>
                <a:spcPts val="4200"/>
              </a:lnSpc>
              <a:spcBef>
                <a:spcPts val="5"/>
              </a:spcBef>
            </a:pPr>
            <a:r>
              <a:rPr dirty="0" sz="2800" b="1" i="1">
                <a:solidFill>
                  <a:srgbClr val="66CCFF"/>
                </a:solidFill>
                <a:latin typeface="Times New Roman"/>
                <a:cs typeface="Times New Roman"/>
              </a:rPr>
              <a:t>b</a:t>
            </a:r>
            <a:r>
              <a:rPr dirty="0" sz="2800" b="1" i="1">
                <a:solidFill>
                  <a:srgbClr val="FFCCCC"/>
                </a:solidFill>
                <a:latin typeface="Times New Roman"/>
                <a:cs typeface="Times New Roman"/>
              </a:rPr>
              <a:t>B </a:t>
            </a:r>
            <a:r>
              <a:rPr dirty="0" sz="2800" spc="-10" b="1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2800" spc="-100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66CCFF"/>
                </a:solidFill>
                <a:latin typeface="Times New Roman"/>
                <a:cs typeface="Times New Roman"/>
              </a:rPr>
              <a:t>b</a:t>
            </a:r>
            <a:r>
              <a:rPr dirty="0" sz="2800" b="1" i="1">
                <a:solidFill>
                  <a:srgbClr val="FFCCCC"/>
                </a:solidFill>
                <a:latin typeface="Times New Roman"/>
                <a:cs typeface="Times New Roman"/>
              </a:rPr>
              <a:t>b  </a:t>
            </a:r>
            <a:r>
              <a:rPr dirty="0" sz="2800" spc="-5" b="1" i="1">
                <a:solidFill>
                  <a:srgbClr val="66CC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CCCC"/>
                </a:solidFill>
                <a:latin typeface="Times New Roman"/>
                <a:cs typeface="Times New Roman"/>
              </a:rPr>
              <a:t>C </a:t>
            </a:r>
            <a:r>
              <a:rPr dirty="0" sz="2800" spc="-5" b="1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2800" spc="-75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66CC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CCCC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2800" spc="-10" b="1" i="1">
                <a:solidFill>
                  <a:srgbClr val="66CCFF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 i="1">
                <a:solidFill>
                  <a:srgbClr val="FFCCCC"/>
                </a:solidFill>
                <a:latin typeface="Times New Roman"/>
                <a:cs typeface="Times New Roman"/>
              </a:rPr>
              <a:t>C </a:t>
            </a:r>
            <a:r>
              <a:rPr dirty="0" sz="2800" spc="-10" b="1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66CC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 i="1">
                <a:solidFill>
                  <a:srgbClr val="FFCCCC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2440" y="5279542"/>
            <a:ext cx="5017135" cy="10439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45"/>
              </a:spcBef>
            </a:pPr>
            <a:r>
              <a:rPr dirty="0" sz="2800" b="1" i="1">
                <a:solidFill>
                  <a:srgbClr val="CCFFFF"/>
                </a:solidFill>
                <a:latin typeface="Times New Roman"/>
                <a:cs typeface="Times New Roman"/>
              </a:rPr>
              <a:t>G</a:t>
            </a:r>
            <a:r>
              <a:rPr dirty="0" baseline="-21021" sz="2775" b="1">
                <a:solidFill>
                  <a:srgbClr val="CC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CCFFFF"/>
                </a:solidFill>
                <a:latin typeface="宋体"/>
                <a:cs typeface="宋体"/>
              </a:rPr>
              <a:t>是</a:t>
            </a:r>
            <a:r>
              <a:rPr dirty="0" sz="2800" b="1">
                <a:solidFill>
                  <a:srgbClr val="CC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CCFFFF"/>
                </a:solidFill>
                <a:latin typeface="宋体"/>
                <a:cs typeface="宋体"/>
              </a:rPr>
              <a:t>型文法</a:t>
            </a:r>
            <a:r>
              <a:rPr dirty="0" sz="2800" b="1">
                <a:solidFill>
                  <a:srgbClr val="CCFFFF"/>
                </a:solidFill>
                <a:latin typeface="宋体"/>
                <a:cs typeface="宋体"/>
              </a:rPr>
              <a:t>，</a:t>
            </a:r>
            <a:r>
              <a:rPr dirty="0" sz="2800" b="1" i="1">
                <a:solidFill>
                  <a:srgbClr val="CCFFFF"/>
                </a:solidFill>
                <a:latin typeface="Times New Roman"/>
                <a:cs typeface="Times New Roman"/>
              </a:rPr>
              <a:t>G</a:t>
            </a:r>
            <a:r>
              <a:rPr dirty="0" baseline="-21021" sz="2775" b="1">
                <a:solidFill>
                  <a:srgbClr val="CCFFFF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CCFFFF"/>
                </a:solidFill>
                <a:latin typeface="宋体"/>
                <a:cs typeface="宋体"/>
              </a:rPr>
              <a:t>产生的语</a:t>
            </a:r>
            <a:r>
              <a:rPr dirty="0" sz="2800" spc="5" b="1">
                <a:solidFill>
                  <a:srgbClr val="CCFFFF"/>
                </a:solidFill>
                <a:latin typeface="宋体"/>
                <a:cs typeface="宋体"/>
              </a:rPr>
              <a:t>言</a:t>
            </a:r>
            <a:r>
              <a:rPr dirty="0" sz="2800" spc="-15" b="1">
                <a:solidFill>
                  <a:srgbClr val="CC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866900">
              <a:lnSpc>
                <a:spcPct val="100000"/>
              </a:lnSpc>
              <a:spcBef>
                <a:spcPts val="65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baseline="-21021" sz="2775" spc="-7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={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baseline="25525" sz="277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baseline="25525" sz="2775" b="1" i="1">
                <a:solidFill>
                  <a:srgbClr val="FFFF00"/>
                </a:solidFill>
                <a:latin typeface="Times New Roman"/>
                <a:cs typeface="Times New Roman"/>
              </a:rPr>
              <a:t>n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00"/>
                </a:solidFill>
                <a:latin typeface="Symbol"/>
                <a:cs typeface="Symbol"/>
              </a:rPr>
              <a:t>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1}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88991" y="1383791"/>
            <a:ext cx="832485" cy="318770"/>
          </a:xfrm>
          <a:custGeom>
            <a:avLst/>
            <a:gdLst/>
            <a:ahLst/>
            <a:cxnLst/>
            <a:rect l="l" t="t" r="r" b="b"/>
            <a:pathLst>
              <a:path w="832485" h="318769">
                <a:moveTo>
                  <a:pt x="623443" y="0"/>
                </a:moveTo>
                <a:lnTo>
                  <a:pt x="623443" y="79629"/>
                </a:lnTo>
                <a:lnTo>
                  <a:pt x="0" y="79629"/>
                </a:lnTo>
                <a:lnTo>
                  <a:pt x="0" y="238887"/>
                </a:lnTo>
                <a:lnTo>
                  <a:pt x="623443" y="238887"/>
                </a:lnTo>
                <a:lnTo>
                  <a:pt x="623443" y="318516"/>
                </a:lnTo>
                <a:lnTo>
                  <a:pt x="832104" y="159258"/>
                </a:lnTo>
                <a:lnTo>
                  <a:pt x="62344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888991" y="1383791"/>
            <a:ext cx="832485" cy="318770"/>
          </a:xfrm>
          <a:custGeom>
            <a:avLst/>
            <a:gdLst/>
            <a:ahLst/>
            <a:cxnLst/>
            <a:rect l="l" t="t" r="r" b="b"/>
            <a:pathLst>
              <a:path w="832485" h="318769">
                <a:moveTo>
                  <a:pt x="0" y="79629"/>
                </a:moveTo>
                <a:lnTo>
                  <a:pt x="623443" y="79629"/>
                </a:lnTo>
                <a:lnTo>
                  <a:pt x="623443" y="0"/>
                </a:lnTo>
                <a:lnTo>
                  <a:pt x="832104" y="159258"/>
                </a:lnTo>
                <a:lnTo>
                  <a:pt x="623443" y="318516"/>
                </a:lnTo>
                <a:lnTo>
                  <a:pt x="623443" y="238887"/>
                </a:lnTo>
                <a:lnTo>
                  <a:pt x="0" y="238887"/>
                </a:lnTo>
                <a:lnTo>
                  <a:pt x="0" y="79629"/>
                </a:lnTo>
                <a:close/>
              </a:path>
            </a:pathLst>
          </a:custGeom>
          <a:ln w="57150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775705" y="610975"/>
            <a:ext cx="2804795" cy="5041900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8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bC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BC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25525" sz="2775">
              <a:latin typeface="Times New Roman"/>
              <a:cs typeface="Times New Roman"/>
            </a:endParaRPr>
          </a:p>
          <a:p>
            <a:pPr marL="97155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CB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680"/>
              </a:spcBef>
            </a:pP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BC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680"/>
              </a:spcBef>
            </a:pP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CB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-1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25525" sz="277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680"/>
              </a:spcBef>
            </a:pP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CB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-1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25525" sz="277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bb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BC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-1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25525" sz="277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dirty="0" baseline="-16865" sz="4200" spc="7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baseline="-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baseline="-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baseline="-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endParaRPr sz="18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680"/>
              </a:spcBef>
            </a:pPr>
            <a:r>
              <a:rPr dirty="0" baseline="-16865" sz="4200" spc="7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baseline="-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baseline="-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baseline="-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5392" y="1895855"/>
            <a:ext cx="90170" cy="1173480"/>
          </a:xfrm>
          <a:custGeom>
            <a:avLst/>
            <a:gdLst/>
            <a:ahLst/>
            <a:cxnLst/>
            <a:rect l="l" t="t" r="r" b="b"/>
            <a:pathLst>
              <a:path w="90169" h="1173480">
                <a:moveTo>
                  <a:pt x="0" y="0"/>
                </a:moveTo>
                <a:lnTo>
                  <a:pt x="17525" y="7778"/>
                </a:lnTo>
                <a:lnTo>
                  <a:pt x="31813" y="28987"/>
                </a:lnTo>
                <a:lnTo>
                  <a:pt x="41433" y="60436"/>
                </a:lnTo>
                <a:lnTo>
                  <a:pt x="44957" y="98933"/>
                </a:lnTo>
                <a:lnTo>
                  <a:pt x="44957" y="487807"/>
                </a:lnTo>
                <a:lnTo>
                  <a:pt x="48482" y="526303"/>
                </a:lnTo>
                <a:lnTo>
                  <a:pt x="58102" y="557752"/>
                </a:lnTo>
                <a:lnTo>
                  <a:pt x="72389" y="578961"/>
                </a:lnTo>
                <a:lnTo>
                  <a:pt x="89915" y="586740"/>
                </a:lnTo>
                <a:lnTo>
                  <a:pt x="72389" y="594518"/>
                </a:lnTo>
                <a:lnTo>
                  <a:pt x="58102" y="615727"/>
                </a:lnTo>
                <a:lnTo>
                  <a:pt x="48482" y="647176"/>
                </a:lnTo>
                <a:lnTo>
                  <a:pt x="44957" y="685673"/>
                </a:lnTo>
                <a:lnTo>
                  <a:pt x="44957" y="1074547"/>
                </a:lnTo>
                <a:lnTo>
                  <a:pt x="41433" y="1113043"/>
                </a:lnTo>
                <a:lnTo>
                  <a:pt x="31813" y="1144492"/>
                </a:lnTo>
                <a:lnTo>
                  <a:pt x="17525" y="1165701"/>
                </a:lnTo>
                <a:lnTo>
                  <a:pt x="0" y="1173480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21507" y="2214372"/>
            <a:ext cx="660400" cy="317500"/>
          </a:xfrm>
          <a:custGeom>
            <a:avLst/>
            <a:gdLst/>
            <a:ahLst/>
            <a:cxnLst/>
            <a:rect l="l" t="t" r="r" b="b"/>
            <a:pathLst>
              <a:path w="660400" h="317500">
                <a:moveTo>
                  <a:pt x="452246" y="0"/>
                </a:moveTo>
                <a:lnTo>
                  <a:pt x="452246" y="79248"/>
                </a:lnTo>
                <a:lnTo>
                  <a:pt x="0" y="79248"/>
                </a:lnTo>
                <a:lnTo>
                  <a:pt x="0" y="237743"/>
                </a:lnTo>
                <a:lnTo>
                  <a:pt x="452246" y="237743"/>
                </a:lnTo>
                <a:lnTo>
                  <a:pt x="452246" y="316991"/>
                </a:lnTo>
                <a:lnTo>
                  <a:pt x="659892" y="158495"/>
                </a:lnTo>
                <a:lnTo>
                  <a:pt x="45224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21507" y="2214372"/>
            <a:ext cx="660400" cy="317500"/>
          </a:xfrm>
          <a:custGeom>
            <a:avLst/>
            <a:gdLst/>
            <a:ahLst/>
            <a:cxnLst/>
            <a:rect l="l" t="t" r="r" b="b"/>
            <a:pathLst>
              <a:path w="660400" h="317500">
                <a:moveTo>
                  <a:pt x="0" y="79248"/>
                </a:moveTo>
                <a:lnTo>
                  <a:pt x="452246" y="79248"/>
                </a:lnTo>
                <a:lnTo>
                  <a:pt x="452246" y="0"/>
                </a:lnTo>
                <a:lnTo>
                  <a:pt x="659892" y="158495"/>
                </a:lnTo>
                <a:lnTo>
                  <a:pt x="452246" y="316991"/>
                </a:lnTo>
                <a:lnTo>
                  <a:pt x="452246" y="237743"/>
                </a:lnTo>
                <a:lnTo>
                  <a:pt x="0" y="237743"/>
                </a:lnTo>
                <a:lnTo>
                  <a:pt x="0" y="79248"/>
                </a:lnTo>
                <a:close/>
              </a:path>
            </a:pathLst>
          </a:custGeom>
          <a:ln w="57149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613150" y="2137105"/>
            <a:ext cx="1322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CB</a:t>
            </a:r>
            <a:r>
              <a:rPr dirty="0" sz="2800" spc="5" b="1">
                <a:solidFill>
                  <a:srgbClr val="FFFFFF"/>
                </a:solidFill>
                <a:latin typeface="Symbol"/>
                <a:cs typeface="Symbol"/>
              </a:rPr>
              <a:t>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939" y="72644"/>
            <a:ext cx="88404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1429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2.1.5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文法和语言的类型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13054" y="842848"/>
            <a:ext cx="574040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imes New Roman"/>
                <a:cs typeface="Times New Roman"/>
              </a:rPr>
              <a:t>3</a:t>
            </a:r>
            <a:r>
              <a:rPr dirty="0" sz="3200">
                <a:latin typeface="宋体"/>
                <a:cs typeface="宋体"/>
              </a:rPr>
              <a:t>．</a:t>
            </a:r>
            <a:r>
              <a:rPr dirty="0" u="heavy" sz="320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heavy" sz="3200" spc="-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型文</a:t>
            </a:r>
            <a:r>
              <a:rPr dirty="0" u="heavy" sz="320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法</a:t>
            </a:r>
            <a:r>
              <a:rPr dirty="0" u="heavy" sz="3200" spc="-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（</a:t>
            </a:r>
            <a:r>
              <a:rPr dirty="0" u="heavy" sz="3200" spc="-1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上</a:t>
            </a:r>
            <a:r>
              <a:rPr dirty="0" u="heavy" sz="3200" spc="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下</a:t>
            </a:r>
            <a:r>
              <a:rPr dirty="0" u="heavy" sz="3200" spc="-1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文无</a:t>
            </a:r>
            <a:r>
              <a:rPr dirty="0" u="heavy" sz="320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关</a:t>
            </a:r>
            <a:r>
              <a:rPr dirty="0" u="heavy" sz="3200" spc="-1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文</a:t>
            </a:r>
            <a:r>
              <a:rPr dirty="0" u="heavy" sz="3200" spc="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法</a:t>
            </a:r>
            <a:r>
              <a:rPr dirty="0" u="heavy" sz="3200" spc="-1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23240" y="1360813"/>
            <a:ext cx="8151495" cy="4893945"/>
          </a:xfrm>
          <a:prstGeom prst="rect">
            <a:avLst/>
          </a:prstGeom>
        </p:spPr>
        <p:txBody>
          <a:bodyPr wrap="square" lIns="0" tIns="227329" rIns="0" bIns="0" rtlCol="0" vert="horz">
            <a:spAutoFit/>
          </a:bodyPr>
          <a:lstStyle/>
          <a:p>
            <a:pPr marL="387350" indent="-285750">
              <a:lnSpc>
                <a:spcPct val="100000"/>
              </a:lnSpc>
              <a:spcBef>
                <a:spcPts val="1789"/>
              </a:spcBef>
              <a:buClr>
                <a:srgbClr val="99FF66"/>
              </a:buClr>
              <a:buSzPct val="114062"/>
              <a:buFont typeface="Wingdings"/>
              <a:buChar char=""/>
              <a:tabLst>
                <a:tab pos="38798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2.22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02235" marR="159385" indent="621665">
              <a:lnSpc>
                <a:spcPct val="130100"/>
              </a:lnSpc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设文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baseline="-2552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），对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中的每个产生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式限制形如：</a:t>
            </a:r>
            <a:endParaRPr sz="2800">
              <a:latin typeface="宋体"/>
              <a:cs typeface="宋体"/>
            </a:endParaRPr>
          </a:p>
          <a:p>
            <a:pPr marL="102235" marR="1257935" indent="977900">
              <a:lnSpc>
                <a:spcPct val="128000"/>
              </a:lnSpc>
              <a:spcBef>
                <a:spcPts val="480"/>
              </a:spcBef>
              <a:tabLst>
                <a:tab pos="2559050" algn="l"/>
              </a:tabLst>
            </a:pPr>
            <a:r>
              <a:rPr dirty="0" sz="2800" spc="-3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950" spc="-3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3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25132" sz="3150" spc="-15" b="1">
                <a:solidFill>
                  <a:srgbClr val="FFFFFF"/>
                </a:solidFill>
                <a:latin typeface="黑体"/>
                <a:cs typeface="黑体"/>
              </a:rPr>
              <a:t>* 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则称文法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型文法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63500" marR="55880" indent="533400">
              <a:lnSpc>
                <a:spcPts val="5040"/>
              </a:lnSpc>
              <a:spcBef>
                <a:spcPts val="25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型文法也称为上下文无关文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r>
              <a:rPr dirty="0" sz="2800" spc="10" b="1">
                <a:solidFill>
                  <a:srgbClr val="FFFF00"/>
                </a:solidFill>
                <a:latin typeface="宋体"/>
                <a:cs typeface="宋体"/>
              </a:rPr>
              <a:t>能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用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型文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描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述的语言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型语言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baseline="-25525" sz="277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型语言可由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非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确定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下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推</a:t>
            </a:r>
            <a:endParaRPr sz="2800">
              <a:latin typeface="宋体"/>
              <a:cs typeface="宋体"/>
            </a:endParaRPr>
          </a:p>
          <a:p>
            <a:pPr marL="63500">
              <a:lnSpc>
                <a:spcPct val="100000"/>
              </a:lnSpc>
              <a:spcBef>
                <a:spcPts val="123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自动机来识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别。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4939" y="72644"/>
            <a:ext cx="88404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1429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2.1.5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文法和语言的类型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51154" y="759028"/>
            <a:ext cx="14954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2.19'</a:t>
            </a:r>
            <a:r>
              <a:rPr dirty="0" sz="3200" spc="-10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358898" y="638831"/>
            <a:ext cx="2329815" cy="185293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 marR="30480" indent="40640">
              <a:lnSpc>
                <a:spcPct val="124900"/>
              </a:lnSpc>
              <a:spcBef>
                <a:spcPts val="95"/>
              </a:spcBef>
            </a:pPr>
            <a:r>
              <a:rPr dirty="0" sz="3200" spc="-5">
                <a:latin typeface="宋体"/>
                <a:cs typeface="宋体"/>
              </a:rPr>
              <a:t>设有文</a:t>
            </a:r>
            <a:r>
              <a:rPr dirty="0" sz="3200">
                <a:latin typeface="宋体"/>
                <a:cs typeface="宋体"/>
              </a:rPr>
              <a:t>法</a:t>
            </a:r>
            <a:r>
              <a:rPr dirty="0" sz="3200" spc="10" i="1">
                <a:latin typeface="Times New Roman"/>
                <a:cs typeface="Times New Roman"/>
              </a:rPr>
              <a:t>G</a:t>
            </a:r>
            <a:r>
              <a:rPr dirty="0" baseline="-25132" sz="3150" spc="15">
                <a:latin typeface="Times New Roman"/>
                <a:cs typeface="Times New Roman"/>
              </a:rPr>
              <a:t>2  </a:t>
            </a: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S </a:t>
            </a:r>
            <a:r>
              <a:rPr dirty="0" sz="3200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spc="-5" i="1">
                <a:solidFill>
                  <a:srgbClr val="FFCCCC"/>
                </a:solidFill>
                <a:latin typeface="Times New Roman"/>
                <a:cs typeface="Times New Roman"/>
              </a:rPr>
              <a:t>Ac 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| </a:t>
            </a:r>
            <a:r>
              <a:rPr dirty="0" sz="3200" spc="-10" i="1">
                <a:solidFill>
                  <a:srgbClr val="FFCCCC"/>
                </a:solidFill>
                <a:latin typeface="Times New Roman"/>
                <a:cs typeface="Times New Roman"/>
              </a:rPr>
              <a:t>Sc  </a:t>
            </a: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A </a:t>
            </a:r>
            <a:r>
              <a:rPr dirty="0" sz="3200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ab 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|</a:t>
            </a:r>
            <a:r>
              <a:rPr dirty="0" sz="3200" spc="-105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aAb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3742" y="3998467"/>
            <a:ext cx="6062345" cy="2094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39365">
              <a:lnSpc>
                <a:spcPct val="100000"/>
              </a:lnSpc>
              <a:spcBef>
                <a:spcPts val="100"/>
              </a:spcBef>
            </a:pPr>
            <a:r>
              <a:rPr dirty="0" sz="3200" spc="10" b="1" i="1">
                <a:latin typeface="Times New Roman"/>
                <a:cs typeface="Times New Roman"/>
              </a:rPr>
              <a:t>G</a:t>
            </a:r>
            <a:r>
              <a:rPr dirty="0" baseline="-21164" sz="3150" spc="15" b="1">
                <a:latin typeface="Times New Roman"/>
                <a:cs typeface="Times New Roman"/>
              </a:rPr>
              <a:t>2</a:t>
            </a:r>
            <a:r>
              <a:rPr dirty="0" sz="3200" b="1">
                <a:latin typeface="宋体"/>
                <a:cs typeface="宋体"/>
              </a:rPr>
              <a:t>是</a:t>
            </a:r>
            <a:r>
              <a:rPr dirty="0" sz="3200" spc="5" b="1">
                <a:latin typeface="Times New Roman"/>
                <a:cs typeface="Times New Roman"/>
              </a:rPr>
              <a:t>2</a:t>
            </a:r>
            <a:r>
              <a:rPr dirty="0" sz="3200" b="1">
                <a:latin typeface="宋体"/>
                <a:cs typeface="宋体"/>
              </a:rPr>
              <a:t>型文法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5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</a:pPr>
            <a:r>
              <a:rPr dirty="0" sz="3200" spc="10" b="1" i="1">
                <a:solidFill>
                  <a:srgbClr val="CCFFFF"/>
                </a:solidFill>
                <a:latin typeface="Times New Roman"/>
                <a:cs typeface="Times New Roman"/>
              </a:rPr>
              <a:t>G</a:t>
            </a:r>
            <a:r>
              <a:rPr dirty="0" baseline="-25132" sz="3150" spc="15" b="1">
                <a:solidFill>
                  <a:srgbClr val="CC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CCFFFF"/>
                </a:solidFill>
                <a:latin typeface="宋体"/>
                <a:cs typeface="宋体"/>
              </a:rPr>
              <a:t>产生的语言：</a:t>
            </a:r>
            <a:endParaRPr sz="3200">
              <a:latin typeface="宋体"/>
              <a:cs typeface="宋体"/>
            </a:endParaRPr>
          </a:p>
          <a:p>
            <a:pPr marL="1879600">
              <a:lnSpc>
                <a:spcPct val="100000"/>
              </a:lnSpc>
              <a:spcBef>
                <a:spcPts val="950"/>
              </a:spcBef>
            </a:pP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baseline="-25132" sz="3150" spc="7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)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={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25462" sz="3600" spc="-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baseline="25462" sz="3600" spc="-7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baseline="25462" sz="3600" spc="-7" b="1" i="1">
                <a:solidFill>
                  <a:srgbClr val="66FFFF"/>
                </a:solidFill>
                <a:latin typeface="Times New Roman"/>
                <a:cs typeface="Times New Roman"/>
              </a:rPr>
              <a:t>m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4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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1}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939" y="72644"/>
            <a:ext cx="88404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1429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2.1.5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文法和语言的类型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93242" y="766648"/>
            <a:ext cx="6557009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imes New Roman"/>
                <a:cs typeface="Times New Roman"/>
              </a:rPr>
              <a:t>4</a:t>
            </a:r>
            <a:r>
              <a:rPr dirty="0" sz="3200">
                <a:latin typeface="宋体"/>
                <a:cs typeface="宋体"/>
              </a:rPr>
              <a:t>．</a:t>
            </a:r>
            <a:r>
              <a:rPr dirty="0" u="heavy" sz="320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heavy" sz="3200" spc="-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型文</a:t>
            </a:r>
            <a:r>
              <a:rPr dirty="0" u="heavy" sz="320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法</a:t>
            </a:r>
            <a:r>
              <a:rPr dirty="0" u="heavy" sz="3200" spc="-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（</a:t>
            </a:r>
            <a:r>
              <a:rPr dirty="0" u="heavy" sz="3200" spc="-1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正</a:t>
            </a:r>
            <a:r>
              <a:rPr dirty="0" u="heavy" sz="3200" spc="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则</a:t>
            </a:r>
            <a:r>
              <a:rPr dirty="0" u="heavy" sz="3200" spc="-1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文</a:t>
            </a:r>
            <a:r>
              <a:rPr dirty="0" u="heavy" sz="320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法</a:t>
            </a:r>
            <a:r>
              <a:rPr dirty="0" u="heavy" sz="3200" spc="-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、</a:t>
            </a:r>
            <a:r>
              <a:rPr dirty="0" u="heavy" sz="3200" spc="-1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线性</a:t>
            </a:r>
            <a:r>
              <a:rPr dirty="0" u="heavy" sz="320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文</a:t>
            </a:r>
            <a:r>
              <a:rPr dirty="0" u="heavy" sz="3200" spc="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法</a:t>
            </a:r>
            <a:r>
              <a:rPr dirty="0" u="heavy" sz="3200" spc="-1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0542" y="1301227"/>
            <a:ext cx="7995284" cy="117221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392430" indent="-367665">
              <a:lnSpc>
                <a:spcPct val="100000"/>
              </a:lnSpc>
              <a:spcBef>
                <a:spcPts val="1085"/>
              </a:spcBef>
              <a:buClr>
                <a:srgbClr val="99FF66"/>
              </a:buClr>
              <a:buFont typeface="Wingdings"/>
              <a:buChar char=""/>
              <a:tabLst>
                <a:tab pos="392430" algn="l"/>
                <a:tab pos="39306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定义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2.23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647065">
              <a:lnSpc>
                <a:spcPct val="100000"/>
              </a:lnSpc>
              <a:spcBef>
                <a:spcPts val="84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设文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中的每个产生式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3242" y="2427223"/>
            <a:ext cx="10953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形如：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2398" y="2813403"/>
            <a:ext cx="107632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71625" y="3517170"/>
            <a:ext cx="2144395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或者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51452" y="2559010"/>
            <a:ext cx="1818639" cy="1433195"/>
          </a:xfrm>
          <a:prstGeom prst="rect">
            <a:avLst/>
          </a:prstGeom>
        </p:spPr>
        <p:txBody>
          <a:bodyPr wrap="square" lIns="0" tIns="266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-3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950" spc="-3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endParaRPr sz="2950">
              <a:latin typeface="Symbol"/>
              <a:cs typeface="Symbol"/>
            </a:endParaRPr>
          </a:p>
          <a:p>
            <a:pPr marL="190500">
              <a:lnSpc>
                <a:spcPct val="100000"/>
              </a:lnSpc>
              <a:spcBef>
                <a:spcPts val="200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-7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950" spc="-3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55820" y="4123690"/>
            <a:ext cx="11938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850" spc="1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8850" y="4093817"/>
            <a:ext cx="768667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其中，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22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800" spc="-1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22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baseline="-2552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，则称文法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型文法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940" y="4688788"/>
            <a:ext cx="7411720" cy="17964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（正则文法或线性文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50800" marR="43180">
              <a:lnSpc>
                <a:spcPct val="120100"/>
              </a:lnSpc>
              <a:spcBef>
                <a:spcPts val="2515"/>
              </a:spcBef>
            </a:pP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能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用</a:t>
            </a:r>
            <a:r>
              <a:rPr dirty="0" sz="2800" spc="-5" b="1">
                <a:solidFill>
                  <a:srgbClr val="FF99FF"/>
                </a:solidFill>
                <a:latin typeface="Times New Roman"/>
                <a:cs typeface="Times New Roman"/>
              </a:rPr>
              <a:t>3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型文法描述的语言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为</a:t>
            </a:r>
            <a:r>
              <a:rPr dirty="0" sz="2800" spc="-5" b="1">
                <a:solidFill>
                  <a:srgbClr val="FF99FF"/>
                </a:solidFill>
                <a:latin typeface="Times New Roman"/>
                <a:cs typeface="Times New Roman"/>
              </a:rPr>
              <a:t>3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型语言</a:t>
            </a:r>
            <a:r>
              <a:rPr dirty="0" sz="2800" spc="-5" b="1">
                <a:solidFill>
                  <a:srgbClr val="FF99FF"/>
                </a:solidFill>
                <a:latin typeface="Times New Roman"/>
                <a:cs typeface="Times New Roman"/>
              </a:rPr>
              <a:t>L</a:t>
            </a:r>
            <a:r>
              <a:rPr dirty="0" baseline="-21021" sz="2775" spc="-7" b="1">
                <a:solidFill>
                  <a:srgbClr val="FF99FF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99FF"/>
                </a:solidFill>
                <a:latin typeface="Times New Roman"/>
                <a:cs typeface="Times New Roman"/>
              </a:rPr>
              <a:t>3</a:t>
            </a:r>
            <a:r>
              <a:rPr dirty="0" sz="2800" b="1">
                <a:solidFill>
                  <a:srgbClr val="FF99FF"/>
                </a:solidFill>
                <a:latin typeface="宋体"/>
                <a:cs typeface="宋体"/>
              </a:rPr>
              <a:t>型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语</a:t>
            </a:r>
            <a:r>
              <a:rPr dirty="0" sz="2800" spc="-15" b="1">
                <a:solidFill>
                  <a:srgbClr val="FF99FF"/>
                </a:solidFill>
                <a:latin typeface="宋体"/>
                <a:cs typeface="宋体"/>
              </a:rPr>
              <a:t>言 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可由确定的有限状态自动机来</a:t>
            </a:r>
            <a:r>
              <a:rPr dirty="0" sz="2800" spc="5" b="1">
                <a:solidFill>
                  <a:srgbClr val="FF99FF"/>
                </a:solidFill>
                <a:latin typeface="宋体"/>
                <a:cs typeface="宋体"/>
              </a:rPr>
              <a:t>识</a:t>
            </a: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别。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26461" y="3378708"/>
            <a:ext cx="6032500" cy="114300"/>
          </a:xfrm>
          <a:custGeom>
            <a:avLst/>
            <a:gdLst/>
            <a:ahLst/>
            <a:cxnLst/>
            <a:rect l="l" t="t" r="r" b="b"/>
            <a:pathLst>
              <a:path w="60325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325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32500" h="114300">
                <a:moveTo>
                  <a:pt x="6032499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32499" y="76200"/>
                </a:lnTo>
                <a:lnTo>
                  <a:pt x="6032499" y="3810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134861" y="2833877"/>
            <a:ext cx="2438400" cy="525780"/>
          </a:xfrm>
          <a:prstGeom prst="rect">
            <a:avLst/>
          </a:prstGeom>
          <a:ln w="38100">
            <a:solidFill>
              <a:srgbClr val="FFFF66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327025">
              <a:lnSpc>
                <a:spcPct val="100000"/>
              </a:lnSpc>
              <a:spcBef>
                <a:spcPts val="30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右线性文法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02661" y="4078223"/>
            <a:ext cx="6032500" cy="114300"/>
          </a:xfrm>
          <a:custGeom>
            <a:avLst/>
            <a:gdLst/>
            <a:ahLst/>
            <a:cxnLst/>
            <a:rect l="l" t="t" r="r" b="b"/>
            <a:pathLst>
              <a:path w="60325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60325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6032500" h="114300">
                <a:moveTo>
                  <a:pt x="6032499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6032499" y="76200"/>
                </a:lnTo>
                <a:lnTo>
                  <a:pt x="6032499" y="3810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211061" y="3533394"/>
            <a:ext cx="2438400" cy="525780"/>
          </a:xfrm>
          <a:prstGeom prst="rect">
            <a:avLst/>
          </a:prstGeom>
          <a:ln w="38100">
            <a:solidFill>
              <a:srgbClr val="FFFF66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327025">
              <a:lnSpc>
                <a:spcPct val="100000"/>
              </a:lnSpc>
              <a:spcBef>
                <a:spcPts val="29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左线性文法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4939" y="72644"/>
            <a:ext cx="88404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1429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2.1.5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文法和语言的类型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51154" y="759028"/>
            <a:ext cx="13747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2.19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"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352801" y="638831"/>
            <a:ext cx="2193925" cy="246253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38100" marR="30480" indent="24130">
              <a:lnSpc>
                <a:spcPct val="124900"/>
              </a:lnSpc>
              <a:spcBef>
                <a:spcPts val="95"/>
              </a:spcBef>
            </a:pPr>
            <a:r>
              <a:rPr dirty="0" sz="3200" spc="-5">
                <a:latin typeface="宋体"/>
                <a:cs typeface="宋体"/>
              </a:rPr>
              <a:t>设有文</a:t>
            </a:r>
            <a:r>
              <a:rPr dirty="0" sz="3200">
                <a:latin typeface="宋体"/>
                <a:cs typeface="宋体"/>
              </a:rPr>
              <a:t>法</a:t>
            </a:r>
            <a:r>
              <a:rPr dirty="0" sz="3200" spc="10" i="1">
                <a:latin typeface="Times New Roman"/>
                <a:cs typeface="Times New Roman"/>
              </a:rPr>
              <a:t>G</a:t>
            </a:r>
            <a:r>
              <a:rPr dirty="0" baseline="-25132" sz="3150" spc="15">
                <a:latin typeface="Times New Roman"/>
                <a:cs typeface="Times New Roman"/>
              </a:rPr>
              <a:t>3  </a:t>
            </a: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S </a:t>
            </a:r>
            <a:r>
              <a:rPr dirty="0" sz="3200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spc="-5" i="1">
                <a:solidFill>
                  <a:srgbClr val="FFCCCC"/>
                </a:solidFill>
                <a:latin typeface="Times New Roman"/>
                <a:cs typeface="Times New Roman"/>
              </a:rPr>
              <a:t>Bc 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| </a:t>
            </a:r>
            <a:r>
              <a:rPr dirty="0" sz="3200" spc="-10" i="1">
                <a:solidFill>
                  <a:srgbClr val="FFCCCC"/>
                </a:solidFill>
                <a:latin typeface="Times New Roman"/>
                <a:cs typeface="Times New Roman"/>
              </a:rPr>
              <a:t>Sc  </a:t>
            </a: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B </a:t>
            </a:r>
            <a:r>
              <a:rPr dirty="0" sz="3200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Ab 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|</a:t>
            </a:r>
            <a:r>
              <a:rPr dirty="0" sz="3200" spc="-100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spc="-5" i="1">
                <a:solidFill>
                  <a:srgbClr val="FFCCCC"/>
                </a:solidFill>
                <a:latin typeface="Times New Roman"/>
                <a:cs typeface="Times New Roman"/>
              </a:rPr>
              <a:t>Bb  </a:t>
            </a: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A </a:t>
            </a:r>
            <a:r>
              <a:rPr dirty="0" sz="3200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spc="-5" i="1">
                <a:solidFill>
                  <a:srgbClr val="FFCCCC"/>
                </a:solidFill>
                <a:latin typeface="Times New Roman"/>
                <a:cs typeface="Times New Roman"/>
              </a:rPr>
              <a:t>Aa 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|</a:t>
            </a:r>
            <a:r>
              <a:rPr dirty="0" sz="3200" spc="-55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02842" y="4283607"/>
            <a:ext cx="5535930" cy="2152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 marR="1139190" indent="2069464">
              <a:lnSpc>
                <a:spcPct val="155700"/>
              </a:lnSpc>
              <a:spcBef>
                <a:spcPts val="95"/>
              </a:spcBef>
            </a:pP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baseline="-21164" sz="3150" spc="22" b="1">
                <a:latin typeface="Times New Roman"/>
                <a:cs typeface="Times New Roman"/>
              </a:rPr>
              <a:t>3</a:t>
            </a:r>
            <a:r>
              <a:rPr dirty="0" sz="3200" b="1">
                <a:latin typeface="宋体"/>
                <a:cs typeface="宋体"/>
              </a:rPr>
              <a:t>是</a:t>
            </a:r>
            <a:r>
              <a:rPr dirty="0" sz="3200" spc="5" b="1">
                <a:latin typeface="Times New Roman"/>
                <a:cs typeface="Times New Roman"/>
              </a:rPr>
              <a:t>3</a:t>
            </a:r>
            <a:r>
              <a:rPr dirty="0" sz="3200" b="1">
                <a:latin typeface="宋体"/>
                <a:cs typeface="宋体"/>
              </a:rPr>
              <a:t>型文法  </a:t>
            </a:r>
            <a:r>
              <a:rPr dirty="0" sz="3200" spc="5" b="1" i="1">
                <a:solidFill>
                  <a:srgbClr val="CCFFFF"/>
                </a:solidFill>
                <a:latin typeface="Times New Roman"/>
                <a:cs typeface="Times New Roman"/>
              </a:rPr>
              <a:t>G</a:t>
            </a:r>
            <a:r>
              <a:rPr dirty="0" baseline="-25132" sz="3150" spc="7" b="1">
                <a:solidFill>
                  <a:srgbClr val="CCFFFF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CCFFFF"/>
                </a:solidFill>
                <a:latin typeface="宋体"/>
                <a:cs typeface="宋体"/>
              </a:rPr>
              <a:t>产生的语言：</a:t>
            </a:r>
            <a:endParaRPr sz="3200">
              <a:latin typeface="宋体"/>
              <a:cs typeface="宋体"/>
            </a:endParaRPr>
          </a:p>
          <a:p>
            <a:pPr algn="ctr" marL="1016635">
              <a:lnSpc>
                <a:spcPct val="100000"/>
              </a:lnSpc>
              <a:spcBef>
                <a:spcPts val="95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baseline="-25132" sz="315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 ={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25462" sz="36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baseline="25462" sz="3600" b="1" i="1">
                <a:solidFill>
                  <a:srgbClr val="FF99FF"/>
                </a:solidFill>
                <a:latin typeface="Times New Roman"/>
                <a:cs typeface="Times New Roman"/>
              </a:rPr>
              <a:t>m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baseline="25462" sz="3600" b="1" i="1">
                <a:solidFill>
                  <a:srgbClr val="FF99FF"/>
                </a:solidFill>
                <a:latin typeface="Times New Roman"/>
                <a:cs typeface="Times New Roman"/>
              </a:rPr>
              <a:t>k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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1}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5357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2.1.5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文法和语言的类型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51154" y="638831"/>
            <a:ext cx="3553460" cy="1852930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3200" spc="-5">
                <a:latin typeface="宋体"/>
                <a:cs typeface="宋体"/>
              </a:rPr>
              <a:t>例</a:t>
            </a:r>
            <a:r>
              <a:rPr dirty="0" sz="3200">
                <a:latin typeface="Times New Roman"/>
                <a:cs typeface="Times New Roman"/>
              </a:rPr>
              <a:t>2.19"'</a:t>
            </a:r>
            <a:r>
              <a:rPr dirty="0" sz="3200" spc="-10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宋体"/>
                <a:cs typeface="宋体"/>
              </a:rPr>
              <a:t>设有文</a:t>
            </a:r>
            <a:r>
              <a:rPr dirty="0" sz="3200">
                <a:latin typeface="宋体"/>
                <a:cs typeface="宋体"/>
              </a:rPr>
              <a:t>法</a:t>
            </a:r>
            <a:r>
              <a:rPr dirty="0" sz="3200" spc="5">
                <a:latin typeface="Times New Roman"/>
                <a:cs typeface="Times New Roman"/>
              </a:rPr>
              <a:t>G</a:t>
            </a:r>
            <a:endParaRPr sz="3200">
              <a:latin typeface="Times New Roman"/>
              <a:cs typeface="Times New Roman"/>
            </a:endParaRPr>
          </a:p>
          <a:p>
            <a:pPr marL="1739264" marR="5080" indent="5715">
              <a:lnSpc>
                <a:spcPts val="4800"/>
              </a:lnSpc>
              <a:spcBef>
                <a:spcPts val="310"/>
              </a:spcBef>
            </a:pP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S </a:t>
            </a:r>
            <a:r>
              <a:rPr dirty="0" sz="3200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aB 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| </a:t>
            </a: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c  </a:t>
            </a: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B </a:t>
            </a:r>
            <a:r>
              <a:rPr dirty="0" sz="3200">
                <a:solidFill>
                  <a:srgbClr val="FFCCCC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spc="-5" i="1">
                <a:solidFill>
                  <a:srgbClr val="FFCCCC"/>
                </a:solidFill>
                <a:latin typeface="Times New Roman"/>
                <a:cs typeface="Times New Roman"/>
              </a:rPr>
              <a:t>Sb </a:t>
            </a:r>
            <a:r>
              <a:rPr dirty="0" sz="3200">
                <a:solidFill>
                  <a:srgbClr val="FFCCCC"/>
                </a:solidFill>
                <a:latin typeface="Times New Roman"/>
                <a:cs typeface="Times New Roman"/>
              </a:rPr>
              <a:t>|</a:t>
            </a:r>
            <a:r>
              <a:rPr dirty="0" sz="3200" spc="-100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3200" i="1">
                <a:solidFill>
                  <a:srgbClr val="FFCCCC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34644" y="4147261"/>
            <a:ext cx="6877050" cy="1959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233045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sz="3200" b="1">
                <a:latin typeface="宋体"/>
                <a:cs typeface="宋体"/>
              </a:rPr>
              <a:t>是</a:t>
            </a:r>
            <a:r>
              <a:rPr dirty="0" sz="3200" b="1">
                <a:latin typeface="Times New Roman"/>
                <a:cs typeface="Times New Roman"/>
              </a:rPr>
              <a:t>2</a:t>
            </a:r>
            <a:r>
              <a:rPr dirty="0" sz="3200" spc="-5" b="1">
                <a:latin typeface="宋体"/>
                <a:cs typeface="宋体"/>
              </a:rPr>
              <a:t>型文法</a:t>
            </a:r>
            <a:endParaRPr sz="320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2740"/>
              </a:spcBef>
            </a:pPr>
            <a:r>
              <a:rPr dirty="0" sz="3200" b="1" i="1">
                <a:solidFill>
                  <a:srgbClr val="CC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CCFFFF"/>
                </a:solidFill>
                <a:latin typeface="宋体"/>
                <a:cs typeface="宋体"/>
              </a:rPr>
              <a:t>产生的语言：</a:t>
            </a:r>
            <a:endParaRPr sz="3200">
              <a:latin typeface="宋体"/>
              <a:cs typeface="宋体"/>
            </a:endParaRPr>
          </a:p>
          <a:p>
            <a:pPr marL="1066800">
              <a:lnSpc>
                <a:spcPct val="100000"/>
              </a:lnSpc>
              <a:spcBef>
                <a:spcPts val="960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) ={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25462" sz="36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cb</a:t>
            </a:r>
            <a:r>
              <a:rPr dirty="0" baseline="25462" sz="3600" b="1" i="1">
                <a:solidFill>
                  <a:srgbClr val="FFFF00"/>
                </a:solidFill>
                <a:latin typeface="Times New Roman"/>
                <a:cs typeface="Times New Roman"/>
              </a:rPr>
              <a:t>n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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0}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∪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baseline="25462" sz="36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baseline="25462" sz="3600" b="1" i="1">
                <a:solidFill>
                  <a:srgbClr val="FFFF00"/>
                </a:solidFill>
                <a:latin typeface="Times New Roman"/>
                <a:cs typeface="Times New Roman"/>
              </a:rPr>
              <a:t>n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2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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1}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5357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2.1.5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文法和语言的类型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566028" y="2046858"/>
            <a:ext cx="12509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图灵机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66028" y="2924937"/>
            <a:ext cx="28848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线性有界自动机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66028" y="3802760"/>
            <a:ext cx="32931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非确定下推自动机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8044" y="2046858"/>
            <a:ext cx="2114550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型文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-21164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baseline="-21164" sz="3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070"/>
              </a:spcBef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型文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-21164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21164" sz="31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3075"/>
              </a:spcBef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型文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-21164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1164" sz="31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3075"/>
              </a:spcBef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型文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-21164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66028" y="4680965"/>
            <a:ext cx="28848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确定有限自动机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429000" y="2196083"/>
            <a:ext cx="1752600" cy="437515"/>
          </a:xfrm>
          <a:custGeom>
            <a:avLst/>
            <a:gdLst/>
            <a:ahLst/>
            <a:cxnLst/>
            <a:rect l="l" t="t" r="r" b="b"/>
            <a:pathLst>
              <a:path w="1752600" h="437514">
                <a:moveTo>
                  <a:pt x="0" y="218693"/>
                </a:moveTo>
                <a:lnTo>
                  <a:pt x="349885" y="0"/>
                </a:lnTo>
                <a:lnTo>
                  <a:pt x="349885" y="109346"/>
                </a:lnTo>
                <a:lnTo>
                  <a:pt x="1402714" y="109346"/>
                </a:lnTo>
                <a:lnTo>
                  <a:pt x="1402714" y="0"/>
                </a:lnTo>
                <a:lnTo>
                  <a:pt x="1752600" y="218693"/>
                </a:lnTo>
                <a:lnTo>
                  <a:pt x="1402714" y="437388"/>
                </a:lnTo>
                <a:lnTo>
                  <a:pt x="1402714" y="328040"/>
                </a:lnTo>
                <a:lnTo>
                  <a:pt x="349885" y="328040"/>
                </a:lnTo>
                <a:lnTo>
                  <a:pt x="349885" y="437388"/>
                </a:lnTo>
                <a:lnTo>
                  <a:pt x="0" y="218693"/>
                </a:lnTo>
                <a:close/>
              </a:path>
            </a:pathLst>
          </a:custGeom>
          <a:ln w="9525">
            <a:solidFill>
              <a:srgbClr val="FFD5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29000" y="3014472"/>
            <a:ext cx="1752600" cy="439420"/>
          </a:xfrm>
          <a:custGeom>
            <a:avLst/>
            <a:gdLst/>
            <a:ahLst/>
            <a:cxnLst/>
            <a:rect l="l" t="t" r="r" b="b"/>
            <a:pathLst>
              <a:path w="1752600" h="439420">
                <a:moveTo>
                  <a:pt x="0" y="219455"/>
                </a:moveTo>
                <a:lnTo>
                  <a:pt x="351154" y="0"/>
                </a:lnTo>
                <a:lnTo>
                  <a:pt x="351154" y="109727"/>
                </a:lnTo>
                <a:lnTo>
                  <a:pt x="1401445" y="109727"/>
                </a:lnTo>
                <a:lnTo>
                  <a:pt x="1401445" y="0"/>
                </a:lnTo>
                <a:lnTo>
                  <a:pt x="1752600" y="219455"/>
                </a:lnTo>
                <a:lnTo>
                  <a:pt x="1401445" y="438912"/>
                </a:lnTo>
                <a:lnTo>
                  <a:pt x="1401445" y="329183"/>
                </a:lnTo>
                <a:lnTo>
                  <a:pt x="351154" y="329183"/>
                </a:lnTo>
                <a:lnTo>
                  <a:pt x="351154" y="438912"/>
                </a:lnTo>
                <a:lnTo>
                  <a:pt x="0" y="219455"/>
                </a:lnTo>
                <a:close/>
              </a:path>
            </a:pathLst>
          </a:custGeom>
          <a:ln w="9525">
            <a:solidFill>
              <a:srgbClr val="FFD5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86911" y="3872484"/>
            <a:ext cx="1752600" cy="437515"/>
          </a:xfrm>
          <a:custGeom>
            <a:avLst/>
            <a:gdLst/>
            <a:ahLst/>
            <a:cxnLst/>
            <a:rect l="l" t="t" r="r" b="b"/>
            <a:pathLst>
              <a:path w="1752600" h="437514">
                <a:moveTo>
                  <a:pt x="0" y="218694"/>
                </a:moveTo>
                <a:lnTo>
                  <a:pt x="349885" y="0"/>
                </a:lnTo>
                <a:lnTo>
                  <a:pt x="349885" y="109347"/>
                </a:lnTo>
                <a:lnTo>
                  <a:pt x="1402714" y="109347"/>
                </a:lnTo>
                <a:lnTo>
                  <a:pt x="1402714" y="0"/>
                </a:lnTo>
                <a:lnTo>
                  <a:pt x="1752600" y="218694"/>
                </a:lnTo>
                <a:lnTo>
                  <a:pt x="1402714" y="437388"/>
                </a:lnTo>
                <a:lnTo>
                  <a:pt x="1402714" y="328041"/>
                </a:lnTo>
                <a:lnTo>
                  <a:pt x="349885" y="328041"/>
                </a:lnTo>
                <a:lnTo>
                  <a:pt x="349885" y="437388"/>
                </a:lnTo>
                <a:lnTo>
                  <a:pt x="0" y="218694"/>
                </a:lnTo>
                <a:close/>
              </a:path>
            </a:pathLst>
          </a:custGeom>
          <a:ln w="9525">
            <a:solidFill>
              <a:srgbClr val="FFD5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25011" y="4719828"/>
            <a:ext cx="1752600" cy="437515"/>
          </a:xfrm>
          <a:custGeom>
            <a:avLst/>
            <a:gdLst/>
            <a:ahLst/>
            <a:cxnLst/>
            <a:rect l="l" t="t" r="r" b="b"/>
            <a:pathLst>
              <a:path w="1752600" h="437514">
                <a:moveTo>
                  <a:pt x="0" y="218694"/>
                </a:moveTo>
                <a:lnTo>
                  <a:pt x="349885" y="0"/>
                </a:lnTo>
                <a:lnTo>
                  <a:pt x="349885" y="109347"/>
                </a:lnTo>
                <a:lnTo>
                  <a:pt x="1402714" y="109347"/>
                </a:lnTo>
                <a:lnTo>
                  <a:pt x="1402714" y="0"/>
                </a:lnTo>
                <a:lnTo>
                  <a:pt x="1752600" y="218694"/>
                </a:lnTo>
                <a:lnTo>
                  <a:pt x="1402714" y="437388"/>
                </a:lnTo>
                <a:lnTo>
                  <a:pt x="1402714" y="328041"/>
                </a:lnTo>
                <a:lnTo>
                  <a:pt x="349885" y="328041"/>
                </a:lnTo>
                <a:lnTo>
                  <a:pt x="349885" y="437388"/>
                </a:lnTo>
                <a:lnTo>
                  <a:pt x="0" y="218694"/>
                </a:lnTo>
                <a:close/>
              </a:path>
            </a:pathLst>
          </a:custGeom>
          <a:ln w="9525">
            <a:solidFill>
              <a:srgbClr val="FFD5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510031" y="728548"/>
            <a:ext cx="553847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imes New Roman"/>
                <a:cs typeface="Times New Roman"/>
              </a:rPr>
              <a:t>5</a:t>
            </a:r>
            <a:r>
              <a:rPr dirty="0" sz="3200">
                <a:latin typeface="宋体"/>
                <a:cs typeface="宋体"/>
              </a:rPr>
              <a:t>．</a:t>
            </a:r>
            <a:r>
              <a:rPr dirty="0" u="heavy" sz="3200" spc="-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四类文法和语言小结</a:t>
            </a:r>
            <a:r>
              <a:rPr dirty="0" u="heavy" sz="3200" spc="-1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及</a:t>
            </a:r>
            <a:r>
              <a:rPr dirty="0" u="heavy" sz="3200" spc="-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关系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939" y="72644"/>
            <a:ext cx="5651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85357" y="72644"/>
            <a:ext cx="2709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2.1.5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文法和语言的类型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57300" y="5306186"/>
            <a:ext cx="4343400" cy="171450"/>
          </a:xfrm>
          <a:custGeom>
            <a:avLst/>
            <a:gdLst/>
            <a:ahLst/>
            <a:cxnLst/>
            <a:rect l="l" t="t" r="r" b="b"/>
            <a:pathLst>
              <a:path w="4343400" h="171450">
                <a:moveTo>
                  <a:pt x="4057650" y="0"/>
                </a:moveTo>
                <a:lnTo>
                  <a:pt x="4057650" y="171450"/>
                </a:lnTo>
                <a:lnTo>
                  <a:pt x="4248150" y="114300"/>
                </a:lnTo>
                <a:lnTo>
                  <a:pt x="4086225" y="114300"/>
                </a:lnTo>
                <a:lnTo>
                  <a:pt x="4086225" y="57150"/>
                </a:lnTo>
                <a:lnTo>
                  <a:pt x="4248150" y="57150"/>
                </a:lnTo>
                <a:lnTo>
                  <a:pt x="4057650" y="0"/>
                </a:lnTo>
                <a:close/>
              </a:path>
              <a:path w="4343400" h="171450">
                <a:moveTo>
                  <a:pt x="40576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4057650" y="114300"/>
                </a:lnTo>
                <a:lnTo>
                  <a:pt x="4057650" y="57150"/>
                </a:lnTo>
                <a:close/>
              </a:path>
              <a:path w="4343400" h="171450">
                <a:moveTo>
                  <a:pt x="4248150" y="57150"/>
                </a:moveTo>
                <a:lnTo>
                  <a:pt x="4086225" y="57150"/>
                </a:lnTo>
                <a:lnTo>
                  <a:pt x="4086225" y="114300"/>
                </a:lnTo>
                <a:lnTo>
                  <a:pt x="4248150" y="114300"/>
                </a:lnTo>
                <a:lnTo>
                  <a:pt x="4343400" y="85725"/>
                </a:lnTo>
                <a:lnTo>
                  <a:pt x="4248150" y="571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57300" y="6449186"/>
            <a:ext cx="4343400" cy="171450"/>
          </a:xfrm>
          <a:custGeom>
            <a:avLst/>
            <a:gdLst/>
            <a:ahLst/>
            <a:cxnLst/>
            <a:rect l="l" t="t" r="r" b="b"/>
            <a:pathLst>
              <a:path w="4343400" h="171450">
                <a:moveTo>
                  <a:pt x="285750" y="0"/>
                </a:moveTo>
                <a:lnTo>
                  <a:pt x="0" y="85724"/>
                </a:lnTo>
                <a:lnTo>
                  <a:pt x="285750" y="171449"/>
                </a:lnTo>
                <a:lnTo>
                  <a:pt x="285750" y="114299"/>
                </a:lnTo>
                <a:lnTo>
                  <a:pt x="257175" y="114299"/>
                </a:lnTo>
                <a:lnTo>
                  <a:pt x="257175" y="57149"/>
                </a:lnTo>
                <a:lnTo>
                  <a:pt x="285750" y="57149"/>
                </a:lnTo>
                <a:lnTo>
                  <a:pt x="285750" y="0"/>
                </a:lnTo>
                <a:close/>
              </a:path>
              <a:path w="4343400" h="171450">
                <a:moveTo>
                  <a:pt x="285750" y="57149"/>
                </a:moveTo>
                <a:lnTo>
                  <a:pt x="257175" y="57149"/>
                </a:lnTo>
                <a:lnTo>
                  <a:pt x="257175" y="114299"/>
                </a:lnTo>
                <a:lnTo>
                  <a:pt x="285750" y="114299"/>
                </a:lnTo>
                <a:lnTo>
                  <a:pt x="285750" y="57149"/>
                </a:lnTo>
                <a:close/>
              </a:path>
              <a:path w="4343400" h="171450">
                <a:moveTo>
                  <a:pt x="4343400" y="57149"/>
                </a:moveTo>
                <a:lnTo>
                  <a:pt x="285750" y="57149"/>
                </a:lnTo>
                <a:lnTo>
                  <a:pt x="285750" y="114299"/>
                </a:lnTo>
                <a:lnTo>
                  <a:pt x="4343400" y="114299"/>
                </a:lnTo>
                <a:lnTo>
                  <a:pt x="4343400" y="57149"/>
                </a:lnTo>
                <a:close/>
              </a:path>
            </a:pathLst>
          </a:custGeom>
          <a:solidFill>
            <a:srgbClr val="B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335786" y="3412179"/>
            <a:ext cx="6725920" cy="292735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944"/>
              </a:spcBef>
            </a:pP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0</a:t>
            </a: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型语</a:t>
            </a:r>
            <a:r>
              <a:rPr dirty="0" sz="2800" spc="-15" b="1">
                <a:solidFill>
                  <a:srgbClr val="FFCCCC"/>
                </a:solidFill>
                <a:latin typeface="宋体"/>
                <a:cs typeface="宋体"/>
              </a:rPr>
              <a:t>言</a:t>
            </a: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CCCC"/>
                </a:solidFill>
                <a:latin typeface="Symbol"/>
                <a:cs typeface="Symbol"/>
              </a:rPr>
              <a:t>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型语</a:t>
            </a:r>
            <a:r>
              <a:rPr dirty="0" sz="2800" spc="-15" b="1">
                <a:solidFill>
                  <a:srgbClr val="FFCCCC"/>
                </a:solidFill>
                <a:latin typeface="宋体"/>
                <a:cs typeface="宋体"/>
              </a:rPr>
              <a:t>言</a:t>
            </a:r>
            <a:r>
              <a:rPr dirty="0" sz="2800" spc="-685" b="1">
                <a:solidFill>
                  <a:srgbClr val="FFCCCC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CCCC"/>
                </a:solidFill>
                <a:latin typeface="Symbol"/>
                <a:cs typeface="Symbol"/>
              </a:rPr>
              <a:t>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2</a:t>
            </a: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型语</a:t>
            </a:r>
            <a:r>
              <a:rPr dirty="0" sz="2800" spc="-15" b="1">
                <a:solidFill>
                  <a:srgbClr val="FFCCCC"/>
                </a:solidFill>
                <a:latin typeface="宋体"/>
                <a:cs typeface="宋体"/>
              </a:rPr>
              <a:t>言</a:t>
            </a:r>
            <a:r>
              <a:rPr dirty="0" sz="2800" spc="-705" b="1">
                <a:solidFill>
                  <a:srgbClr val="FFCCCC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CCCC"/>
                </a:solidFill>
                <a:latin typeface="Symbol"/>
                <a:cs typeface="Symbol"/>
              </a:rPr>
              <a:t>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3</a:t>
            </a:r>
            <a:r>
              <a:rPr dirty="0" sz="2800" spc="-10" b="1">
                <a:solidFill>
                  <a:srgbClr val="FFCCCC"/>
                </a:solidFill>
                <a:latin typeface="宋体"/>
                <a:cs typeface="宋体"/>
              </a:rPr>
              <a:t>型语言</a:t>
            </a:r>
            <a:endParaRPr sz="2800">
              <a:latin typeface="宋体"/>
              <a:cs typeface="宋体"/>
            </a:endParaRPr>
          </a:p>
          <a:p>
            <a:pPr marL="101600">
              <a:lnSpc>
                <a:spcPct val="100000"/>
              </a:lnSpc>
              <a:spcBef>
                <a:spcPts val="845"/>
              </a:spcBef>
              <a:tabLst>
                <a:tab pos="962025" algn="l"/>
                <a:tab pos="1393825" algn="l"/>
                <a:tab pos="1927225" algn="l"/>
                <a:tab pos="2803525" algn="l"/>
              </a:tabLst>
            </a:pP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L</a:t>
            </a:r>
            <a:r>
              <a:rPr dirty="0" baseline="-25525" sz="2775" spc="-7" b="1">
                <a:solidFill>
                  <a:srgbClr val="FFCCCC"/>
                </a:solidFill>
                <a:latin typeface="Times New Roman"/>
                <a:cs typeface="Times New Roman"/>
              </a:rPr>
              <a:t>0	</a:t>
            </a:r>
            <a:r>
              <a:rPr dirty="0" sz="2800" spc="-5" b="1">
                <a:solidFill>
                  <a:srgbClr val="FFCCCC"/>
                </a:solidFill>
                <a:latin typeface="Symbol"/>
                <a:cs typeface="Symbol"/>
              </a:rPr>
              <a:t></a:t>
            </a:r>
            <a:r>
              <a:rPr dirty="0" sz="2800" spc="-5">
                <a:solidFill>
                  <a:srgbClr val="FFCCCC"/>
                </a:solidFill>
                <a:latin typeface="Times New Roman"/>
                <a:cs typeface="Times New Roman"/>
              </a:rPr>
              <a:t>	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L</a:t>
            </a:r>
            <a:r>
              <a:rPr dirty="0" baseline="-25525" sz="2775" b="1">
                <a:solidFill>
                  <a:srgbClr val="FFCCCC"/>
                </a:solidFill>
                <a:latin typeface="Times New Roman"/>
                <a:cs typeface="Times New Roman"/>
              </a:rPr>
              <a:t>1	</a:t>
            </a:r>
            <a:r>
              <a:rPr dirty="0" sz="2800" spc="-5" b="1">
                <a:solidFill>
                  <a:srgbClr val="FFCCCC"/>
                </a:solidFill>
                <a:latin typeface="Symbol"/>
                <a:cs typeface="Symbol"/>
              </a:rPr>
              <a:t></a:t>
            </a:r>
            <a:r>
              <a:rPr dirty="0" sz="2800" spc="5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L</a:t>
            </a:r>
            <a:r>
              <a:rPr dirty="0" baseline="-25525" sz="2775" b="1">
                <a:solidFill>
                  <a:srgbClr val="FFCCCC"/>
                </a:solidFill>
                <a:latin typeface="Times New Roman"/>
                <a:cs typeface="Times New Roman"/>
              </a:rPr>
              <a:t>2	</a:t>
            </a:r>
            <a:r>
              <a:rPr dirty="0" sz="2800" spc="-5" b="1">
                <a:solidFill>
                  <a:srgbClr val="FFCCCC"/>
                </a:solidFill>
                <a:latin typeface="Symbol"/>
                <a:cs typeface="Symbol"/>
              </a:rPr>
              <a:t></a:t>
            </a:r>
            <a:r>
              <a:rPr dirty="0" sz="2800" b="1">
                <a:solidFill>
                  <a:srgbClr val="FFCC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CCCC"/>
                </a:solidFill>
                <a:latin typeface="Times New Roman"/>
                <a:cs typeface="Times New Roman"/>
              </a:rPr>
              <a:t>L</a:t>
            </a:r>
            <a:r>
              <a:rPr dirty="0" baseline="-25525" sz="2775" spc="-7" b="1">
                <a:solidFill>
                  <a:srgbClr val="FFCCCC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386715">
              <a:lnSpc>
                <a:spcPct val="100000"/>
              </a:lnSpc>
              <a:spcBef>
                <a:spcPts val="267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产生式限制越来越严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900">
              <a:latin typeface="宋体"/>
              <a:cs typeface="宋体"/>
            </a:endParaRPr>
          </a:p>
          <a:p>
            <a:pPr marL="450850">
              <a:lnSpc>
                <a:spcPct val="100000"/>
              </a:lnSpc>
            </a:pPr>
            <a:r>
              <a:rPr dirty="0" sz="2800" spc="-5" b="1">
                <a:solidFill>
                  <a:srgbClr val="B0FFFF"/>
                </a:solidFill>
                <a:latin typeface="宋体"/>
                <a:cs typeface="宋体"/>
              </a:rPr>
              <a:t>描述功能越来越强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21640" y="671830"/>
            <a:ext cx="563054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3200" spc="-105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heavy" sz="320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．四类文法和语言小结</a:t>
            </a:r>
            <a:r>
              <a:rPr dirty="0" u="heavy" sz="3200" spc="-1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及</a:t>
            </a:r>
            <a:r>
              <a:rPr dirty="0" u="heavy" sz="3200">
                <a:solidFill>
                  <a:srgbClr val="B0FFFF"/>
                </a:solidFill>
                <a:uFill>
                  <a:solidFill>
                    <a:srgbClr val="B0FFFF"/>
                  </a:solidFill>
                </a:uFill>
                <a:latin typeface="宋体"/>
                <a:cs typeface="宋体"/>
              </a:rPr>
              <a:t>关系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45023" y="1811273"/>
            <a:ext cx="114300" cy="1275715"/>
          </a:xfrm>
          <a:custGeom>
            <a:avLst/>
            <a:gdLst/>
            <a:ahLst/>
            <a:cxnLst/>
            <a:rect l="l" t="t" r="r" b="b"/>
            <a:pathLst>
              <a:path w="114300" h="1275714">
                <a:moveTo>
                  <a:pt x="38100" y="1161288"/>
                </a:moveTo>
                <a:lnTo>
                  <a:pt x="0" y="1161288"/>
                </a:lnTo>
                <a:lnTo>
                  <a:pt x="57150" y="1275588"/>
                </a:lnTo>
                <a:lnTo>
                  <a:pt x="104775" y="1180338"/>
                </a:lnTo>
                <a:lnTo>
                  <a:pt x="38100" y="1180338"/>
                </a:lnTo>
                <a:lnTo>
                  <a:pt x="38100" y="1161288"/>
                </a:lnTo>
                <a:close/>
              </a:path>
              <a:path w="114300" h="1275714">
                <a:moveTo>
                  <a:pt x="76200" y="0"/>
                </a:moveTo>
                <a:lnTo>
                  <a:pt x="38100" y="0"/>
                </a:lnTo>
                <a:lnTo>
                  <a:pt x="38100" y="1180338"/>
                </a:lnTo>
                <a:lnTo>
                  <a:pt x="76200" y="1180338"/>
                </a:lnTo>
                <a:lnTo>
                  <a:pt x="76200" y="0"/>
                </a:lnTo>
                <a:close/>
              </a:path>
              <a:path w="114300" h="1275714">
                <a:moveTo>
                  <a:pt x="114300" y="1161288"/>
                </a:moveTo>
                <a:lnTo>
                  <a:pt x="76200" y="1161288"/>
                </a:lnTo>
                <a:lnTo>
                  <a:pt x="76200" y="1180338"/>
                </a:lnTo>
                <a:lnTo>
                  <a:pt x="104775" y="1180338"/>
                </a:lnTo>
                <a:lnTo>
                  <a:pt x="114300" y="116128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424296" y="2255977"/>
            <a:ext cx="6381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限制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17058" y="2914853"/>
            <a:ext cx="3308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CCFFFF"/>
                </a:solidFill>
                <a:latin typeface="宋体"/>
                <a:cs typeface="宋体"/>
              </a:rPr>
              <a:t>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0255" y="1616455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CCFFFF"/>
                </a:solidFill>
                <a:latin typeface="宋体"/>
                <a:cs typeface="宋体"/>
              </a:rPr>
              <a:t>弱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72511" y="2230373"/>
            <a:ext cx="114300" cy="800100"/>
          </a:xfrm>
          <a:custGeom>
            <a:avLst/>
            <a:gdLst/>
            <a:ahLst/>
            <a:cxnLst/>
            <a:rect l="l" t="t" r="r" b="b"/>
            <a:pathLst>
              <a:path w="114300" h="800100">
                <a:moveTo>
                  <a:pt x="38100" y="685800"/>
                </a:moveTo>
                <a:lnTo>
                  <a:pt x="0" y="685800"/>
                </a:lnTo>
                <a:lnTo>
                  <a:pt x="57150" y="800100"/>
                </a:lnTo>
                <a:lnTo>
                  <a:pt x="104775" y="704850"/>
                </a:lnTo>
                <a:lnTo>
                  <a:pt x="38100" y="704850"/>
                </a:lnTo>
                <a:lnTo>
                  <a:pt x="38100" y="685800"/>
                </a:lnTo>
                <a:close/>
              </a:path>
              <a:path w="114300" h="800100">
                <a:moveTo>
                  <a:pt x="762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76200" y="704850"/>
                </a:lnTo>
                <a:lnTo>
                  <a:pt x="76200" y="0"/>
                </a:lnTo>
                <a:close/>
              </a:path>
              <a:path w="114300" h="800100">
                <a:moveTo>
                  <a:pt x="114300" y="685800"/>
                </a:moveTo>
                <a:lnTo>
                  <a:pt x="76200" y="685800"/>
                </a:lnTo>
                <a:lnTo>
                  <a:pt x="76200" y="704850"/>
                </a:lnTo>
                <a:lnTo>
                  <a:pt x="104775" y="704850"/>
                </a:lnTo>
                <a:lnTo>
                  <a:pt x="114300" y="685800"/>
                </a:lnTo>
                <a:close/>
              </a:path>
            </a:pathLst>
          </a:custGeom>
          <a:solidFill>
            <a:srgbClr val="B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256789" y="1883991"/>
            <a:ext cx="178435" cy="1139190"/>
          </a:xfrm>
          <a:prstGeom prst="rect">
            <a:avLst/>
          </a:prstGeom>
        </p:spPr>
        <p:txBody>
          <a:bodyPr wrap="square" lIns="0" tIns="203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74745" y="1980551"/>
            <a:ext cx="178435" cy="1137920"/>
          </a:xfrm>
          <a:prstGeom prst="rect">
            <a:avLst/>
          </a:prstGeom>
        </p:spPr>
        <p:txBody>
          <a:bodyPr wrap="square" lIns="0" tIns="202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21379" y="2230373"/>
            <a:ext cx="114300" cy="800100"/>
          </a:xfrm>
          <a:custGeom>
            <a:avLst/>
            <a:gdLst/>
            <a:ahLst/>
            <a:cxnLst/>
            <a:rect l="l" t="t" r="r" b="b"/>
            <a:pathLst>
              <a:path w="114300" h="800100">
                <a:moveTo>
                  <a:pt x="38100" y="685800"/>
                </a:moveTo>
                <a:lnTo>
                  <a:pt x="0" y="685800"/>
                </a:lnTo>
                <a:lnTo>
                  <a:pt x="57150" y="800100"/>
                </a:lnTo>
                <a:lnTo>
                  <a:pt x="104775" y="704850"/>
                </a:lnTo>
                <a:lnTo>
                  <a:pt x="38100" y="704850"/>
                </a:lnTo>
                <a:lnTo>
                  <a:pt x="38100" y="685800"/>
                </a:lnTo>
                <a:close/>
              </a:path>
              <a:path w="114300" h="800100">
                <a:moveTo>
                  <a:pt x="762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76200" y="704850"/>
                </a:lnTo>
                <a:lnTo>
                  <a:pt x="76200" y="0"/>
                </a:lnTo>
                <a:close/>
              </a:path>
              <a:path w="114300" h="800100">
                <a:moveTo>
                  <a:pt x="114300" y="685800"/>
                </a:moveTo>
                <a:lnTo>
                  <a:pt x="76200" y="685800"/>
                </a:lnTo>
                <a:lnTo>
                  <a:pt x="76200" y="704850"/>
                </a:lnTo>
                <a:lnTo>
                  <a:pt x="104775" y="704850"/>
                </a:lnTo>
                <a:lnTo>
                  <a:pt x="114300" y="685800"/>
                </a:lnTo>
                <a:close/>
              </a:path>
            </a:pathLst>
          </a:custGeom>
          <a:solidFill>
            <a:srgbClr val="B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464054" y="1470506"/>
            <a:ext cx="115062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5290" algn="l"/>
                <a:tab pos="942340" algn="l"/>
              </a:tabLst>
            </a:pPr>
            <a:r>
              <a:rPr dirty="0" sz="2950" spc="-10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2950" spc="-1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35985" y="72644"/>
            <a:ext cx="3347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790" y="1112222"/>
            <a:ext cx="8949690" cy="5626100"/>
          </a:xfrm>
          <a:prstGeom prst="rect">
            <a:avLst/>
          </a:prstGeom>
        </p:spPr>
        <p:txBody>
          <a:bodyPr wrap="square" lIns="0" tIns="200025" rIns="0" bIns="0" rtlCol="0" vert="horz">
            <a:spAutoFit/>
          </a:bodyPr>
          <a:lstStyle/>
          <a:p>
            <a:pPr lvl="2" marL="1311910" indent="-1017905">
              <a:lnSpc>
                <a:spcPct val="100000"/>
              </a:lnSpc>
              <a:spcBef>
                <a:spcPts val="1575"/>
              </a:spcBef>
              <a:buFont typeface="Times New Roman"/>
              <a:buAutoNum type="arabicPeriod"/>
              <a:tabLst>
                <a:tab pos="1311910" algn="l"/>
                <a:tab pos="131254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文法和语言的基本概念</a:t>
            </a:r>
            <a:endParaRPr sz="3200">
              <a:latin typeface="宋体"/>
              <a:cs typeface="宋体"/>
            </a:endParaRPr>
          </a:p>
          <a:p>
            <a:pPr lvl="3" marL="1190625" indent="-381635">
              <a:lnSpc>
                <a:spcPct val="100000"/>
              </a:lnSpc>
              <a:spcBef>
                <a:spcPts val="2315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1190625" algn="l"/>
                <a:tab pos="119126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自然语言文法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BN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表示</a:t>
            </a:r>
            <a:endParaRPr sz="2800">
              <a:latin typeface="宋体"/>
              <a:cs typeface="宋体"/>
            </a:endParaRPr>
          </a:p>
          <a:p>
            <a:pPr lvl="3" marL="1368425" indent="-559435">
              <a:lnSpc>
                <a:spcPct val="100000"/>
              </a:lnSpc>
              <a:spcBef>
                <a:spcPts val="1680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1368425" algn="l"/>
                <a:tab pos="136906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自然语言的分析、识别</a:t>
            </a:r>
            <a:endParaRPr sz="2800">
              <a:latin typeface="宋体"/>
              <a:cs typeface="宋体"/>
            </a:endParaRPr>
          </a:p>
          <a:p>
            <a:pPr lvl="2" marL="1029335" indent="-1017269">
              <a:lnSpc>
                <a:spcPct val="100000"/>
              </a:lnSpc>
              <a:spcBef>
                <a:spcPts val="1410"/>
              </a:spcBef>
              <a:buFont typeface="Times New Roman"/>
              <a:buAutoNum type="arabicPeriod"/>
              <a:tabLst>
                <a:tab pos="1029335" algn="l"/>
                <a:tab pos="1029969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文法和语言的定义</a:t>
            </a:r>
            <a:endParaRPr sz="3200">
              <a:latin typeface="宋体"/>
              <a:cs typeface="宋体"/>
            </a:endParaRPr>
          </a:p>
          <a:p>
            <a:pPr lvl="3" marL="568960" indent="-381635">
              <a:lnSpc>
                <a:spcPct val="100000"/>
              </a:lnSpc>
              <a:spcBef>
                <a:spcPts val="2315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568960" algn="l"/>
                <a:tab pos="56959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字符和字符串</a:t>
            </a:r>
            <a:endParaRPr sz="2800">
              <a:latin typeface="宋体"/>
              <a:cs typeface="宋体"/>
            </a:endParaRPr>
          </a:p>
          <a:p>
            <a:pPr marL="1166495">
              <a:lnSpc>
                <a:spcPct val="100000"/>
              </a:lnSpc>
              <a:spcBef>
                <a:spcPts val="675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字符、字符串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166495">
              <a:lnSpc>
                <a:spcPct val="100000"/>
              </a:lnSpc>
              <a:spcBef>
                <a:spcPts val="670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字符串基本运</a:t>
            </a:r>
            <a:r>
              <a:rPr dirty="0" sz="2800" b="1">
                <a:solidFill>
                  <a:srgbClr val="66FFFF"/>
                </a:solidFill>
                <a:latin typeface="宋体"/>
                <a:cs typeface="宋体"/>
              </a:rPr>
              <a:t>算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：长度、子串、前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缀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endParaRPr sz="2800">
              <a:latin typeface="宋体"/>
              <a:cs typeface="宋体"/>
            </a:endParaRPr>
          </a:p>
          <a:p>
            <a:pPr marL="4011295">
              <a:lnSpc>
                <a:spcPct val="100000"/>
              </a:lnSpc>
              <a:spcBef>
                <a:spcPts val="67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真前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后缀、连接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15" b="1">
                <a:solidFill>
                  <a:srgbClr val="FF99FF"/>
                </a:solidFill>
                <a:latin typeface="宋体"/>
                <a:cs typeface="宋体"/>
              </a:rPr>
              <a:t>幂</a:t>
            </a:r>
            <a:endParaRPr sz="2800">
              <a:latin typeface="宋体"/>
              <a:cs typeface="宋体"/>
            </a:endParaRPr>
          </a:p>
          <a:p>
            <a:pPr marL="988060">
              <a:lnSpc>
                <a:spcPct val="100000"/>
              </a:lnSpc>
              <a:spcBef>
                <a:spcPts val="1680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字符串集合运算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乘积、幂、</a:t>
            </a:r>
            <a:r>
              <a:rPr dirty="0" sz="2800" spc="5" b="1">
                <a:solidFill>
                  <a:srgbClr val="FF99FF"/>
                </a:solidFill>
                <a:latin typeface="宋体"/>
                <a:cs typeface="宋体"/>
              </a:rPr>
              <a:t>并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、正</a:t>
            </a:r>
            <a:r>
              <a:rPr dirty="0" sz="2800" spc="5" b="1">
                <a:solidFill>
                  <a:srgbClr val="FF99FF"/>
                </a:solidFill>
                <a:latin typeface="宋体"/>
                <a:cs typeface="宋体"/>
              </a:rPr>
              <a:t>闭</a:t>
            </a:r>
            <a:r>
              <a:rPr dirty="0" sz="2800" spc="30" b="1">
                <a:solidFill>
                  <a:srgbClr val="FF99FF"/>
                </a:solidFill>
                <a:latin typeface="宋体"/>
                <a:cs typeface="宋体"/>
              </a:rPr>
              <a:t>包</a:t>
            </a:r>
            <a:r>
              <a:rPr dirty="0" sz="2800" spc="-5" b="1">
                <a:solidFill>
                  <a:srgbClr val="FF99FF"/>
                </a:solidFill>
                <a:latin typeface="Times New Roman"/>
                <a:cs typeface="Times New Roman"/>
              </a:rPr>
              <a:t>/</a:t>
            </a: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自反</a:t>
            </a:r>
            <a:r>
              <a:rPr dirty="0" sz="2800" spc="5" b="1">
                <a:solidFill>
                  <a:srgbClr val="FF99FF"/>
                </a:solidFill>
                <a:latin typeface="宋体"/>
                <a:cs typeface="宋体"/>
              </a:rPr>
              <a:t>闭</a:t>
            </a:r>
            <a:r>
              <a:rPr dirty="0" sz="2800" spc="-15" b="1">
                <a:solidFill>
                  <a:srgbClr val="FF99FF"/>
                </a:solidFill>
                <a:latin typeface="宋体"/>
                <a:cs typeface="宋体"/>
              </a:rPr>
              <a:t>包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63397" y="525907"/>
            <a:ext cx="43497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6115" algn="l"/>
              </a:tabLst>
            </a:pPr>
            <a:r>
              <a:rPr dirty="0" sz="2800" spc="-5" b="0">
                <a:solidFill>
                  <a:srgbClr val="FF99FF"/>
                </a:solidFill>
                <a:latin typeface="Wingdings"/>
                <a:cs typeface="Wingdings"/>
              </a:rPr>
              <a:t></a:t>
            </a:r>
            <a:r>
              <a:rPr dirty="0" sz="2800" spc="-5" b="0">
                <a:solidFill>
                  <a:srgbClr val="FF99FF"/>
                </a:solidFill>
                <a:latin typeface="Times New Roman"/>
                <a:cs typeface="Times New Roman"/>
              </a:rPr>
              <a:t>	</a:t>
            </a:r>
            <a:r>
              <a:rPr dirty="0" u="heavy" sz="3600" spc="-5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第二章第一节提要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6565" y="0"/>
            <a:ext cx="8746490" cy="645795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algn="ctr" marL="158115">
              <a:lnSpc>
                <a:spcPct val="100000"/>
              </a:lnSpc>
              <a:spcBef>
                <a:spcPts val="1180"/>
              </a:spcBef>
              <a:tabLst>
                <a:tab pos="73914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  <a:p>
            <a:pPr marL="579755" marR="4542155" indent="-331470">
              <a:lnSpc>
                <a:spcPct val="132400"/>
              </a:lnSpc>
              <a:spcBef>
                <a:spcPts val="1510"/>
              </a:spcBef>
              <a:buClr>
                <a:srgbClr val="66FFFF"/>
              </a:buClr>
              <a:buSzPct val="125000"/>
              <a:buFont typeface="Wingdings"/>
              <a:buChar char=""/>
              <a:tabLst>
                <a:tab pos="629920" algn="l"/>
                <a:tab pos="630555" algn="l"/>
              </a:tabLst>
            </a:pPr>
            <a:r>
              <a:rPr dirty="0"/>
              <a:t>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文法和语言的形式定义 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文法的形式定义：</a:t>
            </a:r>
            <a:endParaRPr sz="2800">
              <a:latin typeface="宋体"/>
              <a:cs typeface="宋体"/>
            </a:endParaRPr>
          </a:p>
          <a:p>
            <a:pPr marL="680085">
              <a:lnSpc>
                <a:spcPct val="100000"/>
              </a:lnSpc>
              <a:spcBef>
                <a:spcPts val="2400"/>
              </a:spcBef>
              <a:tabLst>
                <a:tab pos="2617470" algn="l"/>
                <a:tab pos="3531870" algn="l"/>
                <a:tab pos="4442460" algn="l"/>
              </a:tabLst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800" spc="-6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b="1" i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spc="-7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,	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477520">
              <a:lnSpc>
                <a:spcPct val="100000"/>
              </a:lnSpc>
              <a:spcBef>
                <a:spcPts val="1800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语言的形式定义：</a:t>
            </a:r>
            <a:endParaRPr sz="2800">
              <a:latin typeface="宋体"/>
              <a:cs typeface="宋体"/>
            </a:endParaRPr>
          </a:p>
          <a:p>
            <a:pPr marL="655955">
              <a:lnSpc>
                <a:spcPts val="2735"/>
              </a:lnSpc>
              <a:spcBef>
                <a:spcPts val="1530"/>
              </a:spcBef>
              <a:tabLst>
                <a:tab pos="2066925" algn="l"/>
                <a:tab pos="3597275" algn="l"/>
              </a:tabLst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	</a:t>
            </a:r>
            <a:r>
              <a:rPr dirty="0" sz="2950" spc="-100" b="1" i="1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dirty="0" sz="2950" spc="-10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5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950" spc="-100" b="1" i="1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dirty="0" sz="2950" spc="-3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V	</a:t>
            </a:r>
            <a:r>
              <a:rPr dirty="0" baseline="25525" sz="2775" spc="15" b="1">
                <a:solidFill>
                  <a:srgbClr val="FFFF00"/>
                </a:solidFill>
                <a:latin typeface="Times New Roman"/>
                <a:cs typeface="Times New Roman"/>
              </a:rPr>
              <a:t>*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∧</a:t>
            </a:r>
            <a:r>
              <a:rPr dirty="0" sz="2800" spc="-69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800" spc="-470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baseline="11904" sz="4200" spc="-70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470" b="1">
                <a:solidFill>
                  <a:srgbClr val="FFFF00"/>
                </a:solidFill>
                <a:latin typeface="Times New Roman"/>
                <a:cs typeface="Times New Roman"/>
              </a:rPr>
              <a:t>&gt; </a:t>
            </a:r>
            <a:r>
              <a:rPr dirty="0" sz="2950" spc="-45" b="1" i="1">
                <a:solidFill>
                  <a:srgbClr val="FFFF00"/>
                </a:solidFill>
                <a:latin typeface="Symbol"/>
                <a:cs typeface="Symbol"/>
              </a:rPr>
              <a:t></a:t>
            </a:r>
            <a:r>
              <a:rPr dirty="0" sz="2800" spc="-4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algn="ctr" marR="1687195">
              <a:lnSpc>
                <a:spcPts val="1415"/>
              </a:lnSpc>
            </a:pPr>
            <a:r>
              <a:rPr dirty="0" sz="1850" spc="10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  <a:p>
            <a:pPr marL="477520">
              <a:lnSpc>
                <a:spcPct val="100000"/>
              </a:lnSpc>
              <a:spcBef>
                <a:spcPts val="1045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直接推导、直接推导序列、最</a:t>
            </a:r>
            <a:r>
              <a:rPr dirty="0" sz="2800" spc="5" b="1">
                <a:solidFill>
                  <a:srgbClr val="66FFFF"/>
                </a:solidFill>
                <a:latin typeface="宋体"/>
                <a:cs typeface="宋体"/>
              </a:rPr>
              <a:t>左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（右</a:t>
            </a:r>
            <a:r>
              <a:rPr dirty="0" sz="2800" spc="5" b="1">
                <a:solidFill>
                  <a:srgbClr val="66FFFF"/>
                </a:solidFill>
                <a:latin typeface="宋体"/>
                <a:cs typeface="宋体"/>
              </a:rPr>
              <a:t>）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推</a:t>
            </a:r>
            <a:r>
              <a:rPr dirty="0" sz="2800" spc="5" b="1">
                <a:solidFill>
                  <a:srgbClr val="66FFFF"/>
                </a:solidFill>
                <a:latin typeface="宋体"/>
                <a:cs typeface="宋体"/>
              </a:rPr>
              <a:t>导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、句</a:t>
            </a:r>
            <a:r>
              <a:rPr dirty="0" sz="2800" spc="5" b="1">
                <a:solidFill>
                  <a:srgbClr val="66FFFF"/>
                </a:solidFill>
                <a:latin typeface="宋体"/>
                <a:cs typeface="宋体"/>
              </a:rPr>
              <a:t>型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、</a:t>
            </a:r>
            <a:endParaRPr sz="2800">
              <a:latin typeface="宋体"/>
              <a:cs typeface="宋体"/>
            </a:endParaRPr>
          </a:p>
          <a:p>
            <a:pPr marL="1189355">
              <a:lnSpc>
                <a:spcPct val="100000"/>
              </a:lnSpc>
              <a:spcBef>
                <a:spcPts val="1680"/>
              </a:spcBef>
            </a:pP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句子、规范推导（句型、归约）</a:t>
            </a:r>
            <a:r>
              <a:rPr dirty="0" sz="2800" b="1">
                <a:solidFill>
                  <a:srgbClr val="66FFFF"/>
                </a:solidFill>
                <a:latin typeface="宋体"/>
                <a:cs typeface="宋体"/>
              </a:rPr>
              <a:t>、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递归</a:t>
            </a:r>
            <a:r>
              <a:rPr dirty="0" sz="2800" b="1">
                <a:solidFill>
                  <a:srgbClr val="66FFFF"/>
                </a:solidFill>
                <a:latin typeface="宋体"/>
                <a:cs typeface="宋体"/>
              </a:rPr>
              <a:t>、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等</a:t>
            </a:r>
            <a:r>
              <a:rPr dirty="0" sz="2800" b="1">
                <a:solidFill>
                  <a:srgbClr val="66FFFF"/>
                </a:solidFill>
                <a:latin typeface="宋体"/>
                <a:cs typeface="宋体"/>
              </a:rPr>
              <a:t>价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  <a:spcBef>
                <a:spcPts val="1685"/>
              </a:spcBef>
              <a:tabLst>
                <a:tab pos="114236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2.1.3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文法的表示方法</a:t>
            </a:r>
            <a:endParaRPr sz="3200">
              <a:latin typeface="宋体"/>
              <a:cs typeface="宋体"/>
            </a:endParaRPr>
          </a:p>
          <a:p>
            <a:pPr marL="1228090">
              <a:lnSpc>
                <a:spcPct val="100000"/>
              </a:lnSpc>
              <a:spcBef>
                <a:spcPts val="1830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BNF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、扩充的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BNF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语法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表示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899410" y="72644"/>
            <a:ext cx="3419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776732"/>
            <a:ext cx="471805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29335" algn="l"/>
              </a:tabLst>
            </a:pPr>
            <a:r>
              <a:rPr dirty="0" sz="3200">
                <a:latin typeface="Times New Roman"/>
                <a:cs typeface="Times New Roman"/>
              </a:rPr>
              <a:t>2.</a:t>
            </a:r>
            <a:r>
              <a:rPr dirty="0" sz="3200" spc="10">
                <a:latin typeface="Times New Roman"/>
                <a:cs typeface="Times New Roman"/>
              </a:rPr>
              <a:t>1</a:t>
            </a:r>
            <a:r>
              <a:rPr dirty="0" sz="3200">
                <a:latin typeface="Times New Roman"/>
                <a:cs typeface="Times New Roman"/>
              </a:rPr>
              <a:t>.4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宋体"/>
                <a:cs typeface="宋体"/>
              </a:rPr>
              <a:t>语法分析树与二义性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9993" y="1555496"/>
            <a:ext cx="4585335" cy="2128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0584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语法分析树、二义文法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9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tabLst>
                <a:tab pos="102870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2.1.5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文法和语言的类型</a:t>
            </a:r>
            <a:endParaRPr sz="3200">
              <a:latin typeface="宋体"/>
              <a:cs typeface="宋体"/>
            </a:endParaRPr>
          </a:p>
          <a:p>
            <a:pPr marL="1028700">
              <a:lnSpc>
                <a:spcPct val="100000"/>
              </a:lnSpc>
              <a:spcBef>
                <a:spcPts val="228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四类文法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0514" y="2266264"/>
            <a:ext cx="185483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b="1" i="1">
                <a:solidFill>
                  <a:srgbClr val="FFFF00"/>
                </a:solidFill>
                <a:latin typeface="Times New Roman"/>
                <a:cs typeface="Times New Roman"/>
              </a:rPr>
              <a:t>end</a:t>
            </a:r>
            <a:endParaRPr sz="9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1926" y="849629"/>
            <a:ext cx="28194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6115" algn="l"/>
              </a:tabLst>
            </a:pPr>
            <a:r>
              <a:rPr dirty="0" sz="2800" spc="-5">
                <a:solidFill>
                  <a:srgbClr val="FFFF00"/>
                </a:solidFill>
                <a:latin typeface="Wingdings"/>
                <a:cs typeface="Wingdings"/>
              </a:rPr>
              <a:t>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u="heavy" sz="2800" spc="-5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第二章第一节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99410" y="72644"/>
            <a:ext cx="3419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1473" y="292734"/>
            <a:ext cx="232092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FFFFFF"/>
                </a:solidFill>
                <a:latin typeface="微软雅黑"/>
                <a:cs typeface="微软雅黑"/>
              </a:rPr>
              <a:t>项目</a:t>
            </a:r>
            <a:r>
              <a:rPr dirty="0" sz="3200" spc="-5">
                <a:solidFill>
                  <a:srgbClr val="FFFFFF"/>
                </a:solidFill>
                <a:latin typeface="微软雅黑"/>
                <a:cs typeface="微软雅黑"/>
              </a:rPr>
              <a:t>v.s.</a:t>
            </a:r>
            <a:r>
              <a:rPr dirty="0" sz="3200">
                <a:solidFill>
                  <a:srgbClr val="FFFFFF"/>
                </a:solidFill>
                <a:latin typeface="微软雅黑"/>
                <a:cs typeface="微软雅黑"/>
              </a:rPr>
              <a:t>试验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6647" y="1179322"/>
            <a:ext cx="5645150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7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每个同学只可以选择一种类型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7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选择项目的同学联系班长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7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选择试验的同学不需要通知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班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94938" y="2908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1649" y="36449"/>
                </a:moveTo>
                <a:lnTo>
                  <a:pt x="153415" y="36449"/>
                </a:lnTo>
                <a:lnTo>
                  <a:pt x="156463" y="74422"/>
                </a:lnTo>
                <a:lnTo>
                  <a:pt x="137540" y="75941"/>
                </a:lnTo>
                <a:lnTo>
                  <a:pt x="140588" y="113919"/>
                </a:lnTo>
                <a:lnTo>
                  <a:pt x="249936" y="47878"/>
                </a:lnTo>
                <a:lnTo>
                  <a:pt x="221649" y="36449"/>
                </a:lnTo>
                <a:close/>
              </a:path>
              <a:path w="250189" h="114300">
                <a:moveTo>
                  <a:pt x="134491" y="37952"/>
                </a:moveTo>
                <a:lnTo>
                  <a:pt x="0" y="48641"/>
                </a:lnTo>
                <a:lnTo>
                  <a:pt x="3048" y="86741"/>
                </a:lnTo>
                <a:lnTo>
                  <a:pt x="137540" y="75941"/>
                </a:lnTo>
                <a:lnTo>
                  <a:pt x="134491" y="37952"/>
                </a:lnTo>
                <a:close/>
              </a:path>
              <a:path w="250189" h="114300">
                <a:moveTo>
                  <a:pt x="153415" y="36449"/>
                </a:moveTo>
                <a:lnTo>
                  <a:pt x="134491" y="37952"/>
                </a:lnTo>
                <a:lnTo>
                  <a:pt x="137540" y="75941"/>
                </a:lnTo>
                <a:lnTo>
                  <a:pt x="156463" y="74422"/>
                </a:lnTo>
                <a:lnTo>
                  <a:pt x="153415" y="36449"/>
                </a:lnTo>
                <a:close/>
              </a:path>
              <a:path w="250189" h="114300">
                <a:moveTo>
                  <a:pt x="131445" y="0"/>
                </a:moveTo>
                <a:lnTo>
                  <a:pt x="134491" y="37952"/>
                </a:lnTo>
                <a:lnTo>
                  <a:pt x="153415" y="36449"/>
                </a:lnTo>
                <a:lnTo>
                  <a:pt x="221649" y="36449"/>
                </a:lnTo>
                <a:lnTo>
                  <a:pt x="13144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6450" y="29082"/>
            <a:ext cx="248412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4938" y="2908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1649" y="36449"/>
                </a:moveTo>
                <a:lnTo>
                  <a:pt x="153415" y="36449"/>
                </a:lnTo>
                <a:lnTo>
                  <a:pt x="156463" y="74422"/>
                </a:lnTo>
                <a:lnTo>
                  <a:pt x="137540" y="75941"/>
                </a:lnTo>
                <a:lnTo>
                  <a:pt x="140588" y="113919"/>
                </a:lnTo>
                <a:lnTo>
                  <a:pt x="249936" y="47878"/>
                </a:lnTo>
                <a:lnTo>
                  <a:pt x="221649" y="36449"/>
                </a:lnTo>
                <a:close/>
              </a:path>
              <a:path w="250189" h="114300">
                <a:moveTo>
                  <a:pt x="134491" y="37952"/>
                </a:moveTo>
                <a:lnTo>
                  <a:pt x="0" y="48641"/>
                </a:lnTo>
                <a:lnTo>
                  <a:pt x="3048" y="86741"/>
                </a:lnTo>
                <a:lnTo>
                  <a:pt x="137540" y="75941"/>
                </a:lnTo>
                <a:lnTo>
                  <a:pt x="134491" y="37952"/>
                </a:lnTo>
                <a:close/>
              </a:path>
              <a:path w="250189" h="114300">
                <a:moveTo>
                  <a:pt x="153415" y="36449"/>
                </a:moveTo>
                <a:lnTo>
                  <a:pt x="134491" y="37952"/>
                </a:lnTo>
                <a:lnTo>
                  <a:pt x="137540" y="75941"/>
                </a:lnTo>
                <a:lnTo>
                  <a:pt x="156463" y="74422"/>
                </a:lnTo>
                <a:lnTo>
                  <a:pt x="153415" y="36449"/>
                </a:lnTo>
                <a:close/>
              </a:path>
              <a:path w="250189" h="114300">
                <a:moveTo>
                  <a:pt x="131445" y="0"/>
                </a:moveTo>
                <a:lnTo>
                  <a:pt x="134491" y="37952"/>
                </a:lnTo>
                <a:lnTo>
                  <a:pt x="153415" y="36449"/>
                </a:lnTo>
                <a:lnTo>
                  <a:pt x="221649" y="36449"/>
                </a:lnTo>
                <a:lnTo>
                  <a:pt x="13144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3091" y="27940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5085" y="36702"/>
                </a:moveTo>
                <a:lnTo>
                  <a:pt x="188341" y="36702"/>
                </a:lnTo>
                <a:lnTo>
                  <a:pt x="191008" y="74675"/>
                </a:lnTo>
                <a:lnTo>
                  <a:pt x="172083" y="76002"/>
                </a:lnTo>
                <a:lnTo>
                  <a:pt x="174752" y="114045"/>
                </a:lnTo>
                <a:lnTo>
                  <a:pt x="284734" y="49021"/>
                </a:lnTo>
                <a:lnTo>
                  <a:pt x="255085" y="36702"/>
                </a:lnTo>
                <a:close/>
              </a:path>
              <a:path w="285114" h="114300">
                <a:moveTo>
                  <a:pt x="169418" y="38017"/>
                </a:moveTo>
                <a:lnTo>
                  <a:pt x="0" y="49783"/>
                </a:lnTo>
                <a:lnTo>
                  <a:pt x="2540" y="87883"/>
                </a:lnTo>
                <a:lnTo>
                  <a:pt x="172083" y="76002"/>
                </a:lnTo>
                <a:lnTo>
                  <a:pt x="169418" y="38017"/>
                </a:lnTo>
                <a:close/>
              </a:path>
              <a:path w="285114" h="114300">
                <a:moveTo>
                  <a:pt x="188341" y="36702"/>
                </a:moveTo>
                <a:lnTo>
                  <a:pt x="169418" y="38017"/>
                </a:lnTo>
                <a:lnTo>
                  <a:pt x="172083" y="76002"/>
                </a:lnTo>
                <a:lnTo>
                  <a:pt x="191008" y="74675"/>
                </a:lnTo>
                <a:lnTo>
                  <a:pt x="188341" y="36702"/>
                </a:lnTo>
                <a:close/>
              </a:path>
              <a:path w="285114" h="114300">
                <a:moveTo>
                  <a:pt x="166750" y="0"/>
                </a:moveTo>
                <a:lnTo>
                  <a:pt x="169418" y="38017"/>
                </a:lnTo>
                <a:lnTo>
                  <a:pt x="188341" y="36702"/>
                </a:lnTo>
                <a:lnTo>
                  <a:pt x="255085" y="36702"/>
                </a:lnTo>
                <a:lnTo>
                  <a:pt x="166750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0"/>
            <a:ext cx="9143238" cy="4777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458723"/>
            <a:ext cx="9143365" cy="38100"/>
          </a:xfrm>
          <a:custGeom>
            <a:avLst/>
            <a:gdLst/>
            <a:ahLst/>
            <a:cxnLst/>
            <a:rect l="l" t="t" r="r" b="b"/>
            <a:pathLst>
              <a:path w="9143365" h="38100">
                <a:moveTo>
                  <a:pt x="0" y="38100"/>
                </a:moveTo>
                <a:lnTo>
                  <a:pt x="9143238" y="38100"/>
                </a:lnTo>
                <a:lnTo>
                  <a:pt x="9143238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0"/>
            <a:ext cx="0" cy="478155"/>
          </a:xfrm>
          <a:custGeom>
            <a:avLst/>
            <a:gdLst/>
            <a:ahLst/>
            <a:cxnLst/>
            <a:rect l="l" t="t" r="r" b="b"/>
            <a:pathLst>
              <a:path w="0" h="478155">
                <a:moveTo>
                  <a:pt x="0" y="0"/>
                </a:moveTo>
                <a:lnTo>
                  <a:pt x="0" y="477774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54939" y="53721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53966" y="53721"/>
            <a:ext cx="17526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11848" y="53721"/>
            <a:ext cx="2517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2470" algn="l"/>
              </a:tabLst>
            </a:pPr>
            <a:r>
              <a:rPr dirty="0" sz="2000" spc="5" b="1">
                <a:solidFill>
                  <a:srgbClr val="A15100"/>
                </a:solidFill>
                <a:latin typeface="Times New Roman"/>
                <a:cs typeface="Times New Roman"/>
              </a:rPr>
              <a:t>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</a:t>
            </a:r>
            <a:r>
              <a:rPr dirty="0" sz="2000" spc="10" b="1">
                <a:solidFill>
                  <a:srgbClr val="A15100"/>
                </a:solidFill>
                <a:latin typeface="Times New Roman"/>
                <a:cs typeface="Times New Roman"/>
              </a:rPr>
              <a:t>1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.4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语法树与二义性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94938" y="181482"/>
            <a:ext cx="249936" cy="1139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43091" y="180339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5085" y="36702"/>
                </a:moveTo>
                <a:lnTo>
                  <a:pt x="188341" y="36702"/>
                </a:lnTo>
                <a:lnTo>
                  <a:pt x="191008" y="74675"/>
                </a:lnTo>
                <a:lnTo>
                  <a:pt x="172083" y="76002"/>
                </a:lnTo>
                <a:lnTo>
                  <a:pt x="174752" y="114045"/>
                </a:lnTo>
                <a:lnTo>
                  <a:pt x="284734" y="49021"/>
                </a:lnTo>
                <a:lnTo>
                  <a:pt x="255085" y="36702"/>
                </a:lnTo>
                <a:close/>
              </a:path>
              <a:path w="285114" h="114300">
                <a:moveTo>
                  <a:pt x="169418" y="38017"/>
                </a:moveTo>
                <a:lnTo>
                  <a:pt x="0" y="49783"/>
                </a:lnTo>
                <a:lnTo>
                  <a:pt x="2540" y="87883"/>
                </a:lnTo>
                <a:lnTo>
                  <a:pt x="172083" y="76002"/>
                </a:lnTo>
                <a:lnTo>
                  <a:pt x="169418" y="38017"/>
                </a:lnTo>
                <a:close/>
              </a:path>
              <a:path w="285114" h="114300">
                <a:moveTo>
                  <a:pt x="188341" y="36702"/>
                </a:moveTo>
                <a:lnTo>
                  <a:pt x="169418" y="38017"/>
                </a:lnTo>
                <a:lnTo>
                  <a:pt x="172083" y="76002"/>
                </a:lnTo>
                <a:lnTo>
                  <a:pt x="191008" y="74675"/>
                </a:lnTo>
                <a:lnTo>
                  <a:pt x="188341" y="36702"/>
                </a:lnTo>
                <a:close/>
              </a:path>
              <a:path w="285114" h="114300">
                <a:moveTo>
                  <a:pt x="166750" y="0"/>
                </a:moveTo>
                <a:lnTo>
                  <a:pt x="169418" y="38017"/>
                </a:lnTo>
                <a:lnTo>
                  <a:pt x="188341" y="36702"/>
                </a:lnTo>
                <a:lnTo>
                  <a:pt x="255085" y="36702"/>
                </a:lnTo>
                <a:lnTo>
                  <a:pt x="166750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1" y="867283"/>
            <a:ext cx="9144000" cy="5842635"/>
          </a:xfrm>
          <a:custGeom>
            <a:avLst/>
            <a:gdLst/>
            <a:ahLst/>
            <a:cxnLst/>
            <a:rect l="l" t="t" r="r" b="b"/>
            <a:pathLst>
              <a:path w="9144000" h="5842634">
                <a:moveTo>
                  <a:pt x="8364982" y="0"/>
                </a:moveTo>
                <a:lnTo>
                  <a:pt x="8365109" y="389381"/>
                </a:lnTo>
                <a:lnTo>
                  <a:pt x="389483" y="389381"/>
                </a:lnTo>
                <a:lnTo>
                  <a:pt x="340626" y="392418"/>
                </a:lnTo>
                <a:lnTo>
                  <a:pt x="293580" y="401284"/>
                </a:lnTo>
                <a:lnTo>
                  <a:pt x="248710" y="415613"/>
                </a:lnTo>
                <a:lnTo>
                  <a:pt x="206382" y="435040"/>
                </a:lnTo>
                <a:lnTo>
                  <a:pt x="166960" y="459198"/>
                </a:lnTo>
                <a:lnTo>
                  <a:pt x="130809" y="487722"/>
                </a:lnTo>
                <a:lnTo>
                  <a:pt x="98294" y="520246"/>
                </a:lnTo>
                <a:lnTo>
                  <a:pt x="69780" y="556403"/>
                </a:lnTo>
                <a:lnTo>
                  <a:pt x="45632" y="595829"/>
                </a:lnTo>
                <a:lnTo>
                  <a:pt x="26215" y="638156"/>
                </a:lnTo>
                <a:lnTo>
                  <a:pt x="11894" y="683019"/>
                </a:lnTo>
                <a:lnTo>
                  <a:pt x="3034" y="730053"/>
                </a:lnTo>
                <a:lnTo>
                  <a:pt x="0" y="778890"/>
                </a:lnTo>
                <a:lnTo>
                  <a:pt x="0" y="5452643"/>
                </a:lnTo>
                <a:lnTo>
                  <a:pt x="3034" y="5501500"/>
                </a:lnTo>
                <a:lnTo>
                  <a:pt x="11894" y="5548546"/>
                </a:lnTo>
                <a:lnTo>
                  <a:pt x="26215" y="5593416"/>
                </a:lnTo>
                <a:lnTo>
                  <a:pt x="45632" y="5635744"/>
                </a:lnTo>
                <a:lnTo>
                  <a:pt x="69780" y="5675166"/>
                </a:lnTo>
                <a:lnTo>
                  <a:pt x="98294" y="5711317"/>
                </a:lnTo>
                <a:lnTo>
                  <a:pt x="130809" y="5743832"/>
                </a:lnTo>
                <a:lnTo>
                  <a:pt x="166960" y="5772346"/>
                </a:lnTo>
                <a:lnTo>
                  <a:pt x="206382" y="5796494"/>
                </a:lnTo>
                <a:lnTo>
                  <a:pt x="248710" y="5815911"/>
                </a:lnTo>
                <a:lnTo>
                  <a:pt x="293580" y="5830232"/>
                </a:lnTo>
                <a:lnTo>
                  <a:pt x="340626" y="5839092"/>
                </a:lnTo>
                <a:lnTo>
                  <a:pt x="389483" y="5842127"/>
                </a:lnTo>
                <a:lnTo>
                  <a:pt x="438338" y="5839092"/>
                </a:lnTo>
                <a:lnTo>
                  <a:pt x="485381" y="5830232"/>
                </a:lnTo>
                <a:lnTo>
                  <a:pt x="530249" y="5815911"/>
                </a:lnTo>
                <a:lnTo>
                  <a:pt x="572576" y="5796494"/>
                </a:lnTo>
                <a:lnTo>
                  <a:pt x="611997" y="5772346"/>
                </a:lnTo>
                <a:lnTo>
                  <a:pt x="648147" y="5743832"/>
                </a:lnTo>
                <a:lnTo>
                  <a:pt x="680661" y="5711317"/>
                </a:lnTo>
                <a:lnTo>
                  <a:pt x="709174" y="5675166"/>
                </a:lnTo>
                <a:lnTo>
                  <a:pt x="733322" y="5635744"/>
                </a:lnTo>
                <a:lnTo>
                  <a:pt x="752738" y="5593416"/>
                </a:lnTo>
                <a:lnTo>
                  <a:pt x="767059" y="5548546"/>
                </a:lnTo>
                <a:lnTo>
                  <a:pt x="775919" y="5501500"/>
                </a:lnTo>
                <a:lnTo>
                  <a:pt x="778954" y="5452643"/>
                </a:lnTo>
                <a:lnTo>
                  <a:pt x="778954" y="5063172"/>
                </a:lnTo>
                <a:lnTo>
                  <a:pt x="8754491" y="5063172"/>
                </a:lnTo>
                <a:lnTo>
                  <a:pt x="8803353" y="5060137"/>
                </a:lnTo>
                <a:lnTo>
                  <a:pt x="8850404" y="5051277"/>
                </a:lnTo>
                <a:lnTo>
                  <a:pt x="8895277" y="5036957"/>
                </a:lnTo>
                <a:lnTo>
                  <a:pt x="8937609" y="5017540"/>
                </a:lnTo>
                <a:lnTo>
                  <a:pt x="8977033" y="4993394"/>
                </a:lnTo>
                <a:lnTo>
                  <a:pt x="9013186" y="4964881"/>
                </a:lnTo>
                <a:lnTo>
                  <a:pt x="9045703" y="4932369"/>
                </a:lnTo>
                <a:lnTo>
                  <a:pt x="9074217" y="4896221"/>
                </a:lnTo>
                <a:lnTo>
                  <a:pt x="9098366" y="4856802"/>
                </a:lnTo>
                <a:lnTo>
                  <a:pt x="9117783" y="4814479"/>
                </a:lnTo>
                <a:lnTo>
                  <a:pt x="9132105" y="4769615"/>
                </a:lnTo>
                <a:lnTo>
                  <a:pt x="9140965" y="4722576"/>
                </a:lnTo>
                <a:lnTo>
                  <a:pt x="9144000" y="4673727"/>
                </a:lnTo>
                <a:lnTo>
                  <a:pt x="9144000" y="1168400"/>
                </a:lnTo>
                <a:lnTo>
                  <a:pt x="389483" y="1168400"/>
                </a:lnTo>
                <a:lnTo>
                  <a:pt x="389483" y="778890"/>
                </a:lnTo>
                <a:lnTo>
                  <a:pt x="394626" y="734236"/>
                </a:lnTo>
                <a:lnTo>
                  <a:pt x="409276" y="693251"/>
                </a:lnTo>
                <a:lnTo>
                  <a:pt x="432265" y="657103"/>
                </a:lnTo>
                <a:lnTo>
                  <a:pt x="462422" y="626957"/>
                </a:lnTo>
                <a:lnTo>
                  <a:pt x="498581" y="603980"/>
                </a:lnTo>
                <a:lnTo>
                  <a:pt x="539571" y="589339"/>
                </a:lnTo>
                <a:lnTo>
                  <a:pt x="584225" y="584200"/>
                </a:lnTo>
                <a:lnTo>
                  <a:pt x="9144000" y="584200"/>
                </a:lnTo>
                <a:lnTo>
                  <a:pt x="9144000" y="389508"/>
                </a:lnTo>
                <a:lnTo>
                  <a:pt x="8754491" y="389508"/>
                </a:lnTo>
                <a:lnTo>
                  <a:pt x="8754491" y="194690"/>
                </a:lnTo>
                <a:lnTo>
                  <a:pt x="8559800" y="194690"/>
                </a:lnTo>
                <a:lnTo>
                  <a:pt x="8515138" y="189551"/>
                </a:lnTo>
                <a:lnTo>
                  <a:pt x="8474135" y="174910"/>
                </a:lnTo>
                <a:lnTo>
                  <a:pt x="8437962" y="151933"/>
                </a:lnTo>
                <a:lnTo>
                  <a:pt x="8407789" y="121787"/>
                </a:lnTo>
                <a:lnTo>
                  <a:pt x="8384788" y="85639"/>
                </a:lnTo>
                <a:lnTo>
                  <a:pt x="8370128" y="44654"/>
                </a:lnTo>
                <a:lnTo>
                  <a:pt x="8364982" y="0"/>
                </a:lnTo>
                <a:close/>
              </a:path>
              <a:path w="9144000" h="5842634">
                <a:moveTo>
                  <a:pt x="9144000" y="584200"/>
                </a:moveTo>
                <a:lnTo>
                  <a:pt x="584225" y="584200"/>
                </a:lnTo>
                <a:lnTo>
                  <a:pt x="628874" y="589339"/>
                </a:lnTo>
                <a:lnTo>
                  <a:pt x="669861" y="603980"/>
                </a:lnTo>
                <a:lnTo>
                  <a:pt x="706017" y="626957"/>
                </a:lnTo>
                <a:lnTo>
                  <a:pt x="736173" y="657103"/>
                </a:lnTo>
                <a:lnTo>
                  <a:pt x="759161" y="693251"/>
                </a:lnTo>
                <a:lnTo>
                  <a:pt x="773811" y="734236"/>
                </a:lnTo>
                <a:lnTo>
                  <a:pt x="778954" y="778890"/>
                </a:lnTo>
                <a:lnTo>
                  <a:pt x="775919" y="827753"/>
                </a:lnTo>
                <a:lnTo>
                  <a:pt x="767059" y="874804"/>
                </a:lnTo>
                <a:lnTo>
                  <a:pt x="752738" y="919677"/>
                </a:lnTo>
                <a:lnTo>
                  <a:pt x="733322" y="962009"/>
                </a:lnTo>
                <a:lnTo>
                  <a:pt x="709174" y="1001433"/>
                </a:lnTo>
                <a:lnTo>
                  <a:pt x="680661" y="1037586"/>
                </a:lnTo>
                <a:lnTo>
                  <a:pt x="648147" y="1070103"/>
                </a:lnTo>
                <a:lnTo>
                  <a:pt x="611997" y="1098617"/>
                </a:lnTo>
                <a:lnTo>
                  <a:pt x="572576" y="1122766"/>
                </a:lnTo>
                <a:lnTo>
                  <a:pt x="530249" y="1142183"/>
                </a:lnTo>
                <a:lnTo>
                  <a:pt x="485381" y="1156505"/>
                </a:lnTo>
                <a:lnTo>
                  <a:pt x="438338" y="1165365"/>
                </a:lnTo>
                <a:lnTo>
                  <a:pt x="389483" y="1168400"/>
                </a:lnTo>
                <a:lnTo>
                  <a:pt x="9144000" y="1168400"/>
                </a:lnTo>
                <a:lnTo>
                  <a:pt x="9144000" y="584200"/>
                </a:lnTo>
                <a:close/>
              </a:path>
              <a:path w="9144000" h="5842634">
                <a:moveTo>
                  <a:pt x="9144000" y="0"/>
                </a:moveTo>
                <a:lnTo>
                  <a:pt x="9140965" y="48862"/>
                </a:lnTo>
                <a:lnTo>
                  <a:pt x="9132105" y="95913"/>
                </a:lnTo>
                <a:lnTo>
                  <a:pt x="9117783" y="140786"/>
                </a:lnTo>
                <a:lnTo>
                  <a:pt x="9098366" y="183118"/>
                </a:lnTo>
                <a:lnTo>
                  <a:pt x="9074217" y="222542"/>
                </a:lnTo>
                <a:lnTo>
                  <a:pt x="9045703" y="258695"/>
                </a:lnTo>
                <a:lnTo>
                  <a:pt x="9013186" y="291212"/>
                </a:lnTo>
                <a:lnTo>
                  <a:pt x="8977033" y="319726"/>
                </a:lnTo>
                <a:lnTo>
                  <a:pt x="8937609" y="343875"/>
                </a:lnTo>
                <a:lnTo>
                  <a:pt x="8895277" y="363292"/>
                </a:lnTo>
                <a:lnTo>
                  <a:pt x="8850404" y="377614"/>
                </a:lnTo>
                <a:lnTo>
                  <a:pt x="8803353" y="386474"/>
                </a:lnTo>
                <a:lnTo>
                  <a:pt x="8754491" y="389508"/>
                </a:lnTo>
                <a:lnTo>
                  <a:pt x="9144000" y="389508"/>
                </a:lnTo>
                <a:lnTo>
                  <a:pt x="9144000" y="0"/>
                </a:lnTo>
                <a:close/>
              </a:path>
              <a:path w="9144000" h="5842634">
                <a:moveTo>
                  <a:pt x="8754491" y="0"/>
                </a:moveTo>
                <a:lnTo>
                  <a:pt x="8749351" y="44654"/>
                </a:lnTo>
                <a:lnTo>
                  <a:pt x="8734710" y="85639"/>
                </a:lnTo>
                <a:lnTo>
                  <a:pt x="8711733" y="121787"/>
                </a:lnTo>
                <a:lnTo>
                  <a:pt x="8681587" y="151933"/>
                </a:lnTo>
                <a:lnTo>
                  <a:pt x="8645439" y="174910"/>
                </a:lnTo>
                <a:lnTo>
                  <a:pt x="8604454" y="189551"/>
                </a:lnTo>
                <a:lnTo>
                  <a:pt x="8559800" y="194690"/>
                </a:lnTo>
                <a:lnTo>
                  <a:pt x="8754491" y="194690"/>
                </a:lnTo>
                <a:lnTo>
                  <a:pt x="875449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0245" y="477773"/>
            <a:ext cx="8754745" cy="1558290"/>
          </a:xfrm>
          <a:custGeom>
            <a:avLst/>
            <a:gdLst/>
            <a:ahLst/>
            <a:cxnLst/>
            <a:rect l="l" t="t" r="r" b="b"/>
            <a:pathLst>
              <a:path w="8754745" h="1558289">
                <a:moveTo>
                  <a:pt x="194741" y="973709"/>
                </a:moveTo>
                <a:lnTo>
                  <a:pt x="150088" y="978848"/>
                </a:lnTo>
                <a:lnTo>
                  <a:pt x="109097" y="993489"/>
                </a:lnTo>
                <a:lnTo>
                  <a:pt x="72939" y="1016466"/>
                </a:lnTo>
                <a:lnTo>
                  <a:pt x="42781" y="1046612"/>
                </a:lnTo>
                <a:lnTo>
                  <a:pt x="19793" y="1082760"/>
                </a:lnTo>
                <a:lnTo>
                  <a:pt x="5143" y="1123745"/>
                </a:lnTo>
                <a:lnTo>
                  <a:pt x="0" y="1168400"/>
                </a:lnTo>
                <a:lnTo>
                  <a:pt x="0" y="1557909"/>
                </a:lnTo>
                <a:lnTo>
                  <a:pt x="48854" y="1554874"/>
                </a:lnTo>
                <a:lnTo>
                  <a:pt x="95898" y="1546014"/>
                </a:lnTo>
                <a:lnTo>
                  <a:pt x="140765" y="1531692"/>
                </a:lnTo>
                <a:lnTo>
                  <a:pt x="183092" y="1512275"/>
                </a:lnTo>
                <a:lnTo>
                  <a:pt x="222513" y="1488126"/>
                </a:lnTo>
                <a:lnTo>
                  <a:pt x="258663" y="1459612"/>
                </a:lnTo>
                <a:lnTo>
                  <a:pt x="291177" y="1427095"/>
                </a:lnTo>
                <a:lnTo>
                  <a:pt x="319690" y="1390942"/>
                </a:lnTo>
                <a:lnTo>
                  <a:pt x="343838" y="1351518"/>
                </a:lnTo>
                <a:lnTo>
                  <a:pt x="363255" y="1309186"/>
                </a:lnTo>
                <a:lnTo>
                  <a:pt x="377576" y="1264313"/>
                </a:lnTo>
                <a:lnTo>
                  <a:pt x="386436" y="1217262"/>
                </a:lnTo>
                <a:lnTo>
                  <a:pt x="389470" y="1168400"/>
                </a:lnTo>
                <a:lnTo>
                  <a:pt x="384327" y="1123745"/>
                </a:lnTo>
                <a:lnTo>
                  <a:pt x="369678" y="1082760"/>
                </a:lnTo>
                <a:lnTo>
                  <a:pt x="346690" y="1046612"/>
                </a:lnTo>
                <a:lnTo>
                  <a:pt x="316533" y="1016466"/>
                </a:lnTo>
                <a:lnTo>
                  <a:pt x="280377" y="993489"/>
                </a:lnTo>
                <a:lnTo>
                  <a:pt x="239390" y="978848"/>
                </a:lnTo>
                <a:lnTo>
                  <a:pt x="194741" y="973709"/>
                </a:lnTo>
                <a:close/>
              </a:path>
              <a:path w="8754745" h="1558289">
                <a:moveTo>
                  <a:pt x="8754516" y="389509"/>
                </a:moveTo>
                <a:lnTo>
                  <a:pt x="8365007" y="389509"/>
                </a:lnTo>
                <a:lnTo>
                  <a:pt x="8365007" y="778890"/>
                </a:lnTo>
                <a:lnTo>
                  <a:pt x="8413870" y="775856"/>
                </a:lnTo>
                <a:lnTo>
                  <a:pt x="8460920" y="766996"/>
                </a:lnTo>
                <a:lnTo>
                  <a:pt x="8505794" y="752676"/>
                </a:lnTo>
                <a:lnTo>
                  <a:pt x="8548125" y="733261"/>
                </a:lnTo>
                <a:lnTo>
                  <a:pt x="8587550" y="709116"/>
                </a:lnTo>
                <a:lnTo>
                  <a:pt x="8623703" y="680606"/>
                </a:lnTo>
                <a:lnTo>
                  <a:pt x="8656219" y="648097"/>
                </a:lnTo>
                <a:lnTo>
                  <a:pt x="8684734" y="611954"/>
                </a:lnTo>
                <a:lnTo>
                  <a:pt x="8708882" y="572542"/>
                </a:lnTo>
                <a:lnTo>
                  <a:pt x="8728300" y="530226"/>
                </a:lnTo>
                <a:lnTo>
                  <a:pt x="8742621" y="485372"/>
                </a:lnTo>
                <a:lnTo>
                  <a:pt x="8751481" y="438344"/>
                </a:lnTo>
                <a:lnTo>
                  <a:pt x="8754516" y="389509"/>
                </a:lnTo>
                <a:close/>
              </a:path>
              <a:path w="8754745" h="1558289">
                <a:moveTo>
                  <a:pt x="8365007" y="0"/>
                </a:moveTo>
                <a:lnTo>
                  <a:pt x="8316144" y="3034"/>
                </a:lnTo>
                <a:lnTo>
                  <a:pt x="8269094" y="11894"/>
                </a:lnTo>
                <a:lnTo>
                  <a:pt x="8224220" y="26216"/>
                </a:lnTo>
                <a:lnTo>
                  <a:pt x="8181889" y="45633"/>
                </a:lnTo>
                <a:lnTo>
                  <a:pt x="8142464" y="69782"/>
                </a:lnTo>
                <a:lnTo>
                  <a:pt x="8106311" y="98296"/>
                </a:lnTo>
                <a:lnTo>
                  <a:pt x="8073795" y="130813"/>
                </a:lnTo>
                <a:lnTo>
                  <a:pt x="8045280" y="166966"/>
                </a:lnTo>
                <a:lnTo>
                  <a:pt x="8021131" y="206390"/>
                </a:lnTo>
                <a:lnTo>
                  <a:pt x="8001714" y="248722"/>
                </a:lnTo>
                <a:lnTo>
                  <a:pt x="7987393" y="293595"/>
                </a:lnTo>
                <a:lnTo>
                  <a:pt x="7978532" y="340646"/>
                </a:lnTo>
                <a:lnTo>
                  <a:pt x="7975498" y="389509"/>
                </a:lnTo>
                <a:lnTo>
                  <a:pt x="7980645" y="434163"/>
                </a:lnTo>
                <a:lnTo>
                  <a:pt x="7995304" y="475148"/>
                </a:lnTo>
                <a:lnTo>
                  <a:pt x="8018305" y="511296"/>
                </a:lnTo>
                <a:lnTo>
                  <a:pt x="8048478" y="541442"/>
                </a:lnTo>
                <a:lnTo>
                  <a:pt x="8084651" y="564419"/>
                </a:lnTo>
                <a:lnTo>
                  <a:pt x="8125654" y="579060"/>
                </a:lnTo>
                <a:lnTo>
                  <a:pt x="8170316" y="584200"/>
                </a:lnTo>
                <a:lnTo>
                  <a:pt x="8214971" y="579060"/>
                </a:lnTo>
                <a:lnTo>
                  <a:pt x="8255955" y="564419"/>
                </a:lnTo>
                <a:lnTo>
                  <a:pt x="8292104" y="541442"/>
                </a:lnTo>
                <a:lnTo>
                  <a:pt x="8322249" y="511296"/>
                </a:lnTo>
                <a:lnTo>
                  <a:pt x="8345226" y="475148"/>
                </a:lnTo>
                <a:lnTo>
                  <a:pt x="8359867" y="434163"/>
                </a:lnTo>
                <a:lnTo>
                  <a:pt x="8365007" y="389509"/>
                </a:lnTo>
                <a:lnTo>
                  <a:pt x="8754516" y="389509"/>
                </a:lnTo>
                <a:lnTo>
                  <a:pt x="8751481" y="340646"/>
                </a:lnTo>
                <a:lnTo>
                  <a:pt x="8742621" y="293595"/>
                </a:lnTo>
                <a:lnTo>
                  <a:pt x="8728300" y="248722"/>
                </a:lnTo>
                <a:lnTo>
                  <a:pt x="8708882" y="206390"/>
                </a:lnTo>
                <a:lnTo>
                  <a:pt x="8684734" y="166966"/>
                </a:lnTo>
                <a:lnTo>
                  <a:pt x="8656219" y="130813"/>
                </a:lnTo>
                <a:lnTo>
                  <a:pt x="8623703" y="98296"/>
                </a:lnTo>
                <a:lnTo>
                  <a:pt x="8587550" y="69782"/>
                </a:lnTo>
                <a:lnTo>
                  <a:pt x="8548125" y="45633"/>
                </a:lnTo>
                <a:lnTo>
                  <a:pt x="8505794" y="26216"/>
                </a:lnTo>
                <a:lnTo>
                  <a:pt x="8460920" y="11894"/>
                </a:lnTo>
                <a:lnTo>
                  <a:pt x="8413870" y="3034"/>
                </a:lnTo>
                <a:lnTo>
                  <a:pt x="8365007" y="0"/>
                </a:lnTo>
                <a:close/>
              </a:path>
            </a:pathLst>
          </a:custGeom>
          <a:solidFill>
            <a:srgbClr val="37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2" y="477773"/>
            <a:ext cx="9144635" cy="6231890"/>
          </a:xfrm>
          <a:custGeom>
            <a:avLst/>
            <a:gdLst/>
            <a:ahLst/>
            <a:cxnLst/>
            <a:rect l="l" t="t" r="r" b="b"/>
            <a:pathLst>
              <a:path w="9144635" h="6231890">
                <a:moveTo>
                  <a:pt x="9" y="1168400"/>
                </a:moveTo>
                <a:lnTo>
                  <a:pt x="3044" y="1119562"/>
                </a:lnTo>
                <a:lnTo>
                  <a:pt x="11904" y="1072528"/>
                </a:lnTo>
                <a:lnTo>
                  <a:pt x="26225" y="1027665"/>
                </a:lnTo>
                <a:lnTo>
                  <a:pt x="45642" y="985338"/>
                </a:lnTo>
                <a:lnTo>
                  <a:pt x="69790" y="945912"/>
                </a:lnTo>
                <a:lnTo>
                  <a:pt x="98304" y="909755"/>
                </a:lnTo>
                <a:lnTo>
                  <a:pt x="130819" y="877231"/>
                </a:lnTo>
                <a:lnTo>
                  <a:pt x="166970" y="848707"/>
                </a:lnTo>
                <a:lnTo>
                  <a:pt x="206392" y="824549"/>
                </a:lnTo>
                <a:lnTo>
                  <a:pt x="248720" y="805122"/>
                </a:lnTo>
                <a:lnTo>
                  <a:pt x="293590" y="790793"/>
                </a:lnTo>
                <a:lnTo>
                  <a:pt x="340636" y="781927"/>
                </a:lnTo>
                <a:lnTo>
                  <a:pt x="389493" y="778890"/>
                </a:lnTo>
                <a:lnTo>
                  <a:pt x="8365118" y="778890"/>
                </a:lnTo>
                <a:lnTo>
                  <a:pt x="8365118" y="389509"/>
                </a:lnTo>
                <a:lnTo>
                  <a:pt x="8368153" y="340646"/>
                </a:lnTo>
                <a:lnTo>
                  <a:pt x="8377013" y="293595"/>
                </a:lnTo>
                <a:lnTo>
                  <a:pt x="8391333" y="248722"/>
                </a:lnTo>
                <a:lnTo>
                  <a:pt x="8410748" y="206390"/>
                </a:lnTo>
                <a:lnTo>
                  <a:pt x="8434893" y="166966"/>
                </a:lnTo>
                <a:lnTo>
                  <a:pt x="8463403" y="130813"/>
                </a:lnTo>
                <a:lnTo>
                  <a:pt x="8495912" y="98296"/>
                </a:lnTo>
                <a:lnTo>
                  <a:pt x="8532055" y="69782"/>
                </a:lnTo>
                <a:lnTo>
                  <a:pt x="8571467" y="45633"/>
                </a:lnTo>
                <a:lnTo>
                  <a:pt x="8613783" y="26216"/>
                </a:lnTo>
                <a:lnTo>
                  <a:pt x="8658637" y="11894"/>
                </a:lnTo>
                <a:lnTo>
                  <a:pt x="8705665" y="3034"/>
                </a:lnTo>
                <a:lnTo>
                  <a:pt x="8754500" y="0"/>
                </a:lnTo>
                <a:lnTo>
                  <a:pt x="8803363" y="3034"/>
                </a:lnTo>
                <a:lnTo>
                  <a:pt x="8850414" y="11894"/>
                </a:lnTo>
                <a:lnTo>
                  <a:pt x="8895287" y="26216"/>
                </a:lnTo>
                <a:lnTo>
                  <a:pt x="8937619" y="45633"/>
                </a:lnTo>
                <a:lnTo>
                  <a:pt x="8977043" y="69782"/>
                </a:lnTo>
                <a:lnTo>
                  <a:pt x="9013196" y="98296"/>
                </a:lnTo>
                <a:lnTo>
                  <a:pt x="9045713" y="130813"/>
                </a:lnTo>
                <a:lnTo>
                  <a:pt x="9074227" y="166966"/>
                </a:lnTo>
                <a:lnTo>
                  <a:pt x="9098376" y="206390"/>
                </a:lnTo>
                <a:lnTo>
                  <a:pt x="9117793" y="248722"/>
                </a:lnTo>
                <a:lnTo>
                  <a:pt x="9132115" y="293595"/>
                </a:lnTo>
                <a:lnTo>
                  <a:pt x="9140975" y="340646"/>
                </a:lnTo>
                <a:lnTo>
                  <a:pt x="9144009" y="389509"/>
                </a:lnTo>
                <a:lnTo>
                  <a:pt x="9144009" y="5063236"/>
                </a:lnTo>
                <a:lnTo>
                  <a:pt x="9140975" y="5112085"/>
                </a:lnTo>
                <a:lnTo>
                  <a:pt x="9132115" y="5159124"/>
                </a:lnTo>
                <a:lnTo>
                  <a:pt x="9117793" y="5203988"/>
                </a:lnTo>
                <a:lnTo>
                  <a:pt x="9098376" y="5246311"/>
                </a:lnTo>
                <a:lnTo>
                  <a:pt x="9074227" y="5285730"/>
                </a:lnTo>
                <a:lnTo>
                  <a:pt x="9045713" y="5321878"/>
                </a:lnTo>
                <a:lnTo>
                  <a:pt x="9013196" y="5354390"/>
                </a:lnTo>
                <a:lnTo>
                  <a:pt x="8977043" y="5382903"/>
                </a:lnTo>
                <a:lnTo>
                  <a:pt x="8937619" y="5407049"/>
                </a:lnTo>
                <a:lnTo>
                  <a:pt x="8895287" y="5426466"/>
                </a:lnTo>
                <a:lnTo>
                  <a:pt x="8850414" y="5440786"/>
                </a:lnTo>
                <a:lnTo>
                  <a:pt x="8803363" y="5449646"/>
                </a:lnTo>
                <a:lnTo>
                  <a:pt x="8754500" y="5452681"/>
                </a:lnTo>
                <a:lnTo>
                  <a:pt x="778964" y="5452681"/>
                </a:lnTo>
                <a:lnTo>
                  <a:pt x="778964" y="5842152"/>
                </a:lnTo>
                <a:lnTo>
                  <a:pt x="775929" y="5891009"/>
                </a:lnTo>
                <a:lnTo>
                  <a:pt x="767068" y="5938055"/>
                </a:lnTo>
                <a:lnTo>
                  <a:pt x="752747" y="5982925"/>
                </a:lnTo>
                <a:lnTo>
                  <a:pt x="733329" y="6025253"/>
                </a:lnTo>
                <a:lnTo>
                  <a:pt x="709180" y="6064675"/>
                </a:lnTo>
                <a:lnTo>
                  <a:pt x="680665" y="6100826"/>
                </a:lnTo>
                <a:lnTo>
                  <a:pt x="648150" y="6133341"/>
                </a:lnTo>
                <a:lnTo>
                  <a:pt x="611998" y="6161855"/>
                </a:lnTo>
                <a:lnTo>
                  <a:pt x="572576" y="6186003"/>
                </a:lnTo>
                <a:lnTo>
                  <a:pt x="530248" y="6205420"/>
                </a:lnTo>
                <a:lnTo>
                  <a:pt x="485379" y="6219741"/>
                </a:lnTo>
                <a:lnTo>
                  <a:pt x="438335" y="6228601"/>
                </a:lnTo>
                <a:lnTo>
                  <a:pt x="389480" y="6231636"/>
                </a:lnTo>
                <a:lnTo>
                  <a:pt x="340626" y="6228601"/>
                </a:lnTo>
                <a:lnTo>
                  <a:pt x="293582" y="6219741"/>
                </a:lnTo>
                <a:lnTo>
                  <a:pt x="248713" y="6205420"/>
                </a:lnTo>
                <a:lnTo>
                  <a:pt x="206385" y="6186003"/>
                </a:lnTo>
                <a:lnTo>
                  <a:pt x="166964" y="6161855"/>
                </a:lnTo>
                <a:lnTo>
                  <a:pt x="130812" y="6133341"/>
                </a:lnTo>
                <a:lnTo>
                  <a:pt x="98297" y="6100826"/>
                </a:lnTo>
                <a:lnTo>
                  <a:pt x="69783" y="6064675"/>
                </a:lnTo>
                <a:lnTo>
                  <a:pt x="45634" y="6025253"/>
                </a:lnTo>
                <a:lnTo>
                  <a:pt x="26217" y="5982925"/>
                </a:lnTo>
                <a:lnTo>
                  <a:pt x="11895" y="5938055"/>
                </a:lnTo>
                <a:lnTo>
                  <a:pt x="3034" y="5891009"/>
                </a:lnTo>
                <a:lnTo>
                  <a:pt x="0" y="5842152"/>
                </a:lnTo>
                <a:lnTo>
                  <a:pt x="9" y="1168400"/>
                </a:lnTo>
                <a:close/>
              </a:path>
            </a:pathLst>
          </a:custGeom>
          <a:ln w="28575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365870" y="867283"/>
            <a:ext cx="779145" cy="389890"/>
          </a:xfrm>
          <a:custGeom>
            <a:avLst/>
            <a:gdLst/>
            <a:ahLst/>
            <a:cxnLst/>
            <a:rect l="l" t="t" r="r" b="b"/>
            <a:pathLst>
              <a:path w="779145" h="389890">
                <a:moveTo>
                  <a:pt x="0" y="389381"/>
                </a:moveTo>
                <a:lnTo>
                  <a:pt x="389381" y="389381"/>
                </a:lnTo>
                <a:lnTo>
                  <a:pt x="438244" y="386347"/>
                </a:lnTo>
                <a:lnTo>
                  <a:pt x="485295" y="377487"/>
                </a:lnTo>
                <a:lnTo>
                  <a:pt x="530168" y="363167"/>
                </a:lnTo>
                <a:lnTo>
                  <a:pt x="572500" y="343752"/>
                </a:lnTo>
                <a:lnTo>
                  <a:pt x="611924" y="319607"/>
                </a:lnTo>
                <a:lnTo>
                  <a:pt x="648077" y="291097"/>
                </a:lnTo>
                <a:lnTo>
                  <a:pt x="680594" y="258588"/>
                </a:lnTo>
                <a:lnTo>
                  <a:pt x="709108" y="222445"/>
                </a:lnTo>
                <a:lnTo>
                  <a:pt x="733257" y="183033"/>
                </a:lnTo>
                <a:lnTo>
                  <a:pt x="752674" y="140717"/>
                </a:lnTo>
                <a:lnTo>
                  <a:pt x="766996" y="95863"/>
                </a:lnTo>
                <a:lnTo>
                  <a:pt x="775856" y="48835"/>
                </a:lnTo>
                <a:lnTo>
                  <a:pt x="778890" y="0"/>
                </a:lnTo>
              </a:path>
            </a:pathLst>
          </a:custGeom>
          <a:ln w="28574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365743" y="867283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90" h="389890">
                <a:moveTo>
                  <a:pt x="389508" y="389381"/>
                </a:moveTo>
                <a:lnTo>
                  <a:pt x="389508" y="0"/>
                </a:lnTo>
                <a:lnTo>
                  <a:pt x="384369" y="44654"/>
                </a:lnTo>
                <a:lnTo>
                  <a:pt x="369728" y="85639"/>
                </a:lnTo>
                <a:lnTo>
                  <a:pt x="346751" y="121787"/>
                </a:lnTo>
                <a:lnTo>
                  <a:pt x="316605" y="151933"/>
                </a:lnTo>
                <a:lnTo>
                  <a:pt x="280457" y="174910"/>
                </a:lnTo>
                <a:lnTo>
                  <a:pt x="239472" y="189551"/>
                </a:lnTo>
                <a:lnTo>
                  <a:pt x="194817" y="194690"/>
                </a:lnTo>
                <a:lnTo>
                  <a:pt x="150156" y="189551"/>
                </a:lnTo>
                <a:lnTo>
                  <a:pt x="109153" y="174910"/>
                </a:lnTo>
                <a:lnTo>
                  <a:pt x="72980" y="151933"/>
                </a:lnTo>
                <a:lnTo>
                  <a:pt x="42807" y="121787"/>
                </a:lnTo>
                <a:lnTo>
                  <a:pt x="19806" y="85639"/>
                </a:lnTo>
                <a:lnTo>
                  <a:pt x="5146" y="44654"/>
                </a:lnTo>
                <a:lnTo>
                  <a:pt x="0" y="0"/>
                </a:lnTo>
              </a:path>
            </a:pathLst>
          </a:custGeom>
          <a:ln w="28575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61" y="1451483"/>
            <a:ext cx="779145" cy="584200"/>
          </a:xfrm>
          <a:custGeom>
            <a:avLst/>
            <a:gdLst/>
            <a:ahLst/>
            <a:cxnLst/>
            <a:rect l="l" t="t" r="r" b="b"/>
            <a:pathLst>
              <a:path w="779145" h="584200">
                <a:moveTo>
                  <a:pt x="389483" y="584200"/>
                </a:moveTo>
                <a:lnTo>
                  <a:pt x="389483" y="194690"/>
                </a:lnTo>
                <a:lnTo>
                  <a:pt x="394626" y="150036"/>
                </a:lnTo>
                <a:lnTo>
                  <a:pt x="409276" y="109051"/>
                </a:lnTo>
                <a:lnTo>
                  <a:pt x="432265" y="72903"/>
                </a:lnTo>
                <a:lnTo>
                  <a:pt x="462422" y="42757"/>
                </a:lnTo>
                <a:lnTo>
                  <a:pt x="498581" y="19780"/>
                </a:lnTo>
                <a:lnTo>
                  <a:pt x="539571" y="5139"/>
                </a:lnTo>
                <a:lnTo>
                  <a:pt x="584225" y="0"/>
                </a:lnTo>
                <a:lnTo>
                  <a:pt x="628874" y="5139"/>
                </a:lnTo>
                <a:lnTo>
                  <a:pt x="669861" y="19780"/>
                </a:lnTo>
                <a:lnTo>
                  <a:pt x="706017" y="42757"/>
                </a:lnTo>
                <a:lnTo>
                  <a:pt x="736173" y="72903"/>
                </a:lnTo>
                <a:lnTo>
                  <a:pt x="759161" y="109051"/>
                </a:lnTo>
                <a:lnTo>
                  <a:pt x="773811" y="150036"/>
                </a:lnTo>
                <a:lnTo>
                  <a:pt x="778954" y="194690"/>
                </a:lnTo>
                <a:lnTo>
                  <a:pt x="775919" y="243553"/>
                </a:lnTo>
                <a:lnTo>
                  <a:pt x="767059" y="290604"/>
                </a:lnTo>
                <a:lnTo>
                  <a:pt x="752738" y="335477"/>
                </a:lnTo>
                <a:lnTo>
                  <a:pt x="733322" y="377809"/>
                </a:lnTo>
                <a:lnTo>
                  <a:pt x="709174" y="417233"/>
                </a:lnTo>
                <a:lnTo>
                  <a:pt x="680661" y="453386"/>
                </a:lnTo>
                <a:lnTo>
                  <a:pt x="648147" y="485903"/>
                </a:lnTo>
                <a:lnTo>
                  <a:pt x="611997" y="514417"/>
                </a:lnTo>
                <a:lnTo>
                  <a:pt x="572576" y="538566"/>
                </a:lnTo>
                <a:lnTo>
                  <a:pt x="530249" y="557983"/>
                </a:lnTo>
                <a:lnTo>
                  <a:pt x="485381" y="572305"/>
                </a:lnTo>
                <a:lnTo>
                  <a:pt x="438338" y="581165"/>
                </a:lnTo>
                <a:lnTo>
                  <a:pt x="389483" y="584200"/>
                </a:lnTo>
                <a:lnTo>
                  <a:pt x="340626" y="581165"/>
                </a:lnTo>
                <a:lnTo>
                  <a:pt x="293580" y="572305"/>
                </a:lnTo>
                <a:lnTo>
                  <a:pt x="248710" y="557983"/>
                </a:lnTo>
                <a:lnTo>
                  <a:pt x="206382" y="538566"/>
                </a:lnTo>
                <a:lnTo>
                  <a:pt x="166960" y="514417"/>
                </a:lnTo>
                <a:lnTo>
                  <a:pt x="130809" y="485903"/>
                </a:lnTo>
                <a:lnTo>
                  <a:pt x="98294" y="453386"/>
                </a:lnTo>
                <a:lnTo>
                  <a:pt x="69780" y="417233"/>
                </a:lnTo>
                <a:lnTo>
                  <a:pt x="45632" y="377809"/>
                </a:lnTo>
                <a:lnTo>
                  <a:pt x="26215" y="335477"/>
                </a:lnTo>
                <a:lnTo>
                  <a:pt x="11894" y="290604"/>
                </a:lnTo>
                <a:lnTo>
                  <a:pt x="3034" y="243553"/>
                </a:lnTo>
                <a:lnTo>
                  <a:pt x="0" y="194690"/>
                </a:lnTo>
              </a:path>
            </a:pathLst>
          </a:custGeom>
          <a:ln w="28575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79716" y="1646173"/>
            <a:ext cx="0" cy="4284345"/>
          </a:xfrm>
          <a:custGeom>
            <a:avLst/>
            <a:gdLst/>
            <a:ahLst/>
            <a:cxnLst/>
            <a:rect l="l" t="t" r="r" b="b"/>
            <a:pathLst>
              <a:path w="0" h="4284345">
                <a:moveTo>
                  <a:pt x="0" y="0"/>
                </a:moveTo>
                <a:lnTo>
                  <a:pt x="0" y="4284281"/>
                </a:lnTo>
              </a:path>
            </a:pathLst>
          </a:custGeom>
          <a:ln w="28575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57808" y="1477771"/>
            <a:ext cx="7788275" cy="4362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66"/>
                </a:solidFill>
                <a:latin typeface="宋体"/>
                <a:cs typeface="宋体"/>
              </a:rPr>
              <a:t>思考题：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ct val="20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下面的二义文法描述命题演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公式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根据命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题演算运算的优先级及结合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，为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它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写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一个等价的非二义性文法。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3000" b="1" i="1">
                <a:solidFill>
                  <a:srgbClr val="FFFF66"/>
                </a:solidFill>
                <a:latin typeface="Times New Roman"/>
                <a:cs typeface="Times New Roman"/>
              </a:rPr>
              <a:t>S</a:t>
            </a:r>
            <a:r>
              <a:rPr dirty="0" sz="3000" b="1">
                <a:solidFill>
                  <a:srgbClr val="FFFF66"/>
                </a:solidFill>
                <a:latin typeface="Symbol"/>
                <a:cs typeface="Symbol"/>
              </a:rPr>
              <a:t></a:t>
            </a:r>
            <a:r>
              <a:rPr dirty="0" sz="3000" b="1" i="1">
                <a:solidFill>
                  <a:srgbClr val="FFFF66"/>
                </a:solidFill>
                <a:latin typeface="Times New Roman"/>
                <a:cs typeface="Times New Roman"/>
              </a:rPr>
              <a:t>S</a:t>
            </a:r>
            <a:r>
              <a:rPr dirty="0" sz="3000" b="1">
                <a:solidFill>
                  <a:srgbClr val="FFFF66"/>
                </a:solidFill>
                <a:latin typeface="Symbol"/>
                <a:cs typeface="Symbol"/>
              </a:rPr>
              <a:t></a:t>
            </a:r>
            <a:r>
              <a:rPr dirty="0" sz="3000" b="1" i="1">
                <a:solidFill>
                  <a:srgbClr val="FFFF66"/>
                </a:solidFill>
                <a:latin typeface="Times New Roman"/>
                <a:cs typeface="Times New Roman"/>
              </a:rPr>
              <a:t>S </a:t>
            </a:r>
            <a:r>
              <a:rPr dirty="0" sz="3000" spc="-5" b="1">
                <a:solidFill>
                  <a:srgbClr val="FFFF66"/>
                </a:solidFill>
                <a:latin typeface="Times New Roman"/>
                <a:cs typeface="Times New Roman"/>
              </a:rPr>
              <a:t>| </a:t>
            </a:r>
            <a:r>
              <a:rPr dirty="0" sz="3000" b="1" i="1">
                <a:solidFill>
                  <a:srgbClr val="FFFF66"/>
                </a:solidFill>
                <a:latin typeface="Times New Roman"/>
                <a:cs typeface="Times New Roman"/>
              </a:rPr>
              <a:t>S</a:t>
            </a:r>
            <a:r>
              <a:rPr dirty="0" sz="3000" b="1">
                <a:solidFill>
                  <a:srgbClr val="FFFF66"/>
                </a:solidFill>
                <a:latin typeface="Symbol"/>
                <a:cs typeface="Symbol"/>
              </a:rPr>
              <a:t></a:t>
            </a:r>
            <a:r>
              <a:rPr dirty="0" sz="3000" b="1" i="1">
                <a:solidFill>
                  <a:srgbClr val="FFFF66"/>
                </a:solidFill>
                <a:latin typeface="Times New Roman"/>
                <a:cs typeface="Times New Roman"/>
              </a:rPr>
              <a:t>S </a:t>
            </a:r>
            <a:r>
              <a:rPr dirty="0" sz="3000" spc="-5" b="1">
                <a:solidFill>
                  <a:srgbClr val="FFFF66"/>
                </a:solidFill>
                <a:latin typeface="Times New Roman"/>
                <a:cs typeface="Times New Roman"/>
              </a:rPr>
              <a:t>| </a:t>
            </a:r>
            <a:r>
              <a:rPr dirty="0" sz="3000" b="1">
                <a:solidFill>
                  <a:srgbClr val="FFFF66"/>
                </a:solidFill>
                <a:latin typeface="Symbol"/>
                <a:cs typeface="Symbol"/>
              </a:rPr>
              <a:t></a:t>
            </a:r>
            <a:r>
              <a:rPr dirty="0" sz="3000" b="1" i="1">
                <a:solidFill>
                  <a:srgbClr val="FFFF66"/>
                </a:solidFill>
                <a:latin typeface="Times New Roman"/>
                <a:cs typeface="Times New Roman"/>
              </a:rPr>
              <a:t>S </a:t>
            </a:r>
            <a:r>
              <a:rPr dirty="0" sz="3000" spc="-5" b="1">
                <a:solidFill>
                  <a:srgbClr val="FFFF66"/>
                </a:solidFill>
                <a:latin typeface="Times New Roman"/>
                <a:cs typeface="Times New Roman"/>
              </a:rPr>
              <a:t>| </a:t>
            </a:r>
            <a:r>
              <a:rPr dirty="0" sz="3000" b="1" i="1">
                <a:solidFill>
                  <a:srgbClr val="FFFF66"/>
                </a:solidFill>
                <a:latin typeface="Times New Roman"/>
                <a:cs typeface="Times New Roman"/>
              </a:rPr>
              <a:t>p </a:t>
            </a:r>
            <a:r>
              <a:rPr dirty="0" sz="3000" spc="-5" b="1">
                <a:solidFill>
                  <a:srgbClr val="FFFF66"/>
                </a:solidFill>
                <a:latin typeface="Times New Roman"/>
                <a:cs typeface="Times New Roman"/>
              </a:rPr>
              <a:t>| </a:t>
            </a:r>
            <a:r>
              <a:rPr dirty="0" sz="3000" b="1" i="1">
                <a:solidFill>
                  <a:srgbClr val="FFFF66"/>
                </a:solidFill>
                <a:latin typeface="Times New Roman"/>
                <a:cs typeface="Times New Roman"/>
              </a:rPr>
              <a:t>q </a:t>
            </a:r>
            <a:r>
              <a:rPr dirty="0" sz="3000" spc="-5" b="1">
                <a:solidFill>
                  <a:srgbClr val="FFFF66"/>
                </a:solidFill>
                <a:latin typeface="Times New Roman"/>
                <a:cs typeface="Times New Roman"/>
              </a:rPr>
              <a:t>|</a:t>
            </a:r>
            <a:r>
              <a:rPr dirty="0" sz="3000" spc="-70" b="1">
                <a:solidFill>
                  <a:srgbClr val="FFFF66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FF66"/>
                </a:solidFill>
                <a:latin typeface="Times New Roman"/>
                <a:cs typeface="Times New Roman"/>
              </a:rPr>
              <a:t>(</a:t>
            </a:r>
            <a:r>
              <a:rPr dirty="0" sz="3000" spc="-5" b="1" i="1">
                <a:solidFill>
                  <a:srgbClr val="FFFF66"/>
                </a:solidFill>
                <a:latin typeface="Times New Roman"/>
                <a:cs typeface="Times New Roman"/>
              </a:rPr>
              <a:t>S</a:t>
            </a:r>
            <a:r>
              <a:rPr dirty="0" sz="3000" spc="-5" b="1">
                <a:solidFill>
                  <a:srgbClr val="FFFF66"/>
                </a:solidFill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84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76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849629"/>
            <a:ext cx="66541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dirty="0" sz="2800">
                <a:solidFill>
                  <a:srgbClr val="CC99FF"/>
                </a:solidFill>
                <a:latin typeface="Times New Roman"/>
                <a:cs typeface="Times New Roman"/>
              </a:rPr>
              <a:t>1.	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设定义在字母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40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上的正规式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2748" y="4605654"/>
            <a:ext cx="17767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bBc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3495570"/>
            <a:ext cx="2896870" cy="207391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457200" indent="-445134">
              <a:lnSpc>
                <a:spcPct val="100000"/>
              </a:lnSpc>
              <a:spcBef>
                <a:spcPts val="770"/>
              </a:spcBef>
              <a:buAutoNum type="alphaUcParenR"/>
              <a:tabLst>
                <a:tab pos="457834" algn="l"/>
              </a:tabLst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aSd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  <a:p>
            <a:pPr marL="457200" indent="-445134">
              <a:lnSpc>
                <a:spcPct val="100000"/>
              </a:lnSpc>
              <a:spcBef>
                <a:spcPts val="670"/>
              </a:spcBef>
              <a:buAutoNum type="alphaUcParenR"/>
              <a:tabLst>
                <a:tab pos="457834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aSd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  <a:p>
            <a:pPr marL="457200" indent="-445134">
              <a:lnSpc>
                <a:spcPct val="100000"/>
              </a:lnSpc>
              <a:spcBef>
                <a:spcPts val="675"/>
              </a:spcBef>
              <a:buAutoNum type="alphaUcParenR"/>
              <a:tabLst>
                <a:tab pos="457834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477520" indent="-464820">
              <a:lnSpc>
                <a:spcPct val="100000"/>
              </a:lnSpc>
              <a:spcBef>
                <a:spcPts val="670"/>
              </a:spcBef>
              <a:buAutoNum type="alphaUcParenR"/>
              <a:tabLst>
                <a:tab pos="477520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Abc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52571" y="3495570"/>
            <a:ext cx="2052955" cy="2073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2069" indent="266700">
              <a:lnSpc>
                <a:spcPct val="12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bcT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bc  </a:t>
            </a:r>
            <a:r>
              <a:rPr dirty="0" sz="2800" spc="-5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5" b="1" i="1">
                <a:solidFill>
                  <a:srgbClr val="FFFFFF"/>
                </a:solidFill>
                <a:latin typeface="Times New Roman"/>
                <a:cs typeface="Times New Roman"/>
              </a:rPr>
              <a:t>bTc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bc</a:t>
            </a:r>
            <a:endParaRPr sz="2800">
              <a:latin typeface="Times New Roman"/>
              <a:cs typeface="Times New Roman"/>
            </a:endParaRPr>
          </a:p>
          <a:p>
            <a:pPr marL="247015" marR="5080" indent="-29209">
              <a:lnSpc>
                <a:spcPct val="120000"/>
              </a:lnSpc>
              <a:spcBef>
                <a:spcPts val="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aAd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ad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aAd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899410" y="72644"/>
            <a:ext cx="3419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161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745"/>
              </a:spcBef>
              <a:tabLst>
                <a:tab pos="5829935" algn="l"/>
                <a:tab pos="6743700" algn="l"/>
              </a:tabLst>
            </a:pPr>
            <a:r>
              <a:rPr dirty="0" spc="-5" i="1">
                <a:latin typeface="Times New Roman"/>
                <a:cs typeface="Times New Roman"/>
              </a:rPr>
              <a:t>r</a:t>
            </a:r>
            <a:r>
              <a:rPr dirty="0" spc="5" i="1">
                <a:latin typeface="Times New Roman"/>
                <a:cs typeface="Times New Roman"/>
              </a:rPr>
              <a:t> </a:t>
            </a:r>
            <a:r>
              <a:rPr dirty="0" spc="-5"/>
              <a:t>=</a:t>
            </a:r>
            <a:r>
              <a:rPr dirty="0" spc="10"/>
              <a:t> </a:t>
            </a:r>
            <a:r>
              <a:rPr dirty="0" spc="-5"/>
              <a:t>(</a:t>
            </a:r>
            <a:r>
              <a:rPr dirty="0" spc="15"/>
              <a:t> </a:t>
            </a:r>
            <a:r>
              <a:rPr dirty="0" spc="-10" i="1">
                <a:latin typeface="Times New Roman"/>
                <a:cs typeface="Times New Roman"/>
              </a:rPr>
              <a:t>a|b</a:t>
            </a:r>
            <a:r>
              <a:rPr dirty="0" spc="-10"/>
              <a:t>|</a:t>
            </a:r>
            <a:r>
              <a:rPr dirty="0" spc="-10" i="1">
                <a:latin typeface="Times New Roman"/>
                <a:cs typeface="Times New Roman"/>
              </a:rPr>
              <a:t>c</a:t>
            </a:r>
            <a:r>
              <a:rPr dirty="0" spc="30" i="1">
                <a:latin typeface="Times New Roman"/>
                <a:cs typeface="Times New Roman"/>
              </a:rPr>
              <a:t> </a:t>
            </a:r>
            <a:r>
              <a:rPr dirty="0" spc="-15"/>
              <a:t>)(</a:t>
            </a:r>
            <a:r>
              <a:rPr dirty="0" spc="-15" i="1">
                <a:latin typeface="Times New Roman"/>
                <a:cs typeface="Times New Roman"/>
              </a:rPr>
              <a:t>x</a:t>
            </a:r>
            <a:r>
              <a:rPr dirty="0" spc="-15"/>
              <a:t>|</a:t>
            </a:r>
            <a:r>
              <a:rPr dirty="0" spc="-15" i="1">
                <a:latin typeface="Times New Roman"/>
                <a:cs typeface="Times New Roman"/>
              </a:rPr>
              <a:t>y</a:t>
            </a:r>
            <a:r>
              <a:rPr dirty="0" spc="-15"/>
              <a:t>|</a:t>
            </a:r>
            <a:r>
              <a:rPr dirty="0" spc="-15" i="1">
                <a:latin typeface="Times New Roman"/>
                <a:cs typeface="Times New Roman"/>
              </a:rPr>
              <a:t>z</a:t>
            </a:r>
            <a:r>
              <a:rPr dirty="0" spc="60" i="1">
                <a:latin typeface="Times New Roman"/>
                <a:cs typeface="Times New Roman"/>
              </a:rPr>
              <a:t> </a:t>
            </a:r>
            <a:r>
              <a:rPr dirty="0" spc="-5"/>
              <a:t>)</a:t>
            </a:r>
            <a:r>
              <a:rPr dirty="0" spc="-5">
                <a:latin typeface="宋体"/>
                <a:cs typeface="宋体"/>
              </a:rPr>
              <a:t>，则</a:t>
            </a:r>
            <a:r>
              <a:rPr dirty="0" spc="-5" i="1">
                <a:latin typeface="Times New Roman"/>
                <a:cs typeface="Times New Roman"/>
              </a:rPr>
              <a:t>L</a:t>
            </a:r>
            <a:r>
              <a:rPr dirty="0" spc="-5"/>
              <a:t>(</a:t>
            </a:r>
            <a:r>
              <a:rPr dirty="0" spc="-5" i="1">
                <a:latin typeface="Times New Roman"/>
                <a:cs typeface="Times New Roman"/>
              </a:rPr>
              <a:t>r</a:t>
            </a:r>
            <a:r>
              <a:rPr dirty="0" spc="-5"/>
              <a:t>)</a:t>
            </a:r>
            <a:r>
              <a:rPr dirty="0" spc="-5">
                <a:latin typeface="宋体"/>
                <a:cs typeface="宋体"/>
              </a:rPr>
              <a:t>中元素有</a:t>
            </a:r>
            <a:r>
              <a:rPr dirty="0" u="heavy" baseline="-6944" sz="4200" spc="-7">
                <a:solidFill>
                  <a:srgbClr val="FFFF00"/>
                </a:solidFill>
                <a:uFill>
                  <a:solidFill>
                    <a:srgbClr val="FEFEFE"/>
                  </a:solidFill>
                </a:uFill>
                <a:latin typeface="宋体"/>
                <a:cs typeface="宋体"/>
              </a:rPr>
              <a:t> 	</a:t>
            </a:r>
            <a:r>
              <a:rPr dirty="0" u="heavy" baseline="-6944" sz="4200" spc="-7">
                <a:solidFill>
                  <a:srgbClr val="FFFF00"/>
                </a:solidFill>
                <a:uFill>
                  <a:solidFill>
                    <a:srgbClr val="FEFEFE"/>
                  </a:solidFill>
                </a:uFill>
              </a:rPr>
              <a:t>A	</a:t>
            </a:r>
            <a:r>
              <a:rPr dirty="0" sz="2800" spc="-5">
                <a:latin typeface="宋体"/>
                <a:cs typeface="宋体"/>
              </a:rPr>
              <a:t>个。</a:t>
            </a:r>
            <a:endParaRPr sz="2800">
              <a:latin typeface="宋体"/>
              <a:cs typeface="宋体"/>
            </a:endParaRPr>
          </a:p>
          <a:p>
            <a:pPr marL="113664">
              <a:lnSpc>
                <a:spcPct val="100000"/>
              </a:lnSpc>
              <a:spcBef>
                <a:spcPts val="1639"/>
              </a:spcBef>
              <a:tabLst>
                <a:tab pos="647065" algn="l"/>
                <a:tab pos="1625600" algn="l"/>
                <a:tab pos="2159000" algn="l"/>
                <a:tab pos="3048000" algn="l"/>
                <a:tab pos="3581400" algn="l"/>
                <a:tab pos="4648200" algn="l"/>
                <a:tab pos="5202555" algn="l"/>
              </a:tabLst>
            </a:pPr>
            <a:r>
              <a:rPr dirty="0" spc="-5" i="1">
                <a:latin typeface="Times New Roman"/>
                <a:cs typeface="Times New Roman"/>
              </a:rPr>
              <a:t>A</a:t>
            </a:r>
            <a:r>
              <a:rPr dirty="0" spc="-5"/>
              <a:t>)	9	</a:t>
            </a:r>
            <a:r>
              <a:rPr dirty="0" spc="-5" i="1">
                <a:latin typeface="Times New Roman"/>
                <a:cs typeface="Times New Roman"/>
              </a:rPr>
              <a:t>B</a:t>
            </a:r>
            <a:r>
              <a:rPr dirty="0" spc="-5"/>
              <a:t>)	6	</a:t>
            </a:r>
            <a:r>
              <a:rPr dirty="0" spc="-5" i="1">
                <a:latin typeface="Times New Roman"/>
                <a:cs typeface="Times New Roman"/>
              </a:rPr>
              <a:t>C</a:t>
            </a:r>
            <a:r>
              <a:rPr dirty="0" spc="-5"/>
              <a:t>)	18	</a:t>
            </a:r>
            <a:r>
              <a:rPr dirty="0" spc="-5" i="1">
                <a:latin typeface="Times New Roman"/>
                <a:cs typeface="Times New Roman"/>
              </a:rPr>
              <a:t>D</a:t>
            </a:r>
            <a:r>
              <a:rPr dirty="0" spc="-5"/>
              <a:t>)	27</a:t>
            </a:r>
          </a:p>
          <a:p>
            <a:pPr marL="482600" marR="17780" indent="-457200">
              <a:lnSpc>
                <a:spcPct val="100000"/>
              </a:lnSpc>
              <a:spcBef>
                <a:spcPts val="710"/>
              </a:spcBef>
              <a:tabLst>
                <a:tab pos="481965" algn="l"/>
                <a:tab pos="2374900" algn="l"/>
                <a:tab pos="2877820" algn="l"/>
              </a:tabLst>
            </a:pPr>
            <a:r>
              <a:rPr dirty="0" spc="-5">
                <a:solidFill>
                  <a:srgbClr val="CC99FF"/>
                </a:solidFill>
              </a:rPr>
              <a:t>2.	</a:t>
            </a:r>
            <a:r>
              <a:rPr dirty="0" spc="-5">
                <a:latin typeface="宋体"/>
                <a:cs typeface="宋体"/>
              </a:rPr>
              <a:t>设有文</a:t>
            </a:r>
            <a:r>
              <a:rPr dirty="0" spc="-15">
                <a:latin typeface="宋体"/>
                <a:cs typeface="宋体"/>
              </a:rPr>
              <a:t>法</a:t>
            </a:r>
            <a:r>
              <a:rPr dirty="0" spc="-5" i="1">
                <a:latin typeface="Times New Roman"/>
                <a:cs typeface="Times New Roman"/>
              </a:rPr>
              <a:t>G</a:t>
            </a:r>
            <a:r>
              <a:rPr dirty="0" spc="-5">
                <a:latin typeface="宋体"/>
                <a:cs typeface="宋体"/>
              </a:rPr>
              <a:t>，满</a:t>
            </a:r>
            <a:r>
              <a:rPr dirty="0" spc="-10">
                <a:latin typeface="宋体"/>
                <a:cs typeface="宋体"/>
              </a:rPr>
              <a:t>足</a:t>
            </a:r>
            <a:r>
              <a:rPr dirty="0" spc="-5" i="1">
                <a:latin typeface="Times New Roman"/>
                <a:cs typeface="Times New Roman"/>
              </a:rPr>
              <a:t>L</a:t>
            </a:r>
            <a:r>
              <a:rPr dirty="0" spc="-5"/>
              <a:t>(</a:t>
            </a:r>
            <a:r>
              <a:rPr dirty="0" spc="-5" i="1">
                <a:latin typeface="Times New Roman"/>
                <a:cs typeface="Times New Roman"/>
              </a:rPr>
              <a:t>G</a:t>
            </a:r>
            <a:r>
              <a:rPr dirty="0" spc="-5"/>
              <a:t>)={</a:t>
            </a:r>
            <a:r>
              <a:rPr dirty="0" spc="-5" i="1">
                <a:latin typeface="Times New Roman"/>
                <a:cs typeface="Times New Roman"/>
              </a:rPr>
              <a:t>a</a:t>
            </a:r>
            <a:r>
              <a:rPr dirty="0" baseline="25525" sz="2775" spc="-7" i="1">
                <a:latin typeface="Times New Roman"/>
                <a:cs typeface="Times New Roman"/>
              </a:rPr>
              <a:t>i</a:t>
            </a:r>
            <a:r>
              <a:rPr dirty="0" sz="2800" spc="-5" i="1">
                <a:latin typeface="Times New Roman"/>
                <a:cs typeface="Times New Roman"/>
              </a:rPr>
              <a:t>b</a:t>
            </a:r>
            <a:r>
              <a:rPr dirty="0" baseline="25525" sz="2775" spc="-7" i="1">
                <a:latin typeface="Times New Roman"/>
                <a:cs typeface="Times New Roman"/>
              </a:rPr>
              <a:t>j</a:t>
            </a:r>
            <a:r>
              <a:rPr dirty="0" baseline="25525" sz="2775" spc="52" i="1">
                <a:latin typeface="Times New Roman"/>
                <a:cs typeface="Times New Roman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c</a:t>
            </a:r>
            <a:r>
              <a:rPr dirty="0" baseline="25525" sz="2775" spc="-7" i="1">
                <a:latin typeface="Times New Roman"/>
                <a:cs typeface="Times New Roman"/>
              </a:rPr>
              <a:t>j</a:t>
            </a:r>
            <a:r>
              <a:rPr dirty="0" sz="2800" spc="-5" i="1">
                <a:latin typeface="Times New Roman"/>
                <a:cs typeface="Times New Roman"/>
              </a:rPr>
              <a:t>d</a:t>
            </a:r>
            <a:r>
              <a:rPr dirty="0" baseline="25525" sz="2775" spc="-7" i="1">
                <a:latin typeface="Times New Roman"/>
                <a:cs typeface="Times New Roman"/>
              </a:rPr>
              <a:t>i</a:t>
            </a:r>
            <a:r>
              <a:rPr dirty="0" baseline="25525" sz="2775" spc="-22" i="1">
                <a:latin typeface="Times New Roman"/>
                <a:cs typeface="Times New Roman"/>
              </a:rPr>
              <a:t> </a:t>
            </a:r>
            <a:r>
              <a:rPr dirty="0" sz="2800" spc="-5"/>
              <a:t>|</a:t>
            </a:r>
            <a:r>
              <a:rPr dirty="0" sz="2800" spc="5"/>
              <a:t> </a:t>
            </a:r>
            <a:r>
              <a:rPr dirty="0" sz="2800" spc="-5" i="1">
                <a:latin typeface="Times New Roman"/>
                <a:cs typeface="Times New Roman"/>
              </a:rPr>
              <a:t>i</a:t>
            </a:r>
            <a:r>
              <a:rPr dirty="0" sz="2800" spc="-5"/>
              <a:t>≥0</a:t>
            </a:r>
            <a:r>
              <a:rPr dirty="0" sz="2800" spc="-5">
                <a:latin typeface="宋体"/>
                <a:cs typeface="宋体"/>
              </a:rPr>
              <a:t>且</a:t>
            </a:r>
            <a:r>
              <a:rPr dirty="0" sz="2800" i="1">
                <a:latin typeface="Times New Roman"/>
                <a:cs typeface="Times New Roman"/>
              </a:rPr>
              <a:t>j</a:t>
            </a:r>
            <a:r>
              <a:rPr dirty="0" sz="2800"/>
              <a:t>≥1}</a:t>
            </a:r>
            <a:r>
              <a:rPr dirty="0" sz="2800" spc="-10">
                <a:latin typeface="宋体"/>
                <a:cs typeface="宋体"/>
              </a:rPr>
              <a:t>的正确文 </a:t>
            </a:r>
            <a:r>
              <a:rPr dirty="0" sz="2800" spc="-5">
                <a:latin typeface="宋体"/>
                <a:cs typeface="宋体"/>
              </a:rPr>
              <a:t>法</a:t>
            </a:r>
            <a:r>
              <a:rPr dirty="0" sz="2800" spc="-10" i="1">
                <a:latin typeface="Times New Roman"/>
                <a:cs typeface="Times New Roman"/>
              </a:rPr>
              <a:t>G</a:t>
            </a:r>
            <a:r>
              <a:rPr dirty="0" sz="2800" spc="-15">
                <a:latin typeface="宋体"/>
                <a:cs typeface="宋体"/>
              </a:rPr>
              <a:t>为</a:t>
            </a:r>
            <a:r>
              <a:rPr dirty="0" sz="2800" spc="-680">
                <a:latin typeface="宋体"/>
                <a:cs typeface="宋体"/>
              </a:rPr>
              <a:t> </a:t>
            </a:r>
            <a:r>
              <a:rPr dirty="0" sz="2800" spc="-5">
                <a:latin typeface="宋体"/>
                <a:cs typeface="宋体"/>
              </a:rPr>
              <a:t>：</a:t>
            </a:r>
            <a:r>
              <a:rPr dirty="0" u="heavy" baseline="-5952" sz="4200" spc="-7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 	</a:t>
            </a:r>
            <a:r>
              <a:rPr dirty="0" u="heavy" baseline="-5952" sz="4200" spc="-7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B	</a:t>
            </a:r>
            <a:r>
              <a:rPr dirty="0" sz="2800" spc="-15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238" y="366471"/>
            <a:ext cx="2661920" cy="1727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69900" marR="5080" indent="-457834">
              <a:lnSpc>
                <a:spcPct val="9970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2800">
                <a:solidFill>
                  <a:srgbClr val="CC99FF"/>
                </a:solidFill>
                <a:latin typeface="Times New Roman"/>
                <a:cs typeface="Times New Roman"/>
              </a:rPr>
              <a:t>3.	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设有文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：  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i="1">
                <a:solidFill>
                  <a:srgbClr val="FFFFFF"/>
                </a:solidFill>
                <a:latin typeface="Times New Roman"/>
                <a:cs typeface="Times New Roman"/>
              </a:rPr>
              <a:t>bS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800" i="1">
                <a:solidFill>
                  <a:srgbClr val="FFFFFF"/>
                </a:solidFill>
                <a:latin typeface="Times New Roman"/>
                <a:cs typeface="Times New Roman"/>
              </a:rPr>
              <a:t>aA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ε  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i="1">
                <a:solidFill>
                  <a:srgbClr val="FFFFFF"/>
                </a:solidFill>
                <a:latin typeface="Times New Roman"/>
                <a:cs typeface="Times New Roman"/>
              </a:rPr>
              <a:t>bA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800" spc="-10" i="1">
                <a:solidFill>
                  <a:srgbClr val="FFFFFF"/>
                </a:solidFill>
                <a:latin typeface="Times New Roman"/>
                <a:cs typeface="Times New Roman"/>
              </a:rPr>
              <a:t>AC 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C → 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bCaS 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8167" y="2667126"/>
            <a:ext cx="1532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B)</a:t>
            </a:r>
            <a:r>
              <a:rPr dirty="0" sz="28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25525" sz="2775" spc="7" b="1">
                <a:solidFill>
                  <a:srgbClr val="FFFFFF"/>
                </a:solidFill>
                <a:latin typeface="Times New Roman"/>
                <a:cs typeface="Times New Roman"/>
              </a:rPr>
              <a:t>1000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438" y="2560447"/>
            <a:ext cx="8478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4763770" algn="l"/>
                <a:tab pos="7188834" algn="l"/>
              </a:tabLst>
            </a:pPr>
            <a:r>
              <a:rPr dirty="0" baseline="-16865" sz="4200" spc="-7" b="1" i="1">
                <a:solidFill>
                  <a:srgbClr val="CC99FF"/>
                </a:solidFill>
                <a:latin typeface="Times New Roman"/>
                <a:cs typeface="Times New Roman"/>
              </a:rPr>
              <a:t>A)</a:t>
            </a:r>
            <a:r>
              <a:rPr dirty="0" baseline="-16865" sz="4200" spc="172" b="1" i="1">
                <a:solidFill>
                  <a:srgbClr val="CC99FF"/>
                </a:solidFill>
                <a:latin typeface="Times New Roman"/>
                <a:cs typeface="Times New Roman"/>
              </a:rPr>
              <a:t> </a:t>
            </a:r>
            <a:r>
              <a:rPr dirty="0" baseline="-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121</a:t>
            </a:r>
            <a:r>
              <a:rPr dirty="0" baseline="-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100</a:t>
            </a:r>
            <a:r>
              <a:rPr dirty="0" baseline="-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2	</a:t>
            </a:r>
            <a:r>
              <a:rPr dirty="0" baseline="-16865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C)</a:t>
            </a:r>
            <a:r>
              <a:rPr dirty="0" baseline="-16865" sz="4200" spc="4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800</a:t>
            </a:r>
            <a:r>
              <a:rPr dirty="0" baseline="-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900</a:t>
            </a:r>
            <a:r>
              <a:rPr dirty="0" baseline="-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dirty="0" baseline="-16865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D)</a:t>
            </a:r>
            <a:r>
              <a:rPr dirty="0" baseline="-16865" sz="4200" spc="-5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16865" sz="4200" spc="7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1850" spc="5" b="1">
                <a:solidFill>
                  <a:srgbClr val="FFFFFF"/>
                </a:solidFill>
                <a:latin typeface="Times New Roman"/>
                <a:cs typeface="Times New Roman"/>
              </a:rPr>
              <a:t>10000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238" y="4208145"/>
            <a:ext cx="2940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CC99FF"/>
                </a:solidFill>
                <a:latin typeface="Times New Roman"/>
                <a:cs typeface="Times New Roman"/>
              </a:rPr>
              <a:t>6.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238" y="2159635"/>
            <a:ext cx="69780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99735" algn="l"/>
                <a:tab pos="660908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下列符号串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中的元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u="heavy" baseline="-2976" sz="4200" spc="-7" b="1">
                <a:solidFill>
                  <a:srgbClr val="FFFF00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-2976" sz="4200" b="1">
                <a:solidFill>
                  <a:srgbClr val="FFFF00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baseline="-2976" sz="4200" spc="-7" b="1">
                <a:solidFill>
                  <a:srgbClr val="FFFF00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u="heavy" baseline="-2976" sz="4200" b="1">
                <a:solidFill>
                  <a:srgbClr val="FFFF00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138" y="3081654"/>
            <a:ext cx="7618730" cy="1086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6265" indent="-546100">
              <a:lnSpc>
                <a:spcPts val="4175"/>
              </a:lnSpc>
              <a:spcBef>
                <a:spcPts val="100"/>
              </a:spcBef>
              <a:buClr>
                <a:srgbClr val="CC99FF"/>
              </a:buClr>
              <a:buFont typeface="Times New Roman"/>
              <a:buAutoNum type="arabicPeriod" startAt="4"/>
              <a:tabLst>
                <a:tab pos="596265" algn="l"/>
                <a:tab pos="596900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设有文法符号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baseline="-21021" sz="2775" spc="40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∩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021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1021" sz="2775" spc="36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3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4629" sz="5400" spc="-7" b="1">
                <a:solidFill>
                  <a:srgbClr val="FFFF00"/>
                </a:solidFill>
                <a:latin typeface="Symbol"/>
                <a:cs typeface="Symbol"/>
              </a:rPr>
              <a:t></a:t>
            </a:r>
            <a:endParaRPr baseline="4629" sz="5400">
              <a:latin typeface="Symbol"/>
              <a:cs typeface="Symbol"/>
            </a:endParaRPr>
          </a:p>
          <a:p>
            <a:pPr marL="596265" indent="-546100">
              <a:lnSpc>
                <a:spcPts val="4175"/>
              </a:lnSpc>
              <a:buClr>
                <a:srgbClr val="CC99FF"/>
              </a:buClr>
              <a:buAutoNum type="arabicPeriod" startAt="4"/>
              <a:tabLst>
                <a:tab pos="596265" algn="l"/>
                <a:tab pos="596900" algn="l"/>
              </a:tabLst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BNF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是一种广泛被采用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描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述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工具</a:t>
            </a:r>
            <a:r>
              <a:rPr dirty="0" sz="2800" spc="-23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baseline="4629" sz="5400" spc="-7" b="1">
                <a:solidFill>
                  <a:srgbClr val="FFFF00"/>
                </a:solidFill>
                <a:latin typeface="Symbol"/>
                <a:cs typeface="Symbol"/>
              </a:rPr>
              <a:t></a:t>
            </a:r>
            <a:endParaRPr baseline="4629" sz="54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6135" y="4117594"/>
            <a:ext cx="55295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984" sz="4200" spc="-7" b="1">
                <a:solidFill>
                  <a:srgbClr val="FFFFFF"/>
                </a:solidFill>
                <a:latin typeface="宋体"/>
                <a:cs typeface="宋体"/>
              </a:rPr>
              <a:t>有文法</a:t>
            </a:r>
            <a:r>
              <a:rPr dirty="0" baseline="1984" sz="4200" spc="-44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baseline="1984" sz="4200" spc="-44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1984" sz="4200" spc="-44" b="1" i="1">
                <a:solidFill>
                  <a:srgbClr val="FFFFFF"/>
                </a:solidFill>
                <a:latin typeface="Times New Roman"/>
                <a:cs typeface="Times New Roman"/>
              </a:rPr>
              <a:t>=G</a:t>
            </a:r>
            <a:r>
              <a:rPr dirty="0" baseline="1984" sz="4200" spc="-44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1883" sz="4425" spc="-44" b="1" i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baseline="1984" sz="4200" spc="-7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baseline="1984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1984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baseline="1984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G1</a:t>
            </a:r>
            <a:r>
              <a:rPr dirty="0" baseline="1984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baseline="1984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1984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baseline="1984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G2</a:t>
            </a:r>
            <a:r>
              <a:rPr dirty="0" baseline="1984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1984" sz="4200" spc="682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3600" spc="-5" b="1">
                <a:solidFill>
                  <a:srgbClr val="FFFF00"/>
                </a:solidFill>
                <a:latin typeface="Symbol"/>
                <a:cs typeface="Symbol"/>
              </a:rPr>
              <a:t>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238" y="4618482"/>
            <a:ext cx="86220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dirty="0" sz="2800" b="1">
                <a:solidFill>
                  <a:srgbClr val="CC99FF"/>
                </a:solidFill>
                <a:latin typeface="Times New Roman"/>
                <a:cs typeface="Times New Roman"/>
              </a:rPr>
              <a:t>7.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的一个句子对应于多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推导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2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义的</a:t>
            </a:r>
            <a:r>
              <a:rPr dirty="0" sz="2800" spc="-94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3600" spc="-5" b="1">
                <a:solidFill>
                  <a:srgbClr val="FFFF00"/>
                </a:solidFill>
                <a:latin typeface="Symbol"/>
                <a:cs typeface="Symbol"/>
              </a:rPr>
              <a:t></a:t>
            </a:r>
            <a:endParaRPr sz="36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541" y="2043215"/>
            <a:ext cx="2938780" cy="119697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869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aSb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90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54473" y="2069094"/>
            <a:ext cx="3954145" cy="117538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65"/>
              </a:spcBef>
              <a:tabLst>
                <a:tab pos="647700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aSbS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bSaS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SS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aSb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bSa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2541" y="582930"/>
            <a:ext cx="8153400" cy="1481455"/>
          </a:xfrm>
          <a:prstGeom prst="rect"/>
        </p:spPr>
        <p:txBody>
          <a:bodyPr wrap="square" lIns="0" tIns="45720" rIns="0" bIns="0" rtlCol="0" vert="horz">
            <a:spAutoFit/>
          </a:bodyPr>
          <a:lstStyle/>
          <a:p>
            <a:pPr algn="just" marL="12700" marR="5080">
              <a:lnSpc>
                <a:spcPct val="93300"/>
              </a:lnSpc>
              <a:spcBef>
                <a:spcPts val="360"/>
              </a:spcBef>
            </a:pPr>
            <a:r>
              <a:rPr dirty="0" sz="3200" spc="5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-869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设有语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)={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有相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(0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3200" spc="-10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spc="-1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3200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组成的句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子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，满足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描述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正确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文 </a:t>
            </a:r>
            <a:r>
              <a:rPr dirty="0" baseline="-2604" sz="4800">
                <a:solidFill>
                  <a:srgbClr val="FFFFFF"/>
                </a:solidFill>
                <a:latin typeface="宋体"/>
                <a:cs typeface="宋体"/>
              </a:rPr>
              <a:t>法 是</a:t>
            </a:r>
            <a:r>
              <a:rPr dirty="0" u="heavy" sz="3200"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360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 </a:t>
            </a:r>
            <a:r>
              <a:rPr dirty="0" baseline="-2604" sz="4800" spc="-7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u="heavy" sz="3200" spc="-5"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3600" spc="-5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u="heavy" sz="3600" spc="625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baseline="-2604" sz="4800" spc="-1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baseline="-2604" sz="4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AEAE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王贵珍</dc:creator>
  <dc:title>2.1  文法和语言</dc:title>
  <dcterms:created xsi:type="dcterms:W3CDTF">2025-05-20T06:33:02Z</dcterms:created>
  <dcterms:modified xsi:type="dcterms:W3CDTF">2025-05-20T06:33:02Z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2025-03-17T00:00:00Z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2025-05-20T00:00:00Z</vt:filetime>
  </property>
</Properties>
</file>